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2276" autoAdjust="0"/>
  </p:normalViewPr>
  <p:slideViewPr>
    <p:cSldViewPr snapToGrid="0" snapToObjects="1">
      <p:cViewPr varScale="1">
        <p:scale>
          <a:sx n="105" d="100"/>
          <a:sy n="105" d="100"/>
        </p:scale>
        <p:origin x="179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MicroSocial</c:v>
                </c:pt>
                <c:pt idx="1">
                  <c:v>ftgo</c:v>
                </c:pt>
                <c:pt idx="2">
                  <c:v>Site-Where</c:v>
                </c:pt>
                <c:pt idx="3">
                  <c:v>RuoYi</c:v>
                </c:pt>
                <c:pt idx="4">
                  <c:v>design-pat.</c:v>
                </c:pt>
                <c:pt idx="5">
                  <c:v>mall-swarm</c:v>
                </c:pt>
                <c:pt idx="6">
                  <c:v>NetworkDisk</c:v>
                </c:pt>
                <c:pt idx="7">
                  <c:v>Train-Ticket</c:v>
                </c:pt>
                <c:pt idx="8">
                  <c:v>recruit</c:v>
                </c:pt>
              </c:strCache>
            </c:strRef>
          </c:cat>
          <c:val>
            <c:numRef>
              <c:f>Sheet1!$B$2:$B$10</c:f>
              <c:numCache>
                <c:formatCode>General</c:formatCode>
                <c:ptCount val="9"/>
                <c:pt idx="0">
                  <c:v>83</c:v>
                </c:pt>
                <c:pt idx="1">
                  <c:v>75</c:v>
                </c:pt>
                <c:pt idx="2">
                  <c:v>69</c:v>
                </c:pt>
                <c:pt idx="3">
                  <c:v>68</c:v>
                </c:pt>
                <c:pt idx="4">
                  <c:v>60</c:v>
                </c:pt>
                <c:pt idx="5">
                  <c:v>53</c:v>
                </c:pt>
                <c:pt idx="6">
                  <c:v>52</c:v>
                </c:pt>
                <c:pt idx="7">
                  <c:v>40</c:v>
                </c:pt>
                <c:pt idx="8">
                  <c:v>39</c:v>
                </c:pt>
              </c:numCache>
            </c:numRef>
          </c:val>
          <c:extLst>
            <c:ext xmlns:c16="http://schemas.microsoft.com/office/drawing/2014/chart" uri="{C3380CC4-5D6E-409C-BE32-E72D297353CC}">
              <c16:uniqueId val="{00000000-A211-4552-8CE0-9773D6EE9BE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29694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Keep this short — about 30 seconds. Don't introduce content yet; that's the next slide.
Breathe, slow down. The committee already knows your name from the schedule, so this is just orientation.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Pivot to next slide: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Don't dwell on each one. They'll see the details later. This slide sets expectations for the rest of the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Train-Ticket — an academic benchmark with 41 microservices. In the anti-pattern category it has 26 hardcoded endpoints, 4 chatty services, and 1 shared database — total penalty 103, but the category caps at 40, so it clamps to zero.'
• 'Its 4 nano services are scored under Service Sizing instead of the anti-pattern category, to avoid double counting — costing 8 points there.'
• 'Code Quality now contributes a real deduction too: scored by smell density, its 1,565 code smells leave 8 of 20 points.'
• 'The final composite is 40 — grade F. The decomposition shows the score is dominated by the anti-pattern load, chiefly the hardcoded URLs and chatty inter-service calls, with code-smell density a secondary contributor.'
This demonstrates that the scoring is transparent and that the breakdown shows exactly what's wrong.
EXPECT QUESTION: 'Only 8 points lost on Code Quality with 1,565 smells — why so little?'
Answer: 'Code Quality is scored on smell density per 1000 LOC, not raw count, so a large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nine open-source Spring Boot projects, spanning from a 2k-LOC student project to mall-swarm at 86k LOC. 116 microservices, about 269k LOC total.'
• 'Health scores ranged from 39 to 83 — the scoring mechanism produces meaningful spread.'
• 'The dominant findings are configuration and sizing issues: 43 hardcoded endpoints, 31 API versioning absences, 15 nano services. Cyclic Dependency and Wrong Cuts were detected in microservice-recruit — adding it exercised detectors that previously produced zero results.'
• '108 total anti-pattern instances across 9 distinct types. Only Distributed Monolith was not detected — plausible given these projects' topologies.'
EXPECT: 'Only nine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nine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Train-Ticket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207008"/>
            <a:ext cx="4114800" cy="329184"/>
          </a:xfrm>
          <a:prstGeom prst="rect">
            <a:avLst/>
          </a:prstGeom>
          <a:solidFill>
            <a:srgbClr val="F8FAFC"/>
          </a:solidFill>
          <a:ln w="6350">
            <a:solidFill>
              <a:srgbClr val="E2E8F0"/>
            </a:solidFill>
            <a:prstDash val="solid"/>
          </a:ln>
        </p:spPr>
      </p:sp>
      <p:sp>
        <p:nvSpPr>
          <p:cNvPr id="5" name="Text 3"/>
          <p:cNvSpPr/>
          <p:nvPr/>
        </p:nvSpPr>
        <p:spPr>
          <a:xfrm>
            <a:off x="502920" y="120700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26×</a:t>
            </a:r>
            <a:endParaRPr lang="en-US" sz="1300" dirty="0"/>
          </a:p>
        </p:txBody>
      </p:sp>
      <p:sp>
        <p:nvSpPr>
          <p:cNvPr id="6" name="Text 4"/>
          <p:cNvSpPr/>
          <p:nvPr/>
        </p:nvSpPr>
        <p:spPr>
          <a:xfrm>
            <a:off x="1097280" y="120700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7" name="Text 5"/>
          <p:cNvSpPr/>
          <p:nvPr/>
        </p:nvSpPr>
        <p:spPr>
          <a:xfrm>
            <a:off x="3200400" y="120700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−78</a:t>
            </a:r>
            <a:endParaRPr lang="en-US" sz="1000" dirty="0"/>
          </a:p>
        </p:txBody>
      </p:sp>
      <p:sp>
        <p:nvSpPr>
          <p:cNvPr id="8" name="Shape 6"/>
          <p:cNvSpPr/>
          <p:nvPr/>
        </p:nvSpPr>
        <p:spPr>
          <a:xfrm>
            <a:off x="457200" y="1572768"/>
            <a:ext cx="4114800" cy="329184"/>
          </a:xfrm>
          <a:prstGeom prst="rect">
            <a:avLst/>
          </a:prstGeom>
          <a:solidFill>
            <a:srgbClr val="F8FAFC"/>
          </a:solidFill>
          <a:ln w="6350">
            <a:solidFill>
              <a:srgbClr val="E2E8F0"/>
            </a:solidFill>
            <a:prstDash val="solid"/>
          </a:ln>
        </p:spPr>
      </p:sp>
      <p:sp>
        <p:nvSpPr>
          <p:cNvPr id="9" name="Text 7"/>
          <p:cNvSpPr/>
          <p:nvPr/>
        </p:nvSpPr>
        <p:spPr>
          <a:xfrm>
            <a:off x="502920" y="157276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4×</a:t>
            </a:r>
            <a:endParaRPr lang="en-US" sz="1300" dirty="0"/>
          </a:p>
        </p:txBody>
      </p:sp>
      <p:sp>
        <p:nvSpPr>
          <p:cNvPr id="10" name="Text 8"/>
          <p:cNvSpPr/>
          <p:nvPr/>
        </p:nvSpPr>
        <p:spPr>
          <a:xfrm>
            <a:off x="1097280" y="157276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1" name="Text 9"/>
          <p:cNvSpPr/>
          <p:nvPr/>
        </p:nvSpPr>
        <p:spPr>
          <a:xfrm>
            <a:off x="3200400" y="157276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−20</a:t>
            </a:r>
            <a:endParaRPr lang="en-US" sz="1000" dirty="0"/>
          </a:p>
        </p:txBody>
      </p:sp>
      <p:sp>
        <p:nvSpPr>
          <p:cNvPr id="12" name="Shape 10"/>
          <p:cNvSpPr/>
          <p:nvPr/>
        </p:nvSpPr>
        <p:spPr>
          <a:xfrm>
            <a:off x="457200" y="1938528"/>
            <a:ext cx="4114800" cy="329184"/>
          </a:xfrm>
          <a:prstGeom prst="rect">
            <a:avLst/>
          </a:prstGeom>
          <a:solidFill>
            <a:srgbClr val="F8FAFC"/>
          </a:solidFill>
          <a:ln w="6350">
            <a:solidFill>
              <a:srgbClr val="E2E8F0"/>
            </a:solidFill>
            <a:prstDash val="solid"/>
          </a:ln>
        </p:spPr>
      </p:sp>
      <p:sp>
        <p:nvSpPr>
          <p:cNvPr id="13" name="Text 11"/>
          <p:cNvSpPr/>
          <p:nvPr/>
        </p:nvSpPr>
        <p:spPr>
          <a:xfrm>
            <a:off x="502920" y="193852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1×</a:t>
            </a:r>
            <a:endParaRPr lang="en-US" sz="1300" dirty="0"/>
          </a:p>
        </p:txBody>
      </p:sp>
      <p:sp>
        <p:nvSpPr>
          <p:cNvPr id="14" name="Text 12"/>
          <p:cNvSpPr/>
          <p:nvPr/>
        </p:nvSpPr>
        <p:spPr>
          <a:xfrm>
            <a:off x="1097280" y="193852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15" name="Text 13"/>
          <p:cNvSpPr/>
          <p:nvPr/>
        </p:nvSpPr>
        <p:spPr>
          <a:xfrm>
            <a:off x="3200400" y="193852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−5</a:t>
            </a:r>
            <a:endParaRPr lang="en-US" sz="1000" dirty="0"/>
          </a:p>
        </p:txBody>
      </p:sp>
      <p:sp>
        <p:nvSpPr>
          <p:cNvPr id="16" name="Shape 14"/>
          <p:cNvSpPr/>
          <p:nvPr/>
        </p:nvSpPr>
        <p:spPr>
          <a:xfrm>
            <a:off x="457200" y="2697480"/>
            <a:ext cx="4114800" cy="411480"/>
          </a:xfrm>
          <a:prstGeom prst="rect">
            <a:avLst/>
          </a:prstGeom>
          <a:solidFill>
            <a:srgbClr val="0F2A44"/>
          </a:solidFill>
          <a:ln w="12700">
            <a:solidFill>
              <a:srgbClr val="0F2A44"/>
            </a:solidFill>
            <a:prstDash val="solid"/>
          </a:ln>
        </p:spPr>
      </p:sp>
      <p:sp>
        <p:nvSpPr>
          <p:cNvPr id="17" name="Text 15"/>
          <p:cNvSpPr/>
          <p:nvPr/>
        </p:nvSpPr>
        <p:spPr>
          <a:xfrm>
            <a:off x="457200" y="2697480"/>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103   →   AP clamped at 0</a:t>
            </a:r>
            <a:endParaRPr lang="en-US" sz="1200" dirty="0"/>
          </a:p>
        </p:txBody>
      </p:sp>
      <p:sp>
        <p:nvSpPr>
          <p:cNvPr id="18" name="Text 16"/>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19" name="Text 17"/>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0" name="Shape 18"/>
          <p:cNvSpPr/>
          <p:nvPr/>
        </p:nvSpPr>
        <p:spPr>
          <a:xfrm>
            <a:off x="6126480" y="1234440"/>
            <a:ext cx="2377440" cy="256032"/>
          </a:xfrm>
          <a:prstGeom prst="rect">
            <a:avLst/>
          </a:prstGeom>
          <a:solidFill>
            <a:srgbClr val="E2E8F0"/>
          </a:solidFill>
          <a:ln w="12700">
            <a:solidFill>
              <a:srgbClr val="E2E8F0"/>
            </a:solidFill>
            <a:prstDash val="solid"/>
          </a:ln>
        </p:spPr>
      </p:sp>
      <p:sp>
        <p:nvSpPr>
          <p:cNvPr id="21" name="Text 19"/>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22" name="Text 20"/>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23" name="Shape 21"/>
          <p:cNvSpPr/>
          <p:nvPr/>
        </p:nvSpPr>
        <p:spPr>
          <a:xfrm>
            <a:off x="6126480" y="1737360"/>
            <a:ext cx="2377440" cy="256032"/>
          </a:xfrm>
          <a:prstGeom prst="rect">
            <a:avLst/>
          </a:prstGeom>
          <a:solidFill>
            <a:srgbClr val="E2E8F0"/>
          </a:solidFill>
          <a:ln w="12700">
            <a:solidFill>
              <a:srgbClr val="E2E8F0"/>
            </a:solidFill>
            <a:prstDash val="solid"/>
          </a:ln>
        </p:spPr>
      </p:sp>
      <p:sp>
        <p:nvSpPr>
          <p:cNvPr id="24" name="Shape 22"/>
          <p:cNvSpPr/>
          <p:nvPr/>
        </p:nvSpPr>
        <p:spPr>
          <a:xfrm>
            <a:off x="6126480" y="1737360"/>
            <a:ext cx="950976" cy="256032"/>
          </a:xfrm>
          <a:prstGeom prst="rect">
            <a:avLst/>
          </a:prstGeom>
          <a:solidFill>
            <a:srgbClr val="D97706"/>
          </a:solidFill>
          <a:ln w="12700">
            <a:solidFill>
              <a:srgbClr val="D97706"/>
            </a:solidFill>
            <a:prstDash val="solid"/>
          </a:ln>
        </p:spPr>
      </p:sp>
      <p:sp>
        <p:nvSpPr>
          <p:cNvPr id="25" name="Text 23"/>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8 / 20</a:t>
            </a:r>
            <a:endParaRPr lang="en-US" sz="1000" dirty="0"/>
          </a:p>
        </p:txBody>
      </p:sp>
      <p:sp>
        <p:nvSpPr>
          <p:cNvPr id="26" name="Text 24"/>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27" name="Shape 25"/>
          <p:cNvSpPr/>
          <p:nvPr/>
        </p:nvSpPr>
        <p:spPr>
          <a:xfrm>
            <a:off x="6126480" y="2240280"/>
            <a:ext cx="2377440" cy="256032"/>
          </a:xfrm>
          <a:prstGeom prst="rect">
            <a:avLst/>
          </a:prstGeom>
          <a:solidFill>
            <a:srgbClr val="E2E8F0"/>
          </a:solidFill>
          <a:ln w="12700">
            <a:solidFill>
              <a:srgbClr val="E2E8F0"/>
            </a:solidFill>
            <a:prstDash val="solid"/>
          </a:ln>
        </p:spPr>
      </p:sp>
      <p:sp>
        <p:nvSpPr>
          <p:cNvPr id="28" name="Shape 26"/>
          <p:cNvSpPr/>
          <p:nvPr/>
        </p:nvSpPr>
        <p:spPr>
          <a:xfrm>
            <a:off x="6126480" y="2240280"/>
            <a:ext cx="2377440" cy="256032"/>
          </a:xfrm>
          <a:prstGeom prst="rect">
            <a:avLst/>
          </a:prstGeom>
          <a:solidFill>
            <a:srgbClr val="1C4E80"/>
          </a:solidFill>
          <a:ln w="12700">
            <a:solidFill>
              <a:srgbClr val="1C4E80"/>
            </a:solidFill>
            <a:prstDash val="solid"/>
          </a:ln>
        </p:spPr>
      </p:sp>
      <p:sp>
        <p:nvSpPr>
          <p:cNvPr id="29" name="Text 27"/>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25 / 25</a:t>
            </a:r>
            <a:endParaRPr lang="en-US" sz="1000" dirty="0"/>
          </a:p>
        </p:txBody>
      </p:sp>
      <p:sp>
        <p:nvSpPr>
          <p:cNvPr id="30" name="Text 28"/>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1" name="Shape 29"/>
          <p:cNvSpPr/>
          <p:nvPr/>
        </p:nvSpPr>
        <p:spPr>
          <a:xfrm>
            <a:off x="6126480" y="274320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2743200"/>
            <a:ext cx="1109472" cy="256032"/>
          </a:xfrm>
          <a:prstGeom prst="rect">
            <a:avLst/>
          </a:prstGeom>
          <a:solidFill>
            <a:srgbClr val="0D9488"/>
          </a:solidFill>
          <a:ln w="12700">
            <a:solidFill>
              <a:srgbClr val="0D9488"/>
            </a:solidFill>
            <a:prstDash val="solid"/>
          </a:ln>
        </p:spPr>
      </p:sp>
      <p:sp>
        <p:nvSpPr>
          <p:cNvPr id="33" name="Text 31"/>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7 / 15</a:t>
            </a:r>
            <a:endParaRPr lang="en-US" sz="1000" dirty="0"/>
          </a:p>
        </p:txBody>
      </p:sp>
      <p:sp>
        <p:nvSpPr>
          <p:cNvPr id="34" name="Shape 32"/>
          <p:cNvSpPr/>
          <p:nvPr/>
        </p:nvSpPr>
        <p:spPr>
          <a:xfrm>
            <a:off x="5852160" y="3429000"/>
            <a:ext cx="1280160" cy="1280160"/>
          </a:xfrm>
          <a:prstGeom prst="ellipse">
            <a:avLst/>
          </a:prstGeom>
          <a:solidFill>
            <a:srgbClr val="DC2626"/>
          </a:solidFill>
          <a:ln w="12700">
            <a:solidFill>
              <a:srgbClr val="DC2626"/>
            </a:solidFill>
            <a:prstDash val="solid"/>
          </a:ln>
        </p:spPr>
      </p:sp>
      <p:sp>
        <p:nvSpPr>
          <p:cNvPr id="35" name="Text 33"/>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36" name="Text 34"/>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37" name="Text 35"/>
          <p:cNvSpPr/>
          <p:nvPr/>
        </p:nvSpPr>
        <p:spPr>
          <a:xfrm>
            <a:off x="457200" y="3246120"/>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38" name="Text 36"/>
          <p:cNvSpPr/>
          <p:nvPr/>
        </p:nvSpPr>
        <p:spPr>
          <a:xfrm>
            <a:off x="457200" y="3611880"/>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Score driven by anti-pattern deductions (26 Hardcoded Endpoints + 4 Chatty Services). Service Sizing loses 8 pts to nano services; Code Quality adds a density-based deduction (8 / 20).</a:t>
            </a:r>
            <a:endParaRPr lang="en-US" sz="1000" dirty="0"/>
          </a:p>
        </p:txBody>
      </p:sp>
      <p:sp>
        <p:nvSpPr>
          <p:cNvPr id="39" name="Text 37"/>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0" name="Text 38"/>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nine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868680"/>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188720"/>
            <a:ext cx="2743200" cy="228600"/>
          </a:xfrm>
          <a:prstGeom prst="rect">
            <a:avLst/>
          </a:prstGeom>
          <a:solidFill>
            <a:srgbClr val="F8FAFC"/>
          </a:solidFill>
          <a:ln w="6350">
            <a:solidFill>
              <a:srgbClr val="E2E8F0"/>
            </a:solidFill>
            <a:prstDash val="solid"/>
          </a:ln>
        </p:spPr>
      </p:sp>
      <p:sp>
        <p:nvSpPr>
          <p:cNvPr id="6" name="Text 3"/>
          <p:cNvSpPr/>
          <p:nvPr/>
        </p:nvSpPr>
        <p:spPr>
          <a:xfrm>
            <a:off x="6126480" y="1188720"/>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MicroSocial</a:t>
            </a:r>
            <a:endParaRPr lang="en-US" sz="950" dirty="0"/>
          </a:p>
        </p:txBody>
      </p:sp>
      <p:sp>
        <p:nvSpPr>
          <p:cNvPr id="7" name="Text 4"/>
          <p:cNvSpPr/>
          <p:nvPr/>
        </p:nvSpPr>
        <p:spPr>
          <a:xfrm>
            <a:off x="7406640" y="1188720"/>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4</a:t>
            </a:r>
            <a:endParaRPr lang="en-US" sz="950" dirty="0"/>
          </a:p>
        </p:txBody>
      </p:sp>
      <p:sp>
        <p:nvSpPr>
          <p:cNvPr id="8" name="Text 5"/>
          <p:cNvSpPr/>
          <p:nvPr/>
        </p:nvSpPr>
        <p:spPr>
          <a:xfrm>
            <a:off x="7863840" y="1188720"/>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2k</a:t>
            </a:r>
            <a:endParaRPr lang="en-US" sz="950" dirty="0"/>
          </a:p>
        </p:txBody>
      </p:sp>
      <p:sp>
        <p:nvSpPr>
          <p:cNvPr id="9" name="Shape 6"/>
          <p:cNvSpPr/>
          <p:nvPr/>
        </p:nvSpPr>
        <p:spPr>
          <a:xfrm>
            <a:off x="6035040" y="1444752"/>
            <a:ext cx="2743200" cy="228600"/>
          </a:xfrm>
          <a:prstGeom prst="rect">
            <a:avLst/>
          </a:prstGeom>
          <a:solidFill>
            <a:srgbClr val="F8FAFC"/>
          </a:solidFill>
          <a:ln w="6350">
            <a:solidFill>
              <a:srgbClr val="E2E8F0"/>
            </a:solidFill>
            <a:prstDash val="solid"/>
          </a:ln>
        </p:spPr>
      </p:sp>
      <p:sp>
        <p:nvSpPr>
          <p:cNvPr id="10" name="Text 7"/>
          <p:cNvSpPr/>
          <p:nvPr/>
        </p:nvSpPr>
        <p:spPr>
          <a:xfrm>
            <a:off x="6126480" y="1444752"/>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design-pat.</a:t>
            </a:r>
            <a:endParaRPr lang="en-US" sz="950" dirty="0"/>
          </a:p>
        </p:txBody>
      </p:sp>
      <p:sp>
        <p:nvSpPr>
          <p:cNvPr id="11" name="Text 8"/>
          <p:cNvSpPr/>
          <p:nvPr/>
        </p:nvSpPr>
        <p:spPr>
          <a:xfrm>
            <a:off x="7406640" y="1444752"/>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16</a:t>
            </a:r>
            <a:endParaRPr lang="en-US" sz="950" dirty="0"/>
          </a:p>
        </p:txBody>
      </p:sp>
      <p:sp>
        <p:nvSpPr>
          <p:cNvPr id="12" name="Text 9"/>
          <p:cNvSpPr/>
          <p:nvPr/>
        </p:nvSpPr>
        <p:spPr>
          <a:xfrm>
            <a:off x="7863840" y="1444752"/>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19k</a:t>
            </a:r>
            <a:endParaRPr lang="en-US" sz="950" dirty="0"/>
          </a:p>
        </p:txBody>
      </p:sp>
      <p:sp>
        <p:nvSpPr>
          <p:cNvPr id="13" name="Shape 10"/>
          <p:cNvSpPr/>
          <p:nvPr/>
        </p:nvSpPr>
        <p:spPr>
          <a:xfrm>
            <a:off x="6035040" y="1700784"/>
            <a:ext cx="2743200" cy="228600"/>
          </a:xfrm>
          <a:prstGeom prst="rect">
            <a:avLst/>
          </a:prstGeom>
          <a:solidFill>
            <a:srgbClr val="F8FAFC"/>
          </a:solidFill>
          <a:ln w="6350">
            <a:solidFill>
              <a:srgbClr val="E2E8F0"/>
            </a:solidFill>
            <a:prstDash val="solid"/>
          </a:ln>
        </p:spPr>
      </p:sp>
      <p:sp>
        <p:nvSpPr>
          <p:cNvPr id="14" name="Text 11"/>
          <p:cNvSpPr/>
          <p:nvPr/>
        </p:nvSpPr>
        <p:spPr>
          <a:xfrm>
            <a:off x="6126480" y="1700784"/>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Site-Where</a:t>
            </a:r>
            <a:endParaRPr lang="en-US" sz="950" dirty="0"/>
          </a:p>
        </p:txBody>
      </p:sp>
      <p:sp>
        <p:nvSpPr>
          <p:cNvPr id="15" name="Text 12"/>
          <p:cNvSpPr/>
          <p:nvPr/>
        </p:nvSpPr>
        <p:spPr>
          <a:xfrm>
            <a:off x="7406640" y="1700784"/>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15</a:t>
            </a:r>
            <a:endParaRPr lang="en-US" sz="950" dirty="0"/>
          </a:p>
        </p:txBody>
      </p:sp>
      <p:sp>
        <p:nvSpPr>
          <p:cNvPr id="16" name="Text 13"/>
          <p:cNvSpPr/>
          <p:nvPr/>
        </p:nvSpPr>
        <p:spPr>
          <a:xfrm>
            <a:off x="7863840" y="1700784"/>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74k</a:t>
            </a:r>
            <a:endParaRPr lang="en-US" sz="950" dirty="0"/>
          </a:p>
        </p:txBody>
      </p:sp>
      <p:sp>
        <p:nvSpPr>
          <p:cNvPr id="17" name="Shape 14"/>
          <p:cNvSpPr/>
          <p:nvPr/>
        </p:nvSpPr>
        <p:spPr>
          <a:xfrm>
            <a:off x="6035040" y="1956816"/>
            <a:ext cx="2743200" cy="228600"/>
          </a:xfrm>
          <a:prstGeom prst="rect">
            <a:avLst/>
          </a:prstGeom>
          <a:solidFill>
            <a:srgbClr val="F8FAFC"/>
          </a:solidFill>
          <a:ln w="6350">
            <a:solidFill>
              <a:srgbClr val="E2E8F0"/>
            </a:solidFill>
            <a:prstDash val="solid"/>
          </a:ln>
        </p:spPr>
      </p:sp>
      <p:sp>
        <p:nvSpPr>
          <p:cNvPr id="18" name="Text 15"/>
          <p:cNvSpPr/>
          <p:nvPr/>
        </p:nvSpPr>
        <p:spPr>
          <a:xfrm>
            <a:off x="6126480" y="1956816"/>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Train-Ticket</a:t>
            </a:r>
            <a:endParaRPr lang="en-US" sz="950" dirty="0"/>
          </a:p>
        </p:txBody>
      </p:sp>
      <p:sp>
        <p:nvSpPr>
          <p:cNvPr id="19" name="Text 16"/>
          <p:cNvSpPr/>
          <p:nvPr/>
        </p:nvSpPr>
        <p:spPr>
          <a:xfrm>
            <a:off x="7406640" y="1956816"/>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41</a:t>
            </a:r>
            <a:endParaRPr lang="en-US" sz="950" dirty="0"/>
          </a:p>
        </p:txBody>
      </p:sp>
      <p:sp>
        <p:nvSpPr>
          <p:cNvPr id="20" name="Text 17"/>
          <p:cNvSpPr/>
          <p:nvPr/>
        </p:nvSpPr>
        <p:spPr>
          <a:xfrm>
            <a:off x="7863840" y="1956816"/>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36k</a:t>
            </a:r>
            <a:endParaRPr lang="en-US" sz="950" dirty="0"/>
          </a:p>
        </p:txBody>
      </p:sp>
      <p:sp>
        <p:nvSpPr>
          <p:cNvPr id="21" name="Shape 18"/>
          <p:cNvSpPr/>
          <p:nvPr/>
        </p:nvSpPr>
        <p:spPr>
          <a:xfrm>
            <a:off x="6035040" y="2212848"/>
            <a:ext cx="2743200" cy="228600"/>
          </a:xfrm>
          <a:prstGeom prst="rect">
            <a:avLst/>
          </a:prstGeom>
          <a:solidFill>
            <a:srgbClr val="F8FAFC"/>
          </a:solidFill>
          <a:ln w="6350">
            <a:solidFill>
              <a:srgbClr val="E2E8F0"/>
            </a:solidFill>
            <a:prstDash val="solid"/>
          </a:ln>
        </p:spPr>
      </p:sp>
      <p:sp>
        <p:nvSpPr>
          <p:cNvPr id="22" name="Text 19"/>
          <p:cNvSpPr/>
          <p:nvPr/>
        </p:nvSpPr>
        <p:spPr>
          <a:xfrm>
            <a:off x="6126480" y="2212848"/>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NetworkDisk</a:t>
            </a:r>
            <a:endParaRPr lang="en-US" sz="950" dirty="0"/>
          </a:p>
        </p:txBody>
      </p:sp>
      <p:sp>
        <p:nvSpPr>
          <p:cNvPr id="23" name="Text 20"/>
          <p:cNvSpPr/>
          <p:nvPr/>
        </p:nvSpPr>
        <p:spPr>
          <a:xfrm>
            <a:off x="7406640" y="2212848"/>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10</a:t>
            </a:r>
            <a:endParaRPr lang="en-US" sz="950" dirty="0"/>
          </a:p>
        </p:txBody>
      </p:sp>
      <p:sp>
        <p:nvSpPr>
          <p:cNvPr id="24" name="Text 21"/>
          <p:cNvSpPr/>
          <p:nvPr/>
        </p:nvSpPr>
        <p:spPr>
          <a:xfrm>
            <a:off x="7863840" y="2212848"/>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7k</a:t>
            </a:r>
            <a:endParaRPr lang="en-US" sz="950" dirty="0"/>
          </a:p>
        </p:txBody>
      </p:sp>
      <p:sp>
        <p:nvSpPr>
          <p:cNvPr id="25" name="Shape 22"/>
          <p:cNvSpPr/>
          <p:nvPr/>
        </p:nvSpPr>
        <p:spPr>
          <a:xfrm>
            <a:off x="6035040" y="2468880"/>
            <a:ext cx="2743200" cy="228600"/>
          </a:xfrm>
          <a:prstGeom prst="rect">
            <a:avLst/>
          </a:prstGeom>
          <a:solidFill>
            <a:srgbClr val="F8FAFC"/>
          </a:solidFill>
          <a:ln w="6350">
            <a:solidFill>
              <a:srgbClr val="E2E8F0"/>
            </a:solidFill>
            <a:prstDash val="solid"/>
          </a:ln>
        </p:spPr>
      </p:sp>
      <p:sp>
        <p:nvSpPr>
          <p:cNvPr id="26" name="Text 23"/>
          <p:cNvSpPr/>
          <p:nvPr/>
        </p:nvSpPr>
        <p:spPr>
          <a:xfrm>
            <a:off x="6126480" y="2468880"/>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recruit</a:t>
            </a:r>
            <a:endParaRPr lang="en-US" sz="950" dirty="0"/>
          </a:p>
        </p:txBody>
      </p:sp>
      <p:sp>
        <p:nvSpPr>
          <p:cNvPr id="27" name="Text 24"/>
          <p:cNvSpPr/>
          <p:nvPr/>
        </p:nvSpPr>
        <p:spPr>
          <a:xfrm>
            <a:off x="7406640" y="2468880"/>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8</a:t>
            </a:r>
            <a:endParaRPr lang="en-US" sz="950" dirty="0"/>
          </a:p>
        </p:txBody>
      </p:sp>
      <p:sp>
        <p:nvSpPr>
          <p:cNvPr id="28" name="Text 25"/>
          <p:cNvSpPr/>
          <p:nvPr/>
        </p:nvSpPr>
        <p:spPr>
          <a:xfrm>
            <a:off x="7863840" y="2468880"/>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8k</a:t>
            </a:r>
            <a:endParaRPr lang="en-US" sz="950" dirty="0"/>
          </a:p>
        </p:txBody>
      </p:sp>
      <p:sp>
        <p:nvSpPr>
          <p:cNvPr id="29" name="Shape 26"/>
          <p:cNvSpPr/>
          <p:nvPr/>
        </p:nvSpPr>
        <p:spPr>
          <a:xfrm>
            <a:off x="6035040" y="2724912"/>
            <a:ext cx="2743200" cy="228600"/>
          </a:xfrm>
          <a:prstGeom prst="rect">
            <a:avLst/>
          </a:prstGeom>
          <a:solidFill>
            <a:srgbClr val="F8FAFC"/>
          </a:solidFill>
          <a:ln w="6350">
            <a:solidFill>
              <a:srgbClr val="E2E8F0"/>
            </a:solidFill>
            <a:prstDash val="solid"/>
          </a:ln>
        </p:spPr>
      </p:sp>
      <p:sp>
        <p:nvSpPr>
          <p:cNvPr id="30" name="Text 27"/>
          <p:cNvSpPr/>
          <p:nvPr/>
        </p:nvSpPr>
        <p:spPr>
          <a:xfrm>
            <a:off x="6126480" y="2724912"/>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ftgo</a:t>
            </a:r>
            <a:endParaRPr lang="en-US" sz="950" dirty="0"/>
          </a:p>
        </p:txBody>
      </p:sp>
      <p:sp>
        <p:nvSpPr>
          <p:cNvPr id="31" name="Text 28"/>
          <p:cNvSpPr/>
          <p:nvPr/>
        </p:nvSpPr>
        <p:spPr>
          <a:xfrm>
            <a:off x="7406640" y="2724912"/>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7</a:t>
            </a:r>
            <a:endParaRPr lang="en-US" sz="950" dirty="0"/>
          </a:p>
        </p:txBody>
      </p:sp>
      <p:sp>
        <p:nvSpPr>
          <p:cNvPr id="32" name="Text 29"/>
          <p:cNvSpPr/>
          <p:nvPr/>
        </p:nvSpPr>
        <p:spPr>
          <a:xfrm>
            <a:off x="7863840" y="2724912"/>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11k</a:t>
            </a:r>
            <a:endParaRPr lang="en-US" sz="950" dirty="0"/>
          </a:p>
        </p:txBody>
      </p:sp>
      <p:sp>
        <p:nvSpPr>
          <p:cNvPr id="33" name="Shape 30"/>
          <p:cNvSpPr/>
          <p:nvPr/>
        </p:nvSpPr>
        <p:spPr>
          <a:xfrm>
            <a:off x="6035040" y="2980944"/>
            <a:ext cx="2743200" cy="228600"/>
          </a:xfrm>
          <a:prstGeom prst="rect">
            <a:avLst/>
          </a:prstGeom>
          <a:solidFill>
            <a:srgbClr val="F8FAFC"/>
          </a:solidFill>
          <a:ln w="6350">
            <a:solidFill>
              <a:srgbClr val="E2E8F0"/>
            </a:solidFill>
            <a:prstDash val="solid"/>
          </a:ln>
        </p:spPr>
      </p:sp>
      <p:sp>
        <p:nvSpPr>
          <p:cNvPr id="34" name="Text 31"/>
          <p:cNvSpPr/>
          <p:nvPr/>
        </p:nvSpPr>
        <p:spPr>
          <a:xfrm>
            <a:off x="6126480" y="2980944"/>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mall-swarm</a:t>
            </a:r>
            <a:endParaRPr lang="en-US" sz="950" dirty="0"/>
          </a:p>
        </p:txBody>
      </p:sp>
      <p:sp>
        <p:nvSpPr>
          <p:cNvPr id="35" name="Text 32"/>
          <p:cNvSpPr/>
          <p:nvPr/>
        </p:nvSpPr>
        <p:spPr>
          <a:xfrm>
            <a:off x="7406640" y="2980944"/>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7</a:t>
            </a:r>
            <a:endParaRPr lang="en-US" sz="950" dirty="0"/>
          </a:p>
        </p:txBody>
      </p:sp>
      <p:sp>
        <p:nvSpPr>
          <p:cNvPr id="36" name="Text 33"/>
          <p:cNvSpPr/>
          <p:nvPr/>
        </p:nvSpPr>
        <p:spPr>
          <a:xfrm>
            <a:off x="7863840" y="2980944"/>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86k</a:t>
            </a:r>
            <a:endParaRPr lang="en-US" sz="950" dirty="0"/>
          </a:p>
        </p:txBody>
      </p:sp>
      <p:sp>
        <p:nvSpPr>
          <p:cNvPr id="37" name="Shape 34"/>
          <p:cNvSpPr/>
          <p:nvPr/>
        </p:nvSpPr>
        <p:spPr>
          <a:xfrm>
            <a:off x="6035040" y="3236976"/>
            <a:ext cx="2743200" cy="228600"/>
          </a:xfrm>
          <a:prstGeom prst="rect">
            <a:avLst/>
          </a:prstGeom>
          <a:solidFill>
            <a:srgbClr val="F8FAFC"/>
          </a:solidFill>
          <a:ln w="6350">
            <a:solidFill>
              <a:srgbClr val="E2E8F0"/>
            </a:solidFill>
            <a:prstDash val="solid"/>
          </a:ln>
        </p:spPr>
      </p:sp>
      <p:sp>
        <p:nvSpPr>
          <p:cNvPr id="38" name="Text 35"/>
          <p:cNvSpPr/>
          <p:nvPr/>
        </p:nvSpPr>
        <p:spPr>
          <a:xfrm>
            <a:off x="6126480" y="3236976"/>
            <a:ext cx="1280160" cy="22860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RuoYi</a:t>
            </a:r>
            <a:endParaRPr lang="en-US" sz="950" dirty="0"/>
          </a:p>
        </p:txBody>
      </p:sp>
      <p:sp>
        <p:nvSpPr>
          <p:cNvPr id="39" name="Text 36"/>
          <p:cNvSpPr/>
          <p:nvPr/>
        </p:nvSpPr>
        <p:spPr>
          <a:xfrm>
            <a:off x="7406640" y="3236976"/>
            <a:ext cx="457200" cy="22860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8</a:t>
            </a:r>
            <a:endParaRPr lang="en-US" sz="950" dirty="0"/>
          </a:p>
        </p:txBody>
      </p:sp>
      <p:sp>
        <p:nvSpPr>
          <p:cNvPr id="40" name="Text 37"/>
          <p:cNvSpPr/>
          <p:nvPr/>
        </p:nvSpPr>
        <p:spPr>
          <a:xfrm>
            <a:off x="7863840" y="3236976"/>
            <a:ext cx="868680" cy="22860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27k</a:t>
            </a:r>
            <a:endParaRPr lang="en-US" sz="950" dirty="0"/>
          </a:p>
        </p:txBody>
      </p:sp>
      <p:sp>
        <p:nvSpPr>
          <p:cNvPr id="41" name="Shape 38"/>
          <p:cNvSpPr/>
          <p:nvPr/>
        </p:nvSpPr>
        <p:spPr>
          <a:xfrm>
            <a:off x="6035040" y="3493008"/>
            <a:ext cx="2743200" cy="228600"/>
          </a:xfrm>
          <a:prstGeom prst="rect">
            <a:avLst/>
          </a:prstGeom>
          <a:solidFill>
            <a:srgbClr val="0F2A44"/>
          </a:solidFill>
          <a:ln w="6350">
            <a:solidFill>
              <a:srgbClr val="E2E8F0"/>
            </a:solidFill>
            <a:prstDash val="solid"/>
          </a:ln>
        </p:spPr>
      </p:sp>
      <p:sp>
        <p:nvSpPr>
          <p:cNvPr id="42" name="Text 39"/>
          <p:cNvSpPr/>
          <p:nvPr/>
        </p:nvSpPr>
        <p:spPr>
          <a:xfrm>
            <a:off x="6126480" y="3493008"/>
            <a:ext cx="1280160" cy="2286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Total</a:t>
            </a:r>
            <a:endParaRPr lang="en-US" sz="950" dirty="0"/>
          </a:p>
        </p:txBody>
      </p:sp>
      <p:sp>
        <p:nvSpPr>
          <p:cNvPr id="43" name="Text 40"/>
          <p:cNvSpPr/>
          <p:nvPr/>
        </p:nvSpPr>
        <p:spPr>
          <a:xfrm>
            <a:off x="7406640" y="3493008"/>
            <a:ext cx="457200" cy="22860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116</a:t>
            </a:r>
            <a:endParaRPr lang="en-US" sz="950" dirty="0"/>
          </a:p>
        </p:txBody>
      </p:sp>
      <p:sp>
        <p:nvSpPr>
          <p:cNvPr id="44" name="Text 41"/>
          <p:cNvSpPr/>
          <p:nvPr/>
        </p:nvSpPr>
        <p:spPr>
          <a:xfrm>
            <a:off x="7863840" y="3493008"/>
            <a:ext cx="868680" cy="228600"/>
          </a:xfrm>
          <a:prstGeom prst="rect">
            <a:avLst/>
          </a:prstGeom>
          <a:noFill/>
          <a:ln/>
        </p:spPr>
        <p:txBody>
          <a:bodyPr wrap="square" lIns="0" tIns="0" rIns="0" bIns="0" rtlCol="0" anchor="ctr"/>
          <a:lstStyle/>
          <a:p>
            <a:pPr marL="0" indent="0" algn="r">
              <a:buNone/>
            </a:pPr>
            <a:r>
              <a:rPr lang="en-US" sz="950" b="1" dirty="0">
                <a:solidFill>
                  <a:srgbClr val="FFFFFF"/>
                </a:solidFill>
                <a:latin typeface="Calibri" pitchFamily="34" charset="0"/>
                <a:ea typeface="Calibri" pitchFamily="34" charset="-122"/>
                <a:cs typeface="Calibri" pitchFamily="34" charset="-120"/>
              </a:rPr>
              <a:t>269k</a:t>
            </a:r>
            <a:endParaRPr lang="en-US" sz="950" dirty="0"/>
          </a:p>
        </p:txBody>
      </p:sp>
      <p:sp>
        <p:nvSpPr>
          <p:cNvPr id="45" name="Shape 42"/>
          <p:cNvSpPr/>
          <p:nvPr/>
        </p:nvSpPr>
        <p:spPr>
          <a:xfrm>
            <a:off x="365760" y="3749040"/>
            <a:ext cx="8412480" cy="914400"/>
          </a:xfrm>
          <a:prstGeom prst="rect">
            <a:avLst/>
          </a:prstGeom>
          <a:solidFill>
            <a:srgbClr val="F8FAFC"/>
          </a:solidFill>
          <a:ln w="6350">
            <a:solidFill>
              <a:srgbClr val="E2E8F0"/>
            </a:solidFill>
            <a:prstDash val="solid"/>
          </a:ln>
        </p:spPr>
      </p:sp>
      <p:sp>
        <p:nvSpPr>
          <p:cNvPr id="46" name="Shape 43"/>
          <p:cNvSpPr/>
          <p:nvPr/>
        </p:nvSpPr>
        <p:spPr>
          <a:xfrm>
            <a:off x="365760" y="3749040"/>
            <a:ext cx="54864" cy="914400"/>
          </a:xfrm>
          <a:prstGeom prst="rect">
            <a:avLst/>
          </a:prstGeom>
          <a:solidFill>
            <a:srgbClr val="0D9488"/>
          </a:solidFill>
          <a:ln w="12700">
            <a:solidFill>
              <a:srgbClr val="0D9488"/>
            </a:solidFill>
            <a:prstDash val="solid"/>
          </a:ln>
        </p:spPr>
      </p:sp>
      <p:sp>
        <p:nvSpPr>
          <p:cNvPr id="47" name="Text 44"/>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48" name="Text 45"/>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108 anti-pattern instances across 9 types. Hardcoded Endpoints (43) and API Versioning Absence (31) dominate.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Cyclic Dependency and Wrong Cuts detected in microservice-recruit — broader corpus exercises more detectors.</a:t>
            </a:r>
            <a:endParaRPr lang="en-US" sz="1100" dirty="0"/>
          </a:p>
        </p:txBody>
      </p:sp>
      <p:sp>
        <p:nvSpPr>
          <p:cNvPr id="49" name="Text 4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0" name="Text 4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a:t>
            </a:r>
            <a:r>
              <a:rPr lang="en-US" sz="1150">
                <a:solidFill>
                  <a:srgbClr val="1E293B"/>
                </a:solidFill>
                <a:latin typeface="Calibri" pitchFamily="34" charset="0"/>
                <a:ea typeface="Calibri" pitchFamily="34" charset="-122"/>
                <a:cs typeface="Calibri" pitchFamily="34" charset="-120"/>
              </a:rPr>
              <a:t>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06040"/>
            <a:ext cx="7772400" cy="1783080"/>
          </a:xfrm>
          <a:prstGeom prst="rect">
            <a:avLst/>
          </a:prstGeom>
          <a:solidFill>
            <a:srgbClr val="1C4E80"/>
          </a:solidFill>
          <a:ln w="12700">
            <a:solidFill>
              <a:srgbClr val="1C4E80"/>
            </a:solidFill>
            <a:prstDash val="solid"/>
          </a:ln>
        </p:spPr>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3970</Words>
  <Application>Microsoft Office PowerPoint</Application>
  <PresentationFormat>On-screen Show (16:9)</PresentationFormat>
  <Paragraphs>252</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cp:revision>
  <dcterms:created xsi:type="dcterms:W3CDTF">2026-05-29T09:27:44Z</dcterms:created>
  <dcterms:modified xsi:type="dcterms:W3CDTF">2026-05-29T09:29:29Z</dcterms:modified>
</cp:coreProperties>
</file>