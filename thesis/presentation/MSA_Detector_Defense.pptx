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4"/>
                </a:solidFill>
                <a:latin typeface="Calibri"/>
              </a:defRPr>
            </a:pPr>
            <a:r>
              <a:rPr sz="1300" b="0" i="0" u="none" strike="noStrike">
                <a:solidFill>
                  <a:srgbClr val="0F2A44"/>
                </a:solidFill>
                <a:latin typeface="Calibri"/>
              </a:rPr>
              <a:t>Health scores by project (0–100)</a:t>
            </a:r>
          </a:p>
        </c:rich>
      </c:tx>
      <c:layout/>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cat>
            <c:multiLvlStrRef>
              <c:f>Sheet1!$A$2:$A$12</c:f>
              <c:multiLvlStrCache>
                <c:ptCount val="11"/>
                <c:lvl>
                  <c:pt idx="0">
                    <c:v>MicroSocial</c:v>
                  </c:pt>
                  <c:pt idx="1">
                    <c:v>ftgo</c:v>
                  </c:pt>
                  <c:pt idx="2">
                    <c:v>PiggyMetrics</c:v>
                  </c:pt>
                  <c:pt idx="3">
                    <c:v>Site-Where</c:v>
                  </c:pt>
                  <c:pt idx="4">
                    <c:v>RuoYi</c:v>
                  </c:pt>
                  <c:pt idx="5">
                    <c:v>design-pat.</c:v>
                  </c:pt>
                  <c:pt idx="6">
                    <c:v>mall-swarm</c:v>
                  </c:pt>
                  <c:pt idx="7">
                    <c:v>NetworkDisk</c:v>
                  </c:pt>
                  <c:pt idx="8">
                    <c:v>piomin</c:v>
                  </c:pt>
                  <c:pt idx="9">
                    <c:v>Train-Ticket</c:v>
                  </c:pt>
                  <c:pt idx="10">
                    <c:v>recruit</c:v>
                  </c:pt>
                </c:lvl>
              </c:multiLvlStrCache>
            </c:multiLvlStrRef>
          </c:cat>
          <c:val>
            <c:numRef>
              <c:f>Sheet1!$B$2:$B$12</c:f>
              <c:numCache>
                <c:formatCode>General</c:formatCode>
                <c:ptCount val="11"/>
                <c:pt idx="0">
                  <c:v>83</c:v>
                </c:pt>
                <c:pt idx="1">
                  <c:v>75</c:v>
                </c:pt>
                <c:pt idx="2">
                  <c:v>71</c:v>
                </c:pt>
                <c:pt idx="3">
                  <c:v>69</c:v>
                </c:pt>
                <c:pt idx="4">
                  <c:v>68</c:v>
                </c:pt>
                <c:pt idx="5">
                  <c:v>60</c:v>
                </c:pt>
                <c:pt idx="6">
                  <c:v>53</c:v>
                </c:pt>
                <c:pt idx="7">
                  <c:v>52</c:v>
                </c:pt>
                <c:pt idx="8">
                  <c:v>51</c:v>
                </c:pt>
                <c:pt idx="9">
                  <c:v>40</c:v>
                </c:pt>
                <c:pt idx="10">
                  <c:v>40</c:v>
                </c:pt>
              </c:numCache>
            </c:numRef>
          </c:val>
        </c:ser>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You can add: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Keep this short — about 30 seconds. Don't introduce content yet; that's the next slide.
Breathe, slow down. The committee already knows your name from the schedule, so this is just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You can mention a concrete example: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Pivot to next slide: 'So the goal of this work was a tool that bridges both levels and outputs actionable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
Don't dwell on each one. They'll see the details later. This slide sets expectations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
You can also note: 'The dual-path approach — DesigniteJava primary, Spoon fallback — is a pattern I used across several detectors. It makes the tool resilient to external-tool failures and also lets us cross-validate results when both paths are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
Worth saying aloud: 'The severity levels aren't arbitrary — they reflect how much damage the anti-pattern can cause. Cyclic Dependency and Distributed Monolith are critical because they undermine independent deployability entirely. Hardcoded Endpoints and API Versioning are medium because they're easier to fix and their impact is more localised.'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
You can also add: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
If time allows, mention: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43 hardcoded endpoints, 37 API versioning absences, 23 nano services. Cyclic Dependency and Wrong Cuts were detected in microservice-recruit. Adding PiggyMetrics and piomin broadened ESB Misuse and Nano Service coverage.'
• '126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r>
          <p:cNvPicPr>
            <a:picLocks noChangeAspect="1"/>
          </p:cNvPicPr>
          <p:nvPr/>
        </p:nvPicPr>
        <p:blipFill>
          <a:blip r:embed="rId1"/>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algn="ctr" indent="0" marL="0">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indent="0" marL="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indent="0" marL="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indent="0" marL="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indent="0" marL="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indent="0" marL="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indent="0" marL="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indent="0" marL="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sx="100000" sy="100000" kx="0" ky="0" algn="bl" rotWithShape="0" blurRad="76200" dist="25400" dir="8100000">
              <a:srgbClr val="000000">
                <a:alpha val="12000"/>
              </a:srgbClr>
            </a:outerShdw>
          </a:effectLst>
        </p:spPr>
      </p:sp>
      <p:pic>
        <p:nvPicPr>
          <p:cNvPr id="7" name="Image 0" descr="preencoded.png">    </p:cNvPr>
          <p:cNvPicPr>
            <a:picLocks noChangeAspect="1"/>
          </p:cNvPicPr>
          <p:nvPr/>
        </p:nvPicPr>
        <p:blipFill>
          <a:blip r:embed="rId1"/>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sx="100000" sy="100000" kx="0" ky="0" algn="bl" rotWithShape="0" blurRad="76200" dist="25400" dir="8100000">
              <a:srgbClr val="000000">
                <a:alpha val="12000"/>
              </a:srgbClr>
            </a:outerShdw>
          </a:effectLst>
        </p:spPr>
      </p:sp>
      <p:pic>
        <p:nvPicPr>
          <p:cNvPr id="13" name="Image 1" descr="preencoded.png">    </p:cNvPr>
          <p:cNvPicPr>
            <a:picLocks noChangeAspect="1"/>
          </p:cNvPicPr>
          <p:nvPr/>
        </p:nvPicPr>
        <p:blipFill>
          <a:blip r:embed="rId2"/>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Arcan, MicroART, MSANose each cover a slice: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sx="100000" sy="100000" kx="0" ky="0" algn="bl" rotWithShape="0" blurRad="76200" dist="25400" dir="8100000">
              <a:srgbClr val="000000">
                <a:alpha val="12000"/>
              </a:srgbClr>
            </a:outerShdw>
          </a:effectLst>
        </p:spPr>
      </p:sp>
      <p:pic>
        <p:nvPicPr>
          <p:cNvPr id="19" name="Image 2" descr="preencoded.png">    </p:cNvPr>
          <p:cNvPicPr>
            <a:picLocks noChangeAspect="1"/>
          </p:cNvPicPr>
          <p:nvPr/>
        </p:nvPicPr>
        <p:blipFill>
          <a:blip r:embed="rId3"/>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sx="100000" sy="100000" kx="0" ky="0" algn="bl" rotWithShape="0" blurRad="76200" dist="25400" dir="8100000">
              <a:srgbClr val="000000">
                <a:alpha val="12000"/>
              </a:srgbClr>
            </a:outerShdw>
          </a:effectLst>
        </p:spPr>
      </p:sp>
      <p:pic>
        <p:nvPicPr>
          <p:cNvPr id="4" name="Image 0" descr="preencoded.png">    </p:cNvPr>
          <p:cNvPicPr>
            <a:picLocks noChangeAspect="1"/>
          </p:cNvPicPr>
          <p:nvPr/>
        </p:nvPicPr>
        <p:blipFill>
          <a:blip r:embed="rId1"/>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sx="100000" sy="100000" kx="0" ky="0" algn="bl" rotWithShape="0" blurRad="76200" dist="25400" dir="8100000">
              <a:srgbClr val="000000">
                <a:alpha val="12000"/>
              </a:srgbClr>
            </a:outerShdw>
          </a:effectLst>
        </p:spPr>
      </p:sp>
      <p:pic>
        <p:nvPicPr>
          <p:cNvPr id="8" name="Image 1" descr="preencoded.png">    </p:cNvPr>
          <p:cNvPicPr>
            <a:picLocks noChangeAspect="1"/>
          </p:cNvPicPr>
          <p:nvPr/>
        </p:nvPicPr>
        <p:blipFill>
          <a:blip r:embed="rId2"/>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sx="100000" sy="100000" kx="0" ky="0" algn="bl" rotWithShape="0" blurRad="76200" dist="25400" dir="8100000">
              <a:srgbClr val="000000">
                <a:alpha val="12000"/>
              </a:srgbClr>
            </a:outerShdw>
          </a:effectLst>
        </p:spPr>
      </p:sp>
      <p:pic>
        <p:nvPicPr>
          <p:cNvPr id="12" name="Image 2" descr="preencoded.png">    </p:cNvPr>
          <p:cNvPicPr>
            <a:picLocks noChangeAspect="1"/>
          </p:cNvPicPr>
          <p:nvPr/>
        </p:nvPicPr>
        <p:blipFill>
          <a:blip r:embed="rId3"/>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sx="100000" sy="100000" kx="0" ky="0" algn="bl" rotWithShape="0" blurRad="76200" dist="25400" dir="8100000">
              <a:srgbClr val="000000">
                <a:alpha val="12000"/>
              </a:srgbClr>
            </a:outerShdw>
          </a:effectLst>
        </p:spPr>
      </p:sp>
      <p:pic>
        <p:nvPicPr>
          <p:cNvPr id="16" name="Image 3" descr="preencoded.png">    </p:cNvPr>
          <p:cNvPicPr>
            <a:picLocks noChangeAspect="1"/>
          </p:cNvPicPr>
          <p:nvPr/>
        </p:nvPicPr>
        <p:blipFill>
          <a:blip r:embed="rId4"/>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sx="100000" sy="100000" kx="0" ky="0" algn="bl" rotWithShape="0" blurRad="76200" dist="25400" dir="8100000">
              <a:srgbClr val="000000">
                <a:alpha val="12000"/>
              </a:srgbClr>
            </a:outerShdw>
          </a:effectLst>
        </p:spPr>
      </p:sp>
      <p:pic>
        <p:nvPicPr>
          <p:cNvPr id="20" name="Image 4" descr="preencoded.png">    </p:cNvPr>
          <p:cNvPicPr>
            <a:picLocks noChangeAspect="1"/>
          </p:cNvPicPr>
          <p:nvPr/>
        </p:nvPicPr>
        <p:blipFill>
          <a:blip r:embed="rId5"/>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sx="100000" sy="100000" kx="0" ky="0" algn="bl" rotWithShape="0" blurRad="76200" dist="25400" dir="8100000">
              <a:srgbClr val="000000">
                <a:alpha val="12000"/>
              </a:srgbClr>
            </a:outerShdw>
          </a:effectLst>
        </p:spPr>
      </p:sp>
      <p:pic>
        <p:nvPicPr>
          <p:cNvPr id="6" name="Image 0" descr="preencoded.png">    </p:cNvPr>
          <p:cNvPicPr>
            <a:picLocks noChangeAspect="1"/>
          </p:cNvPicPr>
          <p:nvPr/>
        </p:nvPicPr>
        <p:blipFill>
          <a:blip r:embed="rId1"/>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r>
          <p:cNvPicPr>
            <a:picLocks noChangeAspect="1"/>
          </p:cNvPicPr>
          <p:nvPr/>
        </p:nvPicPr>
        <p:blipFill>
          <a:blip r:embed="rId2"/>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sx="100000" sy="100000" kx="0" ky="0" algn="bl" rotWithShape="0" blurRad="76200" dist="25400" dir="8100000">
              <a:srgbClr val="000000">
                <a:alpha val="12000"/>
              </a:srgbClr>
            </a:outerShdw>
          </a:effectLst>
        </p:spPr>
      </p:sp>
      <p:pic>
        <p:nvPicPr>
          <p:cNvPr id="13" name="Image 2" descr="preencoded.png">    </p:cNvPr>
          <p:cNvPicPr>
            <a:picLocks noChangeAspect="1"/>
          </p:cNvPicPr>
          <p:nvPr/>
        </p:nvPicPr>
        <p:blipFill>
          <a:blip r:embed="rId3"/>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r>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sx="100000" sy="100000" kx="0" ky="0" algn="bl" rotWithShape="0" blurRad="76200" dist="25400" dir="8100000">
              <a:srgbClr val="000000">
                <a:alpha val="12000"/>
              </a:srgbClr>
            </a:outerShdw>
          </a:effectLst>
        </p:spPr>
      </p:sp>
      <p:pic>
        <p:nvPicPr>
          <p:cNvPr id="20" name="Image 4" descr="preencoded.png">    </p:cNvPr>
          <p:cNvPicPr>
            <a:picLocks noChangeAspect="1"/>
          </p:cNvPicPr>
          <p:nvPr/>
        </p:nvPicPr>
        <p:blipFill>
          <a:blip r:embed="rId5"/>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r>
          <p:cNvPicPr>
            <a:picLocks noChangeAspect="1"/>
          </p:cNvPicPr>
          <p:nvPr/>
        </p:nvPicPr>
        <p:blipFill>
          <a:blip r:embed="rId6"/>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sx="100000" sy="100000" kx="0" ky="0" algn="bl" rotWithShape="0" blurRad="76200" dist="25400" dir="8100000">
              <a:srgbClr val="000000">
                <a:alpha val="12000"/>
              </a:srgbClr>
            </a:outerShdw>
          </a:effectLst>
        </p:spPr>
      </p:sp>
      <p:pic>
        <p:nvPicPr>
          <p:cNvPr id="27" name="Image 6" descr="preencoded.png">    </p:cNvPr>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r>
          <p:cNvPicPr>
            <a:picLocks noChangeAspect="1"/>
          </p:cNvPicPr>
          <p:nvPr/>
        </p:nvPicPr>
        <p:blipFill>
          <a:blip r:embed="rId8"/>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sx="100000" sy="100000" kx="0" ky="0" algn="bl" rotWithShape="0" blurRad="76200" dist="25400" dir="8100000">
              <a:srgbClr val="000000">
                <a:alpha val="12000"/>
              </a:srgbClr>
            </a:outerShdw>
          </a:effectLst>
        </p:spPr>
      </p:sp>
      <p:pic>
        <p:nvPicPr>
          <p:cNvPr id="34" name="Image 8" descr="preencoded.png">    </p:cNvPr>
          <p:cNvPicPr>
            <a:picLocks noChangeAspect="1"/>
          </p:cNvPicPr>
          <p:nvPr/>
        </p:nvPicPr>
        <p:blipFill>
          <a:blip r:embed="rId9"/>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algn="ctr" indent="0" marL="0">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indent="0" marL="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indent="0" marL="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algn="ctr" indent="0" marL="0">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indent="0" marL="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algn="ctr" indent="0" marL="0">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algn="ctr" indent="0" marL="0">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algn="ctr" indent="0" marL="0">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algn="ctr" indent="0" marL="0">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algn="ctr" indent="0" marL="0">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algn="ctr" indent="0" marL="0">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algn="ctr" indent="0" marL="0">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algn="ctr" indent="0" marL="0">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algn="ctr" indent="0" marL="0">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078992"/>
            <a:ext cx="4114800" cy="283464"/>
          </a:xfrm>
          <a:prstGeom prst="rect">
            <a:avLst/>
          </a:prstGeom>
          <a:solidFill>
            <a:srgbClr val="F8FAFC"/>
          </a:solidFill>
          <a:ln w="6350">
            <a:solidFill>
              <a:srgbClr val="E2E8F0"/>
            </a:solidFill>
            <a:prstDash val="solid"/>
          </a:ln>
        </p:spPr>
      </p:sp>
      <p:sp>
        <p:nvSpPr>
          <p:cNvPr id="5" name="Text 3"/>
          <p:cNvSpPr/>
          <p:nvPr/>
        </p:nvSpPr>
        <p:spPr>
          <a:xfrm>
            <a:off x="502920" y="1078992"/>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078992"/>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078992"/>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394460"/>
            <a:ext cx="4114800" cy="283464"/>
          </a:xfrm>
          <a:prstGeom prst="rect">
            <a:avLst/>
          </a:prstGeom>
          <a:solidFill>
            <a:srgbClr val="F8FAFC"/>
          </a:solidFill>
          <a:ln w="6350">
            <a:solidFill>
              <a:srgbClr val="E2E8F0"/>
            </a:solidFill>
            <a:prstDash val="solid"/>
          </a:ln>
        </p:spPr>
      </p:sp>
      <p:sp>
        <p:nvSpPr>
          <p:cNvPr id="9" name="Text 7"/>
          <p:cNvSpPr/>
          <p:nvPr/>
        </p:nvSpPr>
        <p:spPr>
          <a:xfrm>
            <a:off x="502920" y="1394460"/>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394460"/>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394460"/>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709928"/>
            <a:ext cx="4114800" cy="283464"/>
          </a:xfrm>
          <a:prstGeom prst="rect">
            <a:avLst/>
          </a:prstGeom>
          <a:solidFill>
            <a:srgbClr val="F8FAFC"/>
          </a:solidFill>
          <a:ln w="6350">
            <a:solidFill>
              <a:srgbClr val="E2E8F0"/>
            </a:solidFill>
            <a:prstDash val="solid"/>
          </a:ln>
        </p:spPr>
      </p:sp>
      <p:sp>
        <p:nvSpPr>
          <p:cNvPr id="13" name="Text 11"/>
          <p:cNvSpPr/>
          <p:nvPr/>
        </p:nvSpPr>
        <p:spPr>
          <a:xfrm>
            <a:off x="502920" y="1709928"/>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709928"/>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709928"/>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025396"/>
            <a:ext cx="4114800" cy="283464"/>
          </a:xfrm>
          <a:prstGeom prst="rect">
            <a:avLst/>
          </a:prstGeom>
          <a:solidFill>
            <a:srgbClr val="F8FAFC"/>
          </a:solidFill>
          <a:ln w="6350">
            <a:solidFill>
              <a:srgbClr val="E2E8F0"/>
            </a:solidFill>
            <a:prstDash val="solid"/>
          </a:ln>
        </p:spPr>
      </p:sp>
      <p:sp>
        <p:nvSpPr>
          <p:cNvPr id="17" name="Text 15"/>
          <p:cNvSpPr/>
          <p:nvPr/>
        </p:nvSpPr>
        <p:spPr>
          <a:xfrm>
            <a:off x="502920" y="2025396"/>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025396"/>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025396"/>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340864"/>
            <a:ext cx="4114800" cy="283464"/>
          </a:xfrm>
          <a:prstGeom prst="rect">
            <a:avLst/>
          </a:prstGeom>
          <a:solidFill>
            <a:srgbClr val="F8FAFC"/>
          </a:solidFill>
          <a:ln w="6350">
            <a:solidFill>
              <a:srgbClr val="E2E8F0"/>
            </a:solidFill>
            <a:prstDash val="solid"/>
          </a:ln>
        </p:spPr>
      </p:sp>
      <p:sp>
        <p:nvSpPr>
          <p:cNvPr id="21" name="Text 19"/>
          <p:cNvSpPr/>
          <p:nvPr/>
        </p:nvSpPr>
        <p:spPr>
          <a:xfrm>
            <a:off x="502920" y="2340864"/>
            <a:ext cx="548640" cy="28346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340864"/>
            <a:ext cx="2103120" cy="283464"/>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340864"/>
            <a:ext cx="1325880" cy="283464"/>
          </a:xfrm>
          <a:prstGeom prst="rect">
            <a:avLst/>
          </a:prstGeom>
          <a:noFill/>
          <a:ln/>
        </p:spPr>
        <p:txBody>
          <a:bodyPr wrap="square" lIns="0" tIns="0" rIns="0" bIns="0" rtlCol="0" anchor="ctr"/>
          <a:lstStyle/>
          <a:p>
            <a:pPr algn="r" indent="0" marL="0">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697480"/>
            <a:ext cx="4114800" cy="411480"/>
          </a:xfrm>
          <a:prstGeom prst="rect">
            <a:avLst/>
          </a:prstGeom>
          <a:solidFill>
            <a:srgbClr val="0F2A44"/>
          </a:solidFill>
          <a:ln w="12700">
            <a:solidFill>
              <a:srgbClr val="0F2A44"/>
            </a:solidFill>
            <a:prstDash val="solid"/>
          </a:ln>
        </p:spPr>
      </p:sp>
      <p:sp>
        <p:nvSpPr>
          <p:cNvPr id="25" name="Text 23"/>
          <p:cNvSpPr/>
          <p:nvPr/>
        </p:nvSpPr>
        <p:spPr>
          <a:xfrm>
            <a:off x="457200" y="2697480"/>
            <a:ext cx="411480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sp>
      <p:sp>
        <p:nvSpPr>
          <p:cNvPr id="29" name="Text 27"/>
          <p:cNvSpPr/>
          <p:nvPr/>
        </p:nvSpPr>
        <p:spPr>
          <a:xfrm>
            <a:off x="8595360" y="1197864"/>
            <a:ext cx="548640" cy="32004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sp>
      <p:sp>
        <p:nvSpPr>
          <p:cNvPr id="33" name="Text 31"/>
          <p:cNvSpPr/>
          <p:nvPr/>
        </p:nvSpPr>
        <p:spPr>
          <a:xfrm>
            <a:off x="8595360" y="1700784"/>
            <a:ext cx="548640" cy="32004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sp>
      <p:sp>
        <p:nvSpPr>
          <p:cNvPr id="37" name="Text 35"/>
          <p:cNvSpPr/>
          <p:nvPr/>
        </p:nvSpPr>
        <p:spPr>
          <a:xfrm>
            <a:off x="8595360" y="2203704"/>
            <a:ext cx="548640" cy="32004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sp>
      <p:sp>
        <p:nvSpPr>
          <p:cNvPr id="41" name="Text 39"/>
          <p:cNvSpPr/>
          <p:nvPr/>
        </p:nvSpPr>
        <p:spPr>
          <a:xfrm>
            <a:off x="8595360" y="2706624"/>
            <a:ext cx="548640" cy="32004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sp>
      <p:sp>
        <p:nvSpPr>
          <p:cNvPr id="43" name="Text 41"/>
          <p:cNvSpPr/>
          <p:nvPr/>
        </p:nvSpPr>
        <p:spPr>
          <a:xfrm>
            <a:off x="5852160" y="3474720"/>
            <a:ext cx="1280160" cy="82296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246120"/>
            <a:ext cx="4114800" cy="365760"/>
          </a:xfrm>
          <a:prstGeom prst="rect">
            <a:avLst/>
          </a:prstGeom>
          <a:noFill/>
          <a:ln/>
        </p:spPr>
        <p:txBody>
          <a:bodyPr wrap="square" lIns="0" tIns="0" rIns="0" bIns="0" rtlCol="0" anchor="ctr"/>
          <a:lstStyle/>
          <a:p>
            <a:pPr algn="ctr" indent="0" marL="0">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11880"/>
            <a:ext cx="4114800" cy="91440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Deductions spread across all four categories: the anti-pattern load (penalty 49) clamps AP to 0; Architecture loses 9 to dependency-graph coupling; Code Quality 8 to smell density; 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descr=""/>
          <p:cNvGraphicFramePr/>
          <p:nvPr/>
        </p:nvGraphicFramePr>
        <p:xfrm>
          <a:off x="365760" y="868680"/>
          <a:ext cx="5394960" cy="2743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035040" y="868680"/>
            <a:ext cx="274320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188720"/>
            <a:ext cx="2743200" cy="192024"/>
          </a:xfrm>
          <a:prstGeom prst="rect">
            <a:avLst/>
          </a:prstGeom>
          <a:solidFill>
            <a:srgbClr val="F8FAFC"/>
          </a:solidFill>
          <a:ln w="6350">
            <a:solidFill>
              <a:srgbClr val="E2E8F0"/>
            </a:solidFill>
            <a:prstDash val="solid"/>
          </a:ln>
        </p:spPr>
      </p:sp>
      <p:sp>
        <p:nvSpPr>
          <p:cNvPr id="6" name="Text 3"/>
          <p:cNvSpPr/>
          <p:nvPr/>
        </p:nvSpPr>
        <p:spPr>
          <a:xfrm>
            <a:off x="6126480" y="1188720"/>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188720"/>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188720"/>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408176"/>
            <a:ext cx="2743200" cy="192024"/>
          </a:xfrm>
          <a:prstGeom prst="rect">
            <a:avLst/>
          </a:prstGeom>
          <a:solidFill>
            <a:srgbClr val="F8FAFC"/>
          </a:solidFill>
          <a:ln w="6350">
            <a:solidFill>
              <a:srgbClr val="E2E8F0"/>
            </a:solidFill>
            <a:prstDash val="solid"/>
          </a:ln>
        </p:spPr>
      </p:sp>
      <p:sp>
        <p:nvSpPr>
          <p:cNvPr id="10" name="Text 7"/>
          <p:cNvSpPr/>
          <p:nvPr/>
        </p:nvSpPr>
        <p:spPr>
          <a:xfrm>
            <a:off x="6126480" y="1408176"/>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408176"/>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408176"/>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627632"/>
            <a:ext cx="2743200" cy="192024"/>
          </a:xfrm>
          <a:prstGeom prst="rect">
            <a:avLst/>
          </a:prstGeom>
          <a:solidFill>
            <a:srgbClr val="F8FAFC"/>
          </a:solidFill>
          <a:ln w="6350">
            <a:solidFill>
              <a:srgbClr val="E2E8F0"/>
            </a:solidFill>
            <a:prstDash val="solid"/>
          </a:ln>
        </p:spPr>
      </p:sp>
      <p:sp>
        <p:nvSpPr>
          <p:cNvPr id="14" name="Text 11"/>
          <p:cNvSpPr/>
          <p:nvPr/>
        </p:nvSpPr>
        <p:spPr>
          <a:xfrm>
            <a:off x="6126480" y="1627632"/>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627632"/>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627632"/>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847088"/>
            <a:ext cx="2743200" cy="192024"/>
          </a:xfrm>
          <a:prstGeom prst="rect">
            <a:avLst/>
          </a:prstGeom>
          <a:solidFill>
            <a:srgbClr val="F8FAFC"/>
          </a:solidFill>
          <a:ln w="6350">
            <a:solidFill>
              <a:srgbClr val="E2E8F0"/>
            </a:solidFill>
            <a:prstDash val="solid"/>
          </a:ln>
        </p:spPr>
      </p:sp>
      <p:sp>
        <p:nvSpPr>
          <p:cNvPr id="18" name="Text 15"/>
          <p:cNvSpPr/>
          <p:nvPr/>
        </p:nvSpPr>
        <p:spPr>
          <a:xfrm>
            <a:off x="6126480" y="1847088"/>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847088"/>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847088"/>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2066544"/>
            <a:ext cx="2743200" cy="192024"/>
          </a:xfrm>
          <a:prstGeom prst="rect">
            <a:avLst/>
          </a:prstGeom>
          <a:solidFill>
            <a:srgbClr val="F8FAFC"/>
          </a:solidFill>
          <a:ln w="6350">
            <a:solidFill>
              <a:srgbClr val="E2E8F0"/>
            </a:solidFill>
            <a:prstDash val="solid"/>
          </a:ln>
        </p:spPr>
      </p:sp>
      <p:sp>
        <p:nvSpPr>
          <p:cNvPr id="22" name="Text 19"/>
          <p:cNvSpPr/>
          <p:nvPr/>
        </p:nvSpPr>
        <p:spPr>
          <a:xfrm>
            <a:off x="6126480" y="2066544"/>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2066544"/>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2066544"/>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286000"/>
            <a:ext cx="2743200" cy="192024"/>
          </a:xfrm>
          <a:prstGeom prst="rect">
            <a:avLst/>
          </a:prstGeom>
          <a:solidFill>
            <a:srgbClr val="F8FAFC"/>
          </a:solidFill>
          <a:ln w="6350">
            <a:solidFill>
              <a:srgbClr val="E2E8F0"/>
            </a:solidFill>
            <a:prstDash val="solid"/>
          </a:ln>
        </p:spPr>
      </p:sp>
      <p:sp>
        <p:nvSpPr>
          <p:cNvPr id="26" name="Text 23"/>
          <p:cNvSpPr/>
          <p:nvPr/>
        </p:nvSpPr>
        <p:spPr>
          <a:xfrm>
            <a:off x="6126480" y="2286000"/>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286000"/>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286000"/>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505456"/>
            <a:ext cx="2743200" cy="192024"/>
          </a:xfrm>
          <a:prstGeom prst="rect">
            <a:avLst/>
          </a:prstGeom>
          <a:solidFill>
            <a:srgbClr val="F8FAFC"/>
          </a:solidFill>
          <a:ln w="6350">
            <a:solidFill>
              <a:srgbClr val="E2E8F0"/>
            </a:solidFill>
            <a:prstDash val="solid"/>
          </a:ln>
        </p:spPr>
      </p:sp>
      <p:sp>
        <p:nvSpPr>
          <p:cNvPr id="30" name="Text 27"/>
          <p:cNvSpPr/>
          <p:nvPr/>
        </p:nvSpPr>
        <p:spPr>
          <a:xfrm>
            <a:off x="6126480" y="2505456"/>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505456"/>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505456"/>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724912"/>
            <a:ext cx="2743200" cy="192024"/>
          </a:xfrm>
          <a:prstGeom prst="rect">
            <a:avLst/>
          </a:prstGeom>
          <a:solidFill>
            <a:srgbClr val="F8FAFC"/>
          </a:solidFill>
          <a:ln w="6350">
            <a:solidFill>
              <a:srgbClr val="E2E8F0"/>
            </a:solidFill>
            <a:prstDash val="solid"/>
          </a:ln>
        </p:spPr>
      </p:sp>
      <p:sp>
        <p:nvSpPr>
          <p:cNvPr id="34" name="Text 31"/>
          <p:cNvSpPr/>
          <p:nvPr/>
        </p:nvSpPr>
        <p:spPr>
          <a:xfrm>
            <a:off x="6126480" y="2724912"/>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724912"/>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724912"/>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944368"/>
            <a:ext cx="2743200" cy="192024"/>
          </a:xfrm>
          <a:prstGeom prst="rect">
            <a:avLst/>
          </a:prstGeom>
          <a:solidFill>
            <a:srgbClr val="F8FAFC"/>
          </a:solidFill>
          <a:ln w="6350">
            <a:solidFill>
              <a:srgbClr val="E2E8F0"/>
            </a:solidFill>
            <a:prstDash val="solid"/>
          </a:ln>
        </p:spPr>
      </p:sp>
      <p:sp>
        <p:nvSpPr>
          <p:cNvPr id="38" name="Text 35"/>
          <p:cNvSpPr/>
          <p:nvPr/>
        </p:nvSpPr>
        <p:spPr>
          <a:xfrm>
            <a:off x="6126480" y="2944368"/>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944368"/>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944368"/>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163824"/>
            <a:ext cx="2743200" cy="192024"/>
          </a:xfrm>
          <a:prstGeom prst="rect">
            <a:avLst/>
          </a:prstGeom>
          <a:solidFill>
            <a:srgbClr val="F8FAFC"/>
          </a:solidFill>
          <a:ln w="6350">
            <a:solidFill>
              <a:srgbClr val="E2E8F0"/>
            </a:solidFill>
            <a:prstDash val="solid"/>
          </a:ln>
        </p:spPr>
      </p:sp>
      <p:sp>
        <p:nvSpPr>
          <p:cNvPr id="42" name="Text 39"/>
          <p:cNvSpPr/>
          <p:nvPr/>
        </p:nvSpPr>
        <p:spPr>
          <a:xfrm>
            <a:off x="6126480" y="3163824"/>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163824"/>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163824"/>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383280"/>
            <a:ext cx="2743200" cy="192024"/>
          </a:xfrm>
          <a:prstGeom prst="rect">
            <a:avLst/>
          </a:prstGeom>
          <a:solidFill>
            <a:srgbClr val="F8FAFC"/>
          </a:solidFill>
          <a:ln w="6350">
            <a:solidFill>
              <a:srgbClr val="E2E8F0"/>
            </a:solidFill>
            <a:prstDash val="solid"/>
          </a:ln>
        </p:spPr>
      </p:sp>
      <p:sp>
        <p:nvSpPr>
          <p:cNvPr id="46" name="Text 43"/>
          <p:cNvSpPr/>
          <p:nvPr/>
        </p:nvSpPr>
        <p:spPr>
          <a:xfrm>
            <a:off x="6126480" y="3383280"/>
            <a:ext cx="1280160" cy="192024"/>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383280"/>
            <a:ext cx="457200" cy="192024"/>
          </a:xfrm>
          <a:prstGeom prst="rect">
            <a:avLst/>
          </a:prstGeom>
          <a:noFill/>
          <a:ln/>
        </p:spPr>
        <p:txBody>
          <a:bodyPr wrap="square" lIns="0" tIns="0" rIns="0" bIns="0" rtlCol="0" anchor="ctr"/>
          <a:lstStyle/>
          <a:p>
            <a:pPr algn="ctr" indent="0" marL="0">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383280"/>
            <a:ext cx="868680" cy="192024"/>
          </a:xfrm>
          <a:prstGeom prst="rect">
            <a:avLst/>
          </a:prstGeom>
          <a:noFill/>
          <a:ln/>
        </p:spPr>
        <p:txBody>
          <a:bodyPr wrap="square" lIns="0" tIns="0" rIns="0" bIns="0" rtlCol="0" anchor="ctr"/>
          <a:lstStyle/>
          <a:p>
            <a:pPr algn="r" indent="0" marL="0">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602736"/>
            <a:ext cx="2743200" cy="192024"/>
          </a:xfrm>
          <a:prstGeom prst="rect">
            <a:avLst/>
          </a:prstGeom>
          <a:solidFill>
            <a:srgbClr val="0F2A44"/>
          </a:solidFill>
          <a:ln w="6350">
            <a:solidFill>
              <a:srgbClr val="E2E8F0"/>
            </a:solidFill>
            <a:prstDash val="solid"/>
          </a:ln>
        </p:spPr>
      </p:sp>
      <p:sp>
        <p:nvSpPr>
          <p:cNvPr id="50" name="Text 47"/>
          <p:cNvSpPr/>
          <p:nvPr/>
        </p:nvSpPr>
        <p:spPr>
          <a:xfrm>
            <a:off x="6126480" y="3602736"/>
            <a:ext cx="1280160" cy="192024"/>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602736"/>
            <a:ext cx="457200" cy="19202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602736"/>
            <a:ext cx="868680" cy="192024"/>
          </a:xfrm>
          <a:prstGeom prst="rect">
            <a:avLst/>
          </a:prstGeom>
          <a:noFill/>
          <a:ln/>
        </p:spPr>
        <p:txBody>
          <a:bodyPr wrap="square" lIns="0" tIns="0" rIns="0" bIns="0" rtlCol="0" anchor="ctr"/>
          <a:lstStyle/>
          <a:p>
            <a:pPr algn="r" indent="0" marL="0">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sp>
      <p:sp>
        <p:nvSpPr>
          <p:cNvPr id="55" name="Text 52"/>
          <p:cNvSpPr/>
          <p:nvPr/>
        </p:nvSpPr>
        <p:spPr>
          <a:xfrm>
            <a:off x="594360" y="3794760"/>
            <a:ext cx="822960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126 anti-pattern instances across 9 types; Hardcoded Endpoints (43) and API Versioning Absence (37) dominate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PiggyMetrics and piomin broadened ESB Misuse and Nano Service coverage; Cyclic Dependency and Wrong Cuts detected in microservice-recruit</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indent="0" marL="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sp>
      <p:sp>
        <p:nvSpPr>
          <p:cNvPr id="7" name="Text 5"/>
          <p:cNvSpPr/>
          <p:nvPr/>
        </p:nvSpPr>
        <p:spPr>
          <a:xfrm>
            <a:off x="914400" y="265176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indent="0" marL="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1546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indent="0" marL="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6576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indent="0" marL="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605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indent="0" marL="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indent="0" marL="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indent="0" marL="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sx="100000" sy="100000" kx="0" ky="0" algn="bl" rotWithShape="0" blurRad="76200" dist="25400" dir="8100000">
              <a:srgbClr val="000000">
                <a:alpha val="12000"/>
              </a:srgbClr>
            </a:outerShdw>
          </a:effectLst>
        </p:spPr>
      </p:sp>
      <p:pic>
        <p:nvPicPr>
          <p:cNvPr id="6" name="Image 0" descr="preencoded.png">    </p:cNvPr>
          <p:cNvPicPr>
            <a:picLocks noChangeAspect="1"/>
          </p:cNvPicPr>
          <p:nvPr/>
        </p:nvPicPr>
        <p:blipFill>
          <a:blip r:embed="rId1"/>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indent="0" marL="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Evaluation on 11 open-source projects; not a statistical claim</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sx="100000" sy="100000" kx="0" ky="0" algn="bl" rotWithShape="0" blurRad="76200" dist="25400" dir="8100000">
              <a:srgbClr val="000000">
                <a:alpha val="12000"/>
              </a:srgbClr>
            </a:outerShdw>
          </a:effectLst>
        </p:spPr>
      </p:sp>
      <p:pic>
        <p:nvPicPr>
          <p:cNvPr id="12" name="Image 1" descr="preencoded.png">    </p:cNvPr>
          <p:cNvPicPr>
            <a:picLocks noChangeAspect="1"/>
          </p:cNvPicPr>
          <p:nvPr/>
        </p:nvPicPr>
        <p:blipFill>
          <a:blip r:embed="rId2"/>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indent="0" marL="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indent="0" marL="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06040"/>
            <a:ext cx="7772400" cy="1783080"/>
          </a:xfrm>
          <a:prstGeom prst="rect">
            <a:avLst/>
          </a:prstGeom>
          <a:solidFill>
            <a:srgbClr val="1C4E80"/>
          </a:solidFill>
          <a:ln w="12700">
            <a:solidFill>
              <a:srgbClr val="1C4E80"/>
            </a:solidFill>
            <a:prstDash val="solid"/>
          </a:ln>
        </p:spPr>
      </p:sp>
      <p:sp>
        <p:nvSpPr>
          <p:cNvPr id="6" name="Text 4"/>
          <p:cNvSpPr/>
          <p:nvPr/>
        </p:nvSpPr>
        <p:spPr>
          <a:xfrm>
            <a:off x="914400" y="2697480"/>
            <a:ext cx="7498080" cy="320040"/>
          </a:xfrm>
          <a:prstGeom prst="rect">
            <a:avLst/>
          </a:prstGeom>
          <a:noFill/>
          <a:ln/>
        </p:spPr>
        <p:txBody>
          <a:bodyPr wrap="square" lIns="0" tIns="0" rIns="0" bIns="0" rtlCol="0" anchor="ctr"/>
          <a:lstStyle/>
          <a:p>
            <a:pPr indent="0" marL="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1</cp:revision>
  <dcterms:created xsi:type="dcterms:W3CDTF">2026-06-03T09:41:34Z</dcterms:created>
  <dcterms:modified xsi:type="dcterms:W3CDTF">2026-06-03T09:41:34Z</dcterms:modified>
</cp:coreProperties>
</file>