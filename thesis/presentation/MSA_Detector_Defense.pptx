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7797" autoAdjust="0"/>
  </p:normalViewPr>
  <p:slideViewPr>
    <p:cSldViewPr snapToGrid="0" snapToObjects="1">
      <p:cViewPr varScale="1">
        <p:scale>
          <a:sx n="99" d="100"/>
          <a:sy n="99" d="100"/>
        </p:scale>
        <p:origin x="194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0F2A44"/>
                </a:solidFill>
                <a:latin typeface="Calibri"/>
              </a:defRPr>
            </a:pPr>
            <a:r>
              <a:rPr lang="en-US" sz="13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MicroSocial</c:v>
                </c:pt>
                <c:pt idx="1">
                  <c:v>ftgo</c:v>
                </c:pt>
                <c:pt idx="2">
                  <c:v>PiggyMetrics</c:v>
                </c:pt>
                <c:pt idx="3">
                  <c:v>RuoYi</c:v>
                </c:pt>
                <c:pt idx="4">
                  <c:v>Site-Where</c:v>
                </c:pt>
                <c:pt idx="5">
                  <c:v>design-pat.</c:v>
                </c:pt>
                <c:pt idx="6">
                  <c:v>NetworkDisk</c:v>
                </c:pt>
                <c:pt idx="7">
                  <c:v>piomin</c:v>
                </c:pt>
                <c:pt idx="8">
                  <c:v>Train-Ticket</c:v>
                </c:pt>
                <c:pt idx="9">
                  <c:v>mall-swarm</c:v>
                </c:pt>
                <c:pt idx="10">
                  <c:v>recruit</c:v>
                </c:pt>
              </c:strCache>
            </c:strRef>
          </c:cat>
          <c:val>
            <c:numRef>
              <c:f>Sheet1!$B$2:$B$12</c:f>
              <c:numCache>
                <c:formatCode>General</c:formatCode>
                <c:ptCount val="11"/>
                <c:pt idx="0">
                  <c:v>83</c:v>
                </c:pt>
                <c:pt idx="1">
                  <c:v>75</c:v>
                </c:pt>
                <c:pt idx="2">
                  <c:v>71</c:v>
                </c:pt>
                <c:pt idx="3">
                  <c:v>71</c:v>
                </c:pt>
                <c:pt idx="4">
                  <c:v>69</c:v>
                </c:pt>
                <c:pt idx="5">
                  <c:v>60</c:v>
                </c:pt>
                <c:pt idx="6">
                  <c:v>59</c:v>
                </c:pt>
                <c:pt idx="7">
                  <c:v>55</c:v>
                </c:pt>
                <c:pt idx="8">
                  <c:v>54</c:v>
                </c:pt>
                <c:pt idx="9">
                  <c:v>53</c:v>
                </c:pt>
                <c:pt idx="10">
                  <c:v>40</c:v>
                </c:pt>
              </c:numCache>
            </c:numRef>
          </c:val>
          <c:extLst>
            <c:ext xmlns:c16="http://schemas.microsoft.com/office/drawing/2014/chart" uri="{C3380CC4-5D6E-409C-BE32-E72D297353CC}">
              <c16:uniqueId val="{00000000-CFF2-4573-9571-29A36389DD7E}"/>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9536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Andrei Iacob, and today I'll be defending my dissertation: MSA Detector — a tool for detecting architectural anti-patterns in Java-based microservice systems. My supervisor is Professor Simona </a:t>
            </a:r>
            <a:r>
              <a:rPr lang="en-US" dirty="0" err="1"/>
              <a:t>Motogna</a:t>
            </a:r>
            <a:r>
              <a:rPr lang="en-US" dirty="0"/>
              <a:t>.</a:t>
            </a:r>
          </a:p>
          <a:p>
            <a:r>
              <a:rPr lang="en-US" dirty="0"/>
              <a:t>
The core idea is straightforward — as organisations adopt microservices, they often unknowingly introduce structural problems that erode the very benefits they were after. This tool helps catch those problems early, from a source code checkout, before they become production incidents.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 Microservices have become the default for new large systems. But tooling for architectural quality hasn't kept up.
• Teams ship anti-patterns — shared DBs, cycles, services that are either too small or too big — and they only find out when deployment friction or cascading failures appear in production. For instance, a shared database between two services looks harmless at first — both teams just point at the same Postgres instance. But over time, schema changes in one service silently break the other, and you've lost independent </a:t>
            </a:r>
            <a:r>
              <a:rPr lang="en-US" dirty="0" err="1"/>
              <a:t>deployability</a:t>
            </a:r>
            <a:r>
              <a:rPr lang="en-US" dirty="0"/>
              <a:t> — arguably the single biggest reason to use microservices in the first place.</a:t>
            </a:r>
          </a:p>
          <a:p>
            <a:pPr marL="0" indent="0">
              <a:buFont typeface="Arial" panose="020B0604020202020204" pitchFamily="34" charset="0"/>
              <a:buNone/>
            </a:pPr>
            <a:r>
              <a:rPr lang="en-US" dirty="0"/>
              <a:t>• Existing academic tools each handle a slice: Arcan does code-level cycles, MicroART visualises architecture, MSANose detects some microservice smells. None combine code-level smells with architectural-level analysis.
• Even when something IS detected, the output is usually an abstract warning. Developers don't act on warnings without code evidence and remediation guidance.
Pivot to next slide: 'So the goal of this work was a tool that bridges both levels and outputs actionable findings.'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work has five contributions. The first is the multi-level analysis itself — using code-level structural metrics like class cohesion to flag architectural problems like God Service. That bridge between abstraction levels is the central novelty.'
• 'Second, ten anti-patterns across four dimensions — broader coverage than any single existing tool.'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Bridge to next slide: 'To give you a clearer picture of how these pieces fit together, let me walk you through the analysis pipeline — from the moment a project is uploaded to the final report.'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RestTemplate.exchange calls, WebClient invocations — then resolves each target to a known service. The result is a directed weighted graph where edge weight represents the number of distinct call sites.'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picked God Service as the example because it's the cleanest illustration of how code-level signals feed an architectural-level finding.'
• Walk through left side: 'For each service, a Spoon-based analysis parses every class and computes structural metrics — field count, public method count, lines of code, import domains, constructor parameters, and class cohesion. The God Service detector flags any microservice containing at least one class identified as a God Class.'
• Right side: 'A class is flagged as a God Class when it exceeds at least three of the six metrics. Pure data holders such as entities and DTOs are excluded first, since they naturally have many fields and low cohesion without being an anti-pattern.'
• On TCC: 'Tight Class Cohesion measures the fraction of method pairs that share an instance field access. Low TCC means the methods operate on disjoint state — a sign of unrelated responsibilities packed into one class.'
EXPECT THIS QUESTION: 'Why does one God Class flag a service?'
Answer: 'The default is intentionally sensitive. False positives are cheap to dismiss. False negatives — architectural debt growing undetected — are expensive. The threshold is configurable; teams in production would calibrate it. Even one class concentrating that many responsibilities is worth a look.'
If asked where DesigniteJava fits: 'DesigniteJava runs per service for code smells, but its catalogue is abstraction and modularization smells rather than a literal God Class. So God Service detection is driven by the Spoon structural metrics, and DesigniteJava smell density feeds the code-quality category of the health score instead.'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'The severity levels aren't arbitrary — they reflect how much damage the anti-pattern can cause. Cyclic Dependency and Distributed Monolith are critical because they undermine independent </a:t>
            </a:r>
            <a:r>
              <a:rPr lang="en-US" dirty="0" err="1"/>
              <a:t>deployability</a:t>
            </a:r>
            <a:r>
              <a:rPr lang="en-US" dirty="0"/>
              <a:t> entirely. Hardcoded Endpoints and API Versioning are medium because they're easier to fix and their impact is more </a:t>
            </a:r>
            <a:r>
              <a:rPr lang="en-US" dirty="0" err="1"/>
              <a:t>localised</a:t>
            </a:r>
            <a:r>
              <a:rPr lang="en-US" dirty="0"/>
              <a:t>.’</a:t>
            </a:r>
          </a:p>
          <a:p>
            <a:r>
              <a:rPr lang="en-US" dirty="0"/>
              <a:t>
If a committee member asks about a specific detector:
• Shared DB — group services by spring.datasource.url, flag groups of size &gt; 1
• Cyclic Dependency — Tarjan's SCC on the dep graph, any SCC &gt; 1 vertex is a cycle
• Chatty Service — call count per edge ≥ 10 OR a Feign interface with ≥ 10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bidirectional edges between a service pair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composite score is a sum of four independent categories. Each has its own budget — Anti-Patterns is 40 points, Code Quality 20, Architecture 25, Service Sizing 15. Total: 100.'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a:t>
            </a:r>
          </a:p>
          <a:p>
            <a:r>
              <a:rPr lang="en-US" dirty="0"/>
              <a:t>'The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a:t>
            </a:r>
          </a:p>
          <a:p>
            <a:r>
              <a:rPr lang="en-US" dirty="0"/>
              <a:t>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a:t>
            </a:r>
          </a:p>
          <a:p>
            <a:r>
              <a:rPr lang="en-US" dirty="0"/>
              <a:t>'What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p>
          <a:p>
            <a:r>
              <a:rPr lang="en-US" dirty="0"/>
              <a:t>
This demonstrates that the scoring is transparent and that the breakdown shows exactly what's wrong.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evaluated on eleven open-source Spring Boot projects, spanning from piomin at 1.3k LOC to mall-swarm at 86k LOC. 130 microservices, about 274k LOC total.'
• 'Health scores ranged from 40 to 83 — the scoring mechanism produces meaningful spread.'
• 'The dominant findings are configuration and sizing issues: 37 API versioning absences, 23 nano services, 15 hardcoded endpoints. Cyclic Dependency and Wrong Cuts were detected in microservice-recruit. Adding PiggyMetrics and piomin broadened ESB Misuse and Nano Service coverage.'
• '98 total anti-pattern instances across 9 distinct types. Only Distributed Monolith was not detected — plausible given these projects' topologies.'
You can add: 'The score range — 40 to 83 — shows that the metric has useful discriminating power. Projects known to be well-structured like MicroSocial score highest; projects known to have issues like Train-Ticket and microservice-recruit score lowest. If every project scored 70, the metric wouldn't be telling us much.'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the MSA Detector is a multi-level static analysis tool for Java/Spring Boot microservices, with ten anti-pattern detectors, a composite health score, and evidence-based reporting. The full implementation, evaluation data, and dissertation are available. If there's one thing I'd like you to take away, it's that the bridge between code-level evidence and architectural-level findings is what makes this tool different — it doesn't just say something is wrong, it shows you exactly where in the code the problem lives. Thank you.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1C4E80"/>
          </a:solidFill>
          <a:ln w="12700">
            <a:solidFill>
              <a:srgbClr val="1C4E80"/>
            </a:solidFill>
            <a:prstDash val="solid"/>
          </a:ln>
        </p:spPr>
      </p:sp>
      <p:sp>
        <p:nvSpPr>
          <p:cNvPr id="3" name="Shape 1"/>
          <p:cNvSpPr/>
          <p:nvPr/>
        </p:nvSpPr>
        <p:spPr>
          <a:xfrm>
            <a:off x="6355080" y="0"/>
            <a:ext cx="45720" cy="5143500"/>
          </a:xfrm>
          <a:prstGeom prst="rect">
            <a:avLst/>
          </a:prstGeom>
          <a:solidFill>
            <a:srgbClr val="0D9488"/>
          </a:solidFill>
          <a:ln w="12700">
            <a:solidFill>
              <a:srgbClr val="0D9488"/>
            </a:solidFill>
            <a:prstDash val="solid"/>
          </a:ln>
        </p:spPr>
      </p:sp>
      <p:pic>
        <p:nvPicPr>
          <p:cNvPr id="4" name="Image 0" descr="preencoded.png"/>
          <p:cNvPicPr>
            <a:picLocks noChangeAspect="1"/>
          </p:cNvPicPr>
          <p:nvPr/>
        </p:nvPicPr>
        <p:blipFill>
          <a:blip r:embed="rId3"/>
          <a:stretch>
            <a:fillRect/>
          </a:stretch>
        </p:blipFill>
        <p:spPr>
          <a:xfrm>
            <a:off x="7040880" y="1554480"/>
            <a:ext cx="1463040" cy="1463040"/>
          </a:xfrm>
          <a:prstGeom prst="rect">
            <a:avLst/>
          </a:prstGeom>
        </p:spPr>
      </p:pic>
      <p:sp>
        <p:nvSpPr>
          <p:cNvPr id="5" name="Text 2"/>
          <p:cNvSpPr/>
          <p:nvPr/>
        </p:nvSpPr>
        <p:spPr>
          <a:xfrm>
            <a:off x="6400800" y="3108960"/>
            <a:ext cx="2743200" cy="365760"/>
          </a:xfrm>
          <a:prstGeom prst="rect">
            <a:avLst/>
          </a:prstGeom>
          <a:noFill/>
          <a:ln/>
        </p:spPr>
        <p:txBody>
          <a:bodyPr wrap="square" rtlCol="0" anchor="ctr"/>
          <a:lstStyle/>
          <a:p>
            <a:pPr marL="0" indent="0" algn="ctr">
              <a:buNone/>
            </a:pPr>
            <a:r>
              <a:rPr lang="en-US" sz="1400" b="1" dirty="0">
                <a:solidFill>
                  <a:srgbClr val="DBEAFE"/>
                </a:solidFill>
                <a:latin typeface="Calibri" pitchFamily="34" charset="0"/>
                <a:ea typeface="Calibri" pitchFamily="34" charset="-122"/>
                <a:cs typeface="Calibri" pitchFamily="34" charset="-120"/>
              </a:rPr>
              <a:t>MSA Detector</a:t>
            </a:r>
            <a:endParaRPr lang="en-US" sz="1400" dirty="0"/>
          </a:p>
        </p:txBody>
      </p:sp>
      <p:sp>
        <p:nvSpPr>
          <p:cNvPr id="6" name="Text 3"/>
          <p:cNvSpPr/>
          <p:nvPr/>
        </p:nvSpPr>
        <p:spPr>
          <a:xfrm>
            <a:off x="548640" y="1280160"/>
            <a:ext cx="5760720" cy="1554480"/>
          </a:xfrm>
          <a:prstGeom prst="rect">
            <a:avLst/>
          </a:prstGeom>
          <a:noFill/>
          <a:ln/>
        </p:spPr>
        <p:txBody>
          <a:bodyPr wrap="square" lIns="0" tIns="0" rIns="0" bIns="0" rtlCol="0" anchor="ctr"/>
          <a:lstStyle/>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Detecting Architectural</a:t>
            </a:r>
            <a:endParaRPr lang="en-US" sz="3400" dirty="0"/>
          </a:p>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Anti-Patterns in Microservices</a:t>
            </a:r>
            <a:endParaRPr lang="en-US" sz="3400" dirty="0"/>
          </a:p>
        </p:txBody>
      </p:sp>
      <p:sp>
        <p:nvSpPr>
          <p:cNvPr id="7" name="Text 4"/>
          <p:cNvSpPr/>
          <p:nvPr/>
        </p:nvSpPr>
        <p:spPr>
          <a:xfrm>
            <a:off x="548640" y="2880360"/>
            <a:ext cx="576072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600" dirty="0"/>
          </a:p>
        </p:txBody>
      </p:sp>
      <p:sp>
        <p:nvSpPr>
          <p:cNvPr id="8" name="Shape 5"/>
          <p:cNvSpPr/>
          <p:nvPr/>
        </p:nvSpPr>
        <p:spPr>
          <a:xfrm>
            <a:off x="548640" y="3657600"/>
            <a:ext cx="36576" cy="1005840"/>
          </a:xfrm>
          <a:prstGeom prst="rect">
            <a:avLst/>
          </a:prstGeom>
          <a:solidFill>
            <a:srgbClr val="0D9488"/>
          </a:solidFill>
          <a:ln w="12700">
            <a:solidFill>
              <a:srgbClr val="0D9488"/>
            </a:solidFill>
            <a:prstDash val="solid"/>
          </a:ln>
        </p:spPr>
      </p:sp>
      <p:sp>
        <p:nvSpPr>
          <p:cNvPr id="9" name="Text 6"/>
          <p:cNvSpPr/>
          <p:nvPr/>
        </p:nvSpPr>
        <p:spPr>
          <a:xfrm>
            <a:off x="731520" y="3657600"/>
            <a:ext cx="5486400" cy="10058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Iacob Andrei</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Master's Dissertation Defense</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Supervisor: Prof. Dr. Simona Motogna</a:t>
            </a:r>
            <a:endParaRPr lang="en-US" sz="1600" dirty="0"/>
          </a:p>
          <a:p>
            <a:pPr marL="0" indent="0">
              <a:buNone/>
            </a:pPr>
            <a:r>
              <a:rPr lang="en-US" sz="1100" i="1" dirty="0">
                <a:solidFill>
                  <a:srgbClr val="DBEAFE"/>
                </a:solidFill>
                <a:latin typeface="Calibri" pitchFamily="34" charset="0"/>
                <a:ea typeface="Calibri" pitchFamily="34" charset="-122"/>
                <a:cs typeface="Calibri" pitchFamily="34" charset="-120"/>
              </a:rPr>
              <a:t>Faculty of Mathematics and Computer Science, UBB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Why this matters</a:t>
            </a:r>
            <a:endParaRPr lang="en-US" sz="2800" dirty="0"/>
          </a:p>
        </p:txBody>
      </p:sp>
      <p:sp>
        <p:nvSpPr>
          <p:cNvPr id="3" name="Text 1"/>
          <p:cNvSpPr/>
          <p:nvPr/>
        </p:nvSpPr>
        <p:spPr>
          <a:xfrm>
            <a:off x="457200" y="914400"/>
            <a:ext cx="8229600" cy="457200"/>
          </a:xfrm>
          <a:prstGeom prst="rect">
            <a:avLst/>
          </a:prstGeom>
          <a:noFill/>
          <a:ln/>
        </p:spPr>
        <p:txBody>
          <a:bodyPr wrap="square" lIns="0" tIns="0" rIns="0" bIns="0" rtlCol="0" anchor="ctr"/>
          <a:lstStyle/>
          <a:p>
            <a:pPr marL="0" indent="0">
              <a:buNone/>
            </a:pPr>
            <a:r>
              <a:rPr lang="en-US" sz="2000" i="1" dirty="0">
                <a:solidFill>
                  <a:srgbClr val="1E293B"/>
                </a:solidFill>
                <a:latin typeface="Calibri" pitchFamily="34" charset="0"/>
                <a:ea typeface="Calibri" pitchFamily="34" charset="-122"/>
                <a:cs typeface="Calibri" pitchFamily="34" charset="-120"/>
              </a:rPr>
              <a:t>Microservices adoption has outpaced tooling</a:t>
            </a:r>
            <a:endParaRPr lang="en-US" sz="2000" dirty="0"/>
          </a:p>
        </p:txBody>
      </p:sp>
      <p:sp>
        <p:nvSpPr>
          <p:cNvPr id="4" name="Shape 2"/>
          <p:cNvSpPr/>
          <p:nvPr/>
        </p:nvSpPr>
        <p:spPr>
          <a:xfrm>
            <a:off x="457200" y="1600200"/>
            <a:ext cx="2377440" cy="2651760"/>
          </a:xfrm>
          <a:prstGeom prst="rect">
            <a:avLst/>
          </a:prstGeom>
          <a:solidFill>
            <a:srgbClr val="F8FAFC"/>
          </a:solidFill>
          <a:ln w="9525">
            <a:solidFill>
              <a:srgbClr val="E2E8F0"/>
            </a:solidFill>
            <a:prstDash val="solid"/>
          </a:ln>
        </p:spPr>
      </p:sp>
      <p:sp>
        <p:nvSpPr>
          <p:cNvPr id="5" name="Shape 3"/>
          <p:cNvSpPr/>
          <p:nvPr/>
        </p:nvSpPr>
        <p:spPr>
          <a:xfrm>
            <a:off x="457200" y="1600200"/>
            <a:ext cx="54864" cy="2651760"/>
          </a:xfrm>
          <a:prstGeom prst="rect">
            <a:avLst/>
          </a:prstGeom>
          <a:solidFill>
            <a:srgbClr val="DC2626"/>
          </a:solidFill>
          <a:ln w="12700">
            <a:solidFill>
              <a:srgbClr val="DC2626"/>
            </a:solidFill>
            <a:prstDash val="solid"/>
          </a:ln>
        </p:spPr>
      </p:sp>
      <p:sp>
        <p:nvSpPr>
          <p:cNvPr id="6" name="Shape 4"/>
          <p:cNvSpPr/>
          <p:nvPr/>
        </p:nvSpPr>
        <p:spPr>
          <a:xfrm>
            <a:off x="685800" y="1783080"/>
            <a:ext cx="502920" cy="502920"/>
          </a:xfrm>
          <a:prstGeom prst="roundRect">
            <a:avLst>
              <a:gd name="adj" fmla="val 14545"/>
            </a:avLst>
          </a:prstGeom>
          <a:solidFill>
            <a:srgbClr val="DC2626"/>
          </a:solidFill>
          <a:ln w="12700">
            <a:solidFill>
              <a:srgbClr val="DC2626"/>
            </a:solidFill>
            <a:prstDash val="solid"/>
          </a:ln>
          <a:effectLst>
            <a:outerShdw blurRad="76200" dist="25400" dir="8100000" algn="bl" rotWithShape="0">
              <a:srgbClr val="000000">
                <a:alpha val="12000"/>
              </a:srgbClr>
            </a:outerShdw>
          </a:effectLst>
        </p:spPr>
      </p:sp>
      <p:pic>
        <p:nvPicPr>
          <p:cNvPr id="7" name="Image 0" descr="preencoded.png"/>
          <p:cNvPicPr>
            <a:picLocks noChangeAspect="1"/>
          </p:cNvPicPr>
          <p:nvPr/>
        </p:nvPicPr>
        <p:blipFill>
          <a:blip r:embed="rId3"/>
          <a:stretch>
            <a:fillRect/>
          </a:stretch>
        </p:blipFill>
        <p:spPr>
          <a:xfrm>
            <a:off x="796442" y="1893722"/>
            <a:ext cx="281635" cy="281635"/>
          </a:xfrm>
          <a:prstGeom prst="rect">
            <a:avLst/>
          </a:prstGeom>
        </p:spPr>
      </p:pic>
      <p:sp>
        <p:nvSpPr>
          <p:cNvPr id="8" name="Text 5"/>
          <p:cNvSpPr/>
          <p:nvPr/>
        </p:nvSpPr>
        <p:spPr>
          <a:xfrm>
            <a:off x="68580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9" name="Text 6"/>
          <p:cNvSpPr/>
          <p:nvPr/>
        </p:nvSpPr>
        <p:spPr>
          <a:xfrm>
            <a:off x="68580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00" dirty="0"/>
          </a:p>
        </p:txBody>
      </p:sp>
      <p:sp>
        <p:nvSpPr>
          <p:cNvPr id="10" name="Shape 7"/>
          <p:cNvSpPr/>
          <p:nvPr/>
        </p:nvSpPr>
        <p:spPr>
          <a:xfrm>
            <a:off x="3383280" y="1600200"/>
            <a:ext cx="2377440" cy="2651760"/>
          </a:xfrm>
          <a:prstGeom prst="rect">
            <a:avLst/>
          </a:prstGeom>
          <a:solidFill>
            <a:srgbClr val="F8FAFC"/>
          </a:solidFill>
          <a:ln w="9525">
            <a:solidFill>
              <a:srgbClr val="E2E8F0"/>
            </a:solidFill>
            <a:prstDash val="solid"/>
          </a:ln>
        </p:spPr>
      </p:sp>
      <p:sp>
        <p:nvSpPr>
          <p:cNvPr id="11" name="Shape 8"/>
          <p:cNvSpPr/>
          <p:nvPr/>
        </p:nvSpPr>
        <p:spPr>
          <a:xfrm>
            <a:off x="3383280" y="1600200"/>
            <a:ext cx="54864" cy="2651760"/>
          </a:xfrm>
          <a:prstGeom prst="rect">
            <a:avLst/>
          </a:prstGeom>
          <a:solidFill>
            <a:srgbClr val="1C4E80"/>
          </a:solidFill>
          <a:ln w="12700">
            <a:solidFill>
              <a:srgbClr val="1C4E80"/>
            </a:solidFill>
            <a:prstDash val="solid"/>
          </a:ln>
        </p:spPr>
      </p:sp>
      <p:sp>
        <p:nvSpPr>
          <p:cNvPr id="12" name="Shape 9"/>
          <p:cNvSpPr/>
          <p:nvPr/>
        </p:nvSpPr>
        <p:spPr>
          <a:xfrm>
            <a:off x="3611880" y="17830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13" name="Image 1" descr="preencoded.png"/>
          <p:cNvPicPr>
            <a:picLocks noChangeAspect="1"/>
          </p:cNvPicPr>
          <p:nvPr/>
        </p:nvPicPr>
        <p:blipFill>
          <a:blip r:embed="rId4"/>
          <a:stretch>
            <a:fillRect/>
          </a:stretch>
        </p:blipFill>
        <p:spPr>
          <a:xfrm>
            <a:off x="3722522" y="1893722"/>
            <a:ext cx="281635" cy="281635"/>
          </a:xfrm>
          <a:prstGeom prst="rect">
            <a:avLst/>
          </a:prstGeom>
        </p:spPr>
      </p:pic>
      <p:sp>
        <p:nvSpPr>
          <p:cNvPr id="14" name="Text 10"/>
          <p:cNvSpPr/>
          <p:nvPr/>
        </p:nvSpPr>
        <p:spPr>
          <a:xfrm>
            <a:off x="361188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Existing tools are single-level</a:t>
            </a:r>
            <a:endParaRPr lang="en-US" sz="1400" dirty="0"/>
          </a:p>
        </p:txBody>
      </p:sp>
      <p:sp>
        <p:nvSpPr>
          <p:cNvPr id="15" name="Text 11"/>
          <p:cNvSpPr/>
          <p:nvPr/>
        </p:nvSpPr>
        <p:spPr>
          <a:xfrm>
            <a:off x="361188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Arcan, MicroART, MSANose each cover a slice: code-level OR architectural-level, rarely both</a:t>
            </a:r>
            <a:endParaRPr lang="en-US" sz="1100" dirty="0"/>
          </a:p>
        </p:txBody>
      </p:sp>
      <p:sp>
        <p:nvSpPr>
          <p:cNvPr id="16" name="Shape 12"/>
          <p:cNvSpPr/>
          <p:nvPr/>
        </p:nvSpPr>
        <p:spPr>
          <a:xfrm>
            <a:off x="6309360" y="1600200"/>
            <a:ext cx="2377440" cy="2651760"/>
          </a:xfrm>
          <a:prstGeom prst="rect">
            <a:avLst/>
          </a:prstGeom>
          <a:solidFill>
            <a:srgbClr val="F8FAFC"/>
          </a:solidFill>
          <a:ln w="9525">
            <a:solidFill>
              <a:srgbClr val="E2E8F0"/>
            </a:solidFill>
            <a:prstDash val="solid"/>
          </a:ln>
        </p:spPr>
      </p:sp>
      <p:sp>
        <p:nvSpPr>
          <p:cNvPr id="17" name="Shape 13"/>
          <p:cNvSpPr/>
          <p:nvPr/>
        </p:nvSpPr>
        <p:spPr>
          <a:xfrm>
            <a:off x="6309360" y="1600200"/>
            <a:ext cx="54864" cy="2651760"/>
          </a:xfrm>
          <a:prstGeom prst="rect">
            <a:avLst/>
          </a:prstGeom>
          <a:solidFill>
            <a:srgbClr val="D97706"/>
          </a:solidFill>
          <a:ln w="12700">
            <a:solidFill>
              <a:srgbClr val="D97706"/>
            </a:solidFill>
            <a:prstDash val="solid"/>
          </a:ln>
        </p:spPr>
      </p:sp>
      <p:sp>
        <p:nvSpPr>
          <p:cNvPr id="18" name="Shape 14"/>
          <p:cNvSpPr/>
          <p:nvPr/>
        </p:nvSpPr>
        <p:spPr>
          <a:xfrm>
            <a:off x="6537960" y="17830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19" name="Image 2" descr="preencoded.png"/>
          <p:cNvPicPr>
            <a:picLocks noChangeAspect="1"/>
          </p:cNvPicPr>
          <p:nvPr/>
        </p:nvPicPr>
        <p:blipFill>
          <a:blip r:embed="rId5"/>
          <a:stretch>
            <a:fillRect/>
          </a:stretch>
        </p:blipFill>
        <p:spPr>
          <a:xfrm>
            <a:off x="6648602" y="1893722"/>
            <a:ext cx="281635" cy="281635"/>
          </a:xfrm>
          <a:prstGeom prst="rect">
            <a:avLst/>
          </a:prstGeom>
        </p:spPr>
      </p:pic>
      <p:sp>
        <p:nvSpPr>
          <p:cNvPr id="20" name="Text 15"/>
          <p:cNvSpPr/>
          <p:nvPr/>
        </p:nvSpPr>
        <p:spPr>
          <a:xfrm>
            <a:off x="653796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21" name="Text 16"/>
          <p:cNvSpPr/>
          <p:nvPr/>
        </p:nvSpPr>
        <p:spPr>
          <a:xfrm>
            <a:off x="653796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00" dirty="0"/>
          </a:p>
        </p:txBody>
      </p:sp>
      <p:sp>
        <p:nvSpPr>
          <p:cNvPr id="22" name="Shape 17"/>
          <p:cNvSpPr/>
          <p:nvPr/>
        </p:nvSpPr>
        <p:spPr>
          <a:xfrm>
            <a:off x="457200" y="4434840"/>
            <a:ext cx="8229600" cy="320040"/>
          </a:xfrm>
          <a:prstGeom prst="rect">
            <a:avLst/>
          </a:prstGeom>
          <a:solidFill>
            <a:srgbClr val="0F2A44"/>
          </a:solidFill>
          <a:ln w="12700">
            <a:solidFill>
              <a:srgbClr val="0F2A44"/>
            </a:solidFill>
            <a:prstDash val="solid"/>
          </a:ln>
        </p:spPr>
      </p:sp>
      <p:sp>
        <p:nvSpPr>
          <p:cNvPr id="23" name="Text 18"/>
          <p:cNvSpPr/>
          <p:nvPr/>
        </p:nvSpPr>
        <p:spPr>
          <a:xfrm>
            <a:off x="457200" y="4434840"/>
            <a:ext cx="82296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Goal: actionable, evidence-based detection that bridges code and architecture levels</a:t>
            </a:r>
            <a:endParaRPr lang="en-US" sz="1200" dirty="0"/>
          </a:p>
        </p:txBody>
      </p:sp>
      <p:sp>
        <p:nvSpPr>
          <p:cNvPr id="24"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5"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Objectives &amp; contributions</a:t>
            </a:r>
            <a:endParaRPr lang="en-US" sz="2800" dirty="0"/>
          </a:p>
        </p:txBody>
      </p:sp>
      <p:sp>
        <p:nvSpPr>
          <p:cNvPr id="3" name="Shape 1"/>
          <p:cNvSpPr/>
          <p:nvPr/>
        </p:nvSpPr>
        <p:spPr>
          <a:xfrm>
            <a:off x="457200" y="1014984"/>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4" name="Image 0" descr="preencoded.png"/>
          <p:cNvPicPr>
            <a:picLocks noChangeAspect="1"/>
          </p:cNvPicPr>
          <p:nvPr/>
        </p:nvPicPr>
        <p:blipFill>
          <a:blip r:embed="rId3"/>
          <a:stretch>
            <a:fillRect/>
          </a:stretch>
        </p:blipFill>
        <p:spPr>
          <a:xfrm>
            <a:off x="567842" y="1125626"/>
            <a:ext cx="281635" cy="281635"/>
          </a:xfrm>
          <a:prstGeom prst="rect">
            <a:avLst/>
          </a:prstGeom>
        </p:spPr>
      </p:pic>
      <p:sp>
        <p:nvSpPr>
          <p:cNvPr id="5" name="Text 2"/>
          <p:cNvSpPr/>
          <p:nvPr/>
        </p:nvSpPr>
        <p:spPr>
          <a:xfrm>
            <a:off x="1143000" y="996696"/>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Multi-level analysis</a:t>
            </a:r>
            <a:endParaRPr lang="en-US" sz="1500" dirty="0"/>
          </a:p>
        </p:txBody>
      </p:sp>
      <p:sp>
        <p:nvSpPr>
          <p:cNvPr id="6" name="Text 3"/>
          <p:cNvSpPr/>
          <p:nvPr/>
        </p:nvSpPr>
        <p:spPr>
          <a:xfrm>
            <a:off x="1143000" y="1289304"/>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Combines intra-service code analysis (DesigniteJava smells + Spoon structural metrics) with inter-service dependency analysis (graph algorithms)</a:t>
            </a:r>
            <a:endParaRPr lang="en-US" sz="1150" dirty="0"/>
          </a:p>
        </p:txBody>
      </p:sp>
      <p:sp>
        <p:nvSpPr>
          <p:cNvPr id="7" name="Shape 4"/>
          <p:cNvSpPr/>
          <p:nvPr/>
        </p:nvSpPr>
        <p:spPr>
          <a:xfrm>
            <a:off x="457200" y="1728216"/>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8" name="Image 1" descr="preencoded.png"/>
          <p:cNvPicPr>
            <a:picLocks noChangeAspect="1"/>
          </p:cNvPicPr>
          <p:nvPr/>
        </p:nvPicPr>
        <p:blipFill>
          <a:blip r:embed="rId4"/>
          <a:stretch>
            <a:fillRect/>
          </a:stretch>
        </p:blipFill>
        <p:spPr>
          <a:xfrm>
            <a:off x="567842" y="1838858"/>
            <a:ext cx="281635" cy="281635"/>
          </a:xfrm>
          <a:prstGeom prst="rect">
            <a:avLst/>
          </a:prstGeom>
        </p:spPr>
      </p:pic>
      <p:sp>
        <p:nvSpPr>
          <p:cNvPr id="9" name="Text 5"/>
          <p:cNvSpPr/>
          <p:nvPr/>
        </p:nvSpPr>
        <p:spPr>
          <a:xfrm>
            <a:off x="1143000" y="1709928"/>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Ten anti-patterns detected</a:t>
            </a:r>
            <a:endParaRPr lang="en-US" sz="1500" dirty="0"/>
          </a:p>
        </p:txBody>
      </p:sp>
      <p:sp>
        <p:nvSpPr>
          <p:cNvPr id="10" name="Text 6"/>
          <p:cNvSpPr/>
          <p:nvPr/>
        </p:nvSpPr>
        <p:spPr>
          <a:xfrm>
            <a:off x="1143000" y="2002536"/>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50" dirty="0"/>
          </a:p>
        </p:txBody>
      </p:sp>
      <p:sp>
        <p:nvSpPr>
          <p:cNvPr id="11" name="Shape 7"/>
          <p:cNvSpPr/>
          <p:nvPr/>
        </p:nvSpPr>
        <p:spPr>
          <a:xfrm>
            <a:off x="457200" y="2441448"/>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sp>
      <p:pic>
        <p:nvPicPr>
          <p:cNvPr id="12" name="Image 2" descr="preencoded.png"/>
          <p:cNvPicPr>
            <a:picLocks noChangeAspect="1"/>
          </p:cNvPicPr>
          <p:nvPr/>
        </p:nvPicPr>
        <p:blipFill>
          <a:blip r:embed="rId5"/>
          <a:stretch>
            <a:fillRect/>
          </a:stretch>
        </p:blipFill>
        <p:spPr>
          <a:xfrm>
            <a:off x="567842" y="2552090"/>
            <a:ext cx="281635" cy="281635"/>
          </a:xfrm>
          <a:prstGeom prst="rect">
            <a:avLst/>
          </a:prstGeom>
        </p:spPr>
      </p:pic>
      <p:sp>
        <p:nvSpPr>
          <p:cNvPr id="13" name="Text 8"/>
          <p:cNvSpPr/>
          <p:nvPr/>
        </p:nvSpPr>
        <p:spPr>
          <a:xfrm>
            <a:off x="1143000" y="2423160"/>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Automated boundary detection</a:t>
            </a:r>
            <a:endParaRPr lang="en-US" sz="1500" dirty="0"/>
          </a:p>
        </p:txBody>
      </p:sp>
      <p:sp>
        <p:nvSpPr>
          <p:cNvPr id="14" name="Text 9"/>
          <p:cNvSpPr/>
          <p:nvPr/>
        </p:nvSpPr>
        <p:spPr>
          <a:xfrm>
            <a:off x="1143000" y="2715768"/>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50" dirty="0"/>
          </a:p>
        </p:txBody>
      </p:sp>
      <p:sp>
        <p:nvSpPr>
          <p:cNvPr id="15" name="Shape 10"/>
          <p:cNvSpPr/>
          <p:nvPr/>
        </p:nvSpPr>
        <p:spPr>
          <a:xfrm>
            <a:off x="457200" y="31546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sp>
      <p:pic>
        <p:nvPicPr>
          <p:cNvPr id="16" name="Image 3" descr="preencoded.png"/>
          <p:cNvPicPr>
            <a:picLocks noChangeAspect="1"/>
          </p:cNvPicPr>
          <p:nvPr/>
        </p:nvPicPr>
        <p:blipFill>
          <a:blip r:embed="rId6"/>
          <a:stretch>
            <a:fillRect/>
          </a:stretch>
        </p:blipFill>
        <p:spPr>
          <a:xfrm>
            <a:off x="567842" y="3265322"/>
            <a:ext cx="281635" cy="281635"/>
          </a:xfrm>
          <a:prstGeom prst="rect">
            <a:avLst/>
          </a:prstGeom>
        </p:spPr>
      </p:pic>
      <p:sp>
        <p:nvSpPr>
          <p:cNvPr id="17" name="Text 11"/>
          <p:cNvSpPr/>
          <p:nvPr/>
        </p:nvSpPr>
        <p:spPr>
          <a:xfrm>
            <a:off x="1143000" y="3136392"/>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Composite health score</a:t>
            </a:r>
            <a:endParaRPr lang="en-US" sz="1500" dirty="0"/>
          </a:p>
        </p:txBody>
      </p:sp>
      <p:sp>
        <p:nvSpPr>
          <p:cNvPr id="18" name="Text 12"/>
          <p:cNvSpPr/>
          <p:nvPr/>
        </p:nvSpPr>
        <p:spPr>
          <a:xfrm>
            <a:off x="1143000" y="3429000"/>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50" dirty="0"/>
          </a:p>
        </p:txBody>
      </p:sp>
      <p:sp>
        <p:nvSpPr>
          <p:cNvPr id="19" name="Shape 13"/>
          <p:cNvSpPr/>
          <p:nvPr/>
        </p:nvSpPr>
        <p:spPr>
          <a:xfrm>
            <a:off x="457200" y="3867912"/>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20" name="Image 4" descr="preencoded.png"/>
          <p:cNvPicPr>
            <a:picLocks noChangeAspect="1"/>
          </p:cNvPicPr>
          <p:nvPr/>
        </p:nvPicPr>
        <p:blipFill>
          <a:blip r:embed="rId7"/>
          <a:stretch>
            <a:fillRect/>
          </a:stretch>
        </p:blipFill>
        <p:spPr>
          <a:xfrm>
            <a:off x="567842" y="3978554"/>
            <a:ext cx="281635" cy="281635"/>
          </a:xfrm>
          <a:prstGeom prst="rect">
            <a:avLst/>
          </a:prstGeom>
        </p:spPr>
      </p:pic>
      <p:sp>
        <p:nvSpPr>
          <p:cNvPr id="21" name="Text 14"/>
          <p:cNvSpPr/>
          <p:nvPr/>
        </p:nvSpPr>
        <p:spPr>
          <a:xfrm>
            <a:off x="1143000" y="3849624"/>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Evidence-based reporting</a:t>
            </a:r>
            <a:endParaRPr lang="en-US" sz="1500" dirty="0"/>
          </a:p>
        </p:txBody>
      </p:sp>
      <p:sp>
        <p:nvSpPr>
          <p:cNvPr id="22" name="Text 15"/>
          <p:cNvSpPr/>
          <p:nvPr/>
        </p:nvSpPr>
        <p:spPr>
          <a:xfrm>
            <a:off x="1143000" y="4142232"/>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50" dirty="0"/>
          </a:p>
        </p:txBody>
      </p:sp>
      <p:sp>
        <p:nvSpPr>
          <p:cNvPr id="23" name="Text 16"/>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4" name="Text 17"/>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The analysis pipeline</a:t>
            </a:r>
            <a:endParaRPr lang="en-US" sz="2800" dirty="0"/>
          </a:p>
        </p:txBody>
      </p:sp>
      <p:sp>
        <p:nvSpPr>
          <p:cNvPr id="3" name="Shape 1"/>
          <p:cNvSpPr/>
          <p:nvPr/>
        </p:nvSpPr>
        <p:spPr>
          <a:xfrm>
            <a:off x="411480" y="1097280"/>
            <a:ext cx="1554480" cy="1463040"/>
          </a:xfrm>
          <a:prstGeom prst="rect">
            <a:avLst/>
          </a:prstGeom>
          <a:solidFill>
            <a:srgbClr val="F8FAFC"/>
          </a:solidFill>
          <a:ln w="9525">
            <a:solidFill>
              <a:srgbClr val="E2E8F0"/>
            </a:solidFill>
            <a:prstDash val="solid"/>
          </a:ln>
        </p:spPr>
      </p:sp>
      <p:sp>
        <p:nvSpPr>
          <p:cNvPr id="4" name="Shape 2"/>
          <p:cNvSpPr/>
          <p:nvPr/>
        </p:nvSpPr>
        <p:spPr>
          <a:xfrm>
            <a:off x="411480" y="1097280"/>
            <a:ext cx="1554480" cy="73152"/>
          </a:xfrm>
          <a:prstGeom prst="rect">
            <a:avLst/>
          </a:prstGeom>
          <a:solidFill>
            <a:srgbClr val="0F2A44"/>
          </a:solidFill>
          <a:ln w="12700">
            <a:solidFill>
              <a:srgbClr val="0F2A44"/>
            </a:solidFill>
            <a:prstDash val="solid"/>
          </a:ln>
        </p:spPr>
      </p:sp>
      <p:sp>
        <p:nvSpPr>
          <p:cNvPr id="5" name="Shape 3"/>
          <p:cNvSpPr/>
          <p:nvPr/>
        </p:nvSpPr>
        <p:spPr>
          <a:xfrm>
            <a:off x="937260" y="1325880"/>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1047902" y="1436522"/>
            <a:ext cx="281635" cy="281635"/>
          </a:xfrm>
          <a:prstGeom prst="rect">
            <a:avLst/>
          </a:prstGeom>
        </p:spPr>
      </p:pic>
      <p:sp>
        <p:nvSpPr>
          <p:cNvPr id="7" name="Text 4"/>
          <p:cNvSpPr/>
          <p:nvPr/>
        </p:nvSpPr>
        <p:spPr>
          <a:xfrm>
            <a:off x="41148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1. Ingest</a:t>
            </a:r>
            <a:endParaRPr lang="en-US" sz="1200" dirty="0"/>
          </a:p>
        </p:txBody>
      </p:sp>
      <p:sp>
        <p:nvSpPr>
          <p:cNvPr id="8" name="Text 5"/>
          <p:cNvSpPr/>
          <p:nvPr/>
        </p:nvSpPr>
        <p:spPr>
          <a:xfrm>
            <a:off x="41148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pic>
        <p:nvPicPr>
          <p:cNvPr id="9" name="Image 1" descr="preencoded.png"/>
          <p:cNvPicPr>
            <a:picLocks noChangeAspect="1"/>
          </p:cNvPicPr>
          <p:nvPr/>
        </p:nvPicPr>
        <p:blipFill>
          <a:blip r:embed="rId4"/>
          <a:stretch>
            <a:fillRect/>
          </a:stretch>
        </p:blipFill>
        <p:spPr>
          <a:xfrm>
            <a:off x="1984248" y="1709928"/>
            <a:ext cx="100584" cy="237744"/>
          </a:xfrm>
          <a:prstGeom prst="rect">
            <a:avLst/>
          </a:prstGeom>
        </p:spPr>
      </p:pic>
      <p:sp>
        <p:nvSpPr>
          <p:cNvPr id="10" name="Shape 6"/>
          <p:cNvSpPr/>
          <p:nvPr/>
        </p:nvSpPr>
        <p:spPr>
          <a:xfrm>
            <a:off x="2103120" y="1097280"/>
            <a:ext cx="1554480" cy="1463040"/>
          </a:xfrm>
          <a:prstGeom prst="rect">
            <a:avLst/>
          </a:prstGeom>
          <a:solidFill>
            <a:srgbClr val="F8FAFC"/>
          </a:solidFill>
          <a:ln w="9525">
            <a:solidFill>
              <a:srgbClr val="E2E8F0"/>
            </a:solidFill>
            <a:prstDash val="solid"/>
          </a:ln>
        </p:spPr>
      </p:sp>
      <p:sp>
        <p:nvSpPr>
          <p:cNvPr id="11" name="Shape 7"/>
          <p:cNvSpPr/>
          <p:nvPr/>
        </p:nvSpPr>
        <p:spPr>
          <a:xfrm>
            <a:off x="2103120" y="1097280"/>
            <a:ext cx="1554480" cy="73152"/>
          </a:xfrm>
          <a:prstGeom prst="rect">
            <a:avLst/>
          </a:prstGeom>
          <a:solidFill>
            <a:srgbClr val="1C4E80"/>
          </a:solidFill>
          <a:ln w="12700">
            <a:solidFill>
              <a:srgbClr val="1C4E80"/>
            </a:solidFill>
            <a:prstDash val="solid"/>
          </a:ln>
        </p:spPr>
      </p:sp>
      <p:sp>
        <p:nvSpPr>
          <p:cNvPr id="12" name="Shape 8"/>
          <p:cNvSpPr/>
          <p:nvPr/>
        </p:nvSpPr>
        <p:spPr>
          <a:xfrm>
            <a:off x="2628900" y="13258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13" name="Image 2" descr="preencoded.png"/>
          <p:cNvPicPr>
            <a:picLocks noChangeAspect="1"/>
          </p:cNvPicPr>
          <p:nvPr/>
        </p:nvPicPr>
        <p:blipFill>
          <a:blip r:embed="rId5"/>
          <a:stretch>
            <a:fillRect/>
          </a:stretch>
        </p:blipFill>
        <p:spPr>
          <a:xfrm>
            <a:off x="2739542" y="1436522"/>
            <a:ext cx="281635" cy="281635"/>
          </a:xfrm>
          <a:prstGeom prst="rect">
            <a:avLst/>
          </a:prstGeom>
        </p:spPr>
      </p:pic>
      <p:sp>
        <p:nvSpPr>
          <p:cNvPr id="14" name="Text 9"/>
          <p:cNvSpPr/>
          <p:nvPr/>
        </p:nvSpPr>
        <p:spPr>
          <a:xfrm>
            <a:off x="210312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2. Detect services</a:t>
            </a:r>
            <a:endParaRPr lang="en-US" sz="1200" dirty="0"/>
          </a:p>
        </p:txBody>
      </p:sp>
      <p:sp>
        <p:nvSpPr>
          <p:cNvPr id="15" name="Text 10"/>
          <p:cNvSpPr/>
          <p:nvPr/>
        </p:nvSpPr>
        <p:spPr>
          <a:xfrm>
            <a:off x="210312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pic>
        <p:nvPicPr>
          <p:cNvPr id="16" name="Image 3" descr="preencoded.png"/>
          <p:cNvPicPr>
            <a:picLocks noChangeAspect="1"/>
          </p:cNvPicPr>
          <p:nvPr/>
        </p:nvPicPr>
        <p:blipFill>
          <a:blip r:embed="rId4"/>
          <a:stretch>
            <a:fillRect/>
          </a:stretch>
        </p:blipFill>
        <p:spPr>
          <a:xfrm>
            <a:off x="3675888" y="1709928"/>
            <a:ext cx="100584" cy="237744"/>
          </a:xfrm>
          <a:prstGeom prst="rect">
            <a:avLst/>
          </a:prstGeom>
        </p:spPr>
      </p:pic>
      <p:sp>
        <p:nvSpPr>
          <p:cNvPr id="17" name="Shape 11"/>
          <p:cNvSpPr/>
          <p:nvPr/>
        </p:nvSpPr>
        <p:spPr>
          <a:xfrm>
            <a:off x="3794760" y="1097280"/>
            <a:ext cx="1554480" cy="1463040"/>
          </a:xfrm>
          <a:prstGeom prst="rect">
            <a:avLst/>
          </a:prstGeom>
          <a:solidFill>
            <a:srgbClr val="F8FAFC"/>
          </a:solidFill>
          <a:ln w="9525">
            <a:solidFill>
              <a:srgbClr val="E2E8F0"/>
            </a:solidFill>
            <a:prstDash val="solid"/>
          </a:ln>
        </p:spPr>
      </p:sp>
      <p:sp>
        <p:nvSpPr>
          <p:cNvPr id="18" name="Shape 12"/>
          <p:cNvSpPr/>
          <p:nvPr/>
        </p:nvSpPr>
        <p:spPr>
          <a:xfrm>
            <a:off x="3794760" y="1097280"/>
            <a:ext cx="1554480" cy="73152"/>
          </a:xfrm>
          <a:prstGeom prst="rect">
            <a:avLst/>
          </a:prstGeom>
          <a:solidFill>
            <a:srgbClr val="0D9488"/>
          </a:solidFill>
          <a:ln w="12700">
            <a:solidFill>
              <a:srgbClr val="0D9488"/>
            </a:solidFill>
            <a:prstDash val="solid"/>
          </a:ln>
        </p:spPr>
      </p:sp>
      <p:sp>
        <p:nvSpPr>
          <p:cNvPr id="19" name="Shape 13"/>
          <p:cNvSpPr/>
          <p:nvPr/>
        </p:nvSpPr>
        <p:spPr>
          <a:xfrm>
            <a:off x="4320540" y="1325880"/>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20" name="Image 4" descr="preencoded.png"/>
          <p:cNvPicPr>
            <a:picLocks noChangeAspect="1"/>
          </p:cNvPicPr>
          <p:nvPr/>
        </p:nvPicPr>
        <p:blipFill>
          <a:blip r:embed="rId6"/>
          <a:stretch>
            <a:fillRect/>
          </a:stretch>
        </p:blipFill>
        <p:spPr>
          <a:xfrm>
            <a:off x="4431182" y="1436522"/>
            <a:ext cx="281635" cy="281635"/>
          </a:xfrm>
          <a:prstGeom prst="rect">
            <a:avLst/>
          </a:prstGeom>
        </p:spPr>
      </p:pic>
      <p:sp>
        <p:nvSpPr>
          <p:cNvPr id="21" name="Text 14"/>
          <p:cNvSpPr/>
          <p:nvPr/>
        </p:nvSpPr>
        <p:spPr>
          <a:xfrm>
            <a:off x="379476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3. Intra + Inter</a:t>
            </a:r>
            <a:endParaRPr lang="en-US" sz="1200" dirty="0"/>
          </a:p>
        </p:txBody>
      </p:sp>
      <p:sp>
        <p:nvSpPr>
          <p:cNvPr id="22" name="Text 15"/>
          <p:cNvSpPr/>
          <p:nvPr/>
        </p:nvSpPr>
        <p:spPr>
          <a:xfrm>
            <a:off x="379476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pic>
        <p:nvPicPr>
          <p:cNvPr id="23" name="Image 5" descr="preencoded.png"/>
          <p:cNvPicPr>
            <a:picLocks noChangeAspect="1"/>
          </p:cNvPicPr>
          <p:nvPr/>
        </p:nvPicPr>
        <p:blipFill>
          <a:blip r:embed="rId4"/>
          <a:stretch>
            <a:fillRect/>
          </a:stretch>
        </p:blipFill>
        <p:spPr>
          <a:xfrm>
            <a:off x="5367528" y="1709928"/>
            <a:ext cx="100584" cy="237744"/>
          </a:xfrm>
          <a:prstGeom prst="rect">
            <a:avLst/>
          </a:prstGeom>
        </p:spPr>
      </p:pic>
      <p:sp>
        <p:nvSpPr>
          <p:cNvPr id="24" name="Shape 16"/>
          <p:cNvSpPr/>
          <p:nvPr/>
        </p:nvSpPr>
        <p:spPr>
          <a:xfrm>
            <a:off x="5486400" y="1097280"/>
            <a:ext cx="1554480" cy="1463040"/>
          </a:xfrm>
          <a:prstGeom prst="rect">
            <a:avLst/>
          </a:prstGeom>
          <a:solidFill>
            <a:srgbClr val="F8FAFC"/>
          </a:solidFill>
          <a:ln w="9525">
            <a:solidFill>
              <a:srgbClr val="E2E8F0"/>
            </a:solidFill>
            <a:prstDash val="solid"/>
          </a:ln>
        </p:spPr>
      </p:sp>
      <p:sp>
        <p:nvSpPr>
          <p:cNvPr id="25" name="Shape 17"/>
          <p:cNvSpPr/>
          <p:nvPr/>
        </p:nvSpPr>
        <p:spPr>
          <a:xfrm>
            <a:off x="5486400" y="1097280"/>
            <a:ext cx="1554480" cy="73152"/>
          </a:xfrm>
          <a:prstGeom prst="rect">
            <a:avLst/>
          </a:prstGeom>
          <a:solidFill>
            <a:srgbClr val="D97706"/>
          </a:solidFill>
          <a:ln w="12700">
            <a:solidFill>
              <a:srgbClr val="D97706"/>
            </a:solidFill>
            <a:prstDash val="solid"/>
          </a:ln>
        </p:spPr>
      </p:sp>
      <p:sp>
        <p:nvSpPr>
          <p:cNvPr id="26" name="Shape 18"/>
          <p:cNvSpPr/>
          <p:nvPr/>
        </p:nvSpPr>
        <p:spPr>
          <a:xfrm>
            <a:off x="6012180" y="13258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27" name="Image 6" descr="preencoded.png"/>
          <p:cNvPicPr>
            <a:picLocks noChangeAspect="1"/>
          </p:cNvPicPr>
          <p:nvPr/>
        </p:nvPicPr>
        <p:blipFill>
          <a:blip r:embed="rId7"/>
          <a:stretch>
            <a:fillRect/>
          </a:stretch>
        </p:blipFill>
        <p:spPr>
          <a:xfrm>
            <a:off x="6122822" y="1436522"/>
            <a:ext cx="281635" cy="281635"/>
          </a:xfrm>
          <a:prstGeom prst="rect">
            <a:avLst/>
          </a:prstGeom>
        </p:spPr>
      </p:pic>
      <p:sp>
        <p:nvSpPr>
          <p:cNvPr id="28" name="Text 19"/>
          <p:cNvSpPr/>
          <p:nvPr/>
        </p:nvSpPr>
        <p:spPr>
          <a:xfrm>
            <a:off x="548640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4. Detect patterns</a:t>
            </a:r>
            <a:endParaRPr lang="en-US" sz="1200" dirty="0"/>
          </a:p>
        </p:txBody>
      </p:sp>
      <p:sp>
        <p:nvSpPr>
          <p:cNvPr id="29" name="Text 20"/>
          <p:cNvSpPr/>
          <p:nvPr/>
        </p:nvSpPr>
        <p:spPr>
          <a:xfrm>
            <a:off x="548640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pic>
        <p:nvPicPr>
          <p:cNvPr id="30" name="Image 7" descr="preencoded.png"/>
          <p:cNvPicPr>
            <a:picLocks noChangeAspect="1"/>
          </p:cNvPicPr>
          <p:nvPr/>
        </p:nvPicPr>
        <p:blipFill>
          <a:blip r:embed="rId4"/>
          <a:stretch>
            <a:fillRect/>
          </a:stretch>
        </p:blipFill>
        <p:spPr>
          <a:xfrm>
            <a:off x="7059168" y="1709928"/>
            <a:ext cx="100584" cy="237744"/>
          </a:xfrm>
          <a:prstGeom prst="rect">
            <a:avLst/>
          </a:prstGeom>
        </p:spPr>
      </p:pic>
      <p:sp>
        <p:nvSpPr>
          <p:cNvPr id="31" name="Shape 21"/>
          <p:cNvSpPr/>
          <p:nvPr/>
        </p:nvSpPr>
        <p:spPr>
          <a:xfrm>
            <a:off x="7178040" y="1097280"/>
            <a:ext cx="1554480" cy="1463040"/>
          </a:xfrm>
          <a:prstGeom prst="rect">
            <a:avLst/>
          </a:prstGeom>
          <a:solidFill>
            <a:srgbClr val="F8FAFC"/>
          </a:solidFill>
          <a:ln w="9525">
            <a:solidFill>
              <a:srgbClr val="E2E8F0"/>
            </a:solidFill>
            <a:prstDash val="solid"/>
          </a:ln>
        </p:spPr>
      </p:sp>
      <p:sp>
        <p:nvSpPr>
          <p:cNvPr id="32" name="Shape 22"/>
          <p:cNvSpPr/>
          <p:nvPr/>
        </p:nvSpPr>
        <p:spPr>
          <a:xfrm>
            <a:off x="7178040" y="1097280"/>
            <a:ext cx="1554480" cy="73152"/>
          </a:xfrm>
          <a:prstGeom prst="rect">
            <a:avLst/>
          </a:prstGeom>
          <a:solidFill>
            <a:srgbClr val="059669"/>
          </a:solidFill>
          <a:ln w="12700">
            <a:solidFill>
              <a:srgbClr val="059669"/>
            </a:solidFill>
            <a:prstDash val="solid"/>
          </a:ln>
        </p:spPr>
      </p:sp>
      <p:sp>
        <p:nvSpPr>
          <p:cNvPr id="33" name="Shape 23"/>
          <p:cNvSpPr/>
          <p:nvPr/>
        </p:nvSpPr>
        <p:spPr>
          <a:xfrm>
            <a:off x="7703820" y="13258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sp>
      <p:pic>
        <p:nvPicPr>
          <p:cNvPr id="34" name="Image 8" descr="preencoded.png"/>
          <p:cNvPicPr>
            <a:picLocks noChangeAspect="1"/>
          </p:cNvPicPr>
          <p:nvPr/>
        </p:nvPicPr>
        <p:blipFill>
          <a:blip r:embed="rId8"/>
          <a:stretch>
            <a:fillRect/>
          </a:stretch>
        </p:blipFill>
        <p:spPr>
          <a:xfrm>
            <a:off x="7814462" y="1436522"/>
            <a:ext cx="281635" cy="281635"/>
          </a:xfrm>
          <a:prstGeom prst="rect">
            <a:avLst/>
          </a:prstGeom>
        </p:spPr>
      </p:pic>
      <p:sp>
        <p:nvSpPr>
          <p:cNvPr id="35" name="Text 24"/>
          <p:cNvSpPr/>
          <p:nvPr/>
        </p:nvSpPr>
        <p:spPr>
          <a:xfrm>
            <a:off x="717804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5. Score &amp; report</a:t>
            </a:r>
            <a:endParaRPr lang="en-US" sz="1200" dirty="0"/>
          </a:p>
        </p:txBody>
      </p:sp>
      <p:sp>
        <p:nvSpPr>
          <p:cNvPr id="36" name="Text 25"/>
          <p:cNvSpPr/>
          <p:nvPr/>
        </p:nvSpPr>
        <p:spPr>
          <a:xfrm>
            <a:off x="717804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7" name="Shape 26"/>
          <p:cNvSpPr/>
          <p:nvPr/>
        </p:nvSpPr>
        <p:spPr>
          <a:xfrm>
            <a:off x="457200" y="2926080"/>
            <a:ext cx="8229600" cy="1691640"/>
          </a:xfrm>
          <a:prstGeom prst="rect">
            <a:avLst/>
          </a:prstGeom>
          <a:solidFill>
            <a:srgbClr val="F8FAFC"/>
          </a:solidFill>
          <a:ln w="9525">
            <a:solidFill>
              <a:srgbClr val="E2E8F0"/>
            </a:solidFill>
            <a:prstDash val="solid"/>
          </a:ln>
        </p:spPr>
      </p:sp>
      <p:sp>
        <p:nvSpPr>
          <p:cNvPr id="38" name="Shape 27"/>
          <p:cNvSpPr/>
          <p:nvPr/>
        </p:nvSpPr>
        <p:spPr>
          <a:xfrm>
            <a:off x="457200" y="2926080"/>
            <a:ext cx="54864" cy="1691640"/>
          </a:xfrm>
          <a:prstGeom prst="rect">
            <a:avLst/>
          </a:prstGeom>
          <a:solidFill>
            <a:srgbClr val="0D9488"/>
          </a:solidFill>
          <a:ln w="12700">
            <a:solidFill>
              <a:srgbClr val="0D9488"/>
            </a:solidFill>
            <a:prstDash val="solid"/>
          </a:ln>
        </p:spPr>
      </p:sp>
      <p:sp>
        <p:nvSpPr>
          <p:cNvPr id="39" name="Text 28"/>
          <p:cNvSpPr/>
          <p:nvPr/>
        </p:nvSpPr>
        <p:spPr>
          <a:xfrm>
            <a:off x="731520" y="3017520"/>
            <a:ext cx="777240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Key design choices</a:t>
            </a:r>
            <a:endParaRPr lang="en-US" sz="1400" dirty="0"/>
          </a:p>
        </p:txBody>
      </p:sp>
      <p:sp>
        <p:nvSpPr>
          <p:cNvPr id="40" name="Text 29"/>
          <p:cNvSpPr/>
          <p:nvPr/>
        </p:nvSpPr>
        <p:spPr>
          <a:xfrm>
            <a:off x="822960" y="3364992"/>
            <a:ext cx="7680960" cy="118872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Async pipeline: long analyses don't block the API; Spring @Async with TransactionSynchronization.afterCommit() ensures consistency</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adding a new detector means no orchestrator changes</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41" name="Text 30"/>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2" name="Text 31"/>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Spotlight: God Service detection</a:t>
            </a:r>
            <a:endParaRPr lang="en-US" sz="2800" dirty="0"/>
          </a:p>
        </p:txBody>
      </p:sp>
      <p:sp>
        <p:nvSpPr>
          <p:cNvPr id="3" name="Text 1"/>
          <p:cNvSpPr/>
          <p:nvPr/>
        </p:nvSpPr>
        <p:spPr>
          <a:xfrm>
            <a:off x="457200" y="868680"/>
            <a:ext cx="393192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bridge in action</a:t>
            </a:r>
            <a:endParaRPr lang="en-US" sz="1400" dirty="0"/>
          </a:p>
        </p:txBody>
      </p:sp>
      <p:sp>
        <p:nvSpPr>
          <p:cNvPr id="4" name="Shape 2"/>
          <p:cNvSpPr/>
          <p:nvPr/>
        </p:nvSpPr>
        <p:spPr>
          <a:xfrm>
            <a:off x="457200" y="1280160"/>
            <a:ext cx="3931920" cy="914400"/>
          </a:xfrm>
          <a:prstGeom prst="rect">
            <a:avLst/>
          </a:prstGeom>
          <a:solidFill>
            <a:srgbClr val="F8FAFC"/>
          </a:solidFill>
          <a:ln w="9525">
            <a:solidFill>
              <a:srgbClr val="E2E8F0"/>
            </a:solidFill>
            <a:prstDash val="solid"/>
          </a:ln>
        </p:spPr>
      </p:sp>
      <p:sp>
        <p:nvSpPr>
          <p:cNvPr id="5" name="Shape 3"/>
          <p:cNvSpPr/>
          <p:nvPr/>
        </p:nvSpPr>
        <p:spPr>
          <a:xfrm>
            <a:off x="457200" y="1280160"/>
            <a:ext cx="54864" cy="914400"/>
          </a:xfrm>
          <a:prstGeom prst="rect">
            <a:avLst/>
          </a:prstGeom>
          <a:solidFill>
            <a:srgbClr val="1C4E80"/>
          </a:solidFill>
          <a:ln w="12700">
            <a:solidFill>
              <a:srgbClr val="1C4E80"/>
            </a:solidFill>
            <a:prstDash val="solid"/>
          </a:ln>
        </p:spPr>
      </p:sp>
      <p:sp>
        <p:nvSpPr>
          <p:cNvPr id="6" name="Text 4"/>
          <p:cNvSpPr/>
          <p:nvPr/>
        </p:nvSpPr>
        <p:spPr>
          <a:xfrm>
            <a:off x="640080" y="132588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Code level</a:t>
            </a:r>
            <a:endParaRPr lang="en-US" sz="1100" dirty="0"/>
          </a:p>
        </p:txBody>
      </p:sp>
      <p:sp>
        <p:nvSpPr>
          <p:cNvPr id="7" name="Text 5"/>
          <p:cNvSpPr/>
          <p:nvPr/>
        </p:nvSpPr>
        <p:spPr>
          <a:xfrm>
            <a:off x="640080" y="157276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Structural class metrics (per class)</a:t>
            </a:r>
            <a:endParaRPr lang="en-US" sz="1300" dirty="0"/>
          </a:p>
        </p:txBody>
      </p:sp>
      <p:sp>
        <p:nvSpPr>
          <p:cNvPr id="8" name="Text 6"/>
          <p:cNvSpPr/>
          <p:nvPr/>
        </p:nvSpPr>
        <p:spPr>
          <a:xfrm>
            <a:off x="640080" y="1847088"/>
            <a:ext cx="36576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Computed from the Spoon AST: fields, methods, LOC, cohesion</a:t>
            </a:r>
            <a:endParaRPr lang="en-US" sz="1000" dirty="0"/>
          </a:p>
        </p:txBody>
      </p:sp>
      <p:sp>
        <p:nvSpPr>
          <p:cNvPr id="9" name="Shape 7"/>
          <p:cNvSpPr/>
          <p:nvPr/>
        </p:nvSpPr>
        <p:spPr>
          <a:xfrm>
            <a:off x="2423160" y="2286000"/>
            <a:ext cx="0" cy="320040"/>
          </a:xfrm>
          <a:prstGeom prst="line">
            <a:avLst/>
          </a:prstGeom>
          <a:noFill/>
          <a:ln w="31750">
            <a:solidFill>
              <a:srgbClr val="0D9488"/>
            </a:solidFill>
            <a:prstDash val="solid"/>
            <a:tailEnd type="triangle"/>
          </a:ln>
        </p:spPr>
      </p:sp>
      <p:sp>
        <p:nvSpPr>
          <p:cNvPr id="10" name="Shape 8"/>
          <p:cNvSpPr/>
          <p:nvPr/>
        </p:nvSpPr>
        <p:spPr>
          <a:xfrm>
            <a:off x="457200" y="2697480"/>
            <a:ext cx="3931920" cy="960120"/>
          </a:xfrm>
          <a:prstGeom prst="rect">
            <a:avLst/>
          </a:prstGeom>
          <a:solidFill>
            <a:srgbClr val="F8FAFC"/>
          </a:solidFill>
          <a:ln w="9525">
            <a:solidFill>
              <a:srgbClr val="E2E8F0"/>
            </a:solidFill>
            <a:prstDash val="solid"/>
          </a:ln>
        </p:spPr>
      </p:sp>
      <p:sp>
        <p:nvSpPr>
          <p:cNvPr id="11" name="Shape 9"/>
          <p:cNvSpPr/>
          <p:nvPr/>
        </p:nvSpPr>
        <p:spPr>
          <a:xfrm>
            <a:off x="457200" y="2697480"/>
            <a:ext cx="54864" cy="960120"/>
          </a:xfrm>
          <a:prstGeom prst="rect">
            <a:avLst/>
          </a:prstGeom>
          <a:solidFill>
            <a:srgbClr val="0D9488"/>
          </a:solidFill>
          <a:ln w="12700">
            <a:solidFill>
              <a:srgbClr val="0D9488"/>
            </a:solidFill>
            <a:prstDash val="solid"/>
          </a:ln>
        </p:spPr>
      </p:sp>
      <p:sp>
        <p:nvSpPr>
          <p:cNvPr id="12" name="Text 10"/>
          <p:cNvSpPr/>
          <p:nvPr/>
        </p:nvSpPr>
        <p:spPr>
          <a:xfrm>
            <a:off x="640080" y="274320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Architectural level</a:t>
            </a:r>
            <a:endParaRPr lang="en-US" sz="1100" dirty="0"/>
          </a:p>
        </p:txBody>
      </p:sp>
      <p:sp>
        <p:nvSpPr>
          <p:cNvPr id="13" name="Text 11"/>
          <p:cNvSpPr/>
          <p:nvPr/>
        </p:nvSpPr>
        <p:spPr>
          <a:xfrm>
            <a:off x="640080" y="299008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Service (per microservice)</a:t>
            </a:r>
            <a:endParaRPr lang="en-US" sz="1300" dirty="0"/>
          </a:p>
        </p:txBody>
      </p:sp>
      <p:sp>
        <p:nvSpPr>
          <p:cNvPr id="14" name="Text 12"/>
          <p:cNvSpPr/>
          <p:nvPr/>
        </p:nvSpPr>
        <p:spPr>
          <a:xfrm>
            <a:off x="640080" y="3264408"/>
            <a:ext cx="3657600" cy="36576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it contains at least one God Class</a:t>
            </a:r>
            <a:endParaRPr lang="en-US" sz="1000" dirty="0"/>
          </a:p>
        </p:txBody>
      </p:sp>
      <p:sp>
        <p:nvSpPr>
          <p:cNvPr id="15" name="Text 13"/>
          <p:cNvSpPr/>
          <p:nvPr/>
        </p:nvSpPr>
        <p:spPr>
          <a:xfrm>
            <a:off x="4663440" y="868680"/>
            <a:ext cx="402336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Six structural metrics</a:t>
            </a:r>
            <a:endParaRPr lang="en-US" sz="1400" dirty="0"/>
          </a:p>
        </p:txBody>
      </p:sp>
      <p:sp>
        <p:nvSpPr>
          <p:cNvPr id="16" name="Text 14"/>
          <p:cNvSpPr/>
          <p:nvPr/>
        </p:nvSpPr>
        <p:spPr>
          <a:xfrm>
            <a:off x="4663440" y="1207008"/>
            <a:ext cx="4023360" cy="5943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Each non-data class is evaluated against six structural metrics computed from its AST:</a:t>
            </a:r>
            <a:endParaRPr lang="en-US" sz="1100" dirty="0"/>
          </a:p>
        </p:txBody>
      </p:sp>
      <p:sp>
        <p:nvSpPr>
          <p:cNvPr id="17" name="Text 15"/>
          <p:cNvSpPr/>
          <p:nvPr/>
        </p:nvSpPr>
        <p:spPr>
          <a:xfrm>
            <a:off x="4846320" y="1783080"/>
            <a:ext cx="3840480" cy="1920240"/>
          </a:xfrm>
          <a:prstGeom prst="rect">
            <a:avLst/>
          </a:prstGeom>
          <a:noFill/>
          <a:ln/>
        </p:spPr>
        <p:txBody>
          <a:bodyPr wrap="square" lIns="0" tIns="0" rIns="0" bIns="0" rtlCol="0" anchor="ctr"/>
          <a:lstStyle/>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18" name="Shape 16"/>
          <p:cNvSpPr/>
          <p:nvPr/>
        </p:nvSpPr>
        <p:spPr>
          <a:xfrm>
            <a:off x="4663440" y="3794760"/>
            <a:ext cx="4023360" cy="502920"/>
          </a:xfrm>
          <a:prstGeom prst="rect">
            <a:avLst/>
          </a:prstGeom>
          <a:solidFill>
            <a:srgbClr val="0F2A44"/>
          </a:solidFill>
          <a:ln w="12700">
            <a:solidFill>
              <a:srgbClr val="0F2A44"/>
            </a:solidFill>
            <a:prstDash val="solid"/>
          </a:ln>
        </p:spPr>
      </p:sp>
      <p:sp>
        <p:nvSpPr>
          <p:cNvPr id="19" name="Text 17"/>
          <p:cNvSpPr/>
          <p:nvPr/>
        </p:nvSpPr>
        <p:spPr>
          <a:xfrm>
            <a:off x="4663440" y="3794760"/>
            <a:ext cx="4023360" cy="50292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Flag class as God Class if ≥ 3 of 6 thresholds exceeded</a:t>
            </a:r>
            <a:endParaRPr lang="en-US" sz="1100" dirty="0"/>
          </a:p>
        </p:txBody>
      </p:sp>
      <p:sp>
        <p:nvSpPr>
          <p:cNvPr id="20" name="Text 18"/>
          <p:cNvSpPr/>
          <p:nvPr/>
        </p:nvSpPr>
        <p:spPr>
          <a:xfrm>
            <a:off x="457200" y="3794760"/>
            <a:ext cx="3931920" cy="50292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Code-level evidence → architectural-level finding</a:t>
            </a:r>
            <a:endParaRPr lang="en-US" sz="1100" dirty="0"/>
          </a:p>
        </p:txBody>
      </p:sp>
      <p:sp>
        <p:nvSpPr>
          <p:cNvPr id="21"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2"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Ten detectors across four dimensions</a:t>
            </a:r>
            <a:endParaRPr lang="en-US" sz="2800" dirty="0"/>
          </a:p>
        </p:txBody>
      </p:sp>
      <p:sp>
        <p:nvSpPr>
          <p:cNvPr id="3" name="Shape 1"/>
          <p:cNvSpPr/>
          <p:nvPr/>
        </p:nvSpPr>
        <p:spPr>
          <a:xfrm>
            <a:off x="457200" y="1005840"/>
            <a:ext cx="2011680" cy="3383280"/>
          </a:xfrm>
          <a:prstGeom prst="rect">
            <a:avLst/>
          </a:prstGeom>
          <a:solidFill>
            <a:srgbClr val="F8FAFC"/>
          </a:solidFill>
          <a:ln w="9525">
            <a:solidFill>
              <a:srgbClr val="E2E8F0"/>
            </a:solidFill>
            <a:prstDash val="solid"/>
          </a:ln>
        </p:spPr>
      </p:sp>
      <p:sp>
        <p:nvSpPr>
          <p:cNvPr id="4" name="Shape 2"/>
          <p:cNvSpPr/>
          <p:nvPr/>
        </p:nvSpPr>
        <p:spPr>
          <a:xfrm>
            <a:off x="457200" y="1005840"/>
            <a:ext cx="2011680" cy="411480"/>
          </a:xfrm>
          <a:prstGeom prst="rect">
            <a:avLst/>
          </a:prstGeom>
          <a:solidFill>
            <a:srgbClr val="1C4E80"/>
          </a:solidFill>
          <a:ln w="12700">
            <a:solidFill>
              <a:srgbClr val="1C4E80"/>
            </a:solidFill>
            <a:prstDash val="solid"/>
          </a:ln>
        </p:spPr>
      </p:sp>
      <p:sp>
        <p:nvSpPr>
          <p:cNvPr id="5" name="Text 3"/>
          <p:cNvSpPr/>
          <p:nvPr/>
        </p:nvSpPr>
        <p:spPr>
          <a:xfrm>
            <a:off x="54864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Service Design</a:t>
            </a:r>
            <a:endParaRPr lang="en-US" sz="1200" dirty="0"/>
          </a:p>
        </p:txBody>
      </p:sp>
      <p:sp>
        <p:nvSpPr>
          <p:cNvPr id="6" name="Text 4"/>
          <p:cNvSpPr/>
          <p:nvPr/>
        </p:nvSpPr>
        <p:spPr>
          <a:xfrm>
            <a:off x="59436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Nano Service</a:t>
            </a:r>
            <a:endParaRPr lang="en-US" sz="1100" dirty="0"/>
          </a:p>
        </p:txBody>
      </p:sp>
      <p:sp>
        <p:nvSpPr>
          <p:cNvPr id="7" name="Text 5"/>
          <p:cNvSpPr/>
          <p:nvPr/>
        </p:nvSpPr>
        <p:spPr>
          <a:xfrm>
            <a:off x="59436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8" name="Text 6"/>
          <p:cNvSpPr/>
          <p:nvPr/>
        </p:nvSpPr>
        <p:spPr>
          <a:xfrm>
            <a:off x="59436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God Service</a:t>
            </a:r>
            <a:endParaRPr lang="en-US" sz="1100" dirty="0"/>
          </a:p>
        </p:txBody>
      </p:sp>
      <p:sp>
        <p:nvSpPr>
          <p:cNvPr id="9" name="Text 7"/>
          <p:cNvSpPr/>
          <p:nvPr/>
        </p:nvSpPr>
        <p:spPr>
          <a:xfrm>
            <a:off x="59436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0" name="Shape 8"/>
          <p:cNvSpPr/>
          <p:nvPr/>
        </p:nvSpPr>
        <p:spPr>
          <a:xfrm>
            <a:off x="2606040" y="1005840"/>
            <a:ext cx="2011680" cy="3383280"/>
          </a:xfrm>
          <a:prstGeom prst="rect">
            <a:avLst/>
          </a:prstGeom>
          <a:solidFill>
            <a:srgbClr val="F8FAFC"/>
          </a:solidFill>
          <a:ln w="9525">
            <a:solidFill>
              <a:srgbClr val="E2E8F0"/>
            </a:solidFill>
            <a:prstDash val="solid"/>
          </a:ln>
        </p:spPr>
      </p:sp>
      <p:sp>
        <p:nvSpPr>
          <p:cNvPr id="11" name="Shape 9"/>
          <p:cNvSpPr/>
          <p:nvPr/>
        </p:nvSpPr>
        <p:spPr>
          <a:xfrm>
            <a:off x="2606040" y="1005840"/>
            <a:ext cx="2011680" cy="411480"/>
          </a:xfrm>
          <a:prstGeom prst="rect">
            <a:avLst/>
          </a:prstGeom>
          <a:solidFill>
            <a:srgbClr val="0D9488"/>
          </a:solidFill>
          <a:ln w="12700">
            <a:solidFill>
              <a:srgbClr val="0D9488"/>
            </a:solidFill>
            <a:prstDash val="solid"/>
          </a:ln>
        </p:spPr>
      </p:sp>
      <p:sp>
        <p:nvSpPr>
          <p:cNvPr id="12" name="Text 10"/>
          <p:cNvSpPr/>
          <p:nvPr/>
        </p:nvSpPr>
        <p:spPr>
          <a:xfrm>
            <a:off x="269748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13" name="Text 11"/>
          <p:cNvSpPr/>
          <p:nvPr/>
        </p:nvSpPr>
        <p:spPr>
          <a:xfrm>
            <a:off x="274320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4" name="Text 12"/>
          <p:cNvSpPr/>
          <p:nvPr/>
        </p:nvSpPr>
        <p:spPr>
          <a:xfrm>
            <a:off x="274320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5" name="Text 13"/>
          <p:cNvSpPr/>
          <p:nvPr/>
        </p:nvSpPr>
        <p:spPr>
          <a:xfrm>
            <a:off x="274320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6" name="Text 14"/>
          <p:cNvSpPr/>
          <p:nvPr/>
        </p:nvSpPr>
        <p:spPr>
          <a:xfrm>
            <a:off x="274320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17" name="Text 15"/>
          <p:cNvSpPr/>
          <p:nvPr/>
        </p:nvSpPr>
        <p:spPr>
          <a:xfrm>
            <a:off x="274320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18" name="Text 16"/>
          <p:cNvSpPr/>
          <p:nvPr/>
        </p:nvSpPr>
        <p:spPr>
          <a:xfrm>
            <a:off x="274320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19" name="Text 17"/>
          <p:cNvSpPr/>
          <p:nvPr/>
        </p:nvSpPr>
        <p:spPr>
          <a:xfrm>
            <a:off x="2743200" y="3255264"/>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ESB Misuse</a:t>
            </a:r>
            <a:endParaRPr lang="en-US" sz="1100" dirty="0"/>
          </a:p>
        </p:txBody>
      </p:sp>
      <p:sp>
        <p:nvSpPr>
          <p:cNvPr id="20" name="Text 18"/>
          <p:cNvSpPr/>
          <p:nvPr/>
        </p:nvSpPr>
        <p:spPr>
          <a:xfrm>
            <a:off x="2743200" y="3502152"/>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1" name="Shape 19"/>
          <p:cNvSpPr/>
          <p:nvPr/>
        </p:nvSpPr>
        <p:spPr>
          <a:xfrm>
            <a:off x="4754880" y="1005840"/>
            <a:ext cx="2011680" cy="3383280"/>
          </a:xfrm>
          <a:prstGeom prst="rect">
            <a:avLst/>
          </a:prstGeom>
          <a:solidFill>
            <a:srgbClr val="F8FAFC"/>
          </a:solidFill>
          <a:ln w="9525">
            <a:solidFill>
              <a:srgbClr val="E2E8F0"/>
            </a:solidFill>
            <a:prstDash val="solid"/>
          </a:ln>
        </p:spPr>
      </p:sp>
      <p:sp>
        <p:nvSpPr>
          <p:cNvPr id="22" name="Shape 20"/>
          <p:cNvSpPr/>
          <p:nvPr/>
        </p:nvSpPr>
        <p:spPr>
          <a:xfrm>
            <a:off x="4754880" y="1005840"/>
            <a:ext cx="2011680" cy="411480"/>
          </a:xfrm>
          <a:prstGeom prst="rect">
            <a:avLst/>
          </a:prstGeom>
          <a:solidFill>
            <a:srgbClr val="D97706"/>
          </a:solidFill>
          <a:ln w="12700">
            <a:solidFill>
              <a:srgbClr val="D97706"/>
            </a:solidFill>
            <a:prstDash val="solid"/>
          </a:ln>
        </p:spPr>
      </p:sp>
      <p:sp>
        <p:nvSpPr>
          <p:cNvPr id="23" name="Text 21"/>
          <p:cNvSpPr/>
          <p:nvPr/>
        </p:nvSpPr>
        <p:spPr>
          <a:xfrm>
            <a:off x="484632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Data Management</a:t>
            </a:r>
            <a:endParaRPr lang="en-US" sz="1200" dirty="0"/>
          </a:p>
        </p:txBody>
      </p:sp>
      <p:sp>
        <p:nvSpPr>
          <p:cNvPr id="24" name="Text 22"/>
          <p:cNvSpPr/>
          <p:nvPr/>
        </p:nvSpPr>
        <p:spPr>
          <a:xfrm>
            <a:off x="489204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25" name="Text 23"/>
          <p:cNvSpPr/>
          <p:nvPr/>
        </p:nvSpPr>
        <p:spPr>
          <a:xfrm>
            <a:off x="489204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6" name="Shape 24"/>
          <p:cNvSpPr/>
          <p:nvPr/>
        </p:nvSpPr>
        <p:spPr>
          <a:xfrm>
            <a:off x="6903720" y="1005840"/>
            <a:ext cx="2011680" cy="3383280"/>
          </a:xfrm>
          <a:prstGeom prst="rect">
            <a:avLst/>
          </a:prstGeom>
          <a:solidFill>
            <a:srgbClr val="F8FAFC"/>
          </a:solidFill>
          <a:ln w="9525">
            <a:solidFill>
              <a:srgbClr val="E2E8F0"/>
            </a:solidFill>
            <a:prstDash val="solid"/>
          </a:ln>
        </p:spPr>
      </p:sp>
      <p:sp>
        <p:nvSpPr>
          <p:cNvPr id="27" name="Shape 25"/>
          <p:cNvSpPr/>
          <p:nvPr/>
        </p:nvSpPr>
        <p:spPr>
          <a:xfrm>
            <a:off x="6903720" y="1005840"/>
            <a:ext cx="2011680" cy="411480"/>
          </a:xfrm>
          <a:prstGeom prst="rect">
            <a:avLst/>
          </a:prstGeom>
          <a:solidFill>
            <a:srgbClr val="DC2626"/>
          </a:solidFill>
          <a:ln w="12700">
            <a:solidFill>
              <a:srgbClr val="DC2626"/>
            </a:solidFill>
            <a:prstDash val="solid"/>
          </a:ln>
        </p:spPr>
      </p:sp>
      <p:sp>
        <p:nvSpPr>
          <p:cNvPr id="28" name="Text 26"/>
          <p:cNvSpPr/>
          <p:nvPr/>
        </p:nvSpPr>
        <p:spPr>
          <a:xfrm>
            <a:off x="699516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Deployment &amp; Coupling</a:t>
            </a:r>
            <a:endParaRPr lang="en-US" sz="1200" dirty="0"/>
          </a:p>
        </p:txBody>
      </p:sp>
      <p:sp>
        <p:nvSpPr>
          <p:cNvPr id="29" name="Text 27"/>
          <p:cNvSpPr/>
          <p:nvPr/>
        </p:nvSpPr>
        <p:spPr>
          <a:xfrm>
            <a:off x="704088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Distributed Monolith</a:t>
            </a:r>
            <a:endParaRPr lang="en-US" sz="1100" dirty="0"/>
          </a:p>
        </p:txBody>
      </p:sp>
      <p:sp>
        <p:nvSpPr>
          <p:cNvPr id="30" name="Text 28"/>
          <p:cNvSpPr/>
          <p:nvPr/>
        </p:nvSpPr>
        <p:spPr>
          <a:xfrm>
            <a:off x="704088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31" name="Text 29"/>
          <p:cNvSpPr/>
          <p:nvPr/>
        </p:nvSpPr>
        <p:spPr>
          <a:xfrm>
            <a:off x="704088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32" name="Text 30"/>
          <p:cNvSpPr/>
          <p:nvPr/>
        </p:nvSpPr>
        <p:spPr>
          <a:xfrm>
            <a:off x="704088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33" name="Text 31"/>
          <p:cNvSpPr/>
          <p:nvPr/>
        </p:nvSpPr>
        <p:spPr>
          <a:xfrm>
            <a:off x="704088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Wrong Cuts</a:t>
            </a:r>
            <a:endParaRPr lang="en-US" sz="1100" dirty="0"/>
          </a:p>
        </p:txBody>
      </p:sp>
      <p:sp>
        <p:nvSpPr>
          <p:cNvPr id="34" name="Text 32"/>
          <p:cNvSpPr/>
          <p:nvPr/>
        </p:nvSpPr>
        <p:spPr>
          <a:xfrm>
            <a:off x="704088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35" name="Shape 33"/>
          <p:cNvSpPr/>
          <p:nvPr/>
        </p:nvSpPr>
        <p:spPr>
          <a:xfrm>
            <a:off x="457200" y="4526280"/>
            <a:ext cx="8229600" cy="320040"/>
          </a:xfrm>
          <a:prstGeom prst="rect">
            <a:avLst/>
          </a:prstGeom>
          <a:solidFill>
            <a:srgbClr val="0F2A44"/>
          </a:solidFill>
          <a:ln w="12700">
            <a:solidFill>
              <a:srgbClr val="0F2A44"/>
            </a:solidFill>
            <a:prstDash val="solid"/>
          </a:ln>
        </p:spPr>
      </p:sp>
      <p:sp>
        <p:nvSpPr>
          <p:cNvPr id="36" name="Text 34"/>
          <p:cNvSpPr/>
          <p:nvPr/>
        </p:nvSpPr>
        <p:spPr>
          <a:xfrm>
            <a:off x="457200" y="4526280"/>
            <a:ext cx="8229600" cy="32004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All detectors are pluggable Strategy components with configurable thresholds</a:t>
            </a:r>
            <a:endParaRPr lang="en-US" sz="1100" dirty="0"/>
          </a:p>
        </p:txBody>
      </p:sp>
      <p:sp>
        <p:nvSpPr>
          <p:cNvPr id="37" name="Text 3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38" name="Text 3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Composite health score: four-category decomposition</a:t>
            </a:r>
            <a:endParaRPr lang="en-US" sz="2800" dirty="0"/>
          </a:p>
        </p:txBody>
      </p:sp>
      <p:sp>
        <p:nvSpPr>
          <p:cNvPr id="3" name="Shape 1"/>
          <p:cNvSpPr/>
          <p:nvPr/>
        </p:nvSpPr>
        <p:spPr>
          <a:xfrm>
            <a:off x="457200" y="960120"/>
            <a:ext cx="2011680" cy="1417320"/>
          </a:xfrm>
          <a:prstGeom prst="rect">
            <a:avLst/>
          </a:prstGeom>
          <a:solidFill>
            <a:srgbClr val="F8FAFC"/>
          </a:solidFill>
          <a:ln w="9525">
            <a:solidFill>
              <a:srgbClr val="E2E8F0"/>
            </a:solidFill>
            <a:prstDash val="solid"/>
          </a:ln>
        </p:spPr>
      </p:sp>
      <p:sp>
        <p:nvSpPr>
          <p:cNvPr id="4" name="Shape 2"/>
          <p:cNvSpPr/>
          <p:nvPr/>
        </p:nvSpPr>
        <p:spPr>
          <a:xfrm>
            <a:off x="457200" y="960120"/>
            <a:ext cx="2011680" cy="73152"/>
          </a:xfrm>
          <a:prstGeom prst="rect">
            <a:avLst/>
          </a:prstGeom>
          <a:solidFill>
            <a:srgbClr val="DC2626"/>
          </a:solidFill>
          <a:ln w="12700">
            <a:solidFill>
              <a:srgbClr val="DC2626"/>
            </a:solidFill>
            <a:prstDash val="solid"/>
          </a:ln>
        </p:spPr>
      </p:sp>
      <p:sp>
        <p:nvSpPr>
          <p:cNvPr id="5" name="Text 3"/>
          <p:cNvSpPr/>
          <p:nvPr/>
        </p:nvSpPr>
        <p:spPr>
          <a:xfrm>
            <a:off x="457200" y="1078992"/>
            <a:ext cx="2011680" cy="548640"/>
          </a:xfrm>
          <a:prstGeom prst="rect">
            <a:avLst/>
          </a:prstGeom>
          <a:noFill/>
          <a:ln/>
        </p:spPr>
        <p:txBody>
          <a:bodyPr wrap="square" lIns="0" tIns="0" rIns="0" bIns="0" rtlCol="0" anchor="ctr"/>
          <a:lstStyle/>
          <a:p>
            <a:pPr marL="0" indent="0" algn="ctr">
              <a:buNone/>
            </a:pPr>
            <a:r>
              <a:rPr lang="en-US" sz="3600" b="1" dirty="0">
                <a:solidFill>
                  <a:srgbClr val="DC2626"/>
                </a:solidFill>
                <a:latin typeface="Calibri" pitchFamily="34" charset="0"/>
                <a:ea typeface="Calibri" pitchFamily="34" charset="-122"/>
                <a:cs typeface="Calibri" pitchFamily="34" charset="-120"/>
              </a:rPr>
              <a:t>40</a:t>
            </a:r>
            <a:endParaRPr lang="en-US" sz="3600" dirty="0"/>
          </a:p>
        </p:txBody>
      </p:sp>
      <p:sp>
        <p:nvSpPr>
          <p:cNvPr id="6" name="Text 4"/>
          <p:cNvSpPr/>
          <p:nvPr/>
        </p:nvSpPr>
        <p:spPr>
          <a:xfrm>
            <a:off x="45720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Anti-Patterns</a:t>
            </a:r>
            <a:endParaRPr lang="en-US" sz="1300" dirty="0"/>
          </a:p>
        </p:txBody>
      </p:sp>
      <p:sp>
        <p:nvSpPr>
          <p:cNvPr id="7" name="Text 5"/>
          <p:cNvSpPr/>
          <p:nvPr/>
        </p:nvSpPr>
        <p:spPr>
          <a:xfrm>
            <a:off x="54864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960120"/>
            <a:ext cx="2011680" cy="1417320"/>
          </a:xfrm>
          <a:prstGeom prst="rect">
            <a:avLst/>
          </a:prstGeom>
          <a:solidFill>
            <a:srgbClr val="F8FAFC"/>
          </a:solidFill>
          <a:ln w="9525">
            <a:solidFill>
              <a:srgbClr val="E2E8F0"/>
            </a:solidFill>
            <a:prstDash val="solid"/>
          </a:ln>
        </p:spPr>
      </p:sp>
      <p:sp>
        <p:nvSpPr>
          <p:cNvPr id="9" name="Shape 7"/>
          <p:cNvSpPr/>
          <p:nvPr/>
        </p:nvSpPr>
        <p:spPr>
          <a:xfrm>
            <a:off x="2606040" y="960120"/>
            <a:ext cx="2011680" cy="73152"/>
          </a:xfrm>
          <a:prstGeom prst="rect">
            <a:avLst/>
          </a:prstGeom>
          <a:solidFill>
            <a:srgbClr val="D97706"/>
          </a:solidFill>
          <a:ln w="12700">
            <a:solidFill>
              <a:srgbClr val="D97706"/>
            </a:solidFill>
            <a:prstDash val="solid"/>
          </a:ln>
        </p:spPr>
      </p:sp>
      <p:sp>
        <p:nvSpPr>
          <p:cNvPr id="10" name="Text 8"/>
          <p:cNvSpPr/>
          <p:nvPr/>
        </p:nvSpPr>
        <p:spPr>
          <a:xfrm>
            <a:off x="2606040" y="1078992"/>
            <a:ext cx="2011680" cy="548640"/>
          </a:xfrm>
          <a:prstGeom prst="rect">
            <a:avLst/>
          </a:prstGeom>
          <a:noFill/>
          <a:ln/>
        </p:spPr>
        <p:txBody>
          <a:bodyPr wrap="square" lIns="0" tIns="0" rIns="0" bIns="0" rtlCol="0" anchor="ctr"/>
          <a:lstStyle/>
          <a:p>
            <a:pPr marL="0" indent="0" algn="ctr">
              <a:buNone/>
            </a:pPr>
            <a:r>
              <a:rPr lang="en-US" sz="3600" b="1" dirty="0">
                <a:solidFill>
                  <a:srgbClr val="D97706"/>
                </a:solidFill>
                <a:latin typeface="Calibri" pitchFamily="34" charset="0"/>
                <a:ea typeface="Calibri" pitchFamily="34" charset="-122"/>
                <a:cs typeface="Calibri" pitchFamily="34" charset="-120"/>
              </a:rPr>
              <a:t>20</a:t>
            </a:r>
            <a:endParaRPr lang="en-US" sz="3600" dirty="0"/>
          </a:p>
        </p:txBody>
      </p:sp>
      <p:sp>
        <p:nvSpPr>
          <p:cNvPr id="11" name="Text 9"/>
          <p:cNvSpPr/>
          <p:nvPr/>
        </p:nvSpPr>
        <p:spPr>
          <a:xfrm>
            <a:off x="260604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Code Quality</a:t>
            </a:r>
            <a:endParaRPr lang="en-US" sz="1300" dirty="0"/>
          </a:p>
        </p:txBody>
      </p:sp>
      <p:sp>
        <p:nvSpPr>
          <p:cNvPr id="12" name="Text 10"/>
          <p:cNvSpPr/>
          <p:nvPr/>
        </p:nvSpPr>
        <p:spPr>
          <a:xfrm>
            <a:off x="269748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3" name="Shape 11"/>
          <p:cNvSpPr/>
          <p:nvPr/>
        </p:nvSpPr>
        <p:spPr>
          <a:xfrm>
            <a:off x="4754880" y="960120"/>
            <a:ext cx="2011680" cy="1417320"/>
          </a:xfrm>
          <a:prstGeom prst="rect">
            <a:avLst/>
          </a:prstGeom>
          <a:solidFill>
            <a:srgbClr val="F8FAFC"/>
          </a:solidFill>
          <a:ln w="9525">
            <a:solidFill>
              <a:srgbClr val="E2E8F0"/>
            </a:solidFill>
            <a:prstDash val="solid"/>
          </a:ln>
        </p:spPr>
      </p:sp>
      <p:sp>
        <p:nvSpPr>
          <p:cNvPr id="14" name="Shape 12"/>
          <p:cNvSpPr/>
          <p:nvPr/>
        </p:nvSpPr>
        <p:spPr>
          <a:xfrm>
            <a:off x="4754880" y="960120"/>
            <a:ext cx="2011680" cy="73152"/>
          </a:xfrm>
          <a:prstGeom prst="rect">
            <a:avLst/>
          </a:prstGeom>
          <a:solidFill>
            <a:srgbClr val="1C4E80"/>
          </a:solidFill>
          <a:ln w="12700">
            <a:solidFill>
              <a:srgbClr val="1C4E80"/>
            </a:solidFill>
            <a:prstDash val="solid"/>
          </a:ln>
        </p:spPr>
      </p:sp>
      <p:sp>
        <p:nvSpPr>
          <p:cNvPr id="15" name="Text 13"/>
          <p:cNvSpPr/>
          <p:nvPr/>
        </p:nvSpPr>
        <p:spPr>
          <a:xfrm>
            <a:off x="4754880" y="1078992"/>
            <a:ext cx="2011680" cy="548640"/>
          </a:xfrm>
          <a:prstGeom prst="rect">
            <a:avLst/>
          </a:prstGeom>
          <a:noFill/>
          <a:ln/>
        </p:spPr>
        <p:txBody>
          <a:bodyPr wrap="square" lIns="0" tIns="0" rIns="0" bIns="0" rtlCol="0" anchor="ctr"/>
          <a:lstStyle/>
          <a:p>
            <a:pPr marL="0" indent="0" algn="ctr">
              <a:buNone/>
            </a:pPr>
            <a:r>
              <a:rPr lang="en-US" sz="3600" b="1" dirty="0">
                <a:solidFill>
                  <a:srgbClr val="1C4E80"/>
                </a:solidFill>
                <a:latin typeface="Calibri" pitchFamily="34" charset="0"/>
                <a:ea typeface="Calibri" pitchFamily="34" charset="-122"/>
                <a:cs typeface="Calibri" pitchFamily="34" charset="-120"/>
              </a:rPr>
              <a:t>25</a:t>
            </a:r>
            <a:endParaRPr lang="en-US" sz="3600" dirty="0"/>
          </a:p>
        </p:txBody>
      </p:sp>
      <p:sp>
        <p:nvSpPr>
          <p:cNvPr id="16" name="Text 14"/>
          <p:cNvSpPr/>
          <p:nvPr/>
        </p:nvSpPr>
        <p:spPr>
          <a:xfrm>
            <a:off x="475488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Architecture</a:t>
            </a:r>
            <a:endParaRPr lang="en-US" sz="1300" dirty="0"/>
          </a:p>
        </p:txBody>
      </p:sp>
      <p:sp>
        <p:nvSpPr>
          <p:cNvPr id="17" name="Text 15"/>
          <p:cNvSpPr/>
          <p:nvPr/>
        </p:nvSpPr>
        <p:spPr>
          <a:xfrm>
            <a:off x="484632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8" name="Shape 16"/>
          <p:cNvSpPr/>
          <p:nvPr/>
        </p:nvSpPr>
        <p:spPr>
          <a:xfrm>
            <a:off x="6903720" y="960120"/>
            <a:ext cx="2011680" cy="1417320"/>
          </a:xfrm>
          <a:prstGeom prst="rect">
            <a:avLst/>
          </a:prstGeom>
          <a:solidFill>
            <a:srgbClr val="F8FAFC"/>
          </a:solidFill>
          <a:ln w="9525">
            <a:solidFill>
              <a:srgbClr val="E2E8F0"/>
            </a:solidFill>
            <a:prstDash val="solid"/>
          </a:ln>
        </p:spPr>
      </p:sp>
      <p:sp>
        <p:nvSpPr>
          <p:cNvPr id="19" name="Shape 17"/>
          <p:cNvSpPr/>
          <p:nvPr/>
        </p:nvSpPr>
        <p:spPr>
          <a:xfrm>
            <a:off x="6903720" y="960120"/>
            <a:ext cx="2011680" cy="73152"/>
          </a:xfrm>
          <a:prstGeom prst="rect">
            <a:avLst/>
          </a:prstGeom>
          <a:solidFill>
            <a:srgbClr val="0D9488"/>
          </a:solidFill>
          <a:ln w="12700">
            <a:solidFill>
              <a:srgbClr val="0D9488"/>
            </a:solidFill>
            <a:prstDash val="solid"/>
          </a:ln>
        </p:spPr>
      </p:sp>
      <p:sp>
        <p:nvSpPr>
          <p:cNvPr id="20" name="Text 18"/>
          <p:cNvSpPr/>
          <p:nvPr/>
        </p:nvSpPr>
        <p:spPr>
          <a:xfrm>
            <a:off x="6903720" y="1078992"/>
            <a:ext cx="2011680" cy="548640"/>
          </a:xfrm>
          <a:prstGeom prst="rect">
            <a:avLst/>
          </a:prstGeom>
          <a:noFill/>
          <a:ln/>
        </p:spPr>
        <p:txBody>
          <a:bodyPr wrap="square" lIns="0" tIns="0" rIns="0" bIns="0" rtlCol="0" anchor="ctr"/>
          <a:lstStyle/>
          <a:p>
            <a:pPr marL="0" indent="0" algn="ctr">
              <a:buNone/>
            </a:pPr>
            <a:r>
              <a:rPr lang="en-US" sz="3600" b="1" dirty="0">
                <a:solidFill>
                  <a:srgbClr val="0D9488"/>
                </a:solidFill>
                <a:latin typeface="Calibri" pitchFamily="34" charset="0"/>
                <a:ea typeface="Calibri" pitchFamily="34" charset="-122"/>
                <a:cs typeface="Calibri" pitchFamily="34" charset="-120"/>
              </a:rPr>
              <a:t>15</a:t>
            </a:r>
            <a:endParaRPr lang="en-US" sz="3600" dirty="0"/>
          </a:p>
        </p:txBody>
      </p:sp>
      <p:sp>
        <p:nvSpPr>
          <p:cNvPr id="21" name="Text 19"/>
          <p:cNvSpPr/>
          <p:nvPr/>
        </p:nvSpPr>
        <p:spPr>
          <a:xfrm>
            <a:off x="690372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Service Sizing</a:t>
            </a:r>
            <a:endParaRPr lang="en-US" sz="1300" dirty="0"/>
          </a:p>
        </p:txBody>
      </p:sp>
      <p:sp>
        <p:nvSpPr>
          <p:cNvPr id="22" name="Text 20"/>
          <p:cNvSpPr/>
          <p:nvPr/>
        </p:nvSpPr>
        <p:spPr>
          <a:xfrm>
            <a:off x="699516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3" name="Text 21"/>
          <p:cNvSpPr/>
          <p:nvPr/>
        </p:nvSpPr>
        <p:spPr>
          <a:xfrm>
            <a:off x="457200" y="260604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Letter grade scale</a:t>
            </a:r>
            <a:endParaRPr lang="en-US" sz="1200" dirty="0"/>
          </a:p>
        </p:txBody>
      </p:sp>
      <p:sp>
        <p:nvSpPr>
          <p:cNvPr id="24" name="Shape 22"/>
          <p:cNvSpPr/>
          <p:nvPr/>
        </p:nvSpPr>
        <p:spPr>
          <a:xfrm>
            <a:off x="457200" y="2926080"/>
            <a:ext cx="1371600" cy="777240"/>
          </a:xfrm>
          <a:prstGeom prst="rect">
            <a:avLst/>
          </a:prstGeom>
          <a:solidFill>
            <a:srgbClr val="059669"/>
          </a:solidFill>
          <a:ln w="12700">
            <a:solidFill>
              <a:srgbClr val="059669"/>
            </a:solidFill>
            <a:prstDash val="solid"/>
          </a:ln>
        </p:spPr>
      </p:sp>
      <p:sp>
        <p:nvSpPr>
          <p:cNvPr id="25" name="Text 23"/>
          <p:cNvSpPr/>
          <p:nvPr/>
        </p:nvSpPr>
        <p:spPr>
          <a:xfrm>
            <a:off x="45720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A</a:t>
            </a:r>
            <a:endParaRPr lang="en-US" sz="2600" dirty="0"/>
          </a:p>
        </p:txBody>
      </p:sp>
      <p:sp>
        <p:nvSpPr>
          <p:cNvPr id="26" name="Text 24"/>
          <p:cNvSpPr/>
          <p:nvPr/>
        </p:nvSpPr>
        <p:spPr>
          <a:xfrm>
            <a:off x="45720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90</a:t>
            </a:r>
            <a:endParaRPr lang="en-US" sz="1100" dirty="0"/>
          </a:p>
        </p:txBody>
      </p:sp>
      <p:sp>
        <p:nvSpPr>
          <p:cNvPr id="27" name="Shape 25"/>
          <p:cNvSpPr/>
          <p:nvPr/>
        </p:nvSpPr>
        <p:spPr>
          <a:xfrm>
            <a:off x="2194560" y="2926080"/>
            <a:ext cx="1371600" cy="777240"/>
          </a:xfrm>
          <a:prstGeom prst="rect">
            <a:avLst/>
          </a:prstGeom>
          <a:solidFill>
            <a:srgbClr val="0D9488"/>
          </a:solidFill>
          <a:ln w="12700">
            <a:solidFill>
              <a:srgbClr val="0D9488"/>
            </a:solidFill>
            <a:prstDash val="solid"/>
          </a:ln>
        </p:spPr>
      </p:sp>
      <p:sp>
        <p:nvSpPr>
          <p:cNvPr id="28" name="Text 26"/>
          <p:cNvSpPr/>
          <p:nvPr/>
        </p:nvSpPr>
        <p:spPr>
          <a:xfrm>
            <a:off x="219456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B</a:t>
            </a:r>
            <a:endParaRPr lang="en-US" sz="2600" dirty="0"/>
          </a:p>
        </p:txBody>
      </p:sp>
      <p:sp>
        <p:nvSpPr>
          <p:cNvPr id="29" name="Text 27"/>
          <p:cNvSpPr/>
          <p:nvPr/>
        </p:nvSpPr>
        <p:spPr>
          <a:xfrm>
            <a:off x="219456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80</a:t>
            </a:r>
            <a:endParaRPr lang="en-US" sz="1100" dirty="0"/>
          </a:p>
        </p:txBody>
      </p:sp>
      <p:sp>
        <p:nvSpPr>
          <p:cNvPr id="30" name="Shape 28"/>
          <p:cNvSpPr/>
          <p:nvPr/>
        </p:nvSpPr>
        <p:spPr>
          <a:xfrm>
            <a:off x="3931920" y="2926080"/>
            <a:ext cx="1371600" cy="777240"/>
          </a:xfrm>
          <a:prstGeom prst="rect">
            <a:avLst/>
          </a:prstGeom>
          <a:solidFill>
            <a:srgbClr val="1C4E80"/>
          </a:solidFill>
          <a:ln w="12700">
            <a:solidFill>
              <a:srgbClr val="1C4E80"/>
            </a:solidFill>
            <a:prstDash val="solid"/>
          </a:ln>
        </p:spPr>
      </p:sp>
      <p:sp>
        <p:nvSpPr>
          <p:cNvPr id="31" name="Text 29"/>
          <p:cNvSpPr/>
          <p:nvPr/>
        </p:nvSpPr>
        <p:spPr>
          <a:xfrm>
            <a:off x="393192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C</a:t>
            </a:r>
            <a:endParaRPr lang="en-US" sz="2600" dirty="0"/>
          </a:p>
        </p:txBody>
      </p:sp>
      <p:sp>
        <p:nvSpPr>
          <p:cNvPr id="32" name="Text 30"/>
          <p:cNvSpPr/>
          <p:nvPr/>
        </p:nvSpPr>
        <p:spPr>
          <a:xfrm>
            <a:off x="393192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65</a:t>
            </a:r>
            <a:endParaRPr lang="en-US" sz="1100" dirty="0"/>
          </a:p>
        </p:txBody>
      </p:sp>
      <p:sp>
        <p:nvSpPr>
          <p:cNvPr id="33" name="Shape 31"/>
          <p:cNvSpPr/>
          <p:nvPr/>
        </p:nvSpPr>
        <p:spPr>
          <a:xfrm>
            <a:off x="5669280" y="2926080"/>
            <a:ext cx="1371600" cy="777240"/>
          </a:xfrm>
          <a:prstGeom prst="rect">
            <a:avLst/>
          </a:prstGeom>
          <a:solidFill>
            <a:srgbClr val="D97706"/>
          </a:solidFill>
          <a:ln w="12700">
            <a:solidFill>
              <a:srgbClr val="D97706"/>
            </a:solidFill>
            <a:prstDash val="solid"/>
          </a:ln>
        </p:spPr>
      </p:sp>
      <p:sp>
        <p:nvSpPr>
          <p:cNvPr id="34" name="Text 32"/>
          <p:cNvSpPr/>
          <p:nvPr/>
        </p:nvSpPr>
        <p:spPr>
          <a:xfrm>
            <a:off x="566928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D</a:t>
            </a:r>
            <a:endParaRPr lang="en-US" sz="2600" dirty="0"/>
          </a:p>
        </p:txBody>
      </p:sp>
      <p:sp>
        <p:nvSpPr>
          <p:cNvPr id="35" name="Text 33"/>
          <p:cNvSpPr/>
          <p:nvPr/>
        </p:nvSpPr>
        <p:spPr>
          <a:xfrm>
            <a:off x="566928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50</a:t>
            </a:r>
            <a:endParaRPr lang="en-US" sz="1100" dirty="0"/>
          </a:p>
        </p:txBody>
      </p:sp>
      <p:sp>
        <p:nvSpPr>
          <p:cNvPr id="36" name="Shape 34"/>
          <p:cNvSpPr/>
          <p:nvPr/>
        </p:nvSpPr>
        <p:spPr>
          <a:xfrm>
            <a:off x="7406640" y="2926080"/>
            <a:ext cx="1371600" cy="777240"/>
          </a:xfrm>
          <a:prstGeom prst="rect">
            <a:avLst/>
          </a:prstGeom>
          <a:solidFill>
            <a:srgbClr val="DC2626"/>
          </a:solidFill>
          <a:ln w="12700">
            <a:solidFill>
              <a:srgbClr val="DC2626"/>
            </a:solidFill>
            <a:prstDash val="solid"/>
          </a:ln>
        </p:spPr>
      </p:sp>
      <p:sp>
        <p:nvSpPr>
          <p:cNvPr id="37" name="Text 35"/>
          <p:cNvSpPr/>
          <p:nvPr/>
        </p:nvSpPr>
        <p:spPr>
          <a:xfrm>
            <a:off x="740664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F</a:t>
            </a:r>
            <a:endParaRPr lang="en-US" sz="2600" dirty="0"/>
          </a:p>
        </p:txBody>
      </p:sp>
      <p:sp>
        <p:nvSpPr>
          <p:cNvPr id="38" name="Text 36"/>
          <p:cNvSpPr/>
          <p:nvPr/>
        </p:nvSpPr>
        <p:spPr>
          <a:xfrm>
            <a:off x="740664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&lt; 50</a:t>
            </a:r>
            <a:endParaRPr lang="en-US" sz="1100" dirty="0"/>
          </a:p>
        </p:txBody>
      </p:sp>
      <p:sp>
        <p:nvSpPr>
          <p:cNvPr id="39" name="Shape 37"/>
          <p:cNvSpPr/>
          <p:nvPr/>
        </p:nvSpPr>
        <p:spPr>
          <a:xfrm>
            <a:off x="457200" y="3931920"/>
            <a:ext cx="8229600" cy="777240"/>
          </a:xfrm>
          <a:prstGeom prst="rect">
            <a:avLst/>
          </a:prstGeom>
          <a:solidFill>
            <a:srgbClr val="F8FAFC"/>
          </a:solidFill>
          <a:ln w="9525">
            <a:solidFill>
              <a:srgbClr val="E2E8F0"/>
            </a:solidFill>
            <a:prstDash val="solid"/>
          </a:ln>
        </p:spPr>
      </p:sp>
      <p:sp>
        <p:nvSpPr>
          <p:cNvPr id="40" name="Shape 38"/>
          <p:cNvSpPr/>
          <p:nvPr/>
        </p:nvSpPr>
        <p:spPr>
          <a:xfrm>
            <a:off x="457200" y="3931920"/>
            <a:ext cx="54864" cy="777240"/>
          </a:xfrm>
          <a:prstGeom prst="rect">
            <a:avLst/>
          </a:prstGeom>
          <a:solidFill>
            <a:srgbClr val="0D9488"/>
          </a:solidFill>
          <a:ln w="12700">
            <a:solidFill>
              <a:srgbClr val="0D9488"/>
            </a:solidFill>
            <a:prstDash val="solid"/>
          </a:ln>
        </p:spPr>
      </p:sp>
      <p:sp>
        <p:nvSpPr>
          <p:cNvPr id="41" name="Text 39"/>
          <p:cNvSpPr/>
          <p:nvPr/>
        </p:nvSpPr>
        <p:spPr>
          <a:xfrm>
            <a:off x="685800" y="3977640"/>
            <a:ext cx="77724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Why decompose?</a:t>
            </a:r>
            <a:endParaRPr lang="en-US" sz="1200" dirty="0"/>
          </a:p>
        </p:txBody>
      </p:sp>
      <p:sp>
        <p:nvSpPr>
          <p:cNvPr id="42" name="Text 40"/>
          <p:cNvSpPr/>
          <p:nvPr/>
        </p:nvSpPr>
        <p:spPr>
          <a:xfrm>
            <a:off x="685800" y="4224528"/>
            <a:ext cx="7772400" cy="45720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 single number tells teams whether quality is improving; per-category breakdown tells them WHICH dimension needs attention; both views are exposed via the analysis-diff feature for tracking over time</a:t>
            </a:r>
            <a:endParaRPr lang="en-US" sz="1050" dirty="0"/>
          </a:p>
        </p:txBody>
      </p:sp>
      <p:sp>
        <p:nvSpPr>
          <p:cNvPr id="43" name="Text 4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4" name="Text 4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Worked example: microservice-recruit (40 / F)</a:t>
            </a:r>
            <a:endParaRPr lang="en-US" sz="2800" dirty="0"/>
          </a:p>
        </p:txBody>
      </p:sp>
      <p:sp>
        <p:nvSpPr>
          <p:cNvPr id="3" name="Text 1"/>
          <p:cNvSpPr/>
          <p:nvPr/>
        </p:nvSpPr>
        <p:spPr>
          <a:xfrm>
            <a:off x="457200" y="868680"/>
            <a:ext cx="41148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4" name="Shape 2"/>
          <p:cNvSpPr/>
          <p:nvPr/>
        </p:nvSpPr>
        <p:spPr>
          <a:xfrm>
            <a:off x="427939" y="1161288"/>
            <a:ext cx="4114800" cy="283464"/>
          </a:xfrm>
          <a:prstGeom prst="rect">
            <a:avLst/>
          </a:prstGeom>
          <a:solidFill>
            <a:srgbClr val="F8FAFC"/>
          </a:solidFill>
          <a:ln w="6350">
            <a:solidFill>
              <a:srgbClr val="E2E8F0"/>
            </a:solidFill>
            <a:prstDash val="solid"/>
          </a:ln>
        </p:spPr>
      </p:sp>
      <p:sp>
        <p:nvSpPr>
          <p:cNvPr id="5" name="Text 3"/>
          <p:cNvSpPr/>
          <p:nvPr/>
        </p:nvSpPr>
        <p:spPr>
          <a:xfrm>
            <a:off x="473659" y="1161288"/>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6×</a:t>
            </a:r>
            <a:endParaRPr lang="en-US" sz="1200" dirty="0"/>
          </a:p>
        </p:txBody>
      </p:sp>
      <p:sp>
        <p:nvSpPr>
          <p:cNvPr id="6" name="Text 4"/>
          <p:cNvSpPr/>
          <p:nvPr/>
        </p:nvSpPr>
        <p:spPr>
          <a:xfrm>
            <a:off x="1068019" y="1161288"/>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171139" y="1161288"/>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427939" y="1476756"/>
            <a:ext cx="4114800" cy="283464"/>
          </a:xfrm>
          <a:prstGeom prst="rect">
            <a:avLst/>
          </a:prstGeom>
          <a:solidFill>
            <a:srgbClr val="F8FAFC"/>
          </a:solidFill>
          <a:ln w="6350">
            <a:solidFill>
              <a:srgbClr val="E2E8F0"/>
            </a:solidFill>
            <a:prstDash val="solid"/>
          </a:ln>
        </p:spPr>
      </p:sp>
      <p:sp>
        <p:nvSpPr>
          <p:cNvPr id="9" name="Text 7"/>
          <p:cNvSpPr/>
          <p:nvPr/>
        </p:nvSpPr>
        <p:spPr>
          <a:xfrm>
            <a:off x="473659" y="1476756"/>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068019" y="1476756"/>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171139" y="1476756"/>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427939" y="1792224"/>
            <a:ext cx="4114800" cy="283464"/>
          </a:xfrm>
          <a:prstGeom prst="rect">
            <a:avLst/>
          </a:prstGeom>
          <a:solidFill>
            <a:srgbClr val="F8FAFC"/>
          </a:solidFill>
          <a:ln w="6350">
            <a:solidFill>
              <a:srgbClr val="E2E8F0"/>
            </a:solidFill>
            <a:prstDash val="solid"/>
          </a:ln>
        </p:spPr>
      </p:sp>
      <p:sp>
        <p:nvSpPr>
          <p:cNvPr id="13" name="Text 11"/>
          <p:cNvSpPr/>
          <p:nvPr/>
        </p:nvSpPr>
        <p:spPr>
          <a:xfrm>
            <a:off x="473659" y="1792224"/>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1068019" y="1792224"/>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171139" y="1792224"/>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427939" y="2107692"/>
            <a:ext cx="4114800" cy="283464"/>
          </a:xfrm>
          <a:prstGeom prst="rect">
            <a:avLst/>
          </a:prstGeom>
          <a:solidFill>
            <a:srgbClr val="F8FAFC"/>
          </a:solidFill>
          <a:ln w="6350">
            <a:solidFill>
              <a:srgbClr val="E2E8F0"/>
            </a:solidFill>
            <a:prstDash val="solid"/>
          </a:ln>
        </p:spPr>
      </p:sp>
      <p:sp>
        <p:nvSpPr>
          <p:cNvPr id="17" name="Text 15"/>
          <p:cNvSpPr/>
          <p:nvPr/>
        </p:nvSpPr>
        <p:spPr>
          <a:xfrm>
            <a:off x="473659" y="2107692"/>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18" name="Text 16"/>
          <p:cNvSpPr/>
          <p:nvPr/>
        </p:nvSpPr>
        <p:spPr>
          <a:xfrm>
            <a:off x="1068019" y="2107692"/>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171139" y="2107692"/>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−8 = −8</a:t>
            </a:r>
            <a:endParaRPr lang="en-US" sz="1000" dirty="0"/>
          </a:p>
        </p:txBody>
      </p:sp>
      <p:sp>
        <p:nvSpPr>
          <p:cNvPr id="20" name="Shape 18"/>
          <p:cNvSpPr/>
          <p:nvPr/>
        </p:nvSpPr>
        <p:spPr>
          <a:xfrm>
            <a:off x="427939" y="2423160"/>
            <a:ext cx="4114800" cy="283464"/>
          </a:xfrm>
          <a:prstGeom prst="rect">
            <a:avLst/>
          </a:prstGeom>
          <a:solidFill>
            <a:srgbClr val="F8FAFC"/>
          </a:solidFill>
          <a:ln w="6350">
            <a:solidFill>
              <a:srgbClr val="E2E8F0"/>
            </a:solidFill>
            <a:prstDash val="solid"/>
          </a:ln>
        </p:spPr>
      </p:sp>
      <p:sp>
        <p:nvSpPr>
          <p:cNvPr id="21" name="Text 19"/>
          <p:cNvSpPr/>
          <p:nvPr/>
        </p:nvSpPr>
        <p:spPr>
          <a:xfrm>
            <a:off x="473659" y="2423160"/>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22" name="Text 20"/>
          <p:cNvSpPr/>
          <p:nvPr/>
        </p:nvSpPr>
        <p:spPr>
          <a:xfrm>
            <a:off x="1068019" y="2423160"/>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171139" y="2423160"/>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 −3</a:t>
            </a:r>
            <a:endParaRPr lang="en-US" sz="1000" dirty="0"/>
          </a:p>
        </p:txBody>
      </p:sp>
      <p:sp>
        <p:nvSpPr>
          <p:cNvPr id="24" name="Shape 22"/>
          <p:cNvSpPr/>
          <p:nvPr/>
        </p:nvSpPr>
        <p:spPr>
          <a:xfrm>
            <a:off x="427939" y="2779776"/>
            <a:ext cx="4114800" cy="411480"/>
          </a:xfrm>
          <a:prstGeom prst="rect">
            <a:avLst/>
          </a:prstGeom>
          <a:solidFill>
            <a:srgbClr val="0F2A44"/>
          </a:solidFill>
          <a:ln w="12700">
            <a:solidFill>
              <a:srgbClr val="0F2A44"/>
            </a:solidFill>
            <a:prstDash val="solid"/>
          </a:ln>
        </p:spPr>
      </p:sp>
      <p:sp>
        <p:nvSpPr>
          <p:cNvPr id="25" name="Text 23"/>
          <p:cNvSpPr/>
          <p:nvPr/>
        </p:nvSpPr>
        <p:spPr>
          <a:xfrm>
            <a:off x="427939" y="2779776"/>
            <a:ext cx="4114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Total penalty: 49   →   AP clamped at 0</a:t>
            </a:r>
            <a:endParaRPr lang="en-US" sz="1200" dirty="0"/>
          </a:p>
        </p:txBody>
      </p:sp>
      <p:sp>
        <p:nvSpPr>
          <p:cNvPr id="26" name="Text 24"/>
          <p:cNvSpPr/>
          <p:nvPr/>
        </p:nvSpPr>
        <p:spPr>
          <a:xfrm>
            <a:off x="4846320" y="868680"/>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7" name="Text 25"/>
          <p:cNvSpPr/>
          <p:nvPr/>
        </p:nvSpPr>
        <p:spPr>
          <a:xfrm>
            <a:off x="4846320" y="118872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8" name="Shape 26"/>
          <p:cNvSpPr/>
          <p:nvPr/>
        </p:nvSpPr>
        <p:spPr>
          <a:xfrm>
            <a:off x="6126480" y="1234440"/>
            <a:ext cx="2377440" cy="256032"/>
          </a:xfrm>
          <a:prstGeom prst="rect">
            <a:avLst/>
          </a:prstGeom>
          <a:solidFill>
            <a:srgbClr val="E2E8F0"/>
          </a:solidFill>
          <a:ln w="12700">
            <a:solidFill>
              <a:srgbClr val="E2E8F0"/>
            </a:solidFill>
            <a:prstDash val="solid"/>
          </a:ln>
        </p:spPr>
      </p:sp>
      <p:sp>
        <p:nvSpPr>
          <p:cNvPr id="29" name="Text 27"/>
          <p:cNvSpPr/>
          <p:nvPr/>
        </p:nvSpPr>
        <p:spPr>
          <a:xfrm>
            <a:off x="8595360" y="119786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0 / 40</a:t>
            </a:r>
            <a:endParaRPr lang="en-US" sz="1000" dirty="0"/>
          </a:p>
        </p:txBody>
      </p:sp>
      <p:sp>
        <p:nvSpPr>
          <p:cNvPr id="30" name="Text 28"/>
          <p:cNvSpPr/>
          <p:nvPr/>
        </p:nvSpPr>
        <p:spPr>
          <a:xfrm>
            <a:off x="4846320" y="169164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1" name="Shape 29"/>
          <p:cNvSpPr/>
          <p:nvPr/>
        </p:nvSpPr>
        <p:spPr>
          <a:xfrm>
            <a:off x="6126480" y="1737360"/>
            <a:ext cx="2377440" cy="256032"/>
          </a:xfrm>
          <a:prstGeom prst="rect">
            <a:avLst/>
          </a:prstGeom>
          <a:solidFill>
            <a:srgbClr val="E2E8F0"/>
          </a:solidFill>
          <a:ln w="12700">
            <a:solidFill>
              <a:srgbClr val="E2E8F0"/>
            </a:solidFill>
            <a:prstDash val="solid"/>
          </a:ln>
        </p:spPr>
      </p:sp>
      <p:sp>
        <p:nvSpPr>
          <p:cNvPr id="32" name="Shape 30"/>
          <p:cNvSpPr/>
          <p:nvPr/>
        </p:nvSpPr>
        <p:spPr>
          <a:xfrm>
            <a:off x="6126480" y="1737360"/>
            <a:ext cx="1426464" cy="256032"/>
          </a:xfrm>
          <a:prstGeom prst="rect">
            <a:avLst/>
          </a:prstGeom>
          <a:solidFill>
            <a:srgbClr val="D97706"/>
          </a:solidFill>
          <a:ln w="12700">
            <a:solidFill>
              <a:srgbClr val="D97706"/>
            </a:solidFill>
            <a:prstDash val="solid"/>
          </a:ln>
        </p:spPr>
      </p:sp>
      <p:sp>
        <p:nvSpPr>
          <p:cNvPr id="33" name="Text 31"/>
          <p:cNvSpPr/>
          <p:nvPr/>
        </p:nvSpPr>
        <p:spPr>
          <a:xfrm>
            <a:off x="8595360" y="170078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20</a:t>
            </a:r>
            <a:endParaRPr lang="en-US" sz="1000" dirty="0"/>
          </a:p>
        </p:txBody>
      </p:sp>
      <p:sp>
        <p:nvSpPr>
          <p:cNvPr id="34" name="Text 32"/>
          <p:cNvSpPr/>
          <p:nvPr/>
        </p:nvSpPr>
        <p:spPr>
          <a:xfrm>
            <a:off x="4846320" y="219456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5" name="Shape 33"/>
          <p:cNvSpPr/>
          <p:nvPr/>
        </p:nvSpPr>
        <p:spPr>
          <a:xfrm>
            <a:off x="6126480" y="2240280"/>
            <a:ext cx="2377440" cy="256032"/>
          </a:xfrm>
          <a:prstGeom prst="rect">
            <a:avLst/>
          </a:prstGeom>
          <a:solidFill>
            <a:srgbClr val="E2E8F0"/>
          </a:solidFill>
          <a:ln w="12700">
            <a:solidFill>
              <a:srgbClr val="E2E8F0"/>
            </a:solidFill>
            <a:prstDash val="solid"/>
          </a:ln>
        </p:spPr>
      </p:sp>
      <p:sp>
        <p:nvSpPr>
          <p:cNvPr id="36" name="Shape 34"/>
          <p:cNvSpPr/>
          <p:nvPr/>
        </p:nvSpPr>
        <p:spPr>
          <a:xfrm>
            <a:off x="6126480" y="2240280"/>
            <a:ext cx="1521562" cy="256032"/>
          </a:xfrm>
          <a:prstGeom prst="rect">
            <a:avLst/>
          </a:prstGeom>
          <a:solidFill>
            <a:srgbClr val="1C4E80"/>
          </a:solidFill>
          <a:ln w="12700">
            <a:solidFill>
              <a:srgbClr val="1C4E80"/>
            </a:solidFill>
            <a:prstDash val="solid"/>
          </a:ln>
        </p:spPr>
      </p:sp>
      <p:sp>
        <p:nvSpPr>
          <p:cNvPr id="37" name="Text 35"/>
          <p:cNvSpPr/>
          <p:nvPr/>
        </p:nvSpPr>
        <p:spPr>
          <a:xfrm>
            <a:off x="8595360" y="220370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16 / 25</a:t>
            </a:r>
            <a:endParaRPr lang="en-US" sz="1000" dirty="0"/>
          </a:p>
        </p:txBody>
      </p:sp>
      <p:sp>
        <p:nvSpPr>
          <p:cNvPr id="38" name="Text 36"/>
          <p:cNvSpPr/>
          <p:nvPr/>
        </p:nvSpPr>
        <p:spPr>
          <a:xfrm>
            <a:off x="4846320" y="269748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39" name="Shape 37"/>
          <p:cNvSpPr/>
          <p:nvPr/>
        </p:nvSpPr>
        <p:spPr>
          <a:xfrm>
            <a:off x="6126480" y="2743200"/>
            <a:ext cx="2377440" cy="256032"/>
          </a:xfrm>
          <a:prstGeom prst="rect">
            <a:avLst/>
          </a:prstGeom>
          <a:solidFill>
            <a:srgbClr val="E2E8F0"/>
          </a:solidFill>
          <a:ln w="12700">
            <a:solidFill>
              <a:srgbClr val="E2E8F0"/>
            </a:solidFill>
            <a:prstDash val="solid"/>
          </a:ln>
        </p:spPr>
      </p:sp>
      <p:sp>
        <p:nvSpPr>
          <p:cNvPr id="40" name="Shape 38"/>
          <p:cNvSpPr/>
          <p:nvPr/>
        </p:nvSpPr>
        <p:spPr>
          <a:xfrm>
            <a:off x="6126480" y="2743200"/>
            <a:ext cx="1901952" cy="256032"/>
          </a:xfrm>
          <a:prstGeom prst="rect">
            <a:avLst/>
          </a:prstGeom>
          <a:solidFill>
            <a:srgbClr val="0D9488"/>
          </a:solidFill>
          <a:ln w="12700">
            <a:solidFill>
              <a:srgbClr val="0D9488"/>
            </a:solidFill>
            <a:prstDash val="solid"/>
          </a:ln>
        </p:spPr>
      </p:sp>
      <p:sp>
        <p:nvSpPr>
          <p:cNvPr id="41" name="Text 39"/>
          <p:cNvSpPr/>
          <p:nvPr/>
        </p:nvSpPr>
        <p:spPr>
          <a:xfrm>
            <a:off x="8595360" y="270662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15</a:t>
            </a:r>
            <a:endParaRPr lang="en-US" sz="1000" dirty="0"/>
          </a:p>
        </p:txBody>
      </p:sp>
      <p:sp>
        <p:nvSpPr>
          <p:cNvPr id="42" name="Shape 40"/>
          <p:cNvSpPr/>
          <p:nvPr/>
        </p:nvSpPr>
        <p:spPr>
          <a:xfrm>
            <a:off x="5852160" y="3429000"/>
            <a:ext cx="1280160" cy="1280160"/>
          </a:xfrm>
          <a:prstGeom prst="ellipse">
            <a:avLst/>
          </a:prstGeom>
          <a:solidFill>
            <a:srgbClr val="DC2626"/>
          </a:solidFill>
          <a:ln w="12700">
            <a:solidFill>
              <a:srgbClr val="DC2626"/>
            </a:solidFill>
            <a:prstDash val="solid"/>
          </a:ln>
        </p:spPr>
      </p:sp>
      <p:sp>
        <p:nvSpPr>
          <p:cNvPr id="43" name="Text 41"/>
          <p:cNvSpPr/>
          <p:nvPr/>
        </p:nvSpPr>
        <p:spPr>
          <a:xfrm>
            <a:off x="5852160" y="3474720"/>
            <a:ext cx="1280160" cy="82296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40</a:t>
            </a:r>
            <a:endParaRPr lang="en-US" sz="3600" dirty="0"/>
          </a:p>
        </p:txBody>
      </p:sp>
      <p:sp>
        <p:nvSpPr>
          <p:cNvPr id="44" name="Text 42"/>
          <p:cNvSpPr/>
          <p:nvPr/>
        </p:nvSpPr>
        <p:spPr>
          <a:xfrm>
            <a:off x="5852160" y="4160520"/>
            <a:ext cx="12801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Grade F</a:t>
            </a:r>
            <a:endParaRPr lang="en-US" sz="1100" dirty="0"/>
          </a:p>
        </p:txBody>
      </p:sp>
      <p:sp>
        <p:nvSpPr>
          <p:cNvPr id="45" name="Text 43"/>
          <p:cNvSpPr/>
          <p:nvPr/>
        </p:nvSpPr>
        <p:spPr>
          <a:xfrm>
            <a:off x="427939" y="3312053"/>
            <a:ext cx="4114800" cy="365760"/>
          </a:xfrm>
          <a:prstGeom prst="rect">
            <a:avLst/>
          </a:prstGeom>
          <a:noFill/>
          <a:ln/>
        </p:spPr>
        <p:txBody>
          <a:bodyPr wrap="square" lIns="0" tIns="0" rIns="0" bIns="0" rtlCol="0" anchor="ctr"/>
          <a:lstStyle/>
          <a:p>
            <a:pPr marL="0" indent="0" algn="ctr">
              <a:buNone/>
            </a:pPr>
            <a:r>
              <a:rPr lang="en-US" sz="1400" b="1" dirty="0">
                <a:solidFill>
                  <a:srgbClr val="0F2A44"/>
                </a:solidFill>
                <a:latin typeface="Calibri" pitchFamily="34" charset="0"/>
                <a:ea typeface="Calibri" pitchFamily="34" charset="-122"/>
                <a:cs typeface="Calibri" pitchFamily="34" charset="-120"/>
              </a:rPr>
              <a:t>Final score: 40 / 100  (F)</a:t>
            </a:r>
            <a:endParaRPr lang="en-US" sz="1400" dirty="0"/>
          </a:p>
        </p:txBody>
      </p:sp>
      <p:sp>
        <p:nvSpPr>
          <p:cNvPr id="46" name="Text 44"/>
          <p:cNvSpPr/>
          <p:nvPr/>
        </p:nvSpPr>
        <p:spPr>
          <a:xfrm>
            <a:off x="457200" y="3611880"/>
            <a:ext cx="4114800" cy="91440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Deductions spread across all four categories: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Anti-pattern load (penalty 49) clamps AP to 0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Architecture loses 9 to dependency-graph coupling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Code Quality 8 to smell density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Service Sizing 3 to one nano service</a:t>
            </a:r>
            <a:endParaRPr lang="en-US" sz="1000" dirty="0"/>
          </a:p>
        </p:txBody>
      </p:sp>
      <p:sp>
        <p:nvSpPr>
          <p:cNvPr id="47" name="Text 4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8" name="Text 4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Evaluation: eleven open-source projects</a:t>
            </a:r>
            <a:endParaRPr lang="en-US" sz="2800" dirty="0"/>
          </a:p>
        </p:txBody>
      </p:sp>
      <p:graphicFrame>
        <p:nvGraphicFramePr>
          <p:cNvPr id="3" name="Chart 0"/>
          <p:cNvGraphicFramePr/>
          <p:nvPr/>
        </p:nvGraphicFramePr>
        <p:xfrm>
          <a:off x="365760" y="868680"/>
          <a:ext cx="539496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6080760" y="781571"/>
            <a:ext cx="27432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 scale  (services / LOC)</a:t>
            </a:r>
            <a:endParaRPr lang="en-US" sz="1200" dirty="0"/>
          </a:p>
        </p:txBody>
      </p:sp>
      <p:sp>
        <p:nvSpPr>
          <p:cNvPr id="5" name="Shape 2"/>
          <p:cNvSpPr/>
          <p:nvPr/>
        </p:nvSpPr>
        <p:spPr>
          <a:xfrm>
            <a:off x="6080760" y="1101611"/>
            <a:ext cx="2743200" cy="192024"/>
          </a:xfrm>
          <a:prstGeom prst="rect">
            <a:avLst/>
          </a:prstGeom>
          <a:solidFill>
            <a:srgbClr val="F8FAFC"/>
          </a:solidFill>
          <a:ln w="6350">
            <a:solidFill>
              <a:srgbClr val="E2E8F0"/>
            </a:solidFill>
            <a:prstDash val="solid"/>
          </a:ln>
        </p:spPr>
      </p:sp>
      <p:sp>
        <p:nvSpPr>
          <p:cNvPr id="6" name="Text 3"/>
          <p:cNvSpPr/>
          <p:nvPr/>
        </p:nvSpPr>
        <p:spPr>
          <a:xfrm>
            <a:off x="6172200" y="1101611"/>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MicroSocial</a:t>
            </a:r>
            <a:endParaRPr lang="en-US" sz="850" dirty="0"/>
          </a:p>
        </p:txBody>
      </p:sp>
      <p:sp>
        <p:nvSpPr>
          <p:cNvPr id="7" name="Text 4"/>
          <p:cNvSpPr/>
          <p:nvPr/>
        </p:nvSpPr>
        <p:spPr>
          <a:xfrm>
            <a:off x="7452360" y="1101611"/>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a:t>
            </a:r>
            <a:endParaRPr lang="en-US" sz="850" dirty="0"/>
          </a:p>
        </p:txBody>
      </p:sp>
      <p:sp>
        <p:nvSpPr>
          <p:cNvPr id="8" name="Text 5"/>
          <p:cNvSpPr/>
          <p:nvPr/>
        </p:nvSpPr>
        <p:spPr>
          <a:xfrm>
            <a:off x="7909560" y="1101611"/>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2k</a:t>
            </a:r>
            <a:endParaRPr lang="en-US" sz="850" dirty="0"/>
          </a:p>
        </p:txBody>
      </p:sp>
      <p:sp>
        <p:nvSpPr>
          <p:cNvPr id="9" name="Shape 6"/>
          <p:cNvSpPr/>
          <p:nvPr/>
        </p:nvSpPr>
        <p:spPr>
          <a:xfrm>
            <a:off x="6080760" y="1321067"/>
            <a:ext cx="2743200" cy="192024"/>
          </a:xfrm>
          <a:prstGeom prst="rect">
            <a:avLst/>
          </a:prstGeom>
          <a:solidFill>
            <a:srgbClr val="F8FAFC"/>
          </a:solidFill>
          <a:ln w="6350">
            <a:solidFill>
              <a:srgbClr val="E2E8F0"/>
            </a:solidFill>
            <a:prstDash val="solid"/>
          </a:ln>
        </p:spPr>
      </p:sp>
      <p:sp>
        <p:nvSpPr>
          <p:cNvPr id="10" name="Text 7"/>
          <p:cNvSpPr/>
          <p:nvPr/>
        </p:nvSpPr>
        <p:spPr>
          <a:xfrm>
            <a:off x="6172200" y="1321067"/>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design-pat.</a:t>
            </a:r>
            <a:endParaRPr lang="en-US" sz="850" dirty="0"/>
          </a:p>
        </p:txBody>
      </p:sp>
      <p:sp>
        <p:nvSpPr>
          <p:cNvPr id="11" name="Text 8"/>
          <p:cNvSpPr/>
          <p:nvPr/>
        </p:nvSpPr>
        <p:spPr>
          <a:xfrm>
            <a:off x="7452360" y="1321067"/>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16</a:t>
            </a:r>
            <a:endParaRPr lang="en-US" sz="850" dirty="0"/>
          </a:p>
        </p:txBody>
      </p:sp>
      <p:sp>
        <p:nvSpPr>
          <p:cNvPr id="12" name="Text 9"/>
          <p:cNvSpPr/>
          <p:nvPr/>
        </p:nvSpPr>
        <p:spPr>
          <a:xfrm>
            <a:off x="7909560" y="1321067"/>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19k</a:t>
            </a:r>
            <a:endParaRPr lang="en-US" sz="850" dirty="0"/>
          </a:p>
        </p:txBody>
      </p:sp>
      <p:sp>
        <p:nvSpPr>
          <p:cNvPr id="13" name="Shape 10"/>
          <p:cNvSpPr/>
          <p:nvPr/>
        </p:nvSpPr>
        <p:spPr>
          <a:xfrm>
            <a:off x="6080760" y="1540523"/>
            <a:ext cx="2743200" cy="192024"/>
          </a:xfrm>
          <a:prstGeom prst="rect">
            <a:avLst/>
          </a:prstGeom>
          <a:solidFill>
            <a:srgbClr val="F8FAFC"/>
          </a:solidFill>
          <a:ln w="6350">
            <a:solidFill>
              <a:srgbClr val="E2E8F0"/>
            </a:solidFill>
            <a:prstDash val="solid"/>
          </a:ln>
        </p:spPr>
      </p:sp>
      <p:sp>
        <p:nvSpPr>
          <p:cNvPr id="14" name="Text 11"/>
          <p:cNvSpPr/>
          <p:nvPr/>
        </p:nvSpPr>
        <p:spPr>
          <a:xfrm>
            <a:off x="6172200" y="1540523"/>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Site-Where</a:t>
            </a:r>
            <a:endParaRPr lang="en-US" sz="850" dirty="0"/>
          </a:p>
        </p:txBody>
      </p:sp>
      <p:sp>
        <p:nvSpPr>
          <p:cNvPr id="15" name="Text 12"/>
          <p:cNvSpPr/>
          <p:nvPr/>
        </p:nvSpPr>
        <p:spPr>
          <a:xfrm>
            <a:off x="7452360" y="1540523"/>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15</a:t>
            </a:r>
            <a:endParaRPr lang="en-US" sz="850" dirty="0"/>
          </a:p>
        </p:txBody>
      </p:sp>
      <p:sp>
        <p:nvSpPr>
          <p:cNvPr id="16" name="Text 13"/>
          <p:cNvSpPr/>
          <p:nvPr/>
        </p:nvSpPr>
        <p:spPr>
          <a:xfrm>
            <a:off x="7909560" y="1540523"/>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74k</a:t>
            </a:r>
            <a:endParaRPr lang="en-US" sz="850" dirty="0"/>
          </a:p>
        </p:txBody>
      </p:sp>
      <p:sp>
        <p:nvSpPr>
          <p:cNvPr id="17" name="Shape 14"/>
          <p:cNvSpPr/>
          <p:nvPr/>
        </p:nvSpPr>
        <p:spPr>
          <a:xfrm>
            <a:off x="6080760" y="1759979"/>
            <a:ext cx="2743200" cy="192024"/>
          </a:xfrm>
          <a:prstGeom prst="rect">
            <a:avLst/>
          </a:prstGeom>
          <a:solidFill>
            <a:srgbClr val="F8FAFC"/>
          </a:solidFill>
          <a:ln w="6350">
            <a:solidFill>
              <a:srgbClr val="E2E8F0"/>
            </a:solidFill>
            <a:prstDash val="solid"/>
          </a:ln>
        </p:spPr>
      </p:sp>
      <p:sp>
        <p:nvSpPr>
          <p:cNvPr id="18" name="Text 15"/>
          <p:cNvSpPr/>
          <p:nvPr/>
        </p:nvSpPr>
        <p:spPr>
          <a:xfrm>
            <a:off x="6172200" y="1759979"/>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Train-Ticket</a:t>
            </a:r>
            <a:endParaRPr lang="en-US" sz="850" dirty="0"/>
          </a:p>
        </p:txBody>
      </p:sp>
      <p:sp>
        <p:nvSpPr>
          <p:cNvPr id="19" name="Text 16"/>
          <p:cNvSpPr/>
          <p:nvPr/>
        </p:nvSpPr>
        <p:spPr>
          <a:xfrm>
            <a:off x="7452360" y="1759979"/>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41</a:t>
            </a:r>
            <a:endParaRPr lang="en-US" sz="850" dirty="0"/>
          </a:p>
        </p:txBody>
      </p:sp>
      <p:sp>
        <p:nvSpPr>
          <p:cNvPr id="20" name="Text 17"/>
          <p:cNvSpPr/>
          <p:nvPr/>
        </p:nvSpPr>
        <p:spPr>
          <a:xfrm>
            <a:off x="7909560" y="1759979"/>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36k</a:t>
            </a:r>
            <a:endParaRPr lang="en-US" sz="850" dirty="0"/>
          </a:p>
        </p:txBody>
      </p:sp>
      <p:sp>
        <p:nvSpPr>
          <p:cNvPr id="21" name="Shape 18"/>
          <p:cNvSpPr/>
          <p:nvPr/>
        </p:nvSpPr>
        <p:spPr>
          <a:xfrm>
            <a:off x="6080760" y="1979435"/>
            <a:ext cx="2743200" cy="192024"/>
          </a:xfrm>
          <a:prstGeom prst="rect">
            <a:avLst/>
          </a:prstGeom>
          <a:solidFill>
            <a:srgbClr val="F8FAFC"/>
          </a:solidFill>
          <a:ln w="6350">
            <a:solidFill>
              <a:srgbClr val="E2E8F0"/>
            </a:solidFill>
            <a:prstDash val="solid"/>
          </a:ln>
        </p:spPr>
      </p:sp>
      <p:sp>
        <p:nvSpPr>
          <p:cNvPr id="22" name="Text 19"/>
          <p:cNvSpPr/>
          <p:nvPr/>
        </p:nvSpPr>
        <p:spPr>
          <a:xfrm>
            <a:off x="6172200" y="1979435"/>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NetworkDisk</a:t>
            </a:r>
            <a:endParaRPr lang="en-US" sz="850" dirty="0"/>
          </a:p>
        </p:txBody>
      </p:sp>
      <p:sp>
        <p:nvSpPr>
          <p:cNvPr id="23" name="Text 20"/>
          <p:cNvSpPr/>
          <p:nvPr/>
        </p:nvSpPr>
        <p:spPr>
          <a:xfrm>
            <a:off x="7452360" y="1979435"/>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10</a:t>
            </a:r>
            <a:endParaRPr lang="en-US" sz="850" dirty="0"/>
          </a:p>
        </p:txBody>
      </p:sp>
      <p:sp>
        <p:nvSpPr>
          <p:cNvPr id="24" name="Text 21"/>
          <p:cNvSpPr/>
          <p:nvPr/>
        </p:nvSpPr>
        <p:spPr>
          <a:xfrm>
            <a:off x="7909560" y="1979435"/>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7k</a:t>
            </a:r>
            <a:endParaRPr lang="en-US" sz="850" dirty="0"/>
          </a:p>
        </p:txBody>
      </p:sp>
      <p:sp>
        <p:nvSpPr>
          <p:cNvPr id="25" name="Shape 22"/>
          <p:cNvSpPr/>
          <p:nvPr/>
        </p:nvSpPr>
        <p:spPr>
          <a:xfrm>
            <a:off x="6080760" y="2198891"/>
            <a:ext cx="2743200" cy="192024"/>
          </a:xfrm>
          <a:prstGeom prst="rect">
            <a:avLst/>
          </a:prstGeom>
          <a:solidFill>
            <a:srgbClr val="F8FAFC"/>
          </a:solidFill>
          <a:ln w="6350">
            <a:solidFill>
              <a:srgbClr val="E2E8F0"/>
            </a:solidFill>
            <a:prstDash val="solid"/>
          </a:ln>
        </p:spPr>
      </p:sp>
      <p:sp>
        <p:nvSpPr>
          <p:cNvPr id="26" name="Text 23"/>
          <p:cNvSpPr/>
          <p:nvPr/>
        </p:nvSpPr>
        <p:spPr>
          <a:xfrm>
            <a:off x="6172200" y="2198891"/>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recruit</a:t>
            </a:r>
            <a:endParaRPr lang="en-US" sz="850" dirty="0"/>
          </a:p>
        </p:txBody>
      </p:sp>
      <p:sp>
        <p:nvSpPr>
          <p:cNvPr id="27" name="Text 24"/>
          <p:cNvSpPr/>
          <p:nvPr/>
        </p:nvSpPr>
        <p:spPr>
          <a:xfrm>
            <a:off x="7452360" y="2198891"/>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28" name="Text 25"/>
          <p:cNvSpPr/>
          <p:nvPr/>
        </p:nvSpPr>
        <p:spPr>
          <a:xfrm>
            <a:off x="7909560" y="2198891"/>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8k</a:t>
            </a:r>
            <a:endParaRPr lang="en-US" sz="850" dirty="0"/>
          </a:p>
        </p:txBody>
      </p:sp>
      <p:sp>
        <p:nvSpPr>
          <p:cNvPr id="29" name="Shape 26"/>
          <p:cNvSpPr/>
          <p:nvPr/>
        </p:nvSpPr>
        <p:spPr>
          <a:xfrm>
            <a:off x="6080760" y="2418347"/>
            <a:ext cx="2743200" cy="192024"/>
          </a:xfrm>
          <a:prstGeom prst="rect">
            <a:avLst/>
          </a:prstGeom>
          <a:solidFill>
            <a:srgbClr val="F8FAFC"/>
          </a:solidFill>
          <a:ln w="6350">
            <a:solidFill>
              <a:srgbClr val="E2E8F0"/>
            </a:solidFill>
            <a:prstDash val="solid"/>
          </a:ln>
        </p:spPr>
      </p:sp>
      <p:sp>
        <p:nvSpPr>
          <p:cNvPr id="30" name="Text 27"/>
          <p:cNvSpPr/>
          <p:nvPr/>
        </p:nvSpPr>
        <p:spPr>
          <a:xfrm>
            <a:off x="6172200" y="2418347"/>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ftgo</a:t>
            </a:r>
            <a:endParaRPr lang="en-US" sz="850" dirty="0"/>
          </a:p>
        </p:txBody>
      </p:sp>
      <p:sp>
        <p:nvSpPr>
          <p:cNvPr id="31" name="Text 28"/>
          <p:cNvSpPr/>
          <p:nvPr/>
        </p:nvSpPr>
        <p:spPr>
          <a:xfrm>
            <a:off x="7452360" y="2418347"/>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2" name="Text 29"/>
          <p:cNvSpPr/>
          <p:nvPr/>
        </p:nvSpPr>
        <p:spPr>
          <a:xfrm>
            <a:off x="7909560" y="2418347"/>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11k</a:t>
            </a:r>
            <a:endParaRPr lang="en-US" sz="850" dirty="0"/>
          </a:p>
        </p:txBody>
      </p:sp>
      <p:sp>
        <p:nvSpPr>
          <p:cNvPr id="33" name="Shape 30"/>
          <p:cNvSpPr/>
          <p:nvPr/>
        </p:nvSpPr>
        <p:spPr>
          <a:xfrm>
            <a:off x="6080760" y="2637803"/>
            <a:ext cx="2743200" cy="192024"/>
          </a:xfrm>
          <a:prstGeom prst="rect">
            <a:avLst/>
          </a:prstGeom>
          <a:solidFill>
            <a:srgbClr val="F8FAFC"/>
          </a:solidFill>
          <a:ln w="6350">
            <a:solidFill>
              <a:srgbClr val="E2E8F0"/>
            </a:solidFill>
            <a:prstDash val="solid"/>
          </a:ln>
        </p:spPr>
      </p:sp>
      <p:sp>
        <p:nvSpPr>
          <p:cNvPr id="34" name="Text 31"/>
          <p:cNvSpPr/>
          <p:nvPr/>
        </p:nvSpPr>
        <p:spPr>
          <a:xfrm>
            <a:off x="6172200" y="2637803"/>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mall-swarm</a:t>
            </a:r>
            <a:endParaRPr lang="en-US" sz="850" dirty="0"/>
          </a:p>
        </p:txBody>
      </p:sp>
      <p:sp>
        <p:nvSpPr>
          <p:cNvPr id="35" name="Text 32"/>
          <p:cNvSpPr/>
          <p:nvPr/>
        </p:nvSpPr>
        <p:spPr>
          <a:xfrm>
            <a:off x="7452360" y="2637803"/>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6" name="Text 33"/>
          <p:cNvSpPr/>
          <p:nvPr/>
        </p:nvSpPr>
        <p:spPr>
          <a:xfrm>
            <a:off x="7909560" y="2637803"/>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86k</a:t>
            </a:r>
            <a:endParaRPr lang="en-US" sz="850" dirty="0"/>
          </a:p>
        </p:txBody>
      </p:sp>
      <p:sp>
        <p:nvSpPr>
          <p:cNvPr id="37" name="Shape 34"/>
          <p:cNvSpPr/>
          <p:nvPr/>
        </p:nvSpPr>
        <p:spPr>
          <a:xfrm>
            <a:off x="6080760" y="2857259"/>
            <a:ext cx="2743200" cy="192024"/>
          </a:xfrm>
          <a:prstGeom prst="rect">
            <a:avLst/>
          </a:prstGeom>
          <a:solidFill>
            <a:srgbClr val="F8FAFC"/>
          </a:solidFill>
          <a:ln w="6350">
            <a:solidFill>
              <a:srgbClr val="E2E8F0"/>
            </a:solidFill>
            <a:prstDash val="solid"/>
          </a:ln>
        </p:spPr>
      </p:sp>
      <p:sp>
        <p:nvSpPr>
          <p:cNvPr id="38" name="Text 35"/>
          <p:cNvSpPr/>
          <p:nvPr/>
        </p:nvSpPr>
        <p:spPr>
          <a:xfrm>
            <a:off x="6172200" y="2857259"/>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RuoYi</a:t>
            </a:r>
            <a:endParaRPr lang="en-US" sz="850" dirty="0"/>
          </a:p>
        </p:txBody>
      </p:sp>
      <p:sp>
        <p:nvSpPr>
          <p:cNvPr id="39" name="Text 36"/>
          <p:cNvSpPr/>
          <p:nvPr/>
        </p:nvSpPr>
        <p:spPr>
          <a:xfrm>
            <a:off x="7452360" y="2857259"/>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0" name="Text 37"/>
          <p:cNvSpPr/>
          <p:nvPr/>
        </p:nvSpPr>
        <p:spPr>
          <a:xfrm>
            <a:off x="7909560" y="2857259"/>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27k</a:t>
            </a:r>
            <a:endParaRPr lang="en-US" sz="850" dirty="0"/>
          </a:p>
        </p:txBody>
      </p:sp>
      <p:sp>
        <p:nvSpPr>
          <p:cNvPr id="41" name="Shape 38"/>
          <p:cNvSpPr/>
          <p:nvPr/>
        </p:nvSpPr>
        <p:spPr>
          <a:xfrm>
            <a:off x="6080760" y="3076715"/>
            <a:ext cx="2743200" cy="192024"/>
          </a:xfrm>
          <a:prstGeom prst="rect">
            <a:avLst/>
          </a:prstGeom>
          <a:solidFill>
            <a:srgbClr val="F8FAFC"/>
          </a:solidFill>
          <a:ln w="6350">
            <a:solidFill>
              <a:srgbClr val="E2E8F0"/>
            </a:solidFill>
            <a:prstDash val="solid"/>
          </a:ln>
        </p:spPr>
      </p:sp>
      <p:sp>
        <p:nvSpPr>
          <p:cNvPr id="42" name="Text 39"/>
          <p:cNvSpPr/>
          <p:nvPr/>
        </p:nvSpPr>
        <p:spPr>
          <a:xfrm>
            <a:off x="6172200" y="3076715"/>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PiggyMetrics</a:t>
            </a:r>
            <a:endParaRPr lang="en-US" sz="850" dirty="0"/>
          </a:p>
        </p:txBody>
      </p:sp>
      <p:sp>
        <p:nvSpPr>
          <p:cNvPr id="43" name="Text 40"/>
          <p:cNvSpPr/>
          <p:nvPr/>
        </p:nvSpPr>
        <p:spPr>
          <a:xfrm>
            <a:off x="7452360" y="3076715"/>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4" name="Text 41"/>
          <p:cNvSpPr/>
          <p:nvPr/>
        </p:nvSpPr>
        <p:spPr>
          <a:xfrm>
            <a:off x="7909560" y="3076715"/>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4.5k</a:t>
            </a:r>
            <a:endParaRPr lang="en-US" sz="850" dirty="0"/>
          </a:p>
        </p:txBody>
      </p:sp>
      <p:sp>
        <p:nvSpPr>
          <p:cNvPr id="45" name="Shape 42"/>
          <p:cNvSpPr/>
          <p:nvPr/>
        </p:nvSpPr>
        <p:spPr>
          <a:xfrm>
            <a:off x="6080760" y="3296171"/>
            <a:ext cx="2743200" cy="192024"/>
          </a:xfrm>
          <a:prstGeom prst="rect">
            <a:avLst/>
          </a:prstGeom>
          <a:solidFill>
            <a:srgbClr val="F8FAFC"/>
          </a:solidFill>
          <a:ln w="6350">
            <a:solidFill>
              <a:srgbClr val="E2E8F0"/>
            </a:solidFill>
            <a:prstDash val="solid"/>
          </a:ln>
        </p:spPr>
      </p:sp>
      <p:sp>
        <p:nvSpPr>
          <p:cNvPr id="46" name="Text 43"/>
          <p:cNvSpPr/>
          <p:nvPr/>
        </p:nvSpPr>
        <p:spPr>
          <a:xfrm>
            <a:off x="6172200" y="3296171"/>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piomin</a:t>
            </a:r>
            <a:endParaRPr lang="en-US" sz="850" dirty="0"/>
          </a:p>
        </p:txBody>
      </p:sp>
      <p:sp>
        <p:nvSpPr>
          <p:cNvPr id="47" name="Text 44"/>
          <p:cNvSpPr/>
          <p:nvPr/>
        </p:nvSpPr>
        <p:spPr>
          <a:xfrm>
            <a:off x="7452360" y="3296171"/>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6</a:t>
            </a:r>
            <a:endParaRPr lang="en-US" sz="850" dirty="0"/>
          </a:p>
        </p:txBody>
      </p:sp>
      <p:sp>
        <p:nvSpPr>
          <p:cNvPr id="48" name="Text 45"/>
          <p:cNvSpPr/>
          <p:nvPr/>
        </p:nvSpPr>
        <p:spPr>
          <a:xfrm>
            <a:off x="7909560" y="3296171"/>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1.3k</a:t>
            </a:r>
            <a:endParaRPr lang="en-US" sz="850" dirty="0"/>
          </a:p>
        </p:txBody>
      </p:sp>
      <p:sp>
        <p:nvSpPr>
          <p:cNvPr id="49" name="Shape 46"/>
          <p:cNvSpPr/>
          <p:nvPr/>
        </p:nvSpPr>
        <p:spPr>
          <a:xfrm>
            <a:off x="6080760" y="3515627"/>
            <a:ext cx="2743200" cy="192024"/>
          </a:xfrm>
          <a:prstGeom prst="rect">
            <a:avLst/>
          </a:prstGeom>
          <a:solidFill>
            <a:srgbClr val="0F2A44"/>
          </a:solidFill>
          <a:ln w="6350">
            <a:solidFill>
              <a:srgbClr val="E2E8F0"/>
            </a:solidFill>
            <a:prstDash val="solid"/>
          </a:ln>
        </p:spPr>
      </p:sp>
      <p:sp>
        <p:nvSpPr>
          <p:cNvPr id="50" name="Text 47"/>
          <p:cNvSpPr/>
          <p:nvPr/>
        </p:nvSpPr>
        <p:spPr>
          <a:xfrm>
            <a:off x="6172200" y="3515627"/>
            <a:ext cx="1280160" cy="192024"/>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Total</a:t>
            </a:r>
            <a:endParaRPr lang="en-US" sz="850" dirty="0"/>
          </a:p>
        </p:txBody>
      </p:sp>
      <p:sp>
        <p:nvSpPr>
          <p:cNvPr id="51" name="Text 48"/>
          <p:cNvSpPr/>
          <p:nvPr/>
        </p:nvSpPr>
        <p:spPr>
          <a:xfrm>
            <a:off x="7452360" y="3515627"/>
            <a:ext cx="457200" cy="19202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130</a:t>
            </a:r>
            <a:endParaRPr lang="en-US" sz="850" dirty="0"/>
          </a:p>
        </p:txBody>
      </p:sp>
      <p:sp>
        <p:nvSpPr>
          <p:cNvPr id="52" name="Text 49"/>
          <p:cNvSpPr/>
          <p:nvPr/>
        </p:nvSpPr>
        <p:spPr>
          <a:xfrm>
            <a:off x="7909560" y="3515627"/>
            <a:ext cx="868680" cy="192024"/>
          </a:xfrm>
          <a:prstGeom prst="rect">
            <a:avLst/>
          </a:prstGeom>
          <a:noFill/>
          <a:ln/>
        </p:spPr>
        <p:txBody>
          <a:bodyPr wrap="square" lIns="0" tIns="0" rIns="0" bIns="0" rtlCol="0" anchor="ctr"/>
          <a:lstStyle/>
          <a:p>
            <a:pPr marL="0" indent="0" algn="r">
              <a:buNone/>
            </a:pPr>
            <a:r>
              <a:rPr lang="en-US" sz="850" b="1" dirty="0">
                <a:solidFill>
                  <a:srgbClr val="FFFFFF"/>
                </a:solidFill>
                <a:latin typeface="Calibri" pitchFamily="34" charset="0"/>
                <a:ea typeface="Calibri" pitchFamily="34" charset="-122"/>
                <a:cs typeface="Calibri" pitchFamily="34" charset="-120"/>
              </a:rPr>
              <a:t>274k</a:t>
            </a:r>
            <a:endParaRPr lang="en-US" sz="850" dirty="0"/>
          </a:p>
        </p:txBody>
      </p:sp>
      <p:sp>
        <p:nvSpPr>
          <p:cNvPr id="53" name="Shape 50"/>
          <p:cNvSpPr/>
          <p:nvPr/>
        </p:nvSpPr>
        <p:spPr>
          <a:xfrm>
            <a:off x="365760" y="3749040"/>
            <a:ext cx="8412480" cy="914400"/>
          </a:xfrm>
          <a:prstGeom prst="rect">
            <a:avLst/>
          </a:prstGeom>
          <a:solidFill>
            <a:srgbClr val="F8FAFC"/>
          </a:solidFill>
          <a:ln w="6350">
            <a:solidFill>
              <a:srgbClr val="E2E8F0"/>
            </a:solidFill>
            <a:prstDash val="solid"/>
          </a:ln>
        </p:spPr>
      </p:sp>
      <p:sp>
        <p:nvSpPr>
          <p:cNvPr id="54" name="Shape 51"/>
          <p:cNvSpPr/>
          <p:nvPr/>
        </p:nvSpPr>
        <p:spPr>
          <a:xfrm>
            <a:off x="365760" y="3749040"/>
            <a:ext cx="54864" cy="914400"/>
          </a:xfrm>
          <a:prstGeom prst="rect">
            <a:avLst/>
          </a:prstGeom>
          <a:solidFill>
            <a:srgbClr val="0D9488"/>
          </a:solidFill>
          <a:ln w="12700">
            <a:solidFill>
              <a:srgbClr val="0D9488"/>
            </a:solidFill>
            <a:prstDash val="solid"/>
          </a:ln>
        </p:spPr>
      </p:sp>
      <p:sp>
        <p:nvSpPr>
          <p:cNvPr id="55" name="Text 52"/>
          <p:cNvSpPr/>
          <p:nvPr/>
        </p:nvSpPr>
        <p:spPr>
          <a:xfrm>
            <a:off x="594360" y="379476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Findings</a:t>
            </a:r>
            <a:endParaRPr lang="en-US" sz="1200" dirty="0"/>
          </a:p>
        </p:txBody>
      </p:sp>
      <p:sp>
        <p:nvSpPr>
          <p:cNvPr id="56" name="Text 53"/>
          <p:cNvSpPr/>
          <p:nvPr/>
        </p:nvSpPr>
        <p:spPr>
          <a:xfrm>
            <a:off x="731520" y="4069080"/>
            <a:ext cx="7955280" cy="59436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98 anti-pattern instances across 9 types</a:t>
            </a:r>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API Versioning Absence (37), Nano Service (23) and Hardcoded Endpoints (15) dominate</a:t>
            </a:r>
            <a:endParaRPr lang="en-US" sz="1100" dirty="0"/>
          </a:p>
        </p:txBody>
      </p:sp>
      <p:sp>
        <p:nvSpPr>
          <p:cNvPr id="57" name="Text 54"/>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58" name="Text 55"/>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777240"/>
            <a:ext cx="7772400" cy="82296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Live demo</a:t>
            </a:r>
            <a:endParaRPr lang="en-US" sz="5400" dirty="0"/>
          </a:p>
        </p:txBody>
      </p:sp>
      <p:sp>
        <p:nvSpPr>
          <p:cNvPr id="4" name="Text 2"/>
          <p:cNvSpPr/>
          <p:nvPr/>
        </p:nvSpPr>
        <p:spPr>
          <a:xfrm>
            <a:off x="731520" y="1691640"/>
            <a:ext cx="7772400" cy="411480"/>
          </a:xfrm>
          <a:prstGeom prst="rect">
            <a:avLst/>
          </a:prstGeom>
          <a:noFill/>
          <a:ln/>
        </p:spPr>
        <p:txBody>
          <a:bodyPr wrap="square" lIns="0" tIns="0" rIns="0" bIns="0" rtlCol="0" anchor="ctr"/>
          <a:lstStyle/>
          <a:p>
            <a:pPr marL="0" indent="0">
              <a:buNone/>
            </a:pPr>
            <a:r>
              <a:rPr lang="en-US" sz="18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800" dirty="0"/>
          </a:p>
        </p:txBody>
      </p:sp>
      <p:sp>
        <p:nvSpPr>
          <p:cNvPr id="5" name="Shape 3"/>
          <p:cNvSpPr/>
          <p:nvPr/>
        </p:nvSpPr>
        <p:spPr>
          <a:xfrm>
            <a:off x="731520" y="2460819"/>
            <a:ext cx="5361272" cy="2156901"/>
          </a:xfrm>
          <a:prstGeom prst="rect">
            <a:avLst/>
          </a:prstGeom>
          <a:solidFill>
            <a:srgbClr val="1C4E80"/>
          </a:solidFill>
          <a:ln w="12700">
            <a:solidFill>
              <a:srgbClr val="1C4E80"/>
            </a:solidFill>
            <a:prstDash val="solid"/>
          </a:ln>
        </p:spPr>
      </p:sp>
      <p:sp>
        <p:nvSpPr>
          <p:cNvPr id="6" name="Shape 4"/>
          <p:cNvSpPr/>
          <p:nvPr/>
        </p:nvSpPr>
        <p:spPr>
          <a:xfrm>
            <a:off x="914400" y="2595813"/>
            <a:ext cx="384048" cy="384048"/>
          </a:xfrm>
          <a:prstGeom prst="ellipse">
            <a:avLst/>
          </a:prstGeom>
          <a:solidFill>
            <a:srgbClr val="0D9488"/>
          </a:solidFill>
          <a:ln w="12700">
            <a:solidFill>
              <a:srgbClr val="0D9488"/>
            </a:solidFill>
            <a:prstDash val="solid"/>
          </a:ln>
        </p:spPr>
      </p:sp>
      <p:sp>
        <p:nvSpPr>
          <p:cNvPr id="7" name="Text 5"/>
          <p:cNvSpPr/>
          <p:nvPr/>
        </p:nvSpPr>
        <p:spPr>
          <a:xfrm>
            <a:off x="914400" y="2595813"/>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463040" y="2568381"/>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9" name="Text 7"/>
          <p:cNvSpPr/>
          <p:nvPr/>
        </p:nvSpPr>
        <p:spPr>
          <a:xfrm>
            <a:off x="1463040" y="2806125"/>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10" name="Shape 8"/>
          <p:cNvSpPr/>
          <p:nvPr/>
        </p:nvSpPr>
        <p:spPr>
          <a:xfrm>
            <a:off x="914400" y="3098733"/>
            <a:ext cx="384048" cy="384048"/>
          </a:xfrm>
          <a:prstGeom prst="ellipse">
            <a:avLst/>
          </a:prstGeom>
          <a:solidFill>
            <a:srgbClr val="0D9488"/>
          </a:solidFill>
          <a:ln w="12700">
            <a:solidFill>
              <a:srgbClr val="0D9488"/>
            </a:solidFill>
            <a:prstDash val="solid"/>
          </a:ln>
        </p:spPr>
      </p:sp>
      <p:sp>
        <p:nvSpPr>
          <p:cNvPr id="11" name="Text 9"/>
          <p:cNvSpPr/>
          <p:nvPr/>
        </p:nvSpPr>
        <p:spPr>
          <a:xfrm>
            <a:off x="914400" y="3098733"/>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463040" y="3071301"/>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3" name="Text 11"/>
          <p:cNvSpPr/>
          <p:nvPr/>
        </p:nvSpPr>
        <p:spPr>
          <a:xfrm>
            <a:off x="1463040" y="3309045"/>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4" name="Shape 12"/>
          <p:cNvSpPr/>
          <p:nvPr/>
        </p:nvSpPr>
        <p:spPr>
          <a:xfrm>
            <a:off x="914400" y="3601653"/>
            <a:ext cx="384048" cy="384048"/>
          </a:xfrm>
          <a:prstGeom prst="ellipse">
            <a:avLst/>
          </a:prstGeom>
          <a:solidFill>
            <a:srgbClr val="0D9488"/>
          </a:solidFill>
          <a:ln w="12700">
            <a:solidFill>
              <a:srgbClr val="0D9488"/>
            </a:solidFill>
            <a:prstDash val="solid"/>
          </a:ln>
        </p:spPr>
      </p:sp>
      <p:sp>
        <p:nvSpPr>
          <p:cNvPr id="15" name="Text 13"/>
          <p:cNvSpPr/>
          <p:nvPr/>
        </p:nvSpPr>
        <p:spPr>
          <a:xfrm>
            <a:off x="914400" y="3601653"/>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463040" y="3574221"/>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7" name="Text 15"/>
          <p:cNvSpPr/>
          <p:nvPr/>
        </p:nvSpPr>
        <p:spPr>
          <a:xfrm>
            <a:off x="1463040" y="3811965"/>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8" name="Shape 16"/>
          <p:cNvSpPr/>
          <p:nvPr/>
        </p:nvSpPr>
        <p:spPr>
          <a:xfrm>
            <a:off x="914400" y="4104573"/>
            <a:ext cx="384048" cy="384048"/>
          </a:xfrm>
          <a:prstGeom prst="ellipse">
            <a:avLst/>
          </a:prstGeom>
          <a:solidFill>
            <a:srgbClr val="0D9488"/>
          </a:solidFill>
          <a:ln w="12700">
            <a:solidFill>
              <a:srgbClr val="0D9488"/>
            </a:solidFill>
            <a:prstDash val="solid"/>
          </a:ln>
        </p:spPr>
      </p:sp>
      <p:sp>
        <p:nvSpPr>
          <p:cNvPr id="19" name="Text 17"/>
          <p:cNvSpPr/>
          <p:nvPr/>
        </p:nvSpPr>
        <p:spPr>
          <a:xfrm>
            <a:off x="914400" y="4104573"/>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463040" y="4077141"/>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21" name="Text 19"/>
          <p:cNvSpPr/>
          <p:nvPr/>
        </p:nvSpPr>
        <p:spPr>
          <a:xfrm>
            <a:off x="1463040" y="4314885"/>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22" name="Text 20"/>
          <p:cNvSpPr/>
          <p:nvPr/>
        </p:nvSpPr>
        <p:spPr>
          <a:xfrm>
            <a:off x="731520" y="4846320"/>
            <a:ext cx="5486400" cy="228600"/>
          </a:xfrm>
          <a:prstGeom prst="rect">
            <a:avLst/>
          </a:prstGeom>
          <a:noFill/>
          <a:ln/>
        </p:spPr>
        <p:txBody>
          <a:bodyPr wrap="square" rtlCol="0" anchor="ctr"/>
          <a:lstStyle/>
          <a:p>
            <a:pPr marL="0" indent="0">
              <a:buNone/>
            </a:pPr>
            <a:r>
              <a:rPr lang="en-US" sz="900" dirty="0">
                <a:solidFill>
                  <a:srgbClr val="DBEAFE"/>
                </a:solidFill>
                <a:latin typeface="Calibri" pitchFamily="34" charset="0"/>
                <a:ea typeface="Calibri" pitchFamily="34" charset="-122"/>
                <a:cs typeface="Calibri" pitchFamily="34" charset="-120"/>
              </a:rPr>
              <a:t>MSA Detector  •  Iacob Andrei  •  UBB FMI</a:t>
            </a:r>
            <a:endParaRPr lang="en-US" sz="900" dirty="0"/>
          </a:p>
        </p:txBody>
      </p:sp>
      <p:sp>
        <p:nvSpPr>
          <p:cNvPr id="23" name="Text 21"/>
          <p:cNvSpPr/>
          <p:nvPr/>
        </p:nvSpPr>
        <p:spPr>
          <a:xfrm>
            <a:off x="7680960" y="4846320"/>
            <a:ext cx="731520" cy="228600"/>
          </a:xfrm>
          <a:prstGeom prst="rect">
            <a:avLst/>
          </a:prstGeom>
          <a:noFill/>
          <a:ln/>
        </p:spPr>
        <p:txBody>
          <a:bodyPr wrap="square"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Limitations &amp; future work</a:t>
            </a:r>
            <a:endParaRPr lang="en-US" sz="2800" dirty="0"/>
          </a:p>
        </p:txBody>
      </p:sp>
      <p:sp>
        <p:nvSpPr>
          <p:cNvPr id="3" name="Shape 1"/>
          <p:cNvSpPr/>
          <p:nvPr/>
        </p:nvSpPr>
        <p:spPr>
          <a:xfrm>
            <a:off x="457200" y="914400"/>
            <a:ext cx="4023360" cy="3657600"/>
          </a:xfrm>
          <a:prstGeom prst="rect">
            <a:avLst/>
          </a:prstGeom>
          <a:solidFill>
            <a:srgbClr val="F8FAFC"/>
          </a:solidFill>
          <a:ln w="9525">
            <a:solidFill>
              <a:srgbClr val="E2E8F0"/>
            </a:solidFill>
            <a:prstDash val="solid"/>
          </a:ln>
        </p:spPr>
      </p:sp>
      <p:sp>
        <p:nvSpPr>
          <p:cNvPr id="4" name="Shape 2"/>
          <p:cNvSpPr/>
          <p:nvPr/>
        </p:nvSpPr>
        <p:spPr>
          <a:xfrm>
            <a:off x="457200" y="914400"/>
            <a:ext cx="54864" cy="3657600"/>
          </a:xfrm>
          <a:prstGeom prst="rect">
            <a:avLst/>
          </a:prstGeom>
          <a:solidFill>
            <a:srgbClr val="D97706"/>
          </a:solidFill>
          <a:ln w="12700">
            <a:solidFill>
              <a:srgbClr val="D97706"/>
            </a:solidFill>
            <a:prstDash val="solid"/>
          </a:ln>
        </p:spPr>
      </p:sp>
      <p:sp>
        <p:nvSpPr>
          <p:cNvPr id="5" name="Shape 3"/>
          <p:cNvSpPr/>
          <p:nvPr/>
        </p:nvSpPr>
        <p:spPr>
          <a:xfrm>
            <a:off x="640080" y="1051560"/>
            <a:ext cx="411480" cy="411480"/>
          </a:xfrm>
          <a:prstGeom prst="roundRect">
            <a:avLst>
              <a:gd name="adj" fmla="val 17778"/>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730606" y="1142086"/>
            <a:ext cx="230429" cy="230429"/>
          </a:xfrm>
          <a:prstGeom prst="rect">
            <a:avLst/>
          </a:prstGeom>
        </p:spPr>
      </p:pic>
      <p:sp>
        <p:nvSpPr>
          <p:cNvPr id="7" name="Text 4"/>
          <p:cNvSpPr/>
          <p:nvPr/>
        </p:nvSpPr>
        <p:spPr>
          <a:xfrm>
            <a:off x="114300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Limitations</a:t>
            </a:r>
            <a:endParaRPr lang="en-US" sz="1600" dirty="0"/>
          </a:p>
        </p:txBody>
      </p:sp>
      <p:sp>
        <p:nvSpPr>
          <p:cNvPr id="8" name="Text 5"/>
          <p:cNvSpPr/>
          <p:nvPr/>
        </p:nvSpPr>
        <p:spPr>
          <a:xfrm>
            <a:off x="73152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Java / Spring Boot only; polyglot systems not supported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Static analysis only; no runtime call frequency data</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Dynamic URLs (e.g. Spring Cloud Config) are not resolved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50" dirty="0"/>
          </a:p>
        </p:txBody>
      </p:sp>
      <p:sp>
        <p:nvSpPr>
          <p:cNvPr id="9" name="Shape 6"/>
          <p:cNvSpPr/>
          <p:nvPr/>
        </p:nvSpPr>
        <p:spPr>
          <a:xfrm>
            <a:off x="4663440" y="914400"/>
            <a:ext cx="4023360" cy="3657600"/>
          </a:xfrm>
          <a:prstGeom prst="rect">
            <a:avLst/>
          </a:prstGeom>
          <a:solidFill>
            <a:srgbClr val="F8FAFC"/>
          </a:solidFill>
          <a:ln w="9525">
            <a:solidFill>
              <a:srgbClr val="E2E8F0"/>
            </a:solidFill>
            <a:prstDash val="solid"/>
          </a:ln>
        </p:spPr>
      </p:sp>
      <p:sp>
        <p:nvSpPr>
          <p:cNvPr id="10" name="Shape 7"/>
          <p:cNvSpPr/>
          <p:nvPr/>
        </p:nvSpPr>
        <p:spPr>
          <a:xfrm>
            <a:off x="4663440" y="914400"/>
            <a:ext cx="54864" cy="3657600"/>
          </a:xfrm>
          <a:prstGeom prst="rect">
            <a:avLst/>
          </a:prstGeom>
          <a:solidFill>
            <a:srgbClr val="0D9488"/>
          </a:solidFill>
          <a:ln w="12700">
            <a:solidFill>
              <a:srgbClr val="0D9488"/>
            </a:solidFill>
            <a:prstDash val="solid"/>
          </a:ln>
        </p:spPr>
      </p:sp>
      <p:sp>
        <p:nvSpPr>
          <p:cNvPr id="11" name="Shape 8"/>
          <p:cNvSpPr/>
          <p:nvPr/>
        </p:nvSpPr>
        <p:spPr>
          <a:xfrm>
            <a:off x="4846320" y="1051560"/>
            <a:ext cx="411480" cy="411480"/>
          </a:xfrm>
          <a:prstGeom prst="roundRect">
            <a:avLst>
              <a:gd name="adj" fmla="val 17778"/>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12" name="Image 1" descr="preencoded.png"/>
          <p:cNvPicPr>
            <a:picLocks noChangeAspect="1"/>
          </p:cNvPicPr>
          <p:nvPr/>
        </p:nvPicPr>
        <p:blipFill>
          <a:blip r:embed="rId4"/>
          <a:stretch>
            <a:fillRect/>
          </a:stretch>
        </p:blipFill>
        <p:spPr>
          <a:xfrm>
            <a:off x="4936846" y="1142086"/>
            <a:ext cx="230429" cy="230429"/>
          </a:xfrm>
          <a:prstGeom prst="rect">
            <a:avLst/>
          </a:prstGeom>
        </p:spPr>
      </p:pic>
      <p:sp>
        <p:nvSpPr>
          <p:cNvPr id="13" name="Text 9"/>
          <p:cNvSpPr/>
          <p:nvPr/>
        </p:nvSpPr>
        <p:spPr>
          <a:xfrm>
            <a:off x="534924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Future work</a:t>
            </a:r>
            <a:endParaRPr lang="en-US" sz="1600" dirty="0"/>
          </a:p>
        </p:txBody>
      </p:sp>
      <p:sp>
        <p:nvSpPr>
          <p:cNvPr id="14" name="Text 10"/>
          <p:cNvSpPr/>
          <p:nvPr/>
        </p:nvSpPr>
        <p:spPr>
          <a:xfrm>
            <a:off x="493776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50" dirty="0"/>
          </a:p>
        </p:txBody>
      </p:sp>
      <p:sp>
        <p:nvSpPr>
          <p:cNvPr id="15" name="Text 1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16" name="Text 1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914400"/>
            <a:ext cx="7772400" cy="73152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5" name="Shape 3"/>
          <p:cNvSpPr/>
          <p:nvPr/>
        </p:nvSpPr>
        <p:spPr>
          <a:xfrm>
            <a:off x="837398" y="2125980"/>
            <a:ext cx="6044665" cy="1783080"/>
          </a:xfrm>
          <a:prstGeom prst="rect">
            <a:avLst/>
          </a:prstGeom>
          <a:solidFill>
            <a:srgbClr val="1C4E80"/>
          </a:solidFill>
          <a:ln w="12700">
            <a:solidFill>
              <a:srgbClr val="1C4E80"/>
            </a:solidFill>
            <a:prstDash val="solid"/>
          </a:ln>
        </p:spPr>
      </p:sp>
      <p:sp>
        <p:nvSpPr>
          <p:cNvPr id="6" name="Text 4"/>
          <p:cNvSpPr/>
          <p:nvPr/>
        </p:nvSpPr>
        <p:spPr>
          <a:xfrm>
            <a:off x="1020278" y="2217420"/>
            <a:ext cx="5496025" cy="320040"/>
          </a:xfrm>
          <a:prstGeom prst="rect">
            <a:avLst/>
          </a:prstGeom>
          <a:noFill/>
          <a:ln/>
        </p:spPr>
        <p:txBody>
          <a:bodyPr wrap="square" lIns="0" tIns="0" rIns="0" bIns="0" rtlCol="0" anchor="ctr"/>
          <a:lstStyle/>
          <a:p>
            <a:pPr marL="0" indent="0">
              <a:buNone/>
            </a:pPr>
            <a:r>
              <a:rPr lang="en-US" sz="1400" b="1" dirty="0">
                <a:solidFill>
                  <a:srgbClr val="DBEAFE"/>
                </a:solidFill>
                <a:latin typeface="Calibri" pitchFamily="34" charset="0"/>
                <a:ea typeface="Calibri" pitchFamily="34" charset="-122"/>
                <a:cs typeface="Calibri" pitchFamily="34" charset="-120"/>
              </a:rPr>
              <a:t>Recap</a:t>
            </a:r>
            <a:endParaRPr lang="en-US" sz="1400" dirty="0"/>
          </a:p>
        </p:txBody>
      </p:sp>
      <p:sp>
        <p:nvSpPr>
          <p:cNvPr id="7" name="Text 5"/>
          <p:cNvSpPr/>
          <p:nvPr/>
        </p:nvSpPr>
        <p:spPr>
          <a:xfrm>
            <a:off x="1111718" y="2377440"/>
            <a:ext cx="7315200" cy="1371600"/>
          </a:xfrm>
          <a:prstGeom prst="rect">
            <a:avLst/>
          </a:prstGeom>
          <a:noFill/>
          <a:ln/>
        </p:spPr>
        <p:txBody>
          <a:bodyPr wrap="square" lIns="0" tIns="0" rIns="0" bIns="0" rtlCol="0" anchor="ctr"/>
          <a:lstStyle/>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Open-source web application, ready for CI/CD integration</a:t>
            </a:r>
            <a:endParaRPr lang="en-US" sz="1300" dirty="0"/>
          </a:p>
        </p:txBody>
      </p:sp>
      <p:sp>
        <p:nvSpPr>
          <p:cNvPr id="8" name="Text 6"/>
          <p:cNvSpPr/>
          <p:nvPr/>
        </p:nvSpPr>
        <p:spPr>
          <a:xfrm>
            <a:off x="731520" y="4572000"/>
            <a:ext cx="7772400" cy="274320"/>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Iacob Andrei  •  Supervisor: Prof. Dr. Simona Motogna  •  UBB FMI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TotalTime>
  <Words>4295</Words>
  <Application>Microsoft Office PowerPoint</Application>
  <PresentationFormat>On-screen Show (16:9)</PresentationFormat>
  <Paragraphs>274</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2</cp:revision>
  <dcterms:created xsi:type="dcterms:W3CDTF">2026-06-04T17:53:37Z</dcterms:created>
  <dcterms:modified xsi:type="dcterms:W3CDTF">2026-06-04T17:59:25Z</dcterms:modified>
</cp:coreProperties>
</file>