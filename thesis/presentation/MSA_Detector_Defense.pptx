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44"/>
                </a:solidFill>
                <a:latin typeface="Calibri"/>
              </a:defRPr>
            </a:pPr>
            <a:r>
              <a:rPr sz="1300" b="0" i="0" u="none" strike="noStrike">
                <a:solidFill>
                  <a:srgbClr val="0F2A44"/>
                </a:solidFill>
                <a:latin typeface="Calibri"/>
              </a:rPr>
              <a:t>Health scores by project (0–100)</a:t>
            </a:r>
          </a:p>
        </c:rich>
      </c:tx>
      <c:layout/>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txPr>
              <a:bodyPr/>
              <a:lstStyle/>
              <a:p>
                <a:pPr>
                  <a:defRPr b="0" i="0" strike="noStrike" sz="900" u="none">
                    <a:solidFill>
                      <a:srgbClr val="1E293B"/>
                    </a:solidFill>
                    <a:latin typeface="Arial"/>
                  </a:defRPr>
                </a:pPr>
              </a:p>
            </c:txPr>
            <c:showLegendKey val="0"/>
            <c:showVal val="1"/>
            <c:showCatName val="0"/>
            <c:showSerName val="0"/>
            <c:showPercent val="0"/>
            <c:showBubbleSize val="0"/>
            <c:showLeaderLines val="0"/>
          </c:dLbls>
          <c:cat>
            <c:multiLvlStrRef>
              <c:f>Sheet1!$A$2:$A$12</c:f>
              <c:multiLvlStrCache>
                <c:ptCount val="11"/>
                <c:lvl>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lvl>
              </c:multiLvlStrCache>
            </c:multiLvl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ser>
        <c:dLbls>
          <c:numFmt formatCode="#,##0" sourceLinked="0"/>
          <c:txPr>
            <a:bodyPr/>
            <a:lstStyle/>
            <a:p>
              <a:pPr>
                <a:defRPr b="0" i="0" strike="noStrike" sz="900" u="none">
                  <a:solidFill>
                    <a:srgbClr val="1E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'Good morning. My name is Andrei Iacob, and today I'll be defending my dissertation: MSA Detector — a tool for detecting architectural anti-patterns in Java-based microservice systems. My supervisor is Professor Simona Motogna.'
You can add: 'The core idea is straightforward — as organisations adopt microservices, they often unknowingly introduce structural problems that erode the very benefits they were after. This tool helps catch those problems early, from a source code checkout, before they become production incidents.'
Keep this short — about 30 seconds. Don't introduce content yet; that's the next slide.
Breathe, slow down. The committee already knows your name from the schedule, so this is just orientation.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here. This frames why the tool exists.
Talking points:
•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address important parts of the problem: Arcan detects architectural smells, MicroART visualises recovered architectures, MSANose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You can mention a concrete example: 'For instance, a shared database between two services looks harmless at first — both teams just point at the same Postgres instance. But over time, schema changes in one service silently break the other, and you've lost independent deployability — arguably the single biggest reason to use microservices in the first place.'
Pivot to next slide: 'So the goal of this work was a tool that bridges both levels and outputs actionable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here. Don't read the slide — talk to it.
What to actually say:
•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Bridge to next slide: 'To give you a clearer picture of how these pieces fit together, let me walk you through the analysis pipeline — from the moment a project is uploaded to the final report.'
Don't dwell on each one. They'll see the details later. This slide sets expectations for the rest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~2 minutes here. This is the spine of the talk — get the pipeline right and everything else follows.
Walk left to right:
•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RestTemplate.exchange calls, WebClient invocations — then resolves each target to a known service. The result is a directed weighted graph where edge weight represents the number of distinct call sites.'
Don't read the design-choices panel verbatim — mention one or two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~90–120 seconds. This is the slide that demonstrates the multi-level claim.
Talking points:
• 'I picked God Service as the example because it's the cleanest illustration of how code-level signals feed an architectural-level finding.'
• Walk through left side: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Right side: 'A class is flagged as a God Class when it exceeds at least three of the six metrics. Pure data holders such as entities and DTOs are excluded first, since they naturally have many fields and low cohesion without being an anti-pattern.'
• On TCC: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DesigniteJava fits: 'DesigniteJava runs per service for code smells, but its catalogue is abstraction and modularization smells rather than a literal God Class. So God Service detection is driven by the Spoon structural metrics, and DesigniteJava smell density feeds the code-quality category of the health score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 about 45 seconds. Don't read every detector aloud.
What to say:
•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 won't walk through each detector — they're in Chapter 3 of the thesis. I'll focus on the scoring mechanism next.'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
Worth saying aloud: 'The severity levels aren't arbitrary — they reflect how much damage the anti-pattern can cause. Cyclic Dependency and Distributed Monolith are critical because they undermine independent deployability entirely. Hardcoded Endpoints and API Versioning are medium because they're easier to fix and their impact is more localised.'
Don't get defensive about limitations. Acknowledging them is more impressive than glossing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Talking points:
•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
You can also add: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This slide makes the scoring reproducible.
Walk through it:
•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This demonstrates that the scoring is transparent and that the breakdown shows exactly what's wrong.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
If time allows, mention: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Talking points:
• 'I evaluated on eleven open-source Spring Boot projects, spanning from piomin at 1.3k LOC to mall-swarm at 86k LOC. 130 microservices, about 274k LOC total.'
• 'Health scores ranged from 40 to 83 — the scoring mechanism produces meaningful spread.'
• 'The dominant findings are configuration and sizing issues: 37 API versioning absences, 23 nano services, 15 hardcoded endpoints. Cyclic Dependency and Wrong Cuts were detected in microservice-recruit. Adding PiggyMetrics and piomin broadened ESB Misuse and Nano Service coverage.'
• '98 total anti-pattern instances across 9 distinct types. Only Distributed Monolith was not detected — plausible given these projects' topologies.'
You can add: 'The score range — 40 to 83 — shows that the metric has useful discriminating power. Projects known to be well-structured like MicroSocial score highest; projects known to have issues like Train-Ticket and microservice-recruit score lowest. If every project scored 70, the metric wouldn't be telling us much.'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~60 seconds. This is your honesty slide — committee will respect frankness here.
Talking points:
•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sp>
      <p:pic>
        <p:nvPicPr>
          <p:cNvPr id="4" name="Image 0" descr="preencoded.png">    </p:cNvPr>
          <p:cNvPicPr>
            <a:picLocks noChangeAspect="1"/>
          </p:cNvPicPr>
          <p:nvPr/>
        </p:nvPicPr>
        <p:blipFill>
          <a:blip r:embed="rId1"/>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algn="ctr" indent="0" marL="0">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indent="0" marL="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indent="0" marL="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indent="0" marL="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sp>
      <p:sp>
        <p:nvSpPr>
          <p:cNvPr id="9" name="Text 6"/>
          <p:cNvSpPr/>
          <p:nvPr/>
        </p:nvSpPr>
        <p:spPr>
          <a:xfrm>
            <a:off x="731520" y="3657600"/>
            <a:ext cx="5486400" cy="10058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indent="0" marL="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indent="0" marL="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indent="0" marL="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indent="0" marL="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sx="100000" sy="100000" kx="0" ky="0" algn="bl" rotWithShape="0" blurRad="76200" dist="25400" dir="8100000">
              <a:srgbClr val="000000">
                <a:alpha val="12000"/>
              </a:srgbClr>
            </a:outerShdw>
          </a:effectLst>
        </p:spPr>
      </p:sp>
      <p:pic>
        <p:nvPicPr>
          <p:cNvPr id="7" name="Image 0" descr="preencoded.png">    </p:cNvPr>
          <p:cNvPicPr>
            <a:picLocks noChangeAspect="1"/>
          </p:cNvPicPr>
          <p:nvPr/>
        </p:nvPicPr>
        <p:blipFill>
          <a:blip r:embed="rId1"/>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377440" cy="2651760"/>
          </a:xfrm>
          <a:prstGeom prst="rect">
            <a:avLst/>
          </a:prstGeom>
          <a:solidFill>
            <a:srgbClr val="F8FAFC"/>
          </a:solidFill>
          <a:ln w="9525">
            <a:solidFill>
              <a:srgbClr val="E2E8F0"/>
            </a:solidFill>
            <a:prstDash val="solid"/>
          </a:ln>
        </p:spPr>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sx="100000" sy="100000" kx="0" ky="0" algn="bl" rotWithShape="0" blurRad="76200" dist="25400" dir="8100000">
              <a:srgbClr val="000000">
                <a:alpha val="12000"/>
              </a:srgbClr>
            </a:outerShdw>
          </a:effectLst>
        </p:spPr>
      </p:sp>
      <p:pic>
        <p:nvPicPr>
          <p:cNvPr id="13" name="Image 1" descr="preencoded.png">    </p:cNvPr>
          <p:cNvPicPr>
            <a:picLocks noChangeAspect="1"/>
          </p:cNvPicPr>
          <p:nvPr/>
        </p:nvPicPr>
        <p:blipFill>
          <a:blip r:embed="rId2"/>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sx="100000" sy="100000" kx="0" ky="0" algn="bl" rotWithShape="0" blurRad="76200" dist="25400" dir="8100000">
              <a:srgbClr val="000000">
                <a:alpha val="12000"/>
              </a:srgbClr>
            </a:outerShdw>
          </a:effectLst>
        </p:spPr>
      </p:sp>
      <p:pic>
        <p:nvPicPr>
          <p:cNvPr id="19" name="Image 2" descr="preencoded.png">    </p:cNvPr>
          <p:cNvPicPr>
            <a:picLocks noChangeAspect="1"/>
          </p:cNvPicPr>
          <p:nvPr/>
        </p:nvPicPr>
        <p:blipFill>
          <a:blip r:embed="rId3"/>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sp>
      <p:sp>
        <p:nvSpPr>
          <p:cNvPr id="23" name="Text 18"/>
          <p:cNvSpPr/>
          <p:nvPr/>
        </p:nvSpPr>
        <p:spPr>
          <a:xfrm>
            <a:off x="457200" y="4434840"/>
            <a:ext cx="822960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sx="100000" sy="100000" kx="0" ky="0" algn="bl" rotWithShape="0" blurRad="76200" dist="25400" dir="8100000">
              <a:srgbClr val="000000">
                <a:alpha val="12000"/>
              </a:srgbClr>
            </a:outerShdw>
          </a:effectLst>
        </p:spPr>
      </p:sp>
      <p:pic>
        <p:nvPicPr>
          <p:cNvPr id="4" name="Image 0" descr="preencoded.png">    </p:cNvPr>
          <p:cNvPicPr>
            <a:picLocks noChangeAspect="1"/>
          </p:cNvPicPr>
          <p:nvPr/>
        </p:nvPicPr>
        <p:blipFill>
          <a:blip r:embed="rId1"/>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sx="100000" sy="100000" kx="0" ky="0" algn="bl" rotWithShape="0" blurRad="76200" dist="25400" dir="8100000">
              <a:srgbClr val="000000">
                <a:alpha val="12000"/>
              </a:srgbClr>
            </a:outerShdw>
          </a:effectLst>
        </p:spPr>
      </p:sp>
      <p:pic>
        <p:nvPicPr>
          <p:cNvPr id="8" name="Image 1" descr="preencoded.png">    </p:cNvPr>
          <p:cNvPicPr>
            <a:picLocks noChangeAspect="1"/>
          </p:cNvPicPr>
          <p:nvPr/>
        </p:nvPicPr>
        <p:blipFill>
          <a:blip r:embed="rId2"/>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sx="100000" sy="100000" kx="0" ky="0" algn="bl" rotWithShape="0" blurRad="76200" dist="25400" dir="8100000">
              <a:srgbClr val="000000">
                <a:alpha val="12000"/>
              </a:srgbClr>
            </a:outerShdw>
          </a:effectLst>
        </p:spPr>
      </p:sp>
      <p:pic>
        <p:nvPicPr>
          <p:cNvPr id="12" name="Image 2" descr="preencoded.png">    </p:cNvPr>
          <p:cNvPicPr>
            <a:picLocks noChangeAspect="1"/>
          </p:cNvPicPr>
          <p:nvPr/>
        </p:nvPicPr>
        <p:blipFill>
          <a:blip r:embed="rId3"/>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sx="100000" sy="100000" kx="0" ky="0" algn="bl" rotWithShape="0" blurRad="76200" dist="25400" dir="8100000">
              <a:srgbClr val="000000">
                <a:alpha val="12000"/>
              </a:srgbClr>
            </a:outerShdw>
          </a:effectLst>
        </p:spPr>
      </p:sp>
      <p:pic>
        <p:nvPicPr>
          <p:cNvPr id="16" name="Image 3" descr="preencoded.png">    </p:cNvPr>
          <p:cNvPicPr>
            <a:picLocks noChangeAspect="1"/>
          </p:cNvPicPr>
          <p:nvPr/>
        </p:nvPicPr>
        <p:blipFill>
          <a:blip r:embed="rId4"/>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sx="100000" sy="100000" kx="0" ky="0" algn="bl" rotWithShape="0" blurRad="76200" dist="25400" dir="8100000">
              <a:srgbClr val="000000">
                <a:alpha val="12000"/>
              </a:srgbClr>
            </a:outerShdw>
          </a:effectLst>
        </p:spPr>
      </p:sp>
      <p:pic>
        <p:nvPicPr>
          <p:cNvPr id="20" name="Image 4" descr="preencoded.png">    </p:cNvPr>
          <p:cNvPicPr>
            <a:picLocks noChangeAspect="1"/>
          </p:cNvPicPr>
          <p:nvPr/>
        </p:nvPicPr>
        <p:blipFill>
          <a:blip r:embed="rId5"/>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sx="100000" sy="100000" kx="0" ky="0" algn="bl" rotWithShape="0" blurRad="76200" dist="25400" dir="8100000">
              <a:srgbClr val="000000">
                <a:alpha val="12000"/>
              </a:srgbClr>
            </a:outerShdw>
          </a:effectLst>
        </p:spPr>
      </p:sp>
      <p:pic>
        <p:nvPicPr>
          <p:cNvPr id="6" name="Image 0" descr="preencoded.png">    </p:cNvPr>
          <p:cNvPicPr>
            <a:picLocks noChangeAspect="1"/>
          </p:cNvPicPr>
          <p:nvPr/>
        </p:nvPicPr>
        <p:blipFill>
          <a:blip r:embed="rId1"/>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algn="ctr" indent="0" marL="0">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r>
          <p:cNvPicPr>
            <a:picLocks noChangeAspect="1"/>
          </p:cNvPicPr>
          <p:nvPr/>
        </p:nvPicPr>
        <p:blipFill>
          <a:blip r:embed="rId2"/>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sx="100000" sy="100000" kx="0" ky="0" algn="bl" rotWithShape="0" blurRad="76200" dist="25400" dir="8100000">
              <a:srgbClr val="000000">
                <a:alpha val="12000"/>
              </a:srgbClr>
            </a:outerShdw>
          </a:effectLst>
        </p:spPr>
      </p:sp>
      <p:pic>
        <p:nvPicPr>
          <p:cNvPr id="13" name="Image 2" descr="preencoded.png">    </p:cNvPr>
          <p:cNvPicPr>
            <a:picLocks noChangeAspect="1"/>
          </p:cNvPicPr>
          <p:nvPr/>
        </p:nvPicPr>
        <p:blipFill>
          <a:blip r:embed="rId3"/>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algn="ctr" indent="0" marL="0">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r>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sx="100000" sy="100000" kx="0" ky="0" algn="bl" rotWithShape="0" blurRad="76200" dist="25400" dir="8100000">
              <a:srgbClr val="000000">
                <a:alpha val="12000"/>
              </a:srgbClr>
            </a:outerShdw>
          </a:effectLst>
        </p:spPr>
      </p:sp>
      <p:pic>
        <p:nvPicPr>
          <p:cNvPr id="20" name="Image 4" descr="preencoded.png">    </p:cNvPr>
          <p:cNvPicPr>
            <a:picLocks noChangeAspect="1"/>
          </p:cNvPicPr>
          <p:nvPr/>
        </p:nvPicPr>
        <p:blipFill>
          <a:blip r:embed="rId5"/>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algn="ctr" indent="0" marL="0">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r>
          <p:cNvPicPr>
            <a:picLocks noChangeAspect="1"/>
          </p:cNvPicPr>
          <p:nvPr/>
        </p:nvPicPr>
        <p:blipFill>
          <a:blip r:embed="rId6"/>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sx="100000" sy="100000" kx="0" ky="0" algn="bl" rotWithShape="0" blurRad="76200" dist="25400" dir="8100000">
              <a:srgbClr val="000000">
                <a:alpha val="12000"/>
              </a:srgbClr>
            </a:outerShdw>
          </a:effectLst>
        </p:spPr>
      </p:sp>
      <p:pic>
        <p:nvPicPr>
          <p:cNvPr id="27" name="Image 6" descr="preencoded.png">    </p:cNvPr>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algn="ctr" indent="0" marL="0">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r>
          <p:cNvPicPr>
            <a:picLocks noChangeAspect="1"/>
          </p:cNvPicPr>
          <p:nvPr/>
        </p:nvPicPr>
        <p:blipFill>
          <a:blip r:embed="rId8"/>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sx="100000" sy="100000" kx="0" ky="0" algn="bl" rotWithShape="0" blurRad="76200" dist="25400" dir="8100000">
              <a:srgbClr val="000000">
                <a:alpha val="12000"/>
              </a:srgbClr>
            </a:outerShdw>
          </a:effectLst>
        </p:spPr>
      </p:sp>
      <p:pic>
        <p:nvPicPr>
          <p:cNvPr id="34" name="Image 8" descr="preencoded.png">    </p:cNvPr>
          <p:cNvPicPr>
            <a:picLocks noChangeAspect="1"/>
          </p:cNvPicPr>
          <p:nvPr/>
        </p:nvPicPr>
        <p:blipFill>
          <a:blip r:embed="rId9"/>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algn="ctr" indent="0" marL="0">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sp>
      <p:sp>
        <p:nvSpPr>
          <p:cNvPr id="39" name="Text 28"/>
          <p:cNvSpPr/>
          <p:nvPr/>
        </p:nvSpPr>
        <p:spPr>
          <a:xfrm>
            <a:off x="731520" y="3017520"/>
            <a:ext cx="7772400" cy="320040"/>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sp>
      <p:sp>
        <p:nvSpPr>
          <p:cNvPr id="6" name="Text 4"/>
          <p:cNvSpPr/>
          <p:nvPr/>
        </p:nvSpPr>
        <p:spPr>
          <a:xfrm>
            <a:off x="640080" y="1325880"/>
            <a:ext cx="3657600" cy="274320"/>
          </a:xfrm>
          <a:prstGeom prst="rect">
            <a:avLst/>
          </a:prstGeom>
          <a:noFill/>
          <a:ln/>
        </p:spPr>
        <p:txBody>
          <a:bodyPr wrap="square" lIns="0" tIns="0" rIns="0" bIns="0" rtlCol="0" anchor="ctr"/>
          <a:lstStyle/>
          <a:p>
            <a:pPr indent="0" marL="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Structural class metrics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sp>
      <p:sp>
        <p:nvSpPr>
          <p:cNvPr id="12" name="Text 10"/>
          <p:cNvSpPr/>
          <p:nvPr/>
        </p:nvSpPr>
        <p:spPr>
          <a:xfrm>
            <a:off x="640080" y="2743200"/>
            <a:ext cx="3657600" cy="274320"/>
          </a:xfrm>
          <a:prstGeom prst="rect">
            <a:avLst/>
          </a:prstGeom>
          <a:noFill/>
          <a:ln/>
        </p:spPr>
        <p:txBody>
          <a:bodyPr wrap="square" lIns="0" tIns="0" rIns="0" bIns="0" rtlCol="0" anchor="ctr"/>
          <a:lstStyle/>
          <a:p>
            <a:pPr indent="0" marL="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Six structural metrics</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Each non-data class is evaluated against six structural metrics computed from its AST:</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sp>
      <p:sp>
        <p:nvSpPr>
          <p:cNvPr id="19" name="Text 17"/>
          <p:cNvSpPr/>
          <p:nvPr/>
        </p:nvSpPr>
        <p:spPr>
          <a:xfrm>
            <a:off x="4663440" y="3794760"/>
            <a:ext cx="4023360" cy="502920"/>
          </a:xfrm>
          <a:prstGeom prst="rect">
            <a:avLst/>
          </a:prstGeom>
          <a:noFill/>
          <a:ln/>
        </p:spPr>
        <p:txBody>
          <a:bodyPr wrap="square" lIns="0" tIns="0" rIns="0" bIns="0" rtlCol="0" anchor="ctr"/>
          <a:lstStyle/>
          <a:p>
            <a:pPr algn="ctr" indent="0" marL="0">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algn="ctr" indent="0" marL="0">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sp>
      <p:sp>
        <p:nvSpPr>
          <p:cNvPr id="5" name="Text 3"/>
          <p:cNvSpPr/>
          <p:nvPr/>
        </p:nvSpPr>
        <p:spPr>
          <a:xfrm>
            <a:off x="548640" y="1005840"/>
            <a:ext cx="182880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sp>
      <p:sp>
        <p:nvSpPr>
          <p:cNvPr id="12" name="Text 10"/>
          <p:cNvSpPr/>
          <p:nvPr/>
        </p:nvSpPr>
        <p:spPr>
          <a:xfrm>
            <a:off x="2697480" y="1005840"/>
            <a:ext cx="182880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sp>
      <p:sp>
        <p:nvSpPr>
          <p:cNvPr id="23" name="Text 21"/>
          <p:cNvSpPr/>
          <p:nvPr/>
        </p:nvSpPr>
        <p:spPr>
          <a:xfrm>
            <a:off x="4846320" y="1005840"/>
            <a:ext cx="182880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sp>
      <p:sp>
        <p:nvSpPr>
          <p:cNvPr id="28" name="Text 26"/>
          <p:cNvSpPr/>
          <p:nvPr/>
        </p:nvSpPr>
        <p:spPr>
          <a:xfrm>
            <a:off x="6995160" y="1005840"/>
            <a:ext cx="182880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sp>
      <p:sp>
        <p:nvSpPr>
          <p:cNvPr id="36" name="Text 34"/>
          <p:cNvSpPr/>
          <p:nvPr/>
        </p:nvSpPr>
        <p:spPr>
          <a:xfrm>
            <a:off x="457200" y="4526280"/>
            <a:ext cx="8229600" cy="320040"/>
          </a:xfrm>
          <a:prstGeom prst="rect">
            <a:avLst/>
          </a:prstGeom>
          <a:noFill/>
          <a:ln/>
        </p:spPr>
        <p:txBody>
          <a:bodyPr wrap="square" lIns="0" tIns="0" rIns="0" bIns="0" rtlCol="0" anchor="ctr"/>
          <a:lstStyle/>
          <a:p>
            <a:pPr algn="ctr" indent="0" marL="0">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sp>
      <p:sp>
        <p:nvSpPr>
          <p:cNvPr id="5" name="Text 3"/>
          <p:cNvSpPr/>
          <p:nvPr/>
        </p:nvSpPr>
        <p:spPr>
          <a:xfrm>
            <a:off x="457200" y="1078992"/>
            <a:ext cx="2011680" cy="548640"/>
          </a:xfrm>
          <a:prstGeom prst="rect">
            <a:avLst/>
          </a:prstGeom>
          <a:noFill/>
          <a:ln/>
        </p:spPr>
        <p:txBody>
          <a:bodyPr wrap="square" lIns="0" tIns="0" rIns="0" bIns="0" rtlCol="0" anchor="ctr"/>
          <a:lstStyle/>
          <a:p>
            <a:pPr algn="ctr" indent="0" marL="0">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algn="ctr" indent="0" marL="0">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sp>
      <p:sp>
        <p:nvSpPr>
          <p:cNvPr id="10" name="Text 8"/>
          <p:cNvSpPr/>
          <p:nvPr/>
        </p:nvSpPr>
        <p:spPr>
          <a:xfrm>
            <a:off x="2606040" y="1078992"/>
            <a:ext cx="2011680" cy="548640"/>
          </a:xfrm>
          <a:prstGeom prst="rect">
            <a:avLst/>
          </a:prstGeom>
          <a:noFill/>
          <a:ln/>
        </p:spPr>
        <p:txBody>
          <a:bodyPr wrap="square" lIns="0" tIns="0" rIns="0" bIns="0" rtlCol="0" anchor="ctr"/>
          <a:lstStyle/>
          <a:p>
            <a:pPr algn="ctr" indent="0" marL="0">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algn="ctr" indent="0" marL="0">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sp>
      <p:sp>
        <p:nvSpPr>
          <p:cNvPr id="15" name="Text 13"/>
          <p:cNvSpPr/>
          <p:nvPr/>
        </p:nvSpPr>
        <p:spPr>
          <a:xfrm>
            <a:off x="4754880" y="1078992"/>
            <a:ext cx="2011680" cy="548640"/>
          </a:xfrm>
          <a:prstGeom prst="rect">
            <a:avLst/>
          </a:prstGeom>
          <a:noFill/>
          <a:ln/>
        </p:spPr>
        <p:txBody>
          <a:bodyPr wrap="square" lIns="0" tIns="0" rIns="0" bIns="0" rtlCol="0" anchor="ctr"/>
          <a:lstStyle/>
          <a:p>
            <a:pPr algn="ctr" indent="0" marL="0">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algn="ctr" indent="0" marL="0">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sp>
      <p:sp>
        <p:nvSpPr>
          <p:cNvPr id="20" name="Text 18"/>
          <p:cNvSpPr/>
          <p:nvPr/>
        </p:nvSpPr>
        <p:spPr>
          <a:xfrm>
            <a:off x="6903720" y="1078992"/>
            <a:ext cx="2011680" cy="548640"/>
          </a:xfrm>
          <a:prstGeom prst="rect">
            <a:avLst/>
          </a:prstGeom>
          <a:noFill/>
          <a:ln/>
        </p:spPr>
        <p:txBody>
          <a:bodyPr wrap="square" lIns="0" tIns="0" rIns="0" bIns="0" rtlCol="0" anchor="ctr"/>
          <a:lstStyle/>
          <a:p>
            <a:pPr algn="ctr" indent="0" marL="0">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algn="ctr" indent="0" marL="0">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sp>
      <p:sp>
        <p:nvSpPr>
          <p:cNvPr id="25" name="Text 23"/>
          <p:cNvSpPr/>
          <p:nvPr/>
        </p:nvSpPr>
        <p:spPr>
          <a:xfrm>
            <a:off x="457200" y="2944368"/>
            <a:ext cx="13716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sp>
      <p:sp>
        <p:nvSpPr>
          <p:cNvPr id="28" name="Text 26"/>
          <p:cNvSpPr/>
          <p:nvPr/>
        </p:nvSpPr>
        <p:spPr>
          <a:xfrm>
            <a:off x="2194560" y="2944368"/>
            <a:ext cx="13716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sp>
      <p:sp>
        <p:nvSpPr>
          <p:cNvPr id="31" name="Text 29"/>
          <p:cNvSpPr/>
          <p:nvPr/>
        </p:nvSpPr>
        <p:spPr>
          <a:xfrm>
            <a:off x="3931920" y="2944368"/>
            <a:ext cx="13716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sp>
      <p:sp>
        <p:nvSpPr>
          <p:cNvPr id="34" name="Text 32"/>
          <p:cNvSpPr/>
          <p:nvPr/>
        </p:nvSpPr>
        <p:spPr>
          <a:xfrm>
            <a:off x="5669280" y="2944368"/>
            <a:ext cx="13716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sp>
      <p:sp>
        <p:nvSpPr>
          <p:cNvPr id="37" name="Text 35"/>
          <p:cNvSpPr/>
          <p:nvPr/>
        </p:nvSpPr>
        <p:spPr>
          <a:xfrm>
            <a:off x="7406640" y="2944368"/>
            <a:ext cx="13716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sp>
      <p:sp>
        <p:nvSpPr>
          <p:cNvPr id="41" name="Text 39"/>
          <p:cNvSpPr/>
          <p:nvPr/>
        </p:nvSpPr>
        <p:spPr>
          <a:xfrm>
            <a:off x="685800" y="3977640"/>
            <a:ext cx="777240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Worked example: microservice-recruit (40 / F)</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078992"/>
            <a:ext cx="4114800" cy="283464"/>
          </a:xfrm>
          <a:prstGeom prst="rect">
            <a:avLst/>
          </a:prstGeom>
          <a:solidFill>
            <a:srgbClr val="F8FAFC"/>
          </a:solidFill>
          <a:ln w="6350">
            <a:solidFill>
              <a:srgbClr val="E2E8F0"/>
            </a:solidFill>
            <a:prstDash val="solid"/>
          </a:ln>
        </p:spPr>
      </p:sp>
      <p:sp>
        <p:nvSpPr>
          <p:cNvPr id="5" name="Text 3"/>
          <p:cNvSpPr/>
          <p:nvPr/>
        </p:nvSpPr>
        <p:spPr>
          <a:xfrm>
            <a:off x="502920" y="1078992"/>
            <a:ext cx="548640" cy="28346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6×</a:t>
            </a:r>
            <a:endParaRPr lang="en-US" sz="1200" dirty="0"/>
          </a:p>
        </p:txBody>
      </p:sp>
      <p:sp>
        <p:nvSpPr>
          <p:cNvPr id="6" name="Text 4"/>
          <p:cNvSpPr/>
          <p:nvPr/>
        </p:nvSpPr>
        <p:spPr>
          <a:xfrm>
            <a:off x="1097280" y="1078992"/>
            <a:ext cx="2103120" cy="283464"/>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00400" y="1078992"/>
            <a:ext cx="1325880" cy="283464"/>
          </a:xfrm>
          <a:prstGeom prst="rect">
            <a:avLst/>
          </a:prstGeom>
          <a:noFill/>
          <a:ln/>
        </p:spPr>
        <p:txBody>
          <a:bodyPr wrap="square" lIns="0" tIns="0" rIns="0" bIns="0" rtlCol="0" anchor="ctr"/>
          <a:lstStyle/>
          <a:p>
            <a:pPr algn="r" indent="0" marL="0">
              <a:buNone/>
            </a:pPr>
            <a:r>
              <a:rPr lang="en-US" sz="1000" i="1"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457200" y="1394460"/>
            <a:ext cx="4114800" cy="283464"/>
          </a:xfrm>
          <a:prstGeom prst="rect">
            <a:avLst/>
          </a:prstGeom>
          <a:solidFill>
            <a:srgbClr val="F8FAFC"/>
          </a:solidFill>
          <a:ln w="6350">
            <a:solidFill>
              <a:srgbClr val="E2E8F0"/>
            </a:solidFill>
            <a:prstDash val="solid"/>
          </a:ln>
        </p:spPr>
      </p:sp>
      <p:sp>
        <p:nvSpPr>
          <p:cNvPr id="9" name="Text 7"/>
          <p:cNvSpPr/>
          <p:nvPr/>
        </p:nvSpPr>
        <p:spPr>
          <a:xfrm>
            <a:off x="502920" y="1394460"/>
            <a:ext cx="548640" cy="28346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097280" y="1394460"/>
            <a:ext cx="2103120" cy="283464"/>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00400" y="1394460"/>
            <a:ext cx="1325880" cy="283464"/>
          </a:xfrm>
          <a:prstGeom prst="rect">
            <a:avLst/>
          </a:prstGeom>
          <a:noFill/>
          <a:ln/>
        </p:spPr>
        <p:txBody>
          <a:bodyPr wrap="square" lIns="0" tIns="0" rIns="0" bIns="0" rtlCol="0" anchor="ctr"/>
          <a:lstStyle/>
          <a:p>
            <a:pPr algn="r" indent="0" marL="0">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457200" y="1709928"/>
            <a:ext cx="4114800" cy="283464"/>
          </a:xfrm>
          <a:prstGeom prst="rect">
            <a:avLst/>
          </a:prstGeom>
          <a:solidFill>
            <a:srgbClr val="F8FAFC"/>
          </a:solidFill>
          <a:ln w="6350">
            <a:solidFill>
              <a:srgbClr val="E2E8F0"/>
            </a:solidFill>
            <a:prstDash val="solid"/>
          </a:ln>
        </p:spPr>
      </p:sp>
      <p:sp>
        <p:nvSpPr>
          <p:cNvPr id="13" name="Text 11"/>
          <p:cNvSpPr/>
          <p:nvPr/>
        </p:nvSpPr>
        <p:spPr>
          <a:xfrm>
            <a:off x="502920" y="1709928"/>
            <a:ext cx="548640" cy="28346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1097280" y="1709928"/>
            <a:ext cx="2103120" cy="283464"/>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00400" y="1709928"/>
            <a:ext cx="1325880" cy="283464"/>
          </a:xfrm>
          <a:prstGeom prst="rect">
            <a:avLst/>
          </a:prstGeom>
          <a:noFill/>
          <a:ln/>
        </p:spPr>
        <p:txBody>
          <a:bodyPr wrap="square" lIns="0" tIns="0" rIns="0" bIns="0" rtlCol="0" anchor="ctr"/>
          <a:lstStyle/>
          <a:p>
            <a:pPr algn="r" indent="0" marL="0">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457200" y="2025396"/>
            <a:ext cx="4114800" cy="283464"/>
          </a:xfrm>
          <a:prstGeom prst="rect">
            <a:avLst/>
          </a:prstGeom>
          <a:solidFill>
            <a:srgbClr val="F8FAFC"/>
          </a:solidFill>
          <a:ln w="6350">
            <a:solidFill>
              <a:srgbClr val="E2E8F0"/>
            </a:solidFill>
            <a:prstDash val="solid"/>
          </a:ln>
        </p:spPr>
      </p:sp>
      <p:sp>
        <p:nvSpPr>
          <p:cNvPr id="17" name="Text 15"/>
          <p:cNvSpPr/>
          <p:nvPr/>
        </p:nvSpPr>
        <p:spPr>
          <a:xfrm>
            <a:off x="502920" y="2025396"/>
            <a:ext cx="548640" cy="28346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18" name="Text 16"/>
          <p:cNvSpPr/>
          <p:nvPr/>
        </p:nvSpPr>
        <p:spPr>
          <a:xfrm>
            <a:off x="1097280" y="2025396"/>
            <a:ext cx="2103120" cy="283464"/>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00400" y="2025396"/>
            <a:ext cx="1325880" cy="283464"/>
          </a:xfrm>
          <a:prstGeom prst="rect">
            <a:avLst/>
          </a:prstGeom>
          <a:noFill/>
          <a:ln/>
        </p:spPr>
        <p:txBody>
          <a:bodyPr wrap="square" lIns="0" tIns="0" rIns="0" bIns="0" rtlCol="0" anchor="ctr"/>
          <a:lstStyle/>
          <a:p>
            <a:pPr algn="r" indent="0" marL="0">
              <a:buNone/>
            </a:pPr>
            <a:r>
              <a:rPr lang="en-US" sz="1000" i="1" dirty="0">
                <a:solidFill>
                  <a:srgbClr val="64748B"/>
                </a:solidFill>
                <a:latin typeface="Calibri" pitchFamily="34" charset="0"/>
                <a:ea typeface="Calibri" pitchFamily="34" charset="-122"/>
                <a:cs typeface="Calibri" pitchFamily="34" charset="-120"/>
              </a:rPr>
              <a:t>−8 = −8</a:t>
            </a:r>
            <a:endParaRPr lang="en-US" sz="1000" dirty="0"/>
          </a:p>
        </p:txBody>
      </p:sp>
      <p:sp>
        <p:nvSpPr>
          <p:cNvPr id="20" name="Shape 18"/>
          <p:cNvSpPr/>
          <p:nvPr/>
        </p:nvSpPr>
        <p:spPr>
          <a:xfrm>
            <a:off x="457200" y="2340864"/>
            <a:ext cx="4114800" cy="283464"/>
          </a:xfrm>
          <a:prstGeom prst="rect">
            <a:avLst/>
          </a:prstGeom>
          <a:solidFill>
            <a:srgbClr val="F8FAFC"/>
          </a:solidFill>
          <a:ln w="6350">
            <a:solidFill>
              <a:srgbClr val="E2E8F0"/>
            </a:solidFill>
            <a:prstDash val="solid"/>
          </a:ln>
        </p:spPr>
      </p:sp>
      <p:sp>
        <p:nvSpPr>
          <p:cNvPr id="21" name="Text 19"/>
          <p:cNvSpPr/>
          <p:nvPr/>
        </p:nvSpPr>
        <p:spPr>
          <a:xfrm>
            <a:off x="502920" y="2340864"/>
            <a:ext cx="548640" cy="28346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22" name="Text 20"/>
          <p:cNvSpPr/>
          <p:nvPr/>
        </p:nvSpPr>
        <p:spPr>
          <a:xfrm>
            <a:off x="1097280" y="2340864"/>
            <a:ext cx="2103120" cy="283464"/>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00400" y="2340864"/>
            <a:ext cx="1325880" cy="283464"/>
          </a:xfrm>
          <a:prstGeom prst="rect">
            <a:avLst/>
          </a:prstGeom>
          <a:noFill/>
          <a:ln/>
        </p:spPr>
        <p:txBody>
          <a:bodyPr wrap="square" lIns="0" tIns="0" rIns="0" bIns="0" rtlCol="0" anchor="ctr"/>
          <a:lstStyle/>
          <a:p>
            <a:pPr algn="r" indent="0" marL="0">
              <a:buNone/>
            </a:pPr>
            <a:r>
              <a:rPr lang="en-US" sz="1000" i="1" dirty="0">
                <a:solidFill>
                  <a:srgbClr val="64748B"/>
                </a:solidFill>
                <a:latin typeface="Calibri" pitchFamily="34" charset="0"/>
                <a:ea typeface="Calibri" pitchFamily="34" charset="-122"/>
                <a:cs typeface="Calibri" pitchFamily="34" charset="-120"/>
              </a:rPr>
              <a:t>−3 = −3</a:t>
            </a:r>
            <a:endParaRPr lang="en-US" sz="1000" dirty="0"/>
          </a:p>
        </p:txBody>
      </p:sp>
      <p:sp>
        <p:nvSpPr>
          <p:cNvPr id="24" name="Shape 22"/>
          <p:cNvSpPr/>
          <p:nvPr/>
        </p:nvSpPr>
        <p:spPr>
          <a:xfrm>
            <a:off x="457200" y="2697480"/>
            <a:ext cx="4114800" cy="411480"/>
          </a:xfrm>
          <a:prstGeom prst="rect">
            <a:avLst/>
          </a:prstGeom>
          <a:solidFill>
            <a:srgbClr val="0F2A44"/>
          </a:solidFill>
          <a:ln w="12700">
            <a:solidFill>
              <a:srgbClr val="0F2A44"/>
            </a:solidFill>
            <a:prstDash val="solid"/>
          </a:ln>
        </p:spPr>
      </p:sp>
      <p:sp>
        <p:nvSpPr>
          <p:cNvPr id="25" name="Text 23"/>
          <p:cNvSpPr/>
          <p:nvPr/>
        </p:nvSpPr>
        <p:spPr>
          <a:xfrm>
            <a:off x="457200" y="2697480"/>
            <a:ext cx="411480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Total penalty: 49   →   AP clamped at 0</a:t>
            </a:r>
            <a:endParaRPr lang="en-US" sz="1200" dirty="0"/>
          </a:p>
        </p:txBody>
      </p:sp>
      <p:sp>
        <p:nvSpPr>
          <p:cNvPr id="26" name="Text 24"/>
          <p:cNvSpPr/>
          <p:nvPr/>
        </p:nvSpPr>
        <p:spPr>
          <a:xfrm>
            <a:off x="4846320" y="868680"/>
            <a:ext cx="384048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7" name="Text 25"/>
          <p:cNvSpPr/>
          <p:nvPr/>
        </p:nvSpPr>
        <p:spPr>
          <a:xfrm>
            <a:off x="4846320" y="1188720"/>
            <a:ext cx="1280160" cy="27432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8" name="Shape 26"/>
          <p:cNvSpPr/>
          <p:nvPr/>
        </p:nvSpPr>
        <p:spPr>
          <a:xfrm>
            <a:off x="6126480" y="1234440"/>
            <a:ext cx="2377440" cy="256032"/>
          </a:xfrm>
          <a:prstGeom prst="rect">
            <a:avLst/>
          </a:prstGeom>
          <a:solidFill>
            <a:srgbClr val="E2E8F0"/>
          </a:solidFill>
          <a:ln w="12700">
            <a:solidFill>
              <a:srgbClr val="E2E8F0"/>
            </a:solidFill>
            <a:prstDash val="solid"/>
          </a:ln>
        </p:spPr>
      </p:sp>
      <p:sp>
        <p:nvSpPr>
          <p:cNvPr id="29" name="Text 27"/>
          <p:cNvSpPr/>
          <p:nvPr/>
        </p:nvSpPr>
        <p:spPr>
          <a:xfrm>
            <a:off x="8595360" y="1197864"/>
            <a:ext cx="548640" cy="320040"/>
          </a:xfrm>
          <a:prstGeom prst="rect">
            <a:avLst/>
          </a:prstGeom>
          <a:noFill/>
          <a:ln/>
        </p:spPr>
        <p:txBody>
          <a:bodyPr wrap="square" lIns="0" tIns="0" rIns="0" bIns="0" rtlCol="0" anchor="ctr"/>
          <a:lstStyle/>
          <a:p>
            <a:pPr indent="0" marL="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30" name="Text 28"/>
          <p:cNvSpPr/>
          <p:nvPr/>
        </p:nvSpPr>
        <p:spPr>
          <a:xfrm>
            <a:off x="4846320" y="1691640"/>
            <a:ext cx="1280160" cy="27432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1" name="Shape 29"/>
          <p:cNvSpPr/>
          <p:nvPr/>
        </p:nvSpPr>
        <p:spPr>
          <a:xfrm>
            <a:off x="6126480" y="1737360"/>
            <a:ext cx="2377440" cy="256032"/>
          </a:xfrm>
          <a:prstGeom prst="rect">
            <a:avLst/>
          </a:prstGeom>
          <a:solidFill>
            <a:srgbClr val="E2E8F0"/>
          </a:solidFill>
          <a:ln w="12700">
            <a:solidFill>
              <a:srgbClr val="E2E8F0"/>
            </a:solidFill>
            <a:prstDash val="solid"/>
          </a:ln>
        </p:spPr>
      </p:sp>
      <p:sp>
        <p:nvSpPr>
          <p:cNvPr id="32" name="Shape 30"/>
          <p:cNvSpPr/>
          <p:nvPr/>
        </p:nvSpPr>
        <p:spPr>
          <a:xfrm>
            <a:off x="6126480" y="1737360"/>
            <a:ext cx="1426464" cy="256032"/>
          </a:xfrm>
          <a:prstGeom prst="rect">
            <a:avLst/>
          </a:prstGeom>
          <a:solidFill>
            <a:srgbClr val="D97706"/>
          </a:solidFill>
          <a:ln w="12700">
            <a:solidFill>
              <a:srgbClr val="D97706"/>
            </a:solidFill>
            <a:prstDash val="solid"/>
          </a:ln>
        </p:spPr>
      </p:sp>
      <p:sp>
        <p:nvSpPr>
          <p:cNvPr id="33" name="Text 31"/>
          <p:cNvSpPr/>
          <p:nvPr/>
        </p:nvSpPr>
        <p:spPr>
          <a:xfrm>
            <a:off x="8595360" y="1700784"/>
            <a:ext cx="548640" cy="320040"/>
          </a:xfrm>
          <a:prstGeom prst="rect">
            <a:avLst/>
          </a:prstGeom>
          <a:noFill/>
          <a:ln/>
        </p:spPr>
        <p:txBody>
          <a:bodyPr wrap="square" lIns="0" tIns="0" rIns="0" bIns="0" rtlCol="0" anchor="ctr"/>
          <a:lstStyle/>
          <a:p>
            <a:pPr indent="0" marL="0">
              <a:buNone/>
            </a:pPr>
            <a:r>
              <a:rPr lang="en-US" sz="1000" b="1" dirty="0">
                <a:solidFill>
                  <a:srgbClr val="64748B"/>
                </a:solidFill>
                <a:latin typeface="Calibri" pitchFamily="34" charset="0"/>
                <a:ea typeface="Calibri" pitchFamily="34" charset="-122"/>
                <a:cs typeface="Calibri" pitchFamily="34" charset="-120"/>
              </a:rPr>
              <a:t>12 / 20</a:t>
            </a:r>
            <a:endParaRPr lang="en-US" sz="1000" dirty="0"/>
          </a:p>
        </p:txBody>
      </p:sp>
      <p:sp>
        <p:nvSpPr>
          <p:cNvPr id="34" name="Text 32"/>
          <p:cNvSpPr/>
          <p:nvPr/>
        </p:nvSpPr>
        <p:spPr>
          <a:xfrm>
            <a:off x="4846320" y="2194560"/>
            <a:ext cx="1280160" cy="27432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5" name="Shape 33"/>
          <p:cNvSpPr/>
          <p:nvPr/>
        </p:nvSpPr>
        <p:spPr>
          <a:xfrm>
            <a:off x="6126480" y="2240280"/>
            <a:ext cx="2377440" cy="256032"/>
          </a:xfrm>
          <a:prstGeom prst="rect">
            <a:avLst/>
          </a:prstGeom>
          <a:solidFill>
            <a:srgbClr val="E2E8F0"/>
          </a:solidFill>
          <a:ln w="12700">
            <a:solidFill>
              <a:srgbClr val="E2E8F0"/>
            </a:solidFill>
            <a:prstDash val="solid"/>
          </a:ln>
        </p:spPr>
      </p:sp>
      <p:sp>
        <p:nvSpPr>
          <p:cNvPr id="36" name="Shape 34"/>
          <p:cNvSpPr/>
          <p:nvPr/>
        </p:nvSpPr>
        <p:spPr>
          <a:xfrm>
            <a:off x="6126480" y="2240280"/>
            <a:ext cx="1521562" cy="256032"/>
          </a:xfrm>
          <a:prstGeom prst="rect">
            <a:avLst/>
          </a:prstGeom>
          <a:solidFill>
            <a:srgbClr val="1C4E80"/>
          </a:solidFill>
          <a:ln w="12700">
            <a:solidFill>
              <a:srgbClr val="1C4E80"/>
            </a:solidFill>
            <a:prstDash val="solid"/>
          </a:ln>
        </p:spPr>
      </p:sp>
      <p:sp>
        <p:nvSpPr>
          <p:cNvPr id="37" name="Text 35"/>
          <p:cNvSpPr/>
          <p:nvPr/>
        </p:nvSpPr>
        <p:spPr>
          <a:xfrm>
            <a:off x="8595360" y="2203704"/>
            <a:ext cx="548640" cy="320040"/>
          </a:xfrm>
          <a:prstGeom prst="rect">
            <a:avLst/>
          </a:prstGeom>
          <a:noFill/>
          <a:ln/>
        </p:spPr>
        <p:txBody>
          <a:bodyPr wrap="square" lIns="0" tIns="0" rIns="0" bIns="0" rtlCol="0" anchor="ctr"/>
          <a:lstStyle/>
          <a:p>
            <a:pPr indent="0" marL="0">
              <a:buNone/>
            </a:pPr>
            <a:r>
              <a:rPr lang="en-US" sz="1000" b="1" dirty="0">
                <a:solidFill>
                  <a:srgbClr val="64748B"/>
                </a:solidFill>
                <a:latin typeface="Calibri" pitchFamily="34" charset="0"/>
                <a:ea typeface="Calibri" pitchFamily="34" charset="-122"/>
                <a:cs typeface="Calibri" pitchFamily="34" charset="-120"/>
              </a:rPr>
              <a:t>16 / 25</a:t>
            </a:r>
            <a:endParaRPr lang="en-US" sz="1000" dirty="0"/>
          </a:p>
        </p:txBody>
      </p:sp>
      <p:sp>
        <p:nvSpPr>
          <p:cNvPr id="38" name="Text 36"/>
          <p:cNvSpPr/>
          <p:nvPr/>
        </p:nvSpPr>
        <p:spPr>
          <a:xfrm>
            <a:off x="4846320" y="2697480"/>
            <a:ext cx="1280160" cy="27432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9" name="Shape 37"/>
          <p:cNvSpPr/>
          <p:nvPr/>
        </p:nvSpPr>
        <p:spPr>
          <a:xfrm>
            <a:off x="6126480" y="2743200"/>
            <a:ext cx="2377440" cy="256032"/>
          </a:xfrm>
          <a:prstGeom prst="rect">
            <a:avLst/>
          </a:prstGeom>
          <a:solidFill>
            <a:srgbClr val="E2E8F0"/>
          </a:solidFill>
          <a:ln w="12700">
            <a:solidFill>
              <a:srgbClr val="E2E8F0"/>
            </a:solidFill>
            <a:prstDash val="solid"/>
          </a:ln>
        </p:spPr>
      </p:sp>
      <p:sp>
        <p:nvSpPr>
          <p:cNvPr id="40" name="Shape 38"/>
          <p:cNvSpPr/>
          <p:nvPr/>
        </p:nvSpPr>
        <p:spPr>
          <a:xfrm>
            <a:off x="6126480" y="2743200"/>
            <a:ext cx="1901952" cy="256032"/>
          </a:xfrm>
          <a:prstGeom prst="rect">
            <a:avLst/>
          </a:prstGeom>
          <a:solidFill>
            <a:srgbClr val="0D9488"/>
          </a:solidFill>
          <a:ln w="12700">
            <a:solidFill>
              <a:srgbClr val="0D9488"/>
            </a:solidFill>
            <a:prstDash val="solid"/>
          </a:ln>
        </p:spPr>
      </p:sp>
      <p:sp>
        <p:nvSpPr>
          <p:cNvPr id="41" name="Text 39"/>
          <p:cNvSpPr/>
          <p:nvPr/>
        </p:nvSpPr>
        <p:spPr>
          <a:xfrm>
            <a:off x="8595360" y="2706624"/>
            <a:ext cx="548640" cy="320040"/>
          </a:xfrm>
          <a:prstGeom prst="rect">
            <a:avLst/>
          </a:prstGeom>
          <a:noFill/>
          <a:ln/>
        </p:spPr>
        <p:txBody>
          <a:bodyPr wrap="square" lIns="0" tIns="0" rIns="0" bIns="0" rtlCol="0" anchor="ctr"/>
          <a:lstStyle/>
          <a:p>
            <a:pPr indent="0" marL="0">
              <a:buNone/>
            </a:pPr>
            <a:r>
              <a:rPr lang="en-US" sz="1000" b="1" dirty="0">
                <a:solidFill>
                  <a:srgbClr val="64748B"/>
                </a:solidFill>
                <a:latin typeface="Calibri" pitchFamily="34" charset="0"/>
                <a:ea typeface="Calibri" pitchFamily="34" charset="-122"/>
                <a:cs typeface="Calibri" pitchFamily="34" charset="-120"/>
              </a:rPr>
              <a:t>12 / 15</a:t>
            </a:r>
            <a:endParaRPr lang="en-US" sz="1000" dirty="0"/>
          </a:p>
        </p:txBody>
      </p:sp>
      <p:sp>
        <p:nvSpPr>
          <p:cNvPr id="42" name="Shape 40"/>
          <p:cNvSpPr/>
          <p:nvPr/>
        </p:nvSpPr>
        <p:spPr>
          <a:xfrm>
            <a:off x="5852160" y="3429000"/>
            <a:ext cx="1280160" cy="1280160"/>
          </a:xfrm>
          <a:prstGeom prst="ellipse">
            <a:avLst/>
          </a:prstGeom>
          <a:solidFill>
            <a:srgbClr val="DC2626"/>
          </a:solidFill>
          <a:ln w="12700">
            <a:solidFill>
              <a:srgbClr val="DC2626"/>
            </a:solidFill>
            <a:prstDash val="solid"/>
          </a:ln>
        </p:spPr>
      </p:sp>
      <p:sp>
        <p:nvSpPr>
          <p:cNvPr id="43" name="Text 41"/>
          <p:cNvSpPr/>
          <p:nvPr/>
        </p:nvSpPr>
        <p:spPr>
          <a:xfrm>
            <a:off x="5852160" y="3474720"/>
            <a:ext cx="1280160" cy="82296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40</a:t>
            </a:r>
            <a:endParaRPr lang="en-US" sz="3600" dirty="0"/>
          </a:p>
        </p:txBody>
      </p:sp>
      <p:sp>
        <p:nvSpPr>
          <p:cNvPr id="44" name="Text 42"/>
          <p:cNvSpPr/>
          <p:nvPr/>
        </p:nvSpPr>
        <p:spPr>
          <a:xfrm>
            <a:off x="5852160" y="4160520"/>
            <a:ext cx="12801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Grade F</a:t>
            </a:r>
            <a:endParaRPr lang="en-US" sz="1100" dirty="0"/>
          </a:p>
        </p:txBody>
      </p:sp>
      <p:sp>
        <p:nvSpPr>
          <p:cNvPr id="45" name="Text 43"/>
          <p:cNvSpPr/>
          <p:nvPr/>
        </p:nvSpPr>
        <p:spPr>
          <a:xfrm>
            <a:off x="457200" y="3246120"/>
            <a:ext cx="4114800" cy="365760"/>
          </a:xfrm>
          <a:prstGeom prst="rect">
            <a:avLst/>
          </a:prstGeom>
          <a:noFill/>
          <a:ln/>
        </p:spPr>
        <p:txBody>
          <a:bodyPr wrap="square" lIns="0" tIns="0" rIns="0" bIns="0" rtlCol="0" anchor="ctr"/>
          <a:lstStyle/>
          <a:p>
            <a:pPr algn="ctr" indent="0" marL="0">
              <a:buNone/>
            </a:pPr>
            <a:r>
              <a:rPr lang="en-US" sz="1400" b="1" dirty="0">
                <a:solidFill>
                  <a:srgbClr val="0F2A44"/>
                </a:solidFill>
                <a:latin typeface="Calibri" pitchFamily="34" charset="0"/>
                <a:ea typeface="Calibri" pitchFamily="34" charset="-122"/>
                <a:cs typeface="Calibri" pitchFamily="34" charset="-120"/>
              </a:rPr>
              <a:t>Final score: 40 / 100  (F)</a:t>
            </a:r>
            <a:endParaRPr lang="en-US" sz="1400" dirty="0"/>
          </a:p>
        </p:txBody>
      </p:sp>
      <p:sp>
        <p:nvSpPr>
          <p:cNvPr id="46" name="Text 44"/>
          <p:cNvSpPr/>
          <p:nvPr/>
        </p:nvSpPr>
        <p:spPr>
          <a:xfrm>
            <a:off x="457200" y="3611880"/>
            <a:ext cx="4114800" cy="91440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Deductions spread across all four categories: the anti-pattern load (penalty 49) clamps AP to 0; Architecture loses 9 to dependency-graph coupling; Code Quality 8 to smell density; Service Sizing 3 to one nano service</a:t>
            </a:r>
            <a:endParaRPr lang="en-US" sz="1000" dirty="0"/>
          </a:p>
        </p:txBody>
      </p:sp>
      <p:sp>
        <p:nvSpPr>
          <p:cNvPr id="47" name="Text 45"/>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8" name="Text 46"/>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Evaluation: eleven open-source projects</a:t>
            </a:r>
            <a:endParaRPr lang="en-US" sz="2800" dirty="0"/>
          </a:p>
        </p:txBody>
      </p:sp>
      <p:graphicFrame>
        <p:nvGraphicFramePr>
          <p:cNvPr id="3" name="Chart 0" descr=""/>
          <p:cNvGraphicFramePr/>
          <p:nvPr/>
        </p:nvGraphicFramePr>
        <p:xfrm>
          <a:off x="365760" y="868680"/>
          <a:ext cx="5394960" cy="27432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035040" y="868680"/>
            <a:ext cx="274320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Dataset scale  (services / LOC)</a:t>
            </a:r>
            <a:endParaRPr lang="en-US" sz="1200" dirty="0"/>
          </a:p>
        </p:txBody>
      </p:sp>
      <p:sp>
        <p:nvSpPr>
          <p:cNvPr id="5" name="Shape 2"/>
          <p:cNvSpPr/>
          <p:nvPr/>
        </p:nvSpPr>
        <p:spPr>
          <a:xfrm>
            <a:off x="6035040" y="1188720"/>
            <a:ext cx="2743200" cy="192024"/>
          </a:xfrm>
          <a:prstGeom prst="rect">
            <a:avLst/>
          </a:prstGeom>
          <a:solidFill>
            <a:srgbClr val="F8FAFC"/>
          </a:solidFill>
          <a:ln w="6350">
            <a:solidFill>
              <a:srgbClr val="E2E8F0"/>
            </a:solidFill>
            <a:prstDash val="solid"/>
          </a:ln>
        </p:spPr>
      </p:sp>
      <p:sp>
        <p:nvSpPr>
          <p:cNvPr id="6" name="Text 3"/>
          <p:cNvSpPr/>
          <p:nvPr/>
        </p:nvSpPr>
        <p:spPr>
          <a:xfrm>
            <a:off x="6126480" y="1188720"/>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MicroSocial</a:t>
            </a:r>
            <a:endParaRPr lang="en-US" sz="850" dirty="0"/>
          </a:p>
        </p:txBody>
      </p:sp>
      <p:sp>
        <p:nvSpPr>
          <p:cNvPr id="7" name="Text 4"/>
          <p:cNvSpPr/>
          <p:nvPr/>
        </p:nvSpPr>
        <p:spPr>
          <a:xfrm>
            <a:off x="7406640" y="1188720"/>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4</a:t>
            </a:r>
            <a:endParaRPr lang="en-US" sz="850" dirty="0"/>
          </a:p>
        </p:txBody>
      </p:sp>
      <p:sp>
        <p:nvSpPr>
          <p:cNvPr id="8" name="Text 5"/>
          <p:cNvSpPr/>
          <p:nvPr/>
        </p:nvSpPr>
        <p:spPr>
          <a:xfrm>
            <a:off x="7863840" y="1188720"/>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2k</a:t>
            </a:r>
            <a:endParaRPr lang="en-US" sz="850" dirty="0"/>
          </a:p>
        </p:txBody>
      </p:sp>
      <p:sp>
        <p:nvSpPr>
          <p:cNvPr id="9" name="Shape 6"/>
          <p:cNvSpPr/>
          <p:nvPr/>
        </p:nvSpPr>
        <p:spPr>
          <a:xfrm>
            <a:off x="6035040" y="1408176"/>
            <a:ext cx="2743200" cy="192024"/>
          </a:xfrm>
          <a:prstGeom prst="rect">
            <a:avLst/>
          </a:prstGeom>
          <a:solidFill>
            <a:srgbClr val="F8FAFC"/>
          </a:solidFill>
          <a:ln w="6350">
            <a:solidFill>
              <a:srgbClr val="E2E8F0"/>
            </a:solidFill>
            <a:prstDash val="solid"/>
          </a:ln>
        </p:spPr>
      </p:sp>
      <p:sp>
        <p:nvSpPr>
          <p:cNvPr id="10" name="Text 7"/>
          <p:cNvSpPr/>
          <p:nvPr/>
        </p:nvSpPr>
        <p:spPr>
          <a:xfrm>
            <a:off x="6126480" y="1408176"/>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design-pat.</a:t>
            </a:r>
            <a:endParaRPr lang="en-US" sz="850" dirty="0"/>
          </a:p>
        </p:txBody>
      </p:sp>
      <p:sp>
        <p:nvSpPr>
          <p:cNvPr id="11" name="Text 8"/>
          <p:cNvSpPr/>
          <p:nvPr/>
        </p:nvSpPr>
        <p:spPr>
          <a:xfrm>
            <a:off x="7406640" y="1408176"/>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16</a:t>
            </a:r>
            <a:endParaRPr lang="en-US" sz="850" dirty="0"/>
          </a:p>
        </p:txBody>
      </p:sp>
      <p:sp>
        <p:nvSpPr>
          <p:cNvPr id="12" name="Text 9"/>
          <p:cNvSpPr/>
          <p:nvPr/>
        </p:nvSpPr>
        <p:spPr>
          <a:xfrm>
            <a:off x="7863840" y="1408176"/>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19k</a:t>
            </a:r>
            <a:endParaRPr lang="en-US" sz="850" dirty="0"/>
          </a:p>
        </p:txBody>
      </p:sp>
      <p:sp>
        <p:nvSpPr>
          <p:cNvPr id="13" name="Shape 10"/>
          <p:cNvSpPr/>
          <p:nvPr/>
        </p:nvSpPr>
        <p:spPr>
          <a:xfrm>
            <a:off x="6035040" y="1627632"/>
            <a:ext cx="2743200" cy="192024"/>
          </a:xfrm>
          <a:prstGeom prst="rect">
            <a:avLst/>
          </a:prstGeom>
          <a:solidFill>
            <a:srgbClr val="F8FAFC"/>
          </a:solidFill>
          <a:ln w="6350">
            <a:solidFill>
              <a:srgbClr val="E2E8F0"/>
            </a:solidFill>
            <a:prstDash val="solid"/>
          </a:ln>
        </p:spPr>
      </p:sp>
      <p:sp>
        <p:nvSpPr>
          <p:cNvPr id="14" name="Text 11"/>
          <p:cNvSpPr/>
          <p:nvPr/>
        </p:nvSpPr>
        <p:spPr>
          <a:xfrm>
            <a:off x="6126480" y="1627632"/>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Site-Where</a:t>
            </a:r>
            <a:endParaRPr lang="en-US" sz="850" dirty="0"/>
          </a:p>
        </p:txBody>
      </p:sp>
      <p:sp>
        <p:nvSpPr>
          <p:cNvPr id="15" name="Text 12"/>
          <p:cNvSpPr/>
          <p:nvPr/>
        </p:nvSpPr>
        <p:spPr>
          <a:xfrm>
            <a:off x="7406640" y="1627632"/>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15</a:t>
            </a:r>
            <a:endParaRPr lang="en-US" sz="850" dirty="0"/>
          </a:p>
        </p:txBody>
      </p:sp>
      <p:sp>
        <p:nvSpPr>
          <p:cNvPr id="16" name="Text 13"/>
          <p:cNvSpPr/>
          <p:nvPr/>
        </p:nvSpPr>
        <p:spPr>
          <a:xfrm>
            <a:off x="7863840" y="1627632"/>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74k</a:t>
            </a:r>
            <a:endParaRPr lang="en-US" sz="850" dirty="0"/>
          </a:p>
        </p:txBody>
      </p:sp>
      <p:sp>
        <p:nvSpPr>
          <p:cNvPr id="17" name="Shape 14"/>
          <p:cNvSpPr/>
          <p:nvPr/>
        </p:nvSpPr>
        <p:spPr>
          <a:xfrm>
            <a:off x="6035040" y="1847088"/>
            <a:ext cx="2743200" cy="192024"/>
          </a:xfrm>
          <a:prstGeom prst="rect">
            <a:avLst/>
          </a:prstGeom>
          <a:solidFill>
            <a:srgbClr val="F8FAFC"/>
          </a:solidFill>
          <a:ln w="6350">
            <a:solidFill>
              <a:srgbClr val="E2E8F0"/>
            </a:solidFill>
            <a:prstDash val="solid"/>
          </a:ln>
        </p:spPr>
      </p:sp>
      <p:sp>
        <p:nvSpPr>
          <p:cNvPr id="18" name="Text 15"/>
          <p:cNvSpPr/>
          <p:nvPr/>
        </p:nvSpPr>
        <p:spPr>
          <a:xfrm>
            <a:off x="6126480" y="1847088"/>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Train-Ticket</a:t>
            </a:r>
            <a:endParaRPr lang="en-US" sz="850" dirty="0"/>
          </a:p>
        </p:txBody>
      </p:sp>
      <p:sp>
        <p:nvSpPr>
          <p:cNvPr id="19" name="Text 16"/>
          <p:cNvSpPr/>
          <p:nvPr/>
        </p:nvSpPr>
        <p:spPr>
          <a:xfrm>
            <a:off x="7406640" y="1847088"/>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41</a:t>
            </a:r>
            <a:endParaRPr lang="en-US" sz="850" dirty="0"/>
          </a:p>
        </p:txBody>
      </p:sp>
      <p:sp>
        <p:nvSpPr>
          <p:cNvPr id="20" name="Text 17"/>
          <p:cNvSpPr/>
          <p:nvPr/>
        </p:nvSpPr>
        <p:spPr>
          <a:xfrm>
            <a:off x="7863840" y="1847088"/>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36k</a:t>
            </a:r>
            <a:endParaRPr lang="en-US" sz="850" dirty="0"/>
          </a:p>
        </p:txBody>
      </p:sp>
      <p:sp>
        <p:nvSpPr>
          <p:cNvPr id="21" name="Shape 18"/>
          <p:cNvSpPr/>
          <p:nvPr/>
        </p:nvSpPr>
        <p:spPr>
          <a:xfrm>
            <a:off x="6035040" y="2066544"/>
            <a:ext cx="2743200" cy="192024"/>
          </a:xfrm>
          <a:prstGeom prst="rect">
            <a:avLst/>
          </a:prstGeom>
          <a:solidFill>
            <a:srgbClr val="F8FAFC"/>
          </a:solidFill>
          <a:ln w="6350">
            <a:solidFill>
              <a:srgbClr val="E2E8F0"/>
            </a:solidFill>
            <a:prstDash val="solid"/>
          </a:ln>
        </p:spPr>
      </p:sp>
      <p:sp>
        <p:nvSpPr>
          <p:cNvPr id="22" name="Text 19"/>
          <p:cNvSpPr/>
          <p:nvPr/>
        </p:nvSpPr>
        <p:spPr>
          <a:xfrm>
            <a:off x="6126480" y="2066544"/>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NetworkDisk</a:t>
            </a:r>
            <a:endParaRPr lang="en-US" sz="850" dirty="0"/>
          </a:p>
        </p:txBody>
      </p:sp>
      <p:sp>
        <p:nvSpPr>
          <p:cNvPr id="23" name="Text 20"/>
          <p:cNvSpPr/>
          <p:nvPr/>
        </p:nvSpPr>
        <p:spPr>
          <a:xfrm>
            <a:off x="7406640" y="2066544"/>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10</a:t>
            </a:r>
            <a:endParaRPr lang="en-US" sz="850" dirty="0"/>
          </a:p>
        </p:txBody>
      </p:sp>
      <p:sp>
        <p:nvSpPr>
          <p:cNvPr id="24" name="Text 21"/>
          <p:cNvSpPr/>
          <p:nvPr/>
        </p:nvSpPr>
        <p:spPr>
          <a:xfrm>
            <a:off x="7863840" y="2066544"/>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7k</a:t>
            </a:r>
            <a:endParaRPr lang="en-US" sz="850" dirty="0"/>
          </a:p>
        </p:txBody>
      </p:sp>
      <p:sp>
        <p:nvSpPr>
          <p:cNvPr id="25" name="Shape 22"/>
          <p:cNvSpPr/>
          <p:nvPr/>
        </p:nvSpPr>
        <p:spPr>
          <a:xfrm>
            <a:off x="6035040" y="2286000"/>
            <a:ext cx="2743200" cy="192024"/>
          </a:xfrm>
          <a:prstGeom prst="rect">
            <a:avLst/>
          </a:prstGeom>
          <a:solidFill>
            <a:srgbClr val="F8FAFC"/>
          </a:solidFill>
          <a:ln w="6350">
            <a:solidFill>
              <a:srgbClr val="E2E8F0"/>
            </a:solidFill>
            <a:prstDash val="solid"/>
          </a:ln>
        </p:spPr>
      </p:sp>
      <p:sp>
        <p:nvSpPr>
          <p:cNvPr id="26" name="Text 23"/>
          <p:cNvSpPr/>
          <p:nvPr/>
        </p:nvSpPr>
        <p:spPr>
          <a:xfrm>
            <a:off x="6126480" y="2286000"/>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recruit</a:t>
            </a:r>
            <a:endParaRPr lang="en-US" sz="850" dirty="0"/>
          </a:p>
        </p:txBody>
      </p:sp>
      <p:sp>
        <p:nvSpPr>
          <p:cNvPr id="27" name="Text 24"/>
          <p:cNvSpPr/>
          <p:nvPr/>
        </p:nvSpPr>
        <p:spPr>
          <a:xfrm>
            <a:off x="7406640" y="2286000"/>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28" name="Text 25"/>
          <p:cNvSpPr/>
          <p:nvPr/>
        </p:nvSpPr>
        <p:spPr>
          <a:xfrm>
            <a:off x="7863840" y="2286000"/>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8k</a:t>
            </a:r>
            <a:endParaRPr lang="en-US" sz="850" dirty="0"/>
          </a:p>
        </p:txBody>
      </p:sp>
      <p:sp>
        <p:nvSpPr>
          <p:cNvPr id="29" name="Shape 26"/>
          <p:cNvSpPr/>
          <p:nvPr/>
        </p:nvSpPr>
        <p:spPr>
          <a:xfrm>
            <a:off x="6035040" y="2505456"/>
            <a:ext cx="2743200" cy="192024"/>
          </a:xfrm>
          <a:prstGeom prst="rect">
            <a:avLst/>
          </a:prstGeom>
          <a:solidFill>
            <a:srgbClr val="F8FAFC"/>
          </a:solidFill>
          <a:ln w="6350">
            <a:solidFill>
              <a:srgbClr val="E2E8F0"/>
            </a:solidFill>
            <a:prstDash val="solid"/>
          </a:ln>
        </p:spPr>
      </p:sp>
      <p:sp>
        <p:nvSpPr>
          <p:cNvPr id="30" name="Text 27"/>
          <p:cNvSpPr/>
          <p:nvPr/>
        </p:nvSpPr>
        <p:spPr>
          <a:xfrm>
            <a:off x="6126480" y="2505456"/>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ftgo</a:t>
            </a:r>
            <a:endParaRPr lang="en-US" sz="850" dirty="0"/>
          </a:p>
        </p:txBody>
      </p:sp>
      <p:sp>
        <p:nvSpPr>
          <p:cNvPr id="31" name="Text 28"/>
          <p:cNvSpPr/>
          <p:nvPr/>
        </p:nvSpPr>
        <p:spPr>
          <a:xfrm>
            <a:off x="7406640" y="2505456"/>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2" name="Text 29"/>
          <p:cNvSpPr/>
          <p:nvPr/>
        </p:nvSpPr>
        <p:spPr>
          <a:xfrm>
            <a:off x="7863840" y="2505456"/>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11k</a:t>
            </a:r>
            <a:endParaRPr lang="en-US" sz="850" dirty="0"/>
          </a:p>
        </p:txBody>
      </p:sp>
      <p:sp>
        <p:nvSpPr>
          <p:cNvPr id="33" name="Shape 30"/>
          <p:cNvSpPr/>
          <p:nvPr/>
        </p:nvSpPr>
        <p:spPr>
          <a:xfrm>
            <a:off x="6035040" y="2724912"/>
            <a:ext cx="2743200" cy="192024"/>
          </a:xfrm>
          <a:prstGeom prst="rect">
            <a:avLst/>
          </a:prstGeom>
          <a:solidFill>
            <a:srgbClr val="F8FAFC"/>
          </a:solidFill>
          <a:ln w="6350">
            <a:solidFill>
              <a:srgbClr val="E2E8F0"/>
            </a:solidFill>
            <a:prstDash val="solid"/>
          </a:ln>
        </p:spPr>
      </p:sp>
      <p:sp>
        <p:nvSpPr>
          <p:cNvPr id="34" name="Text 31"/>
          <p:cNvSpPr/>
          <p:nvPr/>
        </p:nvSpPr>
        <p:spPr>
          <a:xfrm>
            <a:off x="6126480" y="2724912"/>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mall-swarm</a:t>
            </a:r>
            <a:endParaRPr lang="en-US" sz="850" dirty="0"/>
          </a:p>
        </p:txBody>
      </p:sp>
      <p:sp>
        <p:nvSpPr>
          <p:cNvPr id="35" name="Text 32"/>
          <p:cNvSpPr/>
          <p:nvPr/>
        </p:nvSpPr>
        <p:spPr>
          <a:xfrm>
            <a:off x="7406640" y="2724912"/>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6" name="Text 33"/>
          <p:cNvSpPr/>
          <p:nvPr/>
        </p:nvSpPr>
        <p:spPr>
          <a:xfrm>
            <a:off x="7863840" y="2724912"/>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86k</a:t>
            </a:r>
            <a:endParaRPr lang="en-US" sz="850" dirty="0"/>
          </a:p>
        </p:txBody>
      </p:sp>
      <p:sp>
        <p:nvSpPr>
          <p:cNvPr id="37" name="Shape 34"/>
          <p:cNvSpPr/>
          <p:nvPr/>
        </p:nvSpPr>
        <p:spPr>
          <a:xfrm>
            <a:off x="6035040" y="2944368"/>
            <a:ext cx="2743200" cy="192024"/>
          </a:xfrm>
          <a:prstGeom prst="rect">
            <a:avLst/>
          </a:prstGeom>
          <a:solidFill>
            <a:srgbClr val="F8FAFC"/>
          </a:solidFill>
          <a:ln w="6350">
            <a:solidFill>
              <a:srgbClr val="E2E8F0"/>
            </a:solidFill>
            <a:prstDash val="solid"/>
          </a:ln>
        </p:spPr>
      </p:sp>
      <p:sp>
        <p:nvSpPr>
          <p:cNvPr id="38" name="Text 35"/>
          <p:cNvSpPr/>
          <p:nvPr/>
        </p:nvSpPr>
        <p:spPr>
          <a:xfrm>
            <a:off x="6126480" y="2944368"/>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RuoYi</a:t>
            </a:r>
            <a:endParaRPr lang="en-US" sz="850" dirty="0"/>
          </a:p>
        </p:txBody>
      </p:sp>
      <p:sp>
        <p:nvSpPr>
          <p:cNvPr id="39" name="Text 36"/>
          <p:cNvSpPr/>
          <p:nvPr/>
        </p:nvSpPr>
        <p:spPr>
          <a:xfrm>
            <a:off x="7406640" y="2944368"/>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0" name="Text 37"/>
          <p:cNvSpPr/>
          <p:nvPr/>
        </p:nvSpPr>
        <p:spPr>
          <a:xfrm>
            <a:off x="7863840" y="2944368"/>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27k</a:t>
            </a:r>
            <a:endParaRPr lang="en-US" sz="850" dirty="0"/>
          </a:p>
        </p:txBody>
      </p:sp>
      <p:sp>
        <p:nvSpPr>
          <p:cNvPr id="41" name="Shape 38"/>
          <p:cNvSpPr/>
          <p:nvPr/>
        </p:nvSpPr>
        <p:spPr>
          <a:xfrm>
            <a:off x="6035040" y="3163824"/>
            <a:ext cx="2743200" cy="192024"/>
          </a:xfrm>
          <a:prstGeom prst="rect">
            <a:avLst/>
          </a:prstGeom>
          <a:solidFill>
            <a:srgbClr val="F8FAFC"/>
          </a:solidFill>
          <a:ln w="6350">
            <a:solidFill>
              <a:srgbClr val="E2E8F0"/>
            </a:solidFill>
            <a:prstDash val="solid"/>
          </a:ln>
        </p:spPr>
      </p:sp>
      <p:sp>
        <p:nvSpPr>
          <p:cNvPr id="42" name="Text 39"/>
          <p:cNvSpPr/>
          <p:nvPr/>
        </p:nvSpPr>
        <p:spPr>
          <a:xfrm>
            <a:off x="6126480" y="3163824"/>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PiggyMetrics</a:t>
            </a:r>
            <a:endParaRPr lang="en-US" sz="850" dirty="0"/>
          </a:p>
        </p:txBody>
      </p:sp>
      <p:sp>
        <p:nvSpPr>
          <p:cNvPr id="43" name="Text 40"/>
          <p:cNvSpPr/>
          <p:nvPr/>
        </p:nvSpPr>
        <p:spPr>
          <a:xfrm>
            <a:off x="7406640" y="3163824"/>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4" name="Text 41"/>
          <p:cNvSpPr/>
          <p:nvPr/>
        </p:nvSpPr>
        <p:spPr>
          <a:xfrm>
            <a:off x="7863840" y="3163824"/>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4.5k</a:t>
            </a:r>
            <a:endParaRPr lang="en-US" sz="850" dirty="0"/>
          </a:p>
        </p:txBody>
      </p:sp>
      <p:sp>
        <p:nvSpPr>
          <p:cNvPr id="45" name="Shape 42"/>
          <p:cNvSpPr/>
          <p:nvPr/>
        </p:nvSpPr>
        <p:spPr>
          <a:xfrm>
            <a:off x="6035040" y="3383280"/>
            <a:ext cx="2743200" cy="192024"/>
          </a:xfrm>
          <a:prstGeom prst="rect">
            <a:avLst/>
          </a:prstGeom>
          <a:solidFill>
            <a:srgbClr val="F8FAFC"/>
          </a:solidFill>
          <a:ln w="6350">
            <a:solidFill>
              <a:srgbClr val="E2E8F0"/>
            </a:solidFill>
            <a:prstDash val="solid"/>
          </a:ln>
        </p:spPr>
      </p:sp>
      <p:sp>
        <p:nvSpPr>
          <p:cNvPr id="46" name="Text 43"/>
          <p:cNvSpPr/>
          <p:nvPr/>
        </p:nvSpPr>
        <p:spPr>
          <a:xfrm>
            <a:off x="6126480" y="3383280"/>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piomin</a:t>
            </a:r>
            <a:endParaRPr lang="en-US" sz="850" dirty="0"/>
          </a:p>
        </p:txBody>
      </p:sp>
      <p:sp>
        <p:nvSpPr>
          <p:cNvPr id="47" name="Text 44"/>
          <p:cNvSpPr/>
          <p:nvPr/>
        </p:nvSpPr>
        <p:spPr>
          <a:xfrm>
            <a:off x="7406640" y="3383280"/>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6</a:t>
            </a:r>
            <a:endParaRPr lang="en-US" sz="850" dirty="0"/>
          </a:p>
        </p:txBody>
      </p:sp>
      <p:sp>
        <p:nvSpPr>
          <p:cNvPr id="48" name="Text 45"/>
          <p:cNvSpPr/>
          <p:nvPr/>
        </p:nvSpPr>
        <p:spPr>
          <a:xfrm>
            <a:off x="7863840" y="3383280"/>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1.3k</a:t>
            </a:r>
            <a:endParaRPr lang="en-US" sz="850" dirty="0"/>
          </a:p>
        </p:txBody>
      </p:sp>
      <p:sp>
        <p:nvSpPr>
          <p:cNvPr id="49" name="Shape 46"/>
          <p:cNvSpPr/>
          <p:nvPr/>
        </p:nvSpPr>
        <p:spPr>
          <a:xfrm>
            <a:off x="6035040" y="3602736"/>
            <a:ext cx="2743200" cy="192024"/>
          </a:xfrm>
          <a:prstGeom prst="rect">
            <a:avLst/>
          </a:prstGeom>
          <a:solidFill>
            <a:srgbClr val="0F2A44"/>
          </a:solidFill>
          <a:ln w="6350">
            <a:solidFill>
              <a:srgbClr val="E2E8F0"/>
            </a:solidFill>
            <a:prstDash val="solid"/>
          </a:ln>
        </p:spPr>
      </p:sp>
      <p:sp>
        <p:nvSpPr>
          <p:cNvPr id="50" name="Text 47"/>
          <p:cNvSpPr/>
          <p:nvPr/>
        </p:nvSpPr>
        <p:spPr>
          <a:xfrm>
            <a:off x="6126480" y="3602736"/>
            <a:ext cx="1280160" cy="192024"/>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Total</a:t>
            </a:r>
            <a:endParaRPr lang="en-US" sz="850" dirty="0"/>
          </a:p>
        </p:txBody>
      </p:sp>
      <p:sp>
        <p:nvSpPr>
          <p:cNvPr id="51" name="Text 48"/>
          <p:cNvSpPr/>
          <p:nvPr/>
        </p:nvSpPr>
        <p:spPr>
          <a:xfrm>
            <a:off x="7406640" y="3602736"/>
            <a:ext cx="457200" cy="19202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130</a:t>
            </a:r>
            <a:endParaRPr lang="en-US" sz="850" dirty="0"/>
          </a:p>
        </p:txBody>
      </p:sp>
      <p:sp>
        <p:nvSpPr>
          <p:cNvPr id="52" name="Text 49"/>
          <p:cNvSpPr/>
          <p:nvPr/>
        </p:nvSpPr>
        <p:spPr>
          <a:xfrm>
            <a:off x="7863840" y="3602736"/>
            <a:ext cx="868680" cy="192024"/>
          </a:xfrm>
          <a:prstGeom prst="rect">
            <a:avLst/>
          </a:prstGeom>
          <a:noFill/>
          <a:ln/>
        </p:spPr>
        <p:txBody>
          <a:bodyPr wrap="square" lIns="0" tIns="0" rIns="0" bIns="0" rtlCol="0" anchor="ctr"/>
          <a:lstStyle/>
          <a:p>
            <a:pPr algn="r" indent="0" marL="0">
              <a:buNone/>
            </a:pPr>
            <a:r>
              <a:rPr lang="en-US" sz="850" b="1" dirty="0">
                <a:solidFill>
                  <a:srgbClr val="FFFFFF"/>
                </a:solidFill>
                <a:latin typeface="Calibri" pitchFamily="34" charset="0"/>
                <a:ea typeface="Calibri" pitchFamily="34" charset="-122"/>
                <a:cs typeface="Calibri" pitchFamily="34" charset="-120"/>
              </a:rPr>
              <a:t>274k</a:t>
            </a:r>
            <a:endParaRPr lang="en-US" sz="850" dirty="0"/>
          </a:p>
        </p:txBody>
      </p:sp>
      <p:sp>
        <p:nvSpPr>
          <p:cNvPr id="53" name="Shape 50"/>
          <p:cNvSpPr/>
          <p:nvPr/>
        </p:nvSpPr>
        <p:spPr>
          <a:xfrm>
            <a:off x="365760" y="3749040"/>
            <a:ext cx="8412480" cy="914400"/>
          </a:xfrm>
          <a:prstGeom prst="rect">
            <a:avLst/>
          </a:prstGeom>
          <a:solidFill>
            <a:srgbClr val="F8FAFC"/>
          </a:solidFill>
          <a:ln w="6350">
            <a:solidFill>
              <a:srgbClr val="E2E8F0"/>
            </a:solidFill>
            <a:prstDash val="solid"/>
          </a:ln>
        </p:spPr>
      </p:sp>
      <p:sp>
        <p:nvSpPr>
          <p:cNvPr id="54" name="Shape 51"/>
          <p:cNvSpPr/>
          <p:nvPr/>
        </p:nvSpPr>
        <p:spPr>
          <a:xfrm>
            <a:off x="365760" y="3749040"/>
            <a:ext cx="54864" cy="914400"/>
          </a:xfrm>
          <a:prstGeom prst="rect">
            <a:avLst/>
          </a:prstGeom>
          <a:solidFill>
            <a:srgbClr val="0D9488"/>
          </a:solidFill>
          <a:ln w="12700">
            <a:solidFill>
              <a:srgbClr val="0D9488"/>
            </a:solidFill>
            <a:prstDash val="solid"/>
          </a:ln>
        </p:spPr>
      </p:sp>
      <p:sp>
        <p:nvSpPr>
          <p:cNvPr id="55" name="Text 52"/>
          <p:cNvSpPr/>
          <p:nvPr/>
        </p:nvSpPr>
        <p:spPr>
          <a:xfrm>
            <a:off x="594360" y="3794760"/>
            <a:ext cx="822960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56" name="Text 53"/>
          <p:cNvSpPr/>
          <p:nvPr/>
        </p:nvSpPr>
        <p:spPr>
          <a:xfrm>
            <a:off x="731520" y="4069080"/>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98 anti-pattern instances across 9 types; API Versioning Absence (37) and Nano Service (23) dominate</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PiggyMetrics and piomin broadened ESB Misuse and Nano Service coverage; Cyclic Dependency and Wrong Cuts detected in microservice-recruit</a:t>
            </a:r>
            <a:endParaRPr lang="en-US" sz="1100" dirty="0"/>
          </a:p>
        </p:txBody>
      </p:sp>
      <p:sp>
        <p:nvSpPr>
          <p:cNvPr id="57" name="Text 54"/>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58" name="Text 55"/>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777240"/>
            <a:ext cx="7772400" cy="82296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indent="0" marL="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731520" y="2468880"/>
            <a:ext cx="7772400" cy="2148840"/>
          </a:xfrm>
          <a:prstGeom prst="rect">
            <a:avLst/>
          </a:prstGeom>
          <a:solidFill>
            <a:srgbClr val="1C4E80"/>
          </a:solidFill>
          <a:ln w="12700">
            <a:solidFill>
              <a:srgbClr val="1C4E80"/>
            </a:solidFill>
            <a:prstDash val="solid"/>
          </a:ln>
        </p:spPr>
      </p:sp>
      <p:sp>
        <p:nvSpPr>
          <p:cNvPr id="6" name="Shape 4"/>
          <p:cNvSpPr/>
          <p:nvPr/>
        </p:nvSpPr>
        <p:spPr>
          <a:xfrm>
            <a:off x="914400" y="2651760"/>
            <a:ext cx="384048" cy="384048"/>
          </a:xfrm>
          <a:prstGeom prst="ellipse">
            <a:avLst/>
          </a:prstGeom>
          <a:solidFill>
            <a:srgbClr val="0D9488"/>
          </a:solidFill>
          <a:ln w="12700">
            <a:solidFill>
              <a:srgbClr val="0D9488"/>
            </a:solidFill>
            <a:prstDash val="solid"/>
          </a:ln>
        </p:spPr>
      </p:sp>
      <p:sp>
        <p:nvSpPr>
          <p:cNvPr id="7" name="Text 5"/>
          <p:cNvSpPr/>
          <p:nvPr/>
        </p:nvSpPr>
        <p:spPr>
          <a:xfrm>
            <a:off x="914400" y="265176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624328"/>
            <a:ext cx="685800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62072"/>
            <a:ext cx="6858000" cy="237744"/>
          </a:xfrm>
          <a:prstGeom prst="rect">
            <a:avLst/>
          </a:prstGeom>
          <a:noFill/>
          <a:ln/>
        </p:spPr>
        <p:txBody>
          <a:bodyPr wrap="square" lIns="0" tIns="0" rIns="0" bIns="0" rtlCol="0" anchor="ctr"/>
          <a:lstStyle/>
          <a:p>
            <a:pPr indent="0" marL="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154680"/>
            <a:ext cx="384048" cy="384048"/>
          </a:xfrm>
          <a:prstGeom prst="ellipse">
            <a:avLst/>
          </a:prstGeom>
          <a:solidFill>
            <a:srgbClr val="0D9488"/>
          </a:solidFill>
          <a:ln w="12700">
            <a:solidFill>
              <a:srgbClr val="0D9488"/>
            </a:solidFill>
            <a:prstDash val="solid"/>
          </a:ln>
        </p:spPr>
      </p:sp>
      <p:sp>
        <p:nvSpPr>
          <p:cNvPr id="11" name="Text 9"/>
          <p:cNvSpPr/>
          <p:nvPr/>
        </p:nvSpPr>
        <p:spPr>
          <a:xfrm>
            <a:off x="914400" y="315468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127248"/>
            <a:ext cx="685800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64992"/>
            <a:ext cx="6858000" cy="237744"/>
          </a:xfrm>
          <a:prstGeom prst="rect">
            <a:avLst/>
          </a:prstGeom>
          <a:noFill/>
          <a:ln/>
        </p:spPr>
        <p:txBody>
          <a:bodyPr wrap="square" lIns="0" tIns="0" rIns="0" bIns="0" rtlCol="0" anchor="ctr"/>
          <a:lstStyle/>
          <a:p>
            <a:pPr indent="0" marL="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657600"/>
            <a:ext cx="384048" cy="384048"/>
          </a:xfrm>
          <a:prstGeom prst="ellipse">
            <a:avLst/>
          </a:prstGeom>
          <a:solidFill>
            <a:srgbClr val="0D9488"/>
          </a:solidFill>
          <a:ln w="12700">
            <a:solidFill>
              <a:srgbClr val="0D9488"/>
            </a:solidFill>
            <a:prstDash val="solid"/>
          </a:ln>
        </p:spPr>
      </p:sp>
      <p:sp>
        <p:nvSpPr>
          <p:cNvPr id="15" name="Text 13"/>
          <p:cNvSpPr/>
          <p:nvPr/>
        </p:nvSpPr>
        <p:spPr>
          <a:xfrm>
            <a:off x="914400" y="365760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630168"/>
            <a:ext cx="685800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67912"/>
            <a:ext cx="6858000" cy="237744"/>
          </a:xfrm>
          <a:prstGeom prst="rect">
            <a:avLst/>
          </a:prstGeom>
          <a:noFill/>
          <a:ln/>
        </p:spPr>
        <p:txBody>
          <a:bodyPr wrap="square" lIns="0" tIns="0" rIns="0" bIns="0" rtlCol="0" anchor="ctr"/>
          <a:lstStyle/>
          <a:p>
            <a:pPr indent="0" marL="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60520"/>
            <a:ext cx="384048" cy="384048"/>
          </a:xfrm>
          <a:prstGeom prst="ellipse">
            <a:avLst/>
          </a:prstGeom>
          <a:solidFill>
            <a:srgbClr val="0D9488"/>
          </a:solidFill>
          <a:ln w="12700">
            <a:solidFill>
              <a:srgbClr val="0D9488"/>
            </a:solidFill>
            <a:prstDash val="solid"/>
          </a:ln>
        </p:spPr>
      </p:sp>
      <p:sp>
        <p:nvSpPr>
          <p:cNvPr id="19" name="Text 17"/>
          <p:cNvSpPr/>
          <p:nvPr/>
        </p:nvSpPr>
        <p:spPr>
          <a:xfrm>
            <a:off x="914400" y="416052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133088"/>
            <a:ext cx="685800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70832"/>
            <a:ext cx="6858000" cy="237744"/>
          </a:xfrm>
          <a:prstGeom prst="rect">
            <a:avLst/>
          </a:prstGeom>
          <a:noFill/>
          <a:ln/>
        </p:spPr>
        <p:txBody>
          <a:bodyPr wrap="square" lIns="0" tIns="0" rIns="0" bIns="0" rtlCol="0" anchor="ctr"/>
          <a:lstStyle/>
          <a:p>
            <a:pPr indent="0" marL="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indent="0" marL="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algn="r" indent="0" marL="0">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914400"/>
            <a:ext cx="4023360" cy="3657600"/>
          </a:xfrm>
          <a:prstGeom prst="rect">
            <a:avLst/>
          </a:prstGeom>
          <a:solidFill>
            <a:srgbClr val="F8FAFC"/>
          </a:solidFill>
          <a:ln w="9525">
            <a:solidFill>
              <a:srgbClr val="E2E8F0"/>
            </a:solidFill>
            <a:prstDash val="solid"/>
          </a:ln>
        </p:spPr>
      </p:sp>
      <p:sp>
        <p:nvSpPr>
          <p:cNvPr id="4" name="Shape 2"/>
          <p:cNvSpPr/>
          <p:nvPr/>
        </p:nvSpPr>
        <p:spPr>
          <a:xfrm>
            <a:off x="457200" y="914400"/>
            <a:ext cx="54864" cy="3657600"/>
          </a:xfrm>
          <a:prstGeom prst="rect">
            <a:avLst/>
          </a:prstGeom>
          <a:solidFill>
            <a:srgbClr val="D97706"/>
          </a:solidFill>
          <a:ln w="12700">
            <a:solidFill>
              <a:srgbClr val="D97706"/>
            </a:solidFill>
            <a:prstDash val="solid"/>
          </a:ln>
        </p:spPr>
      </p:sp>
      <p:sp>
        <p:nvSpPr>
          <p:cNvPr id="5" name="Shape 3"/>
          <p:cNvSpPr/>
          <p:nvPr/>
        </p:nvSpPr>
        <p:spPr>
          <a:xfrm>
            <a:off x="640080" y="1051560"/>
            <a:ext cx="411480" cy="411480"/>
          </a:xfrm>
          <a:prstGeom prst="roundRect">
            <a:avLst>
              <a:gd name="adj" fmla="val 17778"/>
            </a:avLst>
          </a:prstGeom>
          <a:solidFill>
            <a:srgbClr val="D97706"/>
          </a:solidFill>
          <a:ln w="12700">
            <a:solidFill>
              <a:srgbClr val="D97706"/>
            </a:solidFill>
            <a:prstDash val="solid"/>
          </a:ln>
          <a:effectLst>
            <a:outerShdw sx="100000" sy="100000" kx="0" ky="0" algn="bl" rotWithShape="0" blurRad="76200" dist="25400" dir="8100000">
              <a:srgbClr val="000000">
                <a:alpha val="12000"/>
              </a:srgbClr>
            </a:outerShdw>
          </a:effectLst>
        </p:spPr>
      </p:sp>
      <p:pic>
        <p:nvPicPr>
          <p:cNvPr id="6" name="Image 0" descr="preencoded.png">    </p:cNvPr>
          <p:cNvPicPr>
            <a:picLocks noChangeAspect="1"/>
          </p:cNvPicPr>
          <p:nvPr/>
        </p:nvPicPr>
        <p:blipFill>
          <a:blip r:embed="rId1"/>
          <a:stretch>
            <a:fillRect/>
          </a:stretch>
        </p:blipFill>
        <p:spPr>
          <a:xfrm>
            <a:off x="730606" y="1142086"/>
            <a:ext cx="230429" cy="230429"/>
          </a:xfrm>
          <a:prstGeom prst="rect">
            <a:avLst/>
          </a:prstGeom>
        </p:spPr>
      </p:pic>
      <p:sp>
        <p:nvSpPr>
          <p:cNvPr id="7" name="Text 4"/>
          <p:cNvSpPr/>
          <p:nvPr/>
        </p:nvSpPr>
        <p:spPr>
          <a:xfrm>
            <a:off x="1143000" y="1060704"/>
            <a:ext cx="3200400" cy="365760"/>
          </a:xfrm>
          <a:prstGeom prst="rect">
            <a:avLst/>
          </a:prstGeom>
          <a:noFill/>
          <a:ln/>
        </p:spPr>
        <p:txBody>
          <a:bodyPr wrap="square" lIns="0" tIns="0" rIns="0" bIns="0" rtlCol="0" anchor="ctr"/>
          <a:lstStyle/>
          <a:p>
            <a:pPr indent="0" marL="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Evaluation on 11 open-source projects; not a statistical claim</a:t>
            </a:r>
            <a:endParaRPr lang="en-US" sz="1150" dirty="0"/>
          </a:p>
        </p:txBody>
      </p:sp>
      <p:sp>
        <p:nvSpPr>
          <p:cNvPr id="9" name="Shape 6"/>
          <p:cNvSpPr/>
          <p:nvPr/>
        </p:nvSpPr>
        <p:spPr>
          <a:xfrm>
            <a:off x="4663440" y="914400"/>
            <a:ext cx="4023360" cy="3657600"/>
          </a:xfrm>
          <a:prstGeom prst="rect">
            <a:avLst/>
          </a:prstGeom>
          <a:solidFill>
            <a:srgbClr val="F8FAFC"/>
          </a:solidFill>
          <a:ln w="9525">
            <a:solidFill>
              <a:srgbClr val="E2E8F0"/>
            </a:solidFill>
            <a:prstDash val="solid"/>
          </a:ln>
        </p:spPr>
      </p:sp>
      <p:sp>
        <p:nvSpPr>
          <p:cNvPr id="10" name="Shape 7"/>
          <p:cNvSpPr/>
          <p:nvPr/>
        </p:nvSpPr>
        <p:spPr>
          <a:xfrm>
            <a:off x="4663440" y="914400"/>
            <a:ext cx="54864" cy="3657600"/>
          </a:xfrm>
          <a:prstGeom prst="rect">
            <a:avLst/>
          </a:prstGeom>
          <a:solidFill>
            <a:srgbClr val="0D9488"/>
          </a:solidFill>
          <a:ln w="12700">
            <a:solidFill>
              <a:srgbClr val="0D9488"/>
            </a:solidFill>
            <a:prstDash val="solid"/>
          </a:ln>
        </p:spPr>
      </p:sp>
      <p:sp>
        <p:nvSpPr>
          <p:cNvPr id="11" name="Shape 8"/>
          <p:cNvSpPr/>
          <p:nvPr/>
        </p:nvSpPr>
        <p:spPr>
          <a:xfrm>
            <a:off x="4846320" y="1051560"/>
            <a:ext cx="411480" cy="411480"/>
          </a:xfrm>
          <a:prstGeom prst="roundRect">
            <a:avLst>
              <a:gd name="adj" fmla="val 17778"/>
            </a:avLst>
          </a:prstGeom>
          <a:solidFill>
            <a:srgbClr val="0D9488"/>
          </a:solidFill>
          <a:ln w="12700">
            <a:solidFill>
              <a:srgbClr val="0D9488"/>
            </a:solidFill>
            <a:prstDash val="solid"/>
          </a:ln>
          <a:effectLst>
            <a:outerShdw sx="100000" sy="100000" kx="0" ky="0" algn="bl" rotWithShape="0" blurRad="76200" dist="25400" dir="8100000">
              <a:srgbClr val="000000">
                <a:alpha val="12000"/>
              </a:srgbClr>
            </a:outerShdw>
          </a:effectLst>
        </p:spPr>
      </p:sp>
      <p:pic>
        <p:nvPicPr>
          <p:cNvPr id="12" name="Image 1" descr="preencoded.png">    </p:cNvPr>
          <p:cNvPicPr>
            <a:picLocks noChangeAspect="1"/>
          </p:cNvPicPr>
          <p:nvPr/>
        </p:nvPicPr>
        <p:blipFill>
          <a:blip r:embed="rId2"/>
          <a:stretch>
            <a:fillRect/>
          </a:stretch>
        </p:blipFill>
        <p:spPr>
          <a:xfrm>
            <a:off x="4936846" y="1142086"/>
            <a:ext cx="230429" cy="230429"/>
          </a:xfrm>
          <a:prstGeom prst="rect">
            <a:avLst/>
          </a:prstGeom>
        </p:spPr>
      </p:pic>
      <p:sp>
        <p:nvSpPr>
          <p:cNvPr id="13" name="Text 9"/>
          <p:cNvSpPr/>
          <p:nvPr/>
        </p:nvSpPr>
        <p:spPr>
          <a:xfrm>
            <a:off x="5349240" y="1060704"/>
            <a:ext cx="3200400" cy="365760"/>
          </a:xfrm>
          <a:prstGeom prst="rect">
            <a:avLst/>
          </a:prstGeom>
          <a:noFill/>
          <a:ln/>
        </p:spPr>
        <p:txBody>
          <a:bodyPr wrap="square" lIns="0" tIns="0" rIns="0" bIns="0" rtlCol="0" anchor="ctr"/>
          <a:lstStyle/>
          <a:p>
            <a:pPr indent="0" marL="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93776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914400"/>
            <a:ext cx="7772400" cy="73152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731520" y="1737360"/>
            <a:ext cx="7772400" cy="411480"/>
          </a:xfrm>
          <a:prstGeom prst="rect">
            <a:avLst/>
          </a:prstGeom>
          <a:noFill/>
          <a:ln/>
        </p:spPr>
        <p:txBody>
          <a:bodyPr wrap="square" lIns="0" tIns="0" rIns="0" bIns="0" rtlCol="0" anchor="ctr"/>
          <a:lstStyle/>
          <a:p>
            <a:pPr indent="0" marL="0">
              <a:buNone/>
            </a:pPr>
            <a:r>
              <a:rPr lang="en-US" sz="2000" i="1" dirty="0">
                <a:solidFill>
                  <a:srgbClr val="DBEAFE"/>
                </a:solidFill>
                <a:latin typeface="Calibri" pitchFamily="34" charset="0"/>
                <a:ea typeface="Calibri" pitchFamily="34" charset="-122"/>
                <a:cs typeface="Calibri" pitchFamily="34" charset="-120"/>
              </a:rPr>
              <a:t>Questions &amp; discussion</a:t>
            </a:r>
            <a:endParaRPr lang="en-US" sz="2000" dirty="0"/>
          </a:p>
        </p:txBody>
      </p:sp>
      <p:sp>
        <p:nvSpPr>
          <p:cNvPr id="5" name="Shape 3"/>
          <p:cNvSpPr/>
          <p:nvPr/>
        </p:nvSpPr>
        <p:spPr>
          <a:xfrm>
            <a:off x="731520" y="2606040"/>
            <a:ext cx="7772400" cy="1783080"/>
          </a:xfrm>
          <a:prstGeom prst="rect">
            <a:avLst/>
          </a:prstGeom>
          <a:solidFill>
            <a:srgbClr val="1C4E80"/>
          </a:solidFill>
          <a:ln w="12700">
            <a:solidFill>
              <a:srgbClr val="1C4E80"/>
            </a:solidFill>
            <a:prstDash val="solid"/>
          </a:ln>
        </p:spPr>
      </p:sp>
      <p:sp>
        <p:nvSpPr>
          <p:cNvPr id="6" name="Text 4"/>
          <p:cNvSpPr/>
          <p:nvPr/>
        </p:nvSpPr>
        <p:spPr>
          <a:xfrm>
            <a:off x="914400" y="2697480"/>
            <a:ext cx="7498080" cy="320040"/>
          </a:xfrm>
          <a:prstGeom prst="rect">
            <a:avLst/>
          </a:prstGeom>
          <a:noFill/>
          <a:ln/>
        </p:spPr>
        <p:txBody>
          <a:bodyPr wrap="square" lIns="0" tIns="0" rIns="0" bIns="0" rtlCol="0" anchor="ctr"/>
          <a:lstStyle/>
          <a:p>
            <a:pPr indent="0" marL="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97280" y="3017520"/>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1</cp:revision>
  <dcterms:created xsi:type="dcterms:W3CDTF">2026-06-08T07:51:27Z</dcterms:created>
  <dcterms:modified xsi:type="dcterms:W3CDTF">2026-06-08T07:51:27Z</dcterms:modified>
</cp:coreProperties>
</file>