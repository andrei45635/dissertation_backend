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1065" autoAdjust="0"/>
  </p:normalViewPr>
  <p:slideViewPr>
    <p:cSldViewPr snapToGrid="0" snapToObjects="1">
      <p:cViewPr varScale="1">
        <p:scale>
          <a:sx n="104" d="100"/>
          <a:sy n="104" d="100"/>
        </p:scale>
        <p:origin x="1824"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Site-Where</c:v>
                </c:pt>
                <c:pt idx="4">
                  <c:v>RuoYi</c:v>
                </c:pt>
                <c:pt idx="5">
                  <c:v>design-pat.</c:v>
                </c:pt>
                <c:pt idx="6">
                  <c:v>mall-swarm</c:v>
                </c:pt>
                <c:pt idx="7">
                  <c:v>NetworkDisk</c:v>
                </c:pt>
                <c:pt idx="8">
                  <c:v>piomin</c:v>
                </c:pt>
                <c:pt idx="9">
                  <c:v>Train-Ticket</c:v>
                </c:pt>
                <c:pt idx="10">
                  <c:v>recruit</c:v>
                </c:pt>
              </c:strCache>
            </c:strRef>
          </c:cat>
          <c:val>
            <c:numRef>
              <c:f>Sheet1!$B$2:$B$12</c:f>
              <c:numCache>
                <c:formatCode>General</c:formatCode>
                <c:ptCount val="11"/>
                <c:pt idx="0">
                  <c:v>83</c:v>
                </c:pt>
                <c:pt idx="1">
                  <c:v>75</c:v>
                </c:pt>
                <c:pt idx="2">
                  <c:v>71</c:v>
                </c:pt>
                <c:pt idx="3">
                  <c:v>69</c:v>
                </c:pt>
                <c:pt idx="4">
                  <c:v>68</c:v>
                </c:pt>
                <c:pt idx="5">
                  <c:v>60</c:v>
                </c:pt>
                <c:pt idx="6">
                  <c:v>53</c:v>
                </c:pt>
                <c:pt idx="7">
                  <c:v>52</c:v>
                </c:pt>
                <c:pt idx="8">
                  <c:v>51</c:v>
                </c:pt>
                <c:pt idx="9">
                  <c:v>40</c:v>
                </c:pt>
                <c:pt idx="10">
                  <c:v>40</c:v>
                </c:pt>
              </c:numCache>
            </c:numRef>
          </c:val>
          <c:extLst>
            <c:ext xmlns:c16="http://schemas.microsoft.com/office/drawing/2014/chart" uri="{C3380CC4-5D6E-409C-BE32-E72D297353CC}">
              <c16:uniqueId val="{00000000-553C-4958-82EF-F74EA1498A5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320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a:t>
            </a:r>
          </a:p>
          <a:p>
            <a:r>
              <a:rPr lang="en-US" dirty="0"/>
              <a:t>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a:t>
            </a:r>
          </a:p>
          <a:p>
            <a:r>
              <a:rPr lang="en-US" dirty="0"/>
              <a:t>'The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a:t>
            </a:r>
          </a:p>
          <a:p>
            <a:r>
              <a:rPr lang="en-US" dirty="0"/>
              <a: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a:t>
            </a:r>
          </a:p>
          <a:p>
            <a:r>
              <a:rPr lang="en-US" dirty="0"/>
              <a:t>'The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a:t>
            </a:r>
          </a:p>
          <a:p>
            <a:r>
              <a:rPr lang="en-US" dirty="0"/>
              <a:t>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
</a:t>
            </a:r>
          </a:p>
          <a:p>
            <a:r>
              <a:rPr lang="en-US" dirty="0"/>
              <a:t>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43 hardcoded endpoints, 37 API versioning absences, 23 nano services. 
• '126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the MSA Detector is a multi-level static analysis tool for Java/Spring Boot microservices, with ten anti-pattern detectors, a composite health score, and evidence-based reporting. The full implementation, evaluation data, and dissertation are available. 'If there's one thing I'd like you to take away, it's that the bridge between code-level evidence and architectural-level findings is what makes this tool different — it doesn't just say something is wrong, it shows you exactly where in the code the problem lives. Thank you.'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Structural class metrics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Six structural metrics</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structural metrics computed from its AST:</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868680"/>
          </a:xfrm>
          <a:prstGeom prst="rect">
            <a:avLst/>
          </a:prstGeom>
          <a:solidFill>
            <a:srgbClr val="F8FAFC"/>
          </a:solidFill>
          <a:ln w="9525">
            <a:solidFill>
              <a:srgbClr val="E2E8F0"/>
            </a:solidFill>
            <a:prstDash val="solid"/>
          </a:ln>
        </p:spPr>
        <p:txBody>
          <a:bodyPr/>
          <a:lstStyle/>
          <a:p>
            <a:endParaRPr lang="en-US"/>
          </a:p>
        </p:txBody>
      </p:sp>
      <p:sp>
        <p:nvSpPr>
          <p:cNvPr id="40" name="Shape 38"/>
          <p:cNvSpPr/>
          <p:nvPr/>
        </p:nvSpPr>
        <p:spPr>
          <a:xfrm>
            <a:off x="457200" y="3931920"/>
            <a:ext cx="54864" cy="86868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050" dirty="0">
                <a:solidFill>
                  <a:srgbClr val="1E293B"/>
                </a:solidFill>
                <a:latin typeface="Calibri" pitchFamily="34" charset="0"/>
                <a:ea typeface="Calibri" pitchFamily="34" charset="-122"/>
                <a:cs typeface="Calibri" pitchFamily="34" charset="-120"/>
              </a:rPr>
              <a:t>A single number tells teams whether quality is improving </a:t>
            </a:r>
          </a:p>
          <a:p>
            <a:pPr marL="171450" indent="-171450">
              <a:buFont typeface="Arial" panose="020B0604020202020204" pitchFamily="34" charset="0"/>
              <a:buChar char="•"/>
            </a:pPr>
            <a:r>
              <a:rPr lang="en-US" sz="1050" dirty="0">
                <a:solidFill>
                  <a:srgbClr val="1E293B"/>
                </a:solidFill>
                <a:latin typeface="Calibri" pitchFamily="34" charset="0"/>
                <a:ea typeface="Calibri" pitchFamily="34" charset="-122"/>
                <a:cs typeface="Calibri" pitchFamily="34" charset="-120"/>
              </a:rPr>
              <a:t>per-category breakdown tells them WHICH dimension needs attention </a:t>
            </a:r>
          </a:p>
          <a:p>
            <a:pPr marL="171450" indent="-171450">
              <a:buFont typeface="Arial" panose="020B0604020202020204" pitchFamily="34" charset="0"/>
              <a:buChar char="•"/>
            </a:pPr>
            <a:r>
              <a:rPr lang="en-US" sz="1050" dirty="0">
                <a:solidFill>
                  <a:srgbClr val="1E293B"/>
                </a:solidFill>
                <a:latin typeface="Calibri" pitchFamily="34" charset="0"/>
                <a:ea typeface="Calibri" pitchFamily="34" charset="-122"/>
                <a:cs typeface="Calibri" pitchFamily="34" charset="-120"/>
              </a:rPr>
              <a:t>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188720"/>
            <a:ext cx="4114800" cy="283464"/>
          </a:xfrm>
          <a:prstGeom prst="rect">
            <a:avLst/>
          </a:prstGeom>
          <a:solidFill>
            <a:srgbClr val="F8FAFC"/>
          </a:solidFill>
          <a:ln w="6350">
            <a:solidFill>
              <a:srgbClr val="E2E8F0"/>
            </a:solidFill>
            <a:prstDash val="solid"/>
          </a:ln>
        </p:spPr>
      </p:sp>
      <p:sp>
        <p:nvSpPr>
          <p:cNvPr id="5" name="Text 3"/>
          <p:cNvSpPr/>
          <p:nvPr/>
        </p:nvSpPr>
        <p:spPr>
          <a:xfrm>
            <a:off x="502920" y="1188720"/>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188720"/>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188720"/>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504188"/>
            <a:ext cx="4114800" cy="283464"/>
          </a:xfrm>
          <a:prstGeom prst="rect">
            <a:avLst/>
          </a:prstGeom>
          <a:solidFill>
            <a:srgbClr val="F8FAFC"/>
          </a:solidFill>
          <a:ln w="6350">
            <a:solidFill>
              <a:srgbClr val="E2E8F0"/>
            </a:solidFill>
            <a:prstDash val="solid"/>
          </a:ln>
        </p:spPr>
      </p:sp>
      <p:sp>
        <p:nvSpPr>
          <p:cNvPr id="9" name="Text 7"/>
          <p:cNvSpPr/>
          <p:nvPr/>
        </p:nvSpPr>
        <p:spPr>
          <a:xfrm>
            <a:off x="502920" y="1504188"/>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504188"/>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504188"/>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819656"/>
            <a:ext cx="4114800" cy="283464"/>
          </a:xfrm>
          <a:prstGeom prst="rect">
            <a:avLst/>
          </a:prstGeom>
          <a:solidFill>
            <a:srgbClr val="F8FAFC"/>
          </a:solidFill>
          <a:ln w="6350">
            <a:solidFill>
              <a:srgbClr val="E2E8F0"/>
            </a:solidFill>
            <a:prstDash val="solid"/>
          </a:ln>
        </p:spPr>
      </p:sp>
      <p:sp>
        <p:nvSpPr>
          <p:cNvPr id="13" name="Text 11"/>
          <p:cNvSpPr/>
          <p:nvPr/>
        </p:nvSpPr>
        <p:spPr>
          <a:xfrm>
            <a:off x="502920" y="1819656"/>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819656"/>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819656"/>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135124"/>
            <a:ext cx="4114800" cy="283464"/>
          </a:xfrm>
          <a:prstGeom prst="rect">
            <a:avLst/>
          </a:prstGeom>
          <a:solidFill>
            <a:srgbClr val="F8FAFC"/>
          </a:solidFill>
          <a:ln w="6350">
            <a:solidFill>
              <a:srgbClr val="E2E8F0"/>
            </a:solidFill>
            <a:prstDash val="solid"/>
          </a:ln>
        </p:spPr>
      </p:sp>
      <p:sp>
        <p:nvSpPr>
          <p:cNvPr id="17" name="Text 15"/>
          <p:cNvSpPr/>
          <p:nvPr/>
        </p:nvSpPr>
        <p:spPr>
          <a:xfrm>
            <a:off x="502920" y="2135124"/>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135124"/>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135124"/>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450592"/>
            <a:ext cx="4114800" cy="283464"/>
          </a:xfrm>
          <a:prstGeom prst="rect">
            <a:avLst/>
          </a:prstGeom>
          <a:solidFill>
            <a:srgbClr val="F8FAFC"/>
          </a:solidFill>
          <a:ln w="6350">
            <a:solidFill>
              <a:srgbClr val="E2E8F0"/>
            </a:solidFill>
            <a:prstDash val="solid"/>
          </a:ln>
        </p:spPr>
      </p:sp>
      <p:sp>
        <p:nvSpPr>
          <p:cNvPr id="21" name="Text 19"/>
          <p:cNvSpPr/>
          <p:nvPr/>
        </p:nvSpPr>
        <p:spPr>
          <a:xfrm>
            <a:off x="502920" y="2450592"/>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450592"/>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450592"/>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807208"/>
            <a:ext cx="4114800" cy="411480"/>
          </a:xfrm>
          <a:prstGeom prst="rect">
            <a:avLst/>
          </a:prstGeom>
          <a:solidFill>
            <a:srgbClr val="0F2A44"/>
          </a:solidFill>
          <a:ln w="12700">
            <a:solidFill>
              <a:srgbClr val="0F2A44"/>
            </a:solidFill>
            <a:prstDash val="solid"/>
          </a:ln>
        </p:spPr>
      </p:sp>
      <p:sp>
        <p:nvSpPr>
          <p:cNvPr id="25" name="Text 23"/>
          <p:cNvSpPr/>
          <p:nvPr/>
        </p:nvSpPr>
        <p:spPr>
          <a:xfrm>
            <a:off x="457200" y="2807208"/>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282696"/>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11880"/>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(penalty 49)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795897"/>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115937"/>
            <a:ext cx="2743200" cy="192024"/>
          </a:xfrm>
          <a:prstGeom prst="rect">
            <a:avLst/>
          </a:prstGeom>
          <a:solidFill>
            <a:srgbClr val="F8FAFC"/>
          </a:solidFill>
          <a:ln w="6350">
            <a:solidFill>
              <a:srgbClr val="E2E8F0"/>
            </a:solidFill>
            <a:prstDash val="solid"/>
          </a:ln>
        </p:spPr>
      </p:sp>
      <p:sp>
        <p:nvSpPr>
          <p:cNvPr id="6" name="Text 3"/>
          <p:cNvSpPr/>
          <p:nvPr/>
        </p:nvSpPr>
        <p:spPr>
          <a:xfrm>
            <a:off x="6126480" y="1115937"/>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115937"/>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115937"/>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335393"/>
            <a:ext cx="2743200" cy="192024"/>
          </a:xfrm>
          <a:prstGeom prst="rect">
            <a:avLst/>
          </a:prstGeom>
          <a:solidFill>
            <a:srgbClr val="F8FAFC"/>
          </a:solidFill>
          <a:ln w="6350">
            <a:solidFill>
              <a:srgbClr val="E2E8F0"/>
            </a:solidFill>
            <a:prstDash val="solid"/>
          </a:ln>
        </p:spPr>
      </p:sp>
      <p:sp>
        <p:nvSpPr>
          <p:cNvPr id="10" name="Text 7"/>
          <p:cNvSpPr/>
          <p:nvPr/>
        </p:nvSpPr>
        <p:spPr>
          <a:xfrm>
            <a:off x="6126480" y="1335393"/>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335393"/>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335393"/>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554849"/>
            <a:ext cx="2743200" cy="192024"/>
          </a:xfrm>
          <a:prstGeom prst="rect">
            <a:avLst/>
          </a:prstGeom>
          <a:solidFill>
            <a:srgbClr val="F8FAFC"/>
          </a:solidFill>
          <a:ln w="6350">
            <a:solidFill>
              <a:srgbClr val="E2E8F0"/>
            </a:solidFill>
            <a:prstDash val="solid"/>
          </a:ln>
        </p:spPr>
      </p:sp>
      <p:sp>
        <p:nvSpPr>
          <p:cNvPr id="14" name="Text 11"/>
          <p:cNvSpPr/>
          <p:nvPr/>
        </p:nvSpPr>
        <p:spPr>
          <a:xfrm>
            <a:off x="6126480" y="1554849"/>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554849"/>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554849"/>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774305"/>
            <a:ext cx="2743200" cy="192024"/>
          </a:xfrm>
          <a:prstGeom prst="rect">
            <a:avLst/>
          </a:prstGeom>
          <a:solidFill>
            <a:srgbClr val="F8FAFC"/>
          </a:solidFill>
          <a:ln w="6350">
            <a:solidFill>
              <a:srgbClr val="E2E8F0"/>
            </a:solidFill>
            <a:prstDash val="solid"/>
          </a:ln>
        </p:spPr>
      </p:sp>
      <p:sp>
        <p:nvSpPr>
          <p:cNvPr id="18" name="Text 15"/>
          <p:cNvSpPr/>
          <p:nvPr/>
        </p:nvSpPr>
        <p:spPr>
          <a:xfrm>
            <a:off x="6126480" y="1774305"/>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774305"/>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774305"/>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1993761"/>
            <a:ext cx="2743200" cy="192024"/>
          </a:xfrm>
          <a:prstGeom prst="rect">
            <a:avLst/>
          </a:prstGeom>
          <a:solidFill>
            <a:srgbClr val="F8FAFC"/>
          </a:solidFill>
          <a:ln w="6350">
            <a:solidFill>
              <a:srgbClr val="E2E8F0"/>
            </a:solidFill>
            <a:prstDash val="solid"/>
          </a:ln>
        </p:spPr>
      </p:sp>
      <p:sp>
        <p:nvSpPr>
          <p:cNvPr id="22" name="Text 19"/>
          <p:cNvSpPr/>
          <p:nvPr/>
        </p:nvSpPr>
        <p:spPr>
          <a:xfrm>
            <a:off x="6126480" y="1993761"/>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1993761"/>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1993761"/>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213217"/>
            <a:ext cx="2743200" cy="192024"/>
          </a:xfrm>
          <a:prstGeom prst="rect">
            <a:avLst/>
          </a:prstGeom>
          <a:solidFill>
            <a:srgbClr val="F8FAFC"/>
          </a:solidFill>
          <a:ln w="6350">
            <a:solidFill>
              <a:srgbClr val="E2E8F0"/>
            </a:solidFill>
            <a:prstDash val="solid"/>
          </a:ln>
        </p:spPr>
      </p:sp>
      <p:sp>
        <p:nvSpPr>
          <p:cNvPr id="26" name="Text 23"/>
          <p:cNvSpPr/>
          <p:nvPr/>
        </p:nvSpPr>
        <p:spPr>
          <a:xfrm>
            <a:off x="6126480" y="2213217"/>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213217"/>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213217"/>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432673"/>
            <a:ext cx="2743200" cy="192024"/>
          </a:xfrm>
          <a:prstGeom prst="rect">
            <a:avLst/>
          </a:prstGeom>
          <a:solidFill>
            <a:srgbClr val="F8FAFC"/>
          </a:solidFill>
          <a:ln w="6350">
            <a:solidFill>
              <a:srgbClr val="E2E8F0"/>
            </a:solidFill>
            <a:prstDash val="solid"/>
          </a:ln>
        </p:spPr>
      </p:sp>
      <p:sp>
        <p:nvSpPr>
          <p:cNvPr id="30" name="Text 27"/>
          <p:cNvSpPr/>
          <p:nvPr/>
        </p:nvSpPr>
        <p:spPr>
          <a:xfrm>
            <a:off x="6126480" y="2432673"/>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432673"/>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432673"/>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652129"/>
            <a:ext cx="2743200" cy="192024"/>
          </a:xfrm>
          <a:prstGeom prst="rect">
            <a:avLst/>
          </a:prstGeom>
          <a:solidFill>
            <a:srgbClr val="F8FAFC"/>
          </a:solidFill>
          <a:ln w="6350">
            <a:solidFill>
              <a:srgbClr val="E2E8F0"/>
            </a:solidFill>
            <a:prstDash val="solid"/>
          </a:ln>
        </p:spPr>
      </p:sp>
      <p:sp>
        <p:nvSpPr>
          <p:cNvPr id="34" name="Text 31"/>
          <p:cNvSpPr/>
          <p:nvPr/>
        </p:nvSpPr>
        <p:spPr>
          <a:xfrm>
            <a:off x="6126480" y="2652129"/>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652129"/>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652129"/>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871585"/>
            <a:ext cx="2743200" cy="192024"/>
          </a:xfrm>
          <a:prstGeom prst="rect">
            <a:avLst/>
          </a:prstGeom>
          <a:solidFill>
            <a:srgbClr val="F8FAFC"/>
          </a:solidFill>
          <a:ln w="6350">
            <a:solidFill>
              <a:srgbClr val="E2E8F0"/>
            </a:solidFill>
            <a:prstDash val="solid"/>
          </a:ln>
        </p:spPr>
      </p:sp>
      <p:sp>
        <p:nvSpPr>
          <p:cNvPr id="38" name="Text 35"/>
          <p:cNvSpPr/>
          <p:nvPr/>
        </p:nvSpPr>
        <p:spPr>
          <a:xfrm>
            <a:off x="6126480" y="2871585"/>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871585"/>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871585"/>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091041"/>
            <a:ext cx="2743200" cy="192024"/>
          </a:xfrm>
          <a:prstGeom prst="rect">
            <a:avLst/>
          </a:prstGeom>
          <a:solidFill>
            <a:srgbClr val="F8FAFC"/>
          </a:solidFill>
          <a:ln w="6350">
            <a:solidFill>
              <a:srgbClr val="E2E8F0"/>
            </a:solidFill>
            <a:prstDash val="solid"/>
          </a:ln>
        </p:spPr>
      </p:sp>
      <p:sp>
        <p:nvSpPr>
          <p:cNvPr id="42" name="Text 39"/>
          <p:cNvSpPr/>
          <p:nvPr/>
        </p:nvSpPr>
        <p:spPr>
          <a:xfrm>
            <a:off x="6126480" y="3091041"/>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091041"/>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091041"/>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310497"/>
            <a:ext cx="2743200" cy="192024"/>
          </a:xfrm>
          <a:prstGeom prst="rect">
            <a:avLst/>
          </a:prstGeom>
          <a:solidFill>
            <a:srgbClr val="F8FAFC"/>
          </a:solidFill>
          <a:ln w="6350">
            <a:solidFill>
              <a:srgbClr val="E2E8F0"/>
            </a:solidFill>
            <a:prstDash val="solid"/>
          </a:ln>
        </p:spPr>
      </p:sp>
      <p:sp>
        <p:nvSpPr>
          <p:cNvPr id="46" name="Text 43"/>
          <p:cNvSpPr/>
          <p:nvPr/>
        </p:nvSpPr>
        <p:spPr>
          <a:xfrm>
            <a:off x="6126480" y="3310497"/>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310497"/>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310497"/>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529953"/>
            <a:ext cx="2743200" cy="192024"/>
          </a:xfrm>
          <a:prstGeom prst="rect">
            <a:avLst/>
          </a:prstGeom>
          <a:solidFill>
            <a:srgbClr val="0F2A44"/>
          </a:solidFill>
          <a:ln w="6350">
            <a:solidFill>
              <a:srgbClr val="E2E8F0"/>
            </a:solidFill>
            <a:prstDash val="solid"/>
          </a:ln>
        </p:spPr>
      </p:sp>
      <p:sp>
        <p:nvSpPr>
          <p:cNvPr id="50" name="Text 47"/>
          <p:cNvSpPr/>
          <p:nvPr/>
        </p:nvSpPr>
        <p:spPr>
          <a:xfrm>
            <a:off x="6126480" y="3529953"/>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529953"/>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529953"/>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69080"/>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126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Hardcoded Endpoints (43) and API Versioning Absence (37)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685800" y="2528316"/>
            <a:ext cx="5373255" cy="2148840"/>
          </a:xfrm>
          <a:prstGeom prst="rect">
            <a:avLst/>
          </a:prstGeom>
          <a:solidFill>
            <a:srgbClr val="1C4E80"/>
          </a:solidFill>
          <a:ln w="12700">
            <a:solidFill>
              <a:srgbClr val="1C4E80"/>
            </a:solidFill>
            <a:prstDash val="solid"/>
          </a:ln>
        </p:spPr>
      </p:sp>
      <p:sp>
        <p:nvSpPr>
          <p:cNvPr id="6" name="Shape 4"/>
          <p:cNvSpPr/>
          <p:nvPr/>
        </p:nvSpPr>
        <p:spPr>
          <a:xfrm>
            <a:off x="914400" y="2651760"/>
            <a:ext cx="384048" cy="384048"/>
          </a:xfrm>
          <a:prstGeom prst="ellipse">
            <a:avLst/>
          </a:prstGeom>
          <a:solidFill>
            <a:srgbClr val="0D9488"/>
          </a:solidFill>
          <a:ln w="12700">
            <a:solidFill>
              <a:srgbClr val="0D9488"/>
            </a:solidFill>
            <a:prstDash val="solid"/>
          </a:ln>
        </p:spPr>
      </p:sp>
      <p:sp>
        <p:nvSpPr>
          <p:cNvPr id="7" name="Text 5"/>
          <p:cNvSpPr/>
          <p:nvPr/>
        </p:nvSpPr>
        <p:spPr>
          <a:xfrm>
            <a:off x="914400" y="265176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62432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6207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154680"/>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15468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12724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6499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657600"/>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65760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63016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6791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60520"/>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60520"/>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133088"/>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70832"/>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r>
              <a:rPr lang="en-US" sz="2000" i="1" dirty="0">
                <a:solidFill>
                  <a:srgbClr val="DBEAFE"/>
                </a:solidFill>
                <a:latin typeface="Calibri" pitchFamily="34" charset="0"/>
                <a:ea typeface="Calibri" pitchFamily="34" charset="-122"/>
                <a:cs typeface="Calibri" pitchFamily="34" charset="-120"/>
              </a:rPr>
              <a:t>Questions &amp; discussion</a:t>
            </a:r>
            <a:endParaRPr lang="en-US" sz="2000" dirty="0"/>
          </a:p>
        </p:txBody>
      </p:sp>
      <p:sp>
        <p:nvSpPr>
          <p:cNvPr id="5" name="Shape 3"/>
          <p:cNvSpPr/>
          <p:nvPr/>
        </p:nvSpPr>
        <p:spPr>
          <a:xfrm>
            <a:off x="731520" y="2697479"/>
            <a:ext cx="6241935" cy="1691641"/>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97280" y="301752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4281</Words>
  <Application>Microsoft Office PowerPoint</Application>
  <PresentationFormat>On-screen Show (16:9)</PresentationFormat>
  <Paragraphs>276</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cp:revision>
  <dcterms:created xsi:type="dcterms:W3CDTF">2026-06-04T10:51:44Z</dcterms:created>
  <dcterms:modified xsi:type="dcterms:W3CDTF">2026-06-04T10:58:27Z</dcterms:modified>
</cp:coreProperties>
</file>