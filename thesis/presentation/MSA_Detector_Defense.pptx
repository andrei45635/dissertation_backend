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Site-Where</c:v>
                </c:pt>
                <c:pt idx="4">
                  <c:v>RuoYi</c:v>
                </c:pt>
                <c:pt idx="5">
                  <c:v>design-pat.</c:v>
                </c:pt>
                <c:pt idx="6">
                  <c:v>mall-swarm</c:v>
                </c:pt>
                <c:pt idx="7">
                  <c:v>NetworkDisk</c:v>
                </c:pt>
                <c:pt idx="8">
                  <c:v>piomin</c:v>
                </c:pt>
                <c:pt idx="9">
                  <c:v>Train-Ticket</c:v>
                </c:pt>
                <c:pt idx="10">
                  <c:v>recruit</c:v>
                </c:pt>
              </c:strCache>
            </c:strRef>
          </c:cat>
          <c:val>
            <c:numRef>
              <c:f>Sheet1!$B$2:$B$12</c:f>
              <c:numCache>
                <c:formatCode>General</c:formatCode>
                <c:ptCount val="11"/>
                <c:pt idx="0">
                  <c:v>83</c:v>
                </c:pt>
                <c:pt idx="1">
                  <c:v>75</c:v>
                </c:pt>
                <c:pt idx="2">
                  <c:v>71</c:v>
                </c:pt>
                <c:pt idx="3">
                  <c:v>69</c:v>
                </c:pt>
                <c:pt idx="4">
                  <c:v>68</c:v>
                </c:pt>
                <c:pt idx="5">
                  <c:v>60</c:v>
                </c:pt>
                <c:pt idx="6">
                  <c:v>53</c:v>
                </c:pt>
                <c:pt idx="7">
                  <c:v>52</c:v>
                </c:pt>
                <c:pt idx="8">
                  <c:v>51</c:v>
                </c:pt>
                <c:pt idx="9">
                  <c:v>40</c:v>
                </c:pt>
                <c:pt idx="10">
                  <c:v>40</c:v>
                </c:pt>
              </c:numCache>
            </c:numRef>
          </c:val>
          <c:extLst>
            <c:ext xmlns:c16="http://schemas.microsoft.com/office/drawing/2014/chart" uri="{C3380CC4-5D6E-409C-BE32-E72D297353CC}">
              <c16:uniqueId val="{00000000-17BB-4868-A2DC-ECF37717789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08658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Don't dwell on each one. They'll see the details later. This slide sets expectations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43 hardcoded endpoints, 37 API versioning absences, 23 nano services. Cyclic Dependency and Wrong Cuts were detected in microservice-recruit. Adding PiggyMetrics and piomin broadened ESB Misuse and Nano Service coverage.'
• '126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078992"/>
            <a:ext cx="4114800" cy="283464"/>
          </a:xfrm>
          <a:prstGeom prst="rect">
            <a:avLst/>
          </a:prstGeom>
          <a:solidFill>
            <a:srgbClr val="F8FAFC"/>
          </a:solidFill>
          <a:ln w="6350">
            <a:solidFill>
              <a:srgbClr val="E2E8F0"/>
            </a:solidFill>
            <a:prstDash val="solid"/>
          </a:ln>
        </p:spPr>
      </p:sp>
      <p:sp>
        <p:nvSpPr>
          <p:cNvPr id="5" name="Text 3"/>
          <p:cNvSpPr/>
          <p:nvPr/>
        </p:nvSpPr>
        <p:spPr>
          <a:xfrm>
            <a:off x="502920" y="1078992"/>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078992"/>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078992"/>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394460"/>
            <a:ext cx="4114800" cy="283464"/>
          </a:xfrm>
          <a:prstGeom prst="rect">
            <a:avLst/>
          </a:prstGeom>
          <a:solidFill>
            <a:srgbClr val="F8FAFC"/>
          </a:solidFill>
          <a:ln w="6350">
            <a:solidFill>
              <a:srgbClr val="E2E8F0"/>
            </a:solidFill>
            <a:prstDash val="solid"/>
          </a:ln>
        </p:spPr>
      </p:sp>
      <p:sp>
        <p:nvSpPr>
          <p:cNvPr id="9" name="Text 7"/>
          <p:cNvSpPr/>
          <p:nvPr/>
        </p:nvSpPr>
        <p:spPr>
          <a:xfrm>
            <a:off x="502920" y="1394460"/>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394460"/>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394460"/>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709928"/>
            <a:ext cx="4114800" cy="283464"/>
          </a:xfrm>
          <a:prstGeom prst="rect">
            <a:avLst/>
          </a:prstGeom>
          <a:solidFill>
            <a:srgbClr val="F8FAFC"/>
          </a:solidFill>
          <a:ln w="6350">
            <a:solidFill>
              <a:srgbClr val="E2E8F0"/>
            </a:solidFill>
            <a:prstDash val="solid"/>
          </a:ln>
        </p:spPr>
      </p:sp>
      <p:sp>
        <p:nvSpPr>
          <p:cNvPr id="13" name="Text 11"/>
          <p:cNvSpPr/>
          <p:nvPr/>
        </p:nvSpPr>
        <p:spPr>
          <a:xfrm>
            <a:off x="502920" y="1709928"/>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709928"/>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709928"/>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025396"/>
            <a:ext cx="4114800" cy="283464"/>
          </a:xfrm>
          <a:prstGeom prst="rect">
            <a:avLst/>
          </a:prstGeom>
          <a:solidFill>
            <a:srgbClr val="F8FAFC"/>
          </a:solidFill>
          <a:ln w="6350">
            <a:solidFill>
              <a:srgbClr val="E2E8F0"/>
            </a:solidFill>
            <a:prstDash val="solid"/>
          </a:ln>
        </p:spPr>
      </p:sp>
      <p:sp>
        <p:nvSpPr>
          <p:cNvPr id="17" name="Text 15"/>
          <p:cNvSpPr/>
          <p:nvPr/>
        </p:nvSpPr>
        <p:spPr>
          <a:xfrm>
            <a:off x="502920" y="2025396"/>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025396"/>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025396"/>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340864"/>
            <a:ext cx="4114800" cy="283464"/>
          </a:xfrm>
          <a:prstGeom prst="rect">
            <a:avLst/>
          </a:prstGeom>
          <a:solidFill>
            <a:srgbClr val="F8FAFC"/>
          </a:solidFill>
          <a:ln w="6350">
            <a:solidFill>
              <a:srgbClr val="E2E8F0"/>
            </a:solidFill>
            <a:prstDash val="solid"/>
          </a:ln>
        </p:spPr>
      </p:sp>
      <p:sp>
        <p:nvSpPr>
          <p:cNvPr id="21" name="Text 19"/>
          <p:cNvSpPr/>
          <p:nvPr/>
        </p:nvSpPr>
        <p:spPr>
          <a:xfrm>
            <a:off x="502920" y="2340864"/>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340864"/>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340864"/>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697480"/>
            <a:ext cx="4114800" cy="411480"/>
          </a:xfrm>
          <a:prstGeom prst="rect">
            <a:avLst/>
          </a:prstGeom>
          <a:solidFill>
            <a:srgbClr val="0F2A44"/>
          </a:solidFill>
          <a:ln w="12700">
            <a:solidFill>
              <a:srgbClr val="0F2A44"/>
            </a:solidFill>
            <a:prstDash val="solid"/>
          </a:ln>
        </p:spPr>
      </p:sp>
      <p:sp>
        <p:nvSpPr>
          <p:cNvPr id="25" name="Text 23"/>
          <p:cNvSpPr/>
          <p:nvPr/>
        </p:nvSpPr>
        <p:spPr>
          <a:xfrm>
            <a:off x="457200" y="2697480"/>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46120"/>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(penalty 49) clamps AP to 0; Architecture loses 9 to dependency-graph coupling; Code Quality 8 to smell density; 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80760" y="731520"/>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80760" y="1051560"/>
            <a:ext cx="2743200" cy="192024"/>
          </a:xfrm>
          <a:prstGeom prst="rect">
            <a:avLst/>
          </a:prstGeom>
          <a:solidFill>
            <a:srgbClr val="F8FAFC"/>
          </a:solidFill>
          <a:ln w="6350">
            <a:solidFill>
              <a:srgbClr val="E2E8F0"/>
            </a:solidFill>
            <a:prstDash val="solid"/>
          </a:ln>
        </p:spPr>
      </p:sp>
      <p:sp>
        <p:nvSpPr>
          <p:cNvPr id="6" name="Text 3"/>
          <p:cNvSpPr/>
          <p:nvPr/>
        </p:nvSpPr>
        <p:spPr>
          <a:xfrm>
            <a:off x="6172200" y="105156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52360" y="105156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909560" y="105156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80760" y="1271016"/>
            <a:ext cx="2743200" cy="192024"/>
          </a:xfrm>
          <a:prstGeom prst="rect">
            <a:avLst/>
          </a:prstGeom>
          <a:solidFill>
            <a:srgbClr val="F8FAFC"/>
          </a:solidFill>
          <a:ln w="6350">
            <a:solidFill>
              <a:srgbClr val="E2E8F0"/>
            </a:solidFill>
            <a:prstDash val="solid"/>
          </a:ln>
        </p:spPr>
      </p:sp>
      <p:sp>
        <p:nvSpPr>
          <p:cNvPr id="10" name="Text 7"/>
          <p:cNvSpPr/>
          <p:nvPr/>
        </p:nvSpPr>
        <p:spPr>
          <a:xfrm>
            <a:off x="6172200" y="127101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52360" y="127101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909560" y="127101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80760" y="1490472"/>
            <a:ext cx="2743200" cy="192024"/>
          </a:xfrm>
          <a:prstGeom prst="rect">
            <a:avLst/>
          </a:prstGeom>
          <a:solidFill>
            <a:srgbClr val="F8FAFC"/>
          </a:solidFill>
          <a:ln w="6350">
            <a:solidFill>
              <a:srgbClr val="E2E8F0"/>
            </a:solidFill>
            <a:prstDash val="solid"/>
          </a:ln>
        </p:spPr>
      </p:sp>
      <p:sp>
        <p:nvSpPr>
          <p:cNvPr id="14" name="Text 11"/>
          <p:cNvSpPr/>
          <p:nvPr/>
        </p:nvSpPr>
        <p:spPr>
          <a:xfrm>
            <a:off x="6172200" y="149047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52360" y="149047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909560" y="149047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80760" y="1709928"/>
            <a:ext cx="2743200" cy="192024"/>
          </a:xfrm>
          <a:prstGeom prst="rect">
            <a:avLst/>
          </a:prstGeom>
          <a:solidFill>
            <a:srgbClr val="F8FAFC"/>
          </a:solidFill>
          <a:ln w="6350">
            <a:solidFill>
              <a:srgbClr val="E2E8F0"/>
            </a:solidFill>
            <a:prstDash val="solid"/>
          </a:ln>
        </p:spPr>
      </p:sp>
      <p:sp>
        <p:nvSpPr>
          <p:cNvPr id="18" name="Text 15"/>
          <p:cNvSpPr/>
          <p:nvPr/>
        </p:nvSpPr>
        <p:spPr>
          <a:xfrm>
            <a:off x="6172200" y="170992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52360" y="170992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909560" y="170992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80760" y="1929384"/>
            <a:ext cx="2743200" cy="192024"/>
          </a:xfrm>
          <a:prstGeom prst="rect">
            <a:avLst/>
          </a:prstGeom>
          <a:solidFill>
            <a:srgbClr val="F8FAFC"/>
          </a:solidFill>
          <a:ln w="6350">
            <a:solidFill>
              <a:srgbClr val="E2E8F0"/>
            </a:solidFill>
            <a:prstDash val="solid"/>
          </a:ln>
        </p:spPr>
      </p:sp>
      <p:sp>
        <p:nvSpPr>
          <p:cNvPr id="22" name="Text 19"/>
          <p:cNvSpPr/>
          <p:nvPr/>
        </p:nvSpPr>
        <p:spPr>
          <a:xfrm>
            <a:off x="6172200" y="192938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52360" y="192938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909560" y="192938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80760" y="2148840"/>
            <a:ext cx="2743200" cy="192024"/>
          </a:xfrm>
          <a:prstGeom prst="rect">
            <a:avLst/>
          </a:prstGeom>
          <a:solidFill>
            <a:srgbClr val="F8FAFC"/>
          </a:solidFill>
          <a:ln w="6350">
            <a:solidFill>
              <a:srgbClr val="E2E8F0"/>
            </a:solidFill>
            <a:prstDash val="solid"/>
          </a:ln>
        </p:spPr>
      </p:sp>
      <p:sp>
        <p:nvSpPr>
          <p:cNvPr id="26" name="Text 23"/>
          <p:cNvSpPr/>
          <p:nvPr/>
        </p:nvSpPr>
        <p:spPr>
          <a:xfrm>
            <a:off x="6172200" y="214884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52360" y="214884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909560" y="214884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80760" y="2368296"/>
            <a:ext cx="2743200" cy="192024"/>
          </a:xfrm>
          <a:prstGeom prst="rect">
            <a:avLst/>
          </a:prstGeom>
          <a:solidFill>
            <a:srgbClr val="F8FAFC"/>
          </a:solidFill>
          <a:ln w="6350">
            <a:solidFill>
              <a:srgbClr val="E2E8F0"/>
            </a:solidFill>
            <a:prstDash val="solid"/>
          </a:ln>
        </p:spPr>
      </p:sp>
      <p:sp>
        <p:nvSpPr>
          <p:cNvPr id="30" name="Text 27"/>
          <p:cNvSpPr/>
          <p:nvPr/>
        </p:nvSpPr>
        <p:spPr>
          <a:xfrm>
            <a:off x="6172200" y="236829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52360" y="236829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909560" y="236829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80760" y="2587752"/>
            <a:ext cx="2743200" cy="192024"/>
          </a:xfrm>
          <a:prstGeom prst="rect">
            <a:avLst/>
          </a:prstGeom>
          <a:solidFill>
            <a:srgbClr val="F8FAFC"/>
          </a:solidFill>
          <a:ln w="6350">
            <a:solidFill>
              <a:srgbClr val="E2E8F0"/>
            </a:solidFill>
            <a:prstDash val="solid"/>
          </a:ln>
        </p:spPr>
      </p:sp>
      <p:sp>
        <p:nvSpPr>
          <p:cNvPr id="34" name="Text 31"/>
          <p:cNvSpPr/>
          <p:nvPr/>
        </p:nvSpPr>
        <p:spPr>
          <a:xfrm>
            <a:off x="6172200" y="258775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52360" y="258775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909560" y="258775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80760" y="2807208"/>
            <a:ext cx="2743200" cy="192024"/>
          </a:xfrm>
          <a:prstGeom prst="rect">
            <a:avLst/>
          </a:prstGeom>
          <a:solidFill>
            <a:srgbClr val="F8FAFC"/>
          </a:solidFill>
          <a:ln w="6350">
            <a:solidFill>
              <a:srgbClr val="E2E8F0"/>
            </a:solidFill>
            <a:prstDash val="solid"/>
          </a:ln>
        </p:spPr>
      </p:sp>
      <p:sp>
        <p:nvSpPr>
          <p:cNvPr id="38" name="Text 35"/>
          <p:cNvSpPr/>
          <p:nvPr/>
        </p:nvSpPr>
        <p:spPr>
          <a:xfrm>
            <a:off x="6172200" y="280720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52360" y="280720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909560" y="280720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80760" y="3026664"/>
            <a:ext cx="2743200" cy="192024"/>
          </a:xfrm>
          <a:prstGeom prst="rect">
            <a:avLst/>
          </a:prstGeom>
          <a:solidFill>
            <a:srgbClr val="F8FAFC"/>
          </a:solidFill>
          <a:ln w="6350">
            <a:solidFill>
              <a:srgbClr val="E2E8F0"/>
            </a:solidFill>
            <a:prstDash val="solid"/>
          </a:ln>
        </p:spPr>
      </p:sp>
      <p:sp>
        <p:nvSpPr>
          <p:cNvPr id="42" name="Text 39"/>
          <p:cNvSpPr/>
          <p:nvPr/>
        </p:nvSpPr>
        <p:spPr>
          <a:xfrm>
            <a:off x="6172200" y="302666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52360" y="302666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909560" y="302666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80760" y="3246120"/>
            <a:ext cx="2743200" cy="192024"/>
          </a:xfrm>
          <a:prstGeom prst="rect">
            <a:avLst/>
          </a:prstGeom>
          <a:solidFill>
            <a:srgbClr val="F8FAFC"/>
          </a:solidFill>
          <a:ln w="6350">
            <a:solidFill>
              <a:srgbClr val="E2E8F0"/>
            </a:solidFill>
            <a:prstDash val="solid"/>
          </a:ln>
        </p:spPr>
      </p:sp>
      <p:sp>
        <p:nvSpPr>
          <p:cNvPr id="46" name="Text 43"/>
          <p:cNvSpPr/>
          <p:nvPr/>
        </p:nvSpPr>
        <p:spPr>
          <a:xfrm>
            <a:off x="6172200" y="324612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52360" y="324612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909560" y="324612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80760" y="3465576"/>
            <a:ext cx="2743200" cy="192024"/>
          </a:xfrm>
          <a:prstGeom prst="rect">
            <a:avLst/>
          </a:prstGeom>
          <a:solidFill>
            <a:srgbClr val="0F2A44"/>
          </a:solidFill>
          <a:ln w="6350">
            <a:solidFill>
              <a:srgbClr val="E2E8F0"/>
            </a:solidFill>
            <a:prstDash val="solid"/>
          </a:ln>
        </p:spPr>
      </p:sp>
      <p:sp>
        <p:nvSpPr>
          <p:cNvPr id="50" name="Text 47"/>
          <p:cNvSpPr/>
          <p:nvPr/>
        </p:nvSpPr>
        <p:spPr>
          <a:xfrm>
            <a:off x="6172200" y="3465576"/>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52360" y="3465576"/>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909560" y="3465576"/>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126 anti-pattern instances across 9 types; Hardcoded Endpoints (43) and API Versioning Absence (37)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a:t>
            </a:r>
            <a:r>
              <a:rPr lang="en-US" sz="1150">
                <a:solidFill>
                  <a:srgbClr val="1E293B"/>
                </a:solidFill>
                <a:latin typeface="Calibri" pitchFamily="34" charset="0"/>
                <a:ea typeface="Calibri" pitchFamily="34" charset="-122"/>
                <a:cs typeface="Calibri" pitchFamily="34" charset="-120"/>
              </a:rPr>
              <a:t>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4019</Words>
  <Application>Microsoft Office PowerPoint</Application>
  <PresentationFormat>On-screen Show (16:9)</PresentationFormat>
  <Paragraphs>264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cp:revision>
  <dcterms:created xsi:type="dcterms:W3CDTF">2026-05-31T07:40:36Z</dcterms:created>
  <dcterms:modified xsi:type="dcterms:W3CDTF">2026-05-31T07:41:14Z</dcterms:modified>
</cp:coreProperties>
</file>