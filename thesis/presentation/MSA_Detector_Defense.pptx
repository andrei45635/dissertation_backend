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1" r:id="rId6"/>
    <p:sldId id="260"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Site-Where</c:v>
                </c:pt>
                <c:pt idx="4">
                  <c:v>RuoYi</c:v>
                </c:pt>
                <c:pt idx="5">
                  <c:v>design-pat.</c:v>
                </c:pt>
                <c:pt idx="6">
                  <c:v>mall-swarm</c:v>
                </c:pt>
                <c:pt idx="7">
                  <c:v>NetworkDisk</c:v>
                </c:pt>
                <c:pt idx="8">
                  <c:v>piomin</c:v>
                </c:pt>
                <c:pt idx="9">
                  <c:v>Train-Ticket</c:v>
                </c:pt>
                <c:pt idx="10">
                  <c:v>recruit</c:v>
                </c:pt>
              </c:strCache>
            </c:strRef>
          </c:cat>
          <c:val>
            <c:numRef>
              <c:f>Sheet1!$B$2:$B$12</c:f>
              <c:numCache>
                <c:formatCode>General</c:formatCode>
                <c:ptCount val="11"/>
                <c:pt idx="0">
                  <c:v>83</c:v>
                </c:pt>
                <c:pt idx="1">
                  <c:v>75</c:v>
                </c:pt>
                <c:pt idx="2">
                  <c:v>71</c:v>
                </c:pt>
                <c:pt idx="3">
                  <c:v>69</c:v>
                </c:pt>
                <c:pt idx="4">
                  <c:v>68</c:v>
                </c:pt>
                <c:pt idx="5">
                  <c:v>60</c:v>
                </c:pt>
                <c:pt idx="6">
                  <c:v>53</c:v>
                </c:pt>
                <c:pt idx="7">
                  <c:v>52</c:v>
                </c:pt>
                <c:pt idx="8">
                  <c:v>51</c:v>
                </c:pt>
                <c:pt idx="9">
                  <c:v>40</c:v>
                </c:pt>
                <c:pt idx="10">
                  <c:v>40</c:v>
                </c:pt>
              </c:numCache>
            </c:numRef>
          </c:val>
          <c:extLst>
            <c:ext xmlns:c16="http://schemas.microsoft.com/office/drawing/2014/chart" uri="{C3380CC4-5D6E-409C-BE32-E72D297353CC}">
              <c16:uniqueId val="{00000000-31D1-4732-925F-56950074362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40597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
Keep this short — about 30 seconds. Don't introduce content yet; that's the next slide.
Breathe, slow down. The committee already knows your name from the schedule, so this is just orientation.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For instance, a shared database between two services looks harmless at first — both teams just point at the same Postgres instance. But over time, schema changes in one service silently break the other, and you've lost independent deployability — arguably the single biggest reason to use microservices in the first place.
So the goal of this work was a tool that bridges both levels and outputs actionable findings.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signals like God Class frequency to flag architectural problems like God Service. That bridge between abstraction levels is the central novelty.'
• 'Second, ten anti-patterns across four dimensions — broader coverage than any single existing tool.'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Bridge to next slide: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a:t>
            </a:r>
          </a:p>
          <a:p>
            <a:r>
              <a:rPr lang="en-US" dirty="0"/>
              <a:t>The dependency graph construction is the most technically interesting part of this stage. Spoon parses the AST of every Java file and looks for inter-service communication annotations — @FeignClient declarations, </a:t>
            </a:r>
            <a:r>
              <a:rPr lang="en-US" dirty="0" err="1"/>
              <a:t>RestTemplate.exchange</a:t>
            </a:r>
            <a:r>
              <a:rPr lang="en-US" dirty="0"/>
              <a:t> calls, </a:t>
            </a:r>
            <a:r>
              <a:rPr lang="en-US" dirty="0" err="1"/>
              <a:t>WebClient</a:t>
            </a:r>
            <a:r>
              <a:rPr lang="en-US" dirty="0"/>
              <a:t> invocations — then resolves each target to a known service. The result is a directed weighted graph where edge weight represents the number of distinct call sites.
</a:t>
            </a:r>
          </a:p>
          <a:p>
            <a:r>
              <a:rPr lang="en-US" dirty="0"/>
              <a:t>
If asked about why async: 'Analyses on large projects like Activiti take several minutes. Blocking the HTTP request would time out. The frontend polls for status.'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I'll focus on the scoring mechanism next.
</a:t>
            </a:r>
          </a:p>
          <a:p>
            <a:r>
              <a:rPr lang="en-US" dirty="0"/>
              <a:t>Worth saying aloud: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a:t>
            </a:r>
          </a:p>
          <a:p>
            <a:r>
              <a:rPr lang="en-US" dirty="0"/>
              <a: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Feature Envy count OR bidirectional edges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Walk through left side: 'DesigniteJava detects God Class smells per class. Those are persisted as CodeSmell entities in the database. The God Service detector then queries that table and flags any microservice containing one or more God Classes.'
• Right side: 'But what if DesigniteJava fails or is disabled? The detector falls back to its own Spoon-based analysis using six structural metrics. A class is flagged if it exceeds at least three.'
• On TCC: 'Tight Class Cohesion measures the fraction of method pairs that share an instance field access. Low TCC means the methods operate on disjoint state — a sign of unrelated responsibilities packed into one class.'
EXPECT THIS QUESTION: 'Why threshold = 1? One God Class shouldn't flag a service.'
Answer: 'The default is intentionally sensitive. False positives are cheap to dismiss. False negatives — architectural debt growing undetected — are expensive. The threshold is configurable; teams in production would calibrate it. Even one God Class concentrates responsibilities enough to warrant a look.'
You can also note: 'The dual-path approach — DesigniteJava primary, Spoon fallback — is a pattern I used across several detectors. It makes the tool resilient to external-tool failures and also lets us cross-validate results when both paths are available.'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a:t>
            </a:r>
          </a:p>
          <a:p>
            <a:r>
              <a:rPr lang="en-US" dirty="0"/>
              <a:t>'The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a:t>
            </a:r>
          </a:p>
          <a:p>
            <a:r>
              <a:rPr lang="en-US" dirty="0"/>
              <a:t>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43 hardcoded endpoints, 37 API versioning absences, 23 nano services. Cyclic Dependency and Wrong Cuts were detected in microservice-recruit. Adding PiggyMetrics and piomin broadened ESB Misuse and Nano Service coverage.'
• '126 total anti-pattern instances across 9 distinct types. Only Distributed Monolith was not detected — plausible given these projects' topologies.'
You can add: 'The score range — 40 to 83 — shows that the metric has useful discriminating power. Projects known to be well-structured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the MSA Detector is a multi-level static analysis tool for Java/Spring Boot microservices, with ten anti-pattern detectors, a composite health score, and evidence-based reporting. If there's one thing I'd like you to take away, it's that the bridge between code-level evidence and architectural-level findings is what makes this tool different — it doesn't just say something is wrong, it shows you exactly where in the code the problem lives. Thank you.’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txBody>
          <a:bodyPr/>
          <a:lstStyle/>
          <a:p>
            <a:endParaRPr lang="en-US"/>
          </a:p>
        </p:txBody>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txBody>
          <a:bodyPr/>
          <a:lstStyle/>
          <a:p>
            <a:endParaRPr lang="en-US"/>
          </a:p>
        </p:txBody>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txBody>
          <a:bodyPr/>
          <a:lstStyle/>
          <a:p>
            <a:endParaRPr lang="en-US"/>
          </a:p>
        </p:txBody>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txBody>
          <a:bodyPr/>
          <a:lstStyle/>
          <a:p>
            <a:endParaRPr lang="en-US"/>
          </a:p>
        </p:txBody>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Arcan, MicroART, MSANose each cover a slice: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txBody>
          <a:bodyPr/>
          <a:lstStyle/>
          <a:p>
            <a:endParaRPr lang="en-US"/>
          </a:p>
        </p:txBody>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txBody>
          <a:bodyPr/>
          <a:lstStyle/>
          <a:p>
            <a:endParaRPr lang="en-US"/>
          </a:p>
        </p:txBody>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txBody>
          <a:bodyPr/>
          <a:lstStyle/>
          <a:p>
            <a:endParaRPr lang="en-US"/>
          </a:p>
        </p:txBody>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smells (DesigniteJava) with inter-service dependency analysis (Spoon + graphs)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txBody>
          <a:bodyPr/>
          <a:lstStyle/>
          <a:p>
            <a:endParaRPr lang="en-US"/>
          </a:p>
        </p:txBody>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txBody>
          <a:bodyPr/>
          <a:lstStyle/>
          <a:p>
            <a:endParaRPr lang="en-US"/>
          </a:p>
        </p:txBody>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txBody>
          <a:bodyPr/>
          <a:lstStyle/>
          <a:p>
            <a:endParaRPr lang="en-US"/>
          </a:p>
        </p:txBody>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txBody>
          <a:bodyPr/>
          <a:lstStyle/>
          <a:p>
            <a:endParaRPr lang="en-US"/>
          </a:p>
        </p:txBody>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txBody>
          <a:bodyPr/>
          <a:lstStyle/>
          <a:p>
            <a:endParaRPr lang="en-US"/>
          </a:p>
        </p:txBody>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txBody>
          <a:bodyPr/>
          <a:lstStyle/>
          <a:p>
            <a:endParaRPr lang="en-US"/>
          </a:p>
        </p:txBody>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txBody>
          <a:bodyPr/>
          <a:lstStyle/>
          <a:p>
            <a:endParaRPr lang="en-US"/>
          </a:p>
        </p:txBody>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txBody>
          <a:bodyPr/>
          <a:lstStyle/>
          <a:p>
            <a:endParaRPr lang="en-US"/>
          </a:p>
        </p:txBody>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txBody>
          <a:bodyPr/>
          <a:lstStyle/>
          <a:p>
            <a:endParaRPr lang="en-US"/>
          </a:p>
        </p:txBody>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txBody>
          <a:bodyPr/>
          <a:lstStyle/>
          <a:p>
            <a:endParaRPr lang="en-US"/>
          </a:p>
        </p:txBody>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txBody>
          <a:bodyPr/>
          <a:lstStyle/>
          <a:p>
            <a:endParaRPr lang="en-US"/>
          </a:p>
        </p:txBody>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txBody>
          <a:bodyPr/>
          <a:lstStyle/>
          <a:p>
            <a:endParaRPr lang="en-US"/>
          </a:p>
        </p:txBody>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txBody>
          <a:bodyPr/>
          <a:lstStyle/>
          <a:p>
            <a:endParaRPr lang="en-US"/>
          </a:p>
        </p:txBody>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txBody>
          <a:bodyPr/>
          <a:lstStyle/>
          <a:p>
            <a:endParaRPr lang="en-US"/>
          </a:p>
        </p:txBody>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txBody>
          <a:bodyPr/>
          <a:lstStyle/>
          <a:p>
            <a:endParaRPr lang="en-US"/>
          </a:p>
        </p:txBody>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Class smell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Detected by DesigniteJava, persisted as CodeSmell entities</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txBody>
          <a:bodyPr/>
          <a:lstStyle/>
          <a:p>
            <a:endParaRPr lang="en-US"/>
          </a:p>
        </p:txBody>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txBody>
          <a:bodyPr/>
          <a:lstStyle/>
          <a:p>
            <a:endParaRPr lang="en-US"/>
          </a:p>
        </p:txBody>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 θ_god God Classes detected (default = 1)</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Spoon-based fallback</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If DesigniteJava reports zero God Classes, a Spoon-based structural analysis evaluates each class against six metrics:</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txBody>
          <a:bodyPr/>
          <a:lstStyle/>
          <a:p>
            <a:endParaRPr lang="en-US"/>
          </a:p>
        </p:txBody>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txBody>
          <a:bodyPr/>
          <a:lstStyle/>
          <a:p>
            <a:endParaRPr lang="en-US"/>
          </a:p>
        </p:txBody>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txBody>
          <a:bodyPr/>
          <a:lstStyle/>
          <a:p>
            <a:endParaRPr lang="en-US"/>
          </a:p>
        </p:txBody>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txBody>
          <a:bodyPr/>
          <a:lstStyle/>
          <a:p>
            <a:endParaRPr lang="en-US"/>
          </a:p>
        </p:txBody>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txBody>
          <a:bodyPr/>
          <a:lstStyle/>
          <a:p>
            <a:endParaRPr lang="en-US"/>
          </a:p>
        </p:txBody>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txBody>
          <a:bodyPr/>
          <a:lstStyle/>
          <a:p>
            <a:endParaRPr lang="en-US"/>
          </a:p>
        </p:txBody>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txBody>
          <a:bodyPr/>
          <a:lstStyle/>
          <a:p>
            <a:endParaRPr lang="en-US"/>
          </a:p>
        </p:txBody>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txBody>
          <a:bodyPr/>
          <a:lstStyle/>
          <a:p>
            <a:endParaRPr lang="en-US"/>
          </a:p>
        </p:txBody>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txBody>
          <a:bodyPr/>
          <a:lstStyle/>
          <a:p>
            <a:endParaRPr lang="en-US"/>
          </a:p>
        </p:txBody>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txBody>
          <a:bodyPr/>
          <a:lstStyle/>
          <a:p>
            <a:endParaRPr lang="en-US"/>
          </a:p>
        </p:txBody>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179576"/>
            <a:ext cx="4114800" cy="283464"/>
          </a:xfrm>
          <a:prstGeom prst="rect">
            <a:avLst/>
          </a:prstGeom>
          <a:solidFill>
            <a:srgbClr val="F8FAFC"/>
          </a:solidFill>
          <a:ln w="6350">
            <a:solidFill>
              <a:srgbClr val="E2E8F0"/>
            </a:solidFill>
            <a:prstDash val="solid"/>
          </a:ln>
        </p:spPr>
        <p:txBody>
          <a:bodyPr/>
          <a:lstStyle/>
          <a:p>
            <a:endParaRPr lang="en-US"/>
          </a:p>
        </p:txBody>
      </p:sp>
      <p:sp>
        <p:nvSpPr>
          <p:cNvPr id="5" name="Text 3"/>
          <p:cNvSpPr/>
          <p:nvPr/>
        </p:nvSpPr>
        <p:spPr>
          <a:xfrm>
            <a:off x="502920" y="1179576"/>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97280" y="1179576"/>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00400" y="1179576"/>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57200" y="1495044"/>
            <a:ext cx="4114800" cy="283464"/>
          </a:xfrm>
          <a:prstGeom prst="rect">
            <a:avLst/>
          </a:prstGeom>
          <a:solidFill>
            <a:srgbClr val="F8FAFC"/>
          </a:solidFill>
          <a:ln w="6350">
            <a:solidFill>
              <a:srgbClr val="E2E8F0"/>
            </a:solidFill>
            <a:prstDash val="solid"/>
          </a:ln>
        </p:spPr>
        <p:txBody>
          <a:bodyPr/>
          <a:lstStyle/>
          <a:p>
            <a:endParaRPr lang="en-US"/>
          </a:p>
        </p:txBody>
      </p:sp>
      <p:sp>
        <p:nvSpPr>
          <p:cNvPr id="9" name="Text 7"/>
          <p:cNvSpPr/>
          <p:nvPr/>
        </p:nvSpPr>
        <p:spPr>
          <a:xfrm>
            <a:off x="502920" y="1495044"/>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1495044"/>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00400" y="1495044"/>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57200" y="1810512"/>
            <a:ext cx="4114800" cy="283464"/>
          </a:xfrm>
          <a:prstGeom prst="rect">
            <a:avLst/>
          </a:prstGeom>
          <a:solidFill>
            <a:srgbClr val="F8FAFC"/>
          </a:solidFill>
          <a:ln w="6350">
            <a:solidFill>
              <a:srgbClr val="E2E8F0"/>
            </a:solidFill>
            <a:prstDash val="solid"/>
          </a:ln>
        </p:spPr>
        <p:txBody>
          <a:bodyPr/>
          <a:lstStyle/>
          <a:p>
            <a:endParaRPr lang="en-US"/>
          </a:p>
        </p:txBody>
      </p:sp>
      <p:sp>
        <p:nvSpPr>
          <p:cNvPr id="13" name="Text 11"/>
          <p:cNvSpPr/>
          <p:nvPr/>
        </p:nvSpPr>
        <p:spPr>
          <a:xfrm>
            <a:off x="502920" y="1810512"/>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97280" y="1810512"/>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00400" y="1810512"/>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57200" y="2125980"/>
            <a:ext cx="4114800" cy="283464"/>
          </a:xfrm>
          <a:prstGeom prst="rect">
            <a:avLst/>
          </a:prstGeom>
          <a:solidFill>
            <a:srgbClr val="F8FAFC"/>
          </a:solidFill>
          <a:ln w="6350">
            <a:solidFill>
              <a:srgbClr val="E2E8F0"/>
            </a:solidFill>
            <a:prstDash val="solid"/>
          </a:ln>
        </p:spPr>
        <p:txBody>
          <a:bodyPr/>
          <a:lstStyle/>
          <a:p>
            <a:endParaRPr lang="en-US"/>
          </a:p>
        </p:txBody>
      </p:sp>
      <p:sp>
        <p:nvSpPr>
          <p:cNvPr id="17" name="Text 15"/>
          <p:cNvSpPr/>
          <p:nvPr/>
        </p:nvSpPr>
        <p:spPr>
          <a:xfrm>
            <a:off x="502920" y="2125980"/>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97280" y="2125980"/>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00400" y="2125980"/>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57200" y="2441448"/>
            <a:ext cx="4114800" cy="283464"/>
          </a:xfrm>
          <a:prstGeom prst="rect">
            <a:avLst/>
          </a:prstGeom>
          <a:solidFill>
            <a:srgbClr val="F8FAFC"/>
          </a:solidFill>
          <a:ln w="6350">
            <a:solidFill>
              <a:srgbClr val="E2E8F0"/>
            </a:solidFill>
            <a:prstDash val="solid"/>
          </a:ln>
        </p:spPr>
        <p:txBody>
          <a:bodyPr/>
          <a:lstStyle/>
          <a:p>
            <a:endParaRPr lang="en-US"/>
          </a:p>
        </p:txBody>
      </p:sp>
      <p:sp>
        <p:nvSpPr>
          <p:cNvPr id="21" name="Text 19"/>
          <p:cNvSpPr/>
          <p:nvPr/>
        </p:nvSpPr>
        <p:spPr>
          <a:xfrm>
            <a:off x="502920" y="2441448"/>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97280" y="2441448"/>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00400" y="2441448"/>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57200" y="2798064"/>
            <a:ext cx="4114800" cy="411480"/>
          </a:xfrm>
          <a:prstGeom prst="rect">
            <a:avLst/>
          </a:prstGeom>
          <a:solidFill>
            <a:srgbClr val="0F2A44"/>
          </a:solidFill>
          <a:ln w="12700">
            <a:solidFill>
              <a:srgbClr val="0F2A44"/>
            </a:solidFill>
            <a:prstDash val="solid"/>
          </a:ln>
        </p:spPr>
        <p:txBody>
          <a:bodyPr/>
          <a:lstStyle/>
          <a:p>
            <a:endParaRPr lang="en-US"/>
          </a:p>
        </p:txBody>
      </p:sp>
      <p:sp>
        <p:nvSpPr>
          <p:cNvPr id="25" name="Text 23"/>
          <p:cNvSpPr/>
          <p:nvPr/>
        </p:nvSpPr>
        <p:spPr>
          <a:xfrm>
            <a:off x="457200" y="2798064"/>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txBody>
          <a:bodyPr/>
          <a:lstStyle/>
          <a:p>
            <a:endParaRPr lang="en-US"/>
          </a:p>
        </p:txBody>
      </p:sp>
      <p:sp>
        <p:nvSpPr>
          <p:cNvPr id="29" name="Text 27"/>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txBody>
          <a:bodyPr/>
          <a:lstStyle/>
          <a:p>
            <a:endParaRPr lang="en-US"/>
          </a:p>
        </p:txBody>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txBody>
          <a:bodyPr/>
          <a:lstStyle/>
          <a:p>
            <a:endParaRPr lang="en-US"/>
          </a:p>
        </p:txBody>
      </p:sp>
      <p:sp>
        <p:nvSpPr>
          <p:cNvPr id="33" name="Text 31"/>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txBody>
          <a:bodyPr/>
          <a:lstStyle/>
          <a:p>
            <a:endParaRPr lang="en-US"/>
          </a:p>
        </p:txBody>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txBody>
          <a:bodyPr/>
          <a:lstStyle/>
          <a:p>
            <a:endParaRPr lang="en-US"/>
          </a:p>
        </p:txBody>
      </p:sp>
      <p:sp>
        <p:nvSpPr>
          <p:cNvPr id="37" name="Text 35"/>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txBody>
          <a:bodyPr/>
          <a:lstStyle/>
          <a:p>
            <a:endParaRPr lang="en-US"/>
          </a:p>
        </p:txBody>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txBody>
          <a:bodyPr/>
          <a:lstStyle/>
          <a:p>
            <a:endParaRPr lang="en-US"/>
          </a:p>
        </p:txBody>
      </p:sp>
      <p:sp>
        <p:nvSpPr>
          <p:cNvPr id="41" name="Text 39"/>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txBody>
          <a:bodyPr/>
          <a:lstStyle/>
          <a:p>
            <a:endParaRPr lang="en-US"/>
          </a:p>
        </p:txBody>
      </p:sp>
      <p:sp>
        <p:nvSpPr>
          <p:cNvPr id="43" name="Text 41"/>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57200" y="3346704"/>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85032"/>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the anti-pattern load (penalty 49) clamps AP to 0</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35040" y="757646"/>
            <a:ext cx="27432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35040" y="1077686"/>
            <a:ext cx="2743200" cy="192024"/>
          </a:xfrm>
          <a:prstGeom prst="rect">
            <a:avLst/>
          </a:prstGeom>
          <a:solidFill>
            <a:srgbClr val="F8FAFC"/>
          </a:solidFill>
          <a:ln w="6350">
            <a:solidFill>
              <a:srgbClr val="E2E8F0"/>
            </a:solidFill>
            <a:prstDash val="solid"/>
          </a:ln>
        </p:spPr>
        <p:txBody>
          <a:bodyPr/>
          <a:lstStyle/>
          <a:p>
            <a:endParaRPr lang="en-US"/>
          </a:p>
        </p:txBody>
      </p:sp>
      <p:sp>
        <p:nvSpPr>
          <p:cNvPr id="6" name="Text 3"/>
          <p:cNvSpPr/>
          <p:nvPr/>
        </p:nvSpPr>
        <p:spPr>
          <a:xfrm>
            <a:off x="6126480" y="107768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06640" y="107768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863840" y="107768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35040" y="1297142"/>
            <a:ext cx="2743200" cy="192024"/>
          </a:xfrm>
          <a:prstGeom prst="rect">
            <a:avLst/>
          </a:prstGeom>
          <a:solidFill>
            <a:srgbClr val="F8FAFC"/>
          </a:solidFill>
          <a:ln w="6350">
            <a:solidFill>
              <a:srgbClr val="E2E8F0"/>
            </a:solidFill>
            <a:prstDash val="solid"/>
          </a:ln>
        </p:spPr>
        <p:txBody>
          <a:bodyPr/>
          <a:lstStyle/>
          <a:p>
            <a:endParaRPr lang="en-US"/>
          </a:p>
        </p:txBody>
      </p:sp>
      <p:sp>
        <p:nvSpPr>
          <p:cNvPr id="10" name="Text 7"/>
          <p:cNvSpPr/>
          <p:nvPr/>
        </p:nvSpPr>
        <p:spPr>
          <a:xfrm>
            <a:off x="6126480" y="129714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06640" y="129714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863840" y="129714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35040" y="1516598"/>
            <a:ext cx="2743200" cy="192024"/>
          </a:xfrm>
          <a:prstGeom prst="rect">
            <a:avLst/>
          </a:prstGeom>
          <a:solidFill>
            <a:srgbClr val="F8FAFC"/>
          </a:solidFill>
          <a:ln w="6350">
            <a:solidFill>
              <a:srgbClr val="E2E8F0"/>
            </a:solidFill>
            <a:prstDash val="solid"/>
          </a:ln>
        </p:spPr>
        <p:txBody>
          <a:bodyPr/>
          <a:lstStyle/>
          <a:p>
            <a:endParaRPr lang="en-US"/>
          </a:p>
        </p:txBody>
      </p:sp>
      <p:sp>
        <p:nvSpPr>
          <p:cNvPr id="14" name="Text 11"/>
          <p:cNvSpPr/>
          <p:nvPr/>
        </p:nvSpPr>
        <p:spPr>
          <a:xfrm>
            <a:off x="6126480" y="151659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06640" y="151659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863840" y="151659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35040" y="1736054"/>
            <a:ext cx="2743200" cy="192024"/>
          </a:xfrm>
          <a:prstGeom prst="rect">
            <a:avLst/>
          </a:prstGeom>
          <a:solidFill>
            <a:srgbClr val="F8FAFC"/>
          </a:solidFill>
          <a:ln w="6350">
            <a:solidFill>
              <a:srgbClr val="E2E8F0"/>
            </a:solidFill>
            <a:prstDash val="solid"/>
          </a:ln>
        </p:spPr>
        <p:txBody>
          <a:bodyPr/>
          <a:lstStyle/>
          <a:p>
            <a:endParaRPr lang="en-US"/>
          </a:p>
        </p:txBody>
      </p:sp>
      <p:sp>
        <p:nvSpPr>
          <p:cNvPr id="18" name="Text 15"/>
          <p:cNvSpPr/>
          <p:nvPr/>
        </p:nvSpPr>
        <p:spPr>
          <a:xfrm>
            <a:off x="6126480" y="173605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06640" y="173605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863840" y="173605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35040" y="1955510"/>
            <a:ext cx="2743200" cy="192024"/>
          </a:xfrm>
          <a:prstGeom prst="rect">
            <a:avLst/>
          </a:prstGeom>
          <a:solidFill>
            <a:srgbClr val="F8FAFC"/>
          </a:solidFill>
          <a:ln w="6350">
            <a:solidFill>
              <a:srgbClr val="E2E8F0"/>
            </a:solidFill>
            <a:prstDash val="solid"/>
          </a:ln>
        </p:spPr>
        <p:txBody>
          <a:bodyPr/>
          <a:lstStyle/>
          <a:p>
            <a:endParaRPr lang="en-US"/>
          </a:p>
        </p:txBody>
      </p:sp>
      <p:sp>
        <p:nvSpPr>
          <p:cNvPr id="22" name="Text 19"/>
          <p:cNvSpPr/>
          <p:nvPr/>
        </p:nvSpPr>
        <p:spPr>
          <a:xfrm>
            <a:off x="6126480" y="195551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06640" y="195551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863840" y="195551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35040" y="2174966"/>
            <a:ext cx="2743200" cy="192024"/>
          </a:xfrm>
          <a:prstGeom prst="rect">
            <a:avLst/>
          </a:prstGeom>
          <a:solidFill>
            <a:srgbClr val="F8FAFC"/>
          </a:solidFill>
          <a:ln w="6350">
            <a:solidFill>
              <a:srgbClr val="E2E8F0"/>
            </a:solidFill>
            <a:prstDash val="solid"/>
          </a:ln>
        </p:spPr>
        <p:txBody>
          <a:bodyPr/>
          <a:lstStyle/>
          <a:p>
            <a:endParaRPr lang="en-US"/>
          </a:p>
        </p:txBody>
      </p:sp>
      <p:sp>
        <p:nvSpPr>
          <p:cNvPr id="26" name="Text 23"/>
          <p:cNvSpPr/>
          <p:nvPr/>
        </p:nvSpPr>
        <p:spPr>
          <a:xfrm>
            <a:off x="6126480" y="217496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06640" y="217496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863840" y="217496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35040" y="2394422"/>
            <a:ext cx="2743200" cy="192024"/>
          </a:xfrm>
          <a:prstGeom prst="rect">
            <a:avLst/>
          </a:prstGeom>
          <a:solidFill>
            <a:srgbClr val="F8FAFC"/>
          </a:solidFill>
          <a:ln w="6350">
            <a:solidFill>
              <a:srgbClr val="E2E8F0"/>
            </a:solidFill>
            <a:prstDash val="solid"/>
          </a:ln>
        </p:spPr>
        <p:txBody>
          <a:bodyPr/>
          <a:lstStyle/>
          <a:p>
            <a:endParaRPr lang="en-US"/>
          </a:p>
        </p:txBody>
      </p:sp>
      <p:sp>
        <p:nvSpPr>
          <p:cNvPr id="30" name="Text 27"/>
          <p:cNvSpPr/>
          <p:nvPr/>
        </p:nvSpPr>
        <p:spPr>
          <a:xfrm>
            <a:off x="6126480" y="239442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06640" y="239442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863840" y="239442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35040" y="2613878"/>
            <a:ext cx="2743200" cy="192024"/>
          </a:xfrm>
          <a:prstGeom prst="rect">
            <a:avLst/>
          </a:prstGeom>
          <a:solidFill>
            <a:srgbClr val="F8FAFC"/>
          </a:solidFill>
          <a:ln w="6350">
            <a:solidFill>
              <a:srgbClr val="E2E8F0"/>
            </a:solidFill>
            <a:prstDash val="solid"/>
          </a:ln>
        </p:spPr>
        <p:txBody>
          <a:bodyPr/>
          <a:lstStyle/>
          <a:p>
            <a:endParaRPr lang="en-US"/>
          </a:p>
        </p:txBody>
      </p:sp>
      <p:sp>
        <p:nvSpPr>
          <p:cNvPr id="34" name="Text 31"/>
          <p:cNvSpPr/>
          <p:nvPr/>
        </p:nvSpPr>
        <p:spPr>
          <a:xfrm>
            <a:off x="6126480" y="261387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06640" y="261387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863840" y="261387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35040" y="2833334"/>
            <a:ext cx="2743200" cy="192024"/>
          </a:xfrm>
          <a:prstGeom prst="rect">
            <a:avLst/>
          </a:prstGeom>
          <a:solidFill>
            <a:srgbClr val="F8FAFC"/>
          </a:solidFill>
          <a:ln w="6350">
            <a:solidFill>
              <a:srgbClr val="E2E8F0"/>
            </a:solidFill>
            <a:prstDash val="solid"/>
          </a:ln>
        </p:spPr>
        <p:txBody>
          <a:bodyPr/>
          <a:lstStyle/>
          <a:p>
            <a:endParaRPr lang="en-US"/>
          </a:p>
        </p:txBody>
      </p:sp>
      <p:sp>
        <p:nvSpPr>
          <p:cNvPr id="38" name="Text 35"/>
          <p:cNvSpPr/>
          <p:nvPr/>
        </p:nvSpPr>
        <p:spPr>
          <a:xfrm>
            <a:off x="6126480" y="283333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06640" y="283333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863840" y="283333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35040" y="3052790"/>
            <a:ext cx="2743200" cy="192024"/>
          </a:xfrm>
          <a:prstGeom prst="rect">
            <a:avLst/>
          </a:prstGeom>
          <a:solidFill>
            <a:srgbClr val="F8FAFC"/>
          </a:solidFill>
          <a:ln w="6350">
            <a:solidFill>
              <a:srgbClr val="E2E8F0"/>
            </a:solidFill>
            <a:prstDash val="solid"/>
          </a:ln>
        </p:spPr>
        <p:txBody>
          <a:bodyPr/>
          <a:lstStyle/>
          <a:p>
            <a:endParaRPr lang="en-US"/>
          </a:p>
        </p:txBody>
      </p:sp>
      <p:sp>
        <p:nvSpPr>
          <p:cNvPr id="42" name="Text 39"/>
          <p:cNvSpPr/>
          <p:nvPr/>
        </p:nvSpPr>
        <p:spPr>
          <a:xfrm>
            <a:off x="6126480" y="305279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06640" y="305279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863840" y="305279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35040" y="3272246"/>
            <a:ext cx="2743200" cy="192024"/>
          </a:xfrm>
          <a:prstGeom prst="rect">
            <a:avLst/>
          </a:prstGeom>
          <a:solidFill>
            <a:srgbClr val="F8FAFC"/>
          </a:solidFill>
          <a:ln w="6350">
            <a:solidFill>
              <a:srgbClr val="E2E8F0"/>
            </a:solidFill>
            <a:prstDash val="solid"/>
          </a:ln>
        </p:spPr>
        <p:txBody>
          <a:bodyPr/>
          <a:lstStyle/>
          <a:p>
            <a:endParaRPr lang="en-US"/>
          </a:p>
        </p:txBody>
      </p:sp>
      <p:sp>
        <p:nvSpPr>
          <p:cNvPr id="46" name="Text 43"/>
          <p:cNvSpPr/>
          <p:nvPr/>
        </p:nvSpPr>
        <p:spPr>
          <a:xfrm>
            <a:off x="6126480" y="327224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06640" y="327224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863840" y="327224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35040" y="3491702"/>
            <a:ext cx="2743200" cy="192024"/>
          </a:xfrm>
          <a:prstGeom prst="rect">
            <a:avLst/>
          </a:prstGeom>
          <a:solidFill>
            <a:srgbClr val="0F2A44"/>
          </a:solidFill>
          <a:ln w="6350">
            <a:solidFill>
              <a:srgbClr val="E2E8F0"/>
            </a:solidFill>
            <a:prstDash val="solid"/>
          </a:ln>
        </p:spPr>
        <p:txBody>
          <a:bodyPr/>
          <a:lstStyle/>
          <a:p>
            <a:endParaRPr lang="en-US"/>
          </a:p>
        </p:txBody>
      </p:sp>
      <p:sp>
        <p:nvSpPr>
          <p:cNvPr id="50" name="Text 47"/>
          <p:cNvSpPr/>
          <p:nvPr/>
        </p:nvSpPr>
        <p:spPr>
          <a:xfrm>
            <a:off x="6126480" y="3491702"/>
            <a:ext cx="1280160" cy="19202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06640" y="3491702"/>
            <a:ext cx="457200" cy="19202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863840" y="3491702"/>
            <a:ext cx="868680" cy="192024"/>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txBody>
          <a:bodyPr/>
          <a:lstStyle/>
          <a:p>
            <a:endParaRPr lang="en-US"/>
          </a:p>
        </p:txBody>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txBody>
          <a:bodyPr/>
          <a:lstStyle/>
          <a:p>
            <a:endParaRPr lang="en-US"/>
          </a:p>
        </p:txBody>
      </p:sp>
      <p:sp>
        <p:nvSpPr>
          <p:cNvPr id="55" name="Text 52"/>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06378"/>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126 anti-pattern instances across 9 types</a:t>
            </a:r>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Hardcoded Endpoints (43) and API Versioning Absence (37) dominate</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604911" y="2399647"/>
            <a:ext cx="5486401" cy="2305996"/>
          </a:xfrm>
          <a:prstGeom prst="rect">
            <a:avLst/>
          </a:prstGeom>
          <a:solidFill>
            <a:srgbClr val="1C4E80"/>
          </a:solidFill>
          <a:ln w="12700">
            <a:solidFill>
              <a:srgbClr val="1C4E80"/>
            </a:solidFill>
            <a:prstDash val="solid"/>
          </a:ln>
        </p:spPr>
        <p:txBody>
          <a:bodyPr/>
          <a:lstStyle/>
          <a:p>
            <a:endParaRPr lang="en-US"/>
          </a:p>
        </p:txBody>
      </p:sp>
      <p:sp>
        <p:nvSpPr>
          <p:cNvPr id="6" name="Shape 4"/>
          <p:cNvSpPr/>
          <p:nvPr/>
        </p:nvSpPr>
        <p:spPr>
          <a:xfrm>
            <a:off x="914400" y="2592977"/>
            <a:ext cx="384048" cy="384048"/>
          </a:xfrm>
          <a:prstGeom prst="ellipse">
            <a:avLst/>
          </a:prstGeom>
          <a:solidFill>
            <a:srgbClr val="0D9488"/>
          </a:solidFill>
          <a:ln w="12700">
            <a:solidFill>
              <a:srgbClr val="0D9488"/>
            </a:solidFill>
            <a:prstDash val="solid"/>
          </a:ln>
        </p:spPr>
        <p:txBody>
          <a:bodyPr/>
          <a:lstStyle/>
          <a:p>
            <a:endParaRPr lang="en-US"/>
          </a:p>
        </p:txBody>
      </p:sp>
      <p:sp>
        <p:nvSpPr>
          <p:cNvPr id="7" name="Text 5"/>
          <p:cNvSpPr/>
          <p:nvPr/>
        </p:nvSpPr>
        <p:spPr>
          <a:xfrm>
            <a:off x="914400" y="2592977"/>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565545"/>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03289"/>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095897"/>
            <a:ext cx="384048" cy="384048"/>
          </a:xfrm>
          <a:prstGeom prst="ellipse">
            <a:avLst/>
          </a:prstGeom>
          <a:solidFill>
            <a:srgbClr val="0D9488"/>
          </a:solidFill>
          <a:ln w="12700">
            <a:solidFill>
              <a:srgbClr val="0D9488"/>
            </a:solidFill>
            <a:prstDash val="solid"/>
          </a:ln>
        </p:spPr>
        <p:txBody>
          <a:bodyPr/>
          <a:lstStyle/>
          <a:p>
            <a:endParaRPr lang="en-US"/>
          </a:p>
        </p:txBody>
      </p:sp>
      <p:sp>
        <p:nvSpPr>
          <p:cNvPr id="11" name="Text 9"/>
          <p:cNvSpPr/>
          <p:nvPr/>
        </p:nvSpPr>
        <p:spPr>
          <a:xfrm>
            <a:off x="914400" y="3095897"/>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068465"/>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06209"/>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598817"/>
            <a:ext cx="384048" cy="384048"/>
          </a:xfrm>
          <a:prstGeom prst="ellipse">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914400" y="3598817"/>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571385"/>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09129"/>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01737"/>
            <a:ext cx="384048" cy="384048"/>
          </a:xfrm>
          <a:prstGeom prst="ellipse">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914400" y="4101737"/>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074305"/>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12049"/>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txBody>
          <a:bodyPr/>
          <a:lstStyle/>
          <a:p>
            <a:endParaRPr lang="en-US" dirty="0"/>
          </a:p>
        </p:txBody>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txBody>
          <a:bodyPr/>
          <a:lstStyle/>
          <a:p>
            <a:endParaRPr lang="en-US"/>
          </a:p>
        </p:txBody>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txBody>
          <a:bodyPr/>
          <a:lstStyle/>
          <a:p>
            <a:endParaRPr lang="en-US"/>
          </a:p>
        </p:txBody>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txBody>
          <a:bodyPr/>
          <a:lstStyle/>
          <a:p>
            <a:endParaRPr lang="en-US"/>
          </a:p>
        </p:txBody>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marL="0" indent="0">
              <a:buNone/>
            </a:pPr>
            <a:endParaRPr lang="en-US" sz="2000" dirty="0"/>
          </a:p>
        </p:txBody>
      </p:sp>
      <p:sp>
        <p:nvSpPr>
          <p:cNvPr id="5" name="Shape 3"/>
          <p:cNvSpPr/>
          <p:nvPr/>
        </p:nvSpPr>
        <p:spPr>
          <a:xfrm>
            <a:off x="731520" y="2606040"/>
            <a:ext cx="6126480" cy="1783080"/>
          </a:xfrm>
          <a:prstGeom prst="rect">
            <a:avLst/>
          </a:prstGeom>
          <a:solidFill>
            <a:srgbClr val="1C4E80"/>
          </a:solidFill>
          <a:ln w="12700">
            <a:solidFill>
              <a:srgbClr val="1C4E80"/>
            </a:solidFill>
            <a:prstDash val="solid"/>
          </a:ln>
        </p:spPr>
        <p:txBody>
          <a:bodyPr/>
          <a:lstStyle/>
          <a:p>
            <a:endParaRPr lang="en-US"/>
          </a:p>
        </p:txBody>
      </p:sp>
      <p:sp>
        <p:nvSpPr>
          <p:cNvPr id="6" name="Text 4"/>
          <p:cNvSpPr/>
          <p:nvPr/>
        </p:nvSpPr>
        <p:spPr>
          <a:xfrm>
            <a:off x="914400" y="2697480"/>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05840" y="292608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0</TotalTime>
  <Words>4318</Words>
  <Application>Microsoft Office PowerPoint</Application>
  <PresentationFormat>On-screen Show (16:9)</PresentationFormat>
  <Paragraphs>273</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 (FT D EU RO EIS SP 2)</cp:lastModifiedBy>
  <cp:revision>4</cp:revision>
  <dcterms:created xsi:type="dcterms:W3CDTF">2026-06-03T09:41:34Z</dcterms:created>
  <dcterms:modified xsi:type="dcterms:W3CDTF">2026-06-03T12:23:18Z</dcterms:modified>
</cp:coreProperties>
</file>