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46" d="100"/>
          <a:sy n="146" d="100"/>
        </p:scale>
        <p:origin x="5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0F2A44"/>
                </a:solidFill>
                <a:latin typeface="Calibri"/>
              </a:defRPr>
            </a:pPr>
            <a:r>
              <a:rPr lang="en-US" sz="1300" b="0" i="0" u="none" strike="noStrike">
                <a:solidFill>
                  <a:srgbClr val="0F2A44"/>
                </a:solidFill>
                <a:latin typeface="Calibri"/>
              </a:rPr>
              <a:t>Health scores by project (0–100)</a:t>
            </a:r>
          </a:p>
        </c:rich>
      </c:tx>
      <c:overlay val="0"/>
    </c:title>
    <c:autoTitleDeleted val="0"/>
    <c:plotArea>
      <c:layout/>
      <c:barChart>
        <c:barDir val="col"/>
        <c:grouping val="clustered"/>
        <c:varyColors val="0"/>
        <c:ser>
          <c:idx val="0"/>
          <c:order val="0"/>
          <c:tx>
            <c:strRef>
              <c:f>Sheet1!$B$1</c:f>
              <c:strCache>
                <c:ptCount val="1"/>
                <c:pt idx="0">
                  <c:v>Health score</c:v>
                </c:pt>
              </c:strCache>
            </c:strRef>
          </c:tx>
          <c:spPr>
            <a:solidFill>
              <a:srgbClr val="0D9488"/>
            </a:solidFill>
            <a:effectLst/>
          </c:spPr>
          <c:invertIfNegative val="0"/>
          <c:dLbls>
            <c:numFmt formatCode="#,##0" sourceLinked="0"/>
            <c:spPr>
              <a:noFill/>
              <a:ln>
                <a:noFill/>
              </a:ln>
              <a:effectLst/>
            </c:spPr>
            <c:txPr>
              <a:bodyPr/>
              <a:lstStyle/>
              <a:p>
                <a:pPr>
                  <a:defRPr sz="10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MicroSocial</c:v>
                </c:pt>
                <c:pt idx="1">
                  <c:v>Site-Where</c:v>
                </c:pt>
                <c:pt idx="2">
                  <c:v>design-pat.</c:v>
                </c:pt>
                <c:pt idx="3">
                  <c:v>Apollo</c:v>
                </c:pt>
                <c:pt idx="4">
                  <c:v>Train-Ticket</c:v>
                </c:pt>
                <c:pt idx="5">
                  <c:v>Genie</c:v>
                </c:pt>
              </c:strCache>
            </c:strRef>
          </c:cat>
          <c:val>
            <c:numRef>
              <c:f>Sheet1!$B$2:$B$7</c:f>
              <c:numCache>
                <c:formatCode>General</c:formatCode>
                <c:ptCount val="6"/>
                <c:pt idx="0">
                  <c:v>77</c:v>
                </c:pt>
                <c:pt idx="1">
                  <c:v>69</c:v>
                </c:pt>
                <c:pt idx="2">
                  <c:v>60</c:v>
                </c:pt>
                <c:pt idx="3">
                  <c:v>59</c:v>
                </c:pt>
                <c:pt idx="4">
                  <c:v>52</c:v>
                </c:pt>
                <c:pt idx="5">
                  <c:v>45</c:v>
                </c:pt>
              </c:numCache>
            </c:numRef>
          </c:val>
          <c:extLst>
            <c:ext xmlns:c16="http://schemas.microsoft.com/office/drawing/2014/chart" uri="{C3380CC4-5D6E-409C-BE32-E72D297353CC}">
              <c16:uniqueId val="{00000000-41D3-47A4-B4E6-3C942ADEAFCD}"/>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683612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'Good morning. My name is Andrei Iacob, and today I'll be defending my dissertation: MSA Detector — a tool for detecting architectural anti-patterns in Java-based microservice systems. My supervisor is Professor Simona Motogna.'
Keep this short — about 30 seconds. Don't introduce content yet; that's the next slide.
Breathe, slow down. The committee already knows your name from the schedule, so this is just orientation.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 seconds here. This frames why the tool exists.
Talking points:
• Microservices have become the default for new large systems. But tooling for architectural quality hasn't kept up.
• Teams ship anti-patterns — shared DBs, cycles, services that are either too small or too big — and they only find out when deployment friction or cascading failures appear in production.
• Existing academic tools each handle a slice: Arcan does code-level cycles, MicroART visualises architecture, MSANose detects some microservice smells. None combine code-level smells with architectural-level analysis.
• Even when something IS detected, the output is usually an abstract warning. Developers don't act on warnings without code evidence and remediation guidance.
Pivot to next slide: 'So the goal of this work was a tool that bridges both levels and outputs actionable findings.'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here. Don't read the slide — talk to it.
What to actually say:
• 'The work has five contributions. The first is the multi-level analysis itself — using code-level signals like God Class frequency to flag architectural problems like God Service. That bridge between abstraction levels is the central novelty.'
• 'Second, ten anti-patterns across four dimensions — broader coverage than any single existing tool.'
• 'Third, automated microservice boundary detection from build files — most existing tools require manual configuration.'
• 'Fourth, a composite health score on 0–100, decomposed into four categories so you can see which dimension is dragging the score down.'
• 'Fifth, evidence-based reporting — every finding includes the actual code that triggered it.'
Don't dwell on each one. They'll see the details later. This slide sets expectations for the rest of the talk.</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~2 minutes here. This is the spine of the talk — get the pipeline right and everything else follows.
Walk left to right:
• Ingest: user uploads a ZIP or pastes a Git URL. The system extracts/clones and creates an analysis job.
• Service detection: scan for build files — pom.xml, build.gradle, build.gradle.kts. Filter out non-service modules using ~40 exclusion keywords.
• Intra-service analysis runs DesigniteJava as a subprocess for code smells. Inter-service uses Spoon AST to find @FeignClient, RestTemplate, WebClient calls and build the dependency graph.
• Then ten detectors run over that graph + the smells. Each is a Spring component implementing a common interface — Strategy pattern.
• Finally results are assembled, the health score is computed, the dependency graph is serialised to JSON, and everything is persisted.
If asked about why async: 'Analyses on large projects like Activiti take several minutes. Blocking the HTTP request would time out. The frontend polls for status.'
Don't read the design-choices panel verbatim — mention one or two if you have time.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~90–120 seconds. This is the slide that demonstrates the multi-level claim.
Talking points:
• 'I picked God Service as the example because it's the cleanest illustration of how code-level signals feed an architectural-level finding.'
• Walk through left side: 'DesigniteJava detects God Class smells per class. Those are persisted as CodeSmell entities in the database. The God Service detector then queries that table and flags any microservice containing one or more God Classes.'
• Right side: 'But what if DesigniteJava fails or is disabled? The detector falls back to its own Spoon-based analysis using six structural metrics. A class is flagged if it exceeds at least three.'
• On TCC: 'Tight Class Cohesion measures the fraction of method pairs that share an instance field access. Low TCC means the methods operate on disjoint state — a sign of unrelated responsibilities packed into one class.'
EXPECT THIS QUESTION: 'Why threshold = 1? One God Class shouldn't flag a service.'
Answer: 'The default is intentionally sensitive. False positives are cheap to dismiss. False negatives — architectural debt growing undetected — are expensive. The threshold is configurable; teams in production would calibrate it. Even one God Class concentrates responsibilities enough to warrant a look.'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slide — about 45 seconds. Don't read every detector aloud.
What to say:
• 'These are the ten detectors, organised by architectural dimension. Each is a Spring component implementing a common interface, so adding a new detector means writing one class — no orchestrator changes.'
• 'Severities feed directly into the health score: critical issues cost 8 points, high cost 5, medium cost 3.'
• 'I won't walk through each detector — they're in Chapter 3 of the thesis. I'll focus on the scoring mechanism next.'
If a committee member asks about a specific detector:
• Shared DB — group services by spring.datasource.url, flag groups of size &gt; 1
• Cyclic Dependency — Tarjan's SCC on the dep graph, any SCC &gt; 1 vertex is a cycle
• Chatty Service — call count per edge ≥ 10 OR a Feign interface with ≥ 10 methods
• Hardcoded Endpoints — regex scan of .java for http://, localhost:, IP literals (with comment/test exclusions)
• Distributed Monolith — composite rule on coupling coefficient, connected ratio, shared DB count
• API Versioning — regex /v\d+[/.] on endpoint paths
• ESB Misuse — caller/callee ratios + volume-based mediator ratio
• Wrong Cuts — Feature Envy count OR bidirectional edges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Talking points:
• 'The composite score is a sum of four independent categories. Each has its own budget — Anti-Patterns is 40 points, Code Quality 20, Architecture 25, Service Sizing 15. Total: 100.'
• 'Each category clamps at zero, so penalties can't bleed across categories. That's intentional: a code-quality-heavy project shouldn't have its architectural score dragged down.'
• 'Importantly, the breakdown is preserved in the UI. A developer doesn't just see 45/100 — they see WHICH category is dragging the score down, with itemised deductions.'
• 'The diff feature compares successive analyses, so a team that fixes a shared DB anti-pattern can see exactly how many points that bought them.'
EXPECT THIS QUESTION: 'Doesn't clamping at zero mean you lose discrimination between moderately bad and very bad projects?'
Answer: 'Yes — that's a known limitation of the category-cap approach, which I note in the threats to validity. A team with 13 nano services and one with 50 would both see Anti-Patterns at zero. The Service Sizing breakdown still preserves the per-issue counts, so the full picture is still visible to the user. A logarithmic penalty in the AP category — like I use for Code Quality — would address this in future work.'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This is the slide that makes the scoring reproducible.
Walk through it:
• 'Take Train-Ticket as an example — an academic benchmark with 42 microservices. It has 27 hardcoded endpoints, 4 chatty services, 4 nano services, and 1 shared database. Total penalty: 118 — but the AP category caps at 40, so it clamps to zero.'
• 'Service Sizing loses 8 points from the nano service penalty (capped at 8).'
• 'Code Quality and Architecture both score perfect — DesigniteJava produced no smells, and the coupling coefficient stayed below the penalty threshold.'
• 'So the final score is 0 + 20 + 25 + 7 = 52. Grade D.'
This slide demonstrates: (1) the scoring formula is fully transparent and reproducible, (2) the decomposition tells you exactly what's wrong — here it's overwhelmingly hardcoded URLs and chatty inter-service calls.
EXPECT QUESTION: 'Code Quality and Architecture scoring perfect — is that real?'
Honest answer: 'DesigniteJava genuinely didn't flag smells in this project, and the coupling coefficient is low because Train-Ticket has 42 services but relatively few resolved inter-service edges. A richer evaluation corpus would exercise those categories more. I note this in Chapter 5.'</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 seconds.
Talking points:
• 'I evaluated on six open-source Spring Boot projects, spanning from a 2k-LOC student project to Genie at 118k LOC. 99 microservices, 335k LOC total.'
• 'Health scores ranged from 45 to 77 — the scoring mechanism produces meaningful spread.'
• 'The dominant findings are configuration and sizing issues: 43 hardcoded endpoints, 17 nano services. But importantly, ESB Misuse was detected in Site-Where and Chatty Service in Train-Ticket — validating the communication-topology detectors.'
• '81 total anti-pattern instances across 7 distinct types. Cyclic Dependency, Distributed Monolith, and Wrong Cuts were not detected — plausible given these projects' topologies.'
EXPECT: 'Only 6 projects, is that enough?'
Answer: 'Not for a statistical claim. This evaluation is a feasibility demonstration across heterogeneous codebases. A full precision/recall study would need a labelled corpus, which doesn't exist for microservice anti-patterns — that's an open problem in the field. I note this in Threats to Validity.'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slide — switch to the browser/tool after this title comes up. Aim for ~2 minutes total.
Before you start:
• Have the app already running on localhost. Don't start the server live.
• Be logged in already. Don't waste demo time on the login form.
• Have a small known-working repo URL ready in your clipboard. MicroservicesSocial is the safest choice — small, fast, and produces a varied set of findings (Shared DB, Nano Service, Hardcoded Endpoint, API Versioning).
• Have a second browser tab open with a PREVIOUSLY COMPLETED analysis loaded, as a fallback. If the live clone fails or runs slow, switch to that tab and say 'here's a previous run on the same project.'
Demo script (~2 min):
1. CLONE (~30 s): 'I'll paste a GitHub URL of a small microservice project and submit it.' Paste, click submit. While it runs: 'the pipeline is now detecting microservices, running DesigniteJava per service, building the dependency graph, and running the ten detectors.'
2. DASHBOARD (~30 s): When the results page loads, point at the health score gauge. 'Score 77, grade C. The four-category breakdown shows where the deductions came from — mostly Anti-Patterns category.'
3. DRILL-DOWN (~45 s): Click on the Shared Database finding to expand it. 'You can see the affected services, the actual datasource URL that's being shared, the code snippet from the application.yml file, and remediation guidance.' This is the slide's strongest moment — the committee sees the evidence-based reporting in action.
4. DEPENDENCY GRAPH (~15 s): Scroll down or switch to the dep-graph view. 'Interactive force-directed graph. Each node is a service, edges show inter-service calls, node size scales with LOC.'
Then say: 'I'll switch back to the slides.' Click back to slide 11.
If the demo BREAKS at any point:
• Don't panic. Say 'looks like the network is being slow — let me switch to a pre-computed run.'
• Switch to your backup tab.
• If even the backup fails: 'the deployment is on my laptop and I'd be happy to demo it after the defense — meanwhile, the screenshots in Chapter 4 of the thesis show the same flow.'
• Move on quickly. Don't burn 90 seconds debugging in front of the committee. The thesis stands on its own.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~60 seconds. This is your honesty slide — committee will respect frankness here.
Talking points:
• 'The tool has real limitations. The biggest is the Java/Spring Boot restriction — real-world systems are polyglot, and the current tool can't analyse non-Java services.'
• 'Static analysis trades precision for applicability. A distributed tracing approach would give exact runtime call counts but requires the system to be deployed and instrumented — which prevents the tool from running on a fresh checkout.'
• 'The health score weights aren't empirically validated. They're engineering judgement informed by the literature. Different teams might want different weightings.'
• 'Future work in priority order: multi-language support, then ML-based detection, then empirical calibration of thresholds.'
Don't get defensive about limitations. Acknowledging them is more impressive than glossing over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close — about 20 seconds.
Suggested wording:
'To recap: the MSA Detector is a multi-level static analysis tool for Java/Spring Boot microservices, with ten anti-pattern detectors, a composite health score, and evidence-based reporting. The full implementation, evaluation data, and dissertation are available. Thank you — I'm happy to take questions.'
Then SHUT UP. Don't fill the silence. Let the committee speak.
When the first question comes:
1. Listen to the whole question — don't start composing the answer mid-question.
2. If unclear, ask for clarification: 'Just to make sure I understand — are you asking about X or about Y?'
3. Pause for 2 seconds before answering. Looks thoughtful, not nervous.
4. Answer concisely. If you don't know, say 'I didn't investigate that — my best guess is X but I'd want to verify.'
Common questions to prepare for:
• 'Why God Service threshold = 1?' → false positives cheap, false negatives expensive; configurable.
• 'Why only 6 projects?' → feasibility demo not statistical claim; no labelled corpus exists.
• 'Score compression at the bottom?' → known limitation, logarithmic AP penalty would fix.
• 'Why static instead of dynamic?' → applicability over precision; no deployed system required.
• 'Why Spring Boot only?' → biggest Java microservice ecosystem; other frameworks future work.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3.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8.png"/><Relationship Id="rId7"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3.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6400800" y="0"/>
            <a:ext cx="2743200" cy="5143500"/>
          </a:xfrm>
          <a:prstGeom prst="rect">
            <a:avLst/>
          </a:prstGeom>
          <a:solidFill>
            <a:srgbClr val="1C4E80"/>
          </a:solidFill>
          <a:ln w="12700">
            <a:solidFill>
              <a:srgbClr val="1C4E80"/>
            </a:solidFill>
            <a:prstDash val="solid"/>
          </a:ln>
        </p:spPr>
      </p:sp>
      <p:sp>
        <p:nvSpPr>
          <p:cNvPr id="3" name="Shape 1"/>
          <p:cNvSpPr/>
          <p:nvPr/>
        </p:nvSpPr>
        <p:spPr>
          <a:xfrm>
            <a:off x="6355080" y="0"/>
            <a:ext cx="45720" cy="5143500"/>
          </a:xfrm>
          <a:prstGeom prst="rect">
            <a:avLst/>
          </a:prstGeom>
          <a:solidFill>
            <a:srgbClr val="0D9488"/>
          </a:solidFill>
          <a:ln w="12700">
            <a:solidFill>
              <a:srgbClr val="0D9488"/>
            </a:solidFill>
            <a:prstDash val="solid"/>
          </a:ln>
        </p:spPr>
      </p:sp>
      <p:pic>
        <p:nvPicPr>
          <p:cNvPr id="4" name="Image 0" descr="preencoded.png"/>
          <p:cNvPicPr>
            <a:picLocks noChangeAspect="1"/>
          </p:cNvPicPr>
          <p:nvPr/>
        </p:nvPicPr>
        <p:blipFill>
          <a:blip r:embed="rId3"/>
          <a:stretch>
            <a:fillRect/>
          </a:stretch>
        </p:blipFill>
        <p:spPr>
          <a:xfrm>
            <a:off x="7040880" y="1554480"/>
            <a:ext cx="1463040" cy="1463040"/>
          </a:xfrm>
          <a:prstGeom prst="rect">
            <a:avLst/>
          </a:prstGeom>
        </p:spPr>
      </p:pic>
      <p:sp>
        <p:nvSpPr>
          <p:cNvPr id="5" name="Text 2"/>
          <p:cNvSpPr/>
          <p:nvPr/>
        </p:nvSpPr>
        <p:spPr>
          <a:xfrm>
            <a:off x="6400800" y="3108960"/>
            <a:ext cx="2743200" cy="365760"/>
          </a:xfrm>
          <a:prstGeom prst="rect">
            <a:avLst/>
          </a:prstGeom>
          <a:noFill/>
          <a:ln/>
        </p:spPr>
        <p:txBody>
          <a:bodyPr wrap="square" rtlCol="0" anchor="ctr"/>
          <a:lstStyle/>
          <a:p>
            <a:pPr marL="0" indent="0" algn="ctr">
              <a:buNone/>
            </a:pPr>
            <a:r>
              <a:rPr lang="en-US" sz="1400" b="1" dirty="0">
                <a:solidFill>
                  <a:srgbClr val="DBEAFE"/>
                </a:solidFill>
                <a:latin typeface="Calibri" pitchFamily="34" charset="0"/>
                <a:ea typeface="Calibri" pitchFamily="34" charset="-122"/>
                <a:cs typeface="Calibri" pitchFamily="34" charset="-120"/>
              </a:rPr>
              <a:t>MSA Detector</a:t>
            </a:r>
            <a:endParaRPr lang="en-US" sz="1400" dirty="0"/>
          </a:p>
        </p:txBody>
      </p:sp>
      <p:sp>
        <p:nvSpPr>
          <p:cNvPr id="6" name="Text 3"/>
          <p:cNvSpPr/>
          <p:nvPr/>
        </p:nvSpPr>
        <p:spPr>
          <a:xfrm>
            <a:off x="548640" y="1280160"/>
            <a:ext cx="5760720" cy="1554480"/>
          </a:xfrm>
          <a:prstGeom prst="rect">
            <a:avLst/>
          </a:prstGeom>
          <a:noFill/>
          <a:ln/>
        </p:spPr>
        <p:txBody>
          <a:bodyPr wrap="square" lIns="0" tIns="0" rIns="0" bIns="0" rtlCol="0" anchor="ctr"/>
          <a:lstStyle/>
          <a:p>
            <a:pPr marL="0" indent="0">
              <a:spcAft>
                <a:spcPts val="600"/>
              </a:spcAft>
              <a:buNone/>
            </a:pPr>
            <a:r>
              <a:rPr lang="en-US" sz="3400" b="1" dirty="0">
                <a:solidFill>
                  <a:srgbClr val="FFFFFF"/>
                </a:solidFill>
                <a:latin typeface="Calibri" pitchFamily="34" charset="0"/>
                <a:ea typeface="Calibri" pitchFamily="34" charset="-122"/>
                <a:cs typeface="Calibri" pitchFamily="34" charset="-120"/>
              </a:rPr>
              <a:t>Detecting Architectural</a:t>
            </a:r>
            <a:endParaRPr lang="en-US" sz="3400" dirty="0"/>
          </a:p>
          <a:p>
            <a:pPr marL="0" indent="0">
              <a:spcAft>
                <a:spcPts val="600"/>
              </a:spcAft>
              <a:buNone/>
            </a:pPr>
            <a:r>
              <a:rPr lang="en-US" sz="3400" b="1" dirty="0">
                <a:solidFill>
                  <a:srgbClr val="FFFFFF"/>
                </a:solidFill>
                <a:latin typeface="Calibri" pitchFamily="34" charset="0"/>
                <a:ea typeface="Calibri" pitchFamily="34" charset="-122"/>
                <a:cs typeface="Calibri" pitchFamily="34" charset="-120"/>
              </a:rPr>
              <a:t>Anti-Patterns in Microservices</a:t>
            </a:r>
            <a:endParaRPr lang="en-US" sz="3400" dirty="0"/>
          </a:p>
        </p:txBody>
      </p:sp>
      <p:sp>
        <p:nvSpPr>
          <p:cNvPr id="7" name="Text 4"/>
          <p:cNvSpPr/>
          <p:nvPr/>
        </p:nvSpPr>
        <p:spPr>
          <a:xfrm>
            <a:off x="548640" y="2880360"/>
            <a:ext cx="5760720" cy="365760"/>
          </a:xfrm>
          <a:prstGeom prst="rect">
            <a:avLst/>
          </a:prstGeom>
          <a:noFill/>
          <a:ln/>
        </p:spPr>
        <p:txBody>
          <a:bodyPr wrap="square" lIns="0" tIns="0" rIns="0" bIns="0" rtlCol="0" anchor="ctr"/>
          <a:lstStyle/>
          <a:p>
            <a:pPr marL="0" indent="0">
              <a:buNone/>
            </a:pPr>
            <a:r>
              <a:rPr lang="en-US" sz="1600" i="1" dirty="0">
                <a:solidFill>
                  <a:srgbClr val="DBEAFE"/>
                </a:solidFill>
                <a:latin typeface="Calibri" pitchFamily="34" charset="0"/>
                <a:ea typeface="Calibri" pitchFamily="34" charset="-122"/>
                <a:cs typeface="Calibri" pitchFamily="34" charset="-120"/>
              </a:rPr>
              <a:t>A multi-level static analysis tool for Java/Spring Boot systems</a:t>
            </a:r>
            <a:endParaRPr lang="en-US" sz="1600" dirty="0"/>
          </a:p>
        </p:txBody>
      </p:sp>
      <p:sp>
        <p:nvSpPr>
          <p:cNvPr id="8" name="Shape 5"/>
          <p:cNvSpPr/>
          <p:nvPr/>
        </p:nvSpPr>
        <p:spPr>
          <a:xfrm>
            <a:off x="548640" y="3657600"/>
            <a:ext cx="36576" cy="1005840"/>
          </a:xfrm>
          <a:prstGeom prst="rect">
            <a:avLst/>
          </a:prstGeom>
          <a:solidFill>
            <a:srgbClr val="0D9488"/>
          </a:solidFill>
          <a:ln w="12700">
            <a:solidFill>
              <a:srgbClr val="0D9488"/>
            </a:solidFill>
            <a:prstDash val="solid"/>
          </a:ln>
        </p:spPr>
      </p:sp>
      <p:sp>
        <p:nvSpPr>
          <p:cNvPr id="9" name="Text 6"/>
          <p:cNvSpPr/>
          <p:nvPr/>
        </p:nvSpPr>
        <p:spPr>
          <a:xfrm>
            <a:off x="731520" y="3657600"/>
            <a:ext cx="5486400" cy="10058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Iacob Andrei</a:t>
            </a:r>
            <a:endParaRPr lang="en-US" sz="1600" dirty="0"/>
          </a:p>
          <a:p>
            <a:pPr marL="0" indent="0">
              <a:buNone/>
            </a:pPr>
            <a:r>
              <a:rPr lang="en-US" sz="1200" dirty="0">
                <a:solidFill>
                  <a:srgbClr val="DBEAFE"/>
                </a:solidFill>
                <a:latin typeface="Calibri" pitchFamily="34" charset="0"/>
                <a:ea typeface="Calibri" pitchFamily="34" charset="-122"/>
                <a:cs typeface="Calibri" pitchFamily="34" charset="-120"/>
              </a:rPr>
              <a:t>Master's Dissertation Defense</a:t>
            </a:r>
            <a:endParaRPr lang="en-US" sz="1600" dirty="0"/>
          </a:p>
          <a:p>
            <a:pPr marL="0" indent="0">
              <a:buNone/>
            </a:pPr>
            <a:r>
              <a:rPr lang="en-US" sz="1200" dirty="0">
                <a:solidFill>
                  <a:srgbClr val="DBEAFE"/>
                </a:solidFill>
                <a:latin typeface="Calibri" pitchFamily="34" charset="0"/>
                <a:ea typeface="Calibri" pitchFamily="34" charset="-122"/>
                <a:cs typeface="Calibri" pitchFamily="34" charset="-120"/>
              </a:rPr>
              <a:t>Supervisor: Prof. Dr. Simona Motogna</a:t>
            </a:r>
            <a:endParaRPr lang="en-US" sz="1600" dirty="0"/>
          </a:p>
          <a:p>
            <a:pPr marL="0" indent="0">
              <a:buNone/>
            </a:pPr>
            <a:r>
              <a:rPr lang="en-US" sz="1100" i="1" dirty="0">
                <a:solidFill>
                  <a:srgbClr val="DBEAFE"/>
                </a:solidFill>
                <a:latin typeface="Calibri" pitchFamily="34" charset="0"/>
                <a:ea typeface="Calibri" pitchFamily="34" charset="-122"/>
                <a:cs typeface="Calibri" pitchFamily="34" charset="-120"/>
              </a:rPr>
              <a:t>Faculty of Mathematics and Computer Science, UBB</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Why this matters</a:t>
            </a:r>
            <a:endParaRPr lang="en-US" sz="2800" dirty="0"/>
          </a:p>
        </p:txBody>
      </p:sp>
      <p:sp>
        <p:nvSpPr>
          <p:cNvPr id="3" name="Text 1"/>
          <p:cNvSpPr/>
          <p:nvPr/>
        </p:nvSpPr>
        <p:spPr>
          <a:xfrm>
            <a:off x="457200" y="914400"/>
            <a:ext cx="8229600" cy="457200"/>
          </a:xfrm>
          <a:prstGeom prst="rect">
            <a:avLst/>
          </a:prstGeom>
          <a:noFill/>
          <a:ln/>
        </p:spPr>
        <p:txBody>
          <a:bodyPr wrap="square" lIns="0" tIns="0" rIns="0" bIns="0" rtlCol="0" anchor="ctr"/>
          <a:lstStyle/>
          <a:p>
            <a:pPr marL="0" indent="0">
              <a:buNone/>
            </a:pPr>
            <a:r>
              <a:rPr lang="en-US" sz="2000" i="1" dirty="0">
                <a:solidFill>
                  <a:srgbClr val="1E293B"/>
                </a:solidFill>
                <a:latin typeface="Calibri" pitchFamily="34" charset="0"/>
                <a:ea typeface="Calibri" pitchFamily="34" charset="-122"/>
                <a:cs typeface="Calibri" pitchFamily="34" charset="-120"/>
              </a:rPr>
              <a:t>Microservices adoption has outpaced tooling.</a:t>
            </a:r>
            <a:endParaRPr lang="en-US" sz="2000" dirty="0"/>
          </a:p>
        </p:txBody>
      </p:sp>
      <p:sp>
        <p:nvSpPr>
          <p:cNvPr id="4" name="Shape 2"/>
          <p:cNvSpPr/>
          <p:nvPr/>
        </p:nvSpPr>
        <p:spPr>
          <a:xfrm>
            <a:off x="457200" y="1600200"/>
            <a:ext cx="2377440" cy="2651760"/>
          </a:xfrm>
          <a:prstGeom prst="rect">
            <a:avLst/>
          </a:prstGeom>
          <a:solidFill>
            <a:srgbClr val="F8FAFC"/>
          </a:solidFill>
          <a:ln w="9525">
            <a:solidFill>
              <a:srgbClr val="E2E8F0"/>
            </a:solidFill>
            <a:prstDash val="solid"/>
          </a:ln>
        </p:spPr>
      </p:sp>
      <p:sp>
        <p:nvSpPr>
          <p:cNvPr id="5" name="Shape 3"/>
          <p:cNvSpPr/>
          <p:nvPr/>
        </p:nvSpPr>
        <p:spPr>
          <a:xfrm>
            <a:off x="457200" y="1600200"/>
            <a:ext cx="54864" cy="2651760"/>
          </a:xfrm>
          <a:prstGeom prst="rect">
            <a:avLst/>
          </a:prstGeom>
          <a:solidFill>
            <a:srgbClr val="DC2626"/>
          </a:solidFill>
          <a:ln w="12700">
            <a:solidFill>
              <a:srgbClr val="DC2626"/>
            </a:solidFill>
            <a:prstDash val="solid"/>
          </a:ln>
        </p:spPr>
      </p:sp>
      <p:sp>
        <p:nvSpPr>
          <p:cNvPr id="6" name="Shape 4"/>
          <p:cNvSpPr/>
          <p:nvPr/>
        </p:nvSpPr>
        <p:spPr>
          <a:xfrm>
            <a:off x="685800" y="1783080"/>
            <a:ext cx="502920" cy="502920"/>
          </a:xfrm>
          <a:prstGeom prst="roundRect">
            <a:avLst>
              <a:gd name="adj" fmla="val 14545"/>
            </a:avLst>
          </a:prstGeom>
          <a:solidFill>
            <a:srgbClr val="DC2626"/>
          </a:solidFill>
          <a:ln w="12700">
            <a:solidFill>
              <a:srgbClr val="DC2626"/>
            </a:solidFill>
            <a:prstDash val="solid"/>
          </a:ln>
          <a:effectLst>
            <a:outerShdw blurRad="76200" dist="25400" dir="8100000" algn="bl" rotWithShape="0">
              <a:srgbClr val="000000">
                <a:alpha val="12000"/>
              </a:srgbClr>
            </a:outerShdw>
          </a:effectLst>
        </p:spPr>
      </p:sp>
      <p:pic>
        <p:nvPicPr>
          <p:cNvPr id="7" name="Image 0" descr="preencoded.png"/>
          <p:cNvPicPr>
            <a:picLocks noChangeAspect="1"/>
          </p:cNvPicPr>
          <p:nvPr/>
        </p:nvPicPr>
        <p:blipFill>
          <a:blip r:embed="rId3"/>
          <a:stretch>
            <a:fillRect/>
          </a:stretch>
        </p:blipFill>
        <p:spPr>
          <a:xfrm>
            <a:off x="796442" y="1893722"/>
            <a:ext cx="281635" cy="281635"/>
          </a:xfrm>
          <a:prstGeom prst="rect">
            <a:avLst/>
          </a:prstGeom>
        </p:spPr>
      </p:pic>
      <p:sp>
        <p:nvSpPr>
          <p:cNvPr id="8" name="Text 5"/>
          <p:cNvSpPr/>
          <p:nvPr/>
        </p:nvSpPr>
        <p:spPr>
          <a:xfrm>
            <a:off x="68580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Architectural debt accumulates silently</a:t>
            </a:r>
            <a:endParaRPr lang="en-US" sz="1400" dirty="0"/>
          </a:p>
        </p:txBody>
      </p:sp>
      <p:sp>
        <p:nvSpPr>
          <p:cNvPr id="9" name="Text 6"/>
          <p:cNvSpPr/>
          <p:nvPr/>
        </p:nvSpPr>
        <p:spPr>
          <a:xfrm>
            <a:off x="68580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Shared databases, cyclic dependencies, and ill-sized services erode the benefits microservices promise.</a:t>
            </a:r>
            <a:endParaRPr lang="en-US" sz="1100" dirty="0"/>
          </a:p>
        </p:txBody>
      </p:sp>
      <p:sp>
        <p:nvSpPr>
          <p:cNvPr id="10" name="Shape 7"/>
          <p:cNvSpPr/>
          <p:nvPr/>
        </p:nvSpPr>
        <p:spPr>
          <a:xfrm>
            <a:off x="3383280" y="1600200"/>
            <a:ext cx="2377440" cy="2651760"/>
          </a:xfrm>
          <a:prstGeom prst="rect">
            <a:avLst/>
          </a:prstGeom>
          <a:solidFill>
            <a:srgbClr val="F8FAFC"/>
          </a:solidFill>
          <a:ln w="9525">
            <a:solidFill>
              <a:srgbClr val="E2E8F0"/>
            </a:solidFill>
            <a:prstDash val="solid"/>
          </a:ln>
        </p:spPr>
      </p:sp>
      <p:sp>
        <p:nvSpPr>
          <p:cNvPr id="11" name="Shape 8"/>
          <p:cNvSpPr/>
          <p:nvPr/>
        </p:nvSpPr>
        <p:spPr>
          <a:xfrm>
            <a:off x="3383280" y="1600200"/>
            <a:ext cx="54864" cy="2651760"/>
          </a:xfrm>
          <a:prstGeom prst="rect">
            <a:avLst/>
          </a:prstGeom>
          <a:solidFill>
            <a:srgbClr val="1C4E80"/>
          </a:solidFill>
          <a:ln w="12700">
            <a:solidFill>
              <a:srgbClr val="1C4E80"/>
            </a:solidFill>
            <a:prstDash val="solid"/>
          </a:ln>
        </p:spPr>
      </p:sp>
      <p:sp>
        <p:nvSpPr>
          <p:cNvPr id="12" name="Shape 9"/>
          <p:cNvSpPr/>
          <p:nvPr/>
        </p:nvSpPr>
        <p:spPr>
          <a:xfrm>
            <a:off x="3611880" y="1783080"/>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sp>
      <p:pic>
        <p:nvPicPr>
          <p:cNvPr id="13" name="Image 1" descr="preencoded.png"/>
          <p:cNvPicPr>
            <a:picLocks noChangeAspect="1"/>
          </p:cNvPicPr>
          <p:nvPr/>
        </p:nvPicPr>
        <p:blipFill>
          <a:blip r:embed="rId4"/>
          <a:stretch>
            <a:fillRect/>
          </a:stretch>
        </p:blipFill>
        <p:spPr>
          <a:xfrm>
            <a:off x="3722522" y="1893722"/>
            <a:ext cx="281635" cy="281635"/>
          </a:xfrm>
          <a:prstGeom prst="rect">
            <a:avLst/>
          </a:prstGeom>
        </p:spPr>
      </p:pic>
      <p:sp>
        <p:nvSpPr>
          <p:cNvPr id="14" name="Text 10"/>
          <p:cNvSpPr/>
          <p:nvPr/>
        </p:nvSpPr>
        <p:spPr>
          <a:xfrm>
            <a:off x="361188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Existing tools are single-level</a:t>
            </a:r>
            <a:endParaRPr lang="en-US" sz="1400" dirty="0"/>
          </a:p>
        </p:txBody>
      </p:sp>
      <p:sp>
        <p:nvSpPr>
          <p:cNvPr id="15" name="Text 11"/>
          <p:cNvSpPr/>
          <p:nvPr/>
        </p:nvSpPr>
        <p:spPr>
          <a:xfrm>
            <a:off x="361188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Arcan, MicroART, MSANose each cover a slice — code-level OR architectural-level, rarely both.</a:t>
            </a:r>
            <a:endParaRPr lang="en-US" sz="1100" dirty="0"/>
          </a:p>
        </p:txBody>
      </p:sp>
      <p:sp>
        <p:nvSpPr>
          <p:cNvPr id="16" name="Shape 12"/>
          <p:cNvSpPr/>
          <p:nvPr/>
        </p:nvSpPr>
        <p:spPr>
          <a:xfrm>
            <a:off x="6309360" y="1600200"/>
            <a:ext cx="2377440" cy="2651760"/>
          </a:xfrm>
          <a:prstGeom prst="rect">
            <a:avLst/>
          </a:prstGeom>
          <a:solidFill>
            <a:srgbClr val="F8FAFC"/>
          </a:solidFill>
          <a:ln w="9525">
            <a:solidFill>
              <a:srgbClr val="E2E8F0"/>
            </a:solidFill>
            <a:prstDash val="solid"/>
          </a:ln>
        </p:spPr>
      </p:sp>
      <p:sp>
        <p:nvSpPr>
          <p:cNvPr id="17" name="Shape 13"/>
          <p:cNvSpPr/>
          <p:nvPr/>
        </p:nvSpPr>
        <p:spPr>
          <a:xfrm>
            <a:off x="6309360" y="1600200"/>
            <a:ext cx="54864" cy="2651760"/>
          </a:xfrm>
          <a:prstGeom prst="rect">
            <a:avLst/>
          </a:prstGeom>
          <a:solidFill>
            <a:srgbClr val="D97706"/>
          </a:solidFill>
          <a:ln w="12700">
            <a:solidFill>
              <a:srgbClr val="D97706"/>
            </a:solidFill>
            <a:prstDash val="solid"/>
          </a:ln>
        </p:spPr>
      </p:sp>
      <p:sp>
        <p:nvSpPr>
          <p:cNvPr id="18" name="Shape 14"/>
          <p:cNvSpPr/>
          <p:nvPr/>
        </p:nvSpPr>
        <p:spPr>
          <a:xfrm>
            <a:off x="6537960" y="1783080"/>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sp>
      <p:pic>
        <p:nvPicPr>
          <p:cNvPr id="19" name="Image 2" descr="preencoded.png"/>
          <p:cNvPicPr>
            <a:picLocks noChangeAspect="1"/>
          </p:cNvPicPr>
          <p:nvPr/>
        </p:nvPicPr>
        <p:blipFill>
          <a:blip r:embed="rId5"/>
          <a:stretch>
            <a:fillRect/>
          </a:stretch>
        </p:blipFill>
        <p:spPr>
          <a:xfrm>
            <a:off x="6648602" y="1893722"/>
            <a:ext cx="281635" cy="281635"/>
          </a:xfrm>
          <a:prstGeom prst="rect">
            <a:avLst/>
          </a:prstGeom>
        </p:spPr>
      </p:pic>
      <p:sp>
        <p:nvSpPr>
          <p:cNvPr id="20" name="Text 15"/>
          <p:cNvSpPr/>
          <p:nvPr/>
        </p:nvSpPr>
        <p:spPr>
          <a:xfrm>
            <a:off x="653796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Findings without evidence don't help</a:t>
            </a:r>
            <a:endParaRPr lang="en-US" sz="1400" dirty="0"/>
          </a:p>
        </p:txBody>
      </p:sp>
      <p:sp>
        <p:nvSpPr>
          <p:cNvPr id="21" name="Text 16"/>
          <p:cNvSpPr/>
          <p:nvPr/>
        </p:nvSpPr>
        <p:spPr>
          <a:xfrm>
            <a:off x="653796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Warnings without source snippets, affected services, or remediation guidance get ignored.</a:t>
            </a:r>
            <a:endParaRPr lang="en-US" sz="1100" dirty="0"/>
          </a:p>
        </p:txBody>
      </p:sp>
      <p:sp>
        <p:nvSpPr>
          <p:cNvPr id="22" name="Shape 17"/>
          <p:cNvSpPr/>
          <p:nvPr/>
        </p:nvSpPr>
        <p:spPr>
          <a:xfrm>
            <a:off x="457200" y="4434840"/>
            <a:ext cx="8229600" cy="320040"/>
          </a:xfrm>
          <a:prstGeom prst="rect">
            <a:avLst/>
          </a:prstGeom>
          <a:solidFill>
            <a:srgbClr val="0F2A44"/>
          </a:solidFill>
          <a:ln w="12700">
            <a:solidFill>
              <a:srgbClr val="0F2A44"/>
            </a:solidFill>
            <a:prstDash val="solid"/>
          </a:ln>
        </p:spPr>
      </p:sp>
      <p:sp>
        <p:nvSpPr>
          <p:cNvPr id="23" name="Text 18"/>
          <p:cNvSpPr/>
          <p:nvPr/>
        </p:nvSpPr>
        <p:spPr>
          <a:xfrm>
            <a:off x="457200" y="4434840"/>
            <a:ext cx="8229600"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Goal: actionable, evidence-based detection that bridges code and architecture levels.</a:t>
            </a:r>
            <a:endParaRPr lang="en-US" sz="1200" dirty="0"/>
          </a:p>
        </p:txBody>
      </p:sp>
      <p:sp>
        <p:nvSpPr>
          <p:cNvPr id="24" name="Text 19"/>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5" name="Text 20"/>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 / 12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Objectives &amp; contributions</a:t>
            </a:r>
            <a:endParaRPr lang="en-US" sz="2800" dirty="0"/>
          </a:p>
        </p:txBody>
      </p:sp>
      <p:sp>
        <p:nvSpPr>
          <p:cNvPr id="3" name="Shape 1"/>
          <p:cNvSpPr/>
          <p:nvPr/>
        </p:nvSpPr>
        <p:spPr>
          <a:xfrm>
            <a:off x="457200" y="1014984"/>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sp>
      <p:pic>
        <p:nvPicPr>
          <p:cNvPr id="4" name="Image 0" descr="preencoded.png"/>
          <p:cNvPicPr>
            <a:picLocks noChangeAspect="1"/>
          </p:cNvPicPr>
          <p:nvPr/>
        </p:nvPicPr>
        <p:blipFill>
          <a:blip r:embed="rId3"/>
          <a:stretch>
            <a:fillRect/>
          </a:stretch>
        </p:blipFill>
        <p:spPr>
          <a:xfrm>
            <a:off x="567842" y="1125626"/>
            <a:ext cx="281635" cy="281635"/>
          </a:xfrm>
          <a:prstGeom prst="rect">
            <a:avLst/>
          </a:prstGeom>
        </p:spPr>
      </p:pic>
      <p:sp>
        <p:nvSpPr>
          <p:cNvPr id="5" name="Text 2"/>
          <p:cNvSpPr/>
          <p:nvPr/>
        </p:nvSpPr>
        <p:spPr>
          <a:xfrm>
            <a:off x="1143000" y="996696"/>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Multi-level analysis</a:t>
            </a:r>
            <a:endParaRPr lang="en-US" sz="1500" dirty="0"/>
          </a:p>
        </p:txBody>
      </p:sp>
      <p:sp>
        <p:nvSpPr>
          <p:cNvPr id="6" name="Text 3"/>
          <p:cNvSpPr/>
          <p:nvPr/>
        </p:nvSpPr>
        <p:spPr>
          <a:xfrm>
            <a:off x="1143000" y="1289304"/>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Combines intra-service code smells (DesigniteJava) with inter-service dependency analysis (Spoon + graphs).</a:t>
            </a:r>
            <a:endParaRPr lang="en-US" sz="1150" dirty="0"/>
          </a:p>
        </p:txBody>
      </p:sp>
      <p:sp>
        <p:nvSpPr>
          <p:cNvPr id="7" name="Shape 4"/>
          <p:cNvSpPr/>
          <p:nvPr/>
        </p:nvSpPr>
        <p:spPr>
          <a:xfrm>
            <a:off x="457200" y="1728216"/>
            <a:ext cx="502920" cy="502920"/>
          </a:xfrm>
          <a:prstGeom prst="roundRect">
            <a:avLst>
              <a:gd name="adj" fmla="val 14545"/>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sp>
      <p:pic>
        <p:nvPicPr>
          <p:cNvPr id="8" name="Image 1" descr="preencoded.png"/>
          <p:cNvPicPr>
            <a:picLocks noChangeAspect="1"/>
          </p:cNvPicPr>
          <p:nvPr/>
        </p:nvPicPr>
        <p:blipFill>
          <a:blip r:embed="rId4"/>
          <a:stretch>
            <a:fillRect/>
          </a:stretch>
        </p:blipFill>
        <p:spPr>
          <a:xfrm>
            <a:off x="567842" y="1838858"/>
            <a:ext cx="281635" cy="281635"/>
          </a:xfrm>
          <a:prstGeom prst="rect">
            <a:avLst/>
          </a:prstGeom>
        </p:spPr>
      </p:pic>
      <p:sp>
        <p:nvSpPr>
          <p:cNvPr id="9" name="Text 5"/>
          <p:cNvSpPr/>
          <p:nvPr/>
        </p:nvSpPr>
        <p:spPr>
          <a:xfrm>
            <a:off x="1143000" y="1709928"/>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Ten anti-patterns detected</a:t>
            </a:r>
            <a:endParaRPr lang="en-US" sz="1500" dirty="0"/>
          </a:p>
        </p:txBody>
      </p:sp>
      <p:sp>
        <p:nvSpPr>
          <p:cNvPr id="10" name="Text 6"/>
          <p:cNvSpPr/>
          <p:nvPr/>
        </p:nvSpPr>
        <p:spPr>
          <a:xfrm>
            <a:off x="1143000" y="2002536"/>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Across four dimensions: service design, communication, data management, deployment &amp; coupling.</a:t>
            </a:r>
            <a:endParaRPr lang="en-US" sz="1150" dirty="0"/>
          </a:p>
        </p:txBody>
      </p:sp>
      <p:sp>
        <p:nvSpPr>
          <p:cNvPr id="11" name="Shape 7"/>
          <p:cNvSpPr/>
          <p:nvPr/>
        </p:nvSpPr>
        <p:spPr>
          <a:xfrm>
            <a:off x="457200" y="2441448"/>
            <a:ext cx="502920" cy="502920"/>
          </a:xfrm>
          <a:prstGeom prst="roundRect">
            <a:avLst>
              <a:gd name="adj" fmla="val 14545"/>
            </a:avLst>
          </a:prstGeom>
          <a:solidFill>
            <a:srgbClr val="0F2A44"/>
          </a:solidFill>
          <a:ln w="12700">
            <a:solidFill>
              <a:srgbClr val="0F2A44"/>
            </a:solidFill>
            <a:prstDash val="solid"/>
          </a:ln>
          <a:effectLst>
            <a:outerShdw blurRad="76200" dist="25400" dir="8100000" algn="bl" rotWithShape="0">
              <a:srgbClr val="000000">
                <a:alpha val="12000"/>
              </a:srgbClr>
            </a:outerShdw>
          </a:effectLst>
        </p:spPr>
      </p:sp>
      <p:pic>
        <p:nvPicPr>
          <p:cNvPr id="12" name="Image 2" descr="preencoded.png"/>
          <p:cNvPicPr>
            <a:picLocks noChangeAspect="1"/>
          </p:cNvPicPr>
          <p:nvPr/>
        </p:nvPicPr>
        <p:blipFill>
          <a:blip r:embed="rId5"/>
          <a:stretch>
            <a:fillRect/>
          </a:stretch>
        </p:blipFill>
        <p:spPr>
          <a:xfrm>
            <a:off x="567842" y="2552090"/>
            <a:ext cx="281635" cy="281635"/>
          </a:xfrm>
          <a:prstGeom prst="rect">
            <a:avLst/>
          </a:prstGeom>
        </p:spPr>
      </p:pic>
      <p:sp>
        <p:nvSpPr>
          <p:cNvPr id="13" name="Text 8"/>
          <p:cNvSpPr/>
          <p:nvPr/>
        </p:nvSpPr>
        <p:spPr>
          <a:xfrm>
            <a:off x="1143000" y="2423160"/>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Automated boundary detection</a:t>
            </a:r>
            <a:endParaRPr lang="en-US" sz="1500" dirty="0"/>
          </a:p>
        </p:txBody>
      </p:sp>
      <p:sp>
        <p:nvSpPr>
          <p:cNvPr id="14" name="Text 9"/>
          <p:cNvSpPr/>
          <p:nvPr/>
        </p:nvSpPr>
        <p:spPr>
          <a:xfrm>
            <a:off x="1143000" y="2715768"/>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Identifies microservices from build files — no manual enumeration required.</a:t>
            </a:r>
            <a:endParaRPr lang="en-US" sz="1150" dirty="0"/>
          </a:p>
        </p:txBody>
      </p:sp>
      <p:sp>
        <p:nvSpPr>
          <p:cNvPr id="15" name="Shape 10"/>
          <p:cNvSpPr/>
          <p:nvPr/>
        </p:nvSpPr>
        <p:spPr>
          <a:xfrm>
            <a:off x="457200" y="3154680"/>
            <a:ext cx="502920" cy="502920"/>
          </a:xfrm>
          <a:prstGeom prst="roundRect">
            <a:avLst>
              <a:gd name="adj" fmla="val 14545"/>
            </a:avLst>
          </a:prstGeom>
          <a:solidFill>
            <a:srgbClr val="059669"/>
          </a:solidFill>
          <a:ln w="12700">
            <a:solidFill>
              <a:srgbClr val="059669"/>
            </a:solidFill>
            <a:prstDash val="solid"/>
          </a:ln>
          <a:effectLst>
            <a:outerShdw blurRad="76200" dist="25400" dir="8100000" algn="bl" rotWithShape="0">
              <a:srgbClr val="000000">
                <a:alpha val="12000"/>
              </a:srgbClr>
            </a:outerShdw>
          </a:effectLst>
        </p:spPr>
      </p:sp>
      <p:pic>
        <p:nvPicPr>
          <p:cNvPr id="16" name="Image 3" descr="preencoded.png"/>
          <p:cNvPicPr>
            <a:picLocks noChangeAspect="1"/>
          </p:cNvPicPr>
          <p:nvPr/>
        </p:nvPicPr>
        <p:blipFill>
          <a:blip r:embed="rId6"/>
          <a:stretch>
            <a:fillRect/>
          </a:stretch>
        </p:blipFill>
        <p:spPr>
          <a:xfrm>
            <a:off x="567842" y="3265322"/>
            <a:ext cx="281635" cy="281635"/>
          </a:xfrm>
          <a:prstGeom prst="rect">
            <a:avLst/>
          </a:prstGeom>
        </p:spPr>
      </p:pic>
      <p:sp>
        <p:nvSpPr>
          <p:cNvPr id="17" name="Text 11"/>
          <p:cNvSpPr/>
          <p:nvPr/>
        </p:nvSpPr>
        <p:spPr>
          <a:xfrm>
            <a:off x="1143000" y="3136392"/>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Composite health score</a:t>
            </a:r>
            <a:endParaRPr lang="en-US" sz="1500" dirty="0"/>
          </a:p>
        </p:txBody>
      </p:sp>
      <p:sp>
        <p:nvSpPr>
          <p:cNvPr id="18" name="Text 12"/>
          <p:cNvSpPr/>
          <p:nvPr/>
        </p:nvSpPr>
        <p:spPr>
          <a:xfrm>
            <a:off x="1143000" y="3429000"/>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0–100 with letter grading; decomposes into four interpretable categories; tracks change over time.</a:t>
            </a:r>
            <a:endParaRPr lang="en-US" sz="1150" dirty="0"/>
          </a:p>
        </p:txBody>
      </p:sp>
      <p:sp>
        <p:nvSpPr>
          <p:cNvPr id="19" name="Shape 13"/>
          <p:cNvSpPr/>
          <p:nvPr/>
        </p:nvSpPr>
        <p:spPr>
          <a:xfrm>
            <a:off x="457200" y="3867912"/>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sp>
      <p:pic>
        <p:nvPicPr>
          <p:cNvPr id="20" name="Image 4" descr="preencoded.png"/>
          <p:cNvPicPr>
            <a:picLocks noChangeAspect="1"/>
          </p:cNvPicPr>
          <p:nvPr/>
        </p:nvPicPr>
        <p:blipFill>
          <a:blip r:embed="rId7"/>
          <a:stretch>
            <a:fillRect/>
          </a:stretch>
        </p:blipFill>
        <p:spPr>
          <a:xfrm>
            <a:off x="567842" y="3978554"/>
            <a:ext cx="281635" cy="281635"/>
          </a:xfrm>
          <a:prstGeom prst="rect">
            <a:avLst/>
          </a:prstGeom>
        </p:spPr>
      </p:pic>
      <p:sp>
        <p:nvSpPr>
          <p:cNvPr id="21" name="Text 14"/>
          <p:cNvSpPr/>
          <p:nvPr/>
        </p:nvSpPr>
        <p:spPr>
          <a:xfrm>
            <a:off x="1143000" y="3849624"/>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Evidence-based reporting</a:t>
            </a:r>
            <a:endParaRPr lang="en-US" sz="1500" dirty="0"/>
          </a:p>
        </p:txBody>
      </p:sp>
      <p:sp>
        <p:nvSpPr>
          <p:cNvPr id="22" name="Text 15"/>
          <p:cNvSpPr/>
          <p:nvPr/>
        </p:nvSpPr>
        <p:spPr>
          <a:xfrm>
            <a:off x="1143000" y="4142232"/>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Every finding includes source snippets, affected services, and remediation guidance.</a:t>
            </a:r>
            <a:endParaRPr lang="en-US" sz="1150" dirty="0"/>
          </a:p>
        </p:txBody>
      </p:sp>
      <p:sp>
        <p:nvSpPr>
          <p:cNvPr id="23" name="Text 16"/>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4" name="Text 17"/>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 / 12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The analysis pipeline</a:t>
            </a:r>
            <a:endParaRPr lang="en-US" sz="2800" dirty="0"/>
          </a:p>
        </p:txBody>
      </p:sp>
      <p:sp>
        <p:nvSpPr>
          <p:cNvPr id="3" name="Shape 1"/>
          <p:cNvSpPr/>
          <p:nvPr/>
        </p:nvSpPr>
        <p:spPr>
          <a:xfrm>
            <a:off x="411480" y="1097280"/>
            <a:ext cx="1554480" cy="1463040"/>
          </a:xfrm>
          <a:prstGeom prst="rect">
            <a:avLst/>
          </a:prstGeom>
          <a:solidFill>
            <a:srgbClr val="F8FAFC"/>
          </a:solidFill>
          <a:ln w="9525">
            <a:solidFill>
              <a:srgbClr val="E2E8F0"/>
            </a:solidFill>
            <a:prstDash val="solid"/>
          </a:ln>
        </p:spPr>
      </p:sp>
      <p:sp>
        <p:nvSpPr>
          <p:cNvPr id="4" name="Shape 2"/>
          <p:cNvSpPr/>
          <p:nvPr/>
        </p:nvSpPr>
        <p:spPr>
          <a:xfrm>
            <a:off x="411480" y="1097280"/>
            <a:ext cx="1554480" cy="73152"/>
          </a:xfrm>
          <a:prstGeom prst="rect">
            <a:avLst/>
          </a:prstGeom>
          <a:solidFill>
            <a:srgbClr val="0F2A44"/>
          </a:solidFill>
          <a:ln w="12700">
            <a:solidFill>
              <a:srgbClr val="0F2A44"/>
            </a:solidFill>
            <a:prstDash val="solid"/>
          </a:ln>
        </p:spPr>
      </p:sp>
      <p:sp>
        <p:nvSpPr>
          <p:cNvPr id="5" name="Shape 3"/>
          <p:cNvSpPr/>
          <p:nvPr/>
        </p:nvSpPr>
        <p:spPr>
          <a:xfrm>
            <a:off x="937260" y="1325880"/>
            <a:ext cx="502920" cy="502920"/>
          </a:xfrm>
          <a:prstGeom prst="roundRect">
            <a:avLst>
              <a:gd name="adj" fmla="val 14545"/>
            </a:avLst>
          </a:prstGeom>
          <a:solidFill>
            <a:srgbClr val="0F2A44"/>
          </a:solidFill>
          <a:ln w="12700">
            <a:solidFill>
              <a:srgbClr val="0F2A44"/>
            </a:solidFill>
            <a:prstDash val="solid"/>
          </a:ln>
          <a:effectLst>
            <a:outerShdw blurRad="76200" dist="25400" dir="8100000" algn="bl" rotWithShape="0">
              <a:srgbClr val="000000">
                <a:alpha val="12000"/>
              </a:srgbClr>
            </a:outerShdw>
          </a:effectLst>
        </p:spPr>
      </p:sp>
      <p:pic>
        <p:nvPicPr>
          <p:cNvPr id="6" name="Image 0" descr="preencoded.png"/>
          <p:cNvPicPr>
            <a:picLocks noChangeAspect="1"/>
          </p:cNvPicPr>
          <p:nvPr/>
        </p:nvPicPr>
        <p:blipFill>
          <a:blip r:embed="rId3"/>
          <a:stretch>
            <a:fillRect/>
          </a:stretch>
        </p:blipFill>
        <p:spPr>
          <a:xfrm>
            <a:off x="1047902" y="1436522"/>
            <a:ext cx="281635" cy="281635"/>
          </a:xfrm>
          <a:prstGeom prst="rect">
            <a:avLst/>
          </a:prstGeom>
        </p:spPr>
      </p:pic>
      <p:sp>
        <p:nvSpPr>
          <p:cNvPr id="7" name="Text 4"/>
          <p:cNvSpPr/>
          <p:nvPr/>
        </p:nvSpPr>
        <p:spPr>
          <a:xfrm>
            <a:off x="41148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1. Ingest</a:t>
            </a:r>
            <a:endParaRPr lang="en-US" sz="1200" dirty="0"/>
          </a:p>
        </p:txBody>
      </p:sp>
      <p:sp>
        <p:nvSpPr>
          <p:cNvPr id="8" name="Text 5"/>
          <p:cNvSpPr/>
          <p:nvPr/>
        </p:nvSpPr>
        <p:spPr>
          <a:xfrm>
            <a:off x="41148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ZIP upload / Git clone</a:t>
            </a:r>
            <a:endParaRPr lang="en-US" sz="950" dirty="0"/>
          </a:p>
        </p:txBody>
      </p:sp>
      <p:pic>
        <p:nvPicPr>
          <p:cNvPr id="9" name="Image 1" descr="preencoded.png"/>
          <p:cNvPicPr>
            <a:picLocks noChangeAspect="1"/>
          </p:cNvPicPr>
          <p:nvPr/>
        </p:nvPicPr>
        <p:blipFill>
          <a:blip r:embed="rId4"/>
          <a:stretch>
            <a:fillRect/>
          </a:stretch>
        </p:blipFill>
        <p:spPr>
          <a:xfrm>
            <a:off x="1984248" y="1709928"/>
            <a:ext cx="100584" cy="237744"/>
          </a:xfrm>
          <a:prstGeom prst="rect">
            <a:avLst/>
          </a:prstGeom>
        </p:spPr>
      </p:pic>
      <p:sp>
        <p:nvSpPr>
          <p:cNvPr id="10" name="Shape 6"/>
          <p:cNvSpPr/>
          <p:nvPr/>
        </p:nvSpPr>
        <p:spPr>
          <a:xfrm>
            <a:off x="2103120" y="1097280"/>
            <a:ext cx="1554480" cy="1463040"/>
          </a:xfrm>
          <a:prstGeom prst="rect">
            <a:avLst/>
          </a:prstGeom>
          <a:solidFill>
            <a:srgbClr val="F8FAFC"/>
          </a:solidFill>
          <a:ln w="9525">
            <a:solidFill>
              <a:srgbClr val="E2E8F0"/>
            </a:solidFill>
            <a:prstDash val="solid"/>
          </a:ln>
        </p:spPr>
      </p:sp>
      <p:sp>
        <p:nvSpPr>
          <p:cNvPr id="11" name="Shape 7"/>
          <p:cNvSpPr/>
          <p:nvPr/>
        </p:nvSpPr>
        <p:spPr>
          <a:xfrm>
            <a:off x="2103120" y="1097280"/>
            <a:ext cx="1554480" cy="73152"/>
          </a:xfrm>
          <a:prstGeom prst="rect">
            <a:avLst/>
          </a:prstGeom>
          <a:solidFill>
            <a:srgbClr val="1C4E80"/>
          </a:solidFill>
          <a:ln w="12700">
            <a:solidFill>
              <a:srgbClr val="1C4E80"/>
            </a:solidFill>
            <a:prstDash val="solid"/>
          </a:ln>
        </p:spPr>
      </p:sp>
      <p:sp>
        <p:nvSpPr>
          <p:cNvPr id="12" name="Shape 8"/>
          <p:cNvSpPr/>
          <p:nvPr/>
        </p:nvSpPr>
        <p:spPr>
          <a:xfrm>
            <a:off x="2628900" y="1325880"/>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sp>
      <p:pic>
        <p:nvPicPr>
          <p:cNvPr id="13" name="Image 2" descr="preencoded.png"/>
          <p:cNvPicPr>
            <a:picLocks noChangeAspect="1"/>
          </p:cNvPicPr>
          <p:nvPr/>
        </p:nvPicPr>
        <p:blipFill>
          <a:blip r:embed="rId5"/>
          <a:stretch>
            <a:fillRect/>
          </a:stretch>
        </p:blipFill>
        <p:spPr>
          <a:xfrm>
            <a:off x="2739542" y="1436522"/>
            <a:ext cx="281635" cy="281635"/>
          </a:xfrm>
          <a:prstGeom prst="rect">
            <a:avLst/>
          </a:prstGeom>
        </p:spPr>
      </p:pic>
      <p:sp>
        <p:nvSpPr>
          <p:cNvPr id="14" name="Text 9"/>
          <p:cNvSpPr/>
          <p:nvPr/>
        </p:nvSpPr>
        <p:spPr>
          <a:xfrm>
            <a:off x="210312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2. Detect services</a:t>
            </a:r>
            <a:endParaRPr lang="en-US" sz="1200" dirty="0"/>
          </a:p>
        </p:txBody>
      </p:sp>
      <p:sp>
        <p:nvSpPr>
          <p:cNvPr id="15" name="Text 10"/>
          <p:cNvSpPr/>
          <p:nvPr/>
        </p:nvSpPr>
        <p:spPr>
          <a:xfrm>
            <a:off x="210312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Scan build files</a:t>
            </a:r>
            <a:endParaRPr lang="en-US" sz="950" dirty="0"/>
          </a:p>
        </p:txBody>
      </p:sp>
      <p:pic>
        <p:nvPicPr>
          <p:cNvPr id="16" name="Image 3" descr="preencoded.png"/>
          <p:cNvPicPr>
            <a:picLocks noChangeAspect="1"/>
          </p:cNvPicPr>
          <p:nvPr/>
        </p:nvPicPr>
        <p:blipFill>
          <a:blip r:embed="rId4"/>
          <a:stretch>
            <a:fillRect/>
          </a:stretch>
        </p:blipFill>
        <p:spPr>
          <a:xfrm>
            <a:off x="3675888" y="1709928"/>
            <a:ext cx="100584" cy="237744"/>
          </a:xfrm>
          <a:prstGeom prst="rect">
            <a:avLst/>
          </a:prstGeom>
        </p:spPr>
      </p:pic>
      <p:sp>
        <p:nvSpPr>
          <p:cNvPr id="17" name="Shape 11"/>
          <p:cNvSpPr/>
          <p:nvPr/>
        </p:nvSpPr>
        <p:spPr>
          <a:xfrm>
            <a:off x="3794760" y="1097280"/>
            <a:ext cx="1554480" cy="1463040"/>
          </a:xfrm>
          <a:prstGeom prst="rect">
            <a:avLst/>
          </a:prstGeom>
          <a:solidFill>
            <a:srgbClr val="F8FAFC"/>
          </a:solidFill>
          <a:ln w="9525">
            <a:solidFill>
              <a:srgbClr val="E2E8F0"/>
            </a:solidFill>
            <a:prstDash val="solid"/>
          </a:ln>
        </p:spPr>
      </p:sp>
      <p:sp>
        <p:nvSpPr>
          <p:cNvPr id="18" name="Shape 12"/>
          <p:cNvSpPr/>
          <p:nvPr/>
        </p:nvSpPr>
        <p:spPr>
          <a:xfrm>
            <a:off x="3794760" y="1097280"/>
            <a:ext cx="1554480" cy="73152"/>
          </a:xfrm>
          <a:prstGeom prst="rect">
            <a:avLst/>
          </a:prstGeom>
          <a:solidFill>
            <a:srgbClr val="0D9488"/>
          </a:solidFill>
          <a:ln w="12700">
            <a:solidFill>
              <a:srgbClr val="0D9488"/>
            </a:solidFill>
            <a:prstDash val="solid"/>
          </a:ln>
        </p:spPr>
      </p:sp>
      <p:sp>
        <p:nvSpPr>
          <p:cNvPr id="19" name="Shape 13"/>
          <p:cNvSpPr/>
          <p:nvPr/>
        </p:nvSpPr>
        <p:spPr>
          <a:xfrm>
            <a:off x="4320540" y="1325880"/>
            <a:ext cx="502920" cy="502920"/>
          </a:xfrm>
          <a:prstGeom prst="roundRect">
            <a:avLst>
              <a:gd name="adj" fmla="val 14545"/>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sp>
      <p:pic>
        <p:nvPicPr>
          <p:cNvPr id="20" name="Image 4" descr="preencoded.png"/>
          <p:cNvPicPr>
            <a:picLocks noChangeAspect="1"/>
          </p:cNvPicPr>
          <p:nvPr/>
        </p:nvPicPr>
        <p:blipFill>
          <a:blip r:embed="rId6"/>
          <a:stretch>
            <a:fillRect/>
          </a:stretch>
        </p:blipFill>
        <p:spPr>
          <a:xfrm>
            <a:off x="4431182" y="1436522"/>
            <a:ext cx="281635" cy="281635"/>
          </a:xfrm>
          <a:prstGeom prst="rect">
            <a:avLst/>
          </a:prstGeom>
        </p:spPr>
      </p:pic>
      <p:sp>
        <p:nvSpPr>
          <p:cNvPr id="21" name="Text 14"/>
          <p:cNvSpPr/>
          <p:nvPr/>
        </p:nvSpPr>
        <p:spPr>
          <a:xfrm>
            <a:off x="379476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3. Intra + Inter</a:t>
            </a:r>
            <a:endParaRPr lang="en-US" sz="1200" dirty="0"/>
          </a:p>
        </p:txBody>
      </p:sp>
      <p:sp>
        <p:nvSpPr>
          <p:cNvPr id="22" name="Text 15"/>
          <p:cNvSpPr/>
          <p:nvPr/>
        </p:nvSpPr>
        <p:spPr>
          <a:xfrm>
            <a:off x="379476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DesigniteJava + Spoon</a:t>
            </a:r>
            <a:endParaRPr lang="en-US" sz="950" dirty="0"/>
          </a:p>
        </p:txBody>
      </p:sp>
      <p:pic>
        <p:nvPicPr>
          <p:cNvPr id="23" name="Image 5" descr="preencoded.png"/>
          <p:cNvPicPr>
            <a:picLocks noChangeAspect="1"/>
          </p:cNvPicPr>
          <p:nvPr/>
        </p:nvPicPr>
        <p:blipFill>
          <a:blip r:embed="rId4"/>
          <a:stretch>
            <a:fillRect/>
          </a:stretch>
        </p:blipFill>
        <p:spPr>
          <a:xfrm>
            <a:off x="5367528" y="1709928"/>
            <a:ext cx="100584" cy="237744"/>
          </a:xfrm>
          <a:prstGeom prst="rect">
            <a:avLst/>
          </a:prstGeom>
        </p:spPr>
      </p:pic>
      <p:sp>
        <p:nvSpPr>
          <p:cNvPr id="24" name="Shape 16"/>
          <p:cNvSpPr/>
          <p:nvPr/>
        </p:nvSpPr>
        <p:spPr>
          <a:xfrm>
            <a:off x="5486400" y="1097280"/>
            <a:ext cx="1554480" cy="1463040"/>
          </a:xfrm>
          <a:prstGeom prst="rect">
            <a:avLst/>
          </a:prstGeom>
          <a:solidFill>
            <a:srgbClr val="F8FAFC"/>
          </a:solidFill>
          <a:ln w="9525">
            <a:solidFill>
              <a:srgbClr val="E2E8F0"/>
            </a:solidFill>
            <a:prstDash val="solid"/>
          </a:ln>
        </p:spPr>
      </p:sp>
      <p:sp>
        <p:nvSpPr>
          <p:cNvPr id="25" name="Shape 17"/>
          <p:cNvSpPr/>
          <p:nvPr/>
        </p:nvSpPr>
        <p:spPr>
          <a:xfrm>
            <a:off x="5486400" y="1097280"/>
            <a:ext cx="1554480" cy="73152"/>
          </a:xfrm>
          <a:prstGeom prst="rect">
            <a:avLst/>
          </a:prstGeom>
          <a:solidFill>
            <a:srgbClr val="D97706"/>
          </a:solidFill>
          <a:ln w="12700">
            <a:solidFill>
              <a:srgbClr val="D97706"/>
            </a:solidFill>
            <a:prstDash val="solid"/>
          </a:ln>
        </p:spPr>
      </p:sp>
      <p:sp>
        <p:nvSpPr>
          <p:cNvPr id="26" name="Shape 18"/>
          <p:cNvSpPr/>
          <p:nvPr/>
        </p:nvSpPr>
        <p:spPr>
          <a:xfrm>
            <a:off x="6012180" y="1325880"/>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sp>
      <p:pic>
        <p:nvPicPr>
          <p:cNvPr id="27" name="Image 6" descr="preencoded.png"/>
          <p:cNvPicPr>
            <a:picLocks noChangeAspect="1"/>
          </p:cNvPicPr>
          <p:nvPr/>
        </p:nvPicPr>
        <p:blipFill>
          <a:blip r:embed="rId7"/>
          <a:stretch>
            <a:fillRect/>
          </a:stretch>
        </p:blipFill>
        <p:spPr>
          <a:xfrm>
            <a:off x="6122822" y="1436522"/>
            <a:ext cx="281635" cy="281635"/>
          </a:xfrm>
          <a:prstGeom prst="rect">
            <a:avLst/>
          </a:prstGeom>
        </p:spPr>
      </p:pic>
      <p:sp>
        <p:nvSpPr>
          <p:cNvPr id="28" name="Text 19"/>
          <p:cNvSpPr/>
          <p:nvPr/>
        </p:nvSpPr>
        <p:spPr>
          <a:xfrm>
            <a:off x="548640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4. Detect patterns</a:t>
            </a:r>
            <a:endParaRPr lang="en-US" sz="1200" dirty="0"/>
          </a:p>
        </p:txBody>
      </p:sp>
      <p:sp>
        <p:nvSpPr>
          <p:cNvPr id="29" name="Text 20"/>
          <p:cNvSpPr/>
          <p:nvPr/>
        </p:nvSpPr>
        <p:spPr>
          <a:xfrm>
            <a:off x="548640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10 detectors (Strategy)</a:t>
            </a:r>
            <a:endParaRPr lang="en-US" sz="950" dirty="0"/>
          </a:p>
        </p:txBody>
      </p:sp>
      <p:pic>
        <p:nvPicPr>
          <p:cNvPr id="30" name="Image 7" descr="preencoded.png"/>
          <p:cNvPicPr>
            <a:picLocks noChangeAspect="1"/>
          </p:cNvPicPr>
          <p:nvPr/>
        </p:nvPicPr>
        <p:blipFill>
          <a:blip r:embed="rId4"/>
          <a:stretch>
            <a:fillRect/>
          </a:stretch>
        </p:blipFill>
        <p:spPr>
          <a:xfrm>
            <a:off x="7059168" y="1709928"/>
            <a:ext cx="100584" cy="237744"/>
          </a:xfrm>
          <a:prstGeom prst="rect">
            <a:avLst/>
          </a:prstGeom>
        </p:spPr>
      </p:pic>
      <p:sp>
        <p:nvSpPr>
          <p:cNvPr id="31" name="Shape 21"/>
          <p:cNvSpPr/>
          <p:nvPr/>
        </p:nvSpPr>
        <p:spPr>
          <a:xfrm>
            <a:off x="7178040" y="1097280"/>
            <a:ext cx="1554480" cy="1463040"/>
          </a:xfrm>
          <a:prstGeom prst="rect">
            <a:avLst/>
          </a:prstGeom>
          <a:solidFill>
            <a:srgbClr val="F8FAFC"/>
          </a:solidFill>
          <a:ln w="9525">
            <a:solidFill>
              <a:srgbClr val="E2E8F0"/>
            </a:solidFill>
            <a:prstDash val="solid"/>
          </a:ln>
        </p:spPr>
      </p:sp>
      <p:sp>
        <p:nvSpPr>
          <p:cNvPr id="32" name="Shape 22"/>
          <p:cNvSpPr/>
          <p:nvPr/>
        </p:nvSpPr>
        <p:spPr>
          <a:xfrm>
            <a:off x="7178040" y="1097280"/>
            <a:ext cx="1554480" cy="73152"/>
          </a:xfrm>
          <a:prstGeom prst="rect">
            <a:avLst/>
          </a:prstGeom>
          <a:solidFill>
            <a:srgbClr val="059669"/>
          </a:solidFill>
          <a:ln w="12700">
            <a:solidFill>
              <a:srgbClr val="059669"/>
            </a:solidFill>
            <a:prstDash val="solid"/>
          </a:ln>
        </p:spPr>
      </p:sp>
      <p:sp>
        <p:nvSpPr>
          <p:cNvPr id="33" name="Shape 23"/>
          <p:cNvSpPr/>
          <p:nvPr/>
        </p:nvSpPr>
        <p:spPr>
          <a:xfrm>
            <a:off x="7703820" y="1325880"/>
            <a:ext cx="502920" cy="502920"/>
          </a:xfrm>
          <a:prstGeom prst="roundRect">
            <a:avLst>
              <a:gd name="adj" fmla="val 14545"/>
            </a:avLst>
          </a:prstGeom>
          <a:solidFill>
            <a:srgbClr val="059669"/>
          </a:solidFill>
          <a:ln w="12700">
            <a:solidFill>
              <a:srgbClr val="059669"/>
            </a:solidFill>
            <a:prstDash val="solid"/>
          </a:ln>
          <a:effectLst>
            <a:outerShdw blurRad="76200" dist="25400" dir="8100000" algn="bl" rotWithShape="0">
              <a:srgbClr val="000000">
                <a:alpha val="12000"/>
              </a:srgbClr>
            </a:outerShdw>
          </a:effectLst>
        </p:spPr>
      </p:sp>
      <p:pic>
        <p:nvPicPr>
          <p:cNvPr id="34" name="Image 8" descr="preencoded.png"/>
          <p:cNvPicPr>
            <a:picLocks noChangeAspect="1"/>
          </p:cNvPicPr>
          <p:nvPr/>
        </p:nvPicPr>
        <p:blipFill>
          <a:blip r:embed="rId8"/>
          <a:stretch>
            <a:fillRect/>
          </a:stretch>
        </p:blipFill>
        <p:spPr>
          <a:xfrm>
            <a:off x="7814462" y="1436522"/>
            <a:ext cx="281635" cy="281635"/>
          </a:xfrm>
          <a:prstGeom prst="rect">
            <a:avLst/>
          </a:prstGeom>
        </p:spPr>
      </p:pic>
      <p:sp>
        <p:nvSpPr>
          <p:cNvPr id="35" name="Text 24"/>
          <p:cNvSpPr/>
          <p:nvPr/>
        </p:nvSpPr>
        <p:spPr>
          <a:xfrm>
            <a:off x="717804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5. Score &amp; report</a:t>
            </a:r>
            <a:endParaRPr lang="en-US" sz="1200" dirty="0"/>
          </a:p>
        </p:txBody>
      </p:sp>
      <p:sp>
        <p:nvSpPr>
          <p:cNvPr id="36" name="Text 25"/>
          <p:cNvSpPr/>
          <p:nvPr/>
        </p:nvSpPr>
        <p:spPr>
          <a:xfrm>
            <a:off x="717804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Health score + evidence</a:t>
            </a:r>
            <a:endParaRPr lang="en-US" sz="950" dirty="0"/>
          </a:p>
        </p:txBody>
      </p:sp>
      <p:sp>
        <p:nvSpPr>
          <p:cNvPr id="37" name="Shape 26"/>
          <p:cNvSpPr/>
          <p:nvPr/>
        </p:nvSpPr>
        <p:spPr>
          <a:xfrm>
            <a:off x="457200" y="2926080"/>
            <a:ext cx="8229600" cy="1691640"/>
          </a:xfrm>
          <a:prstGeom prst="rect">
            <a:avLst/>
          </a:prstGeom>
          <a:solidFill>
            <a:srgbClr val="F8FAFC"/>
          </a:solidFill>
          <a:ln w="9525">
            <a:solidFill>
              <a:srgbClr val="E2E8F0"/>
            </a:solidFill>
            <a:prstDash val="solid"/>
          </a:ln>
        </p:spPr>
      </p:sp>
      <p:sp>
        <p:nvSpPr>
          <p:cNvPr id="38" name="Shape 27"/>
          <p:cNvSpPr/>
          <p:nvPr/>
        </p:nvSpPr>
        <p:spPr>
          <a:xfrm>
            <a:off x="457200" y="2926080"/>
            <a:ext cx="54864" cy="1691640"/>
          </a:xfrm>
          <a:prstGeom prst="rect">
            <a:avLst/>
          </a:prstGeom>
          <a:solidFill>
            <a:srgbClr val="0D9488"/>
          </a:solidFill>
          <a:ln w="12700">
            <a:solidFill>
              <a:srgbClr val="0D9488"/>
            </a:solidFill>
            <a:prstDash val="solid"/>
          </a:ln>
        </p:spPr>
      </p:sp>
      <p:sp>
        <p:nvSpPr>
          <p:cNvPr id="39" name="Text 28"/>
          <p:cNvSpPr/>
          <p:nvPr/>
        </p:nvSpPr>
        <p:spPr>
          <a:xfrm>
            <a:off x="731520" y="3017520"/>
            <a:ext cx="777240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Key design choices</a:t>
            </a:r>
            <a:endParaRPr lang="en-US" sz="1400" dirty="0"/>
          </a:p>
        </p:txBody>
      </p:sp>
      <p:sp>
        <p:nvSpPr>
          <p:cNvPr id="40" name="Text 29"/>
          <p:cNvSpPr/>
          <p:nvPr/>
        </p:nvSpPr>
        <p:spPr>
          <a:xfrm>
            <a:off x="822960" y="3364992"/>
            <a:ext cx="7680960" cy="1188720"/>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Async pipeline — long analyses don't block the API. Spring @Async with TransactionSynchronization.afterCommit() ensures consistency.</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Each detector is a Spring @Component implementing AntiPatternDetector — adding a new detector means no orchestrator changes.</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Snippets are extracted and persisted as JSON during analysis, so results survive workspace cleanup.</a:t>
            </a:r>
            <a:endParaRPr lang="en-US" sz="1100" dirty="0"/>
          </a:p>
        </p:txBody>
      </p:sp>
      <p:sp>
        <p:nvSpPr>
          <p:cNvPr id="41" name="Text 30"/>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2" name="Text 31"/>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 / 12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Spotlight: God Service detection</a:t>
            </a:r>
            <a:endParaRPr lang="en-US" sz="2800" dirty="0"/>
          </a:p>
        </p:txBody>
      </p:sp>
      <p:sp>
        <p:nvSpPr>
          <p:cNvPr id="3" name="Text 1"/>
          <p:cNvSpPr/>
          <p:nvPr/>
        </p:nvSpPr>
        <p:spPr>
          <a:xfrm>
            <a:off x="457200" y="868680"/>
            <a:ext cx="393192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Multi-level bridge in action</a:t>
            </a:r>
            <a:endParaRPr lang="en-US" sz="1400" dirty="0"/>
          </a:p>
        </p:txBody>
      </p:sp>
      <p:sp>
        <p:nvSpPr>
          <p:cNvPr id="4" name="Shape 2"/>
          <p:cNvSpPr/>
          <p:nvPr/>
        </p:nvSpPr>
        <p:spPr>
          <a:xfrm>
            <a:off x="457200" y="1280160"/>
            <a:ext cx="3931920" cy="914400"/>
          </a:xfrm>
          <a:prstGeom prst="rect">
            <a:avLst/>
          </a:prstGeom>
          <a:solidFill>
            <a:srgbClr val="F8FAFC"/>
          </a:solidFill>
          <a:ln w="9525">
            <a:solidFill>
              <a:srgbClr val="E2E8F0"/>
            </a:solidFill>
            <a:prstDash val="solid"/>
          </a:ln>
        </p:spPr>
      </p:sp>
      <p:sp>
        <p:nvSpPr>
          <p:cNvPr id="5" name="Shape 3"/>
          <p:cNvSpPr/>
          <p:nvPr/>
        </p:nvSpPr>
        <p:spPr>
          <a:xfrm>
            <a:off x="457200" y="1280160"/>
            <a:ext cx="54864" cy="914400"/>
          </a:xfrm>
          <a:prstGeom prst="rect">
            <a:avLst/>
          </a:prstGeom>
          <a:solidFill>
            <a:srgbClr val="1C4E80"/>
          </a:solidFill>
          <a:ln w="12700">
            <a:solidFill>
              <a:srgbClr val="1C4E80"/>
            </a:solidFill>
            <a:prstDash val="solid"/>
          </a:ln>
        </p:spPr>
      </p:sp>
      <p:sp>
        <p:nvSpPr>
          <p:cNvPr id="6" name="Text 4"/>
          <p:cNvSpPr/>
          <p:nvPr/>
        </p:nvSpPr>
        <p:spPr>
          <a:xfrm>
            <a:off x="640080" y="1325880"/>
            <a:ext cx="3657600" cy="274320"/>
          </a:xfrm>
          <a:prstGeom prst="rect">
            <a:avLst/>
          </a:prstGeom>
          <a:noFill/>
          <a:ln/>
        </p:spPr>
        <p:txBody>
          <a:bodyPr wrap="square" lIns="0" tIns="0" rIns="0" bIns="0" rtlCol="0" anchor="ctr"/>
          <a:lstStyle/>
          <a:p>
            <a:pPr marL="0" indent="0">
              <a:buNone/>
            </a:pPr>
            <a:r>
              <a:rPr lang="en-US" sz="1100" b="1" dirty="0">
                <a:solidFill>
                  <a:srgbClr val="64748B"/>
                </a:solidFill>
                <a:latin typeface="Calibri" pitchFamily="34" charset="0"/>
                <a:ea typeface="Calibri" pitchFamily="34" charset="-122"/>
                <a:cs typeface="Calibri" pitchFamily="34" charset="-120"/>
              </a:rPr>
              <a:t>Code level</a:t>
            </a:r>
            <a:endParaRPr lang="en-US" sz="1100" dirty="0"/>
          </a:p>
        </p:txBody>
      </p:sp>
      <p:sp>
        <p:nvSpPr>
          <p:cNvPr id="7" name="Text 5"/>
          <p:cNvSpPr/>
          <p:nvPr/>
        </p:nvSpPr>
        <p:spPr>
          <a:xfrm>
            <a:off x="640080" y="1572768"/>
            <a:ext cx="3657600" cy="292608"/>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God Class smell (per class)</a:t>
            </a:r>
            <a:endParaRPr lang="en-US" sz="1300" dirty="0"/>
          </a:p>
        </p:txBody>
      </p:sp>
      <p:sp>
        <p:nvSpPr>
          <p:cNvPr id="8" name="Text 6"/>
          <p:cNvSpPr/>
          <p:nvPr/>
        </p:nvSpPr>
        <p:spPr>
          <a:xfrm>
            <a:off x="640080" y="1847088"/>
            <a:ext cx="36576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Detected by DesigniteJava, persisted as CodeSmell entities</a:t>
            </a:r>
            <a:endParaRPr lang="en-US" sz="1000" dirty="0"/>
          </a:p>
        </p:txBody>
      </p:sp>
      <p:sp>
        <p:nvSpPr>
          <p:cNvPr id="9" name="Shape 7"/>
          <p:cNvSpPr/>
          <p:nvPr/>
        </p:nvSpPr>
        <p:spPr>
          <a:xfrm>
            <a:off x="2423160" y="2286000"/>
            <a:ext cx="0" cy="320040"/>
          </a:xfrm>
          <a:prstGeom prst="line">
            <a:avLst/>
          </a:prstGeom>
          <a:noFill/>
          <a:ln w="31750">
            <a:solidFill>
              <a:srgbClr val="0D9488"/>
            </a:solidFill>
            <a:prstDash val="solid"/>
            <a:tailEnd type="triangle"/>
          </a:ln>
        </p:spPr>
      </p:sp>
      <p:sp>
        <p:nvSpPr>
          <p:cNvPr id="10" name="Shape 8"/>
          <p:cNvSpPr/>
          <p:nvPr/>
        </p:nvSpPr>
        <p:spPr>
          <a:xfrm>
            <a:off x="457200" y="2697480"/>
            <a:ext cx="3931920" cy="960120"/>
          </a:xfrm>
          <a:prstGeom prst="rect">
            <a:avLst/>
          </a:prstGeom>
          <a:solidFill>
            <a:srgbClr val="F8FAFC"/>
          </a:solidFill>
          <a:ln w="9525">
            <a:solidFill>
              <a:srgbClr val="E2E8F0"/>
            </a:solidFill>
            <a:prstDash val="solid"/>
          </a:ln>
        </p:spPr>
      </p:sp>
      <p:sp>
        <p:nvSpPr>
          <p:cNvPr id="11" name="Shape 9"/>
          <p:cNvSpPr/>
          <p:nvPr/>
        </p:nvSpPr>
        <p:spPr>
          <a:xfrm>
            <a:off x="457200" y="2697480"/>
            <a:ext cx="54864" cy="960120"/>
          </a:xfrm>
          <a:prstGeom prst="rect">
            <a:avLst/>
          </a:prstGeom>
          <a:solidFill>
            <a:srgbClr val="0D9488"/>
          </a:solidFill>
          <a:ln w="12700">
            <a:solidFill>
              <a:srgbClr val="0D9488"/>
            </a:solidFill>
            <a:prstDash val="solid"/>
          </a:ln>
        </p:spPr>
      </p:sp>
      <p:sp>
        <p:nvSpPr>
          <p:cNvPr id="12" name="Text 10"/>
          <p:cNvSpPr/>
          <p:nvPr/>
        </p:nvSpPr>
        <p:spPr>
          <a:xfrm>
            <a:off x="640080" y="2743200"/>
            <a:ext cx="3657600" cy="274320"/>
          </a:xfrm>
          <a:prstGeom prst="rect">
            <a:avLst/>
          </a:prstGeom>
          <a:noFill/>
          <a:ln/>
        </p:spPr>
        <p:txBody>
          <a:bodyPr wrap="square" lIns="0" tIns="0" rIns="0" bIns="0" rtlCol="0" anchor="ctr"/>
          <a:lstStyle/>
          <a:p>
            <a:pPr marL="0" indent="0">
              <a:buNone/>
            </a:pPr>
            <a:r>
              <a:rPr lang="en-US" sz="1100" b="1" dirty="0">
                <a:solidFill>
                  <a:srgbClr val="64748B"/>
                </a:solidFill>
                <a:latin typeface="Calibri" pitchFamily="34" charset="0"/>
                <a:ea typeface="Calibri" pitchFamily="34" charset="-122"/>
                <a:cs typeface="Calibri" pitchFamily="34" charset="-120"/>
              </a:rPr>
              <a:t>Architectural level</a:t>
            </a:r>
            <a:endParaRPr lang="en-US" sz="1100" dirty="0"/>
          </a:p>
        </p:txBody>
      </p:sp>
      <p:sp>
        <p:nvSpPr>
          <p:cNvPr id="13" name="Text 11"/>
          <p:cNvSpPr/>
          <p:nvPr/>
        </p:nvSpPr>
        <p:spPr>
          <a:xfrm>
            <a:off x="640080" y="2990088"/>
            <a:ext cx="3657600" cy="292608"/>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God Service (per microservice)</a:t>
            </a:r>
            <a:endParaRPr lang="en-US" sz="1300" dirty="0"/>
          </a:p>
        </p:txBody>
      </p:sp>
      <p:sp>
        <p:nvSpPr>
          <p:cNvPr id="14" name="Text 12"/>
          <p:cNvSpPr/>
          <p:nvPr/>
        </p:nvSpPr>
        <p:spPr>
          <a:xfrm>
            <a:off x="640080" y="3264408"/>
            <a:ext cx="3657600" cy="36576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Flag service if ≥ θ_god God Classes detected (default = 1)</a:t>
            </a:r>
            <a:endParaRPr lang="en-US" sz="1000" dirty="0"/>
          </a:p>
        </p:txBody>
      </p:sp>
      <p:sp>
        <p:nvSpPr>
          <p:cNvPr id="15" name="Text 13"/>
          <p:cNvSpPr/>
          <p:nvPr/>
        </p:nvSpPr>
        <p:spPr>
          <a:xfrm>
            <a:off x="4663440" y="868680"/>
            <a:ext cx="402336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Spoon-based fallback</a:t>
            </a:r>
            <a:endParaRPr lang="en-US" sz="1400" dirty="0"/>
          </a:p>
        </p:txBody>
      </p:sp>
      <p:sp>
        <p:nvSpPr>
          <p:cNvPr id="16" name="Text 14"/>
          <p:cNvSpPr/>
          <p:nvPr/>
        </p:nvSpPr>
        <p:spPr>
          <a:xfrm>
            <a:off x="4663440" y="1207008"/>
            <a:ext cx="4023360" cy="5943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If DesigniteJava reports zero God Classes, a Spoon-based structural analysis evaluates each class against six metrics:</a:t>
            </a:r>
            <a:endParaRPr lang="en-US" sz="1100" dirty="0"/>
          </a:p>
        </p:txBody>
      </p:sp>
      <p:sp>
        <p:nvSpPr>
          <p:cNvPr id="17" name="Text 15"/>
          <p:cNvSpPr/>
          <p:nvPr/>
        </p:nvSpPr>
        <p:spPr>
          <a:xfrm>
            <a:off x="4846320" y="1783080"/>
            <a:ext cx="3840480" cy="1920240"/>
          </a:xfrm>
          <a:prstGeom prst="rect">
            <a:avLst/>
          </a:prstGeom>
          <a:noFill/>
          <a:ln/>
        </p:spPr>
        <p:txBody>
          <a:bodyPr wrap="square" lIns="0" tIns="0" rIns="0" bIns="0" rtlCol="0" anchor="ctr"/>
          <a:lstStyle/>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25 fields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30 public methods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1000 lines of code</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20 distinct import domains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12 constructor parameters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TCC &lt; 0.5  (Bieman &amp; Kang, 1995)</a:t>
            </a:r>
            <a:endParaRPr lang="en-US" sz="1100" dirty="0"/>
          </a:p>
        </p:txBody>
      </p:sp>
      <p:sp>
        <p:nvSpPr>
          <p:cNvPr id="18" name="Shape 16"/>
          <p:cNvSpPr/>
          <p:nvPr/>
        </p:nvSpPr>
        <p:spPr>
          <a:xfrm>
            <a:off x="4663440" y="3794760"/>
            <a:ext cx="4023360" cy="502920"/>
          </a:xfrm>
          <a:prstGeom prst="rect">
            <a:avLst/>
          </a:prstGeom>
          <a:solidFill>
            <a:srgbClr val="0F2A44"/>
          </a:solidFill>
          <a:ln w="12700">
            <a:solidFill>
              <a:srgbClr val="0F2A44"/>
            </a:solidFill>
            <a:prstDash val="solid"/>
          </a:ln>
        </p:spPr>
      </p:sp>
      <p:sp>
        <p:nvSpPr>
          <p:cNvPr id="19" name="Text 17"/>
          <p:cNvSpPr/>
          <p:nvPr/>
        </p:nvSpPr>
        <p:spPr>
          <a:xfrm>
            <a:off x="4663440" y="3794760"/>
            <a:ext cx="4023360" cy="50292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Flag class as God Class if ≥ 3 of 6 thresholds exceeded.</a:t>
            </a:r>
            <a:endParaRPr lang="en-US" sz="1100" dirty="0"/>
          </a:p>
        </p:txBody>
      </p:sp>
      <p:sp>
        <p:nvSpPr>
          <p:cNvPr id="20" name="Text 18"/>
          <p:cNvSpPr/>
          <p:nvPr/>
        </p:nvSpPr>
        <p:spPr>
          <a:xfrm>
            <a:off x="457200" y="3794760"/>
            <a:ext cx="3931920" cy="50292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Code-level evidence → architectural-level finding.</a:t>
            </a:r>
            <a:endParaRPr lang="en-US" sz="1100" dirty="0"/>
          </a:p>
        </p:txBody>
      </p:sp>
      <p:sp>
        <p:nvSpPr>
          <p:cNvPr id="21" name="Text 19"/>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2" name="Text 20"/>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 / 12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Ten detectors across four dimensions</a:t>
            </a:r>
            <a:endParaRPr lang="en-US" sz="2800" dirty="0"/>
          </a:p>
        </p:txBody>
      </p:sp>
      <p:sp>
        <p:nvSpPr>
          <p:cNvPr id="3" name="Shape 1"/>
          <p:cNvSpPr/>
          <p:nvPr/>
        </p:nvSpPr>
        <p:spPr>
          <a:xfrm>
            <a:off x="457200" y="1005840"/>
            <a:ext cx="2011680" cy="3383280"/>
          </a:xfrm>
          <a:prstGeom prst="rect">
            <a:avLst/>
          </a:prstGeom>
          <a:solidFill>
            <a:srgbClr val="F8FAFC"/>
          </a:solidFill>
          <a:ln w="9525">
            <a:solidFill>
              <a:srgbClr val="E2E8F0"/>
            </a:solidFill>
            <a:prstDash val="solid"/>
          </a:ln>
        </p:spPr>
      </p:sp>
      <p:sp>
        <p:nvSpPr>
          <p:cNvPr id="4" name="Shape 2"/>
          <p:cNvSpPr/>
          <p:nvPr/>
        </p:nvSpPr>
        <p:spPr>
          <a:xfrm>
            <a:off x="457200" y="1005840"/>
            <a:ext cx="2011680" cy="411480"/>
          </a:xfrm>
          <a:prstGeom prst="rect">
            <a:avLst/>
          </a:prstGeom>
          <a:solidFill>
            <a:srgbClr val="1C4E80"/>
          </a:solidFill>
          <a:ln w="12700">
            <a:solidFill>
              <a:srgbClr val="1C4E80"/>
            </a:solidFill>
            <a:prstDash val="solid"/>
          </a:ln>
        </p:spPr>
      </p:sp>
      <p:sp>
        <p:nvSpPr>
          <p:cNvPr id="5" name="Text 3"/>
          <p:cNvSpPr/>
          <p:nvPr/>
        </p:nvSpPr>
        <p:spPr>
          <a:xfrm>
            <a:off x="54864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Service Design</a:t>
            </a:r>
            <a:endParaRPr lang="en-US" sz="1200" dirty="0"/>
          </a:p>
        </p:txBody>
      </p:sp>
      <p:sp>
        <p:nvSpPr>
          <p:cNvPr id="6" name="Text 4"/>
          <p:cNvSpPr/>
          <p:nvPr/>
        </p:nvSpPr>
        <p:spPr>
          <a:xfrm>
            <a:off x="59436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Nano Service</a:t>
            </a:r>
            <a:endParaRPr lang="en-US" sz="1100" dirty="0"/>
          </a:p>
        </p:txBody>
      </p:sp>
      <p:sp>
        <p:nvSpPr>
          <p:cNvPr id="7" name="Text 5"/>
          <p:cNvSpPr/>
          <p:nvPr/>
        </p:nvSpPr>
        <p:spPr>
          <a:xfrm>
            <a:off x="59436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8" name="Text 6"/>
          <p:cNvSpPr/>
          <p:nvPr/>
        </p:nvSpPr>
        <p:spPr>
          <a:xfrm>
            <a:off x="59436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God Service</a:t>
            </a:r>
            <a:endParaRPr lang="en-US" sz="1100" dirty="0"/>
          </a:p>
        </p:txBody>
      </p:sp>
      <p:sp>
        <p:nvSpPr>
          <p:cNvPr id="9" name="Text 7"/>
          <p:cNvSpPr/>
          <p:nvPr/>
        </p:nvSpPr>
        <p:spPr>
          <a:xfrm>
            <a:off x="59436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10" name="Shape 8"/>
          <p:cNvSpPr/>
          <p:nvPr/>
        </p:nvSpPr>
        <p:spPr>
          <a:xfrm>
            <a:off x="2606040" y="1005840"/>
            <a:ext cx="2011680" cy="3383280"/>
          </a:xfrm>
          <a:prstGeom prst="rect">
            <a:avLst/>
          </a:prstGeom>
          <a:solidFill>
            <a:srgbClr val="F8FAFC"/>
          </a:solidFill>
          <a:ln w="9525">
            <a:solidFill>
              <a:srgbClr val="E2E8F0"/>
            </a:solidFill>
            <a:prstDash val="solid"/>
          </a:ln>
        </p:spPr>
      </p:sp>
      <p:sp>
        <p:nvSpPr>
          <p:cNvPr id="11" name="Shape 9"/>
          <p:cNvSpPr/>
          <p:nvPr/>
        </p:nvSpPr>
        <p:spPr>
          <a:xfrm>
            <a:off x="2606040" y="1005840"/>
            <a:ext cx="2011680" cy="411480"/>
          </a:xfrm>
          <a:prstGeom prst="rect">
            <a:avLst/>
          </a:prstGeom>
          <a:solidFill>
            <a:srgbClr val="0D9488"/>
          </a:solidFill>
          <a:ln w="12700">
            <a:solidFill>
              <a:srgbClr val="0D9488"/>
            </a:solidFill>
            <a:prstDash val="solid"/>
          </a:ln>
        </p:spPr>
      </p:sp>
      <p:sp>
        <p:nvSpPr>
          <p:cNvPr id="12" name="Text 10"/>
          <p:cNvSpPr/>
          <p:nvPr/>
        </p:nvSpPr>
        <p:spPr>
          <a:xfrm>
            <a:off x="269748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Communication</a:t>
            </a:r>
            <a:endParaRPr lang="en-US" sz="1200" dirty="0"/>
          </a:p>
        </p:txBody>
      </p:sp>
      <p:sp>
        <p:nvSpPr>
          <p:cNvPr id="13" name="Text 11"/>
          <p:cNvSpPr/>
          <p:nvPr/>
        </p:nvSpPr>
        <p:spPr>
          <a:xfrm>
            <a:off x="274320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Chatty Service</a:t>
            </a:r>
            <a:endParaRPr lang="en-US" sz="1100" dirty="0"/>
          </a:p>
        </p:txBody>
      </p:sp>
      <p:sp>
        <p:nvSpPr>
          <p:cNvPr id="14" name="Text 12"/>
          <p:cNvSpPr/>
          <p:nvPr/>
        </p:nvSpPr>
        <p:spPr>
          <a:xfrm>
            <a:off x="274320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15" name="Text 13"/>
          <p:cNvSpPr/>
          <p:nvPr/>
        </p:nvSpPr>
        <p:spPr>
          <a:xfrm>
            <a:off x="274320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6" name="Text 14"/>
          <p:cNvSpPr/>
          <p:nvPr/>
        </p:nvSpPr>
        <p:spPr>
          <a:xfrm>
            <a:off x="274320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critical</a:t>
            </a:r>
            <a:endParaRPr lang="en-US" sz="900" dirty="0"/>
          </a:p>
        </p:txBody>
      </p:sp>
      <p:sp>
        <p:nvSpPr>
          <p:cNvPr id="17" name="Text 15"/>
          <p:cNvSpPr/>
          <p:nvPr/>
        </p:nvSpPr>
        <p:spPr>
          <a:xfrm>
            <a:off x="2743200" y="2688336"/>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18" name="Text 16"/>
          <p:cNvSpPr/>
          <p:nvPr/>
        </p:nvSpPr>
        <p:spPr>
          <a:xfrm>
            <a:off x="2743200" y="2935224"/>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19" name="Text 17"/>
          <p:cNvSpPr/>
          <p:nvPr/>
        </p:nvSpPr>
        <p:spPr>
          <a:xfrm>
            <a:off x="2743200" y="3255264"/>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ESB Misuse</a:t>
            </a:r>
            <a:endParaRPr lang="en-US" sz="1100" dirty="0"/>
          </a:p>
        </p:txBody>
      </p:sp>
      <p:sp>
        <p:nvSpPr>
          <p:cNvPr id="20" name="Text 18"/>
          <p:cNvSpPr/>
          <p:nvPr/>
        </p:nvSpPr>
        <p:spPr>
          <a:xfrm>
            <a:off x="2743200" y="3502152"/>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21" name="Shape 19"/>
          <p:cNvSpPr/>
          <p:nvPr/>
        </p:nvSpPr>
        <p:spPr>
          <a:xfrm>
            <a:off x="4754880" y="1005840"/>
            <a:ext cx="2011680" cy="3383280"/>
          </a:xfrm>
          <a:prstGeom prst="rect">
            <a:avLst/>
          </a:prstGeom>
          <a:solidFill>
            <a:srgbClr val="F8FAFC"/>
          </a:solidFill>
          <a:ln w="9525">
            <a:solidFill>
              <a:srgbClr val="E2E8F0"/>
            </a:solidFill>
            <a:prstDash val="solid"/>
          </a:ln>
        </p:spPr>
      </p:sp>
      <p:sp>
        <p:nvSpPr>
          <p:cNvPr id="22" name="Shape 20"/>
          <p:cNvSpPr/>
          <p:nvPr/>
        </p:nvSpPr>
        <p:spPr>
          <a:xfrm>
            <a:off x="4754880" y="1005840"/>
            <a:ext cx="2011680" cy="411480"/>
          </a:xfrm>
          <a:prstGeom prst="rect">
            <a:avLst/>
          </a:prstGeom>
          <a:solidFill>
            <a:srgbClr val="D97706"/>
          </a:solidFill>
          <a:ln w="12700">
            <a:solidFill>
              <a:srgbClr val="D97706"/>
            </a:solidFill>
            <a:prstDash val="solid"/>
          </a:ln>
        </p:spPr>
      </p:sp>
      <p:sp>
        <p:nvSpPr>
          <p:cNvPr id="23" name="Text 21"/>
          <p:cNvSpPr/>
          <p:nvPr/>
        </p:nvSpPr>
        <p:spPr>
          <a:xfrm>
            <a:off x="484632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Data Management</a:t>
            </a:r>
            <a:endParaRPr lang="en-US" sz="1200" dirty="0"/>
          </a:p>
        </p:txBody>
      </p:sp>
      <p:sp>
        <p:nvSpPr>
          <p:cNvPr id="24" name="Text 22"/>
          <p:cNvSpPr/>
          <p:nvPr/>
        </p:nvSpPr>
        <p:spPr>
          <a:xfrm>
            <a:off x="489204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Shared Database</a:t>
            </a:r>
            <a:endParaRPr lang="en-US" sz="1100" dirty="0"/>
          </a:p>
        </p:txBody>
      </p:sp>
      <p:sp>
        <p:nvSpPr>
          <p:cNvPr id="25" name="Text 23"/>
          <p:cNvSpPr/>
          <p:nvPr/>
        </p:nvSpPr>
        <p:spPr>
          <a:xfrm>
            <a:off x="489204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26" name="Shape 24"/>
          <p:cNvSpPr/>
          <p:nvPr/>
        </p:nvSpPr>
        <p:spPr>
          <a:xfrm>
            <a:off x="6903720" y="1005840"/>
            <a:ext cx="2011680" cy="3383280"/>
          </a:xfrm>
          <a:prstGeom prst="rect">
            <a:avLst/>
          </a:prstGeom>
          <a:solidFill>
            <a:srgbClr val="F8FAFC"/>
          </a:solidFill>
          <a:ln w="9525">
            <a:solidFill>
              <a:srgbClr val="E2E8F0"/>
            </a:solidFill>
            <a:prstDash val="solid"/>
          </a:ln>
        </p:spPr>
      </p:sp>
      <p:sp>
        <p:nvSpPr>
          <p:cNvPr id="27" name="Shape 25"/>
          <p:cNvSpPr/>
          <p:nvPr/>
        </p:nvSpPr>
        <p:spPr>
          <a:xfrm>
            <a:off x="6903720" y="1005840"/>
            <a:ext cx="2011680" cy="411480"/>
          </a:xfrm>
          <a:prstGeom prst="rect">
            <a:avLst/>
          </a:prstGeom>
          <a:solidFill>
            <a:srgbClr val="DC2626"/>
          </a:solidFill>
          <a:ln w="12700">
            <a:solidFill>
              <a:srgbClr val="DC2626"/>
            </a:solidFill>
            <a:prstDash val="solid"/>
          </a:ln>
        </p:spPr>
      </p:sp>
      <p:sp>
        <p:nvSpPr>
          <p:cNvPr id="28" name="Text 26"/>
          <p:cNvSpPr/>
          <p:nvPr/>
        </p:nvSpPr>
        <p:spPr>
          <a:xfrm>
            <a:off x="699516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Deployment &amp; Coupling</a:t>
            </a:r>
            <a:endParaRPr lang="en-US" sz="1200" dirty="0"/>
          </a:p>
        </p:txBody>
      </p:sp>
      <p:sp>
        <p:nvSpPr>
          <p:cNvPr id="29" name="Text 27"/>
          <p:cNvSpPr/>
          <p:nvPr/>
        </p:nvSpPr>
        <p:spPr>
          <a:xfrm>
            <a:off x="704088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Distributed Monolith</a:t>
            </a:r>
            <a:endParaRPr lang="en-US" sz="1100" dirty="0"/>
          </a:p>
        </p:txBody>
      </p:sp>
      <p:sp>
        <p:nvSpPr>
          <p:cNvPr id="30" name="Text 28"/>
          <p:cNvSpPr/>
          <p:nvPr/>
        </p:nvSpPr>
        <p:spPr>
          <a:xfrm>
            <a:off x="704088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critical</a:t>
            </a:r>
            <a:endParaRPr lang="en-US" sz="900" dirty="0"/>
          </a:p>
        </p:txBody>
      </p:sp>
      <p:sp>
        <p:nvSpPr>
          <p:cNvPr id="31" name="Text 29"/>
          <p:cNvSpPr/>
          <p:nvPr/>
        </p:nvSpPr>
        <p:spPr>
          <a:xfrm>
            <a:off x="704088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32" name="Text 30"/>
          <p:cNvSpPr/>
          <p:nvPr/>
        </p:nvSpPr>
        <p:spPr>
          <a:xfrm>
            <a:off x="704088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33" name="Text 31"/>
          <p:cNvSpPr/>
          <p:nvPr/>
        </p:nvSpPr>
        <p:spPr>
          <a:xfrm>
            <a:off x="7040880" y="2688336"/>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Wrong Cuts</a:t>
            </a:r>
            <a:endParaRPr lang="en-US" sz="1100" dirty="0"/>
          </a:p>
        </p:txBody>
      </p:sp>
      <p:sp>
        <p:nvSpPr>
          <p:cNvPr id="34" name="Text 32"/>
          <p:cNvSpPr/>
          <p:nvPr/>
        </p:nvSpPr>
        <p:spPr>
          <a:xfrm>
            <a:off x="7040880" y="2935224"/>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35" name="Shape 33"/>
          <p:cNvSpPr/>
          <p:nvPr/>
        </p:nvSpPr>
        <p:spPr>
          <a:xfrm>
            <a:off x="457200" y="4526280"/>
            <a:ext cx="8229600" cy="320040"/>
          </a:xfrm>
          <a:prstGeom prst="rect">
            <a:avLst/>
          </a:prstGeom>
          <a:solidFill>
            <a:srgbClr val="0F2A44"/>
          </a:solidFill>
          <a:ln w="12700">
            <a:solidFill>
              <a:srgbClr val="0F2A44"/>
            </a:solidFill>
            <a:prstDash val="solid"/>
          </a:ln>
        </p:spPr>
      </p:sp>
      <p:sp>
        <p:nvSpPr>
          <p:cNvPr id="36" name="Text 34"/>
          <p:cNvSpPr/>
          <p:nvPr/>
        </p:nvSpPr>
        <p:spPr>
          <a:xfrm>
            <a:off x="457200" y="4526280"/>
            <a:ext cx="8229600" cy="32004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All detectors are pluggable Strategy components with configurable thresholds.</a:t>
            </a:r>
            <a:endParaRPr lang="en-US" sz="1100" dirty="0"/>
          </a:p>
        </p:txBody>
      </p:sp>
      <p:sp>
        <p:nvSpPr>
          <p:cNvPr id="37" name="Text 35"/>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38" name="Text 36"/>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6 / 12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Composite health score: four-category decomposition</a:t>
            </a:r>
            <a:endParaRPr lang="en-US" sz="2800" dirty="0"/>
          </a:p>
        </p:txBody>
      </p:sp>
      <p:sp>
        <p:nvSpPr>
          <p:cNvPr id="3" name="Shape 1"/>
          <p:cNvSpPr/>
          <p:nvPr/>
        </p:nvSpPr>
        <p:spPr>
          <a:xfrm>
            <a:off x="457200" y="960120"/>
            <a:ext cx="2011680" cy="1417320"/>
          </a:xfrm>
          <a:prstGeom prst="rect">
            <a:avLst/>
          </a:prstGeom>
          <a:solidFill>
            <a:srgbClr val="F8FAFC"/>
          </a:solidFill>
          <a:ln w="9525">
            <a:solidFill>
              <a:srgbClr val="E2E8F0"/>
            </a:solidFill>
            <a:prstDash val="solid"/>
          </a:ln>
        </p:spPr>
      </p:sp>
      <p:sp>
        <p:nvSpPr>
          <p:cNvPr id="4" name="Shape 2"/>
          <p:cNvSpPr/>
          <p:nvPr/>
        </p:nvSpPr>
        <p:spPr>
          <a:xfrm>
            <a:off x="457200" y="960120"/>
            <a:ext cx="2011680" cy="73152"/>
          </a:xfrm>
          <a:prstGeom prst="rect">
            <a:avLst/>
          </a:prstGeom>
          <a:solidFill>
            <a:srgbClr val="DC2626"/>
          </a:solidFill>
          <a:ln w="12700">
            <a:solidFill>
              <a:srgbClr val="DC2626"/>
            </a:solidFill>
            <a:prstDash val="solid"/>
          </a:ln>
        </p:spPr>
      </p:sp>
      <p:sp>
        <p:nvSpPr>
          <p:cNvPr id="5" name="Text 3"/>
          <p:cNvSpPr/>
          <p:nvPr/>
        </p:nvSpPr>
        <p:spPr>
          <a:xfrm>
            <a:off x="457200" y="1078992"/>
            <a:ext cx="2011680" cy="548640"/>
          </a:xfrm>
          <a:prstGeom prst="rect">
            <a:avLst/>
          </a:prstGeom>
          <a:noFill/>
          <a:ln/>
        </p:spPr>
        <p:txBody>
          <a:bodyPr wrap="square" lIns="0" tIns="0" rIns="0" bIns="0" rtlCol="0" anchor="ctr"/>
          <a:lstStyle/>
          <a:p>
            <a:pPr marL="0" indent="0" algn="ctr">
              <a:buNone/>
            </a:pPr>
            <a:r>
              <a:rPr lang="en-US" sz="3600" b="1" dirty="0">
                <a:solidFill>
                  <a:srgbClr val="DC2626"/>
                </a:solidFill>
                <a:latin typeface="Calibri" pitchFamily="34" charset="0"/>
                <a:ea typeface="Calibri" pitchFamily="34" charset="-122"/>
                <a:cs typeface="Calibri" pitchFamily="34" charset="-120"/>
              </a:rPr>
              <a:t>40</a:t>
            </a:r>
            <a:endParaRPr lang="en-US" sz="3600" dirty="0"/>
          </a:p>
        </p:txBody>
      </p:sp>
      <p:sp>
        <p:nvSpPr>
          <p:cNvPr id="6" name="Text 4"/>
          <p:cNvSpPr/>
          <p:nvPr/>
        </p:nvSpPr>
        <p:spPr>
          <a:xfrm>
            <a:off x="45720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Anti-Patterns</a:t>
            </a:r>
            <a:endParaRPr lang="en-US" sz="1300" dirty="0"/>
          </a:p>
        </p:txBody>
      </p:sp>
      <p:sp>
        <p:nvSpPr>
          <p:cNvPr id="7" name="Text 5"/>
          <p:cNvSpPr/>
          <p:nvPr/>
        </p:nvSpPr>
        <p:spPr>
          <a:xfrm>
            <a:off x="54864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−8/−5/−3/−1 per issue (crit/high/med/low)</a:t>
            </a:r>
            <a:endParaRPr lang="en-US" sz="950" dirty="0"/>
          </a:p>
        </p:txBody>
      </p:sp>
      <p:sp>
        <p:nvSpPr>
          <p:cNvPr id="8" name="Shape 6"/>
          <p:cNvSpPr/>
          <p:nvPr/>
        </p:nvSpPr>
        <p:spPr>
          <a:xfrm>
            <a:off x="2606040" y="960120"/>
            <a:ext cx="2011680" cy="1417320"/>
          </a:xfrm>
          <a:prstGeom prst="rect">
            <a:avLst/>
          </a:prstGeom>
          <a:solidFill>
            <a:srgbClr val="F8FAFC"/>
          </a:solidFill>
          <a:ln w="9525">
            <a:solidFill>
              <a:srgbClr val="E2E8F0"/>
            </a:solidFill>
            <a:prstDash val="solid"/>
          </a:ln>
        </p:spPr>
      </p:sp>
      <p:sp>
        <p:nvSpPr>
          <p:cNvPr id="9" name="Shape 7"/>
          <p:cNvSpPr/>
          <p:nvPr/>
        </p:nvSpPr>
        <p:spPr>
          <a:xfrm>
            <a:off x="2606040" y="960120"/>
            <a:ext cx="2011680" cy="73152"/>
          </a:xfrm>
          <a:prstGeom prst="rect">
            <a:avLst/>
          </a:prstGeom>
          <a:solidFill>
            <a:srgbClr val="D97706"/>
          </a:solidFill>
          <a:ln w="12700">
            <a:solidFill>
              <a:srgbClr val="D97706"/>
            </a:solidFill>
            <a:prstDash val="solid"/>
          </a:ln>
        </p:spPr>
      </p:sp>
      <p:sp>
        <p:nvSpPr>
          <p:cNvPr id="10" name="Text 8"/>
          <p:cNvSpPr/>
          <p:nvPr/>
        </p:nvSpPr>
        <p:spPr>
          <a:xfrm>
            <a:off x="2606040" y="1078992"/>
            <a:ext cx="2011680" cy="548640"/>
          </a:xfrm>
          <a:prstGeom prst="rect">
            <a:avLst/>
          </a:prstGeom>
          <a:noFill/>
          <a:ln/>
        </p:spPr>
        <p:txBody>
          <a:bodyPr wrap="square" lIns="0" tIns="0" rIns="0" bIns="0" rtlCol="0" anchor="ctr"/>
          <a:lstStyle/>
          <a:p>
            <a:pPr marL="0" indent="0" algn="ctr">
              <a:buNone/>
            </a:pPr>
            <a:r>
              <a:rPr lang="en-US" sz="3600" b="1" dirty="0">
                <a:solidFill>
                  <a:srgbClr val="D97706"/>
                </a:solidFill>
                <a:latin typeface="Calibri" pitchFamily="34" charset="0"/>
                <a:ea typeface="Calibri" pitchFamily="34" charset="-122"/>
                <a:cs typeface="Calibri" pitchFamily="34" charset="-120"/>
              </a:rPr>
              <a:t>20</a:t>
            </a:r>
            <a:endParaRPr lang="en-US" sz="3600" dirty="0"/>
          </a:p>
        </p:txBody>
      </p:sp>
      <p:sp>
        <p:nvSpPr>
          <p:cNvPr id="11" name="Text 9"/>
          <p:cNvSpPr/>
          <p:nvPr/>
        </p:nvSpPr>
        <p:spPr>
          <a:xfrm>
            <a:off x="260604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Code Quality</a:t>
            </a:r>
            <a:endParaRPr lang="en-US" sz="1300" dirty="0"/>
          </a:p>
        </p:txBody>
      </p:sp>
      <p:sp>
        <p:nvSpPr>
          <p:cNvPr id="12" name="Text 10"/>
          <p:cNvSpPr/>
          <p:nvPr/>
        </p:nvSpPr>
        <p:spPr>
          <a:xfrm>
            <a:off x="269748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Logarithmic penalty on smell density</a:t>
            </a:r>
            <a:endParaRPr lang="en-US" sz="950" dirty="0"/>
          </a:p>
        </p:txBody>
      </p:sp>
      <p:sp>
        <p:nvSpPr>
          <p:cNvPr id="13" name="Shape 11"/>
          <p:cNvSpPr/>
          <p:nvPr/>
        </p:nvSpPr>
        <p:spPr>
          <a:xfrm>
            <a:off x="4754880" y="960120"/>
            <a:ext cx="2011680" cy="1417320"/>
          </a:xfrm>
          <a:prstGeom prst="rect">
            <a:avLst/>
          </a:prstGeom>
          <a:solidFill>
            <a:srgbClr val="F8FAFC"/>
          </a:solidFill>
          <a:ln w="9525">
            <a:solidFill>
              <a:srgbClr val="E2E8F0"/>
            </a:solidFill>
            <a:prstDash val="solid"/>
          </a:ln>
        </p:spPr>
      </p:sp>
      <p:sp>
        <p:nvSpPr>
          <p:cNvPr id="14" name="Shape 12"/>
          <p:cNvSpPr/>
          <p:nvPr/>
        </p:nvSpPr>
        <p:spPr>
          <a:xfrm>
            <a:off x="4754880" y="960120"/>
            <a:ext cx="2011680" cy="73152"/>
          </a:xfrm>
          <a:prstGeom prst="rect">
            <a:avLst/>
          </a:prstGeom>
          <a:solidFill>
            <a:srgbClr val="1C4E80"/>
          </a:solidFill>
          <a:ln w="12700">
            <a:solidFill>
              <a:srgbClr val="1C4E80"/>
            </a:solidFill>
            <a:prstDash val="solid"/>
          </a:ln>
        </p:spPr>
      </p:sp>
      <p:sp>
        <p:nvSpPr>
          <p:cNvPr id="15" name="Text 13"/>
          <p:cNvSpPr/>
          <p:nvPr/>
        </p:nvSpPr>
        <p:spPr>
          <a:xfrm>
            <a:off x="4754880" y="1078992"/>
            <a:ext cx="2011680" cy="548640"/>
          </a:xfrm>
          <a:prstGeom prst="rect">
            <a:avLst/>
          </a:prstGeom>
          <a:noFill/>
          <a:ln/>
        </p:spPr>
        <p:txBody>
          <a:bodyPr wrap="square" lIns="0" tIns="0" rIns="0" bIns="0" rtlCol="0" anchor="ctr"/>
          <a:lstStyle/>
          <a:p>
            <a:pPr marL="0" indent="0" algn="ctr">
              <a:buNone/>
            </a:pPr>
            <a:r>
              <a:rPr lang="en-US" sz="3600" b="1" dirty="0">
                <a:solidFill>
                  <a:srgbClr val="1C4E80"/>
                </a:solidFill>
                <a:latin typeface="Calibri" pitchFamily="34" charset="0"/>
                <a:ea typeface="Calibri" pitchFamily="34" charset="-122"/>
                <a:cs typeface="Calibri" pitchFamily="34" charset="-120"/>
              </a:rPr>
              <a:t>25</a:t>
            </a:r>
            <a:endParaRPr lang="en-US" sz="3600" dirty="0"/>
          </a:p>
        </p:txBody>
      </p:sp>
      <p:sp>
        <p:nvSpPr>
          <p:cNvPr id="16" name="Text 14"/>
          <p:cNvSpPr/>
          <p:nvPr/>
        </p:nvSpPr>
        <p:spPr>
          <a:xfrm>
            <a:off x="475488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Architecture</a:t>
            </a:r>
            <a:endParaRPr lang="en-US" sz="1300" dirty="0"/>
          </a:p>
        </p:txBody>
      </p:sp>
      <p:sp>
        <p:nvSpPr>
          <p:cNvPr id="17" name="Text 15"/>
          <p:cNvSpPr/>
          <p:nvPr/>
        </p:nvSpPr>
        <p:spPr>
          <a:xfrm>
            <a:off x="484632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Coupling coefficient + cycle count</a:t>
            </a:r>
            <a:endParaRPr lang="en-US" sz="950" dirty="0"/>
          </a:p>
        </p:txBody>
      </p:sp>
      <p:sp>
        <p:nvSpPr>
          <p:cNvPr id="18" name="Shape 16"/>
          <p:cNvSpPr/>
          <p:nvPr/>
        </p:nvSpPr>
        <p:spPr>
          <a:xfrm>
            <a:off x="6903720" y="960120"/>
            <a:ext cx="2011680" cy="1417320"/>
          </a:xfrm>
          <a:prstGeom prst="rect">
            <a:avLst/>
          </a:prstGeom>
          <a:solidFill>
            <a:srgbClr val="F8FAFC"/>
          </a:solidFill>
          <a:ln w="9525">
            <a:solidFill>
              <a:srgbClr val="E2E8F0"/>
            </a:solidFill>
            <a:prstDash val="solid"/>
          </a:ln>
        </p:spPr>
      </p:sp>
      <p:sp>
        <p:nvSpPr>
          <p:cNvPr id="19" name="Shape 17"/>
          <p:cNvSpPr/>
          <p:nvPr/>
        </p:nvSpPr>
        <p:spPr>
          <a:xfrm>
            <a:off x="6903720" y="960120"/>
            <a:ext cx="2011680" cy="73152"/>
          </a:xfrm>
          <a:prstGeom prst="rect">
            <a:avLst/>
          </a:prstGeom>
          <a:solidFill>
            <a:srgbClr val="0D9488"/>
          </a:solidFill>
          <a:ln w="12700">
            <a:solidFill>
              <a:srgbClr val="0D9488"/>
            </a:solidFill>
            <a:prstDash val="solid"/>
          </a:ln>
        </p:spPr>
      </p:sp>
      <p:sp>
        <p:nvSpPr>
          <p:cNvPr id="20" name="Text 18"/>
          <p:cNvSpPr/>
          <p:nvPr/>
        </p:nvSpPr>
        <p:spPr>
          <a:xfrm>
            <a:off x="6903720" y="1078992"/>
            <a:ext cx="2011680" cy="548640"/>
          </a:xfrm>
          <a:prstGeom prst="rect">
            <a:avLst/>
          </a:prstGeom>
          <a:noFill/>
          <a:ln/>
        </p:spPr>
        <p:txBody>
          <a:bodyPr wrap="square" lIns="0" tIns="0" rIns="0" bIns="0" rtlCol="0" anchor="ctr"/>
          <a:lstStyle/>
          <a:p>
            <a:pPr marL="0" indent="0" algn="ctr">
              <a:buNone/>
            </a:pPr>
            <a:r>
              <a:rPr lang="en-US" sz="3600" b="1" dirty="0">
                <a:solidFill>
                  <a:srgbClr val="0D9488"/>
                </a:solidFill>
                <a:latin typeface="Calibri" pitchFamily="34" charset="0"/>
                <a:ea typeface="Calibri" pitchFamily="34" charset="-122"/>
                <a:cs typeface="Calibri" pitchFamily="34" charset="-120"/>
              </a:rPr>
              <a:t>15</a:t>
            </a:r>
            <a:endParaRPr lang="en-US" sz="3600" dirty="0"/>
          </a:p>
        </p:txBody>
      </p:sp>
      <p:sp>
        <p:nvSpPr>
          <p:cNvPr id="21" name="Text 19"/>
          <p:cNvSpPr/>
          <p:nvPr/>
        </p:nvSpPr>
        <p:spPr>
          <a:xfrm>
            <a:off x="690372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Service Sizing</a:t>
            </a:r>
            <a:endParaRPr lang="en-US" sz="1300" dirty="0"/>
          </a:p>
        </p:txBody>
      </p:sp>
      <p:sp>
        <p:nvSpPr>
          <p:cNvPr id="22" name="Text 20"/>
          <p:cNvSpPr/>
          <p:nvPr/>
        </p:nvSpPr>
        <p:spPr>
          <a:xfrm>
            <a:off x="699516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Nano (cap 8) + god (cap 10) penalties</a:t>
            </a:r>
            <a:endParaRPr lang="en-US" sz="950" dirty="0"/>
          </a:p>
        </p:txBody>
      </p:sp>
      <p:sp>
        <p:nvSpPr>
          <p:cNvPr id="23" name="Text 21"/>
          <p:cNvSpPr/>
          <p:nvPr/>
        </p:nvSpPr>
        <p:spPr>
          <a:xfrm>
            <a:off x="457200" y="2606040"/>
            <a:ext cx="82296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Letter grade scale</a:t>
            </a:r>
            <a:endParaRPr lang="en-US" sz="1200" dirty="0"/>
          </a:p>
        </p:txBody>
      </p:sp>
      <p:sp>
        <p:nvSpPr>
          <p:cNvPr id="24" name="Shape 22"/>
          <p:cNvSpPr/>
          <p:nvPr/>
        </p:nvSpPr>
        <p:spPr>
          <a:xfrm>
            <a:off x="457200" y="2926080"/>
            <a:ext cx="1371600" cy="777240"/>
          </a:xfrm>
          <a:prstGeom prst="rect">
            <a:avLst/>
          </a:prstGeom>
          <a:solidFill>
            <a:srgbClr val="059669"/>
          </a:solidFill>
          <a:ln w="12700">
            <a:solidFill>
              <a:srgbClr val="059669"/>
            </a:solidFill>
            <a:prstDash val="solid"/>
          </a:ln>
        </p:spPr>
      </p:sp>
      <p:sp>
        <p:nvSpPr>
          <p:cNvPr id="25" name="Text 23"/>
          <p:cNvSpPr/>
          <p:nvPr/>
        </p:nvSpPr>
        <p:spPr>
          <a:xfrm>
            <a:off x="45720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A</a:t>
            </a:r>
            <a:endParaRPr lang="en-US" sz="2600" dirty="0"/>
          </a:p>
        </p:txBody>
      </p:sp>
      <p:sp>
        <p:nvSpPr>
          <p:cNvPr id="26" name="Text 24"/>
          <p:cNvSpPr/>
          <p:nvPr/>
        </p:nvSpPr>
        <p:spPr>
          <a:xfrm>
            <a:off x="45720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90</a:t>
            </a:r>
            <a:endParaRPr lang="en-US" sz="1100" dirty="0"/>
          </a:p>
        </p:txBody>
      </p:sp>
      <p:sp>
        <p:nvSpPr>
          <p:cNvPr id="27" name="Shape 25"/>
          <p:cNvSpPr/>
          <p:nvPr/>
        </p:nvSpPr>
        <p:spPr>
          <a:xfrm>
            <a:off x="2194560" y="2926080"/>
            <a:ext cx="1371600" cy="777240"/>
          </a:xfrm>
          <a:prstGeom prst="rect">
            <a:avLst/>
          </a:prstGeom>
          <a:solidFill>
            <a:srgbClr val="0D9488"/>
          </a:solidFill>
          <a:ln w="12700">
            <a:solidFill>
              <a:srgbClr val="0D9488"/>
            </a:solidFill>
            <a:prstDash val="solid"/>
          </a:ln>
        </p:spPr>
      </p:sp>
      <p:sp>
        <p:nvSpPr>
          <p:cNvPr id="28" name="Text 26"/>
          <p:cNvSpPr/>
          <p:nvPr/>
        </p:nvSpPr>
        <p:spPr>
          <a:xfrm>
            <a:off x="219456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B</a:t>
            </a:r>
            <a:endParaRPr lang="en-US" sz="2600" dirty="0"/>
          </a:p>
        </p:txBody>
      </p:sp>
      <p:sp>
        <p:nvSpPr>
          <p:cNvPr id="29" name="Text 27"/>
          <p:cNvSpPr/>
          <p:nvPr/>
        </p:nvSpPr>
        <p:spPr>
          <a:xfrm>
            <a:off x="219456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80</a:t>
            </a:r>
            <a:endParaRPr lang="en-US" sz="1100" dirty="0"/>
          </a:p>
        </p:txBody>
      </p:sp>
      <p:sp>
        <p:nvSpPr>
          <p:cNvPr id="30" name="Shape 28"/>
          <p:cNvSpPr/>
          <p:nvPr/>
        </p:nvSpPr>
        <p:spPr>
          <a:xfrm>
            <a:off x="3931920" y="2926080"/>
            <a:ext cx="1371600" cy="777240"/>
          </a:xfrm>
          <a:prstGeom prst="rect">
            <a:avLst/>
          </a:prstGeom>
          <a:solidFill>
            <a:srgbClr val="1C4E80"/>
          </a:solidFill>
          <a:ln w="12700">
            <a:solidFill>
              <a:srgbClr val="1C4E80"/>
            </a:solidFill>
            <a:prstDash val="solid"/>
          </a:ln>
        </p:spPr>
      </p:sp>
      <p:sp>
        <p:nvSpPr>
          <p:cNvPr id="31" name="Text 29"/>
          <p:cNvSpPr/>
          <p:nvPr/>
        </p:nvSpPr>
        <p:spPr>
          <a:xfrm>
            <a:off x="393192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C</a:t>
            </a:r>
            <a:endParaRPr lang="en-US" sz="2600" dirty="0"/>
          </a:p>
        </p:txBody>
      </p:sp>
      <p:sp>
        <p:nvSpPr>
          <p:cNvPr id="32" name="Text 30"/>
          <p:cNvSpPr/>
          <p:nvPr/>
        </p:nvSpPr>
        <p:spPr>
          <a:xfrm>
            <a:off x="393192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65</a:t>
            </a:r>
            <a:endParaRPr lang="en-US" sz="1100" dirty="0"/>
          </a:p>
        </p:txBody>
      </p:sp>
      <p:sp>
        <p:nvSpPr>
          <p:cNvPr id="33" name="Shape 31"/>
          <p:cNvSpPr/>
          <p:nvPr/>
        </p:nvSpPr>
        <p:spPr>
          <a:xfrm>
            <a:off x="5669280" y="2926080"/>
            <a:ext cx="1371600" cy="777240"/>
          </a:xfrm>
          <a:prstGeom prst="rect">
            <a:avLst/>
          </a:prstGeom>
          <a:solidFill>
            <a:srgbClr val="D97706"/>
          </a:solidFill>
          <a:ln w="12700">
            <a:solidFill>
              <a:srgbClr val="D97706"/>
            </a:solidFill>
            <a:prstDash val="solid"/>
          </a:ln>
        </p:spPr>
      </p:sp>
      <p:sp>
        <p:nvSpPr>
          <p:cNvPr id="34" name="Text 32"/>
          <p:cNvSpPr/>
          <p:nvPr/>
        </p:nvSpPr>
        <p:spPr>
          <a:xfrm>
            <a:off x="566928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D</a:t>
            </a:r>
            <a:endParaRPr lang="en-US" sz="2600" dirty="0"/>
          </a:p>
        </p:txBody>
      </p:sp>
      <p:sp>
        <p:nvSpPr>
          <p:cNvPr id="35" name="Text 33"/>
          <p:cNvSpPr/>
          <p:nvPr/>
        </p:nvSpPr>
        <p:spPr>
          <a:xfrm>
            <a:off x="566928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50</a:t>
            </a:r>
            <a:endParaRPr lang="en-US" sz="1100" dirty="0"/>
          </a:p>
        </p:txBody>
      </p:sp>
      <p:sp>
        <p:nvSpPr>
          <p:cNvPr id="36" name="Shape 34"/>
          <p:cNvSpPr/>
          <p:nvPr/>
        </p:nvSpPr>
        <p:spPr>
          <a:xfrm>
            <a:off x="7406640" y="2926080"/>
            <a:ext cx="1371600" cy="777240"/>
          </a:xfrm>
          <a:prstGeom prst="rect">
            <a:avLst/>
          </a:prstGeom>
          <a:solidFill>
            <a:srgbClr val="DC2626"/>
          </a:solidFill>
          <a:ln w="12700">
            <a:solidFill>
              <a:srgbClr val="DC2626"/>
            </a:solidFill>
            <a:prstDash val="solid"/>
          </a:ln>
        </p:spPr>
      </p:sp>
      <p:sp>
        <p:nvSpPr>
          <p:cNvPr id="37" name="Text 35"/>
          <p:cNvSpPr/>
          <p:nvPr/>
        </p:nvSpPr>
        <p:spPr>
          <a:xfrm>
            <a:off x="740664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F</a:t>
            </a:r>
            <a:endParaRPr lang="en-US" sz="2600" dirty="0"/>
          </a:p>
        </p:txBody>
      </p:sp>
      <p:sp>
        <p:nvSpPr>
          <p:cNvPr id="38" name="Text 36"/>
          <p:cNvSpPr/>
          <p:nvPr/>
        </p:nvSpPr>
        <p:spPr>
          <a:xfrm>
            <a:off x="740664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&lt; 50</a:t>
            </a:r>
            <a:endParaRPr lang="en-US" sz="1100" dirty="0"/>
          </a:p>
        </p:txBody>
      </p:sp>
      <p:sp>
        <p:nvSpPr>
          <p:cNvPr id="39" name="Shape 37"/>
          <p:cNvSpPr/>
          <p:nvPr/>
        </p:nvSpPr>
        <p:spPr>
          <a:xfrm>
            <a:off x="457200" y="3931920"/>
            <a:ext cx="8229600" cy="777240"/>
          </a:xfrm>
          <a:prstGeom prst="rect">
            <a:avLst/>
          </a:prstGeom>
          <a:solidFill>
            <a:srgbClr val="F8FAFC"/>
          </a:solidFill>
          <a:ln w="9525">
            <a:solidFill>
              <a:srgbClr val="E2E8F0"/>
            </a:solidFill>
            <a:prstDash val="solid"/>
          </a:ln>
        </p:spPr>
      </p:sp>
      <p:sp>
        <p:nvSpPr>
          <p:cNvPr id="40" name="Shape 38"/>
          <p:cNvSpPr/>
          <p:nvPr/>
        </p:nvSpPr>
        <p:spPr>
          <a:xfrm>
            <a:off x="457200" y="3931920"/>
            <a:ext cx="54864" cy="777240"/>
          </a:xfrm>
          <a:prstGeom prst="rect">
            <a:avLst/>
          </a:prstGeom>
          <a:solidFill>
            <a:srgbClr val="0D9488"/>
          </a:solidFill>
          <a:ln w="12700">
            <a:solidFill>
              <a:srgbClr val="0D9488"/>
            </a:solidFill>
            <a:prstDash val="solid"/>
          </a:ln>
        </p:spPr>
      </p:sp>
      <p:sp>
        <p:nvSpPr>
          <p:cNvPr id="41" name="Text 39"/>
          <p:cNvSpPr/>
          <p:nvPr/>
        </p:nvSpPr>
        <p:spPr>
          <a:xfrm>
            <a:off x="685800" y="3977640"/>
            <a:ext cx="77724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Why decompose?</a:t>
            </a:r>
            <a:endParaRPr lang="en-US" sz="1200" dirty="0"/>
          </a:p>
        </p:txBody>
      </p:sp>
      <p:sp>
        <p:nvSpPr>
          <p:cNvPr id="42" name="Text 40"/>
          <p:cNvSpPr/>
          <p:nvPr/>
        </p:nvSpPr>
        <p:spPr>
          <a:xfrm>
            <a:off x="685800" y="4224528"/>
            <a:ext cx="7772400" cy="45720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 single number tells teams whether quality is improving. Per-category breakdown tells them WHICH dimension needs attention. Both views are exposed via the analysis-diff feature for tracking over time.</a:t>
            </a:r>
            <a:endParaRPr lang="en-US" sz="1050" dirty="0"/>
          </a:p>
        </p:txBody>
      </p:sp>
      <p:sp>
        <p:nvSpPr>
          <p:cNvPr id="43" name="Text 41"/>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4" name="Text 42"/>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7 / 12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Worked example: Train-Ticket (52 / D)</a:t>
            </a:r>
            <a:endParaRPr lang="en-US" sz="2800" dirty="0"/>
          </a:p>
        </p:txBody>
      </p:sp>
      <p:sp>
        <p:nvSpPr>
          <p:cNvPr id="3" name="Text 1"/>
          <p:cNvSpPr/>
          <p:nvPr/>
        </p:nvSpPr>
        <p:spPr>
          <a:xfrm>
            <a:off x="457200" y="868680"/>
            <a:ext cx="411480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Anti-Pattern findings</a:t>
            </a:r>
            <a:endParaRPr lang="en-US" sz="1300" dirty="0"/>
          </a:p>
        </p:txBody>
      </p:sp>
      <p:sp>
        <p:nvSpPr>
          <p:cNvPr id="4" name="Shape 2"/>
          <p:cNvSpPr/>
          <p:nvPr/>
        </p:nvSpPr>
        <p:spPr>
          <a:xfrm>
            <a:off x="457200" y="1207008"/>
            <a:ext cx="4114800" cy="329184"/>
          </a:xfrm>
          <a:prstGeom prst="rect">
            <a:avLst/>
          </a:prstGeom>
          <a:solidFill>
            <a:srgbClr val="F8FAFC"/>
          </a:solidFill>
          <a:ln w="6350">
            <a:solidFill>
              <a:srgbClr val="E2E8F0"/>
            </a:solidFill>
            <a:prstDash val="solid"/>
          </a:ln>
        </p:spPr>
      </p:sp>
      <p:sp>
        <p:nvSpPr>
          <p:cNvPr id="5" name="Text 3"/>
          <p:cNvSpPr/>
          <p:nvPr/>
        </p:nvSpPr>
        <p:spPr>
          <a:xfrm>
            <a:off x="502920" y="1207008"/>
            <a:ext cx="548640" cy="329184"/>
          </a:xfrm>
          <a:prstGeom prst="rect">
            <a:avLst/>
          </a:prstGeom>
          <a:noFill/>
          <a:ln/>
        </p:spPr>
        <p:txBody>
          <a:bodyPr wrap="square" lIns="0" tIns="0" rIns="0" bIns="0" rtlCol="0" anchor="ctr"/>
          <a:lstStyle/>
          <a:p>
            <a:pPr marL="0" indent="0" algn="ctr">
              <a:buNone/>
            </a:pPr>
            <a:r>
              <a:rPr lang="en-US" sz="1300" b="1" dirty="0">
                <a:solidFill>
                  <a:srgbClr val="DC2626"/>
                </a:solidFill>
                <a:latin typeface="Calibri" pitchFamily="34" charset="0"/>
                <a:ea typeface="Calibri" pitchFamily="34" charset="-122"/>
                <a:cs typeface="Calibri" pitchFamily="34" charset="-120"/>
              </a:rPr>
              <a:t>27×</a:t>
            </a:r>
            <a:endParaRPr lang="en-US" sz="1300" dirty="0"/>
          </a:p>
        </p:txBody>
      </p:sp>
      <p:sp>
        <p:nvSpPr>
          <p:cNvPr id="6" name="Text 4"/>
          <p:cNvSpPr/>
          <p:nvPr/>
        </p:nvSpPr>
        <p:spPr>
          <a:xfrm>
            <a:off x="1097280" y="1207008"/>
            <a:ext cx="2103120" cy="32918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7" name="Text 5"/>
          <p:cNvSpPr/>
          <p:nvPr/>
        </p:nvSpPr>
        <p:spPr>
          <a:xfrm>
            <a:off x="3200400" y="1207008"/>
            <a:ext cx="1325880" cy="32918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−3 each = −81</a:t>
            </a:r>
            <a:endParaRPr lang="en-US" sz="1000" dirty="0"/>
          </a:p>
        </p:txBody>
      </p:sp>
      <p:sp>
        <p:nvSpPr>
          <p:cNvPr id="8" name="Shape 6"/>
          <p:cNvSpPr/>
          <p:nvPr/>
        </p:nvSpPr>
        <p:spPr>
          <a:xfrm>
            <a:off x="457200" y="1572768"/>
            <a:ext cx="4114800" cy="329184"/>
          </a:xfrm>
          <a:prstGeom prst="rect">
            <a:avLst/>
          </a:prstGeom>
          <a:solidFill>
            <a:srgbClr val="F8FAFC"/>
          </a:solidFill>
          <a:ln w="6350">
            <a:solidFill>
              <a:srgbClr val="E2E8F0"/>
            </a:solidFill>
            <a:prstDash val="solid"/>
          </a:ln>
        </p:spPr>
      </p:sp>
      <p:sp>
        <p:nvSpPr>
          <p:cNvPr id="9" name="Text 7"/>
          <p:cNvSpPr/>
          <p:nvPr/>
        </p:nvSpPr>
        <p:spPr>
          <a:xfrm>
            <a:off x="502920" y="1572768"/>
            <a:ext cx="548640" cy="329184"/>
          </a:xfrm>
          <a:prstGeom prst="rect">
            <a:avLst/>
          </a:prstGeom>
          <a:noFill/>
          <a:ln/>
        </p:spPr>
        <p:txBody>
          <a:bodyPr wrap="square" lIns="0" tIns="0" rIns="0" bIns="0" rtlCol="0" anchor="ctr"/>
          <a:lstStyle/>
          <a:p>
            <a:pPr marL="0" indent="0" algn="ctr">
              <a:buNone/>
            </a:pPr>
            <a:r>
              <a:rPr lang="en-US" sz="1300" b="1" dirty="0">
                <a:solidFill>
                  <a:srgbClr val="DC2626"/>
                </a:solidFill>
                <a:latin typeface="Calibri" pitchFamily="34" charset="0"/>
                <a:ea typeface="Calibri" pitchFamily="34" charset="-122"/>
                <a:cs typeface="Calibri" pitchFamily="34" charset="-120"/>
              </a:rPr>
              <a:t>4×</a:t>
            </a:r>
            <a:endParaRPr lang="en-US" sz="1300" dirty="0"/>
          </a:p>
        </p:txBody>
      </p:sp>
      <p:sp>
        <p:nvSpPr>
          <p:cNvPr id="10" name="Text 8"/>
          <p:cNvSpPr/>
          <p:nvPr/>
        </p:nvSpPr>
        <p:spPr>
          <a:xfrm>
            <a:off x="1097280" y="1572768"/>
            <a:ext cx="2103120" cy="32918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Chatty Service</a:t>
            </a:r>
            <a:endParaRPr lang="en-US" sz="1100" dirty="0"/>
          </a:p>
        </p:txBody>
      </p:sp>
      <p:sp>
        <p:nvSpPr>
          <p:cNvPr id="11" name="Text 9"/>
          <p:cNvSpPr/>
          <p:nvPr/>
        </p:nvSpPr>
        <p:spPr>
          <a:xfrm>
            <a:off x="3200400" y="1572768"/>
            <a:ext cx="1325880" cy="32918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−5 each = −20</a:t>
            </a:r>
            <a:endParaRPr lang="en-US" sz="1000" dirty="0"/>
          </a:p>
        </p:txBody>
      </p:sp>
      <p:sp>
        <p:nvSpPr>
          <p:cNvPr id="12" name="Shape 10"/>
          <p:cNvSpPr/>
          <p:nvPr/>
        </p:nvSpPr>
        <p:spPr>
          <a:xfrm>
            <a:off x="457200" y="1938528"/>
            <a:ext cx="4114800" cy="329184"/>
          </a:xfrm>
          <a:prstGeom prst="rect">
            <a:avLst/>
          </a:prstGeom>
          <a:solidFill>
            <a:srgbClr val="F8FAFC"/>
          </a:solidFill>
          <a:ln w="6350">
            <a:solidFill>
              <a:srgbClr val="E2E8F0"/>
            </a:solidFill>
            <a:prstDash val="solid"/>
          </a:ln>
        </p:spPr>
      </p:sp>
      <p:sp>
        <p:nvSpPr>
          <p:cNvPr id="13" name="Text 11"/>
          <p:cNvSpPr/>
          <p:nvPr/>
        </p:nvSpPr>
        <p:spPr>
          <a:xfrm>
            <a:off x="502920" y="1938528"/>
            <a:ext cx="548640" cy="329184"/>
          </a:xfrm>
          <a:prstGeom prst="rect">
            <a:avLst/>
          </a:prstGeom>
          <a:noFill/>
          <a:ln/>
        </p:spPr>
        <p:txBody>
          <a:bodyPr wrap="square" lIns="0" tIns="0" rIns="0" bIns="0" rtlCol="0" anchor="ctr"/>
          <a:lstStyle/>
          <a:p>
            <a:pPr marL="0" indent="0" algn="ctr">
              <a:buNone/>
            </a:pPr>
            <a:r>
              <a:rPr lang="en-US" sz="1300" b="1" dirty="0">
                <a:solidFill>
                  <a:srgbClr val="DC2626"/>
                </a:solidFill>
                <a:latin typeface="Calibri" pitchFamily="34" charset="0"/>
                <a:ea typeface="Calibri" pitchFamily="34" charset="-122"/>
                <a:cs typeface="Calibri" pitchFamily="34" charset="-120"/>
              </a:rPr>
              <a:t>4×</a:t>
            </a:r>
            <a:endParaRPr lang="en-US" sz="1300" dirty="0"/>
          </a:p>
        </p:txBody>
      </p:sp>
      <p:sp>
        <p:nvSpPr>
          <p:cNvPr id="14" name="Text 12"/>
          <p:cNvSpPr/>
          <p:nvPr/>
        </p:nvSpPr>
        <p:spPr>
          <a:xfrm>
            <a:off x="1097280" y="1938528"/>
            <a:ext cx="2103120" cy="32918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Nano Service</a:t>
            </a:r>
            <a:endParaRPr lang="en-US" sz="1100" dirty="0"/>
          </a:p>
        </p:txBody>
      </p:sp>
      <p:sp>
        <p:nvSpPr>
          <p:cNvPr id="15" name="Text 13"/>
          <p:cNvSpPr/>
          <p:nvPr/>
        </p:nvSpPr>
        <p:spPr>
          <a:xfrm>
            <a:off x="3200400" y="1938528"/>
            <a:ext cx="1325880" cy="32918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−3 each = −12</a:t>
            </a:r>
            <a:endParaRPr lang="en-US" sz="1000" dirty="0"/>
          </a:p>
        </p:txBody>
      </p:sp>
      <p:sp>
        <p:nvSpPr>
          <p:cNvPr id="16" name="Shape 14"/>
          <p:cNvSpPr/>
          <p:nvPr/>
        </p:nvSpPr>
        <p:spPr>
          <a:xfrm>
            <a:off x="457200" y="2304288"/>
            <a:ext cx="4114800" cy="329184"/>
          </a:xfrm>
          <a:prstGeom prst="rect">
            <a:avLst/>
          </a:prstGeom>
          <a:solidFill>
            <a:srgbClr val="F8FAFC"/>
          </a:solidFill>
          <a:ln w="6350">
            <a:solidFill>
              <a:srgbClr val="E2E8F0"/>
            </a:solidFill>
            <a:prstDash val="solid"/>
          </a:ln>
        </p:spPr>
      </p:sp>
      <p:sp>
        <p:nvSpPr>
          <p:cNvPr id="17" name="Text 15"/>
          <p:cNvSpPr/>
          <p:nvPr/>
        </p:nvSpPr>
        <p:spPr>
          <a:xfrm>
            <a:off x="502920" y="2304288"/>
            <a:ext cx="548640" cy="329184"/>
          </a:xfrm>
          <a:prstGeom prst="rect">
            <a:avLst/>
          </a:prstGeom>
          <a:noFill/>
          <a:ln/>
        </p:spPr>
        <p:txBody>
          <a:bodyPr wrap="square" lIns="0" tIns="0" rIns="0" bIns="0" rtlCol="0" anchor="ctr"/>
          <a:lstStyle/>
          <a:p>
            <a:pPr marL="0" indent="0" algn="ctr">
              <a:buNone/>
            </a:pPr>
            <a:r>
              <a:rPr lang="en-US" sz="1300" b="1" dirty="0">
                <a:solidFill>
                  <a:srgbClr val="DC2626"/>
                </a:solidFill>
                <a:latin typeface="Calibri" pitchFamily="34" charset="0"/>
                <a:ea typeface="Calibri" pitchFamily="34" charset="-122"/>
                <a:cs typeface="Calibri" pitchFamily="34" charset="-120"/>
              </a:rPr>
              <a:t>1×</a:t>
            </a:r>
            <a:endParaRPr lang="en-US" sz="1300" dirty="0"/>
          </a:p>
        </p:txBody>
      </p:sp>
      <p:sp>
        <p:nvSpPr>
          <p:cNvPr id="18" name="Text 16"/>
          <p:cNvSpPr/>
          <p:nvPr/>
        </p:nvSpPr>
        <p:spPr>
          <a:xfrm>
            <a:off x="1097280" y="2304288"/>
            <a:ext cx="2103120" cy="32918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Shared Database</a:t>
            </a:r>
            <a:endParaRPr lang="en-US" sz="1100" dirty="0"/>
          </a:p>
        </p:txBody>
      </p:sp>
      <p:sp>
        <p:nvSpPr>
          <p:cNvPr id="19" name="Text 17"/>
          <p:cNvSpPr/>
          <p:nvPr/>
        </p:nvSpPr>
        <p:spPr>
          <a:xfrm>
            <a:off x="3200400" y="2304288"/>
            <a:ext cx="1325880" cy="32918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−5 each = −5</a:t>
            </a:r>
            <a:endParaRPr lang="en-US" sz="1000" dirty="0"/>
          </a:p>
        </p:txBody>
      </p:sp>
      <p:sp>
        <p:nvSpPr>
          <p:cNvPr id="20" name="Shape 18"/>
          <p:cNvSpPr/>
          <p:nvPr/>
        </p:nvSpPr>
        <p:spPr>
          <a:xfrm>
            <a:off x="457200" y="2697480"/>
            <a:ext cx="4114800" cy="411480"/>
          </a:xfrm>
          <a:prstGeom prst="rect">
            <a:avLst/>
          </a:prstGeom>
          <a:solidFill>
            <a:srgbClr val="0F2A44"/>
          </a:solidFill>
          <a:ln w="12700">
            <a:solidFill>
              <a:srgbClr val="0F2A44"/>
            </a:solidFill>
            <a:prstDash val="solid"/>
          </a:ln>
        </p:spPr>
      </p:sp>
      <p:sp>
        <p:nvSpPr>
          <p:cNvPr id="21" name="Text 19"/>
          <p:cNvSpPr/>
          <p:nvPr/>
        </p:nvSpPr>
        <p:spPr>
          <a:xfrm>
            <a:off x="457200" y="2697480"/>
            <a:ext cx="4114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Total penalty: 118   →   AP clamped at 0</a:t>
            </a:r>
            <a:endParaRPr lang="en-US" sz="1200" dirty="0"/>
          </a:p>
        </p:txBody>
      </p:sp>
      <p:sp>
        <p:nvSpPr>
          <p:cNvPr id="22" name="Text 20"/>
          <p:cNvSpPr/>
          <p:nvPr/>
        </p:nvSpPr>
        <p:spPr>
          <a:xfrm>
            <a:off x="4846320" y="868680"/>
            <a:ext cx="384048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Category contributions</a:t>
            </a:r>
            <a:endParaRPr lang="en-US" sz="1300" dirty="0"/>
          </a:p>
        </p:txBody>
      </p:sp>
      <p:sp>
        <p:nvSpPr>
          <p:cNvPr id="23" name="Text 21"/>
          <p:cNvSpPr/>
          <p:nvPr/>
        </p:nvSpPr>
        <p:spPr>
          <a:xfrm>
            <a:off x="4846320" y="118872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Anti-Patterns</a:t>
            </a:r>
            <a:endParaRPr lang="en-US" sz="1050" dirty="0"/>
          </a:p>
        </p:txBody>
      </p:sp>
      <p:sp>
        <p:nvSpPr>
          <p:cNvPr id="24" name="Shape 22"/>
          <p:cNvSpPr/>
          <p:nvPr/>
        </p:nvSpPr>
        <p:spPr>
          <a:xfrm>
            <a:off x="6126480" y="1234440"/>
            <a:ext cx="2377440" cy="256032"/>
          </a:xfrm>
          <a:prstGeom prst="rect">
            <a:avLst/>
          </a:prstGeom>
          <a:solidFill>
            <a:srgbClr val="E2E8F0"/>
          </a:solidFill>
          <a:ln w="12700">
            <a:solidFill>
              <a:srgbClr val="E2E8F0"/>
            </a:solidFill>
            <a:prstDash val="solid"/>
          </a:ln>
        </p:spPr>
      </p:sp>
      <p:sp>
        <p:nvSpPr>
          <p:cNvPr id="25" name="Text 23"/>
          <p:cNvSpPr/>
          <p:nvPr/>
        </p:nvSpPr>
        <p:spPr>
          <a:xfrm>
            <a:off x="8595360" y="119786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0 / 40</a:t>
            </a:r>
            <a:endParaRPr lang="en-US" sz="1000" dirty="0"/>
          </a:p>
        </p:txBody>
      </p:sp>
      <p:sp>
        <p:nvSpPr>
          <p:cNvPr id="26" name="Text 24"/>
          <p:cNvSpPr/>
          <p:nvPr/>
        </p:nvSpPr>
        <p:spPr>
          <a:xfrm>
            <a:off x="4846320" y="169164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Code Quality</a:t>
            </a:r>
            <a:endParaRPr lang="en-US" sz="1050" dirty="0"/>
          </a:p>
        </p:txBody>
      </p:sp>
      <p:sp>
        <p:nvSpPr>
          <p:cNvPr id="27" name="Shape 25"/>
          <p:cNvSpPr/>
          <p:nvPr/>
        </p:nvSpPr>
        <p:spPr>
          <a:xfrm>
            <a:off x="6126480" y="1737360"/>
            <a:ext cx="2377440" cy="256032"/>
          </a:xfrm>
          <a:prstGeom prst="rect">
            <a:avLst/>
          </a:prstGeom>
          <a:solidFill>
            <a:srgbClr val="E2E8F0"/>
          </a:solidFill>
          <a:ln w="12700">
            <a:solidFill>
              <a:srgbClr val="E2E8F0"/>
            </a:solidFill>
            <a:prstDash val="solid"/>
          </a:ln>
        </p:spPr>
      </p:sp>
      <p:sp>
        <p:nvSpPr>
          <p:cNvPr id="28" name="Shape 26"/>
          <p:cNvSpPr/>
          <p:nvPr/>
        </p:nvSpPr>
        <p:spPr>
          <a:xfrm>
            <a:off x="6126480" y="1737360"/>
            <a:ext cx="2377440" cy="256032"/>
          </a:xfrm>
          <a:prstGeom prst="rect">
            <a:avLst/>
          </a:prstGeom>
          <a:solidFill>
            <a:srgbClr val="D97706"/>
          </a:solidFill>
          <a:ln w="12700">
            <a:solidFill>
              <a:srgbClr val="D97706"/>
            </a:solidFill>
            <a:prstDash val="solid"/>
          </a:ln>
        </p:spPr>
      </p:sp>
      <p:sp>
        <p:nvSpPr>
          <p:cNvPr id="29" name="Text 27"/>
          <p:cNvSpPr/>
          <p:nvPr/>
        </p:nvSpPr>
        <p:spPr>
          <a:xfrm>
            <a:off x="8595360" y="170078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20 / 20</a:t>
            </a:r>
            <a:endParaRPr lang="en-US" sz="1000" dirty="0"/>
          </a:p>
        </p:txBody>
      </p:sp>
      <p:sp>
        <p:nvSpPr>
          <p:cNvPr id="30" name="Text 28"/>
          <p:cNvSpPr/>
          <p:nvPr/>
        </p:nvSpPr>
        <p:spPr>
          <a:xfrm>
            <a:off x="4846320" y="219456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Architecture</a:t>
            </a:r>
            <a:endParaRPr lang="en-US" sz="1050" dirty="0"/>
          </a:p>
        </p:txBody>
      </p:sp>
      <p:sp>
        <p:nvSpPr>
          <p:cNvPr id="31" name="Shape 29"/>
          <p:cNvSpPr/>
          <p:nvPr/>
        </p:nvSpPr>
        <p:spPr>
          <a:xfrm>
            <a:off x="6126480" y="2240280"/>
            <a:ext cx="2377440" cy="256032"/>
          </a:xfrm>
          <a:prstGeom prst="rect">
            <a:avLst/>
          </a:prstGeom>
          <a:solidFill>
            <a:srgbClr val="E2E8F0"/>
          </a:solidFill>
          <a:ln w="12700">
            <a:solidFill>
              <a:srgbClr val="E2E8F0"/>
            </a:solidFill>
            <a:prstDash val="solid"/>
          </a:ln>
        </p:spPr>
      </p:sp>
      <p:sp>
        <p:nvSpPr>
          <p:cNvPr id="32" name="Shape 30"/>
          <p:cNvSpPr/>
          <p:nvPr/>
        </p:nvSpPr>
        <p:spPr>
          <a:xfrm>
            <a:off x="6126480" y="2240280"/>
            <a:ext cx="2377440" cy="256032"/>
          </a:xfrm>
          <a:prstGeom prst="rect">
            <a:avLst/>
          </a:prstGeom>
          <a:solidFill>
            <a:srgbClr val="1C4E80"/>
          </a:solidFill>
          <a:ln w="12700">
            <a:solidFill>
              <a:srgbClr val="1C4E80"/>
            </a:solidFill>
            <a:prstDash val="solid"/>
          </a:ln>
        </p:spPr>
      </p:sp>
      <p:sp>
        <p:nvSpPr>
          <p:cNvPr id="33" name="Text 31"/>
          <p:cNvSpPr/>
          <p:nvPr/>
        </p:nvSpPr>
        <p:spPr>
          <a:xfrm>
            <a:off x="8595360" y="220370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25 / 25</a:t>
            </a:r>
            <a:endParaRPr lang="en-US" sz="1000" dirty="0"/>
          </a:p>
        </p:txBody>
      </p:sp>
      <p:sp>
        <p:nvSpPr>
          <p:cNvPr id="34" name="Text 32"/>
          <p:cNvSpPr/>
          <p:nvPr/>
        </p:nvSpPr>
        <p:spPr>
          <a:xfrm>
            <a:off x="4846320" y="269748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Service Sizing</a:t>
            </a:r>
            <a:endParaRPr lang="en-US" sz="1050" dirty="0"/>
          </a:p>
        </p:txBody>
      </p:sp>
      <p:sp>
        <p:nvSpPr>
          <p:cNvPr id="35" name="Shape 33"/>
          <p:cNvSpPr/>
          <p:nvPr/>
        </p:nvSpPr>
        <p:spPr>
          <a:xfrm>
            <a:off x="6126480" y="2743200"/>
            <a:ext cx="2377440" cy="256032"/>
          </a:xfrm>
          <a:prstGeom prst="rect">
            <a:avLst/>
          </a:prstGeom>
          <a:solidFill>
            <a:srgbClr val="E2E8F0"/>
          </a:solidFill>
          <a:ln w="12700">
            <a:solidFill>
              <a:srgbClr val="E2E8F0"/>
            </a:solidFill>
            <a:prstDash val="solid"/>
          </a:ln>
        </p:spPr>
      </p:sp>
      <p:sp>
        <p:nvSpPr>
          <p:cNvPr id="36" name="Shape 34"/>
          <p:cNvSpPr/>
          <p:nvPr/>
        </p:nvSpPr>
        <p:spPr>
          <a:xfrm>
            <a:off x="6126480" y="2743200"/>
            <a:ext cx="1109472" cy="256032"/>
          </a:xfrm>
          <a:prstGeom prst="rect">
            <a:avLst/>
          </a:prstGeom>
          <a:solidFill>
            <a:srgbClr val="0D9488"/>
          </a:solidFill>
          <a:ln w="12700">
            <a:solidFill>
              <a:srgbClr val="0D9488"/>
            </a:solidFill>
            <a:prstDash val="solid"/>
          </a:ln>
        </p:spPr>
      </p:sp>
      <p:sp>
        <p:nvSpPr>
          <p:cNvPr id="37" name="Text 35"/>
          <p:cNvSpPr/>
          <p:nvPr/>
        </p:nvSpPr>
        <p:spPr>
          <a:xfrm>
            <a:off x="8595360" y="270662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7 / 15</a:t>
            </a:r>
            <a:endParaRPr lang="en-US" sz="1000" dirty="0"/>
          </a:p>
        </p:txBody>
      </p:sp>
      <p:sp>
        <p:nvSpPr>
          <p:cNvPr id="38" name="Shape 36"/>
          <p:cNvSpPr/>
          <p:nvPr/>
        </p:nvSpPr>
        <p:spPr>
          <a:xfrm>
            <a:off x="5852160" y="3429000"/>
            <a:ext cx="1280160" cy="1280160"/>
          </a:xfrm>
          <a:prstGeom prst="ellipse">
            <a:avLst/>
          </a:prstGeom>
          <a:solidFill>
            <a:srgbClr val="D97706"/>
          </a:solidFill>
          <a:ln w="12700">
            <a:solidFill>
              <a:srgbClr val="D97706"/>
            </a:solidFill>
            <a:prstDash val="solid"/>
          </a:ln>
        </p:spPr>
      </p:sp>
      <p:sp>
        <p:nvSpPr>
          <p:cNvPr id="39" name="Text 37"/>
          <p:cNvSpPr/>
          <p:nvPr/>
        </p:nvSpPr>
        <p:spPr>
          <a:xfrm>
            <a:off x="5852160" y="3474720"/>
            <a:ext cx="1280160" cy="822960"/>
          </a:xfrm>
          <a:prstGeom prst="rect">
            <a:avLst/>
          </a:prstGeom>
          <a:noFill/>
          <a:ln/>
        </p:spPr>
        <p:txBody>
          <a:bodyPr wrap="square" lIns="0" tIns="0" rIns="0" bIns="0" rtlCol="0" anchor="ctr"/>
          <a:lstStyle/>
          <a:p>
            <a:pPr marL="0" indent="0" algn="ctr">
              <a:buNone/>
            </a:pPr>
            <a:r>
              <a:rPr lang="en-US" sz="3600" b="1" dirty="0">
                <a:solidFill>
                  <a:srgbClr val="FFFFFF"/>
                </a:solidFill>
                <a:latin typeface="Calibri" pitchFamily="34" charset="0"/>
                <a:ea typeface="Calibri" pitchFamily="34" charset="-122"/>
                <a:cs typeface="Calibri" pitchFamily="34" charset="-120"/>
              </a:rPr>
              <a:t>52</a:t>
            </a:r>
            <a:endParaRPr lang="en-US" sz="3600" dirty="0"/>
          </a:p>
        </p:txBody>
      </p:sp>
      <p:sp>
        <p:nvSpPr>
          <p:cNvPr id="40" name="Text 38"/>
          <p:cNvSpPr/>
          <p:nvPr/>
        </p:nvSpPr>
        <p:spPr>
          <a:xfrm>
            <a:off x="5852160" y="4160520"/>
            <a:ext cx="12801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Grade D</a:t>
            </a:r>
            <a:endParaRPr lang="en-US" sz="1100" dirty="0"/>
          </a:p>
        </p:txBody>
      </p:sp>
      <p:sp>
        <p:nvSpPr>
          <p:cNvPr id="41" name="Text 39"/>
          <p:cNvSpPr/>
          <p:nvPr/>
        </p:nvSpPr>
        <p:spPr>
          <a:xfrm>
            <a:off x="457200" y="3246120"/>
            <a:ext cx="4114800" cy="365760"/>
          </a:xfrm>
          <a:prstGeom prst="rect">
            <a:avLst/>
          </a:prstGeom>
          <a:noFill/>
          <a:ln/>
        </p:spPr>
        <p:txBody>
          <a:bodyPr wrap="square" lIns="0" tIns="0" rIns="0" bIns="0" rtlCol="0" anchor="ctr"/>
          <a:lstStyle/>
          <a:p>
            <a:pPr marL="0" indent="0" algn="ctr">
              <a:buNone/>
            </a:pPr>
            <a:r>
              <a:rPr lang="en-US" sz="1400" b="1" dirty="0">
                <a:solidFill>
                  <a:srgbClr val="0F2A44"/>
                </a:solidFill>
                <a:latin typeface="Calibri" pitchFamily="34" charset="0"/>
                <a:ea typeface="Calibri" pitchFamily="34" charset="-122"/>
                <a:cs typeface="Calibri" pitchFamily="34" charset="-120"/>
              </a:rPr>
              <a:t>H = 0 + 20 + 25 + 7 = 52</a:t>
            </a:r>
            <a:endParaRPr lang="en-US" sz="1400" dirty="0"/>
          </a:p>
        </p:txBody>
      </p:sp>
      <p:sp>
        <p:nvSpPr>
          <p:cNvPr id="42" name="Text 40"/>
          <p:cNvSpPr/>
          <p:nvPr/>
        </p:nvSpPr>
        <p:spPr>
          <a:xfrm>
            <a:off x="457200" y="3611880"/>
            <a:ext cx="4114800" cy="91440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Score driven by AP deductions (27 Hardcoded Endpoints + 4 Chatty Services). Service Sizing loses 8 pts from nano services. Architecture and Code Quality are clean.</a:t>
            </a:r>
            <a:endParaRPr lang="en-US" sz="1000" dirty="0"/>
          </a:p>
        </p:txBody>
      </p:sp>
      <p:sp>
        <p:nvSpPr>
          <p:cNvPr id="43" name="Text 41"/>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4" name="Text 42"/>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8 / 12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Evaluation: six open-source projects</a:t>
            </a:r>
            <a:endParaRPr lang="en-US" sz="2800" dirty="0"/>
          </a:p>
        </p:txBody>
      </p:sp>
      <p:graphicFrame>
        <p:nvGraphicFramePr>
          <p:cNvPr id="3" name="Chart 0"/>
          <p:cNvGraphicFramePr/>
          <p:nvPr/>
        </p:nvGraphicFramePr>
        <p:xfrm>
          <a:off x="365760" y="868680"/>
          <a:ext cx="539496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p:nvPr/>
        </p:nvSpPr>
        <p:spPr>
          <a:xfrm>
            <a:off x="6035040" y="613954"/>
            <a:ext cx="2743200" cy="274320"/>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Dataset scale</a:t>
            </a:r>
            <a:endParaRPr lang="en-US" sz="1300" dirty="0"/>
          </a:p>
        </p:txBody>
      </p:sp>
      <p:sp>
        <p:nvSpPr>
          <p:cNvPr id="5" name="Shape 2"/>
          <p:cNvSpPr/>
          <p:nvPr/>
        </p:nvSpPr>
        <p:spPr>
          <a:xfrm>
            <a:off x="6035040" y="979714"/>
            <a:ext cx="2743200" cy="347472"/>
          </a:xfrm>
          <a:prstGeom prst="rect">
            <a:avLst/>
          </a:prstGeom>
          <a:solidFill>
            <a:srgbClr val="F8FAFC"/>
          </a:solidFill>
          <a:ln w="6350">
            <a:solidFill>
              <a:srgbClr val="E2E8F0"/>
            </a:solidFill>
            <a:prstDash val="solid"/>
          </a:ln>
        </p:spPr>
      </p:sp>
      <p:sp>
        <p:nvSpPr>
          <p:cNvPr id="6" name="Text 3"/>
          <p:cNvSpPr/>
          <p:nvPr/>
        </p:nvSpPr>
        <p:spPr>
          <a:xfrm>
            <a:off x="6126480" y="979714"/>
            <a:ext cx="1280160" cy="347472"/>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MicroSocial</a:t>
            </a:r>
            <a:endParaRPr lang="en-US" sz="1050" dirty="0"/>
          </a:p>
        </p:txBody>
      </p:sp>
      <p:sp>
        <p:nvSpPr>
          <p:cNvPr id="7" name="Text 4"/>
          <p:cNvSpPr/>
          <p:nvPr/>
        </p:nvSpPr>
        <p:spPr>
          <a:xfrm>
            <a:off x="7406640" y="979714"/>
            <a:ext cx="457200" cy="347472"/>
          </a:xfrm>
          <a:prstGeom prst="rect">
            <a:avLst/>
          </a:prstGeom>
          <a:noFill/>
          <a:ln/>
        </p:spPr>
        <p:txBody>
          <a:bodyPr wrap="square" lIns="0" tIns="0" rIns="0" bIns="0" rtlCol="0" anchor="ctr"/>
          <a:lstStyle/>
          <a:p>
            <a:pPr marL="0" indent="0" algn="ctr">
              <a:buNone/>
            </a:pPr>
            <a:r>
              <a:rPr lang="en-US" sz="1050" dirty="0">
                <a:solidFill>
                  <a:srgbClr val="1E293B"/>
                </a:solidFill>
                <a:latin typeface="Calibri" pitchFamily="34" charset="0"/>
                <a:ea typeface="Calibri" pitchFamily="34" charset="-122"/>
                <a:cs typeface="Calibri" pitchFamily="34" charset="-120"/>
              </a:rPr>
              <a:t>4</a:t>
            </a:r>
            <a:endParaRPr lang="en-US" sz="1050" dirty="0"/>
          </a:p>
        </p:txBody>
      </p:sp>
      <p:sp>
        <p:nvSpPr>
          <p:cNvPr id="8" name="Text 5"/>
          <p:cNvSpPr/>
          <p:nvPr/>
        </p:nvSpPr>
        <p:spPr>
          <a:xfrm>
            <a:off x="7863840" y="979714"/>
            <a:ext cx="868680" cy="347472"/>
          </a:xfrm>
          <a:prstGeom prst="rect">
            <a:avLst/>
          </a:prstGeom>
          <a:noFill/>
          <a:ln/>
        </p:spPr>
        <p:txBody>
          <a:bodyPr wrap="square" lIns="0" tIns="0" rIns="0" bIns="0" rtlCol="0" anchor="ctr"/>
          <a:lstStyle/>
          <a:p>
            <a:pPr marL="0" indent="0" algn="r">
              <a:buNone/>
            </a:pPr>
            <a:r>
              <a:rPr lang="en-US" sz="1050" dirty="0">
                <a:solidFill>
                  <a:srgbClr val="1E293B"/>
                </a:solidFill>
                <a:latin typeface="Calibri" pitchFamily="34" charset="0"/>
                <a:ea typeface="Calibri" pitchFamily="34" charset="-122"/>
                <a:cs typeface="Calibri" pitchFamily="34" charset="-120"/>
              </a:rPr>
              <a:t>2k</a:t>
            </a:r>
            <a:endParaRPr lang="en-US" sz="1050" dirty="0"/>
          </a:p>
        </p:txBody>
      </p:sp>
      <p:sp>
        <p:nvSpPr>
          <p:cNvPr id="9" name="Shape 6"/>
          <p:cNvSpPr/>
          <p:nvPr/>
        </p:nvSpPr>
        <p:spPr>
          <a:xfrm>
            <a:off x="6035040" y="1363762"/>
            <a:ext cx="2743200" cy="347472"/>
          </a:xfrm>
          <a:prstGeom prst="rect">
            <a:avLst/>
          </a:prstGeom>
          <a:solidFill>
            <a:srgbClr val="F8FAFC"/>
          </a:solidFill>
          <a:ln w="6350">
            <a:solidFill>
              <a:srgbClr val="E2E8F0"/>
            </a:solidFill>
            <a:prstDash val="solid"/>
          </a:ln>
        </p:spPr>
      </p:sp>
      <p:sp>
        <p:nvSpPr>
          <p:cNvPr id="10" name="Text 7"/>
          <p:cNvSpPr/>
          <p:nvPr/>
        </p:nvSpPr>
        <p:spPr>
          <a:xfrm>
            <a:off x="6126480" y="1363762"/>
            <a:ext cx="1280160" cy="347472"/>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design-pat.</a:t>
            </a:r>
            <a:endParaRPr lang="en-US" sz="1050" dirty="0"/>
          </a:p>
        </p:txBody>
      </p:sp>
      <p:sp>
        <p:nvSpPr>
          <p:cNvPr id="11" name="Text 8"/>
          <p:cNvSpPr/>
          <p:nvPr/>
        </p:nvSpPr>
        <p:spPr>
          <a:xfrm>
            <a:off x="7406640" y="1363762"/>
            <a:ext cx="457200" cy="347472"/>
          </a:xfrm>
          <a:prstGeom prst="rect">
            <a:avLst/>
          </a:prstGeom>
          <a:noFill/>
          <a:ln/>
        </p:spPr>
        <p:txBody>
          <a:bodyPr wrap="square" lIns="0" tIns="0" rIns="0" bIns="0" rtlCol="0" anchor="ctr"/>
          <a:lstStyle/>
          <a:p>
            <a:pPr marL="0" indent="0" algn="ctr">
              <a:buNone/>
            </a:pPr>
            <a:r>
              <a:rPr lang="en-US" sz="1050" dirty="0">
                <a:solidFill>
                  <a:srgbClr val="1E293B"/>
                </a:solidFill>
                <a:latin typeface="Calibri" pitchFamily="34" charset="0"/>
                <a:ea typeface="Calibri" pitchFamily="34" charset="-122"/>
                <a:cs typeface="Calibri" pitchFamily="34" charset="-120"/>
              </a:rPr>
              <a:t>16</a:t>
            </a:r>
            <a:endParaRPr lang="en-US" sz="1050" dirty="0"/>
          </a:p>
        </p:txBody>
      </p:sp>
      <p:sp>
        <p:nvSpPr>
          <p:cNvPr id="12" name="Text 9"/>
          <p:cNvSpPr/>
          <p:nvPr/>
        </p:nvSpPr>
        <p:spPr>
          <a:xfrm>
            <a:off x="7863840" y="1363762"/>
            <a:ext cx="868680" cy="347472"/>
          </a:xfrm>
          <a:prstGeom prst="rect">
            <a:avLst/>
          </a:prstGeom>
          <a:noFill/>
          <a:ln/>
        </p:spPr>
        <p:txBody>
          <a:bodyPr wrap="square" lIns="0" tIns="0" rIns="0" bIns="0" rtlCol="0" anchor="ctr"/>
          <a:lstStyle/>
          <a:p>
            <a:pPr marL="0" indent="0" algn="r">
              <a:buNone/>
            </a:pPr>
            <a:r>
              <a:rPr lang="en-US" sz="1050" dirty="0">
                <a:solidFill>
                  <a:srgbClr val="1E293B"/>
                </a:solidFill>
                <a:latin typeface="Calibri" pitchFamily="34" charset="0"/>
                <a:ea typeface="Calibri" pitchFamily="34" charset="-122"/>
                <a:cs typeface="Calibri" pitchFamily="34" charset="-120"/>
              </a:rPr>
              <a:t>19k</a:t>
            </a:r>
            <a:endParaRPr lang="en-US" sz="1050" dirty="0"/>
          </a:p>
        </p:txBody>
      </p:sp>
      <p:sp>
        <p:nvSpPr>
          <p:cNvPr id="13" name="Shape 10"/>
          <p:cNvSpPr/>
          <p:nvPr/>
        </p:nvSpPr>
        <p:spPr>
          <a:xfrm>
            <a:off x="6035040" y="1747810"/>
            <a:ext cx="2743200" cy="347472"/>
          </a:xfrm>
          <a:prstGeom prst="rect">
            <a:avLst/>
          </a:prstGeom>
          <a:solidFill>
            <a:srgbClr val="F8FAFC"/>
          </a:solidFill>
          <a:ln w="6350">
            <a:solidFill>
              <a:srgbClr val="E2E8F0"/>
            </a:solidFill>
            <a:prstDash val="solid"/>
          </a:ln>
        </p:spPr>
      </p:sp>
      <p:sp>
        <p:nvSpPr>
          <p:cNvPr id="14" name="Text 11"/>
          <p:cNvSpPr/>
          <p:nvPr/>
        </p:nvSpPr>
        <p:spPr>
          <a:xfrm>
            <a:off x="6126480" y="1747810"/>
            <a:ext cx="1280160" cy="347472"/>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Site-Where</a:t>
            </a:r>
            <a:endParaRPr lang="en-US" sz="1050" dirty="0"/>
          </a:p>
        </p:txBody>
      </p:sp>
      <p:sp>
        <p:nvSpPr>
          <p:cNvPr id="15" name="Text 12"/>
          <p:cNvSpPr/>
          <p:nvPr/>
        </p:nvSpPr>
        <p:spPr>
          <a:xfrm>
            <a:off x="7406640" y="1747810"/>
            <a:ext cx="457200" cy="347472"/>
          </a:xfrm>
          <a:prstGeom prst="rect">
            <a:avLst/>
          </a:prstGeom>
          <a:noFill/>
          <a:ln/>
        </p:spPr>
        <p:txBody>
          <a:bodyPr wrap="square" lIns="0" tIns="0" rIns="0" bIns="0" rtlCol="0" anchor="ctr"/>
          <a:lstStyle/>
          <a:p>
            <a:pPr marL="0" indent="0" algn="ctr">
              <a:buNone/>
            </a:pPr>
            <a:r>
              <a:rPr lang="en-US" sz="1050" dirty="0">
                <a:solidFill>
                  <a:srgbClr val="1E293B"/>
                </a:solidFill>
                <a:latin typeface="Calibri" pitchFamily="34" charset="0"/>
                <a:ea typeface="Calibri" pitchFamily="34" charset="-122"/>
                <a:cs typeface="Calibri" pitchFamily="34" charset="-120"/>
              </a:rPr>
              <a:t>15</a:t>
            </a:r>
            <a:endParaRPr lang="en-US" sz="1050" dirty="0"/>
          </a:p>
        </p:txBody>
      </p:sp>
      <p:sp>
        <p:nvSpPr>
          <p:cNvPr id="16" name="Text 13"/>
          <p:cNvSpPr/>
          <p:nvPr/>
        </p:nvSpPr>
        <p:spPr>
          <a:xfrm>
            <a:off x="7863840" y="1747810"/>
            <a:ext cx="868680" cy="347472"/>
          </a:xfrm>
          <a:prstGeom prst="rect">
            <a:avLst/>
          </a:prstGeom>
          <a:noFill/>
          <a:ln/>
        </p:spPr>
        <p:txBody>
          <a:bodyPr wrap="square" lIns="0" tIns="0" rIns="0" bIns="0" rtlCol="0" anchor="ctr"/>
          <a:lstStyle/>
          <a:p>
            <a:pPr marL="0" indent="0" algn="r">
              <a:buNone/>
            </a:pPr>
            <a:r>
              <a:rPr lang="en-US" sz="1050" dirty="0">
                <a:solidFill>
                  <a:srgbClr val="1E293B"/>
                </a:solidFill>
                <a:latin typeface="Calibri" pitchFamily="34" charset="0"/>
                <a:ea typeface="Calibri" pitchFamily="34" charset="-122"/>
                <a:cs typeface="Calibri" pitchFamily="34" charset="-120"/>
              </a:rPr>
              <a:t>74k</a:t>
            </a:r>
            <a:endParaRPr lang="en-US" sz="1050" dirty="0"/>
          </a:p>
        </p:txBody>
      </p:sp>
      <p:sp>
        <p:nvSpPr>
          <p:cNvPr id="17" name="Shape 14"/>
          <p:cNvSpPr/>
          <p:nvPr/>
        </p:nvSpPr>
        <p:spPr>
          <a:xfrm>
            <a:off x="6035040" y="2131858"/>
            <a:ext cx="2743200" cy="347472"/>
          </a:xfrm>
          <a:prstGeom prst="rect">
            <a:avLst/>
          </a:prstGeom>
          <a:solidFill>
            <a:srgbClr val="F8FAFC"/>
          </a:solidFill>
          <a:ln w="6350">
            <a:solidFill>
              <a:srgbClr val="E2E8F0"/>
            </a:solidFill>
            <a:prstDash val="solid"/>
          </a:ln>
        </p:spPr>
      </p:sp>
      <p:sp>
        <p:nvSpPr>
          <p:cNvPr id="18" name="Text 15"/>
          <p:cNvSpPr/>
          <p:nvPr/>
        </p:nvSpPr>
        <p:spPr>
          <a:xfrm>
            <a:off x="6126480" y="2131858"/>
            <a:ext cx="1280160" cy="347472"/>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Genie</a:t>
            </a:r>
            <a:endParaRPr lang="en-US" sz="1050" dirty="0"/>
          </a:p>
        </p:txBody>
      </p:sp>
      <p:sp>
        <p:nvSpPr>
          <p:cNvPr id="19" name="Text 16"/>
          <p:cNvSpPr/>
          <p:nvPr/>
        </p:nvSpPr>
        <p:spPr>
          <a:xfrm>
            <a:off x="7406640" y="2131858"/>
            <a:ext cx="457200" cy="347472"/>
          </a:xfrm>
          <a:prstGeom prst="rect">
            <a:avLst/>
          </a:prstGeom>
          <a:noFill/>
          <a:ln/>
        </p:spPr>
        <p:txBody>
          <a:bodyPr wrap="square" lIns="0" tIns="0" rIns="0" bIns="0" rtlCol="0" anchor="ctr"/>
          <a:lstStyle/>
          <a:p>
            <a:pPr marL="0" indent="0" algn="ctr">
              <a:buNone/>
            </a:pPr>
            <a:r>
              <a:rPr lang="en-US" sz="1050" dirty="0">
                <a:solidFill>
                  <a:srgbClr val="1E293B"/>
                </a:solidFill>
                <a:latin typeface="Calibri" pitchFamily="34" charset="0"/>
                <a:ea typeface="Calibri" pitchFamily="34" charset="-122"/>
                <a:cs typeface="Calibri" pitchFamily="34" charset="-120"/>
              </a:rPr>
              <a:t>11</a:t>
            </a:r>
            <a:endParaRPr lang="en-US" sz="1050" dirty="0"/>
          </a:p>
        </p:txBody>
      </p:sp>
      <p:sp>
        <p:nvSpPr>
          <p:cNvPr id="20" name="Text 17"/>
          <p:cNvSpPr/>
          <p:nvPr/>
        </p:nvSpPr>
        <p:spPr>
          <a:xfrm>
            <a:off x="7863840" y="2131858"/>
            <a:ext cx="868680" cy="347472"/>
          </a:xfrm>
          <a:prstGeom prst="rect">
            <a:avLst/>
          </a:prstGeom>
          <a:noFill/>
          <a:ln/>
        </p:spPr>
        <p:txBody>
          <a:bodyPr wrap="square" lIns="0" tIns="0" rIns="0" bIns="0" rtlCol="0" anchor="ctr"/>
          <a:lstStyle/>
          <a:p>
            <a:pPr marL="0" indent="0" algn="r">
              <a:buNone/>
            </a:pPr>
            <a:r>
              <a:rPr lang="en-US" sz="1050" dirty="0">
                <a:solidFill>
                  <a:srgbClr val="1E293B"/>
                </a:solidFill>
                <a:latin typeface="Calibri" pitchFamily="34" charset="0"/>
                <a:ea typeface="Calibri" pitchFamily="34" charset="-122"/>
                <a:cs typeface="Calibri" pitchFamily="34" charset="-120"/>
              </a:rPr>
              <a:t>118k</a:t>
            </a:r>
            <a:endParaRPr lang="en-US" sz="1050" dirty="0"/>
          </a:p>
        </p:txBody>
      </p:sp>
      <p:sp>
        <p:nvSpPr>
          <p:cNvPr id="21" name="Shape 18"/>
          <p:cNvSpPr/>
          <p:nvPr/>
        </p:nvSpPr>
        <p:spPr>
          <a:xfrm>
            <a:off x="6035040" y="2515906"/>
            <a:ext cx="2743200" cy="347472"/>
          </a:xfrm>
          <a:prstGeom prst="rect">
            <a:avLst/>
          </a:prstGeom>
          <a:solidFill>
            <a:srgbClr val="F8FAFC"/>
          </a:solidFill>
          <a:ln w="6350">
            <a:solidFill>
              <a:srgbClr val="E2E8F0"/>
            </a:solidFill>
            <a:prstDash val="solid"/>
          </a:ln>
        </p:spPr>
      </p:sp>
      <p:sp>
        <p:nvSpPr>
          <p:cNvPr id="22" name="Text 19"/>
          <p:cNvSpPr/>
          <p:nvPr/>
        </p:nvSpPr>
        <p:spPr>
          <a:xfrm>
            <a:off x="6126480" y="2515906"/>
            <a:ext cx="1280160" cy="347472"/>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Train-Ticket</a:t>
            </a:r>
            <a:endParaRPr lang="en-US" sz="1050" dirty="0"/>
          </a:p>
        </p:txBody>
      </p:sp>
      <p:sp>
        <p:nvSpPr>
          <p:cNvPr id="23" name="Text 20"/>
          <p:cNvSpPr/>
          <p:nvPr/>
        </p:nvSpPr>
        <p:spPr>
          <a:xfrm>
            <a:off x="7406640" y="2515906"/>
            <a:ext cx="457200" cy="347472"/>
          </a:xfrm>
          <a:prstGeom prst="rect">
            <a:avLst/>
          </a:prstGeom>
          <a:noFill/>
          <a:ln/>
        </p:spPr>
        <p:txBody>
          <a:bodyPr wrap="square" lIns="0" tIns="0" rIns="0" bIns="0" rtlCol="0" anchor="ctr"/>
          <a:lstStyle/>
          <a:p>
            <a:pPr marL="0" indent="0" algn="ctr">
              <a:buNone/>
            </a:pPr>
            <a:r>
              <a:rPr lang="en-US" sz="1050" dirty="0">
                <a:solidFill>
                  <a:srgbClr val="1E293B"/>
                </a:solidFill>
                <a:latin typeface="Calibri" pitchFamily="34" charset="0"/>
                <a:ea typeface="Calibri" pitchFamily="34" charset="-122"/>
                <a:cs typeface="Calibri" pitchFamily="34" charset="-120"/>
              </a:rPr>
              <a:t>42</a:t>
            </a:r>
            <a:endParaRPr lang="en-US" sz="1050" dirty="0"/>
          </a:p>
        </p:txBody>
      </p:sp>
      <p:sp>
        <p:nvSpPr>
          <p:cNvPr id="24" name="Text 21"/>
          <p:cNvSpPr/>
          <p:nvPr/>
        </p:nvSpPr>
        <p:spPr>
          <a:xfrm>
            <a:off x="7863840" y="2515906"/>
            <a:ext cx="868680" cy="347472"/>
          </a:xfrm>
          <a:prstGeom prst="rect">
            <a:avLst/>
          </a:prstGeom>
          <a:noFill/>
          <a:ln/>
        </p:spPr>
        <p:txBody>
          <a:bodyPr wrap="square" lIns="0" tIns="0" rIns="0" bIns="0" rtlCol="0" anchor="ctr"/>
          <a:lstStyle/>
          <a:p>
            <a:pPr marL="0" indent="0" algn="r">
              <a:buNone/>
            </a:pPr>
            <a:r>
              <a:rPr lang="en-US" sz="1050" dirty="0">
                <a:solidFill>
                  <a:srgbClr val="1E293B"/>
                </a:solidFill>
                <a:latin typeface="Calibri" pitchFamily="34" charset="0"/>
                <a:ea typeface="Calibri" pitchFamily="34" charset="-122"/>
                <a:cs typeface="Calibri" pitchFamily="34" charset="-120"/>
              </a:rPr>
              <a:t>38k</a:t>
            </a:r>
            <a:endParaRPr lang="en-US" sz="1050" dirty="0"/>
          </a:p>
        </p:txBody>
      </p:sp>
      <p:sp>
        <p:nvSpPr>
          <p:cNvPr id="25" name="Shape 22"/>
          <p:cNvSpPr/>
          <p:nvPr/>
        </p:nvSpPr>
        <p:spPr>
          <a:xfrm>
            <a:off x="6035040" y="2899954"/>
            <a:ext cx="2743200" cy="347472"/>
          </a:xfrm>
          <a:prstGeom prst="rect">
            <a:avLst/>
          </a:prstGeom>
          <a:solidFill>
            <a:srgbClr val="F8FAFC"/>
          </a:solidFill>
          <a:ln w="6350">
            <a:solidFill>
              <a:srgbClr val="E2E8F0"/>
            </a:solidFill>
            <a:prstDash val="solid"/>
          </a:ln>
        </p:spPr>
      </p:sp>
      <p:sp>
        <p:nvSpPr>
          <p:cNvPr id="26" name="Text 23"/>
          <p:cNvSpPr/>
          <p:nvPr/>
        </p:nvSpPr>
        <p:spPr>
          <a:xfrm>
            <a:off x="6126480" y="2899954"/>
            <a:ext cx="1280160" cy="347472"/>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Apollo-Config</a:t>
            </a:r>
            <a:endParaRPr lang="en-US" sz="1050" dirty="0"/>
          </a:p>
        </p:txBody>
      </p:sp>
      <p:sp>
        <p:nvSpPr>
          <p:cNvPr id="27" name="Text 24"/>
          <p:cNvSpPr/>
          <p:nvPr/>
        </p:nvSpPr>
        <p:spPr>
          <a:xfrm>
            <a:off x="7406640" y="2899954"/>
            <a:ext cx="457200" cy="347472"/>
          </a:xfrm>
          <a:prstGeom prst="rect">
            <a:avLst/>
          </a:prstGeom>
          <a:noFill/>
          <a:ln/>
        </p:spPr>
        <p:txBody>
          <a:bodyPr wrap="square" lIns="0" tIns="0" rIns="0" bIns="0" rtlCol="0" anchor="ctr"/>
          <a:lstStyle/>
          <a:p>
            <a:pPr marL="0" indent="0" algn="ctr">
              <a:buNone/>
            </a:pPr>
            <a:r>
              <a:rPr lang="en-US" sz="1050" dirty="0">
                <a:solidFill>
                  <a:srgbClr val="1E293B"/>
                </a:solidFill>
                <a:latin typeface="Calibri" pitchFamily="34" charset="0"/>
                <a:ea typeface="Calibri" pitchFamily="34" charset="-122"/>
                <a:cs typeface="Calibri" pitchFamily="34" charset="-120"/>
              </a:rPr>
              <a:t>11</a:t>
            </a:r>
            <a:endParaRPr lang="en-US" sz="1050" dirty="0"/>
          </a:p>
        </p:txBody>
      </p:sp>
      <p:sp>
        <p:nvSpPr>
          <p:cNvPr id="28" name="Text 25"/>
          <p:cNvSpPr/>
          <p:nvPr/>
        </p:nvSpPr>
        <p:spPr>
          <a:xfrm>
            <a:off x="7863840" y="2899954"/>
            <a:ext cx="868680" cy="347472"/>
          </a:xfrm>
          <a:prstGeom prst="rect">
            <a:avLst/>
          </a:prstGeom>
          <a:noFill/>
          <a:ln/>
        </p:spPr>
        <p:txBody>
          <a:bodyPr wrap="square" lIns="0" tIns="0" rIns="0" bIns="0" rtlCol="0" anchor="ctr"/>
          <a:lstStyle/>
          <a:p>
            <a:pPr marL="0" indent="0" algn="r">
              <a:buNone/>
            </a:pPr>
            <a:r>
              <a:rPr lang="en-US" sz="1050" dirty="0">
                <a:solidFill>
                  <a:srgbClr val="1E293B"/>
                </a:solidFill>
                <a:latin typeface="Calibri" pitchFamily="34" charset="0"/>
                <a:ea typeface="Calibri" pitchFamily="34" charset="-122"/>
                <a:cs typeface="Calibri" pitchFamily="34" charset="-120"/>
              </a:rPr>
              <a:t>86k</a:t>
            </a:r>
            <a:endParaRPr lang="en-US" sz="1050" dirty="0"/>
          </a:p>
        </p:txBody>
      </p:sp>
      <p:sp>
        <p:nvSpPr>
          <p:cNvPr id="29" name="Shape 26"/>
          <p:cNvSpPr/>
          <p:nvPr/>
        </p:nvSpPr>
        <p:spPr>
          <a:xfrm>
            <a:off x="6035040" y="3284002"/>
            <a:ext cx="2743200" cy="347472"/>
          </a:xfrm>
          <a:prstGeom prst="rect">
            <a:avLst/>
          </a:prstGeom>
          <a:solidFill>
            <a:srgbClr val="0F2A44"/>
          </a:solidFill>
          <a:ln w="6350">
            <a:solidFill>
              <a:srgbClr val="E2E8F0"/>
            </a:solidFill>
            <a:prstDash val="solid"/>
          </a:ln>
        </p:spPr>
      </p:sp>
      <p:sp>
        <p:nvSpPr>
          <p:cNvPr id="30" name="Text 27"/>
          <p:cNvSpPr/>
          <p:nvPr/>
        </p:nvSpPr>
        <p:spPr>
          <a:xfrm>
            <a:off x="6126480" y="3284002"/>
            <a:ext cx="1280160" cy="34747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Total</a:t>
            </a:r>
            <a:endParaRPr lang="en-US" sz="1050" dirty="0"/>
          </a:p>
        </p:txBody>
      </p:sp>
      <p:sp>
        <p:nvSpPr>
          <p:cNvPr id="31" name="Text 28"/>
          <p:cNvSpPr/>
          <p:nvPr/>
        </p:nvSpPr>
        <p:spPr>
          <a:xfrm>
            <a:off x="7406640" y="3284002"/>
            <a:ext cx="457200" cy="347472"/>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99</a:t>
            </a:r>
            <a:endParaRPr lang="en-US" sz="1050" dirty="0"/>
          </a:p>
        </p:txBody>
      </p:sp>
      <p:sp>
        <p:nvSpPr>
          <p:cNvPr id="32" name="Text 29"/>
          <p:cNvSpPr/>
          <p:nvPr/>
        </p:nvSpPr>
        <p:spPr>
          <a:xfrm>
            <a:off x="7863840" y="3284002"/>
            <a:ext cx="868680" cy="347472"/>
          </a:xfrm>
          <a:prstGeom prst="rect">
            <a:avLst/>
          </a:prstGeom>
          <a:noFill/>
          <a:ln/>
        </p:spPr>
        <p:txBody>
          <a:bodyPr wrap="square" lIns="0" tIns="0" rIns="0" bIns="0" rtlCol="0" anchor="ctr"/>
          <a:lstStyle/>
          <a:p>
            <a:pPr marL="0" indent="0" algn="r">
              <a:buNone/>
            </a:pPr>
            <a:r>
              <a:rPr lang="en-US" sz="1050" b="1" dirty="0">
                <a:solidFill>
                  <a:srgbClr val="FFFFFF"/>
                </a:solidFill>
                <a:latin typeface="Calibri" pitchFamily="34" charset="0"/>
                <a:ea typeface="Calibri" pitchFamily="34" charset="-122"/>
                <a:cs typeface="Calibri" pitchFamily="34" charset="-120"/>
              </a:rPr>
              <a:t>335k</a:t>
            </a:r>
            <a:endParaRPr lang="en-US" sz="1050" dirty="0"/>
          </a:p>
        </p:txBody>
      </p:sp>
      <p:sp>
        <p:nvSpPr>
          <p:cNvPr id="34" name="Shape 31"/>
          <p:cNvSpPr/>
          <p:nvPr/>
        </p:nvSpPr>
        <p:spPr>
          <a:xfrm>
            <a:off x="365760" y="3749040"/>
            <a:ext cx="8412480" cy="914400"/>
          </a:xfrm>
          <a:prstGeom prst="rect">
            <a:avLst/>
          </a:prstGeom>
          <a:solidFill>
            <a:srgbClr val="F8FAFC"/>
          </a:solidFill>
          <a:ln w="6350">
            <a:solidFill>
              <a:srgbClr val="E2E8F0"/>
            </a:solidFill>
            <a:prstDash val="solid"/>
          </a:ln>
        </p:spPr>
      </p:sp>
      <p:sp>
        <p:nvSpPr>
          <p:cNvPr id="35" name="Shape 32"/>
          <p:cNvSpPr/>
          <p:nvPr/>
        </p:nvSpPr>
        <p:spPr>
          <a:xfrm>
            <a:off x="365760" y="3749040"/>
            <a:ext cx="54864" cy="914400"/>
          </a:xfrm>
          <a:prstGeom prst="rect">
            <a:avLst/>
          </a:prstGeom>
          <a:solidFill>
            <a:srgbClr val="0D9488"/>
          </a:solidFill>
          <a:ln w="12700">
            <a:solidFill>
              <a:srgbClr val="0D9488"/>
            </a:solidFill>
            <a:prstDash val="solid"/>
          </a:ln>
        </p:spPr>
      </p:sp>
      <p:sp>
        <p:nvSpPr>
          <p:cNvPr id="36" name="Text 33"/>
          <p:cNvSpPr/>
          <p:nvPr/>
        </p:nvSpPr>
        <p:spPr>
          <a:xfrm>
            <a:off x="594360" y="3794760"/>
            <a:ext cx="82296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Findings</a:t>
            </a:r>
            <a:endParaRPr lang="en-US" sz="1200" dirty="0"/>
          </a:p>
        </p:txBody>
      </p:sp>
      <p:sp>
        <p:nvSpPr>
          <p:cNvPr id="37" name="Text 34"/>
          <p:cNvSpPr/>
          <p:nvPr/>
        </p:nvSpPr>
        <p:spPr>
          <a:xfrm>
            <a:off x="731520" y="4069080"/>
            <a:ext cx="7955280" cy="594360"/>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Hardcoded Endpoints (43) and Nano Service (17) dominate — configuration and sizing issues most prevalent.</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ESB Misuse detected in Site-Where (3); Chatty Service in Train-Ticket (4) — validates communication-topology detectors.</a:t>
            </a:r>
            <a:endParaRPr lang="en-US" sz="1100" dirty="0"/>
          </a:p>
        </p:txBody>
      </p:sp>
      <p:sp>
        <p:nvSpPr>
          <p:cNvPr id="38" name="Text 35"/>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39" name="Text 36"/>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9 / 12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D9488"/>
          </a:solidFill>
          <a:ln w="12700">
            <a:solidFill>
              <a:srgbClr val="0D9488"/>
            </a:solidFill>
            <a:prstDash val="solid"/>
          </a:ln>
        </p:spPr>
      </p:sp>
      <p:sp>
        <p:nvSpPr>
          <p:cNvPr id="3" name="Text 1"/>
          <p:cNvSpPr/>
          <p:nvPr/>
        </p:nvSpPr>
        <p:spPr>
          <a:xfrm>
            <a:off x="731520" y="777240"/>
            <a:ext cx="7772400" cy="82296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Live demo</a:t>
            </a:r>
            <a:endParaRPr lang="en-US" sz="5400" dirty="0"/>
          </a:p>
        </p:txBody>
      </p:sp>
      <p:sp>
        <p:nvSpPr>
          <p:cNvPr id="4" name="Text 2"/>
          <p:cNvSpPr/>
          <p:nvPr/>
        </p:nvSpPr>
        <p:spPr>
          <a:xfrm>
            <a:off x="731520" y="1691640"/>
            <a:ext cx="7772400" cy="411480"/>
          </a:xfrm>
          <a:prstGeom prst="rect">
            <a:avLst/>
          </a:prstGeom>
          <a:noFill/>
          <a:ln/>
        </p:spPr>
        <p:txBody>
          <a:bodyPr wrap="square" lIns="0" tIns="0" rIns="0" bIns="0" rtlCol="0" anchor="ctr"/>
          <a:lstStyle/>
          <a:p>
            <a:pPr marL="0" indent="0">
              <a:buNone/>
            </a:pPr>
            <a:r>
              <a:rPr lang="en-US" sz="1800" i="1" dirty="0">
                <a:solidFill>
                  <a:srgbClr val="DBEAFE"/>
                </a:solidFill>
                <a:latin typeface="Calibri" pitchFamily="34" charset="0"/>
                <a:ea typeface="Calibri" pitchFamily="34" charset="-122"/>
                <a:cs typeface="Calibri" pitchFamily="34" charset="-120"/>
              </a:rPr>
              <a:t>Cloning and analysing a microservice project in real time</a:t>
            </a:r>
            <a:endParaRPr lang="en-US" sz="1800" dirty="0"/>
          </a:p>
        </p:txBody>
      </p:sp>
      <p:sp>
        <p:nvSpPr>
          <p:cNvPr id="5" name="Shape 3"/>
          <p:cNvSpPr/>
          <p:nvPr/>
        </p:nvSpPr>
        <p:spPr>
          <a:xfrm>
            <a:off x="731520" y="2468880"/>
            <a:ext cx="7772400" cy="2148840"/>
          </a:xfrm>
          <a:prstGeom prst="rect">
            <a:avLst/>
          </a:prstGeom>
          <a:solidFill>
            <a:srgbClr val="1C4E80"/>
          </a:solidFill>
          <a:ln w="12700">
            <a:solidFill>
              <a:srgbClr val="1C4E80"/>
            </a:solidFill>
            <a:prstDash val="solid"/>
          </a:ln>
        </p:spPr>
      </p:sp>
      <p:sp>
        <p:nvSpPr>
          <p:cNvPr id="6" name="Shape 4"/>
          <p:cNvSpPr/>
          <p:nvPr/>
        </p:nvSpPr>
        <p:spPr>
          <a:xfrm>
            <a:off x="914400" y="2651760"/>
            <a:ext cx="384048" cy="384048"/>
          </a:xfrm>
          <a:prstGeom prst="ellipse">
            <a:avLst/>
          </a:prstGeom>
          <a:solidFill>
            <a:srgbClr val="0D9488"/>
          </a:solidFill>
          <a:ln w="12700">
            <a:solidFill>
              <a:srgbClr val="0D9488"/>
            </a:solidFill>
            <a:prstDash val="solid"/>
          </a:ln>
        </p:spPr>
      </p:sp>
      <p:sp>
        <p:nvSpPr>
          <p:cNvPr id="7" name="Text 5"/>
          <p:cNvSpPr/>
          <p:nvPr/>
        </p:nvSpPr>
        <p:spPr>
          <a:xfrm>
            <a:off x="914400" y="265176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1463040" y="262432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Clone a small repo</a:t>
            </a:r>
            <a:endParaRPr lang="en-US" sz="1400" dirty="0"/>
          </a:p>
        </p:txBody>
      </p:sp>
      <p:sp>
        <p:nvSpPr>
          <p:cNvPr id="9" name="Text 7"/>
          <p:cNvSpPr/>
          <p:nvPr/>
        </p:nvSpPr>
        <p:spPr>
          <a:xfrm>
            <a:off x="1463040" y="286207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Paste a public Git URL, submit, watch the pipeline progress.</a:t>
            </a:r>
            <a:endParaRPr lang="en-US" sz="1100" dirty="0"/>
          </a:p>
        </p:txBody>
      </p:sp>
      <p:sp>
        <p:nvSpPr>
          <p:cNvPr id="10" name="Shape 8"/>
          <p:cNvSpPr/>
          <p:nvPr/>
        </p:nvSpPr>
        <p:spPr>
          <a:xfrm>
            <a:off x="914400" y="3154680"/>
            <a:ext cx="384048" cy="384048"/>
          </a:xfrm>
          <a:prstGeom prst="ellipse">
            <a:avLst/>
          </a:prstGeom>
          <a:solidFill>
            <a:srgbClr val="0D9488"/>
          </a:solidFill>
          <a:ln w="12700">
            <a:solidFill>
              <a:srgbClr val="0D9488"/>
            </a:solidFill>
            <a:prstDash val="solid"/>
          </a:ln>
        </p:spPr>
      </p:sp>
      <p:sp>
        <p:nvSpPr>
          <p:cNvPr id="11" name="Text 9"/>
          <p:cNvSpPr/>
          <p:nvPr/>
        </p:nvSpPr>
        <p:spPr>
          <a:xfrm>
            <a:off x="914400" y="315468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463040" y="312724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Open the results dashboard</a:t>
            </a:r>
            <a:endParaRPr lang="en-US" sz="1400" dirty="0"/>
          </a:p>
        </p:txBody>
      </p:sp>
      <p:sp>
        <p:nvSpPr>
          <p:cNvPr id="13" name="Text 11"/>
          <p:cNvSpPr/>
          <p:nvPr/>
        </p:nvSpPr>
        <p:spPr>
          <a:xfrm>
            <a:off x="1463040" y="336499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Health score gauge, four-category breakdown, summary metrics.</a:t>
            </a:r>
            <a:endParaRPr lang="en-US" sz="1100" dirty="0"/>
          </a:p>
        </p:txBody>
      </p:sp>
      <p:sp>
        <p:nvSpPr>
          <p:cNvPr id="14" name="Shape 12"/>
          <p:cNvSpPr/>
          <p:nvPr/>
        </p:nvSpPr>
        <p:spPr>
          <a:xfrm>
            <a:off x="914400" y="3657600"/>
            <a:ext cx="384048" cy="384048"/>
          </a:xfrm>
          <a:prstGeom prst="ellipse">
            <a:avLst/>
          </a:prstGeom>
          <a:solidFill>
            <a:srgbClr val="0D9488"/>
          </a:solidFill>
          <a:ln w="12700">
            <a:solidFill>
              <a:srgbClr val="0D9488"/>
            </a:solidFill>
            <a:prstDash val="solid"/>
          </a:ln>
        </p:spPr>
      </p:sp>
      <p:sp>
        <p:nvSpPr>
          <p:cNvPr id="15" name="Text 13"/>
          <p:cNvSpPr/>
          <p:nvPr/>
        </p:nvSpPr>
        <p:spPr>
          <a:xfrm>
            <a:off x="914400" y="365760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p:nvPr/>
        </p:nvSpPr>
        <p:spPr>
          <a:xfrm>
            <a:off x="1463040" y="363016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Drill into a finding</a:t>
            </a:r>
            <a:endParaRPr lang="en-US" sz="1400" dirty="0"/>
          </a:p>
        </p:txBody>
      </p:sp>
      <p:sp>
        <p:nvSpPr>
          <p:cNvPr id="17" name="Text 15"/>
          <p:cNvSpPr/>
          <p:nvPr/>
        </p:nvSpPr>
        <p:spPr>
          <a:xfrm>
            <a:off x="1463040" y="386791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Expand an anti-pattern card to see source-code evidence and remediation.</a:t>
            </a:r>
            <a:endParaRPr lang="en-US" sz="1100" dirty="0"/>
          </a:p>
        </p:txBody>
      </p:sp>
      <p:sp>
        <p:nvSpPr>
          <p:cNvPr id="18" name="Shape 16"/>
          <p:cNvSpPr/>
          <p:nvPr/>
        </p:nvSpPr>
        <p:spPr>
          <a:xfrm>
            <a:off x="914400" y="4160520"/>
            <a:ext cx="384048" cy="384048"/>
          </a:xfrm>
          <a:prstGeom prst="ellipse">
            <a:avLst/>
          </a:prstGeom>
          <a:solidFill>
            <a:srgbClr val="0D9488"/>
          </a:solidFill>
          <a:ln w="12700">
            <a:solidFill>
              <a:srgbClr val="0D9488"/>
            </a:solidFill>
            <a:prstDash val="solid"/>
          </a:ln>
        </p:spPr>
      </p:sp>
      <p:sp>
        <p:nvSpPr>
          <p:cNvPr id="19" name="Text 17"/>
          <p:cNvSpPr/>
          <p:nvPr/>
        </p:nvSpPr>
        <p:spPr>
          <a:xfrm>
            <a:off x="914400" y="416052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0" name="Text 18"/>
          <p:cNvSpPr/>
          <p:nvPr/>
        </p:nvSpPr>
        <p:spPr>
          <a:xfrm>
            <a:off x="1463040" y="413308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Explore the dependency graph</a:t>
            </a:r>
            <a:endParaRPr lang="en-US" sz="1400" dirty="0"/>
          </a:p>
        </p:txBody>
      </p:sp>
      <p:sp>
        <p:nvSpPr>
          <p:cNvPr id="21" name="Text 19"/>
          <p:cNvSpPr/>
          <p:nvPr/>
        </p:nvSpPr>
        <p:spPr>
          <a:xfrm>
            <a:off x="1463040" y="437083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Interactive Cytoscape view of inter-service edges.</a:t>
            </a:r>
            <a:endParaRPr lang="en-US" sz="1100" dirty="0"/>
          </a:p>
        </p:txBody>
      </p:sp>
      <p:sp>
        <p:nvSpPr>
          <p:cNvPr id="22" name="Text 20"/>
          <p:cNvSpPr/>
          <p:nvPr/>
        </p:nvSpPr>
        <p:spPr>
          <a:xfrm>
            <a:off x="731520" y="4846320"/>
            <a:ext cx="5486400" cy="228600"/>
          </a:xfrm>
          <a:prstGeom prst="rect">
            <a:avLst/>
          </a:prstGeom>
          <a:noFill/>
          <a:ln/>
        </p:spPr>
        <p:txBody>
          <a:bodyPr wrap="square" rtlCol="0" anchor="ctr"/>
          <a:lstStyle/>
          <a:p>
            <a:pPr marL="0" indent="0">
              <a:buNone/>
            </a:pPr>
            <a:r>
              <a:rPr lang="en-US" sz="900" dirty="0">
                <a:solidFill>
                  <a:srgbClr val="DBEAFE"/>
                </a:solidFill>
                <a:latin typeface="Calibri" pitchFamily="34" charset="0"/>
                <a:ea typeface="Calibri" pitchFamily="34" charset="-122"/>
                <a:cs typeface="Calibri" pitchFamily="34" charset="-120"/>
              </a:rPr>
              <a:t>MSA Detector  •  Iacob Andrei  •  UBB FMI</a:t>
            </a:r>
            <a:endParaRPr lang="en-US" sz="900" dirty="0"/>
          </a:p>
        </p:txBody>
      </p:sp>
      <p:sp>
        <p:nvSpPr>
          <p:cNvPr id="23" name="Text 21"/>
          <p:cNvSpPr/>
          <p:nvPr/>
        </p:nvSpPr>
        <p:spPr>
          <a:xfrm>
            <a:off x="7680960" y="4846320"/>
            <a:ext cx="731520" cy="228600"/>
          </a:xfrm>
          <a:prstGeom prst="rect">
            <a:avLst/>
          </a:prstGeom>
          <a:noFill/>
          <a:ln/>
        </p:spPr>
        <p:txBody>
          <a:bodyPr wrap="square" rtlCol="0" anchor="ctr"/>
          <a:lstStyle/>
          <a:p>
            <a:pPr marL="0" indent="0" algn="r">
              <a:buNone/>
            </a:pPr>
            <a:r>
              <a:rPr lang="en-US" sz="900" dirty="0">
                <a:solidFill>
                  <a:srgbClr val="DBEAFE"/>
                </a:solidFill>
                <a:latin typeface="Calibri" pitchFamily="34" charset="0"/>
                <a:ea typeface="Calibri" pitchFamily="34" charset="-122"/>
                <a:cs typeface="Calibri" pitchFamily="34" charset="-120"/>
              </a:rPr>
              <a:t>10 / 12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Limitations &amp; future work</a:t>
            </a:r>
            <a:endParaRPr lang="en-US" sz="2800" dirty="0"/>
          </a:p>
        </p:txBody>
      </p:sp>
      <p:sp>
        <p:nvSpPr>
          <p:cNvPr id="3" name="Shape 1"/>
          <p:cNvSpPr/>
          <p:nvPr/>
        </p:nvSpPr>
        <p:spPr>
          <a:xfrm>
            <a:off x="457200" y="914400"/>
            <a:ext cx="4023360" cy="3657600"/>
          </a:xfrm>
          <a:prstGeom prst="rect">
            <a:avLst/>
          </a:prstGeom>
          <a:solidFill>
            <a:srgbClr val="F8FAFC"/>
          </a:solidFill>
          <a:ln w="9525">
            <a:solidFill>
              <a:srgbClr val="E2E8F0"/>
            </a:solidFill>
            <a:prstDash val="solid"/>
          </a:ln>
        </p:spPr>
      </p:sp>
      <p:sp>
        <p:nvSpPr>
          <p:cNvPr id="4" name="Shape 2"/>
          <p:cNvSpPr/>
          <p:nvPr/>
        </p:nvSpPr>
        <p:spPr>
          <a:xfrm>
            <a:off x="457200" y="914400"/>
            <a:ext cx="54864" cy="3657600"/>
          </a:xfrm>
          <a:prstGeom prst="rect">
            <a:avLst/>
          </a:prstGeom>
          <a:solidFill>
            <a:srgbClr val="D97706"/>
          </a:solidFill>
          <a:ln w="12700">
            <a:solidFill>
              <a:srgbClr val="D97706"/>
            </a:solidFill>
            <a:prstDash val="solid"/>
          </a:ln>
        </p:spPr>
      </p:sp>
      <p:sp>
        <p:nvSpPr>
          <p:cNvPr id="5" name="Shape 3"/>
          <p:cNvSpPr/>
          <p:nvPr/>
        </p:nvSpPr>
        <p:spPr>
          <a:xfrm>
            <a:off x="640080" y="1051560"/>
            <a:ext cx="411480" cy="411480"/>
          </a:xfrm>
          <a:prstGeom prst="roundRect">
            <a:avLst>
              <a:gd name="adj" fmla="val 17778"/>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sp>
      <p:pic>
        <p:nvPicPr>
          <p:cNvPr id="6" name="Image 0" descr="preencoded.png"/>
          <p:cNvPicPr>
            <a:picLocks noChangeAspect="1"/>
          </p:cNvPicPr>
          <p:nvPr/>
        </p:nvPicPr>
        <p:blipFill>
          <a:blip r:embed="rId3"/>
          <a:stretch>
            <a:fillRect/>
          </a:stretch>
        </p:blipFill>
        <p:spPr>
          <a:xfrm>
            <a:off x="730606" y="1142086"/>
            <a:ext cx="230429" cy="230429"/>
          </a:xfrm>
          <a:prstGeom prst="rect">
            <a:avLst/>
          </a:prstGeom>
        </p:spPr>
      </p:pic>
      <p:sp>
        <p:nvSpPr>
          <p:cNvPr id="7" name="Text 4"/>
          <p:cNvSpPr/>
          <p:nvPr/>
        </p:nvSpPr>
        <p:spPr>
          <a:xfrm>
            <a:off x="1143000" y="1060704"/>
            <a:ext cx="3200400" cy="365760"/>
          </a:xfrm>
          <a:prstGeom prst="rect">
            <a:avLst/>
          </a:prstGeom>
          <a:noFill/>
          <a:ln/>
        </p:spPr>
        <p:txBody>
          <a:bodyPr wrap="square" lIns="0" tIns="0" rIns="0" bIns="0" rtlCol="0" anchor="ctr"/>
          <a:lstStyle/>
          <a:p>
            <a:pPr marL="0" indent="0">
              <a:buNone/>
            </a:pPr>
            <a:r>
              <a:rPr lang="en-US" sz="1600" b="1" dirty="0">
                <a:solidFill>
                  <a:srgbClr val="0F2A44"/>
                </a:solidFill>
                <a:latin typeface="Calibri" pitchFamily="34" charset="0"/>
                <a:ea typeface="Calibri" pitchFamily="34" charset="-122"/>
                <a:cs typeface="Calibri" pitchFamily="34" charset="-120"/>
              </a:rPr>
              <a:t>Limitations</a:t>
            </a:r>
            <a:endParaRPr lang="en-US" sz="1600" dirty="0"/>
          </a:p>
        </p:txBody>
      </p:sp>
      <p:sp>
        <p:nvSpPr>
          <p:cNvPr id="8" name="Text 5"/>
          <p:cNvSpPr/>
          <p:nvPr/>
        </p:nvSpPr>
        <p:spPr>
          <a:xfrm>
            <a:off x="731520" y="1554480"/>
            <a:ext cx="3657600" cy="2926080"/>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Java / Spring Boot only; polyglot systems not supported.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Static analysis only — no runtime call frequency data.</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Health score weights chosen by engineering judgement, not empirically calibrated.</a:t>
            </a:r>
            <a:endParaRPr lang="en-US" sz="1150" dirty="0"/>
          </a:p>
        </p:txBody>
      </p:sp>
      <p:sp>
        <p:nvSpPr>
          <p:cNvPr id="9" name="Shape 6"/>
          <p:cNvSpPr/>
          <p:nvPr/>
        </p:nvSpPr>
        <p:spPr>
          <a:xfrm>
            <a:off x="4663440" y="914400"/>
            <a:ext cx="4023360" cy="3657600"/>
          </a:xfrm>
          <a:prstGeom prst="rect">
            <a:avLst/>
          </a:prstGeom>
          <a:solidFill>
            <a:srgbClr val="F8FAFC"/>
          </a:solidFill>
          <a:ln w="9525">
            <a:solidFill>
              <a:srgbClr val="E2E8F0"/>
            </a:solidFill>
            <a:prstDash val="solid"/>
          </a:ln>
        </p:spPr>
      </p:sp>
      <p:sp>
        <p:nvSpPr>
          <p:cNvPr id="10" name="Shape 7"/>
          <p:cNvSpPr/>
          <p:nvPr/>
        </p:nvSpPr>
        <p:spPr>
          <a:xfrm>
            <a:off x="4663440" y="914400"/>
            <a:ext cx="54864" cy="3657600"/>
          </a:xfrm>
          <a:prstGeom prst="rect">
            <a:avLst/>
          </a:prstGeom>
          <a:solidFill>
            <a:srgbClr val="0D9488"/>
          </a:solidFill>
          <a:ln w="12700">
            <a:solidFill>
              <a:srgbClr val="0D9488"/>
            </a:solidFill>
            <a:prstDash val="solid"/>
          </a:ln>
        </p:spPr>
      </p:sp>
      <p:sp>
        <p:nvSpPr>
          <p:cNvPr id="11" name="Shape 8"/>
          <p:cNvSpPr/>
          <p:nvPr/>
        </p:nvSpPr>
        <p:spPr>
          <a:xfrm>
            <a:off x="4846320" y="1051560"/>
            <a:ext cx="411480" cy="411480"/>
          </a:xfrm>
          <a:prstGeom prst="roundRect">
            <a:avLst>
              <a:gd name="adj" fmla="val 17778"/>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sp>
      <p:pic>
        <p:nvPicPr>
          <p:cNvPr id="12" name="Image 1" descr="preencoded.png"/>
          <p:cNvPicPr>
            <a:picLocks noChangeAspect="1"/>
          </p:cNvPicPr>
          <p:nvPr/>
        </p:nvPicPr>
        <p:blipFill>
          <a:blip r:embed="rId4"/>
          <a:stretch>
            <a:fillRect/>
          </a:stretch>
        </p:blipFill>
        <p:spPr>
          <a:xfrm>
            <a:off x="4936846" y="1142086"/>
            <a:ext cx="230429" cy="230429"/>
          </a:xfrm>
          <a:prstGeom prst="rect">
            <a:avLst/>
          </a:prstGeom>
        </p:spPr>
      </p:pic>
      <p:sp>
        <p:nvSpPr>
          <p:cNvPr id="13" name="Text 9"/>
          <p:cNvSpPr/>
          <p:nvPr/>
        </p:nvSpPr>
        <p:spPr>
          <a:xfrm>
            <a:off x="5349240" y="1060704"/>
            <a:ext cx="3200400" cy="365760"/>
          </a:xfrm>
          <a:prstGeom prst="rect">
            <a:avLst/>
          </a:prstGeom>
          <a:noFill/>
          <a:ln/>
        </p:spPr>
        <p:txBody>
          <a:bodyPr wrap="square" lIns="0" tIns="0" rIns="0" bIns="0" rtlCol="0" anchor="ctr"/>
          <a:lstStyle/>
          <a:p>
            <a:pPr marL="0" indent="0">
              <a:buNone/>
            </a:pPr>
            <a:r>
              <a:rPr lang="en-US" sz="1600" b="1" dirty="0">
                <a:solidFill>
                  <a:srgbClr val="0F2A44"/>
                </a:solidFill>
                <a:latin typeface="Calibri" pitchFamily="34" charset="0"/>
                <a:ea typeface="Calibri" pitchFamily="34" charset="-122"/>
                <a:cs typeface="Calibri" pitchFamily="34" charset="-120"/>
              </a:rPr>
              <a:t>Future work</a:t>
            </a:r>
            <a:endParaRPr lang="en-US" sz="1600" dirty="0"/>
          </a:p>
        </p:txBody>
      </p:sp>
      <p:sp>
        <p:nvSpPr>
          <p:cNvPr id="14" name="Text 10"/>
          <p:cNvSpPr/>
          <p:nvPr/>
        </p:nvSpPr>
        <p:spPr>
          <a:xfrm>
            <a:off x="4937760" y="1554480"/>
            <a:ext cx="3657600" cy="2926080"/>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Multi-language support (Python, Go, .NET, Node.js) via language-agnostic dependency graphs from Docker Compose / Kubernetes manifests.</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Extend anti-pattern catalogue (timeout misconfiguration, missing API gateway).</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ML-based detection: classifiers on labelled datasets or graph neural networks on the dependency graph.</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Empirical threshold calibration across an industrial corpus.</a:t>
            </a:r>
            <a:endParaRPr lang="en-US" sz="1150" dirty="0"/>
          </a:p>
        </p:txBody>
      </p:sp>
      <p:sp>
        <p:nvSpPr>
          <p:cNvPr id="15" name="Text 11"/>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16" name="Text 12"/>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11 / 12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D9488"/>
          </a:solidFill>
          <a:ln w="12700">
            <a:solidFill>
              <a:srgbClr val="0D9488"/>
            </a:solidFill>
            <a:prstDash val="solid"/>
          </a:ln>
        </p:spPr>
      </p:sp>
      <p:sp>
        <p:nvSpPr>
          <p:cNvPr id="3" name="Text 1"/>
          <p:cNvSpPr/>
          <p:nvPr/>
        </p:nvSpPr>
        <p:spPr>
          <a:xfrm>
            <a:off x="731520" y="914400"/>
            <a:ext cx="7772400" cy="731520"/>
          </a:xfrm>
          <a:prstGeom prst="rect">
            <a:avLst/>
          </a:prstGeom>
          <a:noFill/>
          <a:ln/>
        </p:spPr>
        <p:txBody>
          <a:bodyPr wrap="square" lIns="0" tIns="0" rIns="0" bIns="0" rtlCol="0" anchor="ctr"/>
          <a:lstStyle/>
          <a:p>
            <a:pPr marL="0" indent="0">
              <a:buNone/>
            </a:pPr>
            <a:r>
              <a:rPr lang="en-US" sz="4800" b="1" dirty="0">
                <a:solidFill>
                  <a:srgbClr val="FFFFFF"/>
                </a:solidFill>
                <a:latin typeface="Calibri" pitchFamily="34" charset="0"/>
                <a:ea typeface="Calibri" pitchFamily="34" charset="-122"/>
                <a:cs typeface="Calibri" pitchFamily="34" charset="-120"/>
              </a:rPr>
              <a:t>Thank you</a:t>
            </a:r>
            <a:endParaRPr lang="en-US" sz="4800" dirty="0"/>
          </a:p>
        </p:txBody>
      </p:sp>
      <p:sp>
        <p:nvSpPr>
          <p:cNvPr id="4" name="Text 2"/>
          <p:cNvSpPr/>
          <p:nvPr/>
        </p:nvSpPr>
        <p:spPr>
          <a:xfrm>
            <a:off x="731520" y="1737360"/>
            <a:ext cx="7772400" cy="411480"/>
          </a:xfrm>
          <a:prstGeom prst="rect">
            <a:avLst/>
          </a:prstGeom>
          <a:noFill/>
          <a:ln/>
        </p:spPr>
        <p:txBody>
          <a:bodyPr wrap="square" lIns="0" tIns="0" rIns="0" bIns="0" rtlCol="0" anchor="ctr"/>
          <a:lstStyle/>
          <a:p>
            <a:pPr marL="0" indent="0">
              <a:buNone/>
            </a:pPr>
            <a:r>
              <a:rPr lang="en-US" sz="2000" i="1" dirty="0">
                <a:solidFill>
                  <a:srgbClr val="DBEAFE"/>
                </a:solidFill>
                <a:latin typeface="Calibri" pitchFamily="34" charset="0"/>
                <a:ea typeface="Calibri" pitchFamily="34" charset="-122"/>
                <a:cs typeface="Calibri" pitchFamily="34" charset="-120"/>
              </a:rPr>
              <a:t>Questions &amp; discussion</a:t>
            </a:r>
            <a:endParaRPr lang="en-US" sz="2000" dirty="0"/>
          </a:p>
        </p:txBody>
      </p:sp>
      <p:sp>
        <p:nvSpPr>
          <p:cNvPr id="5" name="Shape 3"/>
          <p:cNvSpPr/>
          <p:nvPr/>
        </p:nvSpPr>
        <p:spPr>
          <a:xfrm>
            <a:off x="731520" y="2606040"/>
            <a:ext cx="7772400" cy="1783080"/>
          </a:xfrm>
          <a:prstGeom prst="rect">
            <a:avLst/>
          </a:prstGeom>
          <a:solidFill>
            <a:srgbClr val="1C4E80"/>
          </a:solidFill>
          <a:ln w="12700">
            <a:solidFill>
              <a:srgbClr val="1C4E80"/>
            </a:solidFill>
            <a:prstDash val="solid"/>
          </a:ln>
        </p:spPr>
      </p:sp>
      <p:sp>
        <p:nvSpPr>
          <p:cNvPr id="6" name="Text 4"/>
          <p:cNvSpPr/>
          <p:nvPr/>
        </p:nvSpPr>
        <p:spPr>
          <a:xfrm>
            <a:off x="914400" y="2697480"/>
            <a:ext cx="7498080" cy="320040"/>
          </a:xfrm>
          <a:prstGeom prst="rect">
            <a:avLst/>
          </a:prstGeom>
          <a:noFill/>
          <a:ln/>
        </p:spPr>
        <p:txBody>
          <a:bodyPr wrap="square" lIns="0" tIns="0" rIns="0" bIns="0" rtlCol="0" anchor="ctr"/>
          <a:lstStyle/>
          <a:p>
            <a:pPr marL="0" indent="0">
              <a:buNone/>
            </a:pPr>
            <a:r>
              <a:rPr lang="en-US" sz="1400" b="1" dirty="0">
                <a:solidFill>
                  <a:srgbClr val="DBEAFE"/>
                </a:solidFill>
                <a:latin typeface="Calibri" pitchFamily="34" charset="0"/>
                <a:ea typeface="Calibri" pitchFamily="34" charset="-122"/>
                <a:cs typeface="Calibri" pitchFamily="34" charset="-120"/>
              </a:rPr>
              <a:t>Recap</a:t>
            </a:r>
            <a:endParaRPr lang="en-US" sz="1400" dirty="0"/>
          </a:p>
        </p:txBody>
      </p:sp>
      <p:sp>
        <p:nvSpPr>
          <p:cNvPr id="7" name="Text 5"/>
          <p:cNvSpPr/>
          <p:nvPr/>
        </p:nvSpPr>
        <p:spPr>
          <a:xfrm>
            <a:off x="1097280" y="3017520"/>
            <a:ext cx="7315200" cy="1371600"/>
          </a:xfrm>
          <a:prstGeom prst="rect">
            <a:avLst/>
          </a:prstGeom>
          <a:noFill/>
          <a:ln/>
        </p:spPr>
        <p:txBody>
          <a:bodyPr wrap="square" lIns="0" tIns="0" rIns="0" bIns="0" rtlCol="0" anchor="ctr"/>
          <a:lstStyle/>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Multi-level static analysis combining code smells and architectural metrics.</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Ten anti-patterns, configurable thresholds, evidence-based reporting.</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Composite health score with four-category decomposition and analysis diff.</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Open-source web application, ready for CI/CD integration.</a:t>
            </a:r>
            <a:endParaRPr lang="en-US" sz="1300" dirty="0"/>
          </a:p>
        </p:txBody>
      </p:sp>
      <p:sp>
        <p:nvSpPr>
          <p:cNvPr id="8" name="Text 6"/>
          <p:cNvSpPr/>
          <p:nvPr/>
        </p:nvSpPr>
        <p:spPr>
          <a:xfrm>
            <a:off x="731520" y="4572000"/>
            <a:ext cx="7772400" cy="274320"/>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Iacob Andrei  •  Supervisor: Prof. Dr. Simona Motogna  •  UBB FMI</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3868</Words>
  <Application>Microsoft Office PowerPoint</Application>
  <PresentationFormat>On-screen Show (16:9)</PresentationFormat>
  <Paragraphs>244</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MSA Detector — Master's Dissertation Defense</dc:title>
  <dc:subject>PptxGenJS Presentation</dc:subject>
  <dc:creator>Iacob Andrei</dc:creator>
  <cp:lastModifiedBy>iacob andrei</cp:lastModifiedBy>
  <cp:revision>2</cp:revision>
  <dcterms:created xsi:type="dcterms:W3CDTF">2026-05-27T16:35:44Z</dcterms:created>
  <dcterms:modified xsi:type="dcterms:W3CDTF">2026-05-27T16:37:42Z</dcterms:modified>
</cp:coreProperties>
</file>