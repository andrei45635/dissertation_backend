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0F2A44"/>
                </a:solidFill>
                <a:latin typeface="Calibri"/>
              </a:defRPr>
            </a:pPr>
            <a:r>
              <a:rPr lang="en-US" sz="13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Site-Where</c:v>
                </c:pt>
                <c:pt idx="4">
                  <c:v>RuoYi</c:v>
                </c:pt>
                <c:pt idx="5">
                  <c:v>design-pat.</c:v>
                </c:pt>
                <c:pt idx="6">
                  <c:v>mall-swarm</c:v>
                </c:pt>
                <c:pt idx="7">
                  <c:v>NetworkDisk</c:v>
                </c:pt>
                <c:pt idx="8">
                  <c:v>piomin</c:v>
                </c:pt>
                <c:pt idx="9">
                  <c:v>Train-Ticket</c:v>
                </c:pt>
                <c:pt idx="10">
                  <c:v>recruit</c:v>
                </c:pt>
              </c:strCache>
            </c:strRef>
          </c:cat>
          <c:val>
            <c:numRef>
              <c:f>Sheet1!$B$2:$B$12</c:f>
              <c:numCache>
                <c:formatCode>General</c:formatCode>
                <c:ptCount val="11"/>
                <c:pt idx="0">
                  <c:v>83</c:v>
                </c:pt>
                <c:pt idx="1">
                  <c:v>75</c:v>
                </c:pt>
                <c:pt idx="2">
                  <c:v>71</c:v>
                </c:pt>
                <c:pt idx="3">
                  <c:v>69</c:v>
                </c:pt>
                <c:pt idx="4">
                  <c:v>68</c:v>
                </c:pt>
                <c:pt idx="5">
                  <c:v>60</c:v>
                </c:pt>
                <c:pt idx="6">
                  <c:v>53</c:v>
                </c:pt>
                <c:pt idx="7">
                  <c:v>52</c:v>
                </c:pt>
                <c:pt idx="8">
                  <c:v>51</c:v>
                </c:pt>
                <c:pt idx="9">
                  <c:v>40</c:v>
                </c:pt>
                <c:pt idx="10">
                  <c:v>40</c:v>
                </c:pt>
              </c:numCache>
            </c:numRef>
          </c:val>
          <c:extLst>
            <c:ext xmlns:c16="http://schemas.microsoft.com/office/drawing/2014/chart" uri="{C3380CC4-5D6E-409C-BE32-E72D297353CC}">
              <c16:uniqueId val="{00000000-31D1-4732-925F-56950074362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940597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'Good morning. My name is Andrei Iacob, and today I'll be defending my dissertation: MSA Detector — a tool for detecting architectural anti-patterns in Java-based microservice systems. My supervisor is Professor Simona Motogna.'
You can add: 'The core idea is straightforward — as organisations adopt microservices, they often unknowingly introduce structural problems that erode the very benefits they were after. This tool helps catch those problems early, from a source code checkout, before they become production incidents.'
Keep this short — about 30 seconds. Don't introduce content yet; that's the next slide.
Breathe, slow down. The committee already knows your name from the schedule, so this is just orientation.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here. This frames why the tool exists.
Talking points:
• Microservices have become the default for new large systems. But tooling for architectural quality hasn't kept up.
• Teams ship anti-patterns — shared DBs, cycles, services that are either too small or too big — and they only find out when deployment friction or cascading failures appear in production.
• Existing academic tools each handle a slice: Arcan does code-level cycles, MicroART visualises architecture, MSANose detects some microservice smells. None combine code-level smells with architectural-level analysis.
• Even when something IS detected, the output is usually an abstract warning. Developers don't act on warnings without code evidence and remediation guidance.
You can mention a concrete example: 'For instance, a shared database between two services looks harmless at first — both teams just point at the same Postgres instance. But over time, schema changes in one service silently break the other, and you've lost independent deployability — arguably the single biggest reason to use microservices in the first place.'
Pivot to next slide: 'So the goal of this work was a tool that bridges both levels and outputs actionable findings.'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here. Don't read the slide — talk to it.
What to actually say:
• 'The work has five contributions. The first is the multi-level analysis itself — using code-level signals like God Class frequency to flag architectural problems like God Service. That bridge between abstraction levels is the central novelty.'
• 'Second, ten anti-patterns across four dimensions — broader coverage than any single existing tool.'
• 'Third, automated microservice boundary detection via a three-signal deployability gate — framework entry points, Dockerfiles,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Bridge to next slide: 'To give you a clearer picture of how these pieces fit together, let me walk you through the analysis pipeline — from the moment a project is uploaded to the final report.'
Don't dwell on each one. They'll see the details later. This slide sets expectations for the rest of the talk.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~2 minutes here. This is the spine of the talk — get the pipeline right and everything else follows.
Walk left to right:
• Ingest: user uploads a ZIP or pastes a Git URL. The system extracts/clones and creates an analysis job.
• Service detection: scan for build files — pom.xml, build.gradle, build.gradle.kts. Filter out non-service modules using exclusion keywords and aggregator checks. Then apply a three-signal deployability gate: framework entry point (HIGH), Dockerfile (MEDIUM), main() method (LOW). Only candidates passing at least one signal are kept.
• Intra-service analysis runs DesigniteJava as a subprocess for code smells. Inter-service uses Spoon AST to find @FeignClient, RestTemplate, WebClient calls and build the dependency graph.
• Then ten detectors run over that graph + the smells. Each is a Spring component implementing a common interface — Strategy pattern.
• Finally results are assembled, the health score is computed, the dependency graph is serialised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RestTemplate.exchange calls, WebClient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~90–120 seconds. This is the slide that demonstrates the multi-level claim.
Talking points:
• 'I picked God Service as the example because it's the cleanest illustration of how code-level signals feed an architectural-level finding.'
• Walk through left side: 'DesigniteJava detects God Class smells per class. Those are persisted as CodeSmell entities in the database. The God Service detector then queries that table and flags any microservice containing one or more God Classes.'
• Right side: 'But what if DesigniteJava fails or is disabled? The detector falls back to its own Spoon-based analysis using six structural metrics. A class is flagged if it exceeds at least three.'
• On TCC: 'Tight Class Cohesion measures the fraction of method pairs that share an instance field access. Low TCC means the methods operate on disjoint state — a sign of unrelated responsibilities packed into one class.'
EXPECT THIS QUESTION: 'Why threshold = 1? One God Class shouldn't flag a service.'
Answer: 'The default is intentionally sensitive. False positives are cheap to dismiss. False negatives — architectural debt growing undetected — are expensive. The threshold is configurable; teams in production would calibrate it. Even one God Class concentrates responsibilities enough to warrant a look.'
You can also note: 'The dual-path approach — DesigniteJava primary, Spoon fallback — is a pattern I used across several detectors. It makes the tool resilient to external-tool failures and also lets us cross-validate results when both paths are available.'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 about 45 seconds. Don't read every detector aloud.
What to say:
• 'These are the ten detectors, organised by architectural dimension. Each is a Spring component implementing a common interface, so adding a new detector means writing one class — no orchestrator changes.'
• 'Severities feed directly into the health score: critical issues cost 8 points, high cost 5, medium cost 3.'
• 'I won't walk through each detector — they're in Chapter 3 of the thesis. I'll focus on the scoring mechanism next.'
If a committee member asks about a specific detector:
• Shared DB — group services by spring.datasource.url, flag groups of size &gt; 1
• Cyclic Dependency — Tarjan's SCC on the dep graph, any SCC &gt; 1 vertex is a cycle
• Chatty Service — call count per edge ≥ 10 OR a Feign interface with ≥ 10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Feature Envy count OR bidirectional edges
Worth saying aloud: 'The severity levels aren't arbitrary — they reflect how much damage the anti-pattern can cause. Cyclic Dependency and Distributed Monolith are critical because they undermine independent deployability entirely. Hardcoded Endpoints and API Versioning are medium because they're easier to fix and their impact is more localised.'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Talking points:
• 'The composite score is a sum of four independent categories. Each has its own budget — Anti-Patterns is 40 points, Code Quality 20, Architecture 25, Service Sizing 15. Total: 100.'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itemised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
You can also add: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~75 seconds. This slide makes the scoring reproducible.
Walk through it:
•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This demonstrates that the scoring is transparent and that the breakdown shows exactly what's wrong.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
If time allows, mention: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~90 seconds.
Talking points:
• 'I evaluated on eleven open-source Spring Boot projects, spanning from piomin at 1.3k LOC to mall-swarm at 86k LOC. 130 microservices, about 274k LOC total.'
• 'Health scores ranged from 40 to 83 — the scoring mechanism produces meaningful spread.'
• 'The dominant findings are configuration and sizing issues: 43 hardcoded endpoints, 37 API versioning absences, 23 nano services. Cyclic Dependency and Wrong Cuts were detected in microservice-recruit. Adding PiggyMetrics and piomin broadened ESB Misuse and Nano Service coverage.'
• '126 total anti-pattern instances across 9 distinct types. Only Distributed Monolith was not detected — plausible given these projects' topologies.'
You can add: 'The score range — 40 to 83 — shows that the metric has useful discriminating power. Projects known to be well-structured like MicroSocial score highest; projects known to have issues like Train-Ticket and microservice-recruit score lowest. If every project scored 70, the metric wouldn't be telling us much.'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~60 seconds. This is your honesty slide — committee will respect frankness here.
Talking points:
• 'The tool has real limitations. The biggest is the Java/Spring Boot restriction — real-world systems are polyglot, and the current tool can't analyse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8.png"/><Relationship Id="rId7"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6400800" y="0"/>
            <a:ext cx="2743200" cy="5143500"/>
          </a:xfrm>
          <a:prstGeom prst="rect">
            <a:avLst/>
          </a:prstGeom>
          <a:solidFill>
            <a:srgbClr val="1C4E80"/>
          </a:solidFill>
          <a:ln w="12700">
            <a:solidFill>
              <a:srgbClr val="1C4E80"/>
            </a:solidFill>
            <a:prstDash val="solid"/>
          </a:ln>
        </p:spPr>
      </p:sp>
      <p:sp>
        <p:nvSpPr>
          <p:cNvPr id="3" name="Shape 1"/>
          <p:cNvSpPr/>
          <p:nvPr/>
        </p:nvSpPr>
        <p:spPr>
          <a:xfrm>
            <a:off x="6355080" y="0"/>
            <a:ext cx="45720" cy="5143500"/>
          </a:xfrm>
          <a:prstGeom prst="rect">
            <a:avLst/>
          </a:prstGeom>
          <a:solidFill>
            <a:srgbClr val="0D9488"/>
          </a:solidFill>
          <a:ln w="12700">
            <a:solidFill>
              <a:srgbClr val="0D9488"/>
            </a:solidFill>
            <a:prstDash val="solid"/>
          </a:ln>
        </p:spPr>
      </p:sp>
      <p:pic>
        <p:nvPicPr>
          <p:cNvPr id="4" name="Image 0" descr="preencoded.png"/>
          <p:cNvPicPr>
            <a:picLocks noChangeAspect="1"/>
          </p:cNvPicPr>
          <p:nvPr/>
        </p:nvPicPr>
        <p:blipFill>
          <a:blip r:embed="rId3"/>
          <a:stretch>
            <a:fillRect/>
          </a:stretch>
        </p:blipFill>
        <p:spPr>
          <a:xfrm>
            <a:off x="7040880" y="1554480"/>
            <a:ext cx="1463040" cy="1463040"/>
          </a:xfrm>
          <a:prstGeom prst="rect">
            <a:avLst/>
          </a:prstGeom>
        </p:spPr>
      </p:pic>
      <p:sp>
        <p:nvSpPr>
          <p:cNvPr id="5" name="Text 2"/>
          <p:cNvSpPr/>
          <p:nvPr/>
        </p:nvSpPr>
        <p:spPr>
          <a:xfrm>
            <a:off x="6400800" y="3108960"/>
            <a:ext cx="2743200" cy="365760"/>
          </a:xfrm>
          <a:prstGeom prst="rect">
            <a:avLst/>
          </a:prstGeom>
          <a:noFill/>
          <a:ln/>
        </p:spPr>
        <p:txBody>
          <a:bodyPr wrap="square" rtlCol="0" anchor="ctr"/>
          <a:lstStyle/>
          <a:p>
            <a:pPr marL="0" indent="0" algn="ctr">
              <a:buNone/>
            </a:pPr>
            <a:r>
              <a:rPr lang="en-US" sz="1400" b="1" dirty="0">
                <a:solidFill>
                  <a:srgbClr val="DBEAFE"/>
                </a:solidFill>
                <a:latin typeface="Calibri" pitchFamily="34" charset="0"/>
                <a:ea typeface="Calibri" pitchFamily="34" charset="-122"/>
                <a:cs typeface="Calibri" pitchFamily="34" charset="-120"/>
              </a:rPr>
              <a:t>MSA Detector</a:t>
            </a:r>
            <a:endParaRPr lang="en-US" sz="1400" dirty="0"/>
          </a:p>
        </p:txBody>
      </p:sp>
      <p:sp>
        <p:nvSpPr>
          <p:cNvPr id="6" name="Text 3"/>
          <p:cNvSpPr/>
          <p:nvPr/>
        </p:nvSpPr>
        <p:spPr>
          <a:xfrm>
            <a:off x="548640" y="1280160"/>
            <a:ext cx="5760720" cy="1554480"/>
          </a:xfrm>
          <a:prstGeom prst="rect">
            <a:avLst/>
          </a:prstGeom>
          <a:noFill/>
          <a:ln/>
        </p:spPr>
        <p:txBody>
          <a:bodyPr wrap="square" lIns="0" tIns="0" rIns="0" bIns="0" rtlCol="0" anchor="ctr"/>
          <a:lstStyle/>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Detecting Architectural</a:t>
            </a:r>
            <a:endParaRPr lang="en-US" sz="3400" dirty="0"/>
          </a:p>
          <a:p>
            <a:pPr marL="0" indent="0">
              <a:spcAft>
                <a:spcPts val="600"/>
              </a:spcAft>
              <a:buNone/>
            </a:pPr>
            <a:r>
              <a:rPr lang="en-US" sz="3400" b="1" dirty="0">
                <a:solidFill>
                  <a:srgbClr val="FFFFFF"/>
                </a:solidFill>
                <a:latin typeface="Calibri" pitchFamily="34" charset="0"/>
                <a:ea typeface="Calibri" pitchFamily="34" charset="-122"/>
                <a:cs typeface="Calibri" pitchFamily="34" charset="-120"/>
              </a:rPr>
              <a:t>Anti-Patterns in Microservices</a:t>
            </a:r>
            <a:endParaRPr lang="en-US" sz="3400" dirty="0"/>
          </a:p>
        </p:txBody>
      </p:sp>
      <p:sp>
        <p:nvSpPr>
          <p:cNvPr id="7" name="Text 4"/>
          <p:cNvSpPr/>
          <p:nvPr/>
        </p:nvSpPr>
        <p:spPr>
          <a:xfrm>
            <a:off x="548640" y="2880360"/>
            <a:ext cx="576072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600" dirty="0"/>
          </a:p>
        </p:txBody>
      </p:sp>
      <p:sp>
        <p:nvSpPr>
          <p:cNvPr id="8" name="Shape 5"/>
          <p:cNvSpPr/>
          <p:nvPr/>
        </p:nvSpPr>
        <p:spPr>
          <a:xfrm>
            <a:off x="548640" y="3657600"/>
            <a:ext cx="36576" cy="1005840"/>
          </a:xfrm>
          <a:prstGeom prst="rect">
            <a:avLst/>
          </a:prstGeom>
          <a:solidFill>
            <a:srgbClr val="0D9488"/>
          </a:solidFill>
          <a:ln w="12700">
            <a:solidFill>
              <a:srgbClr val="0D9488"/>
            </a:solidFill>
            <a:prstDash val="solid"/>
          </a:ln>
        </p:spPr>
      </p:sp>
      <p:sp>
        <p:nvSpPr>
          <p:cNvPr id="9" name="Text 6"/>
          <p:cNvSpPr/>
          <p:nvPr/>
        </p:nvSpPr>
        <p:spPr>
          <a:xfrm>
            <a:off x="731520" y="3657600"/>
            <a:ext cx="5486400" cy="10058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Iacob Andrei</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Master's Dissertation Defense</a:t>
            </a:r>
            <a:endParaRPr lang="en-US" sz="1600" dirty="0"/>
          </a:p>
          <a:p>
            <a:pPr marL="0" indent="0">
              <a:buNone/>
            </a:pPr>
            <a:r>
              <a:rPr lang="en-US" sz="1200" dirty="0">
                <a:solidFill>
                  <a:srgbClr val="DBEAFE"/>
                </a:solidFill>
                <a:latin typeface="Calibri" pitchFamily="34" charset="0"/>
                <a:ea typeface="Calibri" pitchFamily="34" charset="-122"/>
                <a:cs typeface="Calibri" pitchFamily="34" charset="-120"/>
              </a:rPr>
              <a:t>Supervisor: Prof. Dr. Simona Motogna</a:t>
            </a:r>
            <a:endParaRPr lang="en-US" sz="1600" dirty="0"/>
          </a:p>
          <a:p>
            <a:pPr marL="0" indent="0">
              <a:buNone/>
            </a:pPr>
            <a:r>
              <a:rPr lang="en-US" sz="1100" i="1" dirty="0">
                <a:solidFill>
                  <a:srgbClr val="DBEAFE"/>
                </a:solidFill>
                <a:latin typeface="Calibri" pitchFamily="34" charset="0"/>
                <a:ea typeface="Calibri" pitchFamily="34" charset="-122"/>
                <a:cs typeface="Calibri" pitchFamily="34" charset="-120"/>
              </a:rPr>
              <a:t>Faculty of Mathematics and Computer Science, UBB</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Why this matters</a:t>
            </a:r>
            <a:endParaRPr lang="en-US" sz="2800" dirty="0"/>
          </a:p>
        </p:txBody>
      </p:sp>
      <p:sp>
        <p:nvSpPr>
          <p:cNvPr id="3" name="Text 1"/>
          <p:cNvSpPr/>
          <p:nvPr/>
        </p:nvSpPr>
        <p:spPr>
          <a:xfrm>
            <a:off x="457200" y="914400"/>
            <a:ext cx="8229600" cy="457200"/>
          </a:xfrm>
          <a:prstGeom prst="rect">
            <a:avLst/>
          </a:prstGeom>
          <a:noFill/>
          <a:ln/>
        </p:spPr>
        <p:txBody>
          <a:bodyPr wrap="square" lIns="0" tIns="0" rIns="0" bIns="0" rtlCol="0" anchor="ctr"/>
          <a:lstStyle/>
          <a:p>
            <a:pPr marL="0" indent="0">
              <a:buNone/>
            </a:pPr>
            <a:r>
              <a:rPr lang="en-US" sz="2000" i="1" dirty="0">
                <a:solidFill>
                  <a:srgbClr val="1E293B"/>
                </a:solidFill>
                <a:latin typeface="Calibri" pitchFamily="34" charset="0"/>
                <a:ea typeface="Calibri" pitchFamily="34" charset="-122"/>
                <a:cs typeface="Calibri" pitchFamily="34" charset="-120"/>
              </a:rPr>
              <a:t>Microservices adoption has outpaced tooling</a:t>
            </a:r>
            <a:endParaRPr lang="en-US" sz="2000" dirty="0"/>
          </a:p>
        </p:txBody>
      </p:sp>
      <p:sp>
        <p:nvSpPr>
          <p:cNvPr id="4" name="Shape 2"/>
          <p:cNvSpPr/>
          <p:nvPr/>
        </p:nvSpPr>
        <p:spPr>
          <a:xfrm>
            <a:off x="457200" y="1600200"/>
            <a:ext cx="2377440" cy="2651760"/>
          </a:xfrm>
          <a:prstGeom prst="rect">
            <a:avLst/>
          </a:prstGeom>
          <a:solidFill>
            <a:srgbClr val="F8FAFC"/>
          </a:solidFill>
          <a:ln w="9525">
            <a:solidFill>
              <a:srgbClr val="E2E8F0"/>
            </a:solidFill>
            <a:prstDash val="solid"/>
          </a:ln>
        </p:spPr>
      </p:sp>
      <p:sp>
        <p:nvSpPr>
          <p:cNvPr id="5" name="Shape 3"/>
          <p:cNvSpPr/>
          <p:nvPr/>
        </p:nvSpPr>
        <p:spPr>
          <a:xfrm>
            <a:off x="457200" y="1600200"/>
            <a:ext cx="54864" cy="2651760"/>
          </a:xfrm>
          <a:prstGeom prst="rect">
            <a:avLst/>
          </a:prstGeom>
          <a:solidFill>
            <a:srgbClr val="DC2626"/>
          </a:solidFill>
          <a:ln w="12700">
            <a:solidFill>
              <a:srgbClr val="DC2626"/>
            </a:solidFill>
            <a:prstDash val="solid"/>
          </a:ln>
        </p:spPr>
      </p:sp>
      <p:sp>
        <p:nvSpPr>
          <p:cNvPr id="6" name="Shape 4"/>
          <p:cNvSpPr/>
          <p:nvPr/>
        </p:nvSpPr>
        <p:spPr>
          <a:xfrm>
            <a:off x="685800" y="1783080"/>
            <a:ext cx="502920" cy="502920"/>
          </a:xfrm>
          <a:prstGeom prst="roundRect">
            <a:avLst>
              <a:gd name="adj" fmla="val 14545"/>
            </a:avLst>
          </a:prstGeom>
          <a:solidFill>
            <a:srgbClr val="DC2626"/>
          </a:solidFill>
          <a:ln w="12700">
            <a:solidFill>
              <a:srgbClr val="DC2626"/>
            </a:solidFill>
            <a:prstDash val="solid"/>
          </a:ln>
          <a:effectLst>
            <a:outerShdw blurRad="76200" dist="25400" dir="8100000" algn="bl" rotWithShape="0">
              <a:srgbClr val="000000">
                <a:alpha val="12000"/>
              </a:srgbClr>
            </a:outerShdw>
          </a:effectLst>
        </p:spPr>
      </p:sp>
      <p:pic>
        <p:nvPicPr>
          <p:cNvPr id="7" name="Image 0" descr="preencoded.png"/>
          <p:cNvPicPr>
            <a:picLocks noChangeAspect="1"/>
          </p:cNvPicPr>
          <p:nvPr/>
        </p:nvPicPr>
        <p:blipFill>
          <a:blip r:embed="rId3"/>
          <a:stretch>
            <a:fillRect/>
          </a:stretch>
        </p:blipFill>
        <p:spPr>
          <a:xfrm>
            <a:off x="796442" y="1893722"/>
            <a:ext cx="281635" cy="281635"/>
          </a:xfrm>
          <a:prstGeom prst="rect">
            <a:avLst/>
          </a:prstGeom>
        </p:spPr>
      </p:pic>
      <p:sp>
        <p:nvSpPr>
          <p:cNvPr id="8" name="Text 5"/>
          <p:cNvSpPr/>
          <p:nvPr/>
        </p:nvSpPr>
        <p:spPr>
          <a:xfrm>
            <a:off x="68580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9" name="Text 6"/>
          <p:cNvSpPr/>
          <p:nvPr/>
        </p:nvSpPr>
        <p:spPr>
          <a:xfrm>
            <a:off x="68580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00" dirty="0"/>
          </a:p>
        </p:txBody>
      </p:sp>
      <p:sp>
        <p:nvSpPr>
          <p:cNvPr id="10" name="Shape 7"/>
          <p:cNvSpPr/>
          <p:nvPr/>
        </p:nvSpPr>
        <p:spPr>
          <a:xfrm>
            <a:off x="3383280" y="1600200"/>
            <a:ext cx="2377440" cy="2651760"/>
          </a:xfrm>
          <a:prstGeom prst="rect">
            <a:avLst/>
          </a:prstGeom>
          <a:solidFill>
            <a:srgbClr val="F8FAFC"/>
          </a:solidFill>
          <a:ln w="9525">
            <a:solidFill>
              <a:srgbClr val="E2E8F0"/>
            </a:solidFill>
            <a:prstDash val="solid"/>
          </a:ln>
        </p:spPr>
      </p:sp>
      <p:sp>
        <p:nvSpPr>
          <p:cNvPr id="11" name="Shape 8"/>
          <p:cNvSpPr/>
          <p:nvPr/>
        </p:nvSpPr>
        <p:spPr>
          <a:xfrm>
            <a:off x="3383280" y="1600200"/>
            <a:ext cx="54864" cy="2651760"/>
          </a:xfrm>
          <a:prstGeom prst="rect">
            <a:avLst/>
          </a:prstGeom>
          <a:solidFill>
            <a:srgbClr val="1C4E80"/>
          </a:solidFill>
          <a:ln w="12700">
            <a:solidFill>
              <a:srgbClr val="1C4E80"/>
            </a:solidFill>
            <a:prstDash val="solid"/>
          </a:ln>
        </p:spPr>
      </p:sp>
      <p:sp>
        <p:nvSpPr>
          <p:cNvPr id="12" name="Shape 9"/>
          <p:cNvSpPr/>
          <p:nvPr/>
        </p:nvSpPr>
        <p:spPr>
          <a:xfrm>
            <a:off x="3611880" y="17830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1" descr="preencoded.png"/>
          <p:cNvPicPr>
            <a:picLocks noChangeAspect="1"/>
          </p:cNvPicPr>
          <p:nvPr/>
        </p:nvPicPr>
        <p:blipFill>
          <a:blip r:embed="rId4"/>
          <a:stretch>
            <a:fillRect/>
          </a:stretch>
        </p:blipFill>
        <p:spPr>
          <a:xfrm>
            <a:off x="3722522" y="1893722"/>
            <a:ext cx="281635" cy="281635"/>
          </a:xfrm>
          <a:prstGeom prst="rect">
            <a:avLst/>
          </a:prstGeom>
        </p:spPr>
      </p:pic>
      <p:sp>
        <p:nvSpPr>
          <p:cNvPr id="14" name="Text 10"/>
          <p:cNvSpPr/>
          <p:nvPr/>
        </p:nvSpPr>
        <p:spPr>
          <a:xfrm>
            <a:off x="361188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Existing tools are single-level</a:t>
            </a:r>
            <a:endParaRPr lang="en-US" sz="1400" dirty="0"/>
          </a:p>
        </p:txBody>
      </p:sp>
      <p:sp>
        <p:nvSpPr>
          <p:cNvPr id="15" name="Text 11"/>
          <p:cNvSpPr/>
          <p:nvPr/>
        </p:nvSpPr>
        <p:spPr>
          <a:xfrm>
            <a:off x="361188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Arcan, MicroART, MSANose each cover a slice: code-level OR architectural-level, rarely both</a:t>
            </a:r>
            <a:endParaRPr lang="en-US" sz="1100" dirty="0"/>
          </a:p>
        </p:txBody>
      </p:sp>
      <p:sp>
        <p:nvSpPr>
          <p:cNvPr id="16" name="Shape 12"/>
          <p:cNvSpPr/>
          <p:nvPr/>
        </p:nvSpPr>
        <p:spPr>
          <a:xfrm>
            <a:off x="6309360" y="1600200"/>
            <a:ext cx="2377440" cy="2651760"/>
          </a:xfrm>
          <a:prstGeom prst="rect">
            <a:avLst/>
          </a:prstGeom>
          <a:solidFill>
            <a:srgbClr val="F8FAFC"/>
          </a:solidFill>
          <a:ln w="9525">
            <a:solidFill>
              <a:srgbClr val="E2E8F0"/>
            </a:solidFill>
            <a:prstDash val="solid"/>
          </a:ln>
        </p:spPr>
      </p:sp>
      <p:sp>
        <p:nvSpPr>
          <p:cNvPr id="17" name="Shape 13"/>
          <p:cNvSpPr/>
          <p:nvPr/>
        </p:nvSpPr>
        <p:spPr>
          <a:xfrm>
            <a:off x="6309360" y="1600200"/>
            <a:ext cx="54864" cy="2651760"/>
          </a:xfrm>
          <a:prstGeom prst="rect">
            <a:avLst/>
          </a:prstGeom>
          <a:solidFill>
            <a:srgbClr val="D97706"/>
          </a:solidFill>
          <a:ln w="12700">
            <a:solidFill>
              <a:srgbClr val="D97706"/>
            </a:solidFill>
            <a:prstDash val="solid"/>
          </a:ln>
        </p:spPr>
      </p:sp>
      <p:sp>
        <p:nvSpPr>
          <p:cNvPr id="18" name="Shape 14"/>
          <p:cNvSpPr/>
          <p:nvPr/>
        </p:nvSpPr>
        <p:spPr>
          <a:xfrm>
            <a:off x="6537960" y="17830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19" name="Image 2" descr="preencoded.png"/>
          <p:cNvPicPr>
            <a:picLocks noChangeAspect="1"/>
          </p:cNvPicPr>
          <p:nvPr/>
        </p:nvPicPr>
        <p:blipFill>
          <a:blip r:embed="rId5"/>
          <a:stretch>
            <a:fillRect/>
          </a:stretch>
        </p:blipFill>
        <p:spPr>
          <a:xfrm>
            <a:off x="6648602" y="1893722"/>
            <a:ext cx="281635" cy="281635"/>
          </a:xfrm>
          <a:prstGeom prst="rect">
            <a:avLst/>
          </a:prstGeom>
        </p:spPr>
      </p:pic>
      <p:sp>
        <p:nvSpPr>
          <p:cNvPr id="20" name="Text 15"/>
          <p:cNvSpPr/>
          <p:nvPr/>
        </p:nvSpPr>
        <p:spPr>
          <a:xfrm>
            <a:off x="6537960" y="2395728"/>
            <a:ext cx="2057400" cy="64008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21" name="Text 16"/>
          <p:cNvSpPr/>
          <p:nvPr/>
        </p:nvSpPr>
        <p:spPr>
          <a:xfrm>
            <a:off x="6537960" y="3063240"/>
            <a:ext cx="2057400" cy="109728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00" dirty="0"/>
          </a:p>
        </p:txBody>
      </p:sp>
      <p:sp>
        <p:nvSpPr>
          <p:cNvPr id="22" name="Shape 17"/>
          <p:cNvSpPr/>
          <p:nvPr/>
        </p:nvSpPr>
        <p:spPr>
          <a:xfrm>
            <a:off x="457200" y="4434840"/>
            <a:ext cx="8229600" cy="320040"/>
          </a:xfrm>
          <a:prstGeom prst="rect">
            <a:avLst/>
          </a:prstGeom>
          <a:solidFill>
            <a:srgbClr val="0F2A44"/>
          </a:solidFill>
          <a:ln w="12700">
            <a:solidFill>
              <a:srgbClr val="0F2A44"/>
            </a:solidFill>
            <a:prstDash val="solid"/>
          </a:ln>
        </p:spPr>
      </p:sp>
      <p:sp>
        <p:nvSpPr>
          <p:cNvPr id="23" name="Text 18"/>
          <p:cNvSpPr/>
          <p:nvPr/>
        </p:nvSpPr>
        <p:spPr>
          <a:xfrm>
            <a:off x="457200" y="4434840"/>
            <a:ext cx="8229600" cy="32004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Goal: actionable, evidence-based detection that bridges code and architecture levels</a:t>
            </a:r>
            <a:endParaRPr lang="en-US" sz="1200" dirty="0"/>
          </a:p>
        </p:txBody>
      </p:sp>
      <p:sp>
        <p:nvSpPr>
          <p:cNvPr id="24"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5"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Objectives &amp; contributions</a:t>
            </a:r>
            <a:endParaRPr lang="en-US" sz="2800" dirty="0"/>
          </a:p>
        </p:txBody>
      </p:sp>
      <p:sp>
        <p:nvSpPr>
          <p:cNvPr id="3" name="Shape 1"/>
          <p:cNvSpPr/>
          <p:nvPr/>
        </p:nvSpPr>
        <p:spPr>
          <a:xfrm>
            <a:off x="457200" y="1014984"/>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4" name="Image 0" descr="preencoded.png"/>
          <p:cNvPicPr>
            <a:picLocks noChangeAspect="1"/>
          </p:cNvPicPr>
          <p:nvPr/>
        </p:nvPicPr>
        <p:blipFill>
          <a:blip r:embed="rId3"/>
          <a:stretch>
            <a:fillRect/>
          </a:stretch>
        </p:blipFill>
        <p:spPr>
          <a:xfrm>
            <a:off x="567842" y="1125626"/>
            <a:ext cx="281635" cy="281635"/>
          </a:xfrm>
          <a:prstGeom prst="rect">
            <a:avLst/>
          </a:prstGeom>
        </p:spPr>
      </p:pic>
      <p:sp>
        <p:nvSpPr>
          <p:cNvPr id="5" name="Text 2"/>
          <p:cNvSpPr/>
          <p:nvPr/>
        </p:nvSpPr>
        <p:spPr>
          <a:xfrm>
            <a:off x="1143000" y="996696"/>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Multi-level analysis</a:t>
            </a:r>
            <a:endParaRPr lang="en-US" sz="1500" dirty="0"/>
          </a:p>
        </p:txBody>
      </p:sp>
      <p:sp>
        <p:nvSpPr>
          <p:cNvPr id="6" name="Text 3"/>
          <p:cNvSpPr/>
          <p:nvPr/>
        </p:nvSpPr>
        <p:spPr>
          <a:xfrm>
            <a:off x="1143000" y="1289304"/>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Combines intra-service code smells (DesigniteJava) with inter-service dependency analysis (Spoon + graphs)</a:t>
            </a:r>
            <a:endParaRPr lang="en-US" sz="1150" dirty="0"/>
          </a:p>
        </p:txBody>
      </p:sp>
      <p:sp>
        <p:nvSpPr>
          <p:cNvPr id="7" name="Shape 4"/>
          <p:cNvSpPr/>
          <p:nvPr/>
        </p:nvSpPr>
        <p:spPr>
          <a:xfrm>
            <a:off x="457200" y="1728216"/>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8" name="Image 1" descr="preencoded.png"/>
          <p:cNvPicPr>
            <a:picLocks noChangeAspect="1"/>
          </p:cNvPicPr>
          <p:nvPr/>
        </p:nvPicPr>
        <p:blipFill>
          <a:blip r:embed="rId4"/>
          <a:stretch>
            <a:fillRect/>
          </a:stretch>
        </p:blipFill>
        <p:spPr>
          <a:xfrm>
            <a:off x="567842" y="1838858"/>
            <a:ext cx="281635" cy="281635"/>
          </a:xfrm>
          <a:prstGeom prst="rect">
            <a:avLst/>
          </a:prstGeom>
        </p:spPr>
      </p:pic>
      <p:sp>
        <p:nvSpPr>
          <p:cNvPr id="9" name="Text 5"/>
          <p:cNvSpPr/>
          <p:nvPr/>
        </p:nvSpPr>
        <p:spPr>
          <a:xfrm>
            <a:off x="1143000" y="1709928"/>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Ten anti-patterns detected</a:t>
            </a:r>
            <a:endParaRPr lang="en-US" sz="1500" dirty="0"/>
          </a:p>
        </p:txBody>
      </p:sp>
      <p:sp>
        <p:nvSpPr>
          <p:cNvPr id="10" name="Text 6"/>
          <p:cNvSpPr/>
          <p:nvPr/>
        </p:nvSpPr>
        <p:spPr>
          <a:xfrm>
            <a:off x="1143000" y="2002536"/>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50" dirty="0"/>
          </a:p>
        </p:txBody>
      </p:sp>
      <p:sp>
        <p:nvSpPr>
          <p:cNvPr id="11" name="Shape 7"/>
          <p:cNvSpPr/>
          <p:nvPr/>
        </p:nvSpPr>
        <p:spPr>
          <a:xfrm>
            <a:off x="457200" y="2441448"/>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12" name="Image 2" descr="preencoded.png"/>
          <p:cNvPicPr>
            <a:picLocks noChangeAspect="1"/>
          </p:cNvPicPr>
          <p:nvPr/>
        </p:nvPicPr>
        <p:blipFill>
          <a:blip r:embed="rId5"/>
          <a:stretch>
            <a:fillRect/>
          </a:stretch>
        </p:blipFill>
        <p:spPr>
          <a:xfrm>
            <a:off x="567842" y="2552090"/>
            <a:ext cx="281635" cy="281635"/>
          </a:xfrm>
          <a:prstGeom prst="rect">
            <a:avLst/>
          </a:prstGeom>
        </p:spPr>
      </p:pic>
      <p:sp>
        <p:nvSpPr>
          <p:cNvPr id="13" name="Text 8"/>
          <p:cNvSpPr/>
          <p:nvPr/>
        </p:nvSpPr>
        <p:spPr>
          <a:xfrm>
            <a:off x="1143000" y="2423160"/>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Automated boundary detection</a:t>
            </a:r>
            <a:endParaRPr lang="en-US" sz="1500" dirty="0"/>
          </a:p>
        </p:txBody>
      </p:sp>
      <p:sp>
        <p:nvSpPr>
          <p:cNvPr id="14" name="Text 9"/>
          <p:cNvSpPr/>
          <p:nvPr/>
        </p:nvSpPr>
        <p:spPr>
          <a:xfrm>
            <a:off x="1143000" y="2715768"/>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50" dirty="0"/>
          </a:p>
        </p:txBody>
      </p:sp>
      <p:sp>
        <p:nvSpPr>
          <p:cNvPr id="15" name="Shape 10"/>
          <p:cNvSpPr/>
          <p:nvPr/>
        </p:nvSpPr>
        <p:spPr>
          <a:xfrm>
            <a:off x="457200" y="31546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16" name="Image 3" descr="preencoded.png"/>
          <p:cNvPicPr>
            <a:picLocks noChangeAspect="1"/>
          </p:cNvPicPr>
          <p:nvPr/>
        </p:nvPicPr>
        <p:blipFill>
          <a:blip r:embed="rId6"/>
          <a:stretch>
            <a:fillRect/>
          </a:stretch>
        </p:blipFill>
        <p:spPr>
          <a:xfrm>
            <a:off x="567842" y="3265322"/>
            <a:ext cx="281635" cy="281635"/>
          </a:xfrm>
          <a:prstGeom prst="rect">
            <a:avLst/>
          </a:prstGeom>
        </p:spPr>
      </p:pic>
      <p:sp>
        <p:nvSpPr>
          <p:cNvPr id="17" name="Text 11"/>
          <p:cNvSpPr/>
          <p:nvPr/>
        </p:nvSpPr>
        <p:spPr>
          <a:xfrm>
            <a:off x="1143000" y="3136392"/>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Composite health score</a:t>
            </a:r>
            <a:endParaRPr lang="en-US" sz="1500" dirty="0"/>
          </a:p>
        </p:txBody>
      </p:sp>
      <p:sp>
        <p:nvSpPr>
          <p:cNvPr id="18" name="Text 12"/>
          <p:cNvSpPr/>
          <p:nvPr/>
        </p:nvSpPr>
        <p:spPr>
          <a:xfrm>
            <a:off x="1143000" y="3429000"/>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50" dirty="0"/>
          </a:p>
        </p:txBody>
      </p:sp>
      <p:sp>
        <p:nvSpPr>
          <p:cNvPr id="19" name="Shape 13"/>
          <p:cNvSpPr/>
          <p:nvPr/>
        </p:nvSpPr>
        <p:spPr>
          <a:xfrm>
            <a:off x="457200" y="3867912"/>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7"/>
          <a:stretch>
            <a:fillRect/>
          </a:stretch>
        </p:blipFill>
        <p:spPr>
          <a:xfrm>
            <a:off x="567842" y="3978554"/>
            <a:ext cx="281635" cy="281635"/>
          </a:xfrm>
          <a:prstGeom prst="rect">
            <a:avLst/>
          </a:prstGeom>
        </p:spPr>
      </p:pic>
      <p:sp>
        <p:nvSpPr>
          <p:cNvPr id="21" name="Text 14"/>
          <p:cNvSpPr/>
          <p:nvPr/>
        </p:nvSpPr>
        <p:spPr>
          <a:xfrm>
            <a:off x="1143000" y="3849624"/>
            <a:ext cx="7589520" cy="292608"/>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Evidence-based reporting</a:t>
            </a:r>
            <a:endParaRPr lang="en-US" sz="1500" dirty="0"/>
          </a:p>
        </p:txBody>
      </p:sp>
      <p:sp>
        <p:nvSpPr>
          <p:cNvPr id="22" name="Text 15"/>
          <p:cNvSpPr/>
          <p:nvPr/>
        </p:nvSpPr>
        <p:spPr>
          <a:xfrm>
            <a:off x="1143000" y="4142232"/>
            <a:ext cx="758952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50" dirty="0"/>
          </a:p>
        </p:txBody>
      </p:sp>
      <p:sp>
        <p:nvSpPr>
          <p:cNvPr id="23" name="Text 16"/>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4" name="Text 17"/>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The analysis pipeline</a:t>
            </a:r>
            <a:endParaRPr lang="en-US" sz="2800" dirty="0"/>
          </a:p>
        </p:txBody>
      </p:sp>
      <p:sp>
        <p:nvSpPr>
          <p:cNvPr id="3" name="Shape 1"/>
          <p:cNvSpPr/>
          <p:nvPr/>
        </p:nvSpPr>
        <p:spPr>
          <a:xfrm>
            <a:off x="411480" y="1097280"/>
            <a:ext cx="1554480" cy="1463040"/>
          </a:xfrm>
          <a:prstGeom prst="rect">
            <a:avLst/>
          </a:prstGeom>
          <a:solidFill>
            <a:srgbClr val="F8FAFC"/>
          </a:solidFill>
          <a:ln w="9525">
            <a:solidFill>
              <a:srgbClr val="E2E8F0"/>
            </a:solidFill>
            <a:prstDash val="solid"/>
          </a:ln>
        </p:spPr>
      </p:sp>
      <p:sp>
        <p:nvSpPr>
          <p:cNvPr id="4" name="Shape 2"/>
          <p:cNvSpPr/>
          <p:nvPr/>
        </p:nvSpPr>
        <p:spPr>
          <a:xfrm>
            <a:off x="411480" y="1097280"/>
            <a:ext cx="1554480" cy="73152"/>
          </a:xfrm>
          <a:prstGeom prst="rect">
            <a:avLst/>
          </a:prstGeom>
          <a:solidFill>
            <a:srgbClr val="0F2A44"/>
          </a:solidFill>
          <a:ln w="12700">
            <a:solidFill>
              <a:srgbClr val="0F2A44"/>
            </a:solidFill>
            <a:prstDash val="solid"/>
          </a:ln>
        </p:spPr>
      </p:sp>
      <p:sp>
        <p:nvSpPr>
          <p:cNvPr id="5" name="Shape 3"/>
          <p:cNvSpPr/>
          <p:nvPr/>
        </p:nvSpPr>
        <p:spPr>
          <a:xfrm>
            <a:off x="937260" y="1325880"/>
            <a:ext cx="502920" cy="502920"/>
          </a:xfrm>
          <a:prstGeom prst="roundRect">
            <a:avLst>
              <a:gd name="adj" fmla="val 14545"/>
            </a:avLst>
          </a:prstGeom>
          <a:solidFill>
            <a:srgbClr val="0F2A44"/>
          </a:solidFill>
          <a:ln w="12700">
            <a:solidFill>
              <a:srgbClr val="0F2A44"/>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1047902" y="1436522"/>
            <a:ext cx="281635" cy="281635"/>
          </a:xfrm>
          <a:prstGeom prst="rect">
            <a:avLst/>
          </a:prstGeom>
        </p:spPr>
      </p:pic>
      <p:sp>
        <p:nvSpPr>
          <p:cNvPr id="7" name="Text 4"/>
          <p:cNvSpPr/>
          <p:nvPr/>
        </p:nvSpPr>
        <p:spPr>
          <a:xfrm>
            <a:off x="41148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1. Ingest</a:t>
            </a:r>
            <a:endParaRPr lang="en-US" sz="1200" dirty="0"/>
          </a:p>
        </p:txBody>
      </p:sp>
      <p:sp>
        <p:nvSpPr>
          <p:cNvPr id="8" name="Text 5"/>
          <p:cNvSpPr/>
          <p:nvPr/>
        </p:nvSpPr>
        <p:spPr>
          <a:xfrm>
            <a:off x="41148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pic>
        <p:nvPicPr>
          <p:cNvPr id="9" name="Image 1" descr="preencoded.png"/>
          <p:cNvPicPr>
            <a:picLocks noChangeAspect="1"/>
          </p:cNvPicPr>
          <p:nvPr/>
        </p:nvPicPr>
        <p:blipFill>
          <a:blip r:embed="rId4"/>
          <a:stretch>
            <a:fillRect/>
          </a:stretch>
        </p:blipFill>
        <p:spPr>
          <a:xfrm>
            <a:off x="1984248" y="1709928"/>
            <a:ext cx="100584" cy="237744"/>
          </a:xfrm>
          <a:prstGeom prst="rect">
            <a:avLst/>
          </a:prstGeom>
        </p:spPr>
      </p:pic>
      <p:sp>
        <p:nvSpPr>
          <p:cNvPr id="10" name="Shape 6"/>
          <p:cNvSpPr/>
          <p:nvPr/>
        </p:nvSpPr>
        <p:spPr>
          <a:xfrm>
            <a:off x="2103120" y="1097280"/>
            <a:ext cx="1554480" cy="1463040"/>
          </a:xfrm>
          <a:prstGeom prst="rect">
            <a:avLst/>
          </a:prstGeom>
          <a:solidFill>
            <a:srgbClr val="F8FAFC"/>
          </a:solidFill>
          <a:ln w="9525">
            <a:solidFill>
              <a:srgbClr val="E2E8F0"/>
            </a:solidFill>
            <a:prstDash val="solid"/>
          </a:ln>
        </p:spPr>
      </p:sp>
      <p:sp>
        <p:nvSpPr>
          <p:cNvPr id="11" name="Shape 7"/>
          <p:cNvSpPr/>
          <p:nvPr/>
        </p:nvSpPr>
        <p:spPr>
          <a:xfrm>
            <a:off x="2103120" y="1097280"/>
            <a:ext cx="1554480" cy="73152"/>
          </a:xfrm>
          <a:prstGeom prst="rect">
            <a:avLst/>
          </a:prstGeom>
          <a:solidFill>
            <a:srgbClr val="1C4E80"/>
          </a:solidFill>
          <a:ln w="12700">
            <a:solidFill>
              <a:srgbClr val="1C4E80"/>
            </a:solidFill>
            <a:prstDash val="solid"/>
          </a:ln>
        </p:spPr>
      </p:sp>
      <p:sp>
        <p:nvSpPr>
          <p:cNvPr id="12" name="Shape 8"/>
          <p:cNvSpPr/>
          <p:nvPr/>
        </p:nvSpPr>
        <p:spPr>
          <a:xfrm>
            <a:off x="2628900" y="1325880"/>
            <a:ext cx="502920" cy="502920"/>
          </a:xfrm>
          <a:prstGeom prst="roundRect">
            <a:avLst>
              <a:gd name="adj" fmla="val 14545"/>
            </a:avLst>
          </a:prstGeom>
          <a:solidFill>
            <a:srgbClr val="1C4E80"/>
          </a:solidFill>
          <a:ln w="12700">
            <a:solidFill>
              <a:srgbClr val="1C4E80"/>
            </a:solidFill>
            <a:prstDash val="solid"/>
          </a:ln>
          <a:effectLst>
            <a:outerShdw blurRad="76200" dist="25400" dir="8100000" algn="bl" rotWithShape="0">
              <a:srgbClr val="000000">
                <a:alpha val="12000"/>
              </a:srgbClr>
            </a:outerShdw>
          </a:effectLst>
        </p:spPr>
      </p:sp>
      <p:pic>
        <p:nvPicPr>
          <p:cNvPr id="13" name="Image 2" descr="preencoded.png"/>
          <p:cNvPicPr>
            <a:picLocks noChangeAspect="1"/>
          </p:cNvPicPr>
          <p:nvPr/>
        </p:nvPicPr>
        <p:blipFill>
          <a:blip r:embed="rId5"/>
          <a:stretch>
            <a:fillRect/>
          </a:stretch>
        </p:blipFill>
        <p:spPr>
          <a:xfrm>
            <a:off x="2739542" y="1436522"/>
            <a:ext cx="281635" cy="281635"/>
          </a:xfrm>
          <a:prstGeom prst="rect">
            <a:avLst/>
          </a:prstGeom>
        </p:spPr>
      </p:pic>
      <p:sp>
        <p:nvSpPr>
          <p:cNvPr id="14" name="Text 9"/>
          <p:cNvSpPr/>
          <p:nvPr/>
        </p:nvSpPr>
        <p:spPr>
          <a:xfrm>
            <a:off x="210312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2. Detect services</a:t>
            </a:r>
            <a:endParaRPr lang="en-US" sz="1200" dirty="0"/>
          </a:p>
        </p:txBody>
      </p:sp>
      <p:sp>
        <p:nvSpPr>
          <p:cNvPr id="15" name="Text 10"/>
          <p:cNvSpPr/>
          <p:nvPr/>
        </p:nvSpPr>
        <p:spPr>
          <a:xfrm>
            <a:off x="210312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pic>
        <p:nvPicPr>
          <p:cNvPr id="16" name="Image 3" descr="preencoded.png"/>
          <p:cNvPicPr>
            <a:picLocks noChangeAspect="1"/>
          </p:cNvPicPr>
          <p:nvPr/>
        </p:nvPicPr>
        <p:blipFill>
          <a:blip r:embed="rId4"/>
          <a:stretch>
            <a:fillRect/>
          </a:stretch>
        </p:blipFill>
        <p:spPr>
          <a:xfrm>
            <a:off x="3675888" y="1709928"/>
            <a:ext cx="100584" cy="237744"/>
          </a:xfrm>
          <a:prstGeom prst="rect">
            <a:avLst/>
          </a:prstGeom>
        </p:spPr>
      </p:pic>
      <p:sp>
        <p:nvSpPr>
          <p:cNvPr id="17" name="Shape 11"/>
          <p:cNvSpPr/>
          <p:nvPr/>
        </p:nvSpPr>
        <p:spPr>
          <a:xfrm>
            <a:off x="3794760" y="1097280"/>
            <a:ext cx="1554480" cy="1463040"/>
          </a:xfrm>
          <a:prstGeom prst="rect">
            <a:avLst/>
          </a:prstGeom>
          <a:solidFill>
            <a:srgbClr val="F8FAFC"/>
          </a:solidFill>
          <a:ln w="9525">
            <a:solidFill>
              <a:srgbClr val="E2E8F0"/>
            </a:solidFill>
            <a:prstDash val="solid"/>
          </a:ln>
        </p:spPr>
      </p:sp>
      <p:sp>
        <p:nvSpPr>
          <p:cNvPr id="18" name="Shape 12"/>
          <p:cNvSpPr/>
          <p:nvPr/>
        </p:nvSpPr>
        <p:spPr>
          <a:xfrm>
            <a:off x="3794760" y="1097280"/>
            <a:ext cx="1554480" cy="73152"/>
          </a:xfrm>
          <a:prstGeom prst="rect">
            <a:avLst/>
          </a:prstGeom>
          <a:solidFill>
            <a:srgbClr val="0D9488"/>
          </a:solidFill>
          <a:ln w="12700">
            <a:solidFill>
              <a:srgbClr val="0D9488"/>
            </a:solidFill>
            <a:prstDash val="solid"/>
          </a:ln>
        </p:spPr>
      </p:sp>
      <p:sp>
        <p:nvSpPr>
          <p:cNvPr id="19" name="Shape 13"/>
          <p:cNvSpPr/>
          <p:nvPr/>
        </p:nvSpPr>
        <p:spPr>
          <a:xfrm>
            <a:off x="4320540" y="1325880"/>
            <a:ext cx="502920" cy="502920"/>
          </a:xfrm>
          <a:prstGeom prst="roundRect">
            <a:avLst>
              <a:gd name="adj" fmla="val 14545"/>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20" name="Image 4" descr="preencoded.png"/>
          <p:cNvPicPr>
            <a:picLocks noChangeAspect="1"/>
          </p:cNvPicPr>
          <p:nvPr/>
        </p:nvPicPr>
        <p:blipFill>
          <a:blip r:embed="rId6"/>
          <a:stretch>
            <a:fillRect/>
          </a:stretch>
        </p:blipFill>
        <p:spPr>
          <a:xfrm>
            <a:off x="4431182" y="1436522"/>
            <a:ext cx="281635" cy="281635"/>
          </a:xfrm>
          <a:prstGeom prst="rect">
            <a:avLst/>
          </a:prstGeom>
        </p:spPr>
      </p:pic>
      <p:sp>
        <p:nvSpPr>
          <p:cNvPr id="21" name="Text 14"/>
          <p:cNvSpPr/>
          <p:nvPr/>
        </p:nvSpPr>
        <p:spPr>
          <a:xfrm>
            <a:off x="379476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3. Intra + Inter</a:t>
            </a:r>
            <a:endParaRPr lang="en-US" sz="1200" dirty="0"/>
          </a:p>
        </p:txBody>
      </p:sp>
      <p:sp>
        <p:nvSpPr>
          <p:cNvPr id="22" name="Text 15"/>
          <p:cNvSpPr/>
          <p:nvPr/>
        </p:nvSpPr>
        <p:spPr>
          <a:xfrm>
            <a:off x="379476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pic>
        <p:nvPicPr>
          <p:cNvPr id="23" name="Image 5" descr="preencoded.png"/>
          <p:cNvPicPr>
            <a:picLocks noChangeAspect="1"/>
          </p:cNvPicPr>
          <p:nvPr/>
        </p:nvPicPr>
        <p:blipFill>
          <a:blip r:embed="rId4"/>
          <a:stretch>
            <a:fillRect/>
          </a:stretch>
        </p:blipFill>
        <p:spPr>
          <a:xfrm>
            <a:off x="5367528" y="1709928"/>
            <a:ext cx="100584" cy="237744"/>
          </a:xfrm>
          <a:prstGeom prst="rect">
            <a:avLst/>
          </a:prstGeom>
        </p:spPr>
      </p:pic>
      <p:sp>
        <p:nvSpPr>
          <p:cNvPr id="24" name="Shape 16"/>
          <p:cNvSpPr/>
          <p:nvPr/>
        </p:nvSpPr>
        <p:spPr>
          <a:xfrm>
            <a:off x="5486400" y="1097280"/>
            <a:ext cx="1554480" cy="1463040"/>
          </a:xfrm>
          <a:prstGeom prst="rect">
            <a:avLst/>
          </a:prstGeom>
          <a:solidFill>
            <a:srgbClr val="F8FAFC"/>
          </a:solidFill>
          <a:ln w="9525">
            <a:solidFill>
              <a:srgbClr val="E2E8F0"/>
            </a:solidFill>
            <a:prstDash val="solid"/>
          </a:ln>
        </p:spPr>
      </p:sp>
      <p:sp>
        <p:nvSpPr>
          <p:cNvPr id="25" name="Shape 17"/>
          <p:cNvSpPr/>
          <p:nvPr/>
        </p:nvSpPr>
        <p:spPr>
          <a:xfrm>
            <a:off x="5486400" y="1097280"/>
            <a:ext cx="1554480" cy="73152"/>
          </a:xfrm>
          <a:prstGeom prst="rect">
            <a:avLst/>
          </a:prstGeom>
          <a:solidFill>
            <a:srgbClr val="D97706"/>
          </a:solidFill>
          <a:ln w="12700">
            <a:solidFill>
              <a:srgbClr val="D97706"/>
            </a:solidFill>
            <a:prstDash val="solid"/>
          </a:ln>
        </p:spPr>
      </p:sp>
      <p:sp>
        <p:nvSpPr>
          <p:cNvPr id="26" name="Shape 18"/>
          <p:cNvSpPr/>
          <p:nvPr/>
        </p:nvSpPr>
        <p:spPr>
          <a:xfrm>
            <a:off x="6012180" y="1325880"/>
            <a:ext cx="502920" cy="502920"/>
          </a:xfrm>
          <a:prstGeom prst="roundRect">
            <a:avLst>
              <a:gd name="adj" fmla="val 14545"/>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27" name="Image 6" descr="preencoded.png"/>
          <p:cNvPicPr>
            <a:picLocks noChangeAspect="1"/>
          </p:cNvPicPr>
          <p:nvPr/>
        </p:nvPicPr>
        <p:blipFill>
          <a:blip r:embed="rId7"/>
          <a:stretch>
            <a:fillRect/>
          </a:stretch>
        </p:blipFill>
        <p:spPr>
          <a:xfrm>
            <a:off x="6122822" y="1436522"/>
            <a:ext cx="281635" cy="281635"/>
          </a:xfrm>
          <a:prstGeom prst="rect">
            <a:avLst/>
          </a:prstGeom>
        </p:spPr>
      </p:pic>
      <p:sp>
        <p:nvSpPr>
          <p:cNvPr id="28" name="Text 19"/>
          <p:cNvSpPr/>
          <p:nvPr/>
        </p:nvSpPr>
        <p:spPr>
          <a:xfrm>
            <a:off x="548640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4. Detect patterns</a:t>
            </a:r>
            <a:endParaRPr lang="en-US" sz="1200" dirty="0"/>
          </a:p>
        </p:txBody>
      </p:sp>
      <p:sp>
        <p:nvSpPr>
          <p:cNvPr id="29" name="Text 20"/>
          <p:cNvSpPr/>
          <p:nvPr/>
        </p:nvSpPr>
        <p:spPr>
          <a:xfrm>
            <a:off x="548640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pic>
        <p:nvPicPr>
          <p:cNvPr id="30" name="Image 7" descr="preencoded.png"/>
          <p:cNvPicPr>
            <a:picLocks noChangeAspect="1"/>
          </p:cNvPicPr>
          <p:nvPr/>
        </p:nvPicPr>
        <p:blipFill>
          <a:blip r:embed="rId4"/>
          <a:stretch>
            <a:fillRect/>
          </a:stretch>
        </p:blipFill>
        <p:spPr>
          <a:xfrm>
            <a:off x="7059168" y="1709928"/>
            <a:ext cx="100584" cy="237744"/>
          </a:xfrm>
          <a:prstGeom prst="rect">
            <a:avLst/>
          </a:prstGeom>
        </p:spPr>
      </p:pic>
      <p:sp>
        <p:nvSpPr>
          <p:cNvPr id="31" name="Shape 21"/>
          <p:cNvSpPr/>
          <p:nvPr/>
        </p:nvSpPr>
        <p:spPr>
          <a:xfrm>
            <a:off x="7178040" y="1097280"/>
            <a:ext cx="1554480" cy="1463040"/>
          </a:xfrm>
          <a:prstGeom prst="rect">
            <a:avLst/>
          </a:prstGeom>
          <a:solidFill>
            <a:srgbClr val="F8FAFC"/>
          </a:solidFill>
          <a:ln w="9525">
            <a:solidFill>
              <a:srgbClr val="E2E8F0"/>
            </a:solidFill>
            <a:prstDash val="solid"/>
          </a:ln>
        </p:spPr>
      </p:sp>
      <p:sp>
        <p:nvSpPr>
          <p:cNvPr id="32" name="Shape 22"/>
          <p:cNvSpPr/>
          <p:nvPr/>
        </p:nvSpPr>
        <p:spPr>
          <a:xfrm>
            <a:off x="7178040" y="1097280"/>
            <a:ext cx="1554480" cy="73152"/>
          </a:xfrm>
          <a:prstGeom prst="rect">
            <a:avLst/>
          </a:prstGeom>
          <a:solidFill>
            <a:srgbClr val="059669"/>
          </a:solidFill>
          <a:ln w="12700">
            <a:solidFill>
              <a:srgbClr val="059669"/>
            </a:solidFill>
            <a:prstDash val="solid"/>
          </a:ln>
        </p:spPr>
      </p:sp>
      <p:sp>
        <p:nvSpPr>
          <p:cNvPr id="33" name="Shape 23"/>
          <p:cNvSpPr/>
          <p:nvPr/>
        </p:nvSpPr>
        <p:spPr>
          <a:xfrm>
            <a:off x="7703820" y="1325880"/>
            <a:ext cx="502920" cy="502920"/>
          </a:xfrm>
          <a:prstGeom prst="roundRect">
            <a:avLst>
              <a:gd name="adj" fmla="val 14545"/>
            </a:avLst>
          </a:prstGeom>
          <a:solidFill>
            <a:srgbClr val="059669"/>
          </a:solidFill>
          <a:ln w="12700">
            <a:solidFill>
              <a:srgbClr val="059669"/>
            </a:solidFill>
            <a:prstDash val="solid"/>
          </a:ln>
          <a:effectLst>
            <a:outerShdw blurRad="76200" dist="25400" dir="8100000" algn="bl" rotWithShape="0">
              <a:srgbClr val="000000">
                <a:alpha val="12000"/>
              </a:srgbClr>
            </a:outerShdw>
          </a:effectLst>
        </p:spPr>
      </p:sp>
      <p:pic>
        <p:nvPicPr>
          <p:cNvPr id="34" name="Image 8" descr="preencoded.png"/>
          <p:cNvPicPr>
            <a:picLocks noChangeAspect="1"/>
          </p:cNvPicPr>
          <p:nvPr/>
        </p:nvPicPr>
        <p:blipFill>
          <a:blip r:embed="rId8"/>
          <a:stretch>
            <a:fillRect/>
          </a:stretch>
        </p:blipFill>
        <p:spPr>
          <a:xfrm>
            <a:off x="7814462" y="1436522"/>
            <a:ext cx="281635" cy="281635"/>
          </a:xfrm>
          <a:prstGeom prst="rect">
            <a:avLst/>
          </a:prstGeom>
        </p:spPr>
      </p:pic>
      <p:sp>
        <p:nvSpPr>
          <p:cNvPr id="35" name="Text 24"/>
          <p:cNvSpPr/>
          <p:nvPr/>
        </p:nvSpPr>
        <p:spPr>
          <a:xfrm>
            <a:off x="7178040" y="1965960"/>
            <a:ext cx="1554480" cy="274320"/>
          </a:xfrm>
          <a:prstGeom prst="rect">
            <a:avLst/>
          </a:prstGeom>
          <a:noFill/>
          <a:ln/>
        </p:spPr>
        <p:txBody>
          <a:bodyPr wrap="square" lIns="0" tIns="0" rIns="0" bIns="0" rtlCol="0" anchor="ctr"/>
          <a:lstStyle/>
          <a:p>
            <a:pPr marL="0" indent="0" algn="ctr">
              <a:buNone/>
            </a:pPr>
            <a:r>
              <a:rPr lang="en-US" sz="1200" b="1" dirty="0">
                <a:solidFill>
                  <a:srgbClr val="0F2A44"/>
                </a:solidFill>
                <a:latin typeface="Calibri" pitchFamily="34" charset="0"/>
                <a:ea typeface="Calibri" pitchFamily="34" charset="-122"/>
                <a:cs typeface="Calibri" pitchFamily="34" charset="-120"/>
              </a:rPr>
              <a:t>5. Score &amp; report</a:t>
            </a:r>
            <a:endParaRPr lang="en-US" sz="1200" dirty="0"/>
          </a:p>
        </p:txBody>
      </p:sp>
      <p:sp>
        <p:nvSpPr>
          <p:cNvPr id="36" name="Text 25"/>
          <p:cNvSpPr/>
          <p:nvPr/>
        </p:nvSpPr>
        <p:spPr>
          <a:xfrm>
            <a:off x="7178040" y="2240280"/>
            <a:ext cx="1554480" cy="274320"/>
          </a:xfrm>
          <a:prstGeom prst="rect">
            <a:avLst/>
          </a:prstGeom>
          <a:noFill/>
          <a:ln/>
        </p:spPr>
        <p:txBody>
          <a:bodyPr wrap="square" lIns="0" tIns="0" rIns="0" bIns="0" rtlCol="0" anchor="ctr"/>
          <a:lstStyle/>
          <a:p>
            <a:pPr marL="0" indent="0" algn="ctr">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7" name="Shape 26"/>
          <p:cNvSpPr/>
          <p:nvPr/>
        </p:nvSpPr>
        <p:spPr>
          <a:xfrm>
            <a:off x="457200" y="2926080"/>
            <a:ext cx="8229600" cy="1691640"/>
          </a:xfrm>
          <a:prstGeom prst="rect">
            <a:avLst/>
          </a:prstGeom>
          <a:solidFill>
            <a:srgbClr val="F8FAFC"/>
          </a:solidFill>
          <a:ln w="9525">
            <a:solidFill>
              <a:srgbClr val="E2E8F0"/>
            </a:solidFill>
            <a:prstDash val="solid"/>
          </a:ln>
        </p:spPr>
      </p:sp>
      <p:sp>
        <p:nvSpPr>
          <p:cNvPr id="38" name="Shape 27"/>
          <p:cNvSpPr/>
          <p:nvPr/>
        </p:nvSpPr>
        <p:spPr>
          <a:xfrm>
            <a:off x="457200" y="2926080"/>
            <a:ext cx="54864" cy="1691640"/>
          </a:xfrm>
          <a:prstGeom prst="rect">
            <a:avLst/>
          </a:prstGeom>
          <a:solidFill>
            <a:srgbClr val="0D9488"/>
          </a:solidFill>
          <a:ln w="12700">
            <a:solidFill>
              <a:srgbClr val="0D9488"/>
            </a:solidFill>
            <a:prstDash val="solid"/>
          </a:ln>
        </p:spPr>
      </p:sp>
      <p:sp>
        <p:nvSpPr>
          <p:cNvPr id="39" name="Text 28"/>
          <p:cNvSpPr/>
          <p:nvPr/>
        </p:nvSpPr>
        <p:spPr>
          <a:xfrm>
            <a:off x="731520" y="3017520"/>
            <a:ext cx="777240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Key design choices</a:t>
            </a:r>
            <a:endParaRPr lang="en-US" sz="1400" dirty="0"/>
          </a:p>
        </p:txBody>
      </p:sp>
      <p:sp>
        <p:nvSpPr>
          <p:cNvPr id="40" name="Text 29"/>
          <p:cNvSpPr/>
          <p:nvPr/>
        </p:nvSpPr>
        <p:spPr>
          <a:xfrm>
            <a:off x="822960" y="3364992"/>
            <a:ext cx="7680960" cy="118872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Async pipeline: long analyses don't block the API; Spring @Async with TransactionSynchronization.afterCommit() ensures consistency</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AntiPatternDetector; adding a new detector means no orchestrator changes</a:t>
            </a:r>
            <a:endParaRPr lang="en-US" sz="1100" dirty="0"/>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41" name="Text 30"/>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2" name="Text 31"/>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Spotlight: God Service detection</a:t>
            </a:r>
            <a:endParaRPr lang="en-US" sz="2800" dirty="0"/>
          </a:p>
        </p:txBody>
      </p:sp>
      <p:sp>
        <p:nvSpPr>
          <p:cNvPr id="3" name="Text 1"/>
          <p:cNvSpPr/>
          <p:nvPr/>
        </p:nvSpPr>
        <p:spPr>
          <a:xfrm>
            <a:off x="457200" y="868680"/>
            <a:ext cx="393192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bridge in action</a:t>
            </a:r>
            <a:endParaRPr lang="en-US" sz="1400" dirty="0"/>
          </a:p>
        </p:txBody>
      </p:sp>
      <p:sp>
        <p:nvSpPr>
          <p:cNvPr id="4" name="Shape 2"/>
          <p:cNvSpPr/>
          <p:nvPr/>
        </p:nvSpPr>
        <p:spPr>
          <a:xfrm>
            <a:off x="457200" y="1280160"/>
            <a:ext cx="3931920" cy="914400"/>
          </a:xfrm>
          <a:prstGeom prst="rect">
            <a:avLst/>
          </a:prstGeom>
          <a:solidFill>
            <a:srgbClr val="F8FAFC"/>
          </a:solidFill>
          <a:ln w="9525">
            <a:solidFill>
              <a:srgbClr val="E2E8F0"/>
            </a:solidFill>
            <a:prstDash val="solid"/>
          </a:ln>
        </p:spPr>
      </p:sp>
      <p:sp>
        <p:nvSpPr>
          <p:cNvPr id="5" name="Shape 3"/>
          <p:cNvSpPr/>
          <p:nvPr/>
        </p:nvSpPr>
        <p:spPr>
          <a:xfrm>
            <a:off x="457200" y="1280160"/>
            <a:ext cx="54864" cy="914400"/>
          </a:xfrm>
          <a:prstGeom prst="rect">
            <a:avLst/>
          </a:prstGeom>
          <a:solidFill>
            <a:srgbClr val="1C4E80"/>
          </a:solidFill>
          <a:ln w="12700">
            <a:solidFill>
              <a:srgbClr val="1C4E80"/>
            </a:solidFill>
            <a:prstDash val="solid"/>
          </a:ln>
        </p:spPr>
      </p:sp>
      <p:sp>
        <p:nvSpPr>
          <p:cNvPr id="6" name="Text 4"/>
          <p:cNvSpPr/>
          <p:nvPr/>
        </p:nvSpPr>
        <p:spPr>
          <a:xfrm>
            <a:off x="640080" y="132588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Code level</a:t>
            </a:r>
            <a:endParaRPr lang="en-US" sz="1100" dirty="0"/>
          </a:p>
        </p:txBody>
      </p:sp>
      <p:sp>
        <p:nvSpPr>
          <p:cNvPr id="7" name="Text 5"/>
          <p:cNvSpPr/>
          <p:nvPr/>
        </p:nvSpPr>
        <p:spPr>
          <a:xfrm>
            <a:off x="640080" y="157276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Class smell (per class)</a:t>
            </a:r>
            <a:endParaRPr lang="en-US" sz="1300" dirty="0"/>
          </a:p>
        </p:txBody>
      </p:sp>
      <p:sp>
        <p:nvSpPr>
          <p:cNvPr id="8" name="Text 6"/>
          <p:cNvSpPr/>
          <p:nvPr/>
        </p:nvSpPr>
        <p:spPr>
          <a:xfrm>
            <a:off x="640080" y="1847088"/>
            <a:ext cx="36576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Detected by DesigniteJava, persisted as CodeSmell entities</a:t>
            </a:r>
            <a:endParaRPr lang="en-US" sz="1000" dirty="0"/>
          </a:p>
        </p:txBody>
      </p:sp>
      <p:sp>
        <p:nvSpPr>
          <p:cNvPr id="9" name="Shape 7"/>
          <p:cNvSpPr/>
          <p:nvPr/>
        </p:nvSpPr>
        <p:spPr>
          <a:xfrm>
            <a:off x="2423160" y="2286000"/>
            <a:ext cx="0" cy="320040"/>
          </a:xfrm>
          <a:prstGeom prst="line">
            <a:avLst/>
          </a:prstGeom>
          <a:noFill/>
          <a:ln w="31750">
            <a:solidFill>
              <a:srgbClr val="0D9488"/>
            </a:solidFill>
            <a:prstDash val="solid"/>
            <a:tailEnd type="triangle"/>
          </a:ln>
        </p:spPr>
      </p:sp>
      <p:sp>
        <p:nvSpPr>
          <p:cNvPr id="10" name="Shape 8"/>
          <p:cNvSpPr/>
          <p:nvPr/>
        </p:nvSpPr>
        <p:spPr>
          <a:xfrm>
            <a:off x="457200" y="2697480"/>
            <a:ext cx="3931920" cy="960120"/>
          </a:xfrm>
          <a:prstGeom prst="rect">
            <a:avLst/>
          </a:prstGeom>
          <a:solidFill>
            <a:srgbClr val="F8FAFC"/>
          </a:solidFill>
          <a:ln w="9525">
            <a:solidFill>
              <a:srgbClr val="E2E8F0"/>
            </a:solidFill>
            <a:prstDash val="solid"/>
          </a:ln>
        </p:spPr>
      </p:sp>
      <p:sp>
        <p:nvSpPr>
          <p:cNvPr id="11" name="Shape 9"/>
          <p:cNvSpPr/>
          <p:nvPr/>
        </p:nvSpPr>
        <p:spPr>
          <a:xfrm>
            <a:off x="457200" y="2697480"/>
            <a:ext cx="54864" cy="960120"/>
          </a:xfrm>
          <a:prstGeom prst="rect">
            <a:avLst/>
          </a:prstGeom>
          <a:solidFill>
            <a:srgbClr val="0D9488"/>
          </a:solidFill>
          <a:ln w="12700">
            <a:solidFill>
              <a:srgbClr val="0D9488"/>
            </a:solidFill>
            <a:prstDash val="solid"/>
          </a:ln>
        </p:spPr>
      </p:sp>
      <p:sp>
        <p:nvSpPr>
          <p:cNvPr id="12" name="Text 10"/>
          <p:cNvSpPr/>
          <p:nvPr/>
        </p:nvSpPr>
        <p:spPr>
          <a:xfrm>
            <a:off x="640080" y="2743200"/>
            <a:ext cx="3657600" cy="274320"/>
          </a:xfrm>
          <a:prstGeom prst="rect">
            <a:avLst/>
          </a:prstGeom>
          <a:noFill/>
          <a:ln/>
        </p:spPr>
        <p:txBody>
          <a:bodyPr wrap="square" lIns="0" tIns="0" rIns="0" bIns="0" rtlCol="0" anchor="ctr"/>
          <a:lstStyle/>
          <a:p>
            <a:pPr marL="0" indent="0">
              <a:buNone/>
            </a:pPr>
            <a:r>
              <a:rPr lang="en-US" sz="1100" b="1" dirty="0">
                <a:solidFill>
                  <a:srgbClr val="64748B"/>
                </a:solidFill>
                <a:latin typeface="Calibri" pitchFamily="34" charset="0"/>
                <a:ea typeface="Calibri" pitchFamily="34" charset="-122"/>
                <a:cs typeface="Calibri" pitchFamily="34" charset="-120"/>
              </a:rPr>
              <a:t>Architectural level</a:t>
            </a:r>
            <a:endParaRPr lang="en-US" sz="1100" dirty="0"/>
          </a:p>
        </p:txBody>
      </p:sp>
      <p:sp>
        <p:nvSpPr>
          <p:cNvPr id="13" name="Text 11"/>
          <p:cNvSpPr/>
          <p:nvPr/>
        </p:nvSpPr>
        <p:spPr>
          <a:xfrm>
            <a:off x="640080" y="2990088"/>
            <a:ext cx="3657600" cy="292608"/>
          </a:xfrm>
          <a:prstGeom prst="rect">
            <a:avLst/>
          </a:prstGeom>
          <a:noFill/>
          <a:ln/>
        </p:spPr>
        <p:txBody>
          <a:bodyPr wrap="square" lIns="0" tIns="0" rIns="0" bIns="0" rtlCol="0" anchor="ctr"/>
          <a:lstStyle/>
          <a:p>
            <a:pPr marL="0" indent="0">
              <a:buNone/>
            </a:pPr>
            <a:r>
              <a:rPr lang="en-US" sz="1300" b="1" dirty="0">
                <a:solidFill>
                  <a:srgbClr val="1E293B"/>
                </a:solidFill>
                <a:latin typeface="Calibri" pitchFamily="34" charset="0"/>
                <a:ea typeface="Calibri" pitchFamily="34" charset="-122"/>
                <a:cs typeface="Calibri" pitchFamily="34" charset="-120"/>
              </a:rPr>
              <a:t>God Service (per microservice)</a:t>
            </a:r>
            <a:endParaRPr lang="en-US" sz="1300" dirty="0"/>
          </a:p>
        </p:txBody>
      </p:sp>
      <p:sp>
        <p:nvSpPr>
          <p:cNvPr id="14" name="Text 12"/>
          <p:cNvSpPr/>
          <p:nvPr/>
        </p:nvSpPr>
        <p:spPr>
          <a:xfrm>
            <a:off x="640080" y="3264408"/>
            <a:ext cx="3657600" cy="36576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 θ_god God Classes detected (default = 1)</a:t>
            </a:r>
            <a:endParaRPr lang="en-US" sz="1000" dirty="0"/>
          </a:p>
        </p:txBody>
      </p:sp>
      <p:sp>
        <p:nvSpPr>
          <p:cNvPr id="15" name="Text 13"/>
          <p:cNvSpPr/>
          <p:nvPr/>
        </p:nvSpPr>
        <p:spPr>
          <a:xfrm>
            <a:off x="4663440" y="868680"/>
            <a:ext cx="4023360" cy="320040"/>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Spoon-based fallback</a:t>
            </a:r>
            <a:endParaRPr lang="en-US" sz="1400" dirty="0"/>
          </a:p>
        </p:txBody>
      </p:sp>
      <p:sp>
        <p:nvSpPr>
          <p:cNvPr id="16" name="Text 14"/>
          <p:cNvSpPr/>
          <p:nvPr/>
        </p:nvSpPr>
        <p:spPr>
          <a:xfrm>
            <a:off x="4663440" y="1207008"/>
            <a:ext cx="4023360" cy="59436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If DesigniteJava reports zero God Classes, a Spoon-based structural analysis evaluates each class against six metrics:</a:t>
            </a:r>
            <a:endParaRPr lang="en-US" sz="1100" dirty="0"/>
          </a:p>
        </p:txBody>
      </p:sp>
      <p:sp>
        <p:nvSpPr>
          <p:cNvPr id="17" name="Text 15"/>
          <p:cNvSpPr/>
          <p:nvPr/>
        </p:nvSpPr>
        <p:spPr>
          <a:xfrm>
            <a:off x="4846320" y="1783080"/>
            <a:ext cx="3840480" cy="1920240"/>
          </a:xfrm>
          <a:prstGeom prst="rect">
            <a:avLst/>
          </a:prstGeom>
          <a:noFill/>
          <a:ln/>
        </p:spPr>
        <p:txBody>
          <a:bodyPr wrap="square" lIns="0" tIns="0" rIns="0" bIns="0" rtlCol="0" anchor="ctr"/>
          <a:lstStyle/>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1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18" name="Shape 16"/>
          <p:cNvSpPr/>
          <p:nvPr/>
        </p:nvSpPr>
        <p:spPr>
          <a:xfrm>
            <a:off x="4663440" y="3794760"/>
            <a:ext cx="4023360" cy="502920"/>
          </a:xfrm>
          <a:prstGeom prst="rect">
            <a:avLst/>
          </a:prstGeom>
          <a:solidFill>
            <a:srgbClr val="0F2A44"/>
          </a:solidFill>
          <a:ln w="12700">
            <a:solidFill>
              <a:srgbClr val="0F2A44"/>
            </a:solidFill>
            <a:prstDash val="solid"/>
          </a:ln>
        </p:spPr>
      </p:sp>
      <p:sp>
        <p:nvSpPr>
          <p:cNvPr id="19" name="Text 17"/>
          <p:cNvSpPr/>
          <p:nvPr/>
        </p:nvSpPr>
        <p:spPr>
          <a:xfrm>
            <a:off x="4663440" y="3794760"/>
            <a:ext cx="4023360" cy="50292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Flag class as God Class if ≥ 3 of 6 thresholds exceeded</a:t>
            </a:r>
            <a:endParaRPr lang="en-US" sz="1100" dirty="0"/>
          </a:p>
        </p:txBody>
      </p:sp>
      <p:sp>
        <p:nvSpPr>
          <p:cNvPr id="20" name="Text 18"/>
          <p:cNvSpPr/>
          <p:nvPr/>
        </p:nvSpPr>
        <p:spPr>
          <a:xfrm>
            <a:off x="457200" y="3794760"/>
            <a:ext cx="3931920" cy="50292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Code-level evidence → architectural-level finding</a:t>
            </a:r>
            <a:endParaRPr lang="en-US" sz="1100" dirty="0"/>
          </a:p>
        </p:txBody>
      </p:sp>
      <p:sp>
        <p:nvSpPr>
          <p:cNvPr id="21" name="Text 19"/>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22" name="Text 20"/>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Ten detectors across four dimensions</a:t>
            </a:r>
            <a:endParaRPr lang="en-US" sz="2800" dirty="0"/>
          </a:p>
        </p:txBody>
      </p:sp>
      <p:sp>
        <p:nvSpPr>
          <p:cNvPr id="3" name="Shape 1"/>
          <p:cNvSpPr/>
          <p:nvPr/>
        </p:nvSpPr>
        <p:spPr>
          <a:xfrm>
            <a:off x="457200" y="1005840"/>
            <a:ext cx="2011680" cy="3383280"/>
          </a:xfrm>
          <a:prstGeom prst="rect">
            <a:avLst/>
          </a:prstGeom>
          <a:solidFill>
            <a:srgbClr val="F8FAFC"/>
          </a:solidFill>
          <a:ln w="9525">
            <a:solidFill>
              <a:srgbClr val="E2E8F0"/>
            </a:solidFill>
            <a:prstDash val="solid"/>
          </a:ln>
        </p:spPr>
      </p:sp>
      <p:sp>
        <p:nvSpPr>
          <p:cNvPr id="4" name="Shape 2"/>
          <p:cNvSpPr/>
          <p:nvPr/>
        </p:nvSpPr>
        <p:spPr>
          <a:xfrm>
            <a:off x="457200" y="1005840"/>
            <a:ext cx="2011680" cy="411480"/>
          </a:xfrm>
          <a:prstGeom prst="rect">
            <a:avLst/>
          </a:prstGeom>
          <a:solidFill>
            <a:srgbClr val="1C4E80"/>
          </a:solidFill>
          <a:ln w="12700">
            <a:solidFill>
              <a:srgbClr val="1C4E80"/>
            </a:solidFill>
            <a:prstDash val="solid"/>
          </a:ln>
        </p:spPr>
      </p:sp>
      <p:sp>
        <p:nvSpPr>
          <p:cNvPr id="5" name="Text 3"/>
          <p:cNvSpPr/>
          <p:nvPr/>
        </p:nvSpPr>
        <p:spPr>
          <a:xfrm>
            <a:off x="54864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Service Design</a:t>
            </a:r>
            <a:endParaRPr lang="en-US" sz="1200" dirty="0"/>
          </a:p>
        </p:txBody>
      </p:sp>
      <p:sp>
        <p:nvSpPr>
          <p:cNvPr id="6" name="Text 4"/>
          <p:cNvSpPr/>
          <p:nvPr/>
        </p:nvSpPr>
        <p:spPr>
          <a:xfrm>
            <a:off x="59436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Nano Service</a:t>
            </a:r>
            <a:endParaRPr lang="en-US" sz="1100" dirty="0"/>
          </a:p>
        </p:txBody>
      </p:sp>
      <p:sp>
        <p:nvSpPr>
          <p:cNvPr id="7" name="Text 5"/>
          <p:cNvSpPr/>
          <p:nvPr/>
        </p:nvSpPr>
        <p:spPr>
          <a:xfrm>
            <a:off x="59436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8" name="Text 6"/>
          <p:cNvSpPr/>
          <p:nvPr/>
        </p:nvSpPr>
        <p:spPr>
          <a:xfrm>
            <a:off x="59436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God Service</a:t>
            </a:r>
            <a:endParaRPr lang="en-US" sz="1100" dirty="0"/>
          </a:p>
        </p:txBody>
      </p:sp>
      <p:sp>
        <p:nvSpPr>
          <p:cNvPr id="9" name="Text 7"/>
          <p:cNvSpPr/>
          <p:nvPr/>
        </p:nvSpPr>
        <p:spPr>
          <a:xfrm>
            <a:off x="59436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0" name="Shape 8"/>
          <p:cNvSpPr/>
          <p:nvPr/>
        </p:nvSpPr>
        <p:spPr>
          <a:xfrm>
            <a:off x="2606040" y="1005840"/>
            <a:ext cx="2011680" cy="3383280"/>
          </a:xfrm>
          <a:prstGeom prst="rect">
            <a:avLst/>
          </a:prstGeom>
          <a:solidFill>
            <a:srgbClr val="F8FAFC"/>
          </a:solidFill>
          <a:ln w="9525">
            <a:solidFill>
              <a:srgbClr val="E2E8F0"/>
            </a:solidFill>
            <a:prstDash val="solid"/>
          </a:ln>
        </p:spPr>
      </p:sp>
      <p:sp>
        <p:nvSpPr>
          <p:cNvPr id="11" name="Shape 9"/>
          <p:cNvSpPr/>
          <p:nvPr/>
        </p:nvSpPr>
        <p:spPr>
          <a:xfrm>
            <a:off x="2606040" y="1005840"/>
            <a:ext cx="2011680" cy="411480"/>
          </a:xfrm>
          <a:prstGeom prst="rect">
            <a:avLst/>
          </a:prstGeom>
          <a:solidFill>
            <a:srgbClr val="0D9488"/>
          </a:solidFill>
          <a:ln w="12700">
            <a:solidFill>
              <a:srgbClr val="0D9488"/>
            </a:solidFill>
            <a:prstDash val="solid"/>
          </a:ln>
        </p:spPr>
      </p:sp>
      <p:sp>
        <p:nvSpPr>
          <p:cNvPr id="12" name="Text 10"/>
          <p:cNvSpPr/>
          <p:nvPr/>
        </p:nvSpPr>
        <p:spPr>
          <a:xfrm>
            <a:off x="269748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13" name="Text 11"/>
          <p:cNvSpPr/>
          <p:nvPr/>
        </p:nvSpPr>
        <p:spPr>
          <a:xfrm>
            <a:off x="274320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Chatty Service</a:t>
            </a:r>
            <a:endParaRPr lang="en-US" sz="1100" dirty="0"/>
          </a:p>
        </p:txBody>
      </p:sp>
      <p:sp>
        <p:nvSpPr>
          <p:cNvPr id="14" name="Text 12"/>
          <p:cNvSpPr/>
          <p:nvPr/>
        </p:nvSpPr>
        <p:spPr>
          <a:xfrm>
            <a:off x="274320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15" name="Text 13"/>
          <p:cNvSpPr/>
          <p:nvPr/>
        </p:nvSpPr>
        <p:spPr>
          <a:xfrm>
            <a:off x="274320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6" name="Text 14"/>
          <p:cNvSpPr/>
          <p:nvPr/>
        </p:nvSpPr>
        <p:spPr>
          <a:xfrm>
            <a:off x="274320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17" name="Text 15"/>
          <p:cNvSpPr/>
          <p:nvPr/>
        </p:nvSpPr>
        <p:spPr>
          <a:xfrm>
            <a:off x="274320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18" name="Text 16"/>
          <p:cNvSpPr/>
          <p:nvPr/>
        </p:nvSpPr>
        <p:spPr>
          <a:xfrm>
            <a:off x="274320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19" name="Text 17"/>
          <p:cNvSpPr/>
          <p:nvPr/>
        </p:nvSpPr>
        <p:spPr>
          <a:xfrm>
            <a:off x="2743200" y="3255264"/>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ESB Misuse</a:t>
            </a:r>
            <a:endParaRPr lang="en-US" sz="1100" dirty="0"/>
          </a:p>
        </p:txBody>
      </p:sp>
      <p:sp>
        <p:nvSpPr>
          <p:cNvPr id="20" name="Text 18"/>
          <p:cNvSpPr/>
          <p:nvPr/>
        </p:nvSpPr>
        <p:spPr>
          <a:xfrm>
            <a:off x="2743200" y="3502152"/>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1" name="Shape 19"/>
          <p:cNvSpPr/>
          <p:nvPr/>
        </p:nvSpPr>
        <p:spPr>
          <a:xfrm>
            <a:off x="4754880" y="1005840"/>
            <a:ext cx="2011680" cy="3383280"/>
          </a:xfrm>
          <a:prstGeom prst="rect">
            <a:avLst/>
          </a:prstGeom>
          <a:solidFill>
            <a:srgbClr val="F8FAFC"/>
          </a:solidFill>
          <a:ln w="9525">
            <a:solidFill>
              <a:srgbClr val="E2E8F0"/>
            </a:solidFill>
            <a:prstDash val="solid"/>
          </a:ln>
        </p:spPr>
      </p:sp>
      <p:sp>
        <p:nvSpPr>
          <p:cNvPr id="22" name="Shape 20"/>
          <p:cNvSpPr/>
          <p:nvPr/>
        </p:nvSpPr>
        <p:spPr>
          <a:xfrm>
            <a:off x="4754880" y="1005840"/>
            <a:ext cx="2011680" cy="411480"/>
          </a:xfrm>
          <a:prstGeom prst="rect">
            <a:avLst/>
          </a:prstGeom>
          <a:solidFill>
            <a:srgbClr val="D97706"/>
          </a:solidFill>
          <a:ln w="12700">
            <a:solidFill>
              <a:srgbClr val="D97706"/>
            </a:solidFill>
            <a:prstDash val="solid"/>
          </a:ln>
        </p:spPr>
      </p:sp>
      <p:sp>
        <p:nvSpPr>
          <p:cNvPr id="23" name="Text 21"/>
          <p:cNvSpPr/>
          <p:nvPr/>
        </p:nvSpPr>
        <p:spPr>
          <a:xfrm>
            <a:off x="484632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Data Management</a:t>
            </a:r>
            <a:endParaRPr lang="en-US" sz="1200" dirty="0"/>
          </a:p>
        </p:txBody>
      </p:sp>
      <p:sp>
        <p:nvSpPr>
          <p:cNvPr id="24" name="Text 22"/>
          <p:cNvSpPr/>
          <p:nvPr/>
        </p:nvSpPr>
        <p:spPr>
          <a:xfrm>
            <a:off x="489204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Shared Database</a:t>
            </a:r>
            <a:endParaRPr lang="en-US" sz="1100" dirty="0"/>
          </a:p>
        </p:txBody>
      </p:sp>
      <p:sp>
        <p:nvSpPr>
          <p:cNvPr id="25" name="Text 23"/>
          <p:cNvSpPr/>
          <p:nvPr/>
        </p:nvSpPr>
        <p:spPr>
          <a:xfrm>
            <a:off x="489204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26" name="Shape 24"/>
          <p:cNvSpPr/>
          <p:nvPr/>
        </p:nvSpPr>
        <p:spPr>
          <a:xfrm>
            <a:off x="6903720" y="1005840"/>
            <a:ext cx="2011680" cy="3383280"/>
          </a:xfrm>
          <a:prstGeom prst="rect">
            <a:avLst/>
          </a:prstGeom>
          <a:solidFill>
            <a:srgbClr val="F8FAFC"/>
          </a:solidFill>
          <a:ln w="9525">
            <a:solidFill>
              <a:srgbClr val="E2E8F0"/>
            </a:solidFill>
            <a:prstDash val="solid"/>
          </a:ln>
        </p:spPr>
      </p:sp>
      <p:sp>
        <p:nvSpPr>
          <p:cNvPr id="27" name="Shape 25"/>
          <p:cNvSpPr/>
          <p:nvPr/>
        </p:nvSpPr>
        <p:spPr>
          <a:xfrm>
            <a:off x="6903720" y="1005840"/>
            <a:ext cx="2011680" cy="411480"/>
          </a:xfrm>
          <a:prstGeom prst="rect">
            <a:avLst/>
          </a:prstGeom>
          <a:solidFill>
            <a:srgbClr val="DC2626"/>
          </a:solidFill>
          <a:ln w="12700">
            <a:solidFill>
              <a:srgbClr val="DC2626"/>
            </a:solidFill>
            <a:prstDash val="solid"/>
          </a:ln>
        </p:spPr>
      </p:sp>
      <p:sp>
        <p:nvSpPr>
          <p:cNvPr id="28" name="Text 26"/>
          <p:cNvSpPr/>
          <p:nvPr/>
        </p:nvSpPr>
        <p:spPr>
          <a:xfrm>
            <a:off x="6995160" y="1005840"/>
            <a:ext cx="1828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Deployment &amp; Coupling</a:t>
            </a:r>
            <a:endParaRPr lang="en-US" sz="1200" dirty="0"/>
          </a:p>
        </p:txBody>
      </p:sp>
      <p:sp>
        <p:nvSpPr>
          <p:cNvPr id="29" name="Text 27"/>
          <p:cNvSpPr/>
          <p:nvPr/>
        </p:nvSpPr>
        <p:spPr>
          <a:xfrm>
            <a:off x="7040880" y="1554480"/>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Distributed Monolith</a:t>
            </a:r>
            <a:endParaRPr lang="en-US" sz="1100" dirty="0"/>
          </a:p>
        </p:txBody>
      </p:sp>
      <p:sp>
        <p:nvSpPr>
          <p:cNvPr id="30" name="Text 28"/>
          <p:cNvSpPr/>
          <p:nvPr/>
        </p:nvSpPr>
        <p:spPr>
          <a:xfrm>
            <a:off x="7040880" y="1801368"/>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critical</a:t>
            </a:r>
            <a:endParaRPr lang="en-US" sz="900" dirty="0"/>
          </a:p>
        </p:txBody>
      </p:sp>
      <p:sp>
        <p:nvSpPr>
          <p:cNvPr id="31" name="Text 29"/>
          <p:cNvSpPr/>
          <p:nvPr/>
        </p:nvSpPr>
        <p:spPr>
          <a:xfrm>
            <a:off x="7040880" y="2121408"/>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32" name="Text 30"/>
          <p:cNvSpPr/>
          <p:nvPr/>
        </p:nvSpPr>
        <p:spPr>
          <a:xfrm>
            <a:off x="7040880" y="2368296"/>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med</a:t>
            </a:r>
            <a:endParaRPr lang="en-US" sz="900" dirty="0"/>
          </a:p>
        </p:txBody>
      </p:sp>
      <p:sp>
        <p:nvSpPr>
          <p:cNvPr id="33" name="Text 31"/>
          <p:cNvSpPr/>
          <p:nvPr/>
        </p:nvSpPr>
        <p:spPr>
          <a:xfrm>
            <a:off x="7040880" y="2688336"/>
            <a:ext cx="1828800" cy="256032"/>
          </a:xfrm>
          <a:prstGeom prst="rect">
            <a:avLst/>
          </a:prstGeom>
          <a:noFill/>
          <a:ln/>
        </p:spPr>
        <p:txBody>
          <a:bodyPr wrap="square" lIns="0" tIns="0" rIns="0" bIns="0" rtlCol="0" anchor="ctr"/>
          <a:lstStyle/>
          <a:p>
            <a:pPr marL="0" indent="0">
              <a:buNone/>
            </a:pPr>
            <a:r>
              <a:rPr lang="en-US" sz="1100" b="1" dirty="0">
                <a:solidFill>
                  <a:srgbClr val="1E293B"/>
                </a:solidFill>
                <a:latin typeface="Calibri" pitchFamily="34" charset="0"/>
                <a:ea typeface="Calibri" pitchFamily="34" charset="-122"/>
                <a:cs typeface="Calibri" pitchFamily="34" charset="-120"/>
              </a:rPr>
              <a:t>Wrong Cuts</a:t>
            </a:r>
            <a:endParaRPr lang="en-US" sz="1100" dirty="0"/>
          </a:p>
        </p:txBody>
      </p:sp>
      <p:sp>
        <p:nvSpPr>
          <p:cNvPr id="34" name="Text 32"/>
          <p:cNvSpPr/>
          <p:nvPr/>
        </p:nvSpPr>
        <p:spPr>
          <a:xfrm>
            <a:off x="7040880" y="2935224"/>
            <a:ext cx="1828800" cy="201168"/>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high</a:t>
            </a:r>
            <a:endParaRPr lang="en-US" sz="900" dirty="0"/>
          </a:p>
        </p:txBody>
      </p:sp>
      <p:sp>
        <p:nvSpPr>
          <p:cNvPr id="35" name="Shape 33"/>
          <p:cNvSpPr/>
          <p:nvPr/>
        </p:nvSpPr>
        <p:spPr>
          <a:xfrm>
            <a:off x="457200" y="4526280"/>
            <a:ext cx="8229600" cy="320040"/>
          </a:xfrm>
          <a:prstGeom prst="rect">
            <a:avLst/>
          </a:prstGeom>
          <a:solidFill>
            <a:srgbClr val="0F2A44"/>
          </a:solidFill>
          <a:ln w="12700">
            <a:solidFill>
              <a:srgbClr val="0F2A44"/>
            </a:solidFill>
            <a:prstDash val="solid"/>
          </a:ln>
        </p:spPr>
      </p:sp>
      <p:sp>
        <p:nvSpPr>
          <p:cNvPr id="36" name="Text 34"/>
          <p:cNvSpPr/>
          <p:nvPr/>
        </p:nvSpPr>
        <p:spPr>
          <a:xfrm>
            <a:off x="457200" y="4526280"/>
            <a:ext cx="8229600" cy="320040"/>
          </a:xfrm>
          <a:prstGeom prst="rect">
            <a:avLst/>
          </a:prstGeom>
          <a:noFill/>
          <a:ln/>
        </p:spPr>
        <p:txBody>
          <a:bodyPr wrap="square" lIns="0" tIns="0" rIns="0" bIns="0" rtlCol="0" anchor="ctr"/>
          <a:lstStyle/>
          <a:p>
            <a:pPr marL="0" indent="0" algn="ctr">
              <a:buNone/>
            </a:pPr>
            <a:r>
              <a:rPr lang="en-US" sz="1100" i="1" dirty="0">
                <a:solidFill>
                  <a:srgbClr val="FFFFFF"/>
                </a:solidFill>
                <a:latin typeface="Calibri" pitchFamily="34" charset="0"/>
                <a:ea typeface="Calibri" pitchFamily="34" charset="-122"/>
                <a:cs typeface="Calibri" pitchFamily="34" charset="-120"/>
              </a:rPr>
              <a:t>All detectors are pluggable Strategy components with configurable thresholds</a:t>
            </a:r>
            <a:endParaRPr lang="en-US" sz="1100" dirty="0"/>
          </a:p>
        </p:txBody>
      </p:sp>
      <p:sp>
        <p:nvSpPr>
          <p:cNvPr id="37" name="Text 3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38" name="Text 3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Composite health score: four-category decomposition</a:t>
            </a:r>
            <a:endParaRPr lang="en-US" sz="2800" dirty="0"/>
          </a:p>
        </p:txBody>
      </p:sp>
      <p:sp>
        <p:nvSpPr>
          <p:cNvPr id="3" name="Shape 1"/>
          <p:cNvSpPr/>
          <p:nvPr/>
        </p:nvSpPr>
        <p:spPr>
          <a:xfrm>
            <a:off x="457200" y="960120"/>
            <a:ext cx="2011680" cy="1417320"/>
          </a:xfrm>
          <a:prstGeom prst="rect">
            <a:avLst/>
          </a:prstGeom>
          <a:solidFill>
            <a:srgbClr val="F8FAFC"/>
          </a:solidFill>
          <a:ln w="9525">
            <a:solidFill>
              <a:srgbClr val="E2E8F0"/>
            </a:solidFill>
            <a:prstDash val="solid"/>
          </a:ln>
        </p:spPr>
      </p:sp>
      <p:sp>
        <p:nvSpPr>
          <p:cNvPr id="4" name="Shape 2"/>
          <p:cNvSpPr/>
          <p:nvPr/>
        </p:nvSpPr>
        <p:spPr>
          <a:xfrm>
            <a:off x="457200" y="960120"/>
            <a:ext cx="2011680" cy="73152"/>
          </a:xfrm>
          <a:prstGeom prst="rect">
            <a:avLst/>
          </a:prstGeom>
          <a:solidFill>
            <a:srgbClr val="DC2626"/>
          </a:solidFill>
          <a:ln w="12700">
            <a:solidFill>
              <a:srgbClr val="DC2626"/>
            </a:solidFill>
            <a:prstDash val="solid"/>
          </a:ln>
        </p:spPr>
      </p:sp>
      <p:sp>
        <p:nvSpPr>
          <p:cNvPr id="5" name="Text 3"/>
          <p:cNvSpPr/>
          <p:nvPr/>
        </p:nvSpPr>
        <p:spPr>
          <a:xfrm>
            <a:off x="457200" y="1078992"/>
            <a:ext cx="2011680" cy="548640"/>
          </a:xfrm>
          <a:prstGeom prst="rect">
            <a:avLst/>
          </a:prstGeom>
          <a:noFill/>
          <a:ln/>
        </p:spPr>
        <p:txBody>
          <a:bodyPr wrap="square" lIns="0" tIns="0" rIns="0" bIns="0" rtlCol="0" anchor="ctr"/>
          <a:lstStyle/>
          <a:p>
            <a:pPr marL="0" indent="0" algn="ctr">
              <a:buNone/>
            </a:pPr>
            <a:r>
              <a:rPr lang="en-US" sz="3600" b="1" dirty="0">
                <a:solidFill>
                  <a:srgbClr val="DC2626"/>
                </a:solidFill>
                <a:latin typeface="Calibri" pitchFamily="34" charset="0"/>
                <a:ea typeface="Calibri" pitchFamily="34" charset="-122"/>
                <a:cs typeface="Calibri" pitchFamily="34" charset="-120"/>
              </a:rPr>
              <a:t>40</a:t>
            </a:r>
            <a:endParaRPr lang="en-US" sz="3600" dirty="0"/>
          </a:p>
        </p:txBody>
      </p:sp>
      <p:sp>
        <p:nvSpPr>
          <p:cNvPr id="6" name="Text 4"/>
          <p:cNvSpPr/>
          <p:nvPr/>
        </p:nvSpPr>
        <p:spPr>
          <a:xfrm>
            <a:off x="45720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Anti-Patterns</a:t>
            </a:r>
            <a:endParaRPr lang="en-US" sz="1300" dirty="0"/>
          </a:p>
        </p:txBody>
      </p:sp>
      <p:sp>
        <p:nvSpPr>
          <p:cNvPr id="7" name="Text 5"/>
          <p:cNvSpPr/>
          <p:nvPr/>
        </p:nvSpPr>
        <p:spPr>
          <a:xfrm>
            <a:off x="54864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−8/−5/−3/−1 per issue (crit/high/med/low)</a:t>
            </a:r>
            <a:endParaRPr lang="en-US" sz="950" dirty="0"/>
          </a:p>
        </p:txBody>
      </p:sp>
      <p:sp>
        <p:nvSpPr>
          <p:cNvPr id="8" name="Shape 6"/>
          <p:cNvSpPr/>
          <p:nvPr/>
        </p:nvSpPr>
        <p:spPr>
          <a:xfrm>
            <a:off x="2606040" y="960120"/>
            <a:ext cx="2011680" cy="1417320"/>
          </a:xfrm>
          <a:prstGeom prst="rect">
            <a:avLst/>
          </a:prstGeom>
          <a:solidFill>
            <a:srgbClr val="F8FAFC"/>
          </a:solidFill>
          <a:ln w="9525">
            <a:solidFill>
              <a:srgbClr val="E2E8F0"/>
            </a:solidFill>
            <a:prstDash val="solid"/>
          </a:ln>
        </p:spPr>
      </p:sp>
      <p:sp>
        <p:nvSpPr>
          <p:cNvPr id="9" name="Shape 7"/>
          <p:cNvSpPr/>
          <p:nvPr/>
        </p:nvSpPr>
        <p:spPr>
          <a:xfrm>
            <a:off x="2606040" y="960120"/>
            <a:ext cx="2011680" cy="73152"/>
          </a:xfrm>
          <a:prstGeom prst="rect">
            <a:avLst/>
          </a:prstGeom>
          <a:solidFill>
            <a:srgbClr val="D97706"/>
          </a:solidFill>
          <a:ln w="12700">
            <a:solidFill>
              <a:srgbClr val="D97706"/>
            </a:solidFill>
            <a:prstDash val="solid"/>
          </a:ln>
        </p:spPr>
      </p:sp>
      <p:sp>
        <p:nvSpPr>
          <p:cNvPr id="10" name="Text 8"/>
          <p:cNvSpPr/>
          <p:nvPr/>
        </p:nvSpPr>
        <p:spPr>
          <a:xfrm>
            <a:off x="2606040" y="1078992"/>
            <a:ext cx="2011680" cy="548640"/>
          </a:xfrm>
          <a:prstGeom prst="rect">
            <a:avLst/>
          </a:prstGeom>
          <a:noFill/>
          <a:ln/>
        </p:spPr>
        <p:txBody>
          <a:bodyPr wrap="square" lIns="0" tIns="0" rIns="0" bIns="0" rtlCol="0" anchor="ctr"/>
          <a:lstStyle/>
          <a:p>
            <a:pPr marL="0" indent="0" algn="ctr">
              <a:buNone/>
            </a:pPr>
            <a:r>
              <a:rPr lang="en-US" sz="3600" b="1" dirty="0">
                <a:solidFill>
                  <a:srgbClr val="D97706"/>
                </a:solidFill>
                <a:latin typeface="Calibri" pitchFamily="34" charset="0"/>
                <a:ea typeface="Calibri" pitchFamily="34" charset="-122"/>
                <a:cs typeface="Calibri" pitchFamily="34" charset="-120"/>
              </a:rPr>
              <a:t>20</a:t>
            </a:r>
            <a:endParaRPr lang="en-US" sz="3600" dirty="0"/>
          </a:p>
        </p:txBody>
      </p:sp>
      <p:sp>
        <p:nvSpPr>
          <p:cNvPr id="11" name="Text 9"/>
          <p:cNvSpPr/>
          <p:nvPr/>
        </p:nvSpPr>
        <p:spPr>
          <a:xfrm>
            <a:off x="260604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Code Quality</a:t>
            </a:r>
            <a:endParaRPr lang="en-US" sz="1300" dirty="0"/>
          </a:p>
        </p:txBody>
      </p:sp>
      <p:sp>
        <p:nvSpPr>
          <p:cNvPr id="12" name="Text 10"/>
          <p:cNvSpPr/>
          <p:nvPr/>
        </p:nvSpPr>
        <p:spPr>
          <a:xfrm>
            <a:off x="269748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Density-based penalty (smells / KLOC)</a:t>
            </a:r>
            <a:endParaRPr lang="en-US" sz="950" dirty="0"/>
          </a:p>
        </p:txBody>
      </p:sp>
      <p:sp>
        <p:nvSpPr>
          <p:cNvPr id="13" name="Shape 11"/>
          <p:cNvSpPr/>
          <p:nvPr/>
        </p:nvSpPr>
        <p:spPr>
          <a:xfrm>
            <a:off x="4754880" y="960120"/>
            <a:ext cx="2011680" cy="1417320"/>
          </a:xfrm>
          <a:prstGeom prst="rect">
            <a:avLst/>
          </a:prstGeom>
          <a:solidFill>
            <a:srgbClr val="F8FAFC"/>
          </a:solidFill>
          <a:ln w="9525">
            <a:solidFill>
              <a:srgbClr val="E2E8F0"/>
            </a:solidFill>
            <a:prstDash val="solid"/>
          </a:ln>
        </p:spPr>
      </p:sp>
      <p:sp>
        <p:nvSpPr>
          <p:cNvPr id="14" name="Shape 12"/>
          <p:cNvSpPr/>
          <p:nvPr/>
        </p:nvSpPr>
        <p:spPr>
          <a:xfrm>
            <a:off x="4754880" y="960120"/>
            <a:ext cx="2011680" cy="73152"/>
          </a:xfrm>
          <a:prstGeom prst="rect">
            <a:avLst/>
          </a:prstGeom>
          <a:solidFill>
            <a:srgbClr val="1C4E80"/>
          </a:solidFill>
          <a:ln w="12700">
            <a:solidFill>
              <a:srgbClr val="1C4E80"/>
            </a:solidFill>
            <a:prstDash val="solid"/>
          </a:ln>
        </p:spPr>
      </p:sp>
      <p:sp>
        <p:nvSpPr>
          <p:cNvPr id="15" name="Text 13"/>
          <p:cNvSpPr/>
          <p:nvPr/>
        </p:nvSpPr>
        <p:spPr>
          <a:xfrm>
            <a:off x="4754880" y="1078992"/>
            <a:ext cx="2011680" cy="548640"/>
          </a:xfrm>
          <a:prstGeom prst="rect">
            <a:avLst/>
          </a:prstGeom>
          <a:noFill/>
          <a:ln/>
        </p:spPr>
        <p:txBody>
          <a:bodyPr wrap="square" lIns="0" tIns="0" rIns="0" bIns="0" rtlCol="0" anchor="ctr"/>
          <a:lstStyle/>
          <a:p>
            <a:pPr marL="0" indent="0" algn="ctr">
              <a:buNone/>
            </a:pPr>
            <a:r>
              <a:rPr lang="en-US" sz="3600" b="1" dirty="0">
                <a:solidFill>
                  <a:srgbClr val="1C4E80"/>
                </a:solidFill>
                <a:latin typeface="Calibri" pitchFamily="34" charset="0"/>
                <a:ea typeface="Calibri" pitchFamily="34" charset="-122"/>
                <a:cs typeface="Calibri" pitchFamily="34" charset="-120"/>
              </a:rPr>
              <a:t>25</a:t>
            </a:r>
            <a:endParaRPr lang="en-US" sz="3600" dirty="0"/>
          </a:p>
        </p:txBody>
      </p:sp>
      <p:sp>
        <p:nvSpPr>
          <p:cNvPr id="16" name="Text 14"/>
          <p:cNvSpPr/>
          <p:nvPr/>
        </p:nvSpPr>
        <p:spPr>
          <a:xfrm>
            <a:off x="475488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Architecture</a:t>
            </a:r>
            <a:endParaRPr lang="en-US" sz="1300" dirty="0"/>
          </a:p>
        </p:txBody>
      </p:sp>
      <p:sp>
        <p:nvSpPr>
          <p:cNvPr id="17" name="Text 15"/>
          <p:cNvSpPr/>
          <p:nvPr/>
        </p:nvSpPr>
        <p:spPr>
          <a:xfrm>
            <a:off x="484632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Coupling coefficient + cycle count</a:t>
            </a:r>
            <a:endParaRPr lang="en-US" sz="950" dirty="0"/>
          </a:p>
        </p:txBody>
      </p:sp>
      <p:sp>
        <p:nvSpPr>
          <p:cNvPr id="18" name="Shape 16"/>
          <p:cNvSpPr/>
          <p:nvPr/>
        </p:nvSpPr>
        <p:spPr>
          <a:xfrm>
            <a:off x="6903720" y="960120"/>
            <a:ext cx="2011680" cy="1417320"/>
          </a:xfrm>
          <a:prstGeom prst="rect">
            <a:avLst/>
          </a:prstGeom>
          <a:solidFill>
            <a:srgbClr val="F8FAFC"/>
          </a:solidFill>
          <a:ln w="9525">
            <a:solidFill>
              <a:srgbClr val="E2E8F0"/>
            </a:solidFill>
            <a:prstDash val="solid"/>
          </a:ln>
        </p:spPr>
      </p:sp>
      <p:sp>
        <p:nvSpPr>
          <p:cNvPr id="19" name="Shape 17"/>
          <p:cNvSpPr/>
          <p:nvPr/>
        </p:nvSpPr>
        <p:spPr>
          <a:xfrm>
            <a:off x="6903720" y="960120"/>
            <a:ext cx="2011680" cy="73152"/>
          </a:xfrm>
          <a:prstGeom prst="rect">
            <a:avLst/>
          </a:prstGeom>
          <a:solidFill>
            <a:srgbClr val="0D9488"/>
          </a:solidFill>
          <a:ln w="12700">
            <a:solidFill>
              <a:srgbClr val="0D9488"/>
            </a:solidFill>
            <a:prstDash val="solid"/>
          </a:ln>
        </p:spPr>
      </p:sp>
      <p:sp>
        <p:nvSpPr>
          <p:cNvPr id="20" name="Text 18"/>
          <p:cNvSpPr/>
          <p:nvPr/>
        </p:nvSpPr>
        <p:spPr>
          <a:xfrm>
            <a:off x="6903720" y="1078992"/>
            <a:ext cx="2011680" cy="548640"/>
          </a:xfrm>
          <a:prstGeom prst="rect">
            <a:avLst/>
          </a:prstGeom>
          <a:noFill/>
          <a:ln/>
        </p:spPr>
        <p:txBody>
          <a:bodyPr wrap="square" lIns="0" tIns="0" rIns="0" bIns="0" rtlCol="0" anchor="ctr"/>
          <a:lstStyle/>
          <a:p>
            <a:pPr marL="0" indent="0" algn="ctr">
              <a:buNone/>
            </a:pPr>
            <a:r>
              <a:rPr lang="en-US" sz="3600" b="1" dirty="0">
                <a:solidFill>
                  <a:srgbClr val="0D9488"/>
                </a:solidFill>
                <a:latin typeface="Calibri" pitchFamily="34" charset="0"/>
                <a:ea typeface="Calibri" pitchFamily="34" charset="-122"/>
                <a:cs typeface="Calibri" pitchFamily="34" charset="-120"/>
              </a:rPr>
              <a:t>15</a:t>
            </a:r>
            <a:endParaRPr lang="en-US" sz="3600" dirty="0"/>
          </a:p>
        </p:txBody>
      </p:sp>
      <p:sp>
        <p:nvSpPr>
          <p:cNvPr id="21" name="Text 19"/>
          <p:cNvSpPr/>
          <p:nvPr/>
        </p:nvSpPr>
        <p:spPr>
          <a:xfrm>
            <a:off x="6903720" y="1627632"/>
            <a:ext cx="2011680" cy="292608"/>
          </a:xfrm>
          <a:prstGeom prst="rect">
            <a:avLst/>
          </a:prstGeom>
          <a:noFill/>
          <a:ln/>
        </p:spPr>
        <p:txBody>
          <a:bodyPr wrap="square" lIns="0" tIns="0" rIns="0" bIns="0" rtlCol="0" anchor="ctr"/>
          <a:lstStyle/>
          <a:p>
            <a:pPr marL="0" indent="0" algn="ctr">
              <a:buNone/>
            </a:pPr>
            <a:r>
              <a:rPr lang="en-US" sz="1300" b="1" dirty="0">
                <a:solidFill>
                  <a:srgbClr val="0F2A44"/>
                </a:solidFill>
                <a:latin typeface="Calibri" pitchFamily="34" charset="0"/>
                <a:ea typeface="Calibri" pitchFamily="34" charset="-122"/>
                <a:cs typeface="Calibri" pitchFamily="34" charset="-120"/>
              </a:rPr>
              <a:t>Service Sizing</a:t>
            </a:r>
            <a:endParaRPr lang="en-US" sz="1300" dirty="0"/>
          </a:p>
        </p:txBody>
      </p:sp>
      <p:sp>
        <p:nvSpPr>
          <p:cNvPr id="22" name="Text 20"/>
          <p:cNvSpPr/>
          <p:nvPr/>
        </p:nvSpPr>
        <p:spPr>
          <a:xfrm>
            <a:off x="6995160" y="1938528"/>
            <a:ext cx="1828800" cy="457200"/>
          </a:xfrm>
          <a:prstGeom prst="rect">
            <a:avLst/>
          </a:prstGeom>
          <a:noFill/>
          <a:ln/>
        </p:spPr>
        <p:txBody>
          <a:bodyPr wrap="square" lIns="0" tIns="0" rIns="0" bIns="0" rtlCol="0" anchor="ctr"/>
          <a:lstStyle/>
          <a:p>
            <a:pPr marL="0" indent="0" algn="ctr">
              <a:buNone/>
            </a:pPr>
            <a:r>
              <a:rPr lang="en-US" sz="950" i="1" dirty="0">
                <a:solidFill>
                  <a:srgbClr val="64748B"/>
                </a:solidFill>
                <a:latin typeface="Calibri" pitchFamily="34" charset="0"/>
                <a:ea typeface="Calibri" pitchFamily="34" charset="-122"/>
                <a:cs typeface="Calibri" pitchFamily="34" charset="-120"/>
              </a:rPr>
              <a:t>Nano (cap 8) + god (cap 10) penalties</a:t>
            </a:r>
            <a:endParaRPr lang="en-US" sz="950" dirty="0"/>
          </a:p>
        </p:txBody>
      </p:sp>
      <p:sp>
        <p:nvSpPr>
          <p:cNvPr id="23" name="Text 21"/>
          <p:cNvSpPr/>
          <p:nvPr/>
        </p:nvSpPr>
        <p:spPr>
          <a:xfrm>
            <a:off x="457200" y="260604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Letter grade scale</a:t>
            </a:r>
            <a:endParaRPr lang="en-US" sz="1200" dirty="0"/>
          </a:p>
        </p:txBody>
      </p:sp>
      <p:sp>
        <p:nvSpPr>
          <p:cNvPr id="24" name="Shape 22"/>
          <p:cNvSpPr/>
          <p:nvPr/>
        </p:nvSpPr>
        <p:spPr>
          <a:xfrm>
            <a:off x="457200" y="2926080"/>
            <a:ext cx="1371600" cy="777240"/>
          </a:xfrm>
          <a:prstGeom prst="rect">
            <a:avLst/>
          </a:prstGeom>
          <a:solidFill>
            <a:srgbClr val="059669"/>
          </a:solidFill>
          <a:ln w="12700">
            <a:solidFill>
              <a:srgbClr val="059669"/>
            </a:solidFill>
            <a:prstDash val="solid"/>
          </a:ln>
        </p:spPr>
      </p:sp>
      <p:sp>
        <p:nvSpPr>
          <p:cNvPr id="25" name="Text 23"/>
          <p:cNvSpPr/>
          <p:nvPr/>
        </p:nvSpPr>
        <p:spPr>
          <a:xfrm>
            <a:off x="45720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A</a:t>
            </a:r>
            <a:endParaRPr lang="en-US" sz="2600" dirty="0"/>
          </a:p>
        </p:txBody>
      </p:sp>
      <p:sp>
        <p:nvSpPr>
          <p:cNvPr id="26" name="Text 24"/>
          <p:cNvSpPr/>
          <p:nvPr/>
        </p:nvSpPr>
        <p:spPr>
          <a:xfrm>
            <a:off x="45720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90</a:t>
            </a:r>
            <a:endParaRPr lang="en-US" sz="1100" dirty="0"/>
          </a:p>
        </p:txBody>
      </p:sp>
      <p:sp>
        <p:nvSpPr>
          <p:cNvPr id="27" name="Shape 25"/>
          <p:cNvSpPr/>
          <p:nvPr/>
        </p:nvSpPr>
        <p:spPr>
          <a:xfrm>
            <a:off x="2194560" y="2926080"/>
            <a:ext cx="1371600" cy="777240"/>
          </a:xfrm>
          <a:prstGeom prst="rect">
            <a:avLst/>
          </a:prstGeom>
          <a:solidFill>
            <a:srgbClr val="0D9488"/>
          </a:solidFill>
          <a:ln w="12700">
            <a:solidFill>
              <a:srgbClr val="0D9488"/>
            </a:solidFill>
            <a:prstDash val="solid"/>
          </a:ln>
        </p:spPr>
      </p:sp>
      <p:sp>
        <p:nvSpPr>
          <p:cNvPr id="28" name="Text 26"/>
          <p:cNvSpPr/>
          <p:nvPr/>
        </p:nvSpPr>
        <p:spPr>
          <a:xfrm>
            <a:off x="219456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B</a:t>
            </a:r>
            <a:endParaRPr lang="en-US" sz="2600" dirty="0"/>
          </a:p>
        </p:txBody>
      </p:sp>
      <p:sp>
        <p:nvSpPr>
          <p:cNvPr id="29" name="Text 27"/>
          <p:cNvSpPr/>
          <p:nvPr/>
        </p:nvSpPr>
        <p:spPr>
          <a:xfrm>
            <a:off x="219456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80</a:t>
            </a:r>
            <a:endParaRPr lang="en-US" sz="1100" dirty="0"/>
          </a:p>
        </p:txBody>
      </p:sp>
      <p:sp>
        <p:nvSpPr>
          <p:cNvPr id="30" name="Shape 28"/>
          <p:cNvSpPr/>
          <p:nvPr/>
        </p:nvSpPr>
        <p:spPr>
          <a:xfrm>
            <a:off x="3931920" y="2926080"/>
            <a:ext cx="1371600" cy="777240"/>
          </a:xfrm>
          <a:prstGeom prst="rect">
            <a:avLst/>
          </a:prstGeom>
          <a:solidFill>
            <a:srgbClr val="1C4E80"/>
          </a:solidFill>
          <a:ln w="12700">
            <a:solidFill>
              <a:srgbClr val="1C4E80"/>
            </a:solidFill>
            <a:prstDash val="solid"/>
          </a:ln>
        </p:spPr>
      </p:sp>
      <p:sp>
        <p:nvSpPr>
          <p:cNvPr id="31" name="Text 29"/>
          <p:cNvSpPr/>
          <p:nvPr/>
        </p:nvSpPr>
        <p:spPr>
          <a:xfrm>
            <a:off x="393192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C</a:t>
            </a:r>
            <a:endParaRPr lang="en-US" sz="2600" dirty="0"/>
          </a:p>
        </p:txBody>
      </p:sp>
      <p:sp>
        <p:nvSpPr>
          <p:cNvPr id="32" name="Text 30"/>
          <p:cNvSpPr/>
          <p:nvPr/>
        </p:nvSpPr>
        <p:spPr>
          <a:xfrm>
            <a:off x="393192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65</a:t>
            </a:r>
            <a:endParaRPr lang="en-US" sz="1100" dirty="0"/>
          </a:p>
        </p:txBody>
      </p:sp>
      <p:sp>
        <p:nvSpPr>
          <p:cNvPr id="33" name="Shape 31"/>
          <p:cNvSpPr/>
          <p:nvPr/>
        </p:nvSpPr>
        <p:spPr>
          <a:xfrm>
            <a:off x="5669280" y="2926080"/>
            <a:ext cx="1371600" cy="777240"/>
          </a:xfrm>
          <a:prstGeom prst="rect">
            <a:avLst/>
          </a:prstGeom>
          <a:solidFill>
            <a:srgbClr val="D97706"/>
          </a:solidFill>
          <a:ln w="12700">
            <a:solidFill>
              <a:srgbClr val="D97706"/>
            </a:solidFill>
            <a:prstDash val="solid"/>
          </a:ln>
        </p:spPr>
      </p:sp>
      <p:sp>
        <p:nvSpPr>
          <p:cNvPr id="34" name="Text 32"/>
          <p:cNvSpPr/>
          <p:nvPr/>
        </p:nvSpPr>
        <p:spPr>
          <a:xfrm>
            <a:off x="566928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D</a:t>
            </a:r>
            <a:endParaRPr lang="en-US" sz="2600" dirty="0"/>
          </a:p>
        </p:txBody>
      </p:sp>
      <p:sp>
        <p:nvSpPr>
          <p:cNvPr id="35" name="Text 33"/>
          <p:cNvSpPr/>
          <p:nvPr/>
        </p:nvSpPr>
        <p:spPr>
          <a:xfrm>
            <a:off x="566928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 50</a:t>
            </a:r>
            <a:endParaRPr lang="en-US" sz="1100" dirty="0"/>
          </a:p>
        </p:txBody>
      </p:sp>
      <p:sp>
        <p:nvSpPr>
          <p:cNvPr id="36" name="Shape 34"/>
          <p:cNvSpPr/>
          <p:nvPr/>
        </p:nvSpPr>
        <p:spPr>
          <a:xfrm>
            <a:off x="7406640" y="2926080"/>
            <a:ext cx="1371600" cy="777240"/>
          </a:xfrm>
          <a:prstGeom prst="rect">
            <a:avLst/>
          </a:prstGeom>
          <a:solidFill>
            <a:srgbClr val="DC2626"/>
          </a:solidFill>
          <a:ln w="12700">
            <a:solidFill>
              <a:srgbClr val="DC2626"/>
            </a:solidFill>
            <a:prstDash val="solid"/>
          </a:ln>
        </p:spPr>
      </p:sp>
      <p:sp>
        <p:nvSpPr>
          <p:cNvPr id="37" name="Text 35"/>
          <p:cNvSpPr/>
          <p:nvPr/>
        </p:nvSpPr>
        <p:spPr>
          <a:xfrm>
            <a:off x="7406640" y="2944368"/>
            <a:ext cx="1371600" cy="457200"/>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a:t>
            </a:r>
            <a:endParaRPr lang="en-US" sz="2600" dirty="0"/>
          </a:p>
        </p:txBody>
      </p:sp>
      <p:sp>
        <p:nvSpPr>
          <p:cNvPr id="38" name="Text 36"/>
          <p:cNvSpPr/>
          <p:nvPr/>
        </p:nvSpPr>
        <p:spPr>
          <a:xfrm>
            <a:off x="7406640" y="3401568"/>
            <a:ext cx="1371600" cy="25603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&lt; 50</a:t>
            </a:r>
            <a:endParaRPr lang="en-US" sz="1100" dirty="0"/>
          </a:p>
        </p:txBody>
      </p:sp>
      <p:sp>
        <p:nvSpPr>
          <p:cNvPr id="39" name="Shape 37"/>
          <p:cNvSpPr/>
          <p:nvPr/>
        </p:nvSpPr>
        <p:spPr>
          <a:xfrm>
            <a:off x="457200" y="3931920"/>
            <a:ext cx="8229600" cy="777240"/>
          </a:xfrm>
          <a:prstGeom prst="rect">
            <a:avLst/>
          </a:prstGeom>
          <a:solidFill>
            <a:srgbClr val="F8FAFC"/>
          </a:solidFill>
          <a:ln w="9525">
            <a:solidFill>
              <a:srgbClr val="E2E8F0"/>
            </a:solidFill>
            <a:prstDash val="solid"/>
          </a:ln>
        </p:spPr>
      </p:sp>
      <p:sp>
        <p:nvSpPr>
          <p:cNvPr id="40" name="Shape 38"/>
          <p:cNvSpPr/>
          <p:nvPr/>
        </p:nvSpPr>
        <p:spPr>
          <a:xfrm>
            <a:off x="457200" y="3931920"/>
            <a:ext cx="54864" cy="777240"/>
          </a:xfrm>
          <a:prstGeom prst="rect">
            <a:avLst/>
          </a:prstGeom>
          <a:solidFill>
            <a:srgbClr val="0D9488"/>
          </a:solidFill>
          <a:ln w="12700">
            <a:solidFill>
              <a:srgbClr val="0D9488"/>
            </a:solidFill>
            <a:prstDash val="solid"/>
          </a:ln>
        </p:spPr>
      </p:sp>
      <p:sp>
        <p:nvSpPr>
          <p:cNvPr id="41" name="Text 39"/>
          <p:cNvSpPr/>
          <p:nvPr/>
        </p:nvSpPr>
        <p:spPr>
          <a:xfrm>
            <a:off x="685800" y="3977640"/>
            <a:ext cx="77724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Why decompose?</a:t>
            </a:r>
            <a:endParaRPr lang="en-US" sz="1200" dirty="0"/>
          </a:p>
        </p:txBody>
      </p:sp>
      <p:sp>
        <p:nvSpPr>
          <p:cNvPr id="42" name="Text 40"/>
          <p:cNvSpPr/>
          <p:nvPr/>
        </p:nvSpPr>
        <p:spPr>
          <a:xfrm>
            <a:off x="685800" y="4224528"/>
            <a:ext cx="7772400" cy="45720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 single number tells teams whether quality is improving; per-category breakdown tells them WHICH dimension needs attention; both views are exposed via the analysis-diff feature for tracking over time</a:t>
            </a:r>
            <a:endParaRPr lang="en-US" sz="1050" dirty="0"/>
          </a:p>
        </p:txBody>
      </p:sp>
      <p:sp>
        <p:nvSpPr>
          <p:cNvPr id="43" name="Text 4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4" name="Text 4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Worked example: microservice-recruit (40 / F)</a:t>
            </a:r>
            <a:endParaRPr lang="en-US" sz="2800" dirty="0"/>
          </a:p>
        </p:txBody>
      </p:sp>
      <p:sp>
        <p:nvSpPr>
          <p:cNvPr id="3" name="Text 1"/>
          <p:cNvSpPr/>
          <p:nvPr/>
        </p:nvSpPr>
        <p:spPr>
          <a:xfrm>
            <a:off x="457200" y="868680"/>
            <a:ext cx="41148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4" name="Shape 2"/>
          <p:cNvSpPr/>
          <p:nvPr/>
        </p:nvSpPr>
        <p:spPr>
          <a:xfrm>
            <a:off x="457200" y="1179576"/>
            <a:ext cx="4114800" cy="283464"/>
          </a:xfrm>
          <a:prstGeom prst="rect">
            <a:avLst/>
          </a:prstGeom>
          <a:solidFill>
            <a:srgbClr val="F8FAFC"/>
          </a:solidFill>
          <a:ln w="6350">
            <a:solidFill>
              <a:srgbClr val="E2E8F0"/>
            </a:solidFill>
            <a:prstDash val="solid"/>
          </a:ln>
        </p:spPr>
      </p:sp>
      <p:sp>
        <p:nvSpPr>
          <p:cNvPr id="5" name="Text 3"/>
          <p:cNvSpPr/>
          <p:nvPr/>
        </p:nvSpPr>
        <p:spPr>
          <a:xfrm>
            <a:off x="502920" y="1179576"/>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6×</a:t>
            </a:r>
            <a:endParaRPr lang="en-US" sz="1200" dirty="0"/>
          </a:p>
        </p:txBody>
      </p:sp>
      <p:sp>
        <p:nvSpPr>
          <p:cNvPr id="6" name="Text 4"/>
          <p:cNvSpPr/>
          <p:nvPr/>
        </p:nvSpPr>
        <p:spPr>
          <a:xfrm>
            <a:off x="1097280" y="1179576"/>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00400" y="1179576"/>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457200" y="1495044"/>
            <a:ext cx="4114800" cy="283464"/>
          </a:xfrm>
          <a:prstGeom prst="rect">
            <a:avLst/>
          </a:prstGeom>
          <a:solidFill>
            <a:srgbClr val="F8FAFC"/>
          </a:solidFill>
          <a:ln w="6350">
            <a:solidFill>
              <a:srgbClr val="E2E8F0"/>
            </a:solidFill>
            <a:prstDash val="solid"/>
          </a:ln>
        </p:spPr>
      </p:sp>
      <p:sp>
        <p:nvSpPr>
          <p:cNvPr id="9" name="Text 7"/>
          <p:cNvSpPr/>
          <p:nvPr/>
        </p:nvSpPr>
        <p:spPr>
          <a:xfrm>
            <a:off x="502920" y="1495044"/>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097280" y="1495044"/>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00400" y="1495044"/>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457200" y="1810512"/>
            <a:ext cx="4114800" cy="283464"/>
          </a:xfrm>
          <a:prstGeom prst="rect">
            <a:avLst/>
          </a:prstGeom>
          <a:solidFill>
            <a:srgbClr val="F8FAFC"/>
          </a:solidFill>
          <a:ln w="6350">
            <a:solidFill>
              <a:srgbClr val="E2E8F0"/>
            </a:solidFill>
            <a:prstDash val="solid"/>
          </a:ln>
        </p:spPr>
      </p:sp>
      <p:sp>
        <p:nvSpPr>
          <p:cNvPr id="13" name="Text 11"/>
          <p:cNvSpPr/>
          <p:nvPr/>
        </p:nvSpPr>
        <p:spPr>
          <a:xfrm>
            <a:off x="502920" y="1810512"/>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1097280" y="1810512"/>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00400" y="1810512"/>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457200" y="2125980"/>
            <a:ext cx="4114800" cy="283464"/>
          </a:xfrm>
          <a:prstGeom prst="rect">
            <a:avLst/>
          </a:prstGeom>
          <a:solidFill>
            <a:srgbClr val="F8FAFC"/>
          </a:solidFill>
          <a:ln w="6350">
            <a:solidFill>
              <a:srgbClr val="E2E8F0"/>
            </a:solidFill>
            <a:prstDash val="solid"/>
          </a:ln>
        </p:spPr>
      </p:sp>
      <p:sp>
        <p:nvSpPr>
          <p:cNvPr id="17" name="Text 15"/>
          <p:cNvSpPr/>
          <p:nvPr/>
        </p:nvSpPr>
        <p:spPr>
          <a:xfrm>
            <a:off x="502920" y="2125980"/>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18" name="Text 16"/>
          <p:cNvSpPr/>
          <p:nvPr/>
        </p:nvSpPr>
        <p:spPr>
          <a:xfrm>
            <a:off x="1097280" y="2125980"/>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00400" y="2125980"/>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−8 = −8</a:t>
            </a:r>
            <a:endParaRPr lang="en-US" sz="1000" dirty="0"/>
          </a:p>
        </p:txBody>
      </p:sp>
      <p:sp>
        <p:nvSpPr>
          <p:cNvPr id="20" name="Shape 18"/>
          <p:cNvSpPr/>
          <p:nvPr/>
        </p:nvSpPr>
        <p:spPr>
          <a:xfrm>
            <a:off x="457200" y="2441448"/>
            <a:ext cx="4114800" cy="283464"/>
          </a:xfrm>
          <a:prstGeom prst="rect">
            <a:avLst/>
          </a:prstGeom>
          <a:solidFill>
            <a:srgbClr val="F8FAFC"/>
          </a:solidFill>
          <a:ln w="6350">
            <a:solidFill>
              <a:srgbClr val="E2E8F0"/>
            </a:solidFill>
            <a:prstDash val="solid"/>
          </a:ln>
        </p:spPr>
      </p:sp>
      <p:sp>
        <p:nvSpPr>
          <p:cNvPr id="21" name="Text 19"/>
          <p:cNvSpPr/>
          <p:nvPr/>
        </p:nvSpPr>
        <p:spPr>
          <a:xfrm>
            <a:off x="502920" y="2441448"/>
            <a:ext cx="548640" cy="283464"/>
          </a:xfrm>
          <a:prstGeom prst="rect">
            <a:avLst/>
          </a:prstGeom>
          <a:noFill/>
          <a:ln/>
        </p:spPr>
        <p:txBody>
          <a:bodyPr wrap="square" lIns="0" tIns="0" rIns="0" bIns="0" rtlCol="0" anchor="ctr"/>
          <a:lstStyle/>
          <a:p>
            <a:pPr marL="0" indent="0" algn="ctr">
              <a:buNone/>
            </a:pPr>
            <a:r>
              <a:rPr lang="en-US" sz="1200" b="1" dirty="0">
                <a:solidFill>
                  <a:srgbClr val="DC2626"/>
                </a:solidFill>
                <a:latin typeface="Calibri" pitchFamily="34" charset="0"/>
                <a:ea typeface="Calibri" pitchFamily="34" charset="-122"/>
                <a:cs typeface="Calibri" pitchFamily="34" charset="-120"/>
              </a:rPr>
              <a:t>1×</a:t>
            </a:r>
            <a:endParaRPr lang="en-US" sz="1200" dirty="0"/>
          </a:p>
        </p:txBody>
      </p:sp>
      <p:sp>
        <p:nvSpPr>
          <p:cNvPr id="22" name="Text 20"/>
          <p:cNvSpPr/>
          <p:nvPr/>
        </p:nvSpPr>
        <p:spPr>
          <a:xfrm>
            <a:off x="1097280" y="2441448"/>
            <a:ext cx="2103120" cy="283464"/>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00400" y="2441448"/>
            <a:ext cx="1325880" cy="283464"/>
          </a:xfrm>
          <a:prstGeom prst="rect">
            <a:avLst/>
          </a:prstGeom>
          <a:noFill/>
          <a:ln/>
        </p:spPr>
        <p:txBody>
          <a:bodyPr wrap="square" lIns="0" tIns="0" rIns="0" bIns="0" rtlCol="0" anchor="ctr"/>
          <a:lstStyle/>
          <a:p>
            <a:pPr marL="0" indent="0" algn="r">
              <a:buNone/>
            </a:pPr>
            <a:r>
              <a:rPr lang="en-US" sz="1000" i="1" dirty="0">
                <a:solidFill>
                  <a:srgbClr val="64748B"/>
                </a:solidFill>
                <a:latin typeface="Calibri" pitchFamily="34" charset="0"/>
                <a:ea typeface="Calibri" pitchFamily="34" charset="-122"/>
                <a:cs typeface="Calibri" pitchFamily="34" charset="-120"/>
              </a:rPr>
              <a:t>−3 = −3</a:t>
            </a:r>
            <a:endParaRPr lang="en-US" sz="1000" dirty="0"/>
          </a:p>
        </p:txBody>
      </p:sp>
      <p:sp>
        <p:nvSpPr>
          <p:cNvPr id="24" name="Shape 22"/>
          <p:cNvSpPr/>
          <p:nvPr/>
        </p:nvSpPr>
        <p:spPr>
          <a:xfrm>
            <a:off x="457200" y="2798064"/>
            <a:ext cx="4114800" cy="411480"/>
          </a:xfrm>
          <a:prstGeom prst="rect">
            <a:avLst/>
          </a:prstGeom>
          <a:solidFill>
            <a:srgbClr val="0F2A44"/>
          </a:solidFill>
          <a:ln w="12700">
            <a:solidFill>
              <a:srgbClr val="0F2A44"/>
            </a:solidFill>
            <a:prstDash val="solid"/>
          </a:ln>
        </p:spPr>
      </p:sp>
      <p:sp>
        <p:nvSpPr>
          <p:cNvPr id="25" name="Text 23"/>
          <p:cNvSpPr/>
          <p:nvPr/>
        </p:nvSpPr>
        <p:spPr>
          <a:xfrm>
            <a:off x="457200" y="2798064"/>
            <a:ext cx="411480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Total penalty: 49   →   AP clamped at 0</a:t>
            </a:r>
            <a:endParaRPr lang="en-US" sz="1200" dirty="0"/>
          </a:p>
        </p:txBody>
      </p:sp>
      <p:sp>
        <p:nvSpPr>
          <p:cNvPr id="26" name="Text 24"/>
          <p:cNvSpPr/>
          <p:nvPr/>
        </p:nvSpPr>
        <p:spPr>
          <a:xfrm>
            <a:off x="4846320" y="868680"/>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7" name="Text 25"/>
          <p:cNvSpPr/>
          <p:nvPr/>
        </p:nvSpPr>
        <p:spPr>
          <a:xfrm>
            <a:off x="4846320" y="118872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8" name="Shape 26"/>
          <p:cNvSpPr/>
          <p:nvPr/>
        </p:nvSpPr>
        <p:spPr>
          <a:xfrm>
            <a:off x="6126480" y="1234440"/>
            <a:ext cx="2377440" cy="256032"/>
          </a:xfrm>
          <a:prstGeom prst="rect">
            <a:avLst/>
          </a:prstGeom>
          <a:solidFill>
            <a:srgbClr val="E2E8F0"/>
          </a:solidFill>
          <a:ln w="12700">
            <a:solidFill>
              <a:srgbClr val="E2E8F0"/>
            </a:solidFill>
            <a:prstDash val="solid"/>
          </a:ln>
        </p:spPr>
      </p:sp>
      <p:sp>
        <p:nvSpPr>
          <p:cNvPr id="29" name="Text 27"/>
          <p:cNvSpPr/>
          <p:nvPr/>
        </p:nvSpPr>
        <p:spPr>
          <a:xfrm>
            <a:off x="8595360" y="119786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0 / 40</a:t>
            </a:r>
            <a:endParaRPr lang="en-US" sz="1000" dirty="0"/>
          </a:p>
        </p:txBody>
      </p:sp>
      <p:sp>
        <p:nvSpPr>
          <p:cNvPr id="30" name="Text 28"/>
          <p:cNvSpPr/>
          <p:nvPr/>
        </p:nvSpPr>
        <p:spPr>
          <a:xfrm>
            <a:off x="4846320" y="169164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1" name="Shape 29"/>
          <p:cNvSpPr/>
          <p:nvPr/>
        </p:nvSpPr>
        <p:spPr>
          <a:xfrm>
            <a:off x="6126480" y="1737360"/>
            <a:ext cx="2377440" cy="256032"/>
          </a:xfrm>
          <a:prstGeom prst="rect">
            <a:avLst/>
          </a:prstGeom>
          <a:solidFill>
            <a:srgbClr val="E2E8F0"/>
          </a:solidFill>
          <a:ln w="12700">
            <a:solidFill>
              <a:srgbClr val="E2E8F0"/>
            </a:solidFill>
            <a:prstDash val="solid"/>
          </a:ln>
        </p:spPr>
      </p:sp>
      <p:sp>
        <p:nvSpPr>
          <p:cNvPr id="32" name="Shape 30"/>
          <p:cNvSpPr/>
          <p:nvPr/>
        </p:nvSpPr>
        <p:spPr>
          <a:xfrm>
            <a:off x="6126480" y="1737360"/>
            <a:ext cx="1426464" cy="256032"/>
          </a:xfrm>
          <a:prstGeom prst="rect">
            <a:avLst/>
          </a:prstGeom>
          <a:solidFill>
            <a:srgbClr val="D97706"/>
          </a:solidFill>
          <a:ln w="12700">
            <a:solidFill>
              <a:srgbClr val="D97706"/>
            </a:solidFill>
            <a:prstDash val="solid"/>
          </a:ln>
        </p:spPr>
      </p:sp>
      <p:sp>
        <p:nvSpPr>
          <p:cNvPr id="33" name="Text 31"/>
          <p:cNvSpPr/>
          <p:nvPr/>
        </p:nvSpPr>
        <p:spPr>
          <a:xfrm>
            <a:off x="8595360" y="170078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20</a:t>
            </a:r>
            <a:endParaRPr lang="en-US" sz="1000" dirty="0"/>
          </a:p>
        </p:txBody>
      </p:sp>
      <p:sp>
        <p:nvSpPr>
          <p:cNvPr id="34" name="Text 32"/>
          <p:cNvSpPr/>
          <p:nvPr/>
        </p:nvSpPr>
        <p:spPr>
          <a:xfrm>
            <a:off x="4846320" y="219456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5" name="Shape 33"/>
          <p:cNvSpPr/>
          <p:nvPr/>
        </p:nvSpPr>
        <p:spPr>
          <a:xfrm>
            <a:off x="6126480" y="2240280"/>
            <a:ext cx="2377440" cy="256032"/>
          </a:xfrm>
          <a:prstGeom prst="rect">
            <a:avLst/>
          </a:prstGeom>
          <a:solidFill>
            <a:srgbClr val="E2E8F0"/>
          </a:solidFill>
          <a:ln w="12700">
            <a:solidFill>
              <a:srgbClr val="E2E8F0"/>
            </a:solidFill>
            <a:prstDash val="solid"/>
          </a:ln>
        </p:spPr>
      </p:sp>
      <p:sp>
        <p:nvSpPr>
          <p:cNvPr id="36" name="Shape 34"/>
          <p:cNvSpPr/>
          <p:nvPr/>
        </p:nvSpPr>
        <p:spPr>
          <a:xfrm>
            <a:off x="6126480" y="2240280"/>
            <a:ext cx="1521562" cy="256032"/>
          </a:xfrm>
          <a:prstGeom prst="rect">
            <a:avLst/>
          </a:prstGeom>
          <a:solidFill>
            <a:srgbClr val="1C4E80"/>
          </a:solidFill>
          <a:ln w="12700">
            <a:solidFill>
              <a:srgbClr val="1C4E80"/>
            </a:solidFill>
            <a:prstDash val="solid"/>
          </a:ln>
        </p:spPr>
      </p:sp>
      <p:sp>
        <p:nvSpPr>
          <p:cNvPr id="37" name="Text 35"/>
          <p:cNvSpPr/>
          <p:nvPr/>
        </p:nvSpPr>
        <p:spPr>
          <a:xfrm>
            <a:off x="8595360" y="220370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16 / 25</a:t>
            </a:r>
            <a:endParaRPr lang="en-US" sz="1000" dirty="0"/>
          </a:p>
        </p:txBody>
      </p:sp>
      <p:sp>
        <p:nvSpPr>
          <p:cNvPr id="38" name="Text 36"/>
          <p:cNvSpPr/>
          <p:nvPr/>
        </p:nvSpPr>
        <p:spPr>
          <a:xfrm>
            <a:off x="4846320" y="2697480"/>
            <a:ext cx="1280160" cy="2743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39" name="Shape 37"/>
          <p:cNvSpPr/>
          <p:nvPr/>
        </p:nvSpPr>
        <p:spPr>
          <a:xfrm>
            <a:off x="6126480" y="2743200"/>
            <a:ext cx="2377440" cy="256032"/>
          </a:xfrm>
          <a:prstGeom prst="rect">
            <a:avLst/>
          </a:prstGeom>
          <a:solidFill>
            <a:srgbClr val="E2E8F0"/>
          </a:solidFill>
          <a:ln w="12700">
            <a:solidFill>
              <a:srgbClr val="E2E8F0"/>
            </a:solidFill>
            <a:prstDash val="solid"/>
          </a:ln>
        </p:spPr>
      </p:sp>
      <p:sp>
        <p:nvSpPr>
          <p:cNvPr id="40" name="Shape 38"/>
          <p:cNvSpPr/>
          <p:nvPr/>
        </p:nvSpPr>
        <p:spPr>
          <a:xfrm>
            <a:off x="6126480" y="2743200"/>
            <a:ext cx="1901952" cy="256032"/>
          </a:xfrm>
          <a:prstGeom prst="rect">
            <a:avLst/>
          </a:prstGeom>
          <a:solidFill>
            <a:srgbClr val="0D9488"/>
          </a:solidFill>
          <a:ln w="12700">
            <a:solidFill>
              <a:srgbClr val="0D9488"/>
            </a:solidFill>
            <a:prstDash val="solid"/>
          </a:ln>
        </p:spPr>
      </p:sp>
      <p:sp>
        <p:nvSpPr>
          <p:cNvPr id="41" name="Text 39"/>
          <p:cNvSpPr/>
          <p:nvPr/>
        </p:nvSpPr>
        <p:spPr>
          <a:xfrm>
            <a:off x="8595360" y="2706624"/>
            <a:ext cx="548640" cy="320040"/>
          </a:xfrm>
          <a:prstGeom prst="rect">
            <a:avLst/>
          </a:prstGeom>
          <a:noFill/>
          <a:ln/>
        </p:spPr>
        <p:txBody>
          <a:bodyPr wrap="square" lIns="0" tIns="0" rIns="0" bIns="0" rtlCol="0" anchor="ctr"/>
          <a:lstStyle/>
          <a:p>
            <a:pPr marL="0" indent="0">
              <a:buNone/>
            </a:pPr>
            <a:r>
              <a:rPr lang="en-US" sz="1000" b="1" dirty="0">
                <a:solidFill>
                  <a:srgbClr val="64748B"/>
                </a:solidFill>
                <a:latin typeface="Calibri" pitchFamily="34" charset="0"/>
                <a:ea typeface="Calibri" pitchFamily="34" charset="-122"/>
                <a:cs typeface="Calibri" pitchFamily="34" charset="-120"/>
              </a:rPr>
              <a:t>12 / 15</a:t>
            </a:r>
            <a:endParaRPr lang="en-US" sz="1000" dirty="0"/>
          </a:p>
        </p:txBody>
      </p:sp>
      <p:sp>
        <p:nvSpPr>
          <p:cNvPr id="42" name="Shape 40"/>
          <p:cNvSpPr/>
          <p:nvPr/>
        </p:nvSpPr>
        <p:spPr>
          <a:xfrm>
            <a:off x="5852160" y="3429000"/>
            <a:ext cx="1280160" cy="1280160"/>
          </a:xfrm>
          <a:prstGeom prst="ellipse">
            <a:avLst/>
          </a:prstGeom>
          <a:solidFill>
            <a:srgbClr val="DC2626"/>
          </a:solidFill>
          <a:ln w="12700">
            <a:solidFill>
              <a:srgbClr val="DC2626"/>
            </a:solidFill>
            <a:prstDash val="solid"/>
          </a:ln>
        </p:spPr>
      </p:sp>
      <p:sp>
        <p:nvSpPr>
          <p:cNvPr id="43" name="Text 41"/>
          <p:cNvSpPr/>
          <p:nvPr/>
        </p:nvSpPr>
        <p:spPr>
          <a:xfrm>
            <a:off x="5852160" y="3474720"/>
            <a:ext cx="1280160" cy="82296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40</a:t>
            </a:r>
            <a:endParaRPr lang="en-US" sz="3600" dirty="0"/>
          </a:p>
        </p:txBody>
      </p:sp>
      <p:sp>
        <p:nvSpPr>
          <p:cNvPr id="44" name="Text 42"/>
          <p:cNvSpPr/>
          <p:nvPr/>
        </p:nvSpPr>
        <p:spPr>
          <a:xfrm>
            <a:off x="5852160" y="4160520"/>
            <a:ext cx="128016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Grade F</a:t>
            </a:r>
            <a:endParaRPr lang="en-US" sz="1100" dirty="0"/>
          </a:p>
        </p:txBody>
      </p:sp>
      <p:sp>
        <p:nvSpPr>
          <p:cNvPr id="45" name="Text 43"/>
          <p:cNvSpPr/>
          <p:nvPr/>
        </p:nvSpPr>
        <p:spPr>
          <a:xfrm>
            <a:off x="457200" y="3346704"/>
            <a:ext cx="4114800" cy="365760"/>
          </a:xfrm>
          <a:prstGeom prst="rect">
            <a:avLst/>
          </a:prstGeom>
          <a:noFill/>
          <a:ln/>
        </p:spPr>
        <p:txBody>
          <a:bodyPr wrap="square" lIns="0" tIns="0" rIns="0" bIns="0" rtlCol="0" anchor="ctr"/>
          <a:lstStyle/>
          <a:p>
            <a:pPr marL="0" indent="0" algn="ctr">
              <a:buNone/>
            </a:pPr>
            <a:r>
              <a:rPr lang="en-US" sz="1400" b="1" dirty="0">
                <a:solidFill>
                  <a:srgbClr val="0F2A44"/>
                </a:solidFill>
                <a:latin typeface="Calibri" pitchFamily="34" charset="0"/>
                <a:ea typeface="Calibri" pitchFamily="34" charset="-122"/>
                <a:cs typeface="Calibri" pitchFamily="34" charset="-120"/>
              </a:rPr>
              <a:t>Final score: 40 / 100  (F)</a:t>
            </a:r>
            <a:endParaRPr lang="en-US" sz="1400" dirty="0"/>
          </a:p>
        </p:txBody>
      </p:sp>
      <p:sp>
        <p:nvSpPr>
          <p:cNvPr id="46" name="Text 44"/>
          <p:cNvSpPr/>
          <p:nvPr/>
        </p:nvSpPr>
        <p:spPr>
          <a:xfrm>
            <a:off x="457200" y="3685032"/>
            <a:ext cx="4114800" cy="91440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the anti-pattern load (penalty 49)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47" name="Text 45"/>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48" name="Text 46"/>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Evaluation: eleven open-source projects</a:t>
            </a:r>
            <a:endParaRPr lang="en-US" sz="2800" dirty="0"/>
          </a:p>
        </p:txBody>
      </p:sp>
      <p:graphicFrame>
        <p:nvGraphicFramePr>
          <p:cNvPr id="3" name="Chart 0"/>
          <p:cNvGraphicFramePr/>
          <p:nvPr/>
        </p:nvGraphicFramePr>
        <p:xfrm>
          <a:off x="365760" y="868680"/>
          <a:ext cx="5394960" cy="274320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 1"/>
          <p:cNvSpPr/>
          <p:nvPr/>
        </p:nvSpPr>
        <p:spPr>
          <a:xfrm>
            <a:off x="6035040" y="757646"/>
            <a:ext cx="27432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scale  (services / LOC)</a:t>
            </a:r>
            <a:endParaRPr lang="en-US" sz="1200" dirty="0"/>
          </a:p>
        </p:txBody>
      </p:sp>
      <p:sp>
        <p:nvSpPr>
          <p:cNvPr id="5" name="Shape 2"/>
          <p:cNvSpPr/>
          <p:nvPr/>
        </p:nvSpPr>
        <p:spPr>
          <a:xfrm>
            <a:off x="6035040" y="1077686"/>
            <a:ext cx="2743200" cy="192024"/>
          </a:xfrm>
          <a:prstGeom prst="rect">
            <a:avLst/>
          </a:prstGeom>
          <a:solidFill>
            <a:srgbClr val="F8FAFC"/>
          </a:solidFill>
          <a:ln w="6350">
            <a:solidFill>
              <a:srgbClr val="E2E8F0"/>
            </a:solidFill>
            <a:prstDash val="solid"/>
          </a:ln>
        </p:spPr>
      </p:sp>
      <p:sp>
        <p:nvSpPr>
          <p:cNvPr id="6" name="Text 3"/>
          <p:cNvSpPr/>
          <p:nvPr/>
        </p:nvSpPr>
        <p:spPr>
          <a:xfrm>
            <a:off x="6126480" y="107768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MicroSocial</a:t>
            </a:r>
            <a:endParaRPr lang="en-US" sz="850" dirty="0"/>
          </a:p>
        </p:txBody>
      </p:sp>
      <p:sp>
        <p:nvSpPr>
          <p:cNvPr id="7" name="Text 4"/>
          <p:cNvSpPr/>
          <p:nvPr/>
        </p:nvSpPr>
        <p:spPr>
          <a:xfrm>
            <a:off x="7406640" y="107768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a:t>
            </a:r>
            <a:endParaRPr lang="en-US" sz="850" dirty="0"/>
          </a:p>
        </p:txBody>
      </p:sp>
      <p:sp>
        <p:nvSpPr>
          <p:cNvPr id="8" name="Text 5"/>
          <p:cNvSpPr/>
          <p:nvPr/>
        </p:nvSpPr>
        <p:spPr>
          <a:xfrm>
            <a:off x="7863840" y="107768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2k</a:t>
            </a:r>
            <a:endParaRPr lang="en-US" sz="850" dirty="0"/>
          </a:p>
        </p:txBody>
      </p:sp>
      <p:sp>
        <p:nvSpPr>
          <p:cNvPr id="9" name="Shape 6"/>
          <p:cNvSpPr/>
          <p:nvPr/>
        </p:nvSpPr>
        <p:spPr>
          <a:xfrm>
            <a:off x="6035040" y="1297142"/>
            <a:ext cx="2743200" cy="192024"/>
          </a:xfrm>
          <a:prstGeom prst="rect">
            <a:avLst/>
          </a:prstGeom>
          <a:solidFill>
            <a:srgbClr val="F8FAFC"/>
          </a:solidFill>
          <a:ln w="6350">
            <a:solidFill>
              <a:srgbClr val="E2E8F0"/>
            </a:solidFill>
            <a:prstDash val="solid"/>
          </a:ln>
        </p:spPr>
      </p:sp>
      <p:sp>
        <p:nvSpPr>
          <p:cNvPr id="10" name="Text 7"/>
          <p:cNvSpPr/>
          <p:nvPr/>
        </p:nvSpPr>
        <p:spPr>
          <a:xfrm>
            <a:off x="6126480" y="129714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design-pat.</a:t>
            </a:r>
            <a:endParaRPr lang="en-US" sz="850" dirty="0"/>
          </a:p>
        </p:txBody>
      </p:sp>
      <p:sp>
        <p:nvSpPr>
          <p:cNvPr id="11" name="Text 8"/>
          <p:cNvSpPr/>
          <p:nvPr/>
        </p:nvSpPr>
        <p:spPr>
          <a:xfrm>
            <a:off x="7406640" y="129714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16</a:t>
            </a:r>
            <a:endParaRPr lang="en-US" sz="850" dirty="0"/>
          </a:p>
        </p:txBody>
      </p:sp>
      <p:sp>
        <p:nvSpPr>
          <p:cNvPr id="12" name="Text 9"/>
          <p:cNvSpPr/>
          <p:nvPr/>
        </p:nvSpPr>
        <p:spPr>
          <a:xfrm>
            <a:off x="7863840" y="129714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19k</a:t>
            </a:r>
            <a:endParaRPr lang="en-US" sz="850" dirty="0"/>
          </a:p>
        </p:txBody>
      </p:sp>
      <p:sp>
        <p:nvSpPr>
          <p:cNvPr id="13" name="Shape 10"/>
          <p:cNvSpPr/>
          <p:nvPr/>
        </p:nvSpPr>
        <p:spPr>
          <a:xfrm>
            <a:off x="6035040" y="1516598"/>
            <a:ext cx="2743200" cy="192024"/>
          </a:xfrm>
          <a:prstGeom prst="rect">
            <a:avLst/>
          </a:prstGeom>
          <a:solidFill>
            <a:srgbClr val="F8FAFC"/>
          </a:solidFill>
          <a:ln w="6350">
            <a:solidFill>
              <a:srgbClr val="E2E8F0"/>
            </a:solidFill>
            <a:prstDash val="solid"/>
          </a:ln>
        </p:spPr>
      </p:sp>
      <p:sp>
        <p:nvSpPr>
          <p:cNvPr id="14" name="Text 11"/>
          <p:cNvSpPr/>
          <p:nvPr/>
        </p:nvSpPr>
        <p:spPr>
          <a:xfrm>
            <a:off x="6126480" y="151659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Site-Where</a:t>
            </a:r>
            <a:endParaRPr lang="en-US" sz="850" dirty="0"/>
          </a:p>
        </p:txBody>
      </p:sp>
      <p:sp>
        <p:nvSpPr>
          <p:cNvPr id="15" name="Text 12"/>
          <p:cNvSpPr/>
          <p:nvPr/>
        </p:nvSpPr>
        <p:spPr>
          <a:xfrm>
            <a:off x="7406640" y="151659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15</a:t>
            </a:r>
            <a:endParaRPr lang="en-US" sz="850" dirty="0"/>
          </a:p>
        </p:txBody>
      </p:sp>
      <p:sp>
        <p:nvSpPr>
          <p:cNvPr id="16" name="Text 13"/>
          <p:cNvSpPr/>
          <p:nvPr/>
        </p:nvSpPr>
        <p:spPr>
          <a:xfrm>
            <a:off x="7863840" y="151659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74k</a:t>
            </a:r>
            <a:endParaRPr lang="en-US" sz="850" dirty="0"/>
          </a:p>
        </p:txBody>
      </p:sp>
      <p:sp>
        <p:nvSpPr>
          <p:cNvPr id="17" name="Shape 14"/>
          <p:cNvSpPr/>
          <p:nvPr/>
        </p:nvSpPr>
        <p:spPr>
          <a:xfrm>
            <a:off x="6035040" y="1736054"/>
            <a:ext cx="2743200" cy="192024"/>
          </a:xfrm>
          <a:prstGeom prst="rect">
            <a:avLst/>
          </a:prstGeom>
          <a:solidFill>
            <a:srgbClr val="F8FAFC"/>
          </a:solidFill>
          <a:ln w="6350">
            <a:solidFill>
              <a:srgbClr val="E2E8F0"/>
            </a:solidFill>
            <a:prstDash val="solid"/>
          </a:ln>
        </p:spPr>
      </p:sp>
      <p:sp>
        <p:nvSpPr>
          <p:cNvPr id="18" name="Text 15"/>
          <p:cNvSpPr/>
          <p:nvPr/>
        </p:nvSpPr>
        <p:spPr>
          <a:xfrm>
            <a:off x="6126480" y="173605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Train-Ticket</a:t>
            </a:r>
            <a:endParaRPr lang="en-US" sz="850" dirty="0"/>
          </a:p>
        </p:txBody>
      </p:sp>
      <p:sp>
        <p:nvSpPr>
          <p:cNvPr id="19" name="Text 16"/>
          <p:cNvSpPr/>
          <p:nvPr/>
        </p:nvSpPr>
        <p:spPr>
          <a:xfrm>
            <a:off x="7406640" y="173605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41</a:t>
            </a:r>
            <a:endParaRPr lang="en-US" sz="850" dirty="0"/>
          </a:p>
        </p:txBody>
      </p:sp>
      <p:sp>
        <p:nvSpPr>
          <p:cNvPr id="20" name="Text 17"/>
          <p:cNvSpPr/>
          <p:nvPr/>
        </p:nvSpPr>
        <p:spPr>
          <a:xfrm>
            <a:off x="7863840" y="173605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36k</a:t>
            </a:r>
            <a:endParaRPr lang="en-US" sz="850" dirty="0"/>
          </a:p>
        </p:txBody>
      </p:sp>
      <p:sp>
        <p:nvSpPr>
          <p:cNvPr id="21" name="Shape 18"/>
          <p:cNvSpPr/>
          <p:nvPr/>
        </p:nvSpPr>
        <p:spPr>
          <a:xfrm>
            <a:off x="6035040" y="1955510"/>
            <a:ext cx="2743200" cy="192024"/>
          </a:xfrm>
          <a:prstGeom prst="rect">
            <a:avLst/>
          </a:prstGeom>
          <a:solidFill>
            <a:srgbClr val="F8FAFC"/>
          </a:solidFill>
          <a:ln w="6350">
            <a:solidFill>
              <a:srgbClr val="E2E8F0"/>
            </a:solidFill>
            <a:prstDash val="solid"/>
          </a:ln>
        </p:spPr>
      </p:sp>
      <p:sp>
        <p:nvSpPr>
          <p:cNvPr id="22" name="Text 19"/>
          <p:cNvSpPr/>
          <p:nvPr/>
        </p:nvSpPr>
        <p:spPr>
          <a:xfrm>
            <a:off x="6126480" y="195551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NetworkDisk</a:t>
            </a:r>
            <a:endParaRPr lang="en-US" sz="850" dirty="0"/>
          </a:p>
        </p:txBody>
      </p:sp>
      <p:sp>
        <p:nvSpPr>
          <p:cNvPr id="23" name="Text 20"/>
          <p:cNvSpPr/>
          <p:nvPr/>
        </p:nvSpPr>
        <p:spPr>
          <a:xfrm>
            <a:off x="7406640" y="195551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10</a:t>
            </a:r>
            <a:endParaRPr lang="en-US" sz="850" dirty="0"/>
          </a:p>
        </p:txBody>
      </p:sp>
      <p:sp>
        <p:nvSpPr>
          <p:cNvPr id="24" name="Text 21"/>
          <p:cNvSpPr/>
          <p:nvPr/>
        </p:nvSpPr>
        <p:spPr>
          <a:xfrm>
            <a:off x="7863840" y="195551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7k</a:t>
            </a:r>
            <a:endParaRPr lang="en-US" sz="850" dirty="0"/>
          </a:p>
        </p:txBody>
      </p:sp>
      <p:sp>
        <p:nvSpPr>
          <p:cNvPr id="25" name="Shape 22"/>
          <p:cNvSpPr/>
          <p:nvPr/>
        </p:nvSpPr>
        <p:spPr>
          <a:xfrm>
            <a:off x="6035040" y="2174966"/>
            <a:ext cx="2743200" cy="192024"/>
          </a:xfrm>
          <a:prstGeom prst="rect">
            <a:avLst/>
          </a:prstGeom>
          <a:solidFill>
            <a:srgbClr val="F8FAFC"/>
          </a:solidFill>
          <a:ln w="6350">
            <a:solidFill>
              <a:srgbClr val="E2E8F0"/>
            </a:solidFill>
            <a:prstDash val="solid"/>
          </a:ln>
        </p:spPr>
      </p:sp>
      <p:sp>
        <p:nvSpPr>
          <p:cNvPr id="26" name="Text 23"/>
          <p:cNvSpPr/>
          <p:nvPr/>
        </p:nvSpPr>
        <p:spPr>
          <a:xfrm>
            <a:off x="6126480" y="217496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recruit</a:t>
            </a:r>
            <a:endParaRPr lang="en-US" sz="850" dirty="0"/>
          </a:p>
        </p:txBody>
      </p:sp>
      <p:sp>
        <p:nvSpPr>
          <p:cNvPr id="27" name="Text 24"/>
          <p:cNvSpPr/>
          <p:nvPr/>
        </p:nvSpPr>
        <p:spPr>
          <a:xfrm>
            <a:off x="7406640" y="217496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28" name="Text 25"/>
          <p:cNvSpPr/>
          <p:nvPr/>
        </p:nvSpPr>
        <p:spPr>
          <a:xfrm>
            <a:off x="7863840" y="217496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8k</a:t>
            </a:r>
            <a:endParaRPr lang="en-US" sz="850" dirty="0"/>
          </a:p>
        </p:txBody>
      </p:sp>
      <p:sp>
        <p:nvSpPr>
          <p:cNvPr id="29" name="Shape 26"/>
          <p:cNvSpPr/>
          <p:nvPr/>
        </p:nvSpPr>
        <p:spPr>
          <a:xfrm>
            <a:off x="6035040" y="2394422"/>
            <a:ext cx="2743200" cy="192024"/>
          </a:xfrm>
          <a:prstGeom prst="rect">
            <a:avLst/>
          </a:prstGeom>
          <a:solidFill>
            <a:srgbClr val="F8FAFC"/>
          </a:solidFill>
          <a:ln w="6350">
            <a:solidFill>
              <a:srgbClr val="E2E8F0"/>
            </a:solidFill>
            <a:prstDash val="solid"/>
          </a:ln>
        </p:spPr>
      </p:sp>
      <p:sp>
        <p:nvSpPr>
          <p:cNvPr id="30" name="Text 27"/>
          <p:cNvSpPr/>
          <p:nvPr/>
        </p:nvSpPr>
        <p:spPr>
          <a:xfrm>
            <a:off x="6126480" y="2394422"/>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ftgo</a:t>
            </a:r>
            <a:endParaRPr lang="en-US" sz="850" dirty="0"/>
          </a:p>
        </p:txBody>
      </p:sp>
      <p:sp>
        <p:nvSpPr>
          <p:cNvPr id="31" name="Text 28"/>
          <p:cNvSpPr/>
          <p:nvPr/>
        </p:nvSpPr>
        <p:spPr>
          <a:xfrm>
            <a:off x="7406640" y="2394422"/>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2" name="Text 29"/>
          <p:cNvSpPr/>
          <p:nvPr/>
        </p:nvSpPr>
        <p:spPr>
          <a:xfrm>
            <a:off x="7863840" y="2394422"/>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11k</a:t>
            </a:r>
            <a:endParaRPr lang="en-US" sz="850" dirty="0"/>
          </a:p>
        </p:txBody>
      </p:sp>
      <p:sp>
        <p:nvSpPr>
          <p:cNvPr id="33" name="Shape 30"/>
          <p:cNvSpPr/>
          <p:nvPr/>
        </p:nvSpPr>
        <p:spPr>
          <a:xfrm>
            <a:off x="6035040" y="2613878"/>
            <a:ext cx="2743200" cy="192024"/>
          </a:xfrm>
          <a:prstGeom prst="rect">
            <a:avLst/>
          </a:prstGeom>
          <a:solidFill>
            <a:srgbClr val="F8FAFC"/>
          </a:solidFill>
          <a:ln w="6350">
            <a:solidFill>
              <a:srgbClr val="E2E8F0"/>
            </a:solidFill>
            <a:prstDash val="solid"/>
          </a:ln>
        </p:spPr>
      </p:sp>
      <p:sp>
        <p:nvSpPr>
          <p:cNvPr id="34" name="Text 31"/>
          <p:cNvSpPr/>
          <p:nvPr/>
        </p:nvSpPr>
        <p:spPr>
          <a:xfrm>
            <a:off x="6126480" y="2613878"/>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mall-swarm</a:t>
            </a:r>
            <a:endParaRPr lang="en-US" sz="850" dirty="0"/>
          </a:p>
        </p:txBody>
      </p:sp>
      <p:sp>
        <p:nvSpPr>
          <p:cNvPr id="35" name="Text 32"/>
          <p:cNvSpPr/>
          <p:nvPr/>
        </p:nvSpPr>
        <p:spPr>
          <a:xfrm>
            <a:off x="7406640" y="2613878"/>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7</a:t>
            </a:r>
            <a:endParaRPr lang="en-US" sz="850" dirty="0"/>
          </a:p>
        </p:txBody>
      </p:sp>
      <p:sp>
        <p:nvSpPr>
          <p:cNvPr id="36" name="Text 33"/>
          <p:cNvSpPr/>
          <p:nvPr/>
        </p:nvSpPr>
        <p:spPr>
          <a:xfrm>
            <a:off x="7863840" y="2613878"/>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86k</a:t>
            </a:r>
            <a:endParaRPr lang="en-US" sz="850" dirty="0"/>
          </a:p>
        </p:txBody>
      </p:sp>
      <p:sp>
        <p:nvSpPr>
          <p:cNvPr id="37" name="Shape 34"/>
          <p:cNvSpPr/>
          <p:nvPr/>
        </p:nvSpPr>
        <p:spPr>
          <a:xfrm>
            <a:off x="6035040" y="2833334"/>
            <a:ext cx="2743200" cy="192024"/>
          </a:xfrm>
          <a:prstGeom prst="rect">
            <a:avLst/>
          </a:prstGeom>
          <a:solidFill>
            <a:srgbClr val="F8FAFC"/>
          </a:solidFill>
          <a:ln w="6350">
            <a:solidFill>
              <a:srgbClr val="E2E8F0"/>
            </a:solidFill>
            <a:prstDash val="solid"/>
          </a:ln>
        </p:spPr>
      </p:sp>
      <p:sp>
        <p:nvSpPr>
          <p:cNvPr id="38" name="Text 35"/>
          <p:cNvSpPr/>
          <p:nvPr/>
        </p:nvSpPr>
        <p:spPr>
          <a:xfrm>
            <a:off x="6126480" y="2833334"/>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RuoYi</a:t>
            </a:r>
            <a:endParaRPr lang="en-US" sz="850" dirty="0"/>
          </a:p>
        </p:txBody>
      </p:sp>
      <p:sp>
        <p:nvSpPr>
          <p:cNvPr id="39" name="Text 36"/>
          <p:cNvSpPr/>
          <p:nvPr/>
        </p:nvSpPr>
        <p:spPr>
          <a:xfrm>
            <a:off x="7406640" y="2833334"/>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0" name="Text 37"/>
          <p:cNvSpPr/>
          <p:nvPr/>
        </p:nvSpPr>
        <p:spPr>
          <a:xfrm>
            <a:off x="7863840" y="2833334"/>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27k</a:t>
            </a:r>
            <a:endParaRPr lang="en-US" sz="850" dirty="0"/>
          </a:p>
        </p:txBody>
      </p:sp>
      <p:sp>
        <p:nvSpPr>
          <p:cNvPr id="41" name="Shape 38"/>
          <p:cNvSpPr/>
          <p:nvPr/>
        </p:nvSpPr>
        <p:spPr>
          <a:xfrm>
            <a:off x="6035040" y="3052790"/>
            <a:ext cx="2743200" cy="192024"/>
          </a:xfrm>
          <a:prstGeom prst="rect">
            <a:avLst/>
          </a:prstGeom>
          <a:solidFill>
            <a:srgbClr val="F8FAFC"/>
          </a:solidFill>
          <a:ln w="6350">
            <a:solidFill>
              <a:srgbClr val="E2E8F0"/>
            </a:solidFill>
            <a:prstDash val="solid"/>
          </a:ln>
        </p:spPr>
      </p:sp>
      <p:sp>
        <p:nvSpPr>
          <p:cNvPr id="42" name="Text 39"/>
          <p:cNvSpPr/>
          <p:nvPr/>
        </p:nvSpPr>
        <p:spPr>
          <a:xfrm>
            <a:off x="6126480" y="3052790"/>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PiggyMetrics</a:t>
            </a:r>
            <a:endParaRPr lang="en-US" sz="850" dirty="0"/>
          </a:p>
        </p:txBody>
      </p:sp>
      <p:sp>
        <p:nvSpPr>
          <p:cNvPr id="43" name="Text 40"/>
          <p:cNvSpPr/>
          <p:nvPr/>
        </p:nvSpPr>
        <p:spPr>
          <a:xfrm>
            <a:off x="7406640" y="3052790"/>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8</a:t>
            </a:r>
            <a:endParaRPr lang="en-US" sz="850" dirty="0"/>
          </a:p>
        </p:txBody>
      </p:sp>
      <p:sp>
        <p:nvSpPr>
          <p:cNvPr id="44" name="Text 41"/>
          <p:cNvSpPr/>
          <p:nvPr/>
        </p:nvSpPr>
        <p:spPr>
          <a:xfrm>
            <a:off x="7863840" y="3052790"/>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4.5k</a:t>
            </a:r>
            <a:endParaRPr lang="en-US" sz="850" dirty="0"/>
          </a:p>
        </p:txBody>
      </p:sp>
      <p:sp>
        <p:nvSpPr>
          <p:cNvPr id="45" name="Shape 42"/>
          <p:cNvSpPr/>
          <p:nvPr/>
        </p:nvSpPr>
        <p:spPr>
          <a:xfrm>
            <a:off x="6035040" y="3272246"/>
            <a:ext cx="2743200" cy="192024"/>
          </a:xfrm>
          <a:prstGeom prst="rect">
            <a:avLst/>
          </a:prstGeom>
          <a:solidFill>
            <a:srgbClr val="F8FAFC"/>
          </a:solidFill>
          <a:ln w="6350">
            <a:solidFill>
              <a:srgbClr val="E2E8F0"/>
            </a:solidFill>
            <a:prstDash val="solid"/>
          </a:ln>
        </p:spPr>
      </p:sp>
      <p:sp>
        <p:nvSpPr>
          <p:cNvPr id="46" name="Text 43"/>
          <p:cNvSpPr/>
          <p:nvPr/>
        </p:nvSpPr>
        <p:spPr>
          <a:xfrm>
            <a:off x="6126480" y="3272246"/>
            <a:ext cx="1280160" cy="192024"/>
          </a:xfrm>
          <a:prstGeom prst="rect">
            <a:avLst/>
          </a:prstGeom>
          <a:noFill/>
          <a:ln/>
        </p:spPr>
        <p:txBody>
          <a:bodyPr wrap="square" lIns="0" tIns="0" rIns="0" bIns="0" rtlCol="0" anchor="ctr"/>
          <a:lstStyle/>
          <a:p>
            <a:pPr marL="0" indent="0">
              <a:buNone/>
            </a:pPr>
            <a:r>
              <a:rPr lang="en-US" sz="850" dirty="0">
                <a:solidFill>
                  <a:srgbClr val="1E293B"/>
                </a:solidFill>
                <a:latin typeface="Calibri" pitchFamily="34" charset="0"/>
                <a:ea typeface="Calibri" pitchFamily="34" charset="-122"/>
                <a:cs typeface="Calibri" pitchFamily="34" charset="-120"/>
              </a:rPr>
              <a:t>piomin</a:t>
            </a:r>
            <a:endParaRPr lang="en-US" sz="850" dirty="0"/>
          </a:p>
        </p:txBody>
      </p:sp>
      <p:sp>
        <p:nvSpPr>
          <p:cNvPr id="47" name="Text 44"/>
          <p:cNvSpPr/>
          <p:nvPr/>
        </p:nvSpPr>
        <p:spPr>
          <a:xfrm>
            <a:off x="7406640" y="3272246"/>
            <a:ext cx="457200" cy="192024"/>
          </a:xfrm>
          <a:prstGeom prst="rect">
            <a:avLst/>
          </a:prstGeom>
          <a:noFill/>
          <a:ln/>
        </p:spPr>
        <p:txBody>
          <a:bodyPr wrap="square" lIns="0" tIns="0" rIns="0" bIns="0" rtlCol="0" anchor="ctr"/>
          <a:lstStyle/>
          <a:p>
            <a:pPr marL="0" indent="0" algn="ctr">
              <a:buNone/>
            </a:pPr>
            <a:r>
              <a:rPr lang="en-US" sz="850" dirty="0">
                <a:solidFill>
                  <a:srgbClr val="1E293B"/>
                </a:solidFill>
                <a:latin typeface="Calibri" pitchFamily="34" charset="0"/>
                <a:ea typeface="Calibri" pitchFamily="34" charset="-122"/>
                <a:cs typeface="Calibri" pitchFamily="34" charset="-120"/>
              </a:rPr>
              <a:t>6</a:t>
            </a:r>
            <a:endParaRPr lang="en-US" sz="850" dirty="0"/>
          </a:p>
        </p:txBody>
      </p:sp>
      <p:sp>
        <p:nvSpPr>
          <p:cNvPr id="48" name="Text 45"/>
          <p:cNvSpPr/>
          <p:nvPr/>
        </p:nvSpPr>
        <p:spPr>
          <a:xfrm>
            <a:off x="7863840" y="3272246"/>
            <a:ext cx="868680" cy="192024"/>
          </a:xfrm>
          <a:prstGeom prst="rect">
            <a:avLst/>
          </a:prstGeom>
          <a:noFill/>
          <a:ln/>
        </p:spPr>
        <p:txBody>
          <a:bodyPr wrap="square" lIns="0" tIns="0" rIns="0" bIns="0" rtlCol="0" anchor="ctr"/>
          <a:lstStyle/>
          <a:p>
            <a:pPr marL="0" indent="0" algn="r">
              <a:buNone/>
            </a:pPr>
            <a:r>
              <a:rPr lang="en-US" sz="850" dirty="0">
                <a:solidFill>
                  <a:srgbClr val="1E293B"/>
                </a:solidFill>
                <a:latin typeface="Calibri" pitchFamily="34" charset="0"/>
                <a:ea typeface="Calibri" pitchFamily="34" charset="-122"/>
                <a:cs typeface="Calibri" pitchFamily="34" charset="-120"/>
              </a:rPr>
              <a:t>1.3k</a:t>
            </a:r>
            <a:endParaRPr lang="en-US" sz="850" dirty="0"/>
          </a:p>
        </p:txBody>
      </p:sp>
      <p:sp>
        <p:nvSpPr>
          <p:cNvPr id="49" name="Shape 46"/>
          <p:cNvSpPr/>
          <p:nvPr/>
        </p:nvSpPr>
        <p:spPr>
          <a:xfrm>
            <a:off x="6035040" y="3491702"/>
            <a:ext cx="2743200" cy="192024"/>
          </a:xfrm>
          <a:prstGeom prst="rect">
            <a:avLst/>
          </a:prstGeom>
          <a:solidFill>
            <a:srgbClr val="0F2A44"/>
          </a:solidFill>
          <a:ln w="6350">
            <a:solidFill>
              <a:srgbClr val="E2E8F0"/>
            </a:solidFill>
            <a:prstDash val="solid"/>
          </a:ln>
        </p:spPr>
      </p:sp>
      <p:sp>
        <p:nvSpPr>
          <p:cNvPr id="50" name="Text 47"/>
          <p:cNvSpPr/>
          <p:nvPr/>
        </p:nvSpPr>
        <p:spPr>
          <a:xfrm>
            <a:off x="6126480" y="3491702"/>
            <a:ext cx="1280160" cy="19202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Total</a:t>
            </a:r>
            <a:endParaRPr lang="en-US" sz="850" dirty="0"/>
          </a:p>
        </p:txBody>
      </p:sp>
      <p:sp>
        <p:nvSpPr>
          <p:cNvPr id="51" name="Text 48"/>
          <p:cNvSpPr/>
          <p:nvPr/>
        </p:nvSpPr>
        <p:spPr>
          <a:xfrm>
            <a:off x="7406640" y="3491702"/>
            <a:ext cx="457200" cy="192024"/>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130</a:t>
            </a:r>
            <a:endParaRPr lang="en-US" sz="850" dirty="0"/>
          </a:p>
        </p:txBody>
      </p:sp>
      <p:sp>
        <p:nvSpPr>
          <p:cNvPr id="52" name="Text 49"/>
          <p:cNvSpPr/>
          <p:nvPr/>
        </p:nvSpPr>
        <p:spPr>
          <a:xfrm>
            <a:off x="7863840" y="3491702"/>
            <a:ext cx="868680" cy="192024"/>
          </a:xfrm>
          <a:prstGeom prst="rect">
            <a:avLst/>
          </a:prstGeom>
          <a:noFill/>
          <a:ln/>
        </p:spPr>
        <p:txBody>
          <a:bodyPr wrap="square" lIns="0" tIns="0" rIns="0" bIns="0" rtlCol="0" anchor="ctr"/>
          <a:lstStyle/>
          <a:p>
            <a:pPr marL="0" indent="0" algn="r">
              <a:buNone/>
            </a:pPr>
            <a:r>
              <a:rPr lang="en-US" sz="850" b="1" dirty="0">
                <a:solidFill>
                  <a:srgbClr val="FFFFFF"/>
                </a:solidFill>
                <a:latin typeface="Calibri" pitchFamily="34" charset="0"/>
                <a:ea typeface="Calibri" pitchFamily="34" charset="-122"/>
                <a:cs typeface="Calibri" pitchFamily="34" charset="-120"/>
              </a:rPr>
              <a:t>274k</a:t>
            </a:r>
            <a:endParaRPr lang="en-US" sz="850" dirty="0"/>
          </a:p>
        </p:txBody>
      </p:sp>
      <p:sp>
        <p:nvSpPr>
          <p:cNvPr id="53" name="Shape 50"/>
          <p:cNvSpPr/>
          <p:nvPr/>
        </p:nvSpPr>
        <p:spPr>
          <a:xfrm>
            <a:off x="365760" y="3749040"/>
            <a:ext cx="8412480" cy="914400"/>
          </a:xfrm>
          <a:prstGeom prst="rect">
            <a:avLst/>
          </a:prstGeom>
          <a:solidFill>
            <a:srgbClr val="F8FAFC"/>
          </a:solidFill>
          <a:ln w="6350">
            <a:solidFill>
              <a:srgbClr val="E2E8F0"/>
            </a:solidFill>
            <a:prstDash val="solid"/>
          </a:ln>
        </p:spPr>
      </p:sp>
      <p:sp>
        <p:nvSpPr>
          <p:cNvPr id="54" name="Shape 51"/>
          <p:cNvSpPr/>
          <p:nvPr/>
        </p:nvSpPr>
        <p:spPr>
          <a:xfrm>
            <a:off x="365760" y="3749040"/>
            <a:ext cx="54864" cy="914400"/>
          </a:xfrm>
          <a:prstGeom prst="rect">
            <a:avLst/>
          </a:prstGeom>
          <a:solidFill>
            <a:srgbClr val="0D9488"/>
          </a:solidFill>
          <a:ln w="12700">
            <a:solidFill>
              <a:srgbClr val="0D9488"/>
            </a:solidFill>
            <a:prstDash val="solid"/>
          </a:ln>
        </p:spPr>
      </p:sp>
      <p:sp>
        <p:nvSpPr>
          <p:cNvPr id="55" name="Text 52"/>
          <p:cNvSpPr/>
          <p:nvPr/>
        </p:nvSpPr>
        <p:spPr>
          <a:xfrm>
            <a:off x="594360" y="3794760"/>
            <a:ext cx="822960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Findings</a:t>
            </a:r>
            <a:endParaRPr lang="en-US" sz="1200" dirty="0"/>
          </a:p>
        </p:txBody>
      </p:sp>
      <p:sp>
        <p:nvSpPr>
          <p:cNvPr id="56" name="Text 53"/>
          <p:cNvSpPr/>
          <p:nvPr/>
        </p:nvSpPr>
        <p:spPr>
          <a:xfrm>
            <a:off x="731520" y="4006378"/>
            <a:ext cx="7955280" cy="594360"/>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126 anti-pattern instances across 9 types</a:t>
            </a:r>
          </a:p>
          <a:p>
            <a:pPr marL="342900" indent="-342900">
              <a:spcAft>
                <a:spcPts val="200"/>
              </a:spcAft>
              <a:buSzPct val="100000"/>
              <a:buChar char="•"/>
            </a:pPr>
            <a:r>
              <a:rPr lang="en-US" sz="1100" dirty="0">
                <a:solidFill>
                  <a:srgbClr val="1E293B"/>
                </a:solidFill>
                <a:latin typeface="Calibri" pitchFamily="34" charset="0"/>
                <a:ea typeface="Calibri" pitchFamily="34" charset="-122"/>
                <a:cs typeface="Calibri" pitchFamily="34" charset="-120"/>
              </a:rPr>
              <a:t>Hardcoded Endpoints (43) and API Versioning Absence (37) dominate</a:t>
            </a:r>
            <a:endParaRPr lang="en-US" sz="1100" dirty="0"/>
          </a:p>
        </p:txBody>
      </p:sp>
      <p:sp>
        <p:nvSpPr>
          <p:cNvPr id="57" name="Text 54"/>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58" name="Text 55"/>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777240"/>
            <a:ext cx="7772400" cy="82296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Live demo</a:t>
            </a:r>
            <a:endParaRPr lang="en-US" sz="5400" dirty="0"/>
          </a:p>
        </p:txBody>
      </p:sp>
      <p:sp>
        <p:nvSpPr>
          <p:cNvPr id="4" name="Text 2"/>
          <p:cNvSpPr/>
          <p:nvPr/>
        </p:nvSpPr>
        <p:spPr>
          <a:xfrm>
            <a:off x="731520" y="1691640"/>
            <a:ext cx="7772400" cy="411480"/>
          </a:xfrm>
          <a:prstGeom prst="rect">
            <a:avLst/>
          </a:prstGeom>
          <a:noFill/>
          <a:ln/>
        </p:spPr>
        <p:txBody>
          <a:bodyPr wrap="square" lIns="0" tIns="0" rIns="0" bIns="0" rtlCol="0" anchor="ctr"/>
          <a:lstStyle/>
          <a:p>
            <a:pPr marL="0" indent="0">
              <a:buNone/>
            </a:pPr>
            <a:r>
              <a:rPr lang="en-US" sz="18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800" dirty="0"/>
          </a:p>
        </p:txBody>
      </p:sp>
      <p:sp>
        <p:nvSpPr>
          <p:cNvPr id="5" name="Shape 3"/>
          <p:cNvSpPr/>
          <p:nvPr/>
        </p:nvSpPr>
        <p:spPr>
          <a:xfrm>
            <a:off x="731520" y="2468880"/>
            <a:ext cx="7772400" cy="2148840"/>
          </a:xfrm>
          <a:prstGeom prst="rect">
            <a:avLst/>
          </a:prstGeom>
          <a:solidFill>
            <a:srgbClr val="1C4E80"/>
          </a:solidFill>
          <a:ln w="12700">
            <a:solidFill>
              <a:srgbClr val="1C4E80"/>
            </a:solidFill>
            <a:prstDash val="solid"/>
          </a:ln>
        </p:spPr>
      </p:sp>
      <p:sp>
        <p:nvSpPr>
          <p:cNvPr id="6" name="Shape 4"/>
          <p:cNvSpPr/>
          <p:nvPr/>
        </p:nvSpPr>
        <p:spPr>
          <a:xfrm>
            <a:off x="914400" y="2592977"/>
            <a:ext cx="384048" cy="384048"/>
          </a:xfrm>
          <a:prstGeom prst="ellipse">
            <a:avLst/>
          </a:prstGeom>
          <a:solidFill>
            <a:srgbClr val="0D9488"/>
          </a:solidFill>
          <a:ln w="12700">
            <a:solidFill>
              <a:srgbClr val="0D9488"/>
            </a:solidFill>
            <a:prstDash val="solid"/>
          </a:ln>
        </p:spPr>
      </p:sp>
      <p:sp>
        <p:nvSpPr>
          <p:cNvPr id="7" name="Text 5"/>
          <p:cNvSpPr/>
          <p:nvPr/>
        </p:nvSpPr>
        <p:spPr>
          <a:xfrm>
            <a:off x="914400" y="259297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1463040" y="256554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9" name="Text 7"/>
          <p:cNvSpPr/>
          <p:nvPr/>
        </p:nvSpPr>
        <p:spPr>
          <a:xfrm>
            <a:off x="1463040" y="280328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10" name="Shape 8"/>
          <p:cNvSpPr/>
          <p:nvPr/>
        </p:nvSpPr>
        <p:spPr>
          <a:xfrm>
            <a:off x="914400" y="3095897"/>
            <a:ext cx="384048" cy="384048"/>
          </a:xfrm>
          <a:prstGeom prst="ellipse">
            <a:avLst/>
          </a:prstGeom>
          <a:solidFill>
            <a:srgbClr val="0D9488"/>
          </a:solidFill>
          <a:ln w="12700">
            <a:solidFill>
              <a:srgbClr val="0D9488"/>
            </a:solidFill>
            <a:prstDash val="solid"/>
          </a:ln>
        </p:spPr>
      </p:sp>
      <p:sp>
        <p:nvSpPr>
          <p:cNvPr id="11" name="Text 9"/>
          <p:cNvSpPr/>
          <p:nvPr/>
        </p:nvSpPr>
        <p:spPr>
          <a:xfrm>
            <a:off x="914400" y="309589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p:nvPr/>
        </p:nvSpPr>
        <p:spPr>
          <a:xfrm>
            <a:off x="1463040" y="306846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3" name="Text 11"/>
          <p:cNvSpPr/>
          <p:nvPr/>
        </p:nvSpPr>
        <p:spPr>
          <a:xfrm>
            <a:off x="1463040" y="330620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4" name="Shape 12"/>
          <p:cNvSpPr/>
          <p:nvPr/>
        </p:nvSpPr>
        <p:spPr>
          <a:xfrm>
            <a:off x="914400" y="3598817"/>
            <a:ext cx="384048" cy="384048"/>
          </a:xfrm>
          <a:prstGeom prst="ellipse">
            <a:avLst/>
          </a:prstGeom>
          <a:solidFill>
            <a:srgbClr val="0D9488"/>
          </a:solidFill>
          <a:ln w="12700">
            <a:solidFill>
              <a:srgbClr val="0D9488"/>
            </a:solidFill>
            <a:prstDash val="solid"/>
          </a:ln>
        </p:spPr>
      </p:sp>
      <p:sp>
        <p:nvSpPr>
          <p:cNvPr id="15" name="Text 13"/>
          <p:cNvSpPr/>
          <p:nvPr/>
        </p:nvSpPr>
        <p:spPr>
          <a:xfrm>
            <a:off x="914400" y="359881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p:nvPr/>
        </p:nvSpPr>
        <p:spPr>
          <a:xfrm>
            <a:off x="1463040" y="357138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7" name="Text 15"/>
          <p:cNvSpPr/>
          <p:nvPr/>
        </p:nvSpPr>
        <p:spPr>
          <a:xfrm>
            <a:off x="1463040" y="380912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8" name="Shape 16"/>
          <p:cNvSpPr/>
          <p:nvPr/>
        </p:nvSpPr>
        <p:spPr>
          <a:xfrm>
            <a:off x="914400" y="4101737"/>
            <a:ext cx="384048" cy="384048"/>
          </a:xfrm>
          <a:prstGeom prst="ellipse">
            <a:avLst/>
          </a:prstGeom>
          <a:solidFill>
            <a:srgbClr val="0D9488"/>
          </a:solidFill>
          <a:ln w="12700">
            <a:solidFill>
              <a:srgbClr val="0D9488"/>
            </a:solidFill>
            <a:prstDash val="solid"/>
          </a:ln>
        </p:spPr>
      </p:sp>
      <p:sp>
        <p:nvSpPr>
          <p:cNvPr id="19" name="Text 17"/>
          <p:cNvSpPr/>
          <p:nvPr/>
        </p:nvSpPr>
        <p:spPr>
          <a:xfrm>
            <a:off x="914400" y="4101737"/>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0" name="Text 18"/>
          <p:cNvSpPr/>
          <p:nvPr/>
        </p:nvSpPr>
        <p:spPr>
          <a:xfrm>
            <a:off x="1463040" y="4074305"/>
            <a:ext cx="6858000" cy="256032"/>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21" name="Text 19"/>
          <p:cNvSpPr/>
          <p:nvPr/>
        </p:nvSpPr>
        <p:spPr>
          <a:xfrm>
            <a:off x="1463040" y="4312049"/>
            <a:ext cx="6858000" cy="237744"/>
          </a:xfrm>
          <a:prstGeom prst="rect">
            <a:avLst/>
          </a:prstGeom>
          <a:noFill/>
          <a:ln/>
        </p:spPr>
        <p:txBody>
          <a:bodyPr wrap="square" lIns="0" tIns="0" rIns="0" bIns="0" rtlCol="0" anchor="ctr"/>
          <a:lstStyle/>
          <a:p>
            <a:pPr marL="0" indent="0">
              <a:buNone/>
            </a:pPr>
            <a:r>
              <a:rPr lang="en-US" sz="1100" i="1"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22" name="Text 20"/>
          <p:cNvSpPr/>
          <p:nvPr/>
        </p:nvSpPr>
        <p:spPr>
          <a:xfrm>
            <a:off x="731520" y="4846320"/>
            <a:ext cx="5486400" cy="228600"/>
          </a:xfrm>
          <a:prstGeom prst="rect">
            <a:avLst/>
          </a:prstGeom>
          <a:noFill/>
          <a:ln/>
        </p:spPr>
        <p:txBody>
          <a:bodyPr wrap="square" rtlCol="0" anchor="ctr"/>
          <a:lstStyle/>
          <a:p>
            <a:pPr marL="0" indent="0">
              <a:buNone/>
            </a:pPr>
            <a:r>
              <a:rPr lang="en-US" sz="900" dirty="0">
                <a:solidFill>
                  <a:srgbClr val="DBEAFE"/>
                </a:solidFill>
                <a:latin typeface="Calibri" pitchFamily="34" charset="0"/>
                <a:ea typeface="Calibri" pitchFamily="34" charset="-122"/>
                <a:cs typeface="Calibri" pitchFamily="34" charset="-120"/>
              </a:rPr>
              <a:t>MSA Detector  •  Iacob Andrei  •  UBB FMI</a:t>
            </a:r>
            <a:endParaRPr lang="en-US" sz="900" dirty="0"/>
          </a:p>
        </p:txBody>
      </p:sp>
      <p:sp>
        <p:nvSpPr>
          <p:cNvPr id="23" name="Text 21"/>
          <p:cNvSpPr/>
          <p:nvPr/>
        </p:nvSpPr>
        <p:spPr>
          <a:xfrm>
            <a:off x="7680960" y="4846320"/>
            <a:ext cx="731520" cy="228600"/>
          </a:xfrm>
          <a:prstGeom prst="rect">
            <a:avLst/>
          </a:prstGeom>
          <a:noFill/>
          <a:ln/>
        </p:spPr>
        <p:txBody>
          <a:bodyPr wrap="square"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56032"/>
            <a:ext cx="8229600" cy="548640"/>
          </a:xfrm>
          <a:prstGeom prst="rect">
            <a:avLst/>
          </a:prstGeom>
          <a:noFill/>
          <a:ln/>
        </p:spPr>
        <p:txBody>
          <a:bodyPr wrap="square" lIns="0" tIns="0" rIns="0" bIns="0" rtlCol="0" anchor="ctr"/>
          <a:lstStyle/>
          <a:p>
            <a:pPr marL="0" indent="0">
              <a:buNone/>
            </a:pPr>
            <a:r>
              <a:rPr lang="en-US" sz="2800" b="1" dirty="0">
                <a:solidFill>
                  <a:srgbClr val="0F2A44"/>
                </a:solidFill>
                <a:latin typeface="Calibri" pitchFamily="34" charset="0"/>
                <a:ea typeface="Calibri" pitchFamily="34" charset="-122"/>
                <a:cs typeface="Calibri" pitchFamily="34" charset="-120"/>
              </a:rPr>
              <a:t>Limitations &amp; future work</a:t>
            </a:r>
            <a:endParaRPr lang="en-US" sz="2800" dirty="0"/>
          </a:p>
        </p:txBody>
      </p:sp>
      <p:sp>
        <p:nvSpPr>
          <p:cNvPr id="3" name="Shape 1"/>
          <p:cNvSpPr/>
          <p:nvPr/>
        </p:nvSpPr>
        <p:spPr>
          <a:xfrm>
            <a:off x="457200" y="914400"/>
            <a:ext cx="4023360" cy="3657600"/>
          </a:xfrm>
          <a:prstGeom prst="rect">
            <a:avLst/>
          </a:prstGeom>
          <a:solidFill>
            <a:srgbClr val="F8FAFC"/>
          </a:solidFill>
          <a:ln w="9525">
            <a:solidFill>
              <a:srgbClr val="E2E8F0"/>
            </a:solidFill>
            <a:prstDash val="solid"/>
          </a:ln>
        </p:spPr>
        <p:txBody>
          <a:bodyPr/>
          <a:lstStyle/>
          <a:p>
            <a:endParaRPr lang="en-US" dirty="0"/>
          </a:p>
        </p:txBody>
      </p:sp>
      <p:sp>
        <p:nvSpPr>
          <p:cNvPr id="4" name="Shape 2"/>
          <p:cNvSpPr/>
          <p:nvPr/>
        </p:nvSpPr>
        <p:spPr>
          <a:xfrm>
            <a:off x="457200" y="914400"/>
            <a:ext cx="54864" cy="3657600"/>
          </a:xfrm>
          <a:prstGeom prst="rect">
            <a:avLst/>
          </a:prstGeom>
          <a:solidFill>
            <a:srgbClr val="D97706"/>
          </a:solidFill>
          <a:ln w="12700">
            <a:solidFill>
              <a:srgbClr val="D97706"/>
            </a:solidFill>
            <a:prstDash val="solid"/>
          </a:ln>
        </p:spPr>
      </p:sp>
      <p:sp>
        <p:nvSpPr>
          <p:cNvPr id="5" name="Shape 3"/>
          <p:cNvSpPr/>
          <p:nvPr/>
        </p:nvSpPr>
        <p:spPr>
          <a:xfrm>
            <a:off x="640080" y="1051560"/>
            <a:ext cx="411480" cy="411480"/>
          </a:xfrm>
          <a:prstGeom prst="roundRect">
            <a:avLst>
              <a:gd name="adj" fmla="val 17778"/>
            </a:avLst>
          </a:prstGeom>
          <a:solidFill>
            <a:srgbClr val="D97706"/>
          </a:solidFill>
          <a:ln w="12700">
            <a:solidFill>
              <a:srgbClr val="D97706"/>
            </a:solidFill>
            <a:prstDash val="solid"/>
          </a:ln>
          <a:effectLst>
            <a:outerShdw blurRad="76200" dist="25400" dir="8100000" algn="bl" rotWithShape="0">
              <a:srgbClr val="000000">
                <a:alpha val="12000"/>
              </a:srgbClr>
            </a:outerShdw>
          </a:effectLst>
        </p:spPr>
      </p:sp>
      <p:pic>
        <p:nvPicPr>
          <p:cNvPr id="6" name="Image 0" descr="preencoded.png"/>
          <p:cNvPicPr>
            <a:picLocks noChangeAspect="1"/>
          </p:cNvPicPr>
          <p:nvPr/>
        </p:nvPicPr>
        <p:blipFill>
          <a:blip r:embed="rId3"/>
          <a:stretch>
            <a:fillRect/>
          </a:stretch>
        </p:blipFill>
        <p:spPr>
          <a:xfrm>
            <a:off x="730606" y="1142086"/>
            <a:ext cx="230429" cy="230429"/>
          </a:xfrm>
          <a:prstGeom prst="rect">
            <a:avLst/>
          </a:prstGeom>
        </p:spPr>
      </p:pic>
      <p:sp>
        <p:nvSpPr>
          <p:cNvPr id="7" name="Text 4"/>
          <p:cNvSpPr/>
          <p:nvPr/>
        </p:nvSpPr>
        <p:spPr>
          <a:xfrm>
            <a:off x="114300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Limitations</a:t>
            </a:r>
            <a:endParaRPr lang="en-US" sz="1600" dirty="0"/>
          </a:p>
        </p:txBody>
      </p:sp>
      <p:sp>
        <p:nvSpPr>
          <p:cNvPr id="8" name="Text 5"/>
          <p:cNvSpPr/>
          <p:nvPr/>
        </p:nvSpPr>
        <p:spPr>
          <a:xfrm>
            <a:off x="73152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Java / Spring Boot only; polyglot systems not supported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Static analysis only; no runtime call frequency data</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Dynamic URLs (e.g. Spring Cloud Config) are not resolved</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50" dirty="0"/>
          </a:p>
        </p:txBody>
      </p:sp>
      <p:sp>
        <p:nvSpPr>
          <p:cNvPr id="9" name="Shape 6"/>
          <p:cNvSpPr/>
          <p:nvPr/>
        </p:nvSpPr>
        <p:spPr>
          <a:xfrm>
            <a:off x="4663440" y="914400"/>
            <a:ext cx="4023360" cy="3657600"/>
          </a:xfrm>
          <a:prstGeom prst="rect">
            <a:avLst/>
          </a:prstGeom>
          <a:solidFill>
            <a:srgbClr val="F8FAFC"/>
          </a:solidFill>
          <a:ln w="9525">
            <a:solidFill>
              <a:srgbClr val="E2E8F0"/>
            </a:solidFill>
            <a:prstDash val="solid"/>
          </a:ln>
        </p:spPr>
      </p:sp>
      <p:sp>
        <p:nvSpPr>
          <p:cNvPr id="10" name="Shape 7"/>
          <p:cNvSpPr/>
          <p:nvPr/>
        </p:nvSpPr>
        <p:spPr>
          <a:xfrm>
            <a:off x="4663440" y="914400"/>
            <a:ext cx="54864" cy="3657600"/>
          </a:xfrm>
          <a:prstGeom prst="rect">
            <a:avLst/>
          </a:prstGeom>
          <a:solidFill>
            <a:srgbClr val="0D9488"/>
          </a:solidFill>
          <a:ln w="12700">
            <a:solidFill>
              <a:srgbClr val="0D9488"/>
            </a:solidFill>
            <a:prstDash val="solid"/>
          </a:ln>
        </p:spPr>
      </p:sp>
      <p:sp>
        <p:nvSpPr>
          <p:cNvPr id="11" name="Shape 8"/>
          <p:cNvSpPr/>
          <p:nvPr/>
        </p:nvSpPr>
        <p:spPr>
          <a:xfrm>
            <a:off x="4846320" y="1051560"/>
            <a:ext cx="411480" cy="411480"/>
          </a:xfrm>
          <a:prstGeom prst="roundRect">
            <a:avLst>
              <a:gd name="adj" fmla="val 17778"/>
            </a:avLst>
          </a:prstGeom>
          <a:solidFill>
            <a:srgbClr val="0D9488"/>
          </a:solidFill>
          <a:ln w="12700">
            <a:solidFill>
              <a:srgbClr val="0D9488"/>
            </a:solidFill>
            <a:prstDash val="solid"/>
          </a:ln>
          <a:effectLst>
            <a:outerShdw blurRad="76200" dist="25400" dir="8100000" algn="bl" rotWithShape="0">
              <a:srgbClr val="000000">
                <a:alpha val="12000"/>
              </a:srgbClr>
            </a:outerShdw>
          </a:effectLst>
        </p:spPr>
      </p:sp>
      <p:pic>
        <p:nvPicPr>
          <p:cNvPr id="12" name="Image 1" descr="preencoded.png"/>
          <p:cNvPicPr>
            <a:picLocks noChangeAspect="1"/>
          </p:cNvPicPr>
          <p:nvPr/>
        </p:nvPicPr>
        <p:blipFill>
          <a:blip r:embed="rId4"/>
          <a:stretch>
            <a:fillRect/>
          </a:stretch>
        </p:blipFill>
        <p:spPr>
          <a:xfrm>
            <a:off x="4936846" y="1142086"/>
            <a:ext cx="230429" cy="230429"/>
          </a:xfrm>
          <a:prstGeom prst="rect">
            <a:avLst/>
          </a:prstGeom>
        </p:spPr>
      </p:pic>
      <p:sp>
        <p:nvSpPr>
          <p:cNvPr id="13" name="Text 9"/>
          <p:cNvSpPr/>
          <p:nvPr/>
        </p:nvSpPr>
        <p:spPr>
          <a:xfrm>
            <a:off x="5349240" y="1060704"/>
            <a:ext cx="3200400" cy="365760"/>
          </a:xfrm>
          <a:prstGeom prst="rect">
            <a:avLst/>
          </a:prstGeom>
          <a:noFill/>
          <a:ln/>
        </p:spPr>
        <p:txBody>
          <a:bodyPr wrap="square" lIns="0" tIns="0" rIns="0" bIns="0" rtlCol="0" anchor="ctr"/>
          <a:lstStyle/>
          <a:p>
            <a:pPr marL="0" indent="0">
              <a:buNone/>
            </a:pPr>
            <a:r>
              <a:rPr lang="en-US" sz="1600" b="1" dirty="0">
                <a:solidFill>
                  <a:srgbClr val="0F2A44"/>
                </a:solidFill>
                <a:latin typeface="Calibri" pitchFamily="34" charset="0"/>
                <a:ea typeface="Calibri" pitchFamily="34" charset="-122"/>
                <a:cs typeface="Calibri" pitchFamily="34" charset="-120"/>
              </a:rPr>
              <a:t>Future work</a:t>
            </a:r>
            <a:endParaRPr lang="en-US" sz="1600" dirty="0"/>
          </a:p>
        </p:txBody>
      </p:sp>
      <p:sp>
        <p:nvSpPr>
          <p:cNvPr id="14" name="Text 10"/>
          <p:cNvSpPr/>
          <p:nvPr/>
        </p:nvSpPr>
        <p:spPr>
          <a:xfrm>
            <a:off x="4937760" y="1554480"/>
            <a:ext cx="3657600" cy="2926080"/>
          </a:xfrm>
          <a:prstGeom prst="rect">
            <a:avLst/>
          </a:prstGeom>
          <a:noFill/>
          <a:ln/>
        </p:spPr>
        <p:txBody>
          <a:bodyPr wrap="square" lIns="0" tIns="0" rIns="0" bIns="0" rtlCol="0" anchor="ctr"/>
          <a:lstStyle/>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50" dirty="0"/>
          </a:p>
          <a:p>
            <a:pPr marL="342900" indent="-342900">
              <a:spcAft>
                <a:spcPts val="400"/>
              </a:spcAft>
              <a:buSzPct val="100000"/>
              <a:buChar char="•"/>
            </a:pPr>
            <a:r>
              <a:rPr lang="en-US" sz="115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50" dirty="0"/>
          </a:p>
        </p:txBody>
      </p:sp>
      <p:sp>
        <p:nvSpPr>
          <p:cNvPr id="15" name="Text 11"/>
          <p:cNvSpPr/>
          <p:nvPr/>
        </p:nvSpPr>
        <p:spPr>
          <a:xfrm>
            <a:off x="365760" y="4846320"/>
            <a:ext cx="5486400" cy="22860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MSA Detector  •  Iacob Andrei  •  UBB FMI</a:t>
            </a:r>
            <a:endParaRPr lang="en-US" sz="900" dirty="0"/>
          </a:p>
        </p:txBody>
      </p:sp>
      <p:sp>
        <p:nvSpPr>
          <p:cNvPr id="16" name="Text 12"/>
          <p:cNvSpPr/>
          <p:nvPr/>
        </p:nvSpPr>
        <p:spPr>
          <a:xfrm>
            <a:off x="8046720" y="4846320"/>
            <a:ext cx="731520" cy="228600"/>
          </a:xfrm>
          <a:prstGeom prst="rect">
            <a:avLst/>
          </a:prstGeom>
          <a:noFill/>
          <a:ln/>
        </p:spPr>
        <p:txBody>
          <a:bodyPr wrap="square"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D9488"/>
          </a:solidFill>
          <a:ln w="12700">
            <a:solidFill>
              <a:srgbClr val="0D9488"/>
            </a:solidFill>
            <a:prstDash val="solid"/>
          </a:ln>
        </p:spPr>
      </p:sp>
      <p:sp>
        <p:nvSpPr>
          <p:cNvPr id="3" name="Text 1"/>
          <p:cNvSpPr/>
          <p:nvPr/>
        </p:nvSpPr>
        <p:spPr>
          <a:xfrm>
            <a:off x="731520" y="914400"/>
            <a:ext cx="77724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731520" y="1737360"/>
            <a:ext cx="7772400" cy="411480"/>
          </a:xfrm>
          <a:prstGeom prst="rect">
            <a:avLst/>
          </a:prstGeom>
          <a:noFill/>
          <a:ln/>
        </p:spPr>
        <p:txBody>
          <a:bodyPr wrap="square" lIns="0" tIns="0" rIns="0" bIns="0" rtlCol="0" anchor="ctr"/>
          <a:lstStyle/>
          <a:p>
            <a:pPr marL="0" indent="0">
              <a:buNone/>
            </a:pPr>
            <a:endParaRPr lang="en-US" sz="2000" dirty="0"/>
          </a:p>
        </p:txBody>
      </p:sp>
      <p:sp>
        <p:nvSpPr>
          <p:cNvPr id="5" name="Shape 3"/>
          <p:cNvSpPr/>
          <p:nvPr/>
        </p:nvSpPr>
        <p:spPr>
          <a:xfrm>
            <a:off x="731520" y="2606040"/>
            <a:ext cx="6126480" cy="1783080"/>
          </a:xfrm>
          <a:prstGeom prst="rect">
            <a:avLst/>
          </a:prstGeom>
          <a:solidFill>
            <a:srgbClr val="1C4E80"/>
          </a:solidFill>
          <a:ln w="12700">
            <a:solidFill>
              <a:srgbClr val="1C4E80"/>
            </a:solidFill>
            <a:prstDash val="solid"/>
          </a:ln>
        </p:spPr>
      </p:sp>
      <p:sp>
        <p:nvSpPr>
          <p:cNvPr id="6" name="Text 4"/>
          <p:cNvSpPr/>
          <p:nvPr/>
        </p:nvSpPr>
        <p:spPr>
          <a:xfrm>
            <a:off x="914400" y="2697480"/>
            <a:ext cx="7498080" cy="320040"/>
          </a:xfrm>
          <a:prstGeom prst="rect">
            <a:avLst/>
          </a:prstGeom>
          <a:noFill/>
          <a:ln/>
        </p:spPr>
        <p:txBody>
          <a:bodyPr wrap="square" lIns="0" tIns="0" rIns="0" bIns="0" rtlCol="0" anchor="ctr"/>
          <a:lstStyle/>
          <a:p>
            <a:pPr marL="0" indent="0">
              <a:buNone/>
            </a:pPr>
            <a:r>
              <a:rPr lang="en-US" sz="1400" b="1" dirty="0">
                <a:solidFill>
                  <a:srgbClr val="DBEAFE"/>
                </a:solidFill>
                <a:latin typeface="Calibri" pitchFamily="34" charset="0"/>
                <a:ea typeface="Calibri" pitchFamily="34" charset="-122"/>
                <a:cs typeface="Calibri" pitchFamily="34" charset="-120"/>
              </a:rPr>
              <a:t>Recap</a:t>
            </a:r>
            <a:endParaRPr lang="en-US" sz="1400" dirty="0"/>
          </a:p>
        </p:txBody>
      </p:sp>
      <p:sp>
        <p:nvSpPr>
          <p:cNvPr id="7" name="Text 5"/>
          <p:cNvSpPr/>
          <p:nvPr/>
        </p:nvSpPr>
        <p:spPr>
          <a:xfrm>
            <a:off x="1005840" y="2926080"/>
            <a:ext cx="7315200" cy="1371600"/>
          </a:xfrm>
          <a:prstGeom prst="rect">
            <a:avLst/>
          </a:prstGeom>
          <a:noFill/>
          <a:ln/>
        </p:spPr>
        <p:txBody>
          <a:bodyPr wrap="square" lIns="0" tIns="0" rIns="0" bIns="0" rtlCol="0" anchor="ctr"/>
          <a:lstStyle/>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Multi-level static analysis combining code smells and architectural metrics</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Ten anti-patterns, configurable thresholds, evidence-based reporting</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Composite health score with four-category decomposition and analysis diff</a:t>
            </a:r>
            <a:endParaRPr lang="en-US" sz="1300" dirty="0"/>
          </a:p>
          <a:p>
            <a:pPr marL="342900" indent="-342900">
              <a:spcAft>
                <a:spcPts val="200"/>
              </a:spcAft>
              <a:buSzPct val="100000"/>
              <a:buChar char="•"/>
            </a:pPr>
            <a:r>
              <a:rPr lang="en-US" sz="1300" dirty="0">
                <a:solidFill>
                  <a:srgbClr val="FFFFFF"/>
                </a:solidFill>
                <a:latin typeface="Calibri" pitchFamily="34" charset="0"/>
                <a:ea typeface="Calibri" pitchFamily="34" charset="-122"/>
                <a:cs typeface="Calibri" pitchFamily="34" charset="-120"/>
              </a:rPr>
              <a:t>Open-source web application, ready for CI/CD integration</a:t>
            </a:r>
            <a:endParaRPr lang="en-US" sz="1300" dirty="0"/>
          </a:p>
        </p:txBody>
      </p:sp>
      <p:sp>
        <p:nvSpPr>
          <p:cNvPr id="8" name="Text 6"/>
          <p:cNvSpPr/>
          <p:nvPr/>
        </p:nvSpPr>
        <p:spPr>
          <a:xfrm>
            <a:off x="731520" y="4572000"/>
            <a:ext cx="7772400" cy="274320"/>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Iacob Andrei  •  Supervisor: Prof. Dr. Simona Motogna  •  UBB FMI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4629</Words>
  <Application>Microsoft Office PowerPoint</Application>
  <PresentationFormat>On-screen Show (16:9)</PresentationFormat>
  <Paragraphs>267</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cp:revision>
  <dcterms:created xsi:type="dcterms:W3CDTF">2026-06-03T09:41:34Z</dcterms:created>
  <dcterms:modified xsi:type="dcterms:W3CDTF">2026-06-03T11:38:04Z</dcterms:modified>
</cp:coreProperties>
</file>