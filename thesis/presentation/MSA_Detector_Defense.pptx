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F2A44"/>
                </a:solidFill>
                <a:latin typeface="Calibri"/>
              </a:defRPr>
            </a:pPr>
            <a:r>
              <a:rPr lang="en-US" sz="13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MicroSocial</c:v>
                </c:pt>
                <c:pt idx="1">
                  <c:v>Site-Where</c:v>
                </c:pt>
                <c:pt idx="2">
                  <c:v>design-pat.</c:v>
                </c:pt>
                <c:pt idx="3">
                  <c:v>Apollo</c:v>
                </c:pt>
                <c:pt idx="4">
                  <c:v>Train-Ticket</c:v>
                </c:pt>
                <c:pt idx="5">
                  <c:v>Genie</c:v>
                </c:pt>
                <c:pt idx="6">
                  <c:v>NetworkDisk</c:v>
                </c:pt>
                <c:pt idx="7">
                  <c:v>recruit</c:v>
                </c:pt>
              </c:strCache>
            </c:strRef>
          </c:cat>
          <c:val>
            <c:numRef>
              <c:f>Sheet1!$B$2:$B$9</c:f>
              <c:numCache>
                <c:formatCode>General</c:formatCode>
                <c:ptCount val="8"/>
                <c:pt idx="0">
                  <c:v>77</c:v>
                </c:pt>
                <c:pt idx="1">
                  <c:v>69</c:v>
                </c:pt>
                <c:pt idx="2">
                  <c:v>60</c:v>
                </c:pt>
                <c:pt idx="3">
                  <c:v>59</c:v>
                </c:pt>
                <c:pt idx="4">
                  <c:v>52</c:v>
                </c:pt>
                <c:pt idx="5">
                  <c:v>45</c:v>
                </c:pt>
                <c:pt idx="6">
                  <c:v>53</c:v>
                </c:pt>
                <c:pt idx="7">
                  <c:v>48</c:v>
                </c:pt>
              </c:numCache>
            </c:numRef>
          </c:val>
          <c:extLst>
            <c:ext xmlns:c16="http://schemas.microsoft.com/office/drawing/2014/chart" uri="{C3380CC4-5D6E-409C-BE32-E72D297353CC}">
              <c16:uniqueId val="{00000000-D2D8-4E7F-A1AB-8CB481E5C26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05414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'Good morning. My name is Andrei Iacob, and today I'll be defending my dissertation: MSA Detector — a tool for detecting architectural anti-patterns in Java-based microservice systems. My supervisor is Professor Simona Motogna.'
Keep this short — about 30 seconds. Don't introduce content yet; that's the next slide.
Breathe, slow down. The committee already knows your name from the schedule, so this is just orientation.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here. This frames why the tool exists.
Talking points:
•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 Existing academic tools each handle a slice: Arcan does code-level cycles, MicroART visualises architecture, MSANose detects some microservice smells. None combine code-level smells with architectural-level analysis.
• Even when something IS detected, the output is usually an abstract warning. Developers don't act on warnings without code evidence and remediation guidance.
Pivot to next slide: 'So the goal of this work was a tool that bridges both levels and outputs actionable findings.'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here. Don't read the slide — talk to it.
What to actually say:
• 'The work has five contributions. The first is the multi-level analysis itself — using code-level signals like God Class frequency to flag architectural problems like God Service. That bridge between abstraction levels is the central novelty.'
• 'Second, ten anti-patterns across four dimensions — broader coverage than any single existing tool.'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Don't dwell on each one. They'll see the details later. This slide sets expectations for the rest of the talk.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~2 minutes here. This is the spine of the talk — get the pipeline right and everything else follows.
Walk left to right:
•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~90–120 seconds. This is the slide that demonstrates the multi-level claim.
Talking points:
• 'I picked God Service as the example because it's the cleanest illustration of how code-level signals feed an architectural-level finding.'
• Walk through left side: 'DesigniteJava detects God Class smells per class. Those are persisted as CodeSmell entities in the database. The God Service detector then queries that table and flags any microservice containing one or more God Classes.'
• Right side: 'But what if DesigniteJava fails or is disabled? The detector falls back to its own Spoon-based analysis using six structural metrics. A class is flagged if it exceeds at least three.'
• On TCC: 'Tight Class Cohesion measures the fraction of method pairs that share an instance field access. Low TCC means the methods operate on disjoint state — a sign of unrelated responsibilities packed into one class.'
EXPECT THIS QUESTION: 'Why threshold = 1? One God Class shouldn't flag a service.'
Answer: 'The default is intentionally sensitive. False positives are cheap to dismiss. False negatives — architectural debt growing undetected — are expensive. The threshold is configurable; teams in production would calibrate it. Even one God Class concentrates responsibilities enough to warrant a look.'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 about 45 seconds. Don't read every detector aloud.
What to say:
•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'I won't walk through each detector — they're in Chapter 3 of the thesis. I'll focus on the scoring mechanism next.'
If a committee member asks about a specific detector:
• Shared DB — group services by spring.datasource.url, flag groups of size &gt; 1
• Cyclic Dependency — Tarjan's SCC on the dep graph, any SCC &gt; 1 vertex is a cycle
• Chatty Service — call count per edge ≥ 10 OR a Feign interface with ≥ 10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Feature Envy count OR bidirectional edges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Talking points:
•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logarithmic penalty in the AP category — like I use for Code Quality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This is the slide that makes the scoring reproducible.
Walk through it:
• 'Take Train-Ticket as an example — an academic benchmark with 42 microservices. It has 26 hardcoded endpoints, 4 chatty services, 4 nano services, and 1 shared database. Total penalty: 115 — but the AP category caps at 40, so it clamps to zero.'
• 'Service Sizing loses 8 points from the nano service penalty (capped at 8).'
• 'Code Quality and Architecture both score perfect — DesigniteJava produced no smells, and the coupling coefficient stayed below the penalty threshold.'
• 'So the final score is 0 + 20 + 25 + 7 = 52. Grade D.'
This slide demonstrates: (1) the scoring formula is fully transparent and reproducible, (2) the decomposition tells you exactly what's wrong — here it's overwhelmingly hardcoded URLs and chatty inter-service calls.
EXPECT QUESTION: 'Code Quality and Architecture scoring perfect — is that real?'
Honest answer: 'DesigniteJava genuinely didn't flag smells in this project, and the coupling coefficient is low because Train-Ticket has 42 services but relatively few resolved inter-service edges. A richer evaluation corpus would exercise those categories more. I note this in Chapter 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Talking points:
• 'I evaluated on eight open-source Spring Boot projects, spanning from a 2k-LOC student project to Genie at 118k LOC. 116 microservices, 350k LOC total.'
• 'Health scores ranged from 45 to 77 — the scoring mechanism produces meaningful spread.'
• 'The dominant findings are configuration and sizing issues: 45 hardcoded endpoints, 24 API versioning absences, 20 nano services. But importantly, Cyclic Dependency and Wrong Cuts were detected in microservice-recruit — adding those two projects exercised detectors that previously produced zero results.'
• '106 total anti-pattern instances across 9 distinct types. Only Distributed Monolith was not detected — plausible given these projects' topologies.'
EXPECT: 'Only 8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77, grade C.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~60 seconds. This is your honesty slide — committee will respect frankness here.
Talking points:
•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8 projects?' → feasibility demo not statistical claim; no labelled corpus exists.
• 'Score compression at the bottom?' → known limitation, logarithmic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1C4E80"/>
          </a:solidFill>
          <a:ln w="12700">
            <a:solidFill>
              <a:srgbClr val="1C4E80"/>
            </a:solidFill>
            <a:prstDash val="solid"/>
          </a:ln>
        </p:spPr>
        <p:txBody>
          <a:bodyPr/>
          <a:lstStyle/>
          <a:p>
            <a:endParaRPr lang="en-US"/>
          </a:p>
        </p:txBody>
      </p:sp>
      <p:sp>
        <p:nvSpPr>
          <p:cNvPr id="3" name="Shape 1"/>
          <p:cNvSpPr/>
          <p:nvPr/>
        </p:nvSpPr>
        <p:spPr>
          <a:xfrm>
            <a:off x="6355080" y="0"/>
            <a:ext cx="45720" cy="5143500"/>
          </a:xfrm>
          <a:prstGeom prst="rect">
            <a:avLst/>
          </a:prstGeom>
          <a:solidFill>
            <a:srgbClr val="0D9488"/>
          </a:solidFill>
          <a:ln w="12700">
            <a:solidFill>
              <a:srgbClr val="0D9488"/>
            </a:solidFill>
            <a:prstDash val="solid"/>
          </a:ln>
        </p:spPr>
        <p:txBody>
          <a:bodyPr/>
          <a:lstStyle/>
          <a:p>
            <a:endParaRPr lang="en-US"/>
          </a:p>
        </p:txBody>
      </p:sp>
      <p:pic>
        <p:nvPicPr>
          <p:cNvPr id="4" name="Image 0" descr="preencoded.png"/>
          <p:cNvPicPr>
            <a:picLocks noChangeAspect="1"/>
          </p:cNvPicPr>
          <p:nvPr/>
        </p:nvPicPr>
        <p:blipFill>
          <a:blip r:embed="rId3"/>
          <a:stretch>
            <a:fillRect/>
          </a:stretch>
        </p:blipFill>
        <p:spPr>
          <a:xfrm>
            <a:off x="7040880" y="1554480"/>
            <a:ext cx="1463040" cy="1463040"/>
          </a:xfrm>
          <a:prstGeom prst="rect">
            <a:avLst/>
          </a:prstGeom>
        </p:spPr>
      </p:pic>
      <p:sp>
        <p:nvSpPr>
          <p:cNvPr id="5" name="Text 2"/>
          <p:cNvSpPr/>
          <p:nvPr/>
        </p:nvSpPr>
        <p:spPr>
          <a:xfrm>
            <a:off x="6400800" y="3108960"/>
            <a:ext cx="2743200" cy="365760"/>
          </a:xfrm>
          <a:prstGeom prst="rect">
            <a:avLst/>
          </a:prstGeom>
          <a:noFill/>
          <a:ln/>
        </p:spPr>
        <p:txBody>
          <a:bodyPr wrap="square" rtlCol="0" anchor="ctr"/>
          <a:lstStyle/>
          <a:p>
            <a:pPr marL="0" indent="0" algn="ctr">
              <a:buNone/>
            </a:pPr>
            <a:r>
              <a:rPr lang="en-US" sz="1400" b="1" dirty="0">
                <a:solidFill>
                  <a:srgbClr val="DBEAFE"/>
                </a:solidFill>
                <a:latin typeface="Calibri" pitchFamily="34" charset="0"/>
                <a:ea typeface="Calibri" pitchFamily="34" charset="-122"/>
                <a:cs typeface="Calibri" pitchFamily="34" charset="-120"/>
              </a:rPr>
              <a:t>MSA Detector</a:t>
            </a:r>
            <a:endParaRPr lang="en-US" sz="1400" dirty="0"/>
          </a:p>
        </p:txBody>
      </p:sp>
      <p:sp>
        <p:nvSpPr>
          <p:cNvPr id="6" name="Text 3"/>
          <p:cNvSpPr/>
          <p:nvPr/>
        </p:nvSpPr>
        <p:spPr>
          <a:xfrm>
            <a:off x="548640" y="1280160"/>
            <a:ext cx="5760720" cy="1554480"/>
          </a:xfrm>
          <a:prstGeom prst="rect">
            <a:avLst/>
          </a:prstGeom>
          <a:noFill/>
          <a:ln/>
        </p:spPr>
        <p:txBody>
          <a:bodyPr wrap="square" lIns="0" tIns="0" rIns="0" bIns="0" rtlCol="0" anchor="ctr"/>
          <a:lstStyle/>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Detecting Architectural</a:t>
            </a:r>
            <a:endParaRPr lang="en-US" sz="3400" dirty="0"/>
          </a:p>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Anti-Patterns in Microservices</a:t>
            </a:r>
            <a:endParaRPr lang="en-US" sz="3400" dirty="0"/>
          </a:p>
        </p:txBody>
      </p:sp>
      <p:sp>
        <p:nvSpPr>
          <p:cNvPr id="7" name="Text 4"/>
          <p:cNvSpPr/>
          <p:nvPr/>
        </p:nvSpPr>
        <p:spPr>
          <a:xfrm>
            <a:off x="548640" y="2880360"/>
            <a:ext cx="576072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600" dirty="0"/>
          </a:p>
        </p:txBody>
      </p:sp>
      <p:sp>
        <p:nvSpPr>
          <p:cNvPr id="8" name="Shape 5"/>
          <p:cNvSpPr/>
          <p:nvPr/>
        </p:nvSpPr>
        <p:spPr>
          <a:xfrm>
            <a:off x="548640" y="3657600"/>
            <a:ext cx="36576" cy="1005840"/>
          </a:xfrm>
          <a:prstGeom prst="rect">
            <a:avLst/>
          </a:prstGeom>
          <a:solidFill>
            <a:srgbClr val="0D9488"/>
          </a:solidFill>
          <a:ln w="12700">
            <a:solidFill>
              <a:srgbClr val="0D9488"/>
            </a:solidFill>
            <a:prstDash val="solid"/>
          </a:ln>
        </p:spPr>
        <p:txBody>
          <a:bodyPr/>
          <a:lstStyle/>
          <a:p>
            <a:endParaRPr lang="en-US"/>
          </a:p>
        </p:txBody>
      </p:sp>
      <p:sp>
        <p:nvSpPr>
          <p:cNvPr id="9" name="Text 6"/>
          <p:cNvSpPr/>
          <p:nvPr/>
        </p:nvSpPr>
        <p:spPr>
          <a:xfrm>
            <a:off x="731520" y="3657600"/>
            <a:ext cx="5486400" cy="10058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Iacob Andrei</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Master's Dissertation Defense</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Supervisor: Prof. Dr. Simona Motogna</a:t>
            </a:r>
            <a:endParaRPr lang="en-US" sz="1600" dirty="0"/>
          </a:p>
          <a:p>
            <a:pPr marL="0" indent="0">
              <a:buNone/>
            </a:pPr>
            <a:r>
              <a:rPr lang="en-US" sz="1100" i="1" dirty="0">
                <a:solidFill>
                  <a:srgbClr val="DBEAFE"/>
                </a:solidFill>
                <a:latin typeface="Calibri" pitchFamily="34" charset="0"/>
                <a:ea typeface="Calibri" pitchFamily="34" charset="-122"/>
                <a:cs typeface="Calibri" pitchFamily="34" charset="-120"/>
              </a:rPr>
              <a:t>Faculty of Mathematics and Computer Science, UBB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Why this matters</a:t>
            </a:r>
            <a:endParaRPr lang="en-US" sz="2800" dirty="0"/>
          </a:p>
        </p:txBody>
      </p:sp>
      <p:sp>
        <p:nvSpPr>
          <p:cNvPr id="3" name="Text 1"/>
          <p:cNvSpPr/>
          <p:nvPr/>
        </p:nvSpPr>
        <p:spPr>
          <a:xfrm>
            <a:off x="457200" y="914400"/>
            <a:ext cx="8229600" cy="457200"/>
          </a:xfrm>
          <a:prstGeom prst="rect">
            <a:avLst/>
          </a:prstGeom>
          <a:noFill/>
          <a:ln/>
        </p:spPr>
        <p:txBody>
          <a:bodyPr wrap="square" lIns="0" tIns="0" rIns="0" bIns="0" rtlCol="0" anchor="ctr"/>
          <a:lstStyle/>
          <a:p>
            <a:pPr marL="0" indent="0">
              <a:buNone/>
            </a:pPr>
            <a:r>
              <a:rPr lang="en-US" sz="2000" i="1" dirty="0">
                <a:solidFill>
                  <a:srgbClr val="1E293B"/>
                </a:solidFill>
                <a:latin typeface="Calibri" pitchFamily="34" charset="0"/>
                <a:ea typeface="Calibri" pitchFamily="34" charset="-122"/>
                <a:cs typeface="Calibri" pitchFamily="34" charset="-120"/>
              </a:rPr>
              <a:t>Microservices adoption has outpaced tooling.</a:t>
            </a:r>
            <a:endParaRPr lang="en-US" sz="2000" dirty="0"/>
          </a:p>
        </p:txBody>
      </p:sp>
      <p:sp>
        <p:nvSpPr>
          <p:cNvPr id="4" name="Shape 2"/>
          <p:cNvSpPr/>
          <p:nvPr/>
        </p:nvSpPr>
        <p:spPr>
          <a:xfrm>
            <a:off x="457200" y="1600200"/>
            <a:ext cx="2377440" cy="2651760"/>
          </a:xfrm>
          <a:prstGeom prst="rect">
            <a:avLst/>
          </a:prstGeom>
          <a:solidFill>
            <a:srgbClr val="F8FAFC"/>
          </a:solidFill>
          <a:ln w="9525">
            <a:solidFill>
              <a:srgbClr val="E2E8F0"/>
            </a:solidFill>
            <a:prstDash val="solid"/>
          </a:ln>
        </p:spPr>
        <p:txBody>
          <a:bodyPr/>
          <a:lstStyle/>
          <a:p>
            <a:endParaRPr lang="en-US"/>
          </a:p>
        </p:txBody>
      </p:sp>
      <p:sp>
        <p:nvSpPr>
          <p:cNvPr id="5" name="Shape 3"/>
          <p:cNvSpPr/>
          <p:nvPr/>
        </p:nvSpPr>
        <p:spPr>
          <a:xfrm>
            <a:off x="457200" y="1600200"/>
            <a:ext cx="54864" cy="2651760"/>
          </a:xfrm>
          <a:prstGeom prst="rect">
            <a:avLst/>
          </a:prstGeom>
          <a:solidFill>
            <a:srgbClr val="DC2626"/>
          </a:solidFill>
          <a:ln w="12700">
            <a:solidFill>
              <a:srgbClr val="DC2626"/>
            </a:solidFill>
            <a:prstDash val="solid"/>
          </a:ln>
        </p:spPr>
        <p:txBody>
          <a:bodyPr/>
          <a:lstStyle/>
          <a:p>
            <a:endParaRPr lang="en-US"/>
          </a:p>
        </p:txBody>
      </p:sp>
      <p:sp>
        <p:nvSpPr>
          <p:cNvPr id="6" name="Shape 4"/>
          <p:cNvSpPr/>
          <p:nvPr/>
        </p:nvSpPr>
        <p:spPr>
          <a:xfrm>
            <a:off x="685800" y="1783080"/>
            <a:ext cx="502920" cy="502920"/>
          </a:xfrm>
          <a:prstGeom prst="roundRect">
            <a:avLst>
              <a:gd name="adj" fmla="val 14545"/>
            </a:avLst>
          </a:prstGeom>
          <a:solidFill>
            <a:srgbClr val="DC2626"/>
          </a:solidFill>
          <a:ln w="12700">
            <a:solidFill>
              <a:srgbClr val="DC2626"/>
            </a:solidFill>
            <a:prstDash val="solid"/>
          </a:ln>
          <a:effectLst>
            <a:outerShdw blurRad="76200" dist="25400" dir="8100000" algn="bl" rotWithShape="0">
              <a:srgbClr val="000000">
                <a:alpha val="12000"/>
              </a:srgbClr>
            </a:outerShdw>
          </a:effectLst>
        </p:spPr>
        <p:txBody>
          <a:bodyPr/>
          <a:lstStyle/>
          <a:p>
            <a:endParaRPr lang="en-US"/>
          </a:p>
        </p:txBody>
      </p:sp>
      <p:pic>
        <p:nvPicPr>
          <p:cNvPr id="7" name="Image 0" descr="preencoded.png"/>
          <p:cNvPicPr>
            <a:picLocks noChangeAspect="1"/>
          </p:cNvPicPr>
          <p:nvPr/>
        </p:nvPicPr>
        <p:blipFill>
          <a:blip r:embed="rId3"/>
          <a:stretch>
            <a:fillRect/>
          </a:stretch>
        </p:blipFill>
        <p:spPr>
          <a:xfrm>
            <a:off x="796442" y="1893722"/>
            <a:ext cx="281635" cy="281635"/>
          </a:xfrm>
          <a:prstGeom prst="rect">
            <a:avLst/>
          </a:prstGeom>
        </p:spPr>
      </p:pic>
      <p:sp>
        <p:nvSpPr>
          <p:cNvPr id="8" name="Text 5"/>
          <p:cNvSpPr/>
          <p:nvPr/>
        </p:nvSpPr>
        <p:spPr>
          <a:xfrm>
            <a:off x="68580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9" name="Text 6"/>
          <p:cNvSpPr/>
          <p:nvPr/>
        </p:nvSpPr>
        <p:spPr>
          <a:xfrm>
            <a:off x="68580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00" dirty="0"/>
          </a:p>
        </p:txBody>
      </p:sp>
      <p:sp>
        <p:nvSpPr>
          <p:cNvPr id="10" name="Shape 7"/>
          <p:cNvSpPr/>
          <p:nvPr/>
        </p:nvSpPr>
        <p:spPr>
          <a:xfrm>
            <a:off x="3383280" y="1600200"/>
            <a:ext cx="2377440" cy="2651760"/>
          </a:xfrm>
          <a:prstGeom prst="rect">
            <a:avLst/>
          </a:prstGeom>
          <a:solidFill>
            <a:srgbClr val="F8FAFC"/>
          </a:solidFill>
          <a:ln w="9525">
            <a:solidFill>
              <a:srgbClr val="E2E8F0"/>
            </a:solidFill>
            <a:prstDash val="solid"/>
          </a:ln>
        </p:spPr>
        <p:txBody>
          <a:bodyPr/>
          <a:lstStyle/>
          <a:p>
            <a:endParaRPr lang="en-US"/>
          </a:p>
        </p:txBody>
      </p:sp>
      <p:sp>
        <p:nvSpPr>
          <p:cNvPr id="11" name="Shape 8"/>
          <p:cNvSpPr/>
          <p:nvPr/>
        </p:nvSpPr>
        <p:spPr>
          <a:xfrm>
            <a:off x="3383280" y="1600200"/>
            <a:ext cx="54864" cy="2651760"/>
          </a:xfrm>
          <a:prstGeom prst="rect">
            <a:avLst/>
          </a:prstGeom>
          <a:solidFill>
            <a:srgbClr val="1C4E80"/>
          </a:solidFill>
          <a:ln w="12700">
            <a:solidFill>
              <a:srgbClr val="1C4E80"/>
            </a:solidFill>
            <a:prstDash val="solid"/>
          </a:ln>
        </p:spPr>
        <p:txBody>
          <a:bodyPr/>
          <a:lstStyle/>
          <a:p>
            <a:endParaRPr lang="en-US"/>
          </a:p>
        </p:txBody>
      </p:sp>
      <p:sp>
        <p:nvSpPr>
          <p:cNvPr id="12" name="Shape 9"/>
          <p:cNvSpPr/>
          <p:nvPr/>
        </p:nvSpPr>
        <p:spPr>
          <a:xfrm>
            <a:off x="3611880" y="17830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13" name="Image 1" descr="preencoded.png"/>
          <p:cNvPicPr>
            <a:picLocks noChangeAspect="1"/>
          </p:cNvPicPr>
          <p:nvPr/>
        </p:nvPicPr>
        <p:blipFill>
          <a:blip r:embed="rId4"/>
          <a:stretch>
            <a:fillRect/>
          </a:stretch>
        </p:blipFill>
        <p:spPr>
          <a:xfrm>
            <a:off x="3722522" y="1893722"/>
            <a:ext cx="281635" cy="281635"/>
          </a:xfrm>
          <a:prstGeom prst="rect">
            <a:avLst/>
          </a:prstGeom>
        </p:spPr>
      </p:pic>
      <p:sp>
        <p:nvSpPr>
          <p:cNvPr id="14" name="Text 10"/>
          <p:cNvSpPr/>
          <p:nvPr/>
        </p:nvSpPr>
        <p:spPr>
          <a:xfrm>
            <a:off x="361188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Existing tools are single-level</a:t>
            </a:r>
            <a:endParaRPr lang="en-US" sz="1400" dirty="0"/>
          </a:p>
        </p:txBody>
      </p:sp>
      <p:sp>
        <p:nvSpPr>
          <p:cNvPr id="15" name="Text 11"/>
          <p:cNvSpPr/>
          <p:nvPr/>
        </p:nvSpPr>
        <p:spPr>
          <a:xfrm>
            <a:off x="361188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Arcan, MicroART, MSANose each cover a slice — code-level OR architectural-level, rarely both.</a:t>
            </a:r>
            <a:endParaRPr lang="en-US" sz="1100" dirty="0"/>
          </a:p>
        </p:txBody>
      </p:sp>
      <p:sp>
        <p:nvSpPr>
          <p:cNvPr id="16" name="Shape 12"/>
          <p:cNvSpPr/>
          <p:nvPr/>
        </p:nvSpPr>
        <p:spPr>
          <a:xfrm>
            <a:off x="6309360" y="1600200"/>
            <a:ext cx="2377440" cy="2651760"/>
          </a:xfrm>
          <a:prstGeom prst="rect">
            <a:avLst/>
          </a:prstGeom>
          <a:solidFill>
            <a:srgbClr val="F8FAFC"/>
          </a:solidFill>
          <a:ln w="9525">
            <a:solidFill>
              <a:srgbClr val="E2E8F0"/>
            </a:solidFill>
            <a:prstDash val="solid"/>
          </a:ln>
        </p:spPr>
        <p:txBody>
          <a:bodyPr/>
          <a:lstStyle/>
          <a:p>
            <a:endParaRPr lang="en-US"/>
          </a:p>
        </p:txBody>
      </p:sp>
      <p:sp>
        <p:nvSpPr>
          <p:cNvPr id="17" name="Shape 13"/>
          <p:cNvSpPr/>
          <p:nvPr/>
        </p:nvSpPr>
        <p:spPr>
          <a:xfrm>
            <a:off x="6309360" y="1600200"/>
            <a:ext cx="54864" cy="2651760"/>
          </a:xfrm>
          <a:prstGeom prst="rect">
            <a:avLst/>
          </a:prstGeom>
          <a:solidFill>
            <a:srgbClr val="D97706"/>
          </a:solidFill>
          <a:ln w="12700">
            <a:solidFill>
              <a:srgbClr val="D97706"/>
            </a:solidFill>
            <a:prstDash val="solid"/>
          </a:ln>
        </p:spPr>
        <p:txBody>
          <a:bodyPr/>
          <a:lstStyle/>
          <a:p>
            <a:endParaRPr lang="en-US"/>
          </a:p>
        </p:txBody>
      </p:sp>
      <p:sp>
        <p:nvSpPr>
          <p:cNvPr id="18" name="Shape 14"/>
          <p:cNvSpPr/>
          <p:nvPr/>
        </p:nvSpPr>
        <p:spPr>
          <a:xfrm>
            <a:off x="6537960" y="17830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19" name="Image 2" descr="preencoded.png"/>
          <p:cNvPicPr>
            <a:picLocks noChangeAspect="1"/>
          </p:cNvPicPr>
          <p:nvPr/>
        </p:nvPicPr>
        <p:blipFill>
          <a:blip r:embed="rId5"/>
          <a:stretch>
            <a:fillRect/>
          </a:stretch>
        </p:blipFill>
        <p:spPr>
          <a:xfrm>
            <a:off x="6648602" y="1893722"/>
            <a:ext cx="281635" cy="281635"/>
          </a:xfrm>
          <a:prstGeom prst="rect">
            <a:avLst/>
          </a:prstGeom>
        </p:spPr>
      </p:pic>
      <p:sp>
        <p:nvSpPr>
          <p:cNvPr id="20" name="Text 15"/>
          <p:cNvSpPr/>
          <p:nvPr/>
        </p:nvSpPr>
        <p:spPr>
          <a:xfrm>
            <a:off x="653796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21" name="Text 16"/>
          <p:cNvSpPr/>
          <p:nvPr/>
        </p:nvSpPr>
        <p:spPr>
          <a:xfrm>
            <a:off x="653796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00" dirty="0"/>
          </a:p>
        </p:txBody>
      </p:sp>
      <p:sp>
        <p:nvSpPr>
          <p:cNvPr id="22" name="Shape 17"/>
          <p:cNvSpPr/>
          <p:nvPr/>
        </p:nvSpPr>
        <p:spPr>
          <a:xfrm>
            <a:off x="457200" y="4434840"/>
            <a:ext cx="8229600" cy="320040"/>
          </a:xfrm>
          <a:prstGeom prst="rect">
            <a:avLst/>
          </a:prstGeom>
          <a:solidFill>
            <a:srgbClr val="0F2A44"/>
          </a:solidFill>
          <a:ln w="12700">
            <a:solidFill>
              <a:srgbClr val="0F2A44"/>
            </a:solidFill>
            <a:prstDash val="solid"/>
          </a:ln>
        </p:spPr>
        <p:txBody>
          <a:bodyPr/>
          <a:lstStyle/>
          <a:p>
            <a:endParaRPr lang="en-US"/>
          </a:p>
        </p:txBody>
      </p:sp>
      <p:sp>
        <p:nvSpPr>
          <p:cNvPr id="23" name="Text 18"/>
          <p:cNvSpPr/>
          <p:nvPr/>
        </p:nvSpPr>
        <p:spPr>
          <a:xfrm>
            <a:off x="457200" y="4434840"/>
            <a:ext cx="82296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Goal: actionable, evidence-based detection that bridges code and architecture levels.</a:t>
            </a:r>
            <a:endParaRPr lang="en-US" sz="1200" dirty="0"/>
          </a:p>
        </p:txBody>
      </p:sp>
      <p:sp>
        <p:nvSpPr>
          <p:cNvPr id="24"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5"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Objectives &amp; contributions</a:t>
            </a:r>
            <a:endParaRPr lang="en-US" sz="2800" dirty="0"/>
          </a:p>
        </p:txBody>
      </p:sp>
      <p:sp>
        <p:nvSpPr>
          <p:cNvPr id="3" name="Shape 1"/>
          <p:cNvSpPr/>
          <p:nvPr/>
        </p:nvSpPr>
        <p:spPr>
          <a:xfrm>
            <a:off x="457200" y="1014984"/>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4" name="Image 0" descr="preencoded.png"/>
          <p:cNvPicPr>
            <a:picLocks noChangeAspect="1"/>
          </p:cNvPicPr>
          <p:nvPr/>
        </p:nvPicPr>
        <p:blipFill>
          <a:blip r:embed="rId3"/>
          <a:stretch>
            <a:fillRect/>
          </a:stretch>
        </p:blipFill>
        <p:spPr>
          <a:xfrm>
            <a:off x="567842" y="1125626"/>
            <a:ext cx="281635" cy="281635"/>
          </a:xfrm>
          <a:prstGeom prst="rect">
            <a:avLst/>
          </a:prstGeom>
        </p:spPr>
      </p:pic>
      <p:sp>
        <p:nvSpPr>
          <p:cNvPr id="5" name="Text 2"/>
          <p:cNvSpPr/>
          <p:nvPr/>
        </p:nvSpPr>
        <p:spPr>
          <a:xfrm>
            <a:off x="1143000" y="996696"/>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Multi-level analysis</a:t>
            </a:r>
            <a:endParaRPr lang="en-US" sz="1500" dirty="0"/>
          </a:p>
        </p:txBody>
      </p:sp>
      <p:sp>
        <p:nvSpPr>
          <p:cNvPr id="6" name="Text 3"/>
          <p:cNvSpPr/>
          <p:nvPr/>
        </p:nvSpPr>
        <p:spPr>
          <a:xfrm>
            <a:off x="1143000" y="1289304"/>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Combines intra-service code smells (DesigniteJava) with inter-service dependency analysis (Spoon + graphs).</a:t>
            </a:r>
            <a:endParaRPr lang="en-US" sz="1150" dirty="0"/>
          </a:p>
        </p:txBody>
      </p:sp>
      <p:sp>
        <p:nvSpPr>
          <p:cNvPr id="7" name="Shape 4"/>
          <p:cNvSpPr/>
          <p:nvPr/>
        </p:nvSpPr>
        <p:spPr>
          <a:xfrm>
            <a:off x="457200" y="1728216"/>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8" name="Image 1" descr="preencoded.png"/>
          <p:cNvPicPr>
            <a:picLocks noChangeAspect="1"/>
          </p:cNvPicPr>
          <p:nvPr/>
        </p:nvPicPr>
        <p:blipFill>
          <a:blip r:embed="rId4"/>
          <a:stretch>
            <a:fillRect/>
          </a:stretch>
        </p:blipFill>
        <p:spPr>
          <a:xfrm>
            <a:off x="567842" y="1838858"/>
            <a:ext cx="281635" cy="281635"/>
          </a:xfrm>
          <a:prstGeom prst="rect">
            <a:avLst/>
          </a:prstGeom>
        </p:spPr>
      </p:pic>
      <p:sp>
        <p:nvSpPr>
          <p:cNvPr id="9" name="Text 5"/>
          <p:cNvSpPr/>
          <p:nvPr/>
        </p:nvSpPr>
        <p:spPr>
          <a:xfrm>
            <a:off x="1143000" y="1709928"/>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Ten anti-patterns detected</a:t>
            </a:r>
            <a:endParaRPr lang="en-US" sz="1500" dirty="0"/>
          </a:p>
        </p:txBody>
      </p:sp>
      <p:sp>
        <p:nvSpPr>
          <p:cNvPr id="10" name="Text 6"/>
          <p:cNvSpPr/>
          <p:nvPr/>
        </p:nvSpPr>
        <p:spPr>
          <a:xfrm>
            <a:off x="1143000" y="2002536"/>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50" dirty="0"/>
          </a:p>
        </p:txBody>
      </p:sp>
      <p:sp>
        <p:nvSpPr>
          <p:cNvPr id="11" name="Shape 7"/>
          <p:cNvSpPr/>
          <p:nvPr/>
        </p:nvSpPr>
        <p:spPr>
          <a:xfrm>
            <a:off x="457200" y="2441448"/>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txBody>
          <a:bodyPr/>
          <a:lstStyle/>
          <a:p>
            <a:endParaRPr lang="en-US"/>
          </a:p>
        </p:txBody>
      </p:sp>
      <p:pic>
        <p:nvPicPr>
          <p:cNvPr id="12" name="Image 2" descr="preencoded.png"/>
          <p:cNvPicPr>
            <a:picLocks noChangeAspect="1"/>
          </p:cNvPicPr>
          <p:nvPr/>
        </p:nvPicPr>
        <p:blipFill>
          <a:blip r:embed="rId5"/>
          <a:stretch>
            <a:fillRect/>
          </a:stretch>
        </p:blipFill>
        <p:spPr>
          <a:xfrm>
            <a:off x="567842" y="2552090"/>
            <a:ext cx="281635" cy="281635"/>
          </a:xfrm>
          <a:prstGeom prst="rect">
            <a:avLst/>
          </a:prstGeom>
        </p:spPr>
      </p:pic>
      <p:sp>
        <p:nvSpPr>
          <p:cNvPr id="13" name="Text 8"/>
          <p:cNvSpPr/>
          <p:nvPr/>
        </p:nvSpPr>
        <p:spPr>
          <a:xfrm>
            <a:off x="1143000" y="2423160"/>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Automated boundary detection</a:t>
            </a:r>
            <a:endParaRPr lang="en-US" sz="1500" dirty="0"/>
          </a:p>
        </p:txBody>
      </p:sp>
      <p:sp>
        <p:nvSpPr>
          <p:cNvPr id="14" name="Text 9"/>
          <p:cNvSpPr/>
          <p:nvPr/>
        </p:nvSpPr>
        <p:spPr>
          <a:xfrm>
            <a:off x="1143000" y="2715768"/>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50" dirty="0"/>
          </a:p>
        </p:txBody>
      </p:sp>
      <p:sp>
        <p:nvSpPr>
          <p:cNvPr id="15" name="Shape 10"/>
          <p:cNvSpPr/>
          <p:nvPr/>
        </p:nvSpPr>
        <p:spPr>
          <a:xfrm>
            <a:off x="457200" y="31546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txBody>
          <a:bodyPr/>
          <a:lstStyle/>
          <a:p>
            <a:endParaRPr lang="en-US"/>
          </a:p>
        </p:txBody>
      </p:sp>
      <p:pic>
        <p:nvPicPr>
          <p:cNvPr id="16" name="Image 3" descr="preencoded.png"/>
          <p:cNvPicPr>
            <a:picLocks noChangeAspect="1"/>
          </p:cNvPicPr>
          <p:nvPr/>
        </p:nvPicPr>
        <p:blipFill>
          <a:blip r:embed="rId6"/>
          <a:stretch>
            <a:fillRect/>
          </a:stretch>
        </p:blipFill>
        <p:spPr>
          <a:xfrm>
            <a:off x="567842" y="3265322"/>
            <a:ext cx="281635" cy="281635"/>
          </a:xfrm>
          <a:prstGeom prst="rect">
            <a:avLst/>
          </a:prstGeom>
        </p:spPr>
      </p:pic>
      <p:sp>
        <p:nvSpPr>
          <p:cNvPr id="17" name="Text 11"/>
          <p:cNvSpPr/>
          <p:nvPr/>
        </p:nvSpPr>
        <p:spPr>
          <a:xfrm>
            <a:off x="1143000" y="3136392"/>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Composite health score</a:t>
            </a:r>
            <a:endParaRPr lang="en-US" sz="1500" dirty="0"/>
          </a:p>
        </p:txBody>
      </p:sp>
      <p:sp>
        <p:nvSpPr>
          <p:cNvPr id="18" name="Text 12"/>
          <p:cNvSpPr/>
          <p:nvPr/>
        </p:nvSpPr>
        <p:spPr>
          <a:xfrm>
            <a:off x="1143000" y="3429000"/>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50" dirty="0"/>
          </a:p>
        </p:txBody>
      </p:sp>
      <p:sp>
        <p:nvSpPr>
          <p:cNvPr id="19" name="Shape 13"/>
          <p:cNvSpPr/>
          <p:nvPr/>
        </p:nvSpPr>
        <p:spPr>
          <a:xfrm>
            <a:off x="457200" y="3867912"/>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20" name="Image 4" descr="preencoded.png"/>
          <p:cNvPicPr>
            <a:picLocks noChangeAspect="1"/>
          </p:cNvPicPr>
          <p:nvPr/>
        </p:nvPicPr>
        <p:blipFill>
          <a:blip r:embed="rId7"/>
          <a:stretch>
            <a:fillRect/>
          </a:stretch>
        </p:blipFill>
        <p:spPr>
          <a:xfrm>
            <a:off x="567842" y="3978554"/>
            <a:ext cx="281635" cy="281635"/>
          </a:xfrm>
          <a:prstGeom prst="rect">
            <a:avLst/>
          </a:prstGeom>
        </p:spPr>
      </p:pic>
      <p:sp>
        <p:nvSpPr>
          <p:cNvPr id="21" name="Text 14"/>
          <p:cNvSpPr/>
          <p:nvPr/>
        </p:nvSpPr>
        <p:spPr>
          <a:xfrm>
            <a:off x="1143000" y="3849624"/>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Evidence-based reporting</a:t>
            </a:r>
            <a:endParaRPr lang="en-US" sz="1500" dirty="0"/>
          </a:p>
        </p:txBody>
      </p:sp>
      <p:sp>
        <p:nvSpPr>
          <p:cNvPr id="22" name="Text 15"/>
          <p:cNvSpPr/>
          <p:nvPr/>
        </p:nvSpPr>
        <p:spPr>
          <a:xfrm>
            <a:off x="1143000" y="4142232"/>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50" dirty="0"/>
          </a:p>
        </p:txBody>
      </p:sp>
      <p:sp>
        <p:nvSpPr>
          <p:cNvPr id="23" name="Text 16"/>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4" name="Text 17"/>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The analysis pipeline</a:t>
            </a:r>
            <a:endParaRPr lang="en-US" sz="2800" dirty="0"/>
          </a:p>
        </p:txBody>
      </p:sp>
      <p:sp>
        <p:nvSpPr>
          <p:cNvPr id="3" name="Shape 1"/>
          <p:cNvSpPr/>
          <p:nvPr/>
        </p:nvSpPr>
        <p:spPr>
          <a:xfrm>
            <a:off x="41148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11480" y="1097280"/>
            <a:ext cx="1554480" cy="73152"/>
          </a:xfrm>
          <a:prstGeom prst="rect">
            <a:avLst/>
          </a:prstGeom>
          <a:solidFill>
            <a:srgbClr val="0F2A44"/>
          </a:solidFill>
          <a:ln w="12700">
            <a:solidFill>
              <a:srgbClr val="0F2A44"/>
            </a:solidFill>
            <a:prstDash val="solid"/>
          </a:ln>
        </p:spPr>
        <p:txBody>
          <a:bodyPr/>
          <a:lstStyle/>
          <a:p>
            <a:endParaRPr lang="en-US"/>
          </a:p>
        </p:txBody>
      </p:sp>
      <p:sp>
        <p:nvSpPr>
          <p:cNvPr id="5" name="Shape 3"/>
          <p:cNvSpPr/>
          <p:nvPr/>
        </p:nvSpPr>
        <p:spPr>
          <a:xfrm>
            <a:off x="937260" y="1325880"/>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1047902" y="1436522"/>
            <a:ext cx="281635" cy="281635"/>
          </a:xfrm>
          <a:prstGeom prst="rect">
            <a:avLst/>
          </a:prstGeom>
        </p:spPr>
      </p:pic>
      <p:sp>
        <p:nvSpPr>
          <p:cNvPr id="7" name="Text 4"/>
          <p:cNvSpPr/>
          <p:nvPr/>
        </p:nvSpPr>
        <p:spPr>
          <a:xfrm>
            <a:off x="41148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1. Ingest</a:t>
            </a:r>
            <a:endParaRPr lang="en-US" sz="1200" dirty="0"/>
          </a:p>
        </p:txBody>
      </p:sp>
      <p:sp>
        <p:nvSpPr>
          <p:cNvPr id="8" name="Text 5"/>
          <p:cNvSpPr/>
          <p:nvPr/>
        </p:nvSpPr>
        <p:spPr>
          <a:xfrm>
            <a:off x="41148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pic>
        <p:nvPicPr>
          <p:cNvPr id="9" name="Image 1" descr="preencoded.png"/>
          <p:cNvPicPr>
            <a:picLocks noChangeAspect="1"/>
          </p:cNvPicPr>
          <p:nvPr/>
        </p:nvPicPr>
        <p:blipFill>
          <a:blip r:embed="rId4"/>
          <a:stretch>
            <a:fillRect/>
          </a:stretch>
        </p:blipFill>
        <p:spPr>
          <a:xfrm>
            <a:off x="1984248" y="1709928"/>
            <a:ext cx="100584" cy="237744"/>
          </a:xfrm>
          <a:prstGeom prst="rect">
            <a:avLst/>
          </a:prstGeom>
        </p:spPr>
      </p:pic>
      <p:sp>
        <p:nvSpPr>
          <p:cNvPr id="10" name="Shape 6"/>
          <p:cNvSpPr/>
          <p:nvPr/>
        </p:nvSpPr>
        <p:spPr>
          <a:xfrm>
            <a:off x="210312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11" name="Shape 7"/>
          <p:cNvSpPr/>
          <p:nvPr/>
        </p:nvSpPr>
        <p:spPr>
          <a:xfrm>
            <a:off x="2103120" y="1097280"/>
            <a:ext cx="1554480" cy="73152"/>
          </a:xfrm>
          <a:prstGeom prst="rect">
            <a:avLst/>
          </a:prstGeom>
          <a:solidFill>
            <a:srgbClr val="1C4E80"/>
          </a:solidFill>
          <a:ln w="12700">
            <a:solidFill>
              <a:srgbClr val="1C4E80"/>
            </a:solidFill>
            <a:prstDash val="solid"/>
          </a:ln>
        </p:spPr>
        <p:txBody>
          <a:bodyPr/>
          <a:lstStyle/>
          <a:p>
            <a:endParaRPr lang="en-US"/>
          </a:p>
        </p:txBody>
      </p:sp>
      <p:sp>
        <p:nvSpPr>
          <p:cNvPr id="12" name="Shape 8"/>
          <p:cNvSpPr/>
          <p:nvPr/>
        </p:nvSpPr>
        <p:spPr>
          <a:xfrm>
            <a:off x="2628900" y="13258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2739542" y="1436522"/>
            <a:ext cx="281635" cy="281635"/>
          </a:xfrm>
          <a:prstGeom prst="rect">
            <a:avLst/>
          </a:prstGeom>
        </p:spPr>
      </p:pic>
      <p:sp>
        <p:nvSpPr>
          <p:cNvPr id="14" name="Text 9"/>
          <p:cNvSpPr/>
          <p:nvPr/>
        </p:nvSpPr>
        <p:spPr>
          <a:xfrm>
            <a:off x="210312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2. Detect services</a:t>
            </a:r>
            <a:endParaRPr lang="en-US" sz="1200" dirty="0"/>
          </a:p>
        </p:txBody>
      </p:sp>
      <p:sp>
        <p:nvSpPr>
          <p:cNvPr id="15" name="Text 10"/>
          <p:cNvSpPr/>
          <p:nvPr/>
        </p:nvSpPr>
        <p:spPr>
          <a:xfrm>
            <a:off x="210312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pic>
        <p:nvPicPr>
          <p:cNvPr id="16" name="Image 3" descr="preencoded.png"/>
          <p:cNvPicPr>
            <a:picLocks noChangeAspect="1"/>
          </p:cNvPicPr>
          <p:nvPr/>
        </p:nvPicPr>
        <p:blipFill>
          <a:blip r:embed="rId4"/>
          <a:stretch>
            <a:fillRect/>
          </a:stretch>
        </p:blipFill>
        <p:spPr>
          <a:xfrm>
            <a:off x="3675888" y="1709928"/>
            <a:ext cx="100584" cy="237744"/>
          </a:xfrm>
          <a:prstGeom prst="rect">
            <a:avLst/>
          </a:prstGeom>
        </p:spPr>
      </p:pic>
      <p:sp>
        <p:nvSpPr>
          <p:cNvPr id="17" name="Shape 11"/>
          <p:cNvSpPr/>
          <p:nvPr/>
        </p:nvSpPr>
        <p:spPr>
          <a:xfrm>
            <a:off x="379476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18" name="Shape 12"/>
          <p:cNvSpPr/>
          <p:nvPr/>
        </p:nvSpPr>
        <p:spPr>
          <a:xfrm>
            <a:off x="3794760" y="1097280"/>
            <a:ext cx="1554480" cy="73152"/>
          </a:xfrm>
          <a:prstGeom prst="rect">
            <a:avLst/>
          </a:prstGeom>
          <a:solidFill>
            <a:srgbClr val="0D9488"/>
          </a:solidFill>
          <a:ln w="12700">
            <a:solidFill>
              <a:srgbClr val="0D9488"/>
            </a:solidFill>
            <a:prstDash val="solid"/>
          </a:ln>
        </p:spPr>
        <p:txBody>
          <a:bodyPr/>
          <a:lstStyle/>
          <a:p>
            <a:endParaRPr lang="en-US"/>
          </a:p>
        </p:txBody>
      </p:sp>
      <p:sp>
        <p:nvSpPr>
          <p:cNvPr id="19" name="Shape 13"/>
          <p:cNvSpPr/>
          <p:nvPr/>
        </p:nvSpPr>
        <p:spPr>
          <a:xfrm>
            <a:off x="4320540" y="1325880"/>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20" name="Image 4" descr="preencoded.png"/>
          <p:cNvPicPr>
            <a:picLocks noChangeAspect="1"/>
          </p:cNvPicPr>
          <p:nvPr/>
        </p:nvPicPr>
        <p:blipFill>
          <a:blip r:embed="rId6"/>
          <a:stretch>
            <a:fillRect/>
          </a:stretch>
        </p:blipFill>
        <p:spPr>
          <a:xfrm>
            <a:off x="4431182" y="1436522"/>
            <a:ext cx="281635" cy="281635"/>
          </a:xfrm>
          <a:prstGeom prst="rect">
            <a:avLst/>
          </a:prstGeom>
        </p:spPr>
      </p:pic>
      <p:sp>
        <p:nvSpPr>
          <p:cNvPr id="21" name="Text 14"/>
          <p:cNvSpPr/>
          <p:nvPr/>
        </p:nvSpPr>
        <p:spPr>
          <a:xfrm>
            <a:off x="379476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3. Intra + Inter</a:t>
            </a:r>
            <a:endParaRPr lang="en-US" sz="1200" dirty="0"/>
          </a:p>
        </p:txBody>
      </p:sp>
      <p:sp>
        <p:nvSpPr>
          <p:cNvPr id="22" name="Text 15"/>
          <p:cNvSpPr/>
          <p:nvPr/>
        </p:nvSpPr>
        <p:spPr>
          <a:xfrm>
            <a:off x="379476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pic>
        <p:nvPicPr>
          <p:cNvPr id="23" name="Image 5" descr="preencoded.png"/>
          <p:cNvPicPr>
            <a:picLocks noChangeAspect="1"/>
          </p:cNvPicPr>
          <p:nvPr/>
        </p:nvPicPr>
        <p:blipFill>
          <a:blip r:embed="rId4"/>
          <a:stretch>
            <a:fillRect/>
          </a:stretch>
        </p:blipFill>
        <p:spPr>
          <a:xfrm>
            <a:off x="5367528" y="1709928"/>
            <a:ext cx="100584" cy="237744"/>
          </a:xfrm>
          <a:prstGeom prst="rect">
            <a:avLst/>
          </a:prstGeom>
        </p:spPr>
      </p:pic>
      <p:sp>
        <p:nvSpPr>
          <p:cNvPr id="24" name="Shape 16"/>
          <p:cNvSpPr/>
          <p:nvPr/>
        </p:nvSpPr>
        <p:spPr>
          <a:xfrm>
            <a:off x="548640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25" name="Shape 17"/>
          <p:cNvSpPr/>
          <p:nvPr/>
        </p:nvSpPr>
        <p:spPr>
          <a:xfrm>
            <a:off x="5486400" y="1097280"/>
            <a:ext cx="1554480" cy="73152"/>
          </a:xfrm>
          <a:prstGeom prst="rect">
            <a:avLst/>
          </a:prstGeom>
          <a:solidFill>
            <a:srgbClr val="D97706"/>
          </a:solidFill>
          <a:ln w="12700">
            <a:solidFill>
              <a:srgbClr val="D97706"/>
            </a:solidFill>
            <a:prstDash val="solid"/>
          </a:ln>
        </p:spPr>
        <p:txBody>
          <a:bodyPr/>
          <a:lstStyle/>
          <a:p>
            <a:endParaRPr lang="en-US"/>
          </a:p>
        </p:txBody>
      </p:sp>
      <p:sp>
        <p:nvSpPr>
          <p:cNvPr id="26" name="Shape 18"/>
          <p:cNvSpPr/>
          <p:nvPr/>
        </p:nvSpPr>
        <p:spPr>
          <a:xfrm>
            <a:off x="6012180" y="13258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27" name="Image 6" descr="preencoded.png"/>
          <p:cNvPicPr>
            <a:picLocks noChangeAspect="1"/>
          </p:cNvPicPr>
          <p:nvPr/>
        </p:nvPicPr>
        <p:blipFill>
          <a:blip r:embed="rId7"/>
          <a:stretch>
            <a:fillRect/>
          </a:stretch>
        </p:blipFill>
        <p:spPr>
          <a:xfrm>
            <a:off x="6122822" y="1436522"/>
            <a:ext cx="281635" cy="281635"/>
          </a:xfrm>
          <a:prstGeom prst="rect">
            <a:avLst/>
          </a:prstGeom>
        </p:spPr>
      </p:pic>
      <p:sp>
        <p:nvSpPr>
          <p:cNvPr id="28" name="Text 19"/>
          <p:cNvSpPr/>
          <p:nvPr/>
        </p:nvSpPr>
        <p:spPr>
          <a:xfrm>
            <a:off x="548640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4. Detect patterns</a:t>
            </a:r>
            <a:endParaRPr lang="en-US" sz="1200" dirty="0"/>
          </a:p>
        </p:txBody>
      </p:sp>
      <p:sp>
        <p:nvSpPr>
          <p:cNvPr id="29" name="Text 20"/>
          <p:cNvSpPr/>
          <p:nvPr/>
        </p:nvSpPr>
        <p:spPr>
          <a:xfrm>
            <a:off x="548640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pic>
        <p:nvPicPr>
          <p:cNvPr id="30" name="Image 7" descr="preencoded.png"/>
          <p:cNvPicPr>
            <a:picLocks noChangeAspect="1"/>
          </p:cNvPicPr>
          <p:nvPr/>
        </p:nvPicPr>
        <p:blipFill>
          <a:blip r:embed="rId4"/>
          <a:stretch>
            <a:fillRect/>
          </a:stretch>
        </p:blipFill>
        <p:spPr>
          <a:xfrm>
            <a:off x="7059168" y="1709928"/>
            <a:ext cx="100584" cy="237744"/>
          </a:xfrm>
          <a:prstGeom prst="rect">
            <a:avLst/>
          </a:prstGeom>
        </p:spPr>
      </p:pic>
      <p:sp>
        <p:nvSpPr>
          <p:cNvPr id="31" name="Shape 21"/>
          <p:cNvSpPr/>
          <p:nvPr/>
        </p:nvSpPr>
        <p:spPr>
          <a:xfrm>
            <a:off x="717804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32" name="Shape 22"/>
          <p:cNvSpPr/>
          <p:nvPr/>
        </p:nvSpPr>
        <p:spPr>
          <a:xfrm>
            <a:off x="7178040" y="1097280"/>
            <a:ext cx="1554480" cy="73152"/>
          </a:xfrm>
          <a:prstGeom prst="rect">
            <a:avLst/>
          </a:prstGeom>
          <a:solidFill>
            <a:srgbClr val="059669"/>
          </a:solidFill>
          <a:ln w="12700">
            <a:solidFill>
              <a:srgbClr val="059669"/>
            </a:solidFill>
            <a:prstDash val="solid"/>
          </a:ln>
        </p:spPr>
        <p:txBody>
          <a:bodyPr/>
          <a:lstStyle/>
          <a:p>
            <a:endParaRPr lang="en-US"/>
          </a:p>
        </p:txBody>
      </p:sp>
      <p:sp>
        <p:nvSpPr>
          <p:cNvPr id="33" name="Shape 23"/>
          <p:cNvSpPr/>
          <p:nvPr/>
        </p:nvSpPr>
        <p:spPr>
          <a:xfrm>
            <a:off x="7703820" y="13258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txBody>
          <a:bodyPr/>
          <a:lstStyle/>
          <a:p>
            <a:endParaRPr lang="en-US"/>
          </a:p>
        </p:txBody>
      </p:sp>
      <p:pic>
        <p:nvPicPr>
          <p:cNvPr id="34" name="Image 8" descr="preencoded.png"/>
          <p:cNvPicPr>
            <a:picLocks noChangeAspect="1"/>
          </p:cNvPicPr>
          <p:nvPr/>
        </p:nvPicPr>
        <p:blipFill>
          <a:blip r:embed="rId8"/>
          <a:stretch>
            <a:fillRect/>
          </a:stretch>
        </p:blipFill>
        <p:spPr>
          <a:xfrm>
            <a:off x="7814462" y="1436522"/>
            <a:ext cx="281635" cy="281635"/>
          </a:xfrm>
          <a:prstGeom prst="rect">
            <a:avLst/>
          </a:prstGeom>
        </p:spPr>
      </p:pic>
      <p:sp>
        <p:nvSpPr>
          <p:cNvPr id="35" name="Text 24"/>
          <p:cNvSpPr/>
          <p:nvPr/>
        </p:nvSpPr>
        <p:spPr>
          <a:xfrm>
            <a:off x="717804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5. Score &amp; report</a:t>
            </a:r>
            <a:endParaRPr lang="en-US" sz="1200" dirty="0"/>
          </a:p>
        </p:txBody>
      </p:sp>
      <p:sp>
        <p:nvSpPr>
          <p:cNvPr id="36" name="Text 25"/>
          <p:cNvSpPr/>
          <p:nvPr/>
        </p:nvSpPr>
        <p:spPr>
          <a:xfrm>
            <a:off x="717804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7" name="Shape 26"/>
          <p:cNvSpPr/>
          <p:nvPr/>
        </p:nvSpPr>
        <p:spPr>
          <a:xfrm>
            <a:off x="457200" y="2926080"/>
            <a:ext cx="8229600" cy="1691640"/>
          </a:xfrm>
          <a:prstGeom prst="rect">
            <a:avLst/>
          </a:prstGeom>
          <a:solidFill>
            <a:srgbClr val="F8FAFC"/>
          </a:solidFill>
          <a:ln w="9525">
            <a:solidFill>
              <a:srgbClr val="E2E8F0"/>
            </a:solidFill>
            <a:prstDash val="solid"/>
          </a:ln>
        </p:spPr>
        <p:txBody>
          <a:bodyPr/>
          <a:lstStyle/>
          <a:p>
            <a:endParaRPr lang="en-US"/>
          </a:p>
        </p:txBody>
      </p:sp>
      <p:sp>
        <p:nvSpPr>
          <p:cNvPr id="38" name="Shape 27"/>
          <p:cNvSpPr/>
          <p:nvPr/>
        </p:nvSpPr>
        <p:spPr>
          <a:xfrm>
            <a:off x="457200" y="2926080"/>
            <a:ext cx="54864" cy="1691640"/>
          </a:xfrm>
          <a:prstGeom prst="rect">
            <a:avLst/>
          </a:prstGeom>
          <a:solidFill>
            <a:srgbClr val="0D9488"/>
          </a:solidFill>
          <a:ln w="12700">
            <a:solidFill>
              <a:srgbClr val="0D9488"/>
            </a:solidFill>
            <a:prstDash val="solid"/>
          </a:ln>
        </p:spPr>
        <p:txBody>
          <a:bodyPr/>
          <a:lstStyle/>
          <a:p>
            <a:endParaRPr lang="en-US"/>
          </a:p>
        </p:txBody>
      </p:sp>
      <p:sp>
        <p:nvSpPr>
          <p:cNvPr id="39" name="Text 28"/>
          <p:cNvSpPr/>
          <p:nvPr/>
        </p:nvSpPr>
        <p:spPr>
          <a:xfrm>
            <a:off x="731520" y="3017520"/>
            <a:ext cx="777240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Key design choices</a:t>
            </a:r>
            <a:endParaRPr lang="en-US" sz="1400" dirty="0"/>
          </a:p>
        </p:txBody>
      </p:sp>
      <p:sp>
        <p:nvSpPr>
          <p:cNvPr id="40" name="Text 29"/>
          <p:cNvSpPr/>
          <p:nvPr/>
        </p:nvSpPr>
        <p:spPr>
          <a:xfrm>
            <a:off x="822960" y="3364992"/>
            <a:ext cx="7680960" cy="118872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Async pipeline — long analyses don't block the API. Spring @Async with TransactionSynchronization.afterCommit() ensures consistency.</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 adding a new detector means no orchestrator changes.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41" name="Text 30"/>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2" name="Text 31"/>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Spotlight: God Service detection</a:t>
            </a:r>
            <a:endParaRPr lang="en-US" sz="2800" dirty="0"/>
          </a:p>
        </p:txBody>
      </p:sp>
      <p:sp>
        <p:nvSpPr>
          <p:cNvPr id="3" name="Text 1"/>
          <p:cNvSpPr/>
          <p:nvPr/>
        </p:nvSpPr>
        <p:spPr>
          <a:xfrm>
            <a:off x="457200" y="868680"/>
            <a:ext cx="393192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bridge in action</a:t>
            </a:r>
            <a:endParaRPr lang="en-US" sz="1400" dirty="0"/>
          </a:p>
        </p:txBody>
      </p:sp>
      <p:sp>
        <p:nvSpPr>
          <p:cNvPr id="4" name="Shape 2"/>
          <p:cNvSpPr/>
          <p:nvPr/>
        </p:nvSpPr>
        <p:spPr>
          <a:xfrm>
            <a:off x="457200" y="1280160"/>
            <a:ext cx="3931920" cy="914400"/>
          </a:xfrm>
          <a:prstGeom prst="rect">
            <a:avLst/>
          </a:prstGeom>
          <a:solidFill>
            <a:srgbClr val="F8FAFC"/>
          </a:solidFill>
          <a:ln w="9525">
            <a:solidFill>
              <a:srgbClr val="E2E8F0"/>
            </a:solidFill>
            <a:prstDash val="solid"/>
          </a:ln>
        </p:spPr>
        <p:txBody>
          <a:bodyPr/>
          <a:lstStyle/>
          <a:p>
            <a:endParaRPr lang="en-US"/>
          </a:p>
        </p:txBody>
      </p:sp>
      <p:sp>
        <p:nvSpPr>
          <p:cNvPr id="5" name="Shape 3"/>
          <p:cNvSpPr/>
          <p:nvPr/>
        </p:nvSpPr>
        <p:spPr>
          <a:xfrm>
            <a:off x="457200" y="1280160"/>
            <a:ext cx="54864" cy="914400"/>
          </a:xfrm>
          <a:prstGeom prst="rect">
            <a:avLst/>
          </a:prstGeom>
          <a:solidFill>
            <a:srgbClr val="1C4E80"/>
          </a:solidFill>
          <a:ln w="12700">
            <a:solidFill>
              <a:srgbClr val="1C4E80"/>
            </a:solidFill>
            <a:prstDash val="solid"/>
          </a:ln>
        </p:spPr>
        <p:txBody>
          <a:bodyPr/>
          <a:lstStyle/>
          <a:p>
            <a:endParaRPr lang="en-US"/>
          </a:p>
        </p:txBody>
      </p:sp>
      <p:sp>
        <p:nvSpPr>
          <p:cNvPr id="6" name="Text 4"/>
          <p:cNvSpPr/>
          <p:nvPr/>
        </p:nvSpPr>
        <p:spPr>
          <a:xfrm>
            <a:off x="640080" y="132588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Code level</a:t>
            </a:r>
            <a:endParaRPr lang="en-US" sz="1100" dirty="0"/>
          </a:p>
        </p:txBody>
      </p:sp>
      <p:sp>
        <p:nvSpPr>
          <p:cNvPr id="7" name="Text 5"/>
          <p:cNvSpPr/>
          <p:nvPr/>
        </p:nvSpPr>
        <p:spPr>
          <a:xfrm>
            <a:off x="640080" y="157276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Class smell (per class)</a:t>
            </a:r>
            <a:endParaRPr lang="en-US" sz="1300" dirty="0"/>
          </a:p>
        </p:txBody>
      </p:sp>
      <p:sp>
        <p:nvSpPr>
          <p:cNvPr id="8" name="Text 6"/>
          <p:cNvSpPr/>
          <p:nvPr/>
        </p:nvSpPr>
        <p:spPr>
          <a:xfrm>
            <a:off x="640080" y="1847088"/>
            <a:ext cx="36576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Detected by DesigniteJava, persisted as CodeSmell entities</a:t>
            </a:r>
            <a:endParaRPr lang="en-US" sz="1000" dirty="0"/>
          </a:p>
        </p:txBody>
      </p:sp>
      <p:sp>
        <p:nvSpPr>
          <p:cNvPr id="9" name="Shape 7"/>
          <p:cNvSpPr/>
          <p:nvPr/>
        </p:nvSpPr>
        <p:spPr>
          <a:xfrm>
            <a:off x="2423160" y="2286000"/>
            <a:ext cx="0" cy="320040"/>
          </a:xfrm>
          <a:prstGeom prst="line">
            <a:avLst/>
          </a:prstGeom>
          <a:noFill/>
          <a:ln w="31750">
            <a:solidFill>
              <a:srgbClr val="0D9488"/>
            </a:solidFill>
            <a:prstDash val="solid"/>
            <a:tailEnd type="triangle"/>
          </a:ln>
        </p:spPr>
        <p:txBody>
          <a:bodyPr/>
          <a:lstStyle/>
          <a:p>
            <a:endParaRPr lang="en-US"/>
          </a:p>
        </p:txBody>
      </p:sp>
      <p:sp>
        <p:nvSpPr>
          <p:cNvPr id="10" name="Shape 8"/>
          <p:cNvSpPr/>
          <p:nvPr/>
        </p:nvSpPr>
        <p:spPr>
          <a:xfrm>
            <a:off x="457200" y="2697480"/>
            <a:ext cx="3931920" cy="960120"/>
          </a:xfrm>
          <a:prstGeom prst="rect">
            <a:avLst/>
          </a:prstGeom>
          <a:solidFill>
            <a:srgbClr val="F8FAFC"/>
          </a:solidFill>
          <a:ln w="9525">
            <a:solidFill>
              <a:srgbClr val="E2E8F0"/>
            </a:solidFill>
            <a:prstDash val="solid"/>
          </a:ln>
        </p:spPr>
        <p:txBody>
          <a:bodyPr/>
          <a:lstStyle/>
          <a:p>
            <a:endParaRPr lang="en-US"/>
          </a:p>
        </p:txBody>
      </p:sp>
      <p:sp>
        <p:nvSpPr>
          <p:cNvPr id="11" name="Shape 9"/>
          <p:cNvSpPr/>
          <p:nvPr/>
        </p:nvSpPr>
        <p:spPr>
          <a:xfrm>
            <a:off x="457200" y="2697480"/>
            <a:ext cx="54864" cy="960120"/>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640080" y="274320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Architectural level</a:t>
            </a:r>
            <a:endParaRPr lang="en-US" sz="1100" dirty="0"/>
          </a:p>
        </p:txBody>
      </p:sp>
      <p:sp>
        <p:nvSpPr>
          <p:cNvPr id="13" name="Text 11"/>
          <p:cNvSpPr/>
          <p:nvPr/>
        </p:nvSpPr>
        <p:spPr>
          <a:xfrm>
            <a:off x="640080" y="299008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Service (per microservice)</a:t>
            </a:r>
            <a:endParaRPr lang="en-US" sz="1300" dirty="0"/>
          </a:p>
        </p:txBody>
      </p:sp>
      <p:sp>
        <p:nvSpPr>
          <p:cNvPr id="14" name="Text 12"/>
          <p:cNvSpPr/>
          <p:nvPr/>
        </p:nvSpPr>
        <p:spPr>
          <a:xfrm>
            <a:off x="640080" y="3264408"/>
            <a:ext cx="3657600" cy="36576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 θ_god God Classes detected (default = 1)</a:t>
            </a:r>
            <a:endParaRPr lang="en-US" sz="1000" dirty="0"/>
          </a:p>
        </p:txBody>
      </p:sp>
      <p:sp>
        <p:nvSpPr>
          <p:cNvPr id="15" name="Text 13"/>
          <p:cNvSpPr/>
          <p:nvPr/>
        </p:nvSpPr>
        <p:spPr>
          <a:xfrm>
            <a:off x="4663440" y="868680"/>
            <a:ext cx="402336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Spoon-based fallback</a:t>
            </a:r>
            <a:endParaRPr lang="en-US" sz="1400" dirty="0"/>
          </a:p>
        </p:txBody>
      </p:sp>
      <p:sp>
        <p:nvSpPr>
          <p:cNvPr id="16" name="Text 14"/>
          <p:cNvSpPr/>
          <p:nvPr/>
        </p:nvSpPr>
        <p:spPr>
          <a:xfrm>
            <a:off x="4663440" y="1207008"/>
            <a:ext cx="4023360" cy="5943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If DesigniteJava reports zero God Classes, a Spoon-based structural analysis evaluates each class against six metrics:</a:t>
            </a:r>
            <a:endParaRPr lang="en-US" sz="1100" dirty="0"/>
          </a:p>
        </p:txBody>
      </p:sp>
      <p:sp>
        <p:nvSpPr>
          <p:cNvPr id="17" name="Text 15"/>
          <p:cNvSpPr/>
          <p:nvPr/>
        </p:nvSpPr>
        <p:spPr>
          <a:xfrm>
            <a:off x="4846320" y="1783080"/>
            <a:ext cx="3840480" cy="1920240"/>
          </a:xfrm>
          <a:prstGeom prst="rect">
            <a:avLst/>
          </a:prstGeom>
          <a:noFill/>
          <a:ln/>
        </p:spPr>
        <p:txBody>
          <a:bodyPr wrap="square" lIns="0" tIns="0" rIns="0" bIns="0" rtlCol="0" anchor="ctr"/>
          <a:lstStyle/>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18" name="Shape 16"/>
          <p:cNvSpPr/>
          <p:nvPr/>
        </p:nvSpPr>
        <p:spPr>
          <a:xfrm>
            <a:off x="4663440" y="3794760"/>
            <a:ext cx="4023360" cy="502920"/>
          </a:xfrm>
          <a:prstGeom prst="rect">
            <a:avLst/>
          </a:prstGeom>
          <a:solidFill>
            <a:srgbClr val="0F2A44"/>
          </a:solidFill>
          <a:ln w="12700">
            <a:solidFill>
              <a:srgbClr val="0F2A44"/>
            </a:solidFill>
            <a:prstDash val="solid"/>
          </a:ln>
        </p:spPr>
        <p:txBody>
          <a:bodyPr/>
          <a:lstStyle/>
          <a:p>
            <a:endParaRPr lang="en-US"/>
          </a:p>
        </p:txBody>
      </p:sp>
      <p:sp>
        <p:nvSpPr>
          <p:cNvPr id="19" name="Text 17"/>
          <p:cNvSpPr/>
          <p:nvPr/>
        </p:nvSpPr>
        <p:spPr>
          <a:xfrm>
            <a:off x="4663440" y="3794760"/>
            <a:ext cx="4023360" cy="50292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Flag class as God Class if ≥ 3 of 6 thresholds exceeded.</a:t>
            </a:r>
            <a:endParaRPr lang="en-US" sz="1100" dirty="0"/>
          </a:p>
        </p:txBody>
      </p:sp>
      <p:sp>
        <p:nvSpPr>
          <p:cNvPr id="20" name="Text 18"/>
          <p:cNvSpPr/>
          <p:nvPr/>
        </p:nvSpPr>
        <p:spPr>
          <a:xfrm>
            <a:off x="457200" y="3794760"/>
            <a:ext cx="3931920" cy="50292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Code-level evidence → architectural-level finding.</a:t>
            </a:r>
            <a:endParaRPr lang="en-US" sz="1100" dirty="0"/>
          </a:p>
        </p:txBody>
      </p:sp>
      <p:sp>
        <p:nvSpPr>
          <p:cNvPr id="21"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2"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Ten detectors across four dimensions</a:t>
            </a:r>
            <a:endParaRPr lang="en-US" sz="2800" dirty="0"/>
          </a:p>
        </p:txBody>
      </p:sp>
      <p:sp>
        <p:nvSpPr>
          <p:cNvPr id="3" name="Shape 1"/>
          <p:cNvSpPr/>
          <p:nvPr/>
        </p:nvSpPr>
        <p:spPr>
          <a:xfrm>
            <a:off x="45720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57200" y="1005840"/>
            <a:ext cx="2011680" cy="411480"/>
          </a:xfrm>
          <a:prstGeom prst="rect">
            <a:avLst/>
          </a:prstGeom>
          <a:solidFill>
            <a:srgbClr val="1C4E80"/>
          </a:solidFill>
          <a:ln w="12700">
            <a:solidFill>
              <a:srgbClr val="1C4E80"/>
            </a:solidFill>
            <a:prstDash val="solid"/>
          </a:ln>
        </p:spPr>
        <p:txBody>
          <a:bodyPr/>
          <a:lstStyle/>
          <a:p>
            <a:endParaRPr lang="en-US"/>
          </a:p>
        </p:txBody>
      </p:sp>
      <p:sp>
        <p:nvSpPr>
          <p:cNvPr id="5" name="Text 3"/>
          <p:cNvSpPr/>
          <p:nvPr/>
        </p:nvSpPr>
        <p:spPr>
          <a:xfrm>
            <a:off x="54864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Service Design</a:t>
            </a:r>
            <a:endParaRPr lang="en-US" sz="1200" dirty="0"/>
          </a:p>
        </p:txBody>
      </p:sp>
      <p:sp>
        <p:nvSpPr>
          <p:cNvPr id="6" name="Text 4"/>
          <p:cNvSpPr/>
          <p:nvPr/>
        </p:nvSpPr>
        <p:spPr>
          <a:xfrm>
            <a:off x="59436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7" name="Text 5"/>
          <p:cNvSpPr/>
          <p:nvPr/>
        </p:nvSpPr>
        <p:spPr>
          <a:xfrm>
            <a:off x="59436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8" name="Text 6"/>
          <p:cNvSpPr/>
          <p:nvPr/>
        </p:nvSpPr>
        <p:spPr>
          <a:xfrm>
            <a:off x="59436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God Service</a:t>
            </a:r>
            <a:endParaRPr lang="en-US" sz="1100" dirty="0"/>
          </a:p>
        </p:txBody>
      </p:sp>
      <p:sp>
        <p:nvSpPr>
          <p:cNvPr id="9" name="Text 7"/>
          <p:cNvSpPr/>
          <p:nvPr/>
        </p:nvSpPr>
        <p:spPr>
          <a:xfrm>
            <a:off x="59436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260604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11" name="Shape 9"/>
          <p:cNvSpPr/>
          <p:nvPr/>
        </p:nvSpPr>
        <p:spPr>
          <a:xfrm>
            <a:off x="2606040" y="1005840"/>
            <a:ext cx="2011680" cy="411480"/>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269748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13" name="Text 11"/>
          <p:cNvSpPr/>
          <p:nvPr/>
        </p:nvSpPr>
        <p:spPr>
          <a:xfrm>
            <a:off x="274320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4" name="Text 12"/>
          <p:cNvSpPr/>
          <p:nvPr/>
        </p:nvSpPr>
        <p:spPr>
          <a:xfrm>
            <a:off x="274320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5" name="Text 13"/>
          <p:cNvSpPr/>
          <p:nvPr/>
        </p:nvSpPr>
        <p:spPr>
          <a:xfrm>
            <a:off x="274320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6" name="Text 14"/>
          <p:cNvSpPr/>
          <p:nvPr/>
        </p:nvSpPr>
        <p:spPr>
          <a:xfrm>
            <a:off x="274320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274320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18" name="Text 16"/>
          <p:cNvSpPr/>
          <p:nvPr/>
        </p:nvSpPr>
        <p:spPr>
          <a:xfrm>
            <a:off x="274320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19" name="Text 17"/>
          <p:cNvSpPr/>
          <p:nvPr/>
        </p:nvSpPr>
        <p:spPr>
          <a:xfrm>
            <a:off x="2743200" y="3255264"/>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ESB Misuse</a:t>
            </a:r>
            <a:endParaRPr lang="en-US" sz="1100" dirty="0"/>
          </a:p>
        </p:txBody>
      </p:sp>
      <p:sp>
        <p:nvSpPr>
          <p:cNvPr id="20" name="Text 18"/>
          <p:cNvSpPr/>
          <p:nvPr/>
        </p:nvSpPr>
        <p:spPr>
          <a:xfrm>
            <a:off x="2743200" y="3502152"/>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1" name="Shape 19"/>
          <p:cNvSpPr/>
          <p:nvPr/>
        </p:nvSpPr>
        <p:spPr>
          <a:xfrm>
            <a:off x="475488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22" name="Shape 20"/>
          <p:cNvSpPr/>
          <p:nvPr/>
        </p:nvSpPr>
        <p:spPr>
          <a:xfrm>
            <a:off x="4754880" y="1005840"/>
            <a:ext cx="2011680" cy="411480"/>
          </a:xfrm>
          <a:prstGeom prst="rect">
            <a:avLst/>
          </a:prstGeom>
          <a:solidFill>
            <a:srgbClr val="D97706"/>
          </a:solidFill>
          <a:ln w="12700">
            <a:solidFill>
              <a:srgbClr val="D97706"/>
            </a:solidFill>
            <a:prstDash val="solid"/>
          </a:ln>
        </p:spPr>
        <p:txBody>
          <a:bodyPr/>
          <a:lstStyle/>
          <a:p>
            <a:endParaRPr lang="en-US"/>
          </a:p>
        </p:txBody>
      </p:sp>
      <p:sp>
        <p:nvSpPr>
          <p:cNvPr id="23" name="Text 21"/>
          <p:cNvSpPr/>
          <p:nvPr/>
        </p:nvSpPr>
        <p:spPr>
          <a:xfrm>
            <a:off x="484632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 Management</a:t>
            </a:r>
            <a:endParaRPr lang="en-US" sz="1200" dirty="0"/>
          </a:p>
        </p:txBody>
      </p:sp>
      <p:sp>
        <p:nvSpPr>
          <p:cNvPr id="24" name="Text 22"/>
          <p:cNvSpPr/>
          <p:nvPr/>
        </p:nvSpPr>
        <p:spPr>
          <a:xfrm>
            <a:off x="489204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25" name="Text 23"/>
          <p:cNvSpPr/>
          <p:nvPr/>
        </p:nvSpPr>
        <p:spPr>
          <a:xfrm>
            <a:off x="489204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6" name="Shape 24"/>
          <p:cNvSpPr/>
          <p:nvPr/>
        </p:nvSpPr>
        <p:spPr>
          <a:xfrm>
            <a:off x="690372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27" name="Shape 25"/>
          <p:cNvSpPr/>
          <p:nvPr/>
        </p:nvSpPr>
        <p:spPr>
          <a:xfrm>
            <a:off x="6903720" y="1005840"/>
            <a:ext cx="2011680" cy="411480"/>
          </a:xfrm>
          <a:prstGeom prst="rect">
            <a:avLst/>
          </a:prstGeom>
          <a:solidFill>
            <a:srgbClr val="DC2626"/>
          </a:solidFill>
          <a:ln w="12700">
            <a:solidFill>
              <a:srgbClr val="DC2626"/>
            </a:solidFill>
            <a:prstDash val="solid"/>
          </a:ln>
        </p:spPr>
        <p:txBody>
          <a:bodyPr/>
          <a:lstStyle/>
          <a:p>
            <a:endParaRPr lang="en-US"/>
          </a:p>
        </p:txBody>
      </p:sp>
      <p:sp>
        <p:nvSpPr>
          <p:cNvPr id="28" name="Text 26"/>
          <p:cNvSpPr/>
          <p:nvPr/>
        </p:nvSpPr>
        <p:spPr>
          <a:xfrm>
            <a:off x="699516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Deployment &amp; Coupling</a:t>
            </a:r>
            <a:endParaRPr lang="en-US" sz="1200" dirty="0"/>
          </a:p>
        </p:txBody>
      </p:sp>
      <p:sp>
        <p:nvSpPr>
          <p:cNvPr id="29" name="Text 27"/>
          <p:cNvSpPr/>
          <p:nvPr/>
        </p:nvSpPr>
        <p:spPr>
          <a:xfrm>
            <a:off x="704088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Distributed Monolith</a:t>
            </a:r>
            <a:endParaRPr lang="en-US" sz="1100" dirty="0"/>
          </a:p>
        </p:txBody>
      </p:sp>
      <p:sp>
        <p:nvSpPr>
          <p:cNvPr id="30" name="Text 28"/>
          <p:cNvSpPr/>
          <p:nvPr/>
        </p:nvSpPr>
        <p:spPr>
          <a:xfrm>
            <a:off x="704088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31" name="Text 29"/>
          <p:cNvSpPr/>
          <p:nvPr/>
        </p:nvSpPr>
        <p:spPr>
          <a:xfrm>
            <a:off x="704088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32" name="Text 30"/>
          <p:cNvSpPr/>
          <p:nvPr/>
        </p:nvSpPr>
        <p:spPr>
          <a:xfrm>
            <a:off x="704088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33" name="Text 31"/>
          <p:cNvSpPr/>
          <p:nvPr/>
        </p:nvSpPr>
        <p:spPr>
          <a:xfrm>
            <a:off x="704088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Wrong Cuts</a:t>
            </a:r>
            <a:endParaRPr lang="en-US" sz="1100" dirty="0"/>
          </a:p>
        </p:txBody>
      </p:sp>
      <p:sp>
        <p:nvSpPr>
          <p:cNvPr id="34" name="Text 32"/>
          <p:cNvSpPr/>
          <p:nvPr/>
        </p:nvSpPr>
        <p:spPr>
          <a:xfrm>
            <a:off x="704088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35" name="Shape 33"/>
          <p:cNvSpPr/>
          <p:nvPr/>
        </p:nvSpPr>
        <p:spPr>
          <a:xfrm>
            <a:off x="457200" y="4526280"/>
            <a:ext cx="8229600" cy="320040"/>
          </a:xfrm>
          <a:prstGeom prst="rect">
            <a:avLst/>
          </a:prstGeom>
          <a:solidFill>
            <a:srgbClr val="0F2A44"/>
          </a:solidFill>
          <a:ln w="12700">
            <a:solidFill>
              <a:srgbClr val="0F2A44"/>
            </a:solidFill>
            <a:prstDash val="solid"/>
          </a:ln>
        </p:spPr>
        <p:txBody>
          <a:bodyPr/>
          <a:lstStyle/>
          <a:p>
            <a:endParaRPr lang="en-US"/>
          </a:p>
        </p:txBody>
      </p:sp>
      <p:sp>
        <p:nvSpPr>
          <p:cNvPr id="36" name="Text 34"/>
          <p:cNvSpPr/>
          <p:nvPr/>
        </p:nvSpPr>
        <p:spPr>
          <a:xfrm>
            <a:off x="457200" y="4526280"/>
            <a:ext cx="8229600" cy="32004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All detectors are pluggable Strategy components with configurable thresholds.</a:t>
            </a:r>
            <a:endParaRPr lang="en-US" sz="1100" dirty="0"/>
          </a:p>
        </p:txBody>
      </p:sp>
      <p:sp>
        <p:nvSpPr>
          <p:cNvPr id="37" name="Text 3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8" name="Text 3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Composite health score: four-category decomposition</a:t>
            </a:r>
            <a:endParaRPr lang="en-US" sz="2800" dirty="0"/>
          </a:p>
        </p:txBody>
      </p:sp>
      <p:sp>
        <p:nvSpPr>
          <p:cNvPr id="3" name="Shape 1"/>
          <p:cNvSpPr/>
          <p:nvPr/>
        </p:nvSpPr>
        <p:spPr>
          <a:xfrm>
            <a:off x="45720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57200" y="960120"/>
            <a:ext cx="2011680" cy="73152"/>
          </a:xfrm>
          <a:prstGeom prst="rect">
            <a:avLst/>
          </a:prstGeom>
          <a:solidFill>
            <a:srgbClr val="DC2626"/>
          </a:solidFill>
          <a:ln w="12700">
            <a:solidFill>
              <a:srgbClr val="DC2626"/>
            </a:solidFill>
            <a:prstDash val="solid"/>
          </a:ln>
        </p:spPr>
        <p:txBody>
          <a:bodyPr/>
          <a:lstStyle/>
          <a:p>
            <a:endParaRPr lang="en-US"/>
          </a:p>
        </p:txBody>
      </p:sp>
      <p:sp>
        <p:nvSpPr>
          <p:cNvPr id="5" name="Text 3"/>
          <p:cNvSpPr/>
          <p:nvPr/>
        </p:nvSpPr>
        <p:spPr>
          <a:xfrm>
            <a:off x="457200" y="1078992"/>
            <a:ext cx="2011680" cy="548640"/>
          </a:xfrm>
          <a:prstGeom prst="rect">
            <a:avLst/>
          </a:prstGeom>
          <a:noFill/>
          <a:ln/>
        </p:spPr>
        <p:txBody>
          <a:bodyPr wrap="square" lIns="0" tIns="0" rIns="0" bIns="0" rtlCol="0" anchor="ctr"/>
          <a:lstStyle/>
          <a:p>
            <a:pPr marL="0" indent="0" algn="ctr">
              <a:buNone/>
            </a:pPr>
            <a:r>
              <a:rPr lang="en-US" sz="3600" b="1" dirty="0">
                <a:solidFill>
                  <a:srgbClr val="DC2626"/>
                </a:solidFill>
                <a:latin typeface="Calibri" pitchFamily="34" charset="0"/>
                <a:ea typeface="Calibri" pitchFamily="34" charset="-122"/>
                <a:cs typeface="Calibri" pitchFamily="34" charset="-120"/>
              </a:rPr>
              <a:t>40</a:t>
            </a:r>
            <a:endParaRPr lang="en-US" sz="3600" dirty="0"/>
          </a:p>
        </p:txBody>
      </p:sp>
      <p:sp>
        <p:nvSpPr>
          <p:cNvPr id="6" name="Text 4"/>
          <p:cNvSpPr/>
          <p:nvPr/>
        </p:nvSpPr>
        <p:spPr>
          <a:xfrm>
            <a:off x="45720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Anti-Patterns</a:t>
            </a:r>
            <a:endParaRPr lang="en-US" sz="1300" dirty="0"/>
          </a:p>
        </p:txBody>
      </p:sp>
      <p:sp>
        <p:nvSpPr>
          <p:cNvPr id="7" name="Text 5"/>
          <p:cNvSpPr/>
          <p:nvPr/>
        </p:nvSpPr>
        <p:spPr>
          <a:xfrm>
            <a:off x="54864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9" name="Shape 7"/>
          <p:cNvSpPr/>
          <p:nvPr/>
        </p:nvSpPr>
        <p:spPr>
          <a:xfrm>
            <a:off x="2606040" y="960120"/>
            <a:ext cx="2011680" cy="73152"/>
          </a:xfrm>
          <a:prstGeom prst="rect">
            <a:avLst/>
          </a:prstGeom>
          <a:solidFill>
            <a:srgbClr val="D97706"/>
          </a:solidFill>
          <a:ln w="12700">
            <a:solidFill>
              <a:srgbClr val="D97706"/>
            </a:solidFill>
            <a:prstDash val="solid"/>
          </a:ln>
        </p:spPr>
        <p:txBody>
          <a:bodyPr/>
          <a:lstStyle/>
          <a:p>
            <a:endParaRPr lang="en-US"/>
          </a:p>
        </p:txBody>
      </p:sp>
      <p:sp>
        <p:nvSpPr>
          <p:cNvPr id="10" name="Text 8"/>
          <p:cNvSpPr/>
          <p:nvPr/>
        </p:nvSpPr>
        <p:spPr>
          <a:xfrm>
            <a:off x="2606040" y="1078992"/>
            <a:ext cx="2011680" cy="548640"/>
          </a:xfrm>
          <a:prstGeom prst="rect">
            <a:avLst/>
          </a:prstGeom>
          <a:noFill/>
          <a:ln/>
        </p:spPr>
        <p:txBody>
          <a:bodyPr wrap="square" lIns="0" tIns="0" rIns="0" bIns="0" rtlCol="0" anchor="ctr"/>
          <a:lstStyle/>
          <a:p>
            <a:pPr marL="0" indent="0" algn="ctr">
              <a:buNone/>
            </a:pPr>
            <a:r>
              <a:rPr lang="en-US" sz="3600" b="1" dirty="0">
                <a:solidFill>
                  <a:srgbClr val="D97706"/>
                </a:solidFill>
                <a:latin typeface="Calibri" pitchFamily="34" charset="0"/>
                <a:ea typeface="Calibri" pitchFamily="34" charset="-122"/>
                <a:cs typeface="Calibri" pitchFamily="34" charset="-120"/>
              </a:rPr>
              <a:t>20</a:t>
            </a:r>
            <a:endParaRPr lang="en-US" sz="3600" dirty="0"/>
          </a:p>
        </p:txBody>
      </p:sp>
      <p:sp>
        <p:nvSpPr>
          <p:cNvPr id="11" name="Text 9"/>
          <p:cNvSpPr/>
          <p:nvPr/>
        </p:nvSpPr>
        <p:spPr>
          <a:xfrm>
            <a:off x="260604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Code Quality</a:t>
            </a:r>
            <a:endParaRPr lang="en-US" sz="1300" dirty="0"/>
          </a:p>
        </p:txBody>
      </p:sp>
      <p:sp>
        <p:nvSpPr>
          <p:cNvPr id="12" name="Text 10"/>
          <p:cNvSpPr/>
          <p:nvPr/>
        </p:nvSpPr>
        <p:spPr>
          <a:xfrm>
            <a:off x="269748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Logarithmic penalty on smell density</a:t>
            </a:r>
            <a:endParaRPr lang="en-US" sz="950" dirty="0"/>
          </a:p>
        </p:txBody>
      </p:sp>
      <p:sp>
        <p:nvSpPr>
          <p:cNvPr id="13" name="Shape 11"/>
          <p:cNvSpPr/>
          <p:nvPr/>
        </p:nvSpPr>
        <p:spPr>
          <a:xfrm>
            <a:off x="475488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14" name="Shape 12"/>
          <p:cNvSpPr/>
          <p:nvPr/>
        </p:nvSpPr>
        <p:spPr>
          <a:xfrm>
            <a:off x="4754880" y="960120"/>
            <a:ext cx="2011680" cy="73152"/>
          </a:xfrm>
          <a:prstGeom prst="rect">
            <a:avLst/>
          </a:prstGeom>
          <a:solidFill>
            <a:srgbClr val="1C4E80"/>
          </a:solidFill>
          <a:ln w="12700">
            <a:solidFill>
              <a:srgbClr val="1C4E80"/>
            </a:solidFill>
            <a:prstDash val="solid"/>
          </a:ln>
        </p:spPr>
        <p:txBody>
          <a:bodyPr/>
          <a:lstStyle/>
          <a:p>
            <a:endParaRPr lang="en-US"/>
          </a:p>
        </p:txBody>
      </p:sp>
      <p:sp>
        <p:nvSpPr>
          <p:cNvPr id="15" name="Text 13"/>
          <p:cNvSpPr/>
          <p:nvPr/>
        </p:nvSpPr>
        <p:spPr>
          <a:xfrm>
            <a:off x="4754880" y="1078992"/>
            <a:ext cx="2011680" cy="548640"/>
          </a:xfrm>
          <a:prstGeom prst="rect">
            <a:avLst/>
          </a:prstGeom>
          <a:noFill/>
          <a:ln/>
        </p:spPr>
        <p:txBody>
          <a:bodyPr wrap="square" lIns="0" tIns="0" rIns="0" bIns="0" rtlCol="0" anchor="ctr"/>
          <a:lstStyle/>
          <a:p>
            <a:pPr marL="0" indent="0" algn="ctr">
              <a:buNone/>
            </a:pPr>
            <a:r>
              <a:rPr lang="en-US" sz="3600" b="1" dirty="0">
                <a:solidFill>
                  <a:srgbClr val="1C4E80"/>
                </a:solidFill>
                <a:latin typeface="Calibri" pitchFamily="34" charset="0"/>
                <a:ea typeface="Calibri" pitchFamily="34" charset="-122"/>
                <a:cs typeface="Calibri" pitchFamily="34" charset="-120"/>
              </a:rPr>
              <a:t>25</a:t>
            </a:r>
            <a:endParaRPr lang="en-US" sz="3600" dirty="0"/>
          </a:p>
        </p:txBody>
      </p:sp>
      <p:sp>
        <p:nvSpPr>
          <p:cNvPr id="16" name="Text 14"/>
          <p:cNvSpPr/>
          <p:nvPr/>
        </p:nvSpPr>
        <p:spPr>
          <a:xfrm>
            <a:off x="475488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Architecture</a:t>
            </a:r>
            <a:endParaRPr lang="en-US" sz="1300" dirty="0"/>
          </a:p>
        </p:txBody>
      </p:sp>
      <p:sp>
        <p:nvSpPr>
          <p:cNvPr id="17" name="Text 15"/>
          <p:cNvSpPr/>
          <p:nvPr/>
        </p:nvSpPr>
        <p:spPr>
          <a:xfrm>
            <a:off x="484632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8" name="Shape 16"/>
          <p:cNvSpPr/>
          <p:nvPr/>
        </p:nvSpPr>
        <p:spPr>
          <a:xfrm>
            <a:off x="690372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19" name="Shape 17"/>
          <p:cNvSpPr/>
          <p:nvPr/>
        </p:nvSpPr>
        <p:spPr>
          <a:xfrm>
            <a:off x="6903720" y="960120"/>
            <a:ext cx="2011680" cy="73152"/>
          </a:xfrm>
          <a:prstGeom prst="rect">
            <a:avLst/>
          </a:prstGeom>
          <a:solidFill>
            <a:srgbClr val="0D9488"/>
          </a:solidFill>
          <a:ln w="12700">
            <a:solidFill>
              <a:srgbClr val="0D9488"/>
            </a:solidFill>
            <a:prstDash val="solid"/>
          </a:ln>
        </p:spPr>
        <p:txBody>
          <a:bodyPr/>
          <a:lstStyle/>
          <a:p>
            <a:endParaRPr lang="en-US"/>
          </a:p>
        </p:txBody>
      </p:sp>
      <p:sp>
        <p:nvSpPr>
          <p:cNvPr id="20" name="Text 18"/>
          <p:cNvSpPr/>
          <p:nvPr/>
        </p:nvSpPr>
        <p:spPr>
          <a:xfrm>
            <a:off x="6903720" y="1078992"/>
            <a:ext cx="2011680" cy="548640"/>
          </a:xfrm>
          <a:prstGeom prst="rect">
            <a:avLst/>
          </a:prstGeom>
          <a:noFill/>
          <a:ln/>
        </p:spPr>
        <p:txBody>
          <a:bodyPr wrap="square" lIns="0" tIns="0" rIns="0" bIns="0" rtlCol="0" anchor="ctr"/>
          <a:lstStyle/>
          <a:p>
            <a:pPr marL="0" indent="0" algn="ctr">
              <a:buNone/>
            </a:pPr>
            <a:r>
              <a:rPr lang="en-US" sz="3600" b="1" dirty="0">
                <a:solidFill>
                  <a:srgbClr val="0D9488"/>
                </a:solidFill>
                <a:latin typeface="Calibri" pitchFamily="34" charset="0"/>
                <a:ea typeface="Calibri" pitchFamily="34" charset="-122"/>
                <a:cs typeface="Calibri" pitchFamily="34" charset="-120"/>
              </a:rPr>
              <a:t>15</a:t>
            </a:r>
            <a:endParaRPr lang="en-US" sz="3600" dirty="0"/>
          </a:p>
        </p:txBody>
      </p:sp>
      <p:sp>
        <p:nvSpPr>
          <p:cNvPr id="21" name="Text 19"/>
          <p:cNvSpPr/>
          <p:nvPr/>
        </p:nvSpPr>
        <p:spPr>
          <a:xfrm>
            <a:off x="690372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Service Sizing</a:t>
            </a:r>
            <a:endParaRPr lang="en-US" sz="1300" dirty="0"/>
          </a:p>
        </p:txBody>
      </p:sp>
      <p:sp>
        <p:nvSpPr>
          <p:cNvPr id="22" name="Text 20"/>
          <p:cNvSpPr/>
          <p:nvPr/>
        </p:nvSpPr>
        <p:spPr>
          <a:xfrm>
            <a:off x="699516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3" name="Text 21"/>
          <p:cNvSpPr/>
          <p:nvPr/>
        </p:nvSpPr>
        <p:spPr>
          <a:xfrm>
            <a:off x="457200" y="260604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Letter grade scale</a:t>
            </a:r>
            <a:endParaRPr lang="en-US" sz="1200" dirty="0"/>
          </a:p>
        </p:txBody>
      </p:sp>
      <p:sp>
        <p:nvSpPr>
          <p:cNvPr id="24" name="Shape 22"/>
          <p:cNvSpPr/>
          <p:nvPr/>
        </p:nvSpPr>
        <p:spPr>
          <a:xfrm>
            <a:off x="457200" y="2926080"/>
            <a:ext cx="1371600" cy="777240"/>
          </a:xfrm>
          <a:prstGeom prst="rect">
            <a:avLst/>
          </a:prstGeom>
          <a:solidFill>
            <a:srgbClr val="059669"/>
          </a:solidFill>
          <a:ln w="12700">
            <a:solidFill>
              <a:srgbClr val="059669"/>
            </a:solidFill>
            <a:prstDash val="solid"/>
          </a:ln>
        </p:spPr>
        <p:txBody>
          <a:bodyPr/>
          <a:lstStyle/>
          <a:p>
            <a:endParaRPr lang="en-US"/>
          </a:p>
        </p:txBody>
      </p:sp>
      <p:sp>
        <p:nvSpPr>
          <p:cNvPr id="25" name="Text 23"/>
          <p:cNvSpPr/>
          <p:nvPr/>
        </p:nvSpPr>
        <p:spPr>
          <a:xfrm>
            <a:off x="45720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A</a:t>
            </a:r>
            <a:endParaRPr lang="en-US" sz="2600" dirty="0"/>
          </a:p>
        </p:txBody>
      </p:sp>
      <p:sp>
        <p:nvSpPr>
          <p:cNvPr id="26" name="Text 24"/>
          <p:cNvSpPr/>
          <p:nvPr/>
        </p:nvSpPr>
        <p:spPr>
          <a:xfrm>
            <a:off x="45720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90</a:t>
            </a:r>
            <a:endParaRPr lang="en-US" sz="1100" dirty="0"/>
          </a:p>
        </p:txBody>
      </p:sp>
      <p:sp>
        <p:nvSpPr>
          <p:cNvPr id="27" name="Shape 25"/>
          <p:cNvSpPr/>
          <p:nvPr/>
        </p:nvSpPr>
        <p:spPr>
          <a:xfrm>
            <a:off x="2194560" y="2926080"/>
            <a:ext cx="1371600" cy="777240"/>
          </a:xfrm>
          <a:prstGeom prst="rect">
            <a:avLst/>
          </a:prstGeom>
          <a:solidFill>
            <a:srgbClr val="0D9488"/>
          </a:solidFill>
          <a:ln w="12700">
            <a:solidFill>
              <a:srgbClr val="0D9488"/>
            </a:solidFill>
            <a:prstDash val="solid"/>
          </a:ln>
        </p:spPr>
        <p:txBody>
          <a:bodyPr/>
          <a:lstStyle/>
          <a:p>
            <a:endParaRPr lang="en-US"/>
          </a:p>
        </p:txBody>
      </p:sp>
      <p:sp>
        <p:nvSpPr>
          <p:cNvPr id="28" name="Text 26"/>
          <p:cNvSpPr/>
          <p:nvPr/>
        </p:nvSpPr>
        <p:spPr>
          <a:xfrm>
            <a:off x="219456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B</a:t>
            </a:r>
            <a:endParaRPr lang="en-US" sz="2600" dirty="0"/>
          </a:p>
        </p:txBody>
      </p:sp>
      <p:sp>
        <p:nvSpPr>
          <p:cNvPr id="29" name="Text 27"/>
          <p:cNvSpPr/>
          <p:nvPr/>
        </p:nvSpPr>
        <p:spPr>
          <a:xfrm>
            <a:off x="219456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80</a:t>
            </a:r>
            <a:endParaRPr lang="en-US" sz="1100" dirty="0"/>
          </a:p>
        </p:txBody>
      </p:sp>
      <p:sp>
        <p:nvSpPr>
          <p:cNvPr id="30" name="Shape 28"/>
          <p:cNvSpPr/>
          <p:nvPr/>
        </p:nvSpPr>
        <p:spPr>
          <a:xfrm>
            <a:off x="3931920" y="2926080"/>
            <a:ext cx="1371600" cy="777240"/>
          </a:xfrm>
          <a:prstGeom prst="rect">
            <a:avLst/>
          </a:prstGeom>
          <a:solidFill>
            <a:srgbClr val="1C4E80"/>
          </a:solidFill>
          <a:ln w="12700">
            <a:solidFill>
              <a:srgbClr val="1C4E80"/>
            </a:solidFill>
            <a:prstDash val="solid"/>
          </a:ln>
        </p:spPr>
        <p:txBody>
          <a:bodyPr/>
          <a:lstStyle/>
          <a:p>
            <a:endParaRPr lang="en-US"/>
          </a:p>
        </p:txBody>
      </p:sp>
      <p:sp>
        <p:nvSpPr>
          <p:cNvPr id="31" name="Text 29"/>
          <p:cNvSpPr/>
          <p:nvPr/>
        </p:nvSpPr>
        <p:spPr>
          <a:xfrm>
            <a:off x="393192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C</a:t>
            </a:r>
            <a:endParaRPr lang="en-US" sz="2600" dirty="0"/>
          </a:p>
        </p:txBody>
      </p:sp>
      <p:sp>
        <p:nvSpPr>
          <p:cNvPr id="32" name="Text 30"/>
          <p:cNvSpPr/>
          <p:nvPr/>
        </p:nvSpPr>
        <p:spPr>
          <a:xfrm>
            <a:off x="393192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65</a:t>
            </a:r>
            <a:endParaRPr lang="en-US" sz="1100" dirty="0"/>
          </a:p>
        </p:txBody>
      </p:sp>
      <p:sp>
        <p:nvSpPr>
          <p:cNvPr id="33" name="Shape 31"/>
          <p:cNvSpPr/>
          <p:nvPr/>
        </p:nvSpPr>
        <p:spPr>
          <a:xfrm>
            <a:off x="5669280" y="2926080"/>
            <a:ext cx="1371600" cy="777240"/>
          </a:xfrm>
          <a:prstGeom prst="rect">
            <a:avLst/>
          </a:prstGeom>
          <a:solidFill>
            <a:srgbClr val="D97706"/>
          </a:solidFill>
          <a:ln w="12700">
            <a:solidFill>
              <a:srgbClr val="D97706"/>
            </a:solidFill>
            <a:prstDash val="solid"/>
          </a:ln>
        </p:spPr>
        <p:txBody>
          <a:bodyPr/>
          <a:lstStyle/>
          <a:p>
            <a:endParaRPr lang="en-US"/>
          </a:p>
        </p:txBody>
      </p:sp>
      <p:sp>
        <p:nvSpPr>
          <p:cNvPr id="34" name="Text 32"/>
          <p:cNvSpPr/>
          <p:nvPr/>
        </p:nvSpPr>
        <p:spPr>
          <a:xfrm>
            <a:off x="566928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D</a:t>
            </a:r>
            <a:endParaRPr lang="en-US" sz="2600" dirty="0"/>
          </a:p>
        </p:txBody>
      </p:sp>
      <p:sp>
        <p:nvSpPr>
          <p:cNvPr id="35" name="Text 33"/>
          <p:cNvSpPr/>
          <p:nvPr/>
        </p:nvSpPr>
        <p:spPr>
          <a:xfrm>
            <a:off x="566928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50</a:t>
            </a:r>
            <a:endParaRPr lang="en-US" sz="1100" dirty="0"/>
          </a:p>
        </p:txBody>
      </p:sp>
      <p:sp>
        <p:nvSpPr>
          <p:cNvPr id="36" name="Shape 34"/>
          <p:cNvSpPr/>
          <p:nvPr/>
        </p:nvSpPr>
        <p:spPr>
          <a:xfrm>
            <a:off x="7406640" y="2926080"/>
            <a:ext cx="1371600" cy="777240"/>
          </a:xfrm>
          <a:prstGeom prst="rect">
            <a:avLst/>
          </a:prstGeom>
          <a:solidFill>
            <a:srgbClr val="DC2626"/>
          </a:solidFill>
          <a:ln w="12700">
            <a:solidFill>
              <a:srgbClr val="DC2626"/>
            </a:solidFill>
            <a:prstDash val="solid"/>
          </a:ln>
        </p:spPr>
        <p:txBody>
          <a:bodyPr/>
          <a:lstStyle/>
          <a:p>
            <a:endParaRPr lang="en-US"/>
          </a:p>
        </p:txBody>
      </p:sp>
      <p:sp>
        <p:nvSpPr>
          <p:cNvPr id="37" name="Text 35"/>
          <p:cNvSpPr/>
          <p:nvPr/>
        </p:nvSpPr>
        <p:spPr>
          <a:xfrm>
            <a:off x="740664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F</a:t>
            </a:r>
            <a:endParaRPr lang="en-US" sz="2600" dirty="0"/>
          </a:p>
        </p:txBody>
      </p:sp>
      <p:sp>
        <p:nvSpPr>
          <p:cNvPr id="38" name="Text 36"/>
          <p:cNvSpPr/>
          <p:nvPr/>
        </p:nvSpPr>
        <p:spPr>
          <a:xfrm>
            <a:off x="740664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&lt; 50</a:t>
            </a:r>
            <a:endParaRPr lang="en-US" sz="1100" dirty="0"/>
          </a:p>
        </p:txBody>
      </p:sp>
      <p:sp>
        <p:nvSpPr>
          <p:cNvPr id="39" name="Shape 37"/>
          <p:cNvSpPr/>
          <p:nvPr/>
        </p:nvSpPr>
        <p:spPr>
          <a:xfrm>
            <a:off x="457200" y="3931920"/>
            <a:ext cx="8229600" cy="777240"/>
          </a:xfrm>
          <a:prstGeom prst="rect">
            <a:avLst/>
          </a:prstGeom>
          <a:solidFill>
            <a:srgbClr val="F8FAFC"/>
          </a:solidFill>
          <a:ln w="9525">
            <a:solidFill>
              <a:srgbClr val="E2E8F0"/>
            </a:solidFill>
            <a:prstDash val="solid"/>
          </a:ln>
        </p:spPr>
        <p:txBody>
          <a:bodyPr/>
          <a:lstStyle/>
          <a:p>
            <a:endParaRPr lang="en-US"/>
          </a:p>
        </p:txBody>
      </p:sp>
      <p:sp>
        <p:nvSpPr>
          <p:cNvPr id="40" name="Shape 38"/>
          <p:cNvSpPr/>
          <p:nvPr/>
        </p:nvSpPr>
        <p:spPr>
          <a:xfrm>
            <a:off x="457200" y="3931920"/>
            <a:ext cx="54864" cy="777240"/>
          </a:xfrm>
          <a:prstGeom prst="rect">
            <a:avLst/>
          </a:prstGeom>
          <a:solidFill>
            <a:srgbClr val="0D9488"/>
          </a:solidFill>
          <a:ln w="12700">
            <a:solidFill>
              <a:srgbClr val="0D9488"/>
            </a:solidFill>
            <a:prstDash val="solid"/>
          </a:ln>
        </p:spPr>
        <p:txBody>
          <a:bodyPr/>
          <a:lstStyle/>
          <a:p>
            <a:endParaRPr lang="en-US"/>
          </a:p>
        </p:txBody>
      </p:sp>
      <p:sp>
        <p:nvSpPr>
          <p:cNvPr id="41" name="Text 39"/>
          <p:cNvSpPr/>
          <p:nvPr/>
        </p:nvSpPr>
        <p:spPr>
          <a:xfrm>
            <a:off x="685800" y="3977640"/>
            <a:ext cx="77724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Why decompose?</a:t>
            </a:r>
            <a:endParaRPr lang="en-US" sz="1200" dirty="0"/>
          </a:p>
        </p:txBody>
      </p:sp>
      <p:sp>
        <p:nvSpPr>
          <p:cNvPr id="42" name="Text 40"/>
          <p:cNvSpPr/>
          <p:nvPr/>
        </p:nvSpPr>
        <p:spPr>
          <a:xfrm>
            <a:off x="685800" y="4224528"/>
            <a:ext cx="7772400" cy="45720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 single number tells teams whether quality is improving. Per-category breakdown tells them WHICH dimension needs attention. Both views are exposed via the analysis-diff feature for tracking over time.</a:t>
            </a:r>
            <a:endParaRPr lang="en-US" sz="1050" dirty="0"/>
          </a:p>
        </p:txBody>
      </p:sp>
      <p:sp>
        <p:nvSpPr>
          <p:cNvPr id="43" name="Text 4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Worked example: Train-Ticket (52 / D)</a:t>
            </a:r>
            <a:endParaRPr lang="en-US" sz="2800" dirty="0"/>
          </a:p>
        </p:txBody>
      </p:sp>
      <p:sp>
        <p:nvSpPr>
          <p:cNvPr id="3" name="Text 1"/>
          <p:cNvSpPr/>
          <p:nvPr/>
        </p:nvSpPr>
        <p:spPr>
          <a:xfrm>
            <a:off x="457200" y="868680"/>
            <a:ext cx="41148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4" name="Shape 2"/>
          <p:cNvSpPr/>
          <p:nvPr/>
        </p:nvSpPr>
        <p:spPr>
          <a:xfrm>
            <a:off x="457200" y="1207008"/>
            <a:ext cx="4114800" cy="329184"/>
          </a:xfrm>
          <a:prstGeom prst="rect">
            <a:avLst/>
          </a:prstGeom>
          <a:solidFill>
            <a:srgbClr val="F8FAFC"/>
          </a:solidFill>
          <a:ln w="6350">
            <a:solidFill>
              <a:srgbClr val="E2E8F0"/>
            </a:solidFill>
            <a:prstDash val="solid"/>
          </a:ln>
        </p:spPr>
        <p:txBody>
          <a:bodyPr/>
          <a:lstStyle/>
          <a:p>
            <a:endParaRPr lang="en-US"/>
          </a:p>
        </p:txBody>
      </p:sp>
      <p:sp>
        <p:nvSpPr>
          <p:cNvPr id="5" name="Text 3"/>
          <p:cNvSpPr/>
          <p:nvPr/>
        </p:nvSpPr>
        <p:spPr>
          <a:xfrm>
            <a:off x="502920" y="1207008"/>
            <a:ext cx="548640" cy="329184"/>
          </a:xfrm>
          <a:prstGeom prst="rect">
            <a:avLst/>
          </a:prstGeom>
          <a:noFill/>
          <a:ln/>
        </p:spPr>
        <p:txBody>
          <a:bodyPr wrap="square" lIns="0" tIns="0" rIns="0" bIns="0" rtlCol="0" anchor="ctr"/>
          <a:lstStyle/>
          <a:p>
            <a:pPr marL="0" indent="0" algn="ctr">
              <a:buNone/>
            </a:pPr>
            <a:r>
              <a:rPr lang="en-US" sz="1300" b="1" dirty="0">
                <a:solidFill>
                  <a:srgbClr val="DC2626"/>
                </a:solidFill>
                <a:latin typeface="Calibri" pitchFamily="34" charset="0"/>
                <a:ea typeface="Calibri" pitchFamily="34" charset="-122"/>
                <a:cs typeface="Calibri" pitchFamily="34" charset="-120"/>
              </a:rPr>
              <a:t>26×</a:t>
            </a:r>
            <a:endParaRPr lang="en-US" sz="1300" dirty="0"/>
          </a:p>
        </p:txBody>
      </p:sp>
      <p:sp>
        <p:nvSpPr>
          <p:cNvPr id="6" name="Text 4"/>
          <p:cNvSpPr/>
          <p:nvPr/>
        </p:nvSpPr>
        <p:spPr>
          <a:xfrm>
            <a:off x="1097280" y="1207008"/>
            <a:ext cx="2103120" cy="32918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7" name="Text 5"/>
          <p:cNvSpPr/>
          <p:nvPr/>
        </p:nvSpPr>
        <p:spPr>
          <a:xfrm>
            <a:off x="3200400" y="1207008"/>
            <a:ext cx="1325880" cy="32918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each = −78</a:t>
            </a:r>
            <a:endParaRPr lang="en-US" sz="1000" dirty="0"/>
          </a:p>
        </p:txBody>
      </p:sp>
      <p:sp>
        <p:nvSpPr>
          <p:cNvPr id="8" name="Shape 6"/>
          <p:cNvSpPr/>
          <p:nvPr/>
        </p:nvSpPr>
        <p:spPr>
          <a:xfrm>
            <a:off x="457200" y="1572768"/>
            <a:ext cx="4114800" cy="329184"/>
          </a:xfrm>
          <a:prstGeom prst="rect">
            <a:avLst/>
          </a:prstGeom>
          <a:solidFill>
            <a:srgbClr val="F8FAFC"/>
          </a:solidFill>
          <a:ln w="6350">
            <a:solidFill>
              <a:srgbClr val="E2E8F0"/>
            </a:solidFill>
            <a:prstDash val="solid"/>
          </a:ln>
        </p:spPr>
        <p:txBody>
          <a:bodyPr/>
          <a:lstStyle/>
          <a:p>
            <a:endParaRPr lang="en-US"/>
          </a:p>
        </p:txBody>
      </p:sp>
      <p:sp>
        <p:nvSpPr>
          <p:cNvPr id="9" name="Text 7"/>
          <p:cNvSpPr/>
          <p:nvPr/>
        </p:nvSpPr>
        <p:spPr>
          <a:xfrm>
            <a:off x="502920" y="1572768"/>
            <a:ext cx="548640" cy="329184"/>
          </a:xfrm>
          <a:prstGeom prst="rect">
            <a:avLst/>
          </a:prstGeom>
          <a:noFill/>
          <a:ln/>
        </p:spPr>
        <p:txBody>
          <a:bodyPr wrap="square" lIns="0" tIns="0" rIns="0" bIns="0" rtlCol="0" anchor="ctr"/>
          <a:lstStyle/>
          <a:p>
            <a:pPr marL="0" indent="0" algn="ctr">
              <a:buNone/>
            </a:pPr>
            <a:r>
              <a:rPr lang="en-US" sz="1300" b="1" dirty="0">
                <a:solidFill>
                  <a:srgbClr val="DC2626"/>
                </a:solidFill>
                <a:latin typeface="Calibri" pitchFamily="34" charset="0"/>
                <a:ea typeface="Calibri" pitchFamily="34" charset="-122"/>
                <a:cs typeface="Calibri" pitchFamily="34" charset="-120"/>
              </a:rPr>
              <a:t>4×</a:t>
            </a:r>
            <a:endParaRPr lang="en-US" sz="1300" dirty="0"/>
          </a:p>
        </p:txBody>
      </p:sp>
      <p:sp>
        <p:nvSpPr>
          <p:cNvPr id="10" name="Text 8"/>
          <p:cNvSpPr/>
          <p:nvPr/>
        </p:nvSpPr>
        <p:spPr>
          <a:xfrm>
            <a:off x="1097280" y="1572768"/>
            <a:ext cx="2103120" cy="32918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1" name="Text 9"/>
          <p:cNvSpPr/>
          <p:nvPr/>
        </p:nvSpPr>
        <p:spPr>
          <a:xfrm>
            <a:off x="3200400" y="1572768"/>
            <a:ext cx="1325880" cy="32918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−20</a:t>
            </a:r>
            <a:endParaRPr lang="en-US" sz="1000" dirty="0"/>
          </a:p>
        </p:txBody>
      </p:sp>
      <p:sp>
        <p:nvSpPr>
          <p:cNvPr id="12" name="Shape 10"/>
          <p:cNvSpPr/>
          <p:nvPr/>
        </p:nvSpPr>
        <p:spPr>
          <a:xfrm>
            <a:off x="457200" y="1938528"/>
            <a:ext cx="4114800" cy="329184"/>
          </a:xfrm>
          <a:prstGeom prst="rect">
            <a:avLst/>
          </a:prstGeom>
          <a:solidFill>
            <a:srgbClr val="F8FAFC"/>
          </a:solidFill>
          <a:ln w="6350">
            <a:solidFill>
              <a:srgbClr val="E2E8F0"/>
            </a:solidFill>
            <a:prstDash val="solid"/>
          </a:ln>
        </p:spPr>
        <p:txBody>
          <a:bodyPr/>
          <a:lstStyle/>
          <a:p>
            <a:endParaRPr lang="en-US"/>
          </a:p>
        </p:txBody>
      </p:sp>
      <p:sp>
        <p:nvSpPr>
          <p:cNvPr id="13" name="Text 11"/>
          <p:cNvSpPr/>
          <p:nvPr/>
        </p:nvSpPr>
        <p:spPr>
          <a:xfrm>
            <a:off x="502920" y="1938528"/>
            <a:ext cx="548640" cy="329184"/>
          </a:xfrm>
          <a:prstGeom prst="rect">
            <a:avLst/>
          </a:prstGeom>
          <a:noFill/>
          <a:ln/>
        </p:spPr>
        <p:txBody>
          <a:bodyPr wrap="square" lIns="0" tIns="0" rIns="0" bIns="0" rtlCol="0" anchor="ctr"/>
          <a:lstStyle/>
          <a:p>
            <a:pPr marL="0" indent="0" algn="ctr">
              <a:buNone/>
            </a:pPr>
            <a:r>
              <a:rPr lang="en-US" sz="1300" b="1" dirty="0">
                <a:solidFill>
                  <a:srgbClr val="DC2626"/>
                </a:solidFill>
                <a:latin typeface="Calibri" pitchFamily="34" charset="0"/>
                <a:ea typeface="Calibri" pitchFamily="34" charset="-122"/>
                <a:cs typeface="Calibri" pitchFamily="34" charset="-120"/>
              </a:rPr>
              <a:t>4×</a:t>
            </a:r>
            <a:endParaRPr lang="en-US" sz="1300" dirty="0"/>
          </a:p>
        </p:txBody>
      </p:sp>
      <p:sp>
        <p:nvSpPr>
          <p:cNvPr id="14" name="Text 12"/>
          <p:cNvSpPr/>
          <p:nvPr/>
        </p:nvSpPr>
        <p:spPr>
          <a:xfrm>
            <a:off x="1097280" y="1938528"/>
            <a:ext cx="2103120" cy="32918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15" name="Text 13"/>
          <p:cNvSpPr/>
          <p:nvPr/>
        </p:nvSpPr>
        <p:spPr>
          <a:xfrm>
            <a:off x="3200400" y="1938528"/>
            <a:ext cx="1325880" cy="32918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each = −12</a:t>
            </a:r>
            <a:endParaRPr lang="en-US" sz="1000" dirty="0"/>
          </a:p>
        </p:txBody>
      </p:sp>
      <p:sp>
        <p:nvSpPr>
          <p:cNvPr id="16" name="Shape 14"/>
          <p:cNvSpPr/>
          <p:nvPr/>
        </p:nvSpPr>
        <p:spPr>
          <a:xfrm>
            <a:off x="457200" y="2304288"/>
            <a:ext cx="4114800" cy="329184"/>
          </a:xfrm>
          <a:prstGeom prst="rect">
            <a:avLst/>
          </a:prstGeom>
          <a:solidFill>
            <a:srgbClr val="F8FAFC"/>
          </a:solidFill>
          <a:ln w="6350">
            <a:solidFill>
              <a:srgbClr val="E2E8F0"/>
            </a:solidFill>
            <a:prstDash val="solid"/>
          </a:ln>
        </p:spPr>
        <p:txBody>
          <a:bodyPr/>
          <a:lstStyle/>
          <a:p>
            <a:endParaRPr lang="en-US"/>
          </a:p>
        </p:txBody>
      </p:sp>
      <p:sp>
        <p:nvSpPr>
          <p:cNvPr id="17" name="Text 15"/>
          <p:cNvSpPr/>
          <p:nvPr/>
        </p:nvSpPr>
        <p:spPr>
          <a:xfrm>
            <a:off x="502920" y="2304288"/>
            <a:ext cx="548640" cy="329184"/>
          </a:xfrm>
          <a:prstGeom prst="rect">
            <a:avLst/>
          </a:prstGeom>
          <a:noFill/>
          <a:ln/>
        </p:spPr>
        <p:txBody>
          <a:bodyPr wrap="square" lIns="0" tIns="0" rIns="0" bIns="0" rtlCol="0" anchor="ctr"/>
          <a:lstStyle/>
          <a:p>
            <a:pPr marL="0" indent="0" algn="ctr">
              <a:buNone/>
            </a:pPr>
            <a:r>
              <a:rPr lang="en-US" sz="1300" b="1" dirty="0">
                <a:solidFill>
                  <a:srgbClr val="DC2626"/>
                </a:solidFill>
                <a:latin typeface="Calibri" pitchFamily="34" charset="0"/>
                <a:ea typeface="Calibri" pitchFamily="34" charset="-122"/>
                <a:cs typeface="Calibri" pitchFamily="34" charset="-120"/>
              </a:rPr>
              <a:t>1×</a:t>
            </a:r>
            <a:endParaRPr lang="en-US" sz="1300" dirty="0"/>
          </a:p>
        </p:txBody>
      </p:sp>
      <p:sp>
        <p:nvSpPr>
          <p:cNvPr id="18" name="Text 16"/>
          <p:cNvSpPr/>
          <p:nvPr/>
        </p:nvSpPr>
        <p:spPr>
          <a:xfrm>
            <a:off x="1097280" y="2304288"/>
            <a:ext cx="2103120" cy="32918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19" name="Text 17"/>
          <p:cNvSpPr/>
          <p:nvPr/>
        </p:nvSpPr>
        <p:spPr>
          <a:xfrm>
            <a:off x="3200400" y="2304288"/>
            <a:ext cx="1325880" cy="32918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−5</a:t>
            </a:r>
            <a:endParaRPr lang="en-US" sz="1000" dirty="0"/>
          </a:p>
        </p:txBody>
      </p:sp>
      <p:sp>
        <p:nvSpPr>
          <p:cNvPr id="20" name="Shape 18"/>
          <p:cNvSpPr/>
          <p:nvPr/>
        </p:nvSpPr>
        <p:spPr>
          <a:xfrm>
            <a:off x="457200" y="2697480"/>
            <a:ext cx="4114800" cy="411480"/>
          </a:xfrm>
          <a:prstGeom prst="rect">
            <a:avLst/>
          </a:prstGeom>
          <a:solidFill>
            <a:srgbClr val="0F2A44"/>
          </a:solidFill>
          <a:ln w="12700">
            <a:solidFill>
              <a:srgbClr val="0F2A44"/>
            </a:solidFill>
            <a:prstDash val="solid"/>
          </a:ln>
        </p:spPr>
        <p:txBody>
          <a:bodyPr/>
          <a:lstStyle/>
          <a:p>
            <a:endParaRPr lang="en-US"/>
          </a:p>
        </p:txBody>
      </p:sp>
      <p:sp>
        <p:nvSpPr>
          <p:cNvPr id="21" name="Text 19"/>
          <p:cNvSpPr/>
          <p:nvPr/>
        </p:nvSpPr>
        <p:spPr>
          <a:xfrm>
            <a:off x="457200" y="2697480"/>
            <a:ext cx="4114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Total penalty: 115   →   AP clamped at 0</a:t>
            </a:r>
            <a:endParaRPr lang="en-US" sz="1200" dirty="0"/>
          </a:p>
        </p:txBody>
      </p:sp>
      <p:sp>
        <p:nvSpPr>
          <p:cNvPr id="22" name="Text 20"/>
          <p:cNvSpPr/>
          <p:nvPr/>
        </p:nvSpPr>
        <p:spPr>
          <a:xfrm>
            <a:off x="4846320" y="868680"/>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3" name="Text 21"/>
          <p:cNvSpPr/>
          <p:nvPr/>
        </p:nvSpPr>
        <p:spPr>
          <a:xfrm>
            <a:off x="4846320" y="118872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4" name="Shape 22"/>
          <p:cNvSpPr/>
          <p:nvPr/>
        </p:nvSpPr>
        <p:spPr>
          <a:xfrm>
            <a:off x="6126480" y="1234440"/>
            <a:ext cx="2377440" cy="256032"/>
          </a:xfrm>
          <a:prstGeom prst="rect">
            <a:avLst/>
          </a:prstGeom>
          <a:solidFill>
            <a:srgbClr val="E2E8F0"/>
          </a:solidFill>
          <a:ln w="12700">
            <a:solidFill>
              <a:srgbClr val="E2E8F0"/>
            </a:solidFill>
            <a:prstDash val="solid"/>
          </a:ln>
        </p:spPr>
        <p:txBody>
          <a:bodyPr/>
          <a:lstStyle/>
          <a:p>
            <a:endParaRPr lang="en-US"/>
          </a:p>
        </p:txBody>
      </p:sp>
      <p:sp>
        <p:nvSpPr>
          <p:cNvPr id="25" name="Text 23"/>
          <p:cNvSpPr/>
          <p:nvPr/>
        </p:nvSpPr>
        <p:spPr>
          <a:xfrm>
            <a:off x="8595360" y="119786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0 / 40</a:t>
            </a:r>
            <a:endParaRPr lang="en-US" sz="1000" dirty="0"/>
          </a:p>
        </p:txBody>
      </p:sp>
      <p:sp>
        <p:nvSpPr>
          <p:cNvPr id="26" name="Text 24"/>
          <p:cNvSpPr/>
          <p:nvPr/>
        </p:nvSpPr>
        <p:spPr>
          <a:xfrm>
            <a:off x="4846320" y="169164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27" name="Shape 25"/>
          <p:cNvSpPr/>
          <p:nvPr/>
        </p:nvSpPr>
        <p:spPr>
          <a:xfrm>
            <a:off x="6126480" y="1737360"/>
            <a:ext cx="2377440" cy="256032"/>
          </a:xfrm>
          <a:prstGeom prst="rect">
            <a:avLst/>
          </a:prstGeom>
          <a:solidFill>
            <a:srgbClr val="E2E8F0"/>
          </a:solidFill>
          <a:ln w="12700">
            <a:solidFill>
              <a:srgbClr val="E2E8F0"/>
            </a:solidFill>
            <a:prstDash val="solid"/>
          </a:ln>
        </p:spPr>
        <p:txBody>
          <a:bodyPr/>
          <a:lstStyle/>
          <a:p>
            <a:endParaRPr lang="en-US"/>
          </a:p>
        </p:txBody>
      </p:sp>
      <p:sp>
        <p:nvSpPr>
          <p:cNvPr id="28" name="Shape 26"/>
          <p:cNvSpPr/>
          <p:nvPr/>
        </p:nvSpPr>
        <p:spPr>
          <a:xfrm>
            <a:off x="6126480" y="1737360"/>
            <a:ext cx="2377440" cy="256032"/>
          </a:xfrm>
          <a:prstGeom prst="rect">
            <a:avLst/>
          </a:prstGeom>
          <a:solidFill>
            <a:srgbClr val="D97706"/>
          </a:solidFill>
          <a:ln w="12700">
            <a:solidFill>
              <a:srgbClr val="D97706"/>
            </a:solidFill>
            <a:prstDash val="solid"/>
          </a:ln>
        </p:spPr>
        <p:txBody>
          <a:bodyPr/>
          <a:lstStyle/>
          <a:p>
            <a:endParaRPr lang="en-US"/>
          </a:p>
        </p:txBody>
      </p:sp>
      <p:sp>
        <p:nvSpPr>
          <p:cNvPr id="29" name="Text 27"/>
          <p:cNvSpPr/>
          <p:nvPr/>
        </p:nvSpPr>
        <p:spPr>
          <a:xfrm>
            <a:off x="8595360" y="170078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20 / 20</a:t>
            </a:r>
            <a:endParaRPr lang="en-US" sz="1000" dirty="0"/>
          </a:p>
        </p:txBody>
      </p:sp>
      <p:sp>
        <p:nvSpPr>
          <p:cNvPr id="30" name="Text 28"/>
          <p:cNvSpPr/>
          <p:nvPr/>
        </p:nvSpPr>
        <p:spPr>
          <a:xfrm>
            <a:off x="4846320" y="219456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1" name="Shape 29"/>
          <p:cNvSpPr/>
          <p:nvPr/>
        </p:nvSpPr>
        <p:spPr>
          <a:xfrm>
            <a:off x="6126480" y="2240280"/>
            <a:ext cx="2377440" cy="256032"/>
          </a:xfrm>
          <a:prstGeom prst="rect">
            <a:avLst/>
          </a:prstGeom>
          <a:solidFill>
            <a:srgbClr val="E2E8F0"/>
          </a:solidFill>
          <a:ln w="12700">
            <a:solidFill>
              <a:srgbClr val="E2E8F0"/>
            </a:solidFill>
            <a:prstDash val="solid"/>
          </a:ln>
        </p:spPr>
        <p:txBody>
          <a:bodyPr/>
          <a:lstStyle/>
          <a:p>
            <a:endParaRPr lang="en-US"/>
          </a:p>
        </p:txBody>
      </p:sp>
      <p:sp>
        <p:nvSpPr>
          <p:cNvPr id="32" name="Shape 30"/>
          <p:cNvSpPr/>
          <p:nvPr/>
        </p:nvSpPr>
        <p:spPr>
          <a:xfrm>
            <a:off x="6126480" y="2240280"/>
            <a:ext cx="2377440" cy="256032"/>
          </a:xfrm>
          <a:prstGeom prst="rect">
            <a:avLst/>
          </a:prstGeom>
          <a:solidFill>
            <a:srgbClr val="1C4E80"/>
          </a:solidFill>
          <a:ln w="12700">
            <a:solidFill>
              <a:srgbClr val="1C4E80"/>
            </a:solidFill>
            <a:prstDash val="solid"/>
          </a:ln>
        </p:spPr>
        <p:txBody>
          <a:bodyPr/>
          <a:lstStyle/>
          <a:p>
            <a:endParaRPr lang="en-US"/>
          </a:p>
        </p:txBody>
      </p:sp>
      <p:sp>
        <p:nvSpPr>
          <p:cNvPr id="33" name="Text 31"/>
          <p:cNvSpPr/>
          <p:nvPr/>
        </p:nvSpPr>
        <p:spPr>
          <a:xfrm>
            <a:off x="8595360" y="220370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25 / 25</a:t>
            </a:r>
            <a:endParaRPr lang="en-US" sz="1000" dirty="0"/>
          </a:p>
        </p:txBody>
      </p:sp>
      <p:sp>
        <p:nvSpPr>
          <p:cNvPr id="34" name="Text 32"/>
          <p:cNvSpPr/>
          <p:nvPr/>
        </p:nvSpPr>
        <p:spPr>
          <a:xfrm>
            <a:off x="4846320" y="269748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35" name="Shape 33"/>
          <p:cNvSpPr/>
          <p:nvPr/>
        </p:nvSpPr>
        <p:spPr>
          <a:xfrm>
            <a:off x="6126480" y="2743200"/>
            <a:ext cx="2377440" cy="256032"/>
          </a:xfrm>
          <a:prstGeom prst="rect">
            <a:avLst/>
          </a:prstGeom>
          <a:solidFill>
            <a:srgbClr val="E2E8F0"/>
          </a:solidFill>
          <a:ln w="12700">
            <a:solidFill>
              <a:srgbClr val="E2E8F0"/>
            </a:solidFill>
            <a:prstDash val="solid"/>
          </a:ln>
        </p:spPr>
        <p:txBody>
          <a:bodyPr/>
          <a:lstStyle/>
          <a:p>
            <a:endParaRPr lang="en-US"/>
          </a:p>
        </p:txBody>
      </p:sp>
      <p:sp>
        <p:nvSpPr>
          <p:cNvPr id="36" name="Shape 34"/>
          <p:cNvSpPr/>
          <p:nvPr/>
        </p:nvSpPr>
        <p:spPr>
          <a:xfrm>
            <a:off x="6126480" y="2743200"/>
            <a:ext cx="1109472" cy="256032"/>
          </a:xfrm>
          <a:prstGeom prst="rect">
            <a:avLst/>
          </a:prstGeom>
          <a:solidFill>
            <a:srgbClr val="0D9488"/>
          </a:solidFill>
          <a:ln w="12700">
            <a:solidFill>
              <a:srgbClr val="0D9488"/>
            </a:solidFill>
            <a:prstDash val="solid"/>
          </a:ln>
        </p:spPr>
        <p:txBody>
          <a:bodyPr/>
          <a:lstStyle/>
          <a:p>
            <a:endParaRPr lang="en-US"/>
          </a:p>
        </p:txBody>
      </p:sp>
      <p:sp>
        <p:nvSpPr>
          <p:cNvPr id="37" name="Text 35"/>
          <p:cNvSpPr/>
          <p:nvPr/>
        </p:nvSpPr>
        <p:spPr>
          <a:xfrm>
            <a:off x="8595360" y="270662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7 / 15</a:t>
            </a:r>
            <a:endParaRPr lang="en-US" sz="1000" dirty="0"/>
          </a:p>
        </p:txBody>
      </p:sp>
      <p:sp>
        <p:nvSpPr>
          <p:cNvPr id="38" name="Shape 36"/>
          <p:cNvSpPr/>
          <p:nvPr/>
        </p:nvSpPr>
        <p:spPr>
          <a:xfrm>
            <a:off x="5852160" y="3429000"/>
            <a:ext cx="1280160" cy="1280160"/>
          </a:xfrm>
          <a:prstGeom prst="ellipse">
            <a:avLst/>
          </a:prstGeom>
          <a:solidFill>
            <a:srgbClr val="D97706"/>
          </a:solidFill>
          <a:ln w="12700">
            <a:solidFill>
              <a:srgbClr val="D97706"/>
            </a:solidFill>
            <a:prstDash val="solid"/>
          </a:ln>
        </p:spPr>
        <p:txBody>
          <a:bodyPr/>
          <a:lstStyle/>
          <a:p>
            <a:endParaRPr lang="en-US"/>
          </a:p>
        </p:txBody>
      </p:sp>
      <p:sp>
        <p:nvSpPr>
          <p:cNvPr id="39" name="Text 37"/>
          <p:cNvSpPr/>
          <p:nvPr/>
        </p:nvSpPr>
        <p:spPr>
          <a:xfrm>
            <a:off x="5852160" y="3474720"/>
            <a:ext cx="1280160" cy="82296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52</a:t>
            </a:r>
            <a:endParaRPr lang="en-US" sz="3600" dirty="0"/>
          </a:p>
        </p:txBody>
      </p:sp>
      <p:sp>
        <p:nvSpPr>
          <p:cNvPr id="40" name="Text 38"/>
          <p:cNvSpPr/>
          <p:nvPr/>
        </p:nvSpPr>
        <p:spPr>
          <a:xfrm>
            <a:off x="5852160" y="4160520"/>
            <a:ext cx="12801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Grade D</a:t>
            </a:r>
            <a:endParaRPr lang="en-US" sz="1100" dirty="0"/>
          </a:p>
        </p:txBody>
      </p:sp>
      <p:sp>
        <p:nvSpPr>
          <p:cNvPr id="41" name="Text 39"/>
          <p:cNvSpPr/>
          <p:nvPr/>
        </p:nvSpPr>
        <p:spPr>
          <a:xfrm>
            <a:off x="457200" y="3246120"/>
            <a:ext cx="4114800" cy="365760"/>
          </a:xfrm>
          <a:prstGeom prst="rect">
            <a:avLst/>
          </a:prstGeom>
          <a:noFill/>
          <a:ln/>
        </p:spPr>
        <p:txBody>
          <a:bodyPr wrap="square" lIns="0" tIns="0" rIns="0" bIns="0" rtlCol="0" anchor="ctr"/>
          <a:lstStyle/>
          <a:p>
            <a:pPr marL="0" indent="0" algn="ctr">
              <a:buNone/>
            </a:pPr>
            <a:r>
              <a:rPr lang="en-US" sz="1400" b="1" dirty="0">
                <a:solidFill>
                  <a:srgbClr val="0F2A44"/>
                </a:solidFill>
                <a:latin typeface="Calibri" pitchFamily="34" charset="0"/>
                <a:ea typeface="Calibri" pitchFamily="34" charset="-122"/>
                <a:cs typeface="Calibri" pitchFamily="34" charset="-120"/>
              </a:rPr>
              <a:t>H = 0 + 20 + 25 + 7 = 52</a:t>
            </a:r>
            <a:endParaRPr lang="en-US" sz="1400" dirty="0"/>
          </a:p>
        </p:txBody>
      </p:sp>
      <p:sp>
        <p:nvSpPr>
          <p:cNvPr id="42" name="Text 40"/>
          <p:cNvSpPr/>
          <p:nvPr/>
        </p:nvSpPr>
        <p:spPr>
          <a:xfrm>
            <a:off x="457200" y="3611880"/>
            <a:ext cx="4114800" cy="91440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Score driven by AP deductions (26 Hardcoded Endpoints + 4 Chatty Services). Service Sizing loses 8 pts from nano services. Architecture and Code Quality are clean.</a:t>
            </a:r>
            <a:endParaRPr lang="en-US" sz="1000" dirty="0"/>
          </a:p>
        </p:txBody>
      </p:sp>
      <p:sp>
        <p:nvSpPr>
          <p:cNvPr id="43" name="Text 4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000" b="1" dirty="0">
                <a:solidFill>
                  <a:srgbClr val="0F2A44"/>
                </a:solidFill>
                <a:latin typeface="Calibri" pitchFamily="34" charset="0"/>
                <a:ea typeface="Calibri" pitchFamily="34" charset="-122"/>
                <a:cs typeface="Calibri" pitchFamily="34" charset="-120"/>
              </a:rPr>
              <a:t>Evaluation: eight open-source projects</a:t>
            </a:r>
            <a:endParaRPr lang="en-US" sz="2000" dirty="0"/>
          </a:p>
        </p:txBody>
      </p:sp>
      <p:graphicFrame>
        <p:nvGraphicFramePr>
          <p:cNvPr id="3" name="Chart 0"/>
          <p:cNvGraphicFramePr/>
          <p:nvPr>
            <p:extLst>
              <p:ext uri="{D42A27DB-BD31-4B8C-83A1-F6EECF244321}">
                <p14:modId xmlns:p14="http://schemas.microsoft.com/office/powerpoint/2010/main" val="1115883146"/>
              </p:ext>
            </p:extLst>
          </p:nvPr>
        </p:nvGraphicFramePr>
        <p:xfrm>
          <a:off x="155448" y="811203"/>
          <a:ext cx="539496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5852160" y="406908"/>
            <a:ext cx="2743200" cy="274320"/>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Dataset scale</a:t>
            </a:r>
            <a:endParaRPr lang="en-US" sz="1300" dirty="0"/>
          </a:p>
        </p:txBody>
      </p:sp>
      <p:sp>
        <p:nvSpPr>
          <p:cNvPr id="5" name="Shape 2"/>
          <p:cNvSpPr/>
          <p:nvPr/>
        </p:nvSpPr>
        <p:spPr>
          <a:xfrm>
            <a:off x="5852160" y="772668"/>
            <a:ext cx="2743200" cy="274320"/>
          </a:xfrm>
          <a:prstGeom prst="rect">
            <a:avLst/>
          </a:prstGeom>
          <a:solidFill>
            <a:srgbClr val="F8FAFC"/>
          </a:solidFill>
          <a:ln w="6350">
            <a:solidFill>
              <a:srgbClr val="E2E8F0"/>
            </a:solidFill>
            <a:prstDash val="solid"/>
          </a:ln>
        </p:spPr>
        <p:txBody>
          <a:bodyPr/>
          <a:lstStyle/>
          <a:p>
            <a:endParaRPr lang="en-US"/>
          </a:p>
        </p:txBody>
      </p:sp>
      <p:sp>
        <p:nvSpPr>
          <p:cNvPr id="6" name="Text 3"/>
          <p:cNvSpPr/>
          <p:nvPr/>
        </p:nvSpPr>
        <p:spPr>
          <a:xfrm>
            <a:off x="5943600" y="772668"/>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MicroSocial</a:t>
            </a:r>
            <a:endParaRPr lang="en-US" sz="950" dirty="0"/>
          </a:p>
        </p:txBody>
      </p:sp>
      <p:sp>
        <p:nvSpPr>
          <p:cNvPr id="7" name="Text 4"/>
          <p:cNvSpPr/>
          <p:nvPr/>
        </p:nvSpPr>
        <p:spPr>
          <a:xfrm>
            <a:off x="7223760" y="772668"/>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4</a:t>
            </a:r>
            <a:endParaRPr lang="en-US" sz="950" dirty="0"/>
          </a:p>
        </p:txBody>
      </p:sp>
      <p:sp>
        <p:nvSpPr>
          <p:cNvPr id="8" name="Text 5"/>
          <p:cNvSpPr/>
          <p:nvPr/>
        </p:nvSpPr>
        <p:spPr>
          <a:xfrm>
            <a:off x="7680960" y="772668"/>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2k</a:t>
            </a:r>
            <a:endParaRPr lang="en-US" sz="950" dirty="0"/>
          </a:p>
        </p:txBody>
      </p:sp>
      <p:sp>
        <p:nvSpPr>
          <p:cNvPr id="9" name="Shape 6"/>
          <p:cNvSpPr/>
          <p:nvPr/>
        </p:nvSpPr>
        <p:spPr>
          <a:xfrm>
            <a:off x="5852160" y="1083564"/>
            <a:ext cx="2743200" cy="274320"/>
          </a:xfrm>
          <a:prstGeom prst="rect">
            <a:avLst/>
          </a:prstGeom>
          <a:solidFill>
            <a:srgbClr val="F8FAFC"/>
          </a:solidFill>
          <a:ln w="6350">
            <a:solidFill>
              <a:srgbClr val="E2E8F0"/>
            </a:solidFill>
            <a:prstDash val="solid"/>
          </a:ln>
        </p:spPr>
        <p:txBody>
          <a:bodyPr/>
          <a:lstStyle/>
          <a:p>
            <a:endParaRPr lang="en-US"/>
          </a:p>
        </p:txBody>
      </p:sp>
      <p:sp>
        <p:nvSpPr>
          <p:cNvPr id="10" name="Text 7"/>
          <p:cNvSpPr/>
          <p:nvPr/>
        </p:nvSpPr>
        <p:spPr>
          <a:xfrm>
            <a:off x="5943600" y="1083564"/>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design-pat.</a:t>
            </a:r>
            <a:endParaRPr lang="en-US" sz="950" dirty="0"/>
          </a:p>
        </p:txBody>
      </p:sp>
      <p:sp>
        <p:nvSpPr>
          <p:cNvPr id="11" name="Text 8"/>
          <p:cNvSpPr/>
          <p:nvPr/>
        </p:nvSpPr>
        <p:spPr>
          <a:xfrm>
            <a:off x="7223760" y="1083564"/>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16</a:t>
            </a:r>
            <a:endParaRPr lang="en-US" sz="950" dirty="0"/>
          </a:p>
        </p:txBody>
      </p:sp>
      <p:sp>
        <p:nvSpPr>
          <p:cNvPr id="12" name="Text 9"/>
          <p:cNvSpPr/>
          <p:nvPr/>
        </p:nvSpPr>
        <p:spPr>
          <a:xfrm>
            <a:off x="7680960" y="1083564"/>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19k</a:t>
            </a:r>
            <a:endParaRPr lang="en-US" sz="950" dirty="0"/>
          </a:p>
        </p:txBody>
      </p:sp>
      <p:sp>
        <p:nvSpPr>
          <p:cNvPr id="13" name="Shape 10"/>
          <p:cNvSpPr/>
          <p:nvPr/>
        </p:nvSpPr>
        <p:spPr>
          <a:xfrm>
            <a:off x="5852160" y="1394460"/>
            <a:ext cx="2743200" cy="274320"/>
          </a:xfrm>
          <a:prstGeom prst="rect">
            <a:avLst/>
          </a:prstGeom>
          <a:solidFill>
            <a:srgbClr val="F8FAFC"/>
          </a:solidFill>
          <a:ln w="6350">
            <a:solidFill>
              <a:srgbClr val="E2E8F0"/>
            </a:solidFill>
            <a:prstDash val="solid"/>
          </a:ln>
        </p:spPr>
        <p:txBody>
          <a:bodyPr/>
          <a:lstStyle/>
          <a:p>
            <a:endParaRPr lang="en-US"/>
          </a:p>
        </p:txBody>
      </p:sp>
      <p:sp>
        <p:nvSpPr>
          <p:cNvPr id="14" name="Text 11"/>
          <p:cNvSpPr/>
          <p:nvPr/>
        </p:nvSpPr>
        <p:spPr>
          <a:xfrm>
            <a:off x="5943600" y="1394460"/>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Site-Where</a:t>
            </a:r>
            <a:endParaRPr lang="en-US" sz="950" dirty="0"/>
          </a:p>
        </p:txBody>
      </p:sp>
      <p:sp>
        <p:nvSpPr>
          <p:cNvPr id="15" name="Text 12"/>
          <p:cNvSpPr/>
          <p:nvPr/>
        </p:nvSpPr>
        <p:spPr>
          <a:xfrm>
            <a:off x="7223760" y="1394460"/>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15</a:t>
            </a:r>
            <a:endParaRPr lang="en-US" sz="950" dirty="0"/>
          </a:p>
        </p:txBody>
      </p:sp>
      <p:sp>
        <p:nvSpPr>
          <p:cNvPr id="16" name="Text 13"/>
          <p:cNvSpPr/>
          <p:nvPr/>
        </p:nvSpPr>
        <p:spPr>
          <a:xfrm>
            <a:off x="7680960" y="1394460"/>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74k</a:t>
            </a:r>
            <a:endParaRPr lang="en-US" sz="950" dirty="0"/>
          </a:p>
        </p:txBody>
      </p:sp>
      <p:sp>
        <p:nvSpPr>
          <p:cNvPr id="17" name="Shape 14"/>
          <p:cNvSpPr/>
          <p:nvPr/>
        </p:nvSpPr>
        <p:spPr>
          <a:xfrm>
            <a:off x="5852160" y="1705356"/>
            <a:ext cx="2743200" cy="274320"/>
          </a:xfrm>
          <a:prstGeom prst="rect">
            <a:avLst/>
          </a:prstGeom>
          <a:solidFill>
            <a:srgbClr val="F8FAFC"/>
          </a:solidFill>
          <a:ln w="6350">
            <a:solidFill>
              <a:srgbClr val="E2E8F0"/>
            </a:solidFill>
            <a:prstDash val="solid"/>
          </a:ln>
        </p:spPr>
        <p:txBody>
          <a:bodyPr/>
          <a:lstStyle/>
          <a:p>
            <a:endParaRPr lang="en-US"/>
          </a:p>
        </p:txBody>
      </p:sp>
      <p:sp>
        <p:nvSpPr>
          <p:cNvPr id="18" name="Text 15"/>
          <p:cNvSpPr/>
          <p:nvPr/>
        </p:nvSpPr>
        <p:spPr>
          <a:xfrm>
            <a:off x="5943600" y="1705356"/>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Genie</a:t>
            </a:r>
            <a:endParaRPr lang="en-US" sz="950" dirty="0"/>
          </a:p>
        </p:txBody>
      </p:sp>
      <p:sp>
        <p:nvSpPr>
          <p:cNvPr id="19" name="Text 16"/>
          <p:cNvSpPr/>
          <p:nvPr/>
        </p:nvSpPr>
        <p:spPr>
          <a:xfrm>
            <a:off x="7223760" y="1705356"/>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11</a:t>
            </a:r>
            <a:endParaRPr lang="en-US" sz="950" dirty="0"/>
          </a:p>
        </p:txBody>
      </p:sp>
      <p:sp>
        <p:nvSpPr>
          <p:cNvPr id="20" name="Text 17"/>
          <p:cNvSpPr/>
          <p:nvPr/>
        </p:nvSpPr>
        <p:spPr>
          <a:xfrm>
            <a:off x="7680960" y="1705356"/>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118k</a:t>
            </a:r>
            <a:endParaRPr lang="en-US" sz="950" dirty="0"/>
          </a:p>
        </p:txBody>
      </p:sp>
      <p:sp>
        <p:nvSpPr>
          <p:cNvPr id="21" name="Shape 18"/>
          <p:cNvSpPr/>
          <p:nvPr/>
        </p:nvSpPr>
        <p:spPr>
          <a:xfrm>
            <a:off x="5852160" y="2016252"/>
            <a:ext cx="2743200" cy="274320"/>
          </a:xfrm>
          <a:prstGeom prst="rect">
            <a:avLst/>
          </a:prstGeom>
          <a:solidFill>
            <a:srgbClr val="F8FAFC"/>
          </a:solidFill>
          <a:ln w="6350">
            <a:solidFill>
              <a:srgbClr val="E2E8F0"/>
            </a:solidFill>
            <a:prstDash val="solid"/>
          </a:ln>
        </p:spPr>
        <p:txBody>
          <a:bodyPr/>
          <a:lstStyle/>
          <a:p>
            <a:endParaRPr lang="en-US"/>
          </a:p>
        </p:txBody>
      </p:sp>
      <p:sp>
        <p:nvSpPr>
          <p:cNvPr id="22" name="Text 19"/>
          <p:cNvSpPr/>
          <p:nvPr/>
        </p:nvSpPr>
        <p:spPr>
          <a:xfrm>
            <a:off x="5943600" y="2016252"/>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Train-Ticket</a:t>
            </a:r>
            <a:endParaRPr lang="en-US" sz="950" dirty="0"/>
          </a:p>
        </p:txBody>
      </p:sp>
      <p:sp>
        <p:nvSpPr>
          <p:cNvPr id="23" name="Text 20"/>
          <p:cNvSpPr/>
          <p:nvPr/>
        </p:nvSpPr>
        <p:spPr>
          <a:xfrm>
            <a:off x="7223760" y="2016252"/>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41</a:t>
            </a:r>
            <a:endParaRPr lang="en-US" sz="950" dirty="0"/>
          </a:p>
        </p:txBody>
      </p:sp>
      <p:sp>
        <p:nvSpPr>
          <p:cNvPr id="24" name="Text 21"/>
          <p:cNvSpPr/>
          <p:nvPr/>
        </p:nvSpPr>
        <p:spPr>
          <a:xfrm>
            <a:off x="7680960" y="2016252"/>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38k</a:t>
            </a:r>
            <a:endParaRPr lang="en-US" sz="950" dirty="0"/>
          </a:p>
        </p:txBody>
      </p:sp>
      <p:sp>
        <p:nvSpPr>
          <p:cNvPr id="25" name="Shape 22"/>
          <p:cNvSpPr/>
          <p:nvPr/>
        </p:nvSpPr>
        <p:spPr>
          <a:xfrm>
            <a:off x="5852160" y="2327148"/>
            <a:ext cx="2743200" cy="274320"/>
          </a:xfrm>
          <a:prstGeom prst="rect">
            <a:avLst/>
          </a:prstGeom>
          <a:solidFill>
            <a:srgbClr val="F8FAFC"/>
          </a:solidFill>
          <a:ln w="6350">
            <a:solidFill>
              <a:srgbClr val="E2E8F0"/>
            </a:solidFill>
            <a:prstDash val="solid"/>
          </a:ln>
        </p:spPr>
        <p:txBody>
          <a:bodyPr/>
          <a:lstStyle/>
          <a:p>
            <a:endParaRPr lang="en-US"/>
          </a:p>
        </p:txBody>
      </p:sp>
      <p:sp>
        <p:nvSpPr>
          <p:cNvPr id="26" name="Text 23"/>
          <p:cNvSpPr/>
          <p:nvPr/>
        </p:nvSpPr>
        <p:spPr>
          <a:xfrm>
            <a:off x="5943600" y="2327148"/>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Apollo-Config</a:t>
            </a:r>
            <a:endParaRPr lang="en-US" sz="950" dirty="0"/>
          </a:p>
        </p:txBody>
      </p:sp>
      <p:sp>
        <p:nvSpPr>
          <p:cNvPr id="27" name="Text 24"/>
          <p:cNvSpPr/>
          <p:nvPr/>
        </p:nvSpPr>
        <p:spPr>
          <a:xfrm>
            <a:off x="7223760" y="2327148"/>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11</a:t>
            </a:r>
            <a:endParaRPr lang="en-US" sz="950" dirty="0"/>
          </a:p>
        </p:txBody>
      </p:sp>
      <p:sp>
        <p:nvSpPr>
          <p:cNvPr id="28" name="Text 25"/>
          <p:cNvSpPr/>
          <p:nvPr/>
        </p:nvSpPr>
        <p:spPr>
          <a:xfrm>
            <a:off x="7680960" y="2327148"/>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86k</a:t>
            </a:r>
            <a:endParaRPr lang="en-US" sz="950" dirty="0"/>
          </a:p>
        </p:txBody>
      </p:sp>
      <p:sp>
        <p:nvSpPr>
          <p:cNvPr id="29" name="Shape 26"/>
          <p:cNvSpPr/>
          <p:nvPr/>
        </p:nvSpPr>
        <p:spPr>
          <a:xfrm>
            <a:off x="5852160" y="2638044"/>
            <a:ext cx="2743200" cy="274320"/>
          </a:xfrm>
          <a:prstGeom prst="rect">
            <a:avLst/>
          </a:prstGeom>
          <a:solidFill>
            <a:srgbClr val="F8FAFC"/>
          </a:solidFill>
          <a:ln w="6350">
            <a:solidFill>
              <a:srgbClr val="E2E8F0"/>
            </a:solidFill>
            <a:prstDash val="solid"/>
          </a:ln>
        </p:spPr>
        <p:txBody>
          <a:bodyPr/>
          <a:lstStyle/>
          <a:p>
            <a:endParaRPr lang="en-US"/>
          </a:p>
        </p:txBody>
      </p:sp>
      <p:sp>
        <p:nvSpPr>
          <p:cNvPr id="30" name="Text 27"/>
          <p:cNvSpPr/>
          <p:nvPr/>
        </p:nvSpPr>
        <p:spPr>
          <a:xfrm>
            <a:off x="5943600" y="2638044"/>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NetworkDisk</a:t>
            </a:r>
            <a:endParaRPr lang="en-US" sz="950" dirty="0"/>
          </a:p>
        </p:txBody>
      </p:sp>
      <p:sp>
        <p:nvSpPr>
          <p:cNvPr id="31" name="Text 28"/>
          <p:cNvSpPr/>
          <p:nvPr/>
        </p:nvSpPr>
        <p:spPr>
          <a:xfrm>
            <a:off x="7223760" y="2638044"/>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10</a:t>
            </a:r>
            <a:endParaRPr lang="en-US" sz="950" dirty="0"/>
          </a:p>
        </p:txBody>
      </p:sp>
      <p:sp>
        <p:nvSpPr>
          <p:cNvPr id="32" name="Text 29"/>
          <p:cNvSpPr/>
          <p:nvPr/>
        </p:nvSpPr>
        <p:spPr>
          <a:xfrm>
            <a:off x="7680960" y="2638044"/>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7k</a:t>
            </a:r>
            <a:endParaRPr lang="en-US" sz="950" dirty="0"/>
          </a:p>
        </p:txBody>
      </p:sp>
      <p:sp>
        <p:nvSpPr>
          <p:cNvPr id="33" name="Shape 30"/>
          <p:cNvSpPr/>
          <p:nvPr/>
        </p:nvSpPr>
        <p:spPr>
          <a:xfrm>
            <a:off x="5852160" y="2948940"/>
            <a:ext cx="2743200" cy="274320"/>
          </a:xfrm>
          <a:prstGeom prst="rect">
            <a:avLst/>
          </a:prstGeom>
          <a:solidFill>
            <a:srgbClr val="F8FAFC"/>
          </a:solidFill>
          <a:ln w="6350">
            <a:solidFill>
              <a:srgbClr val="E2E8F0"/>
            </a:solidFill>
            <a:prstDash val="solid"/>
          </a:ln>
        </p:spPr>
        <p:txBody>
          <a:bodyPr/>
          <a:lstStyle/>
          <a:p>
            <a:endParaRPr lang="en-US"/>
          </a:p>
        </p:txBody>
      </p:sp>
      <p:sp>
        <p:nvSpPr>
          <p:cNvPr id="34" name="Text 31"/>
          <p:cNvSpPr/>
          <p:nvPr/>
        </p:nvSpPr>
        <p:spPr>
          <a:xfrm>
            <a:off x="5943600" y="2948940"/>
            <a:ext cx="1280160" cy="274320"/>
          </a:xfrm>
          <a:prstGeom prst="rect">
            <a:avLst/>
          </a:prstGeom>
          <a:noFill/>
          <a:ln/>
        </p:spPr>
        <p:txBody>
          <a:bodyPr wrap="square" lIns="0" tIns="0" rIns="0" bIns="0" rtlCol="0" anchor="ctr"/>
          <a:lstStyle/>
          <a:p>
            <a:pPr marL="0" indent="0">
              <a:buNone/>
            </a:pPr>
            <a:r>
              <a:rPr lang="en-US" sz="950" dirty="0">
                <a:solidFill>
                  <a:srgbClr val="1E293B"/>
                </a:solidFill>
                <a:latin typeface="Calibri" pitchFamily="34" charset="0"/>
                <a:ea typeface="Calibri" pitchFamily="34" charset="-122"/>
                <a:cs typeface="Calibri" pitchFamily="34" charset="-120"/>
              </a:rPr>
              <a:t>recruit</a:t>
            </a:r>
            <a:endParaRPr lang="en-US" sz="950" dirty="0"/>
          </a:p>
        </p:txBody>
      </p:sp>
      <p:sp>
        <p:nvSpPr>
          <p:cNvPr id="35" name="Text 32"/>
          <p:cNvSpPr/>
          <p:nvPr/>
        </p:nvSpPr>
        <p:spPr>
          <a:xfrm>
            <a:off x="7223760" y="2948940"/>
            <a:ext cx="457200" cy="274320"/>
          </a:xfrm>
          <a:prstGeom prst="rect">
            <a:avLst/>
          </a:prstGeom>
          <a:noFill/>
          <a:ln/>
        </p:spPr>
        <p:txBody>
          <a:bodyPr wrap="square" lIns="0" tIns="0" rIns="0" bIns="0" rtlCol="0" anchor="ctr"/>
          <a:lstStyle/>
          <a:p>
            <a:pPr marL="0" indent="0" algn="ctr">
              <a:buNone/>
            </a:pPr>
            <a:r>
              <a:rPr lang="en-US" sz="950" dirty="0">
                <a:solidFill>
                  <a:srgbClr val="1E293B"/>
                </a:solidFill>
                <a:latin typeface="Calibri" pitchFamily="34" charset="0"/>
                <a:ea typeface="Calibri" pitchFamily="34" charset="-122"/>
                <a:cs typeface="Calibri" pitchFamily="34" charset="-120"/>
              </a:rPr>
              <a:t>8</a:t>
            </a:r>
            <a:endParaRPr lang="en-US" sz="950" dirty="0"/>
          </a:p>
        </p:txBody>
      </p:sp>
      <p:sp>
        <p:nvSpPr>
          <p:cNvPr id="36" name="Text 33"/>
          <p:cNvSpPr/>
          <p:nvPr/>
        </p:nvSpPr>
        <p:spPr>
          <a:xfrm>
            <a:off x="7680960" y="2948940"/>
            <a:ext cx="868680" cy="274320"/>
          </a:xfrm>
          <a:prstGeom prst="rect">
            <a:avLst/>
          </a:prstGeom>
          <a:noFill/>
          <a:ln/>
        </p:spPr>
        <p:txBody>
          <a:bodyPr wrap="square" lIns="0" tIns="0" rIns="0" bIns="0" rtlCol="0" anchor="ctr"/>
          <a:lstStyle/>
          <a:p>
            <a:pPr marL="0" indent="0" algn="r">
              <a:buNone/>
            </a:pPr>
            <a:r>
              <a:rPr lang="en-US" sz="950" dirty="0">
                <a:solidFill>
                  <a:srgbClr val="1E293B"/>
                </a:solidFill>
                <a:latin typeface="Calibri" pitchFamily="34" charset="0"/>
                <a:ea typeface="Calibri" pitchFamily="34" charset="-122"/>
                <a:cs typeface="Calibri" pitchFamily="34" charset="-120"/>
              </a:rPr>
              <a:t>8k</a:t>
            </a:r>
            <a:endParaRPr lang="en-US" sz="950" dirty="0"/>
          </a:p>
        </p:txBody>
      </p:sp>
      <p:sp>
        <p:nvSpPr>
          <p:cNvPr id="37" name="Shape 34"/>
          <p:cNvSpPr/>
          <p:nvPr/>
        </p:nvSpPr>
        <p:spPr>
          <a:xfrm>
            <a:off x="5852160" y="3259836"/>
            <a:ext cx="2743200" cy="274320"/>
          </a:xfrm>
          <a:prstGeom prst="rect">
            <a:avLst/>
          </a:prstGeom>
          <a:solidFill>
            <a:srgbClr val="0F2A44"/>
          </a:solidFill>
          <a:ln w="6350">
            <a:solidFill>
              <a:srgbClr val="E2E8F0"/>
            </a:solidFill>
            <a:prstDash val="solid"/>
          </a:ln>
        </p:spPr>
        <p:txBody>
          <a:bodyPr/>
          <a:lstStyle/>
          <a:p>
            <a:endParaRPr lang="en-US"/>
          </a:p>
        </p:txBody>
      </p:sp>
      <p:sp>
        <p:nvSpPr>
          <p:cNvPr id="38" name="Text 35"/>
          <p:cNvSpPr/>
          <p:nvPr/>
        </p:nvSpPr>
        <p:spPr>
          <a:xfrm>
            <a:off x="5943600" y="3259836"/>
            <a:ext cx="1280160" cy="27432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Total</a:t>
            </a:r>
            <a:endParaRPr lang="en-US" sz="950" dirty="0"/>
          </a:p>
        </p:txBody>
      </p:sp>
      <p:sp>
        <p:nvSpPr>
          <p:cNvPr id="39" name="Text 36"/>
          <p:cNvSpPr/>
          <p:nvPr/>
        </p:nvSpPr>
        <p:spPr>
          <a:xfrm>
            <a:off x="7223760" y="3259836"/>
            <a:ext cx="457200" cy="27432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115</a:t>
            </a:r>
            <a:endParaRPr lang="en-US" sz="950" dirty="0"/>
          </a:p>
        </p:txBody>
      </p:sp>
      <p:sp>
        <p:nvSpPr>
          <p:cNvPr id="40" name="Text 37"/>
          <p:cNvSpPr/>
          <p:nvPr/>
        </p:nvSpPr>
        <p:spPr>
          <a:xfrm>
            <a:off x="7680960" y="3259836"/>
            <a:ext cx="868680" cy="274320"/>
          </a:xfrm>
          <a:prstGeom prst="rect">
            <a:avLst/>
          </a:prstGeom>
          <a:noFill/>
          <a:ln/>
        </p:spPr>
        <p:txBody>
          <a:bodyPr wrap="square" lIns="0" tIns="0" rIns="0" bIns="0" rtlCol="0" anchor="ctr"/>
          <a:lstStyle/>
          <a:p>
            <a:pPr marL="0" indent="0" algn="r">
              <a:buNone/>
            </a:pPr>
            <a:r>
              <a:rPr lang="en-US" sz="950" b="1" dirty="0">
                <a:solidFill>
                  <a:srgbClr val="FFFFFF"/>
                </a:solidFill>
                <a:latin typeface="Calibri" pitchFamily="34" charset="0"/>
                <a:ea typeface="Calibri" pitchFamily="34" charset="-122"/>
                <a:cs typeface="Calibri" pitchFamily="34" charset="-120"/>
              </a:rPr>
              <a:t>350k</a:t>
            </a:r>
            <a:endParaRPr lang="en-US" sz="950" dirty="0"/>
          </a:p>
        </p:txBody>
      </p:sp>
      <p:sp>
        <p:nvSpPr>
          <p:cNvPr id="42" name="Shape 39"/>
          <p:cNvSpPr/>
          <p:nvPr/>
        </p:nvSpPr>
        <p:spPr>
          <a:xfrm>
            <a:off x="365760" y="3749040"/>
            <a:ext cx="8412480" cy="914400"/>
          </a:xfrm>
          <a:prstGeom prst="rect">
            <a:avLst/>
          </a:prstGeom>
          <a:solidFill>
            <a:srgbClr val="F8FAFC"/>
          </a:solidFill>
          <a:ln w="6350">
            <a:solidFill>
              <a:srgbClr val="E2E8F0"/>
            </a:solidFill>
            <a:prstDash val="solid"/>
          </a:ln>
        </p:spPr>
        <p:txBody>
          <a:bodyPr/>
          <a:lstStyle/>
          <a:p>
            <a:endParaRPr lang="en-US"/>
          </a:p>
        </p:txBody>
      </p:sp>
      <p:sp>
        <p:nvSpPr>
          <p:cNvPr id="43" name="Shape 40"/>
          <p:cNvSpPr/>
          <p:nvPr/>
        </p:nvSpPr>
        <p:spPr>
          <a:xfrm>
            <a:off x="365760" y="3749040"/>
            <a:ext cx="54864" cy="914400"/>
          </a:xfrm>
          <a:prstGeom prst="rect">
            <a:avLst/>
          </a:prstGeom>
          <a:solidFill>
            <a:srgbClr val="0D9488"/>
          </a:solidFill>
          <a:ln w="12700">
            <a:solidFill>
              <a:srgbClr val="0D9488"/>
            </a:solidFill>
            <a:prstDash val="solid"/>
          </a:ln>
        </p:spPr>
        <p:txBody>
          <a:bodyPr/>
          <a:lstStyle/>
          <a:p>
            <a:endParaRPr lang="en-US"/>
          </a:p>
        </p:txBody>
      </p:sp>
      <p:sp>
        <p:nvSpPr>
          <p:cNvPr id="44" name="Text 41"/>
          <p:cNvSpPr/>
          <p:nvPr/>
        </p:nvSpPr>
        <p:spPr>
          <a:xfrm>
            <a:off x="594360" y="379476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Findings</a:t>
            </a:r>
            <a:endParaRPr lang="en-US" sz="1200" dirty="0"/>
          </a:p>
        </p:txBody>
      </p:sp>
      <p:sp>
        <p:nvSpPr>
          <p:cNvPr id="45" name="Text 42"/>
          <p:cNvSpPr/>
          <p:nvPr/>
        </p:nvSpPr>
        <p:spPr>
          <a:xfrm>
            <a:off x="731520" y="4069080"/>
            <a:ext cx="7955280" cy="59436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106 anti-pattern instances across 9 types. Hardcoded Endpoints (45) and API Versioning Absence (24) dominate.</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Cyclic Dependency and Wrong Cuts detected in microservice-recruit — broader corpus exercises more detectors.</a:t>
            </a:r>
            <a:endParaRPr lang="en-US" sz="1100" dirty="0"/>
          </a:p>
        </p:txBody>
      </p:sp>
      <p:sp>
        <p:nvSpPr>
          <p:cNvPr id="46" name="Text 43"/>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7" name="Text 44"/>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731520" y="777240"/>
            <a:ext cx="7772400" cy="82296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Live demo</a:t>
            </a:r>
            <a:endParaRPr lang="en-US" sz="5400" dirty="0"/>
          </a:p>
        </p:txBody>
      </p:sp>
      <p:sp>
        <p:nvSpPr>
          <p:cNvPr id="4" name="Text 2"/>
          <p:cNvSpPr/>
          <p:nvPr/>
        </p:nvSpPr>
        <p:spPr>
          <a:xfrm>
            <a:off x="731520" y="1691640"/>
            <a:ext cx="7772400" cy="411480"/>
          </a:xfrm>
          <a:prstGeom prst="rect">
            <a:avLst/>
          </a:prstGeom>
          <a:noFill/>
          <a:ln/>
        </p:spPr>
        <p:txBody>
          <a:bodyPr wrap="square" lIns="0" tIns="0" rIns="0" bIns="0" rtlCol="0" anchor="ctr"/>
          <a:lstStyle/>
          <a:p>
            <a:pPr marL="0" indent="0">
              <a:buNone/>
            </a:pPr>
            <a:r>
              <a:rPr lang="en-US" sz="18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800" dirty="0"/>
          </a:p>
        </p:txBody>
      </p:sp>
      <p:sp>
        <p:nvSpPr>
          <p:cNvPr id="5" name="Shape 3"/>
          <p:cNvSpPr/>
          <p:nvPr/>
        </p:nvSpPr>
        <p:spPr>
          <a:xfrm>
            <a:off x="731520" y="2468880"/>
            <a:ext cx="7772400" cy="2148840"/>
          </a:xfrm>
          <a:prstGeom prst="rect">
            <a:avLst/>
          </a:prstGeom>
          <a:solidFill>
            <a:srgbClr val="1C4E80"/>
          </a:solidFill>
          <a:ln w="12700">
            <a:solidFill>
              <a:srgbClr val="1C4E80"/>
            </a:solidFill>
            <a:prstDash val="solid"/>
          </a:ln>
        </p:spPr>
        <p:txBody>
          <a:bodyPr/>
          <a:lstStyle/>
          <a:p>
            <a:endParaRPr lang="en-US"/>
          </a:p>
        </p:txBody>
      </p:sp>
      <p:sp>
        <p:nvSpPr>
          <p:cNvPr id="6" name="Shape 4"/>
          <p:cNvSpPr/>
          <p:nvPr/>
        </p:nvSpPr>
        <p:spPr>
          <a:xfrm>
            <a:off x="914400" y="2651760"/>
            <a:ext cx="384048" cy="384048"/>
          </a:xfrm>
          <a:prstGeom prst="ellipse">
            <a:avLst/>
          </a:prstGeom>
          <a:solidFill>
            <a:srgbClr val="0D9488"/>
          </a:solidFill>
          <a:ln w="12700">
            <a:solidFill>
              <a:srgbClr val="0D9488"/>
            </a:solidFill>
            <a:prstDash val="solid"/>
          </a:ln>
        </p:spPr>
        <p:txBody>
          <a:bodyPr/>
          <a:lstStyle/>
          <a:p>
            <a:endParaRPr lang="en-US"/>
          </a:p>
        </p:txBody>
      </p:sp>
      <p:sp>
        <p:nvSpPr>
          <p:cNvPr id="7" name="Text 5"/>
          <p:cNvSpPr/>
          <p:nvPr/>
        </p:nvSpPr>
        <p:spPr>
          <a:xfrm>
            <a:off x="914400" y="265176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63040" y="262432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9" name="Text 7"/>
          <p:cNvSpPr/>
          <p:nvPr/>
        </p:nvSpPr>
        <p:spPr>
          <a:xfrm>
            <a:off x="1463040" y="286207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10" name="Shape 8"/>
          <p:cNvSpPr/>
          <p:nvPr/>
        </p:nvSpPr>
        <p:spPr>
          <a:xfrm>
            <a:off x="914400" y="3154680"/>
            <a:ext cx="384048" cy="384048"/>
          </a:xfrm>
          <a:prstGeom prst="ellipse">
            <a:avLst/>
          </a:prstGeom>
          <a:solidFill>
            <a:srgbClr val="0D9488"/>
          </a:solidFill>
          <a:ln w="12700">
            <a:solidFill>
              <a:srgbClr val="0D9488"/>
            </a:solidFill>
            <a:prstDash val="solid"/>
          </a:ln>
        </p:spPr>
        <p:txBody>
          <a:bodyPr/>
          <a:lstStyle/>
          <a:p>
            <a:endParaRPr lang="en-US"/>
          </a:p>
        </p:txBody>
      </p:sp>
      <p:sp>
        <p:nvSpPr>
          <p:cNvPr id="11" name="Text 9"/>
          <p:cNvSpPr/>
          <p:nvPr/>
        </p:nvSpPr>
        <p:spPr>
          <a:xfrm>
            <a:off x="914400" y="315468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312724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3" name="Text 11"/>
          <p:cNvSpPr/>
          <p:nvPr/>
        </p:nvSpPr>
        <p:spPr>
          <a:xfrm>
            <a:off x="1463040" y="336499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4" name="Shape 12"/>
          <p:cNvSpPr/>
          <p:nvPr/>
        </p:nvSpPr>
        <p:spPr>
          <a:xfrm>
            <a:off x="914400" y="3657600"/>
            <a:ext cx="384048" cy="384048"/>
          </a:xfrm>
          <a:prstGeom prst="ellipse">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914400" y="36576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463040" y="363016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7" name="Text 15"/>
          <p:cNvSpPr/>
          <p:nvPr/>
        </p:nvSpPr>
        <p:spPr>
          <a:xfrm>
            <a:off x="1463040" y="386791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8" name="Shape 16"/>
          <p:cNvSpPr/>
          <p:nvPr/>
        </p:nvSpPr>
        <p:spPr>
          <a:xfrm>
            <a:off x="914400" y="4160520"/>
            <a:ext cx="384048" cy="384048"/>
          </a:xfrm>
          <a:prstGeom prst="ellipse">
            <a:avLst/>
          </a:prstGeom>
          <a:solidFill>
            <a:srgbClr val="0D9488"/>
          </a:solidFill>
          <a:ln w="12700">
            <a:solidFill>
              <a:srgbClr val="0D9488"/>
            </a:solidFill>
            <a:prstDash val="solid"/>
          </a:ln>
        </p:spPr>
        <p:txBody>
          <a:bodyPr/>
          <a:lstStyle/>
          <a:p>
            <a:endParaRPr lang="en-US"/>
          </a:p>
        </p:txBody>
      </p:sp>
      <p:sp>
        <p:nvSpPr>
          <p:cNvPr id="19" name="Text 17"/>
          <p:cNvSpPr/>
          <p:nvPr/>
        </p:nvSpPr>
        <p:spPr>
          <a:xfrm>
            <a:off x="914400" y="416052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463040" y="413308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21" name="Text 19"/>
          <p:cNvSpPr/>
          <p:nvPr/>
        </p:nvSpPr>
        <p:spPr>
          <a:xfrm>
            <a:off x="1463040" y="437083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22" name="Text 20"/>
          <p:cNvSpPr/>
          <p:nvPr/>
        </p:nvSpPr>
        <p:spPr>
          <a:xfrm>
            <a:off x="731520" y="4846320"/>
            <a:ext cx="5486400" cy="228600"/>
          </a:xfrm>
          <a:prstGeom prst="rect">
            <a:avLst/>
          </a:prstGeom>
          <a:noFill/>
          <a:ln/>
        </p:spPr>
        <p:txBody>
          <a:bodyPr wrap="square" rtlCol="0" anchor="ctr"/>
          <a:lstStyle/>
          <a:p>
            <a:pPr marL="0" indent="0">
              <a:buNone/>
            </a:pPr>
            <a:r>
              <a:rPr lang="en-US" sz="900" dirty="0">
                <a:solidFill>
                  <a:srgbClr val="DBEAFE"/>
                </a:solidFill>
                <a:latin typeface="Calibri" pitchFamily="34" charset="0"/>
                <a:ea typeface="Calibri" pitchFamily="34" charset="-122"/>
                <a:cs typeface="Calibri" pitchFamily="34" charset="-120"/>
              </a:rPr>
              <a:t>MSA Detector  •  Iacob Andrei  •  UBB FMI</a:t>
            </a:r>
            <a:endParaRPr lang="en-US" sz="900" dirty="0"/>
          </a:p>
        </p:txBody>
      </p:sp>
      <p:sp>
        <p:nvSpPr>
          <p:cNvPr id="23" name="Text 21"/>
          <p:cNvSpPr/>
          <p:nvPr/>
        </p:nvSpPr>
        <p:spPr>
          <a:xfrm>
            <a:off x="7680960" y="4846320"/>
            <a:ext cx="731520" cy="228600"/>
          </a:xfrm>
          <a:prstGeom prst="rect">
            <a:avLst/>
          </a:prstGeom>
          <a:noFill/>
          <a:ln/>
        </p:spPr>
        <p:txBody>
          <a:bodyPr wrap="square"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Limitations &amp; future work</a:t>
            </a:r>
            <a:endParaRPr lang="en-US" sz="2800" dirty="0"/>
          </a:p>
        </p:txBody>
      </p:sp>
      <p:sp>
        <p:nvSpPr>
          <p:cNvPr id="3" name="Shape 1"/>
          <p:cNvSpPr/>
          <p:nvPr/>
        </p:nvSpPr>
        <p:spPr>
          <a:xfrm>
            <a:off x="457200" y="914400"/>
            <a:ext cx="4023360" cy="365760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57200" y="914400"/>
            <a:ext cx="54864" cy="3657600"/>
          </a:xfrm>
          <a:prstGeom prst="rect">
            <a:avLst/>
          </a:prstGeom>
          <a:solidFill>
            <a:srgbClr val="D97706"/>
          </a:solidFill>
          <a:ln w="12700">
            <a:solidFill>
              <a:srgbClr val="D97706"/>
            </a:solidFill>
            <a:prstDash val="solid"/>
          </a:ln>
        </p:spPr>
        <p:txBody>
          <a:bodyPr/>
          <a:lstStyle/>
          <a:p>
            <a:endParaRPr lang="en-US"/>
          </a:p>
        </p:txBody>
      </p:sp>
      <p:sp>
        <p:nvSpPr>
          <p:cNvPr id="5" name="Shape 3"/>
          <p:cNvSpPr/>
          <p:nvPr/>
        </p:nvSpPr>
        <p:spPr>
          <a:xfrm>
            <a:off x="640080" y="1051560"/>
            <a:ext cx="411480" cy="411480"/>
          </a:xfrm>
          <a:prstGeom prst="roundRect">
            <a:avLst>
              <a:gd name="adj" fmla="val 17778"/>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730606" y="1142086"/>
            <a:ext cx="230429" cy="230429"/>
          </a:xfrm>
          <a:prstGeom prst="rect">
            <a:avLst/>
          </a:prstGeom>
        </p:spPr>
      </p:pic>
      <p:sp>
        <p:nvSpPr>
          <p:cNvPr id="7" name="Text 4"/>
          <p:cNvSpPr/>
          <p:nvPr/>
        </p:nvSpPr>
        <p:spPr>
          <a:xfrm>
            <a:off x="114300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Limitations</a:t>
            </a:r>
            <a:endParaRPr lang="en-US" sz="1600" dirty="0"/>
          </a:p>
        </p:txBody>
      </p:sp>
      <p:sp>
        <p:nvSpPr>
          <p:cNvPr id="8" name="Text 5"/>
          <p:cNvSpPr/>
          <p:nvPr/>
        </p:nvSpPr>
        <p:spPr>
          <a:xfrm>
            <a:off x="73152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Java / Spring Boot only; polyglot systems not supported.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Static analysis only — no runtime call frequency data.</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Dynamic URLs (e.g. Spring Cloud Config) are not resolved.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50" dirty="0"/>
          </a:p>
        </p:txBody>
      </p:sp>
      <p:sp>
        <p:nvSpPr>
          <p:cNvPr id="9" name="Shape 6"/>
          <p:cNvSpPr/>
          <p:nvPr/>
        </p:nvSpPr>
        <p:spPr>
          <a:xfrm>
            <a:off x="4663440" y="914400"/>
            <a:ext cx="4023360" cy="3657600"/>
          </a:xfrm>
          <a:prstGeom prst="rect">
            <a:avLst/>
          </a:prstGeom>
          <a:solidFill>
            <a:srgbClr val="F8FAFC"/>
          </a:solidFill>
          <a:ln w="9525">
            <a:solidFill>
              <a:srgbClr val="E2E8F0"/>
            </a:solidFill>
            <a:prstDash val="solid"/>
          </a:ln>
        </p:spPr>
        <p:txBody>
          <a:bodyPr/>
          <a:lstStyle/>
          <a:p>
            <a:endParaRPr lang="en-US"/>
          </a:p>
        </p:txBody>
      </p:sp>
      <p:sp>
        <p:nvSpPr>
          <p:cNvPr id="10" name="Shape 7"/>
          <p:cNvSpPr/>
          <p:nvPr/>
        </p:nvSpPr>
        <p:spPr>
          <a:xfrm>
            <a:off x="4663440" y="914400"/>
            <a:ext cx="54864" cy="3657600"/>
          </a:xfrm>
          <a:prstGeom prst="rect">
            <a:avLst/>
          </a:prstGeom>
          <a:solidFill>
            <a:srgbClr val="0D9488"/>
          </a:solidFill>
          <a:ln w="12700">
            <a:solidFill>
              <a:srgbClr val="0D9488"/>
            </a:solidFill>
            <a:prstDash val="solid"/>
          </a:ln>
        </p:spPr>
        <p:txBody>
          <a:bodyPr/>
          <a:lstStyle/>
          <a:p>
            <a:endParaRPr lang="en-US"/>
          </a:p>
        </p:txBody>
      </p:sp>
      <p:sp>
        <p:nvSpPr>
          <p:cNvPr id="11" name="Shape 8"/>
          <p:cNvSpPr/>
          <p:nvPr/>
        </p:nvSpPr>
        <p:spPr>
          <a:xfrm>
            <a:off x="4846320" y="1051560"/>
            <a:ext cx="411480" cy="411480"/>
          </a:xfrm>
          <a:prstGeom prst="roundRect">
            <a:avLst>
              <a:gd name="adj" fmla="val 17778"/>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936846" y="1142086"/>
            <a:ext cx="230429" cy="230429"/>
          </a:xfrm>
          <a:prstGeom prst="rect">
            <a:avLst/>
          </a:prstGeom>
        </p:spPr>
      </p:pic>
      <p:sp>
        <p:nvSpPr>
          <p:cNvPr id="13" name="Text 9"/>
          <p:cNvSpPr/>
          <p:nvPr/>
        </p:nvSpPr>
        <p:spPr>
          <a:xfrm>
            <a:off x="534924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Future work</a:t>
            </a:r>
            <a:endParaRPr lang="en-US" sz="1600" dirty="0"/>
          </a:p>
        </p:txBody>
      </p:sp>
      <p:sp>
        <p:nvSpPr>
          <p:cNvPr id="14" name="Text 10"/>
          <p:cNvSpPr/>
          <p:nvPr/>
        </p:nvSpPr>
        <p:spPr>
          <a:xfrm>
            <a:off x="493776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50" dirty="0"/>
          </a:p>
        </p:txBody>
      </p:sp>
      <p:sp>
        <p:nvSpPr>
          <p:cNvPr id="15" name="Text 1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16" name="Text 1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731520" y="914400"/>
            <a:ext cx="7772400" cy="73152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4" name="Text 2"/>
          <p:cNvSpPr/>
          <p:nvPr/>
        </p:nvSpPr>
        <p:spPr>
          <a:xfrm>
            <a:off x="731520" y="1737360"/>
            <a:ext cx="7772400" cy="411480"/>
          </a:xfrm>
          <a:prstGeom prst="rect">
            <a:avLst/>
          </a:prstGeom>
          <a:noFill/>
          <a:ln/>
        </p:spPr>
        <p:txBody>
          <a:bodyPr wrap="square" lIns="0" tIns="0" rIns="0" bIns="0" rtlCol="0" anchor="ctr"/>
          <a:lstStyle/>
          <a:p>
            <a:pPr marL="0" indent="0">
              <a:buNone/>
            </a:pPr>
            <a:r>
              <a:rPr lang="en-US" sz="2000" i="1" dirty="0">
                <a:solidFill>
                  <a:srgbClr val="DBEAFE"/>
                </a:solidFill>
                <a:latin typeface="Calibri" pitchFamily="34" charset="0"/>
                <a:ea typeface="Calibri" pitchFamily="34" charset="-122"/>
                <a:cs typeface="Calibri" pitchFamily="34" charset="-120"/>
              </a:rPr>
              <a:t>Questions &amp; discussion</a:t>
            </a:r>
            <a:endParaRPr lang="en-US" sz="2000" dirty="0"/>
          </a:p>
        </p:txBody>
      </p:sp>
      <p:sp>
        <p:nvSpPr>
          <p:cNvPr id="5" name="Shape 3"/>
          <p:cNvSpPr/>
          <p:nvPr/>
        </p:nvSpPr>
        <p:spPr>
          <a:xfrm>
            <a:off x="731520" y="2606040"/>
            <a:ext cx="7772400" cy="1783080"/>
          </a:xfrm>
          <a:prstGeom prst="rect">
            <a:avLst/>
          </a:prstGeom>
          <a:solidFill>
            <a:srgbClr val="1C4E80"/>
          </a:solidFill>
          <a:ln w="12700">
            <a:solidFill>
              <a:srgbClr val="1C4E80"/>
            </a:solidFill>
            <a:prstDash val="solid"/>
          </a:ln>
        </p:spPr>
        <p:txBody>
          <a:bodyPr/>
          <a:lstStyle/>
          <a:p>
            <a:endParaRPr lang="en-US"/>
          </a:p>
        </p:txBody>
      </p:sp>
      <p:sp>
        <p:nvSpPr>
          <p:cNvPr id="6" name="Text 4"/>
          <p:cNvSpPr/>
          <p:nvPr/>
        </p:nvSpPr>
        <p:spPr>
          <a:xfrm>
            <a:off x="914400" y="2697480"/>
            <a:ext cx="7498080" cy="320040"/>
          </a:xfrm>
          <a:prstGeom prst="rect">
            <a:avLst/>
          </a:prstGeom>
          <a:noFill/>
          <a:ln/>
        </p:spPr>
        <p:txBody>
          <a:bodyPr wrap="square" lIns="0" tIns="0" rIns="0" bIns="0" rtlCol="0" anchor="ctr"/>
          <a:lstStyle/>
          <a:p>
            <a:pPr marL="0" indent="0">
              <a:buNone/>
            </a:pPr>
            <a:r>
              <a:rPr lang="en-US" sz="1400" b="1" dirty="0">
                <a:solidFill>
                  <a:srgbClr val="DBEAFE"/>
                </a:solidFill>
                <a:latin typeface="Calibri" pitchFamily="34" charset="0"/>
                <a:ea typeface="Calibri" pitchFamily="34" charset="-122"/>
                <a:cs typeface="Calibri" pitchFamily="34" charset="-120"/>
              </a:rPr>
              <a:t>Recap</a:t>
            </a:r>
            <a:endParaRPr lang="en-US" sz="1400" dirty="0"/>
          </a:p>
        </p:txBody>
      </p:sp>
      <p:sp>
        <p:nvSpPr>
          <p:cNvPr id="7" name="Text 5"/>
          <p:cNvSpPr/>
          <p:nvPr/>
        </p:nvSpPr>
        <p:spPr>
          <a:xfrm>
            <a:off x="1097280" y="3017520"/>
            <a:ext cx="7315200" cy="1371600"/>
          </a:xfrm>
          <a:prstGeom prst="rect">
            <a:avLst/>
          </a:prstGeom>
          <a:noFill/>
          <a:ln/>
        </p:spPr>
        <p:txBody>
          <a:bodyPr wrap="square" lIns="0" tIns="0" rIns="0" bIns="0" rtlCol="0" anchor="ctr"/>
          <a:lstStyle/>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Open-source web application, ready for CI/CD integration.</a:t>
            </a:r>
            <a:endParaRPr lang="en-US" sz="1300" dirty="0"/>
          </a:p>
        </p:txBody>
      </p:sp>
      <p:sp>
        <p:nvSpPr>
          <p:cNvPr id="8" name="Text 6"/>
          <p:cNvSpPr/>
          <p:nvPr/>
        </p:nvSpPr>
        <p:spPr>
          <a:xfrm>
            <a:off x="731520" y="4572000"/>
            <a:ext cx="7772400" cy="274320"/>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Iacob Andrei  •  Supervisor: Prof. Dr. Simona Motogna  •  UBB FMI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0</TotalTime>
  <Words>3965</Words>
  <Application>Microsoft Office PowerPoint</Application>
  <PresentationFormat>On-screen Show (16:9)</PresentationFormat>
  <Paragraphs>252</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 (FT D EU RO EIS SP 2)</cp:lastModifiedBy>
  <cp:revision>3</cp:revision>
  <dcterms:created xsi:type="dcterms:W3CDTF">2026-05-28T05:47:38Z</dcterms:created>
  <dcterms:modified xsi:type="dcterms:W3CDTF">2026-05-28T05:50:07Z</dcterms:modified>
</cp:coreProperties>
</file>