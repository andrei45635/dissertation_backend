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2A44"/>
                </a:solidFill>
                <a:latin typeface="Calibri"/>
              </a:defRPr>
            </a:pPr>
            <a:r>
              <a:rPr sz="1200" b="0" i="0" u="none" strike="noStrike">
                <a:solidFill>
                  <a:srgbClr val="0F2A44"/>
                </a:solidFill>
                <a:latin typeface="Calibri"/>
              </a:rPr>
              <a:t>Health scores by project (0–100)</a:t>
            </a:r>
          </a:p>
        </c:rich>
      </c:tx>
      <c:layout/>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cat>
            <c:multiLvlStrRef>
              <c:f>Sheet1!$A$2:$A$12</c:f>
              <c:multiLvlStrCache>
                <c:ptCount val="11"/>
                <c:lvl>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lvl>
              </c:multiLvlStrCache>
            </c:multiLvl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ser>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You can add: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You can mention a concrete example: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Pivot to next slide: 'So the goal of this work was a tool that bridges both levels and outputs actionable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about 45 seconds if included in the main talk.
Talking points:
• 'The related work is valuable, but each tool emphasises a different slice: architecture smells, recovery, or microservice smell catalogues.'
• 'The gap I target is the combination: automatically detecting service boundaries from a source checkout, recovering dependencies, linking findings to source-level evidence, and producing a health score with remediation guidance.'
• 'So the contribution is not simply another detector list. It is an integrated workflow from repository input to actionable architectural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
Don't dwell on each one. They'll see the details later. This slide sets expectations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
Worth saying aloud: 'The severity levels aren't arbitrary — they reflect how much damage the anti-pattern can cause. Cyclic Dependency and Distributed Monolith are critical because they undermine independent deployability entirely. Hardcoded Endpoints and API Versioning are medium because they're easier to fix and their impact is more localised.'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37 API versioning absences, 23 nano services, 15 hardcoded endpoints. Cyclic Dependency and Wrong Cuts were detected in microservice-recruit. Adding PiggyMetrics and piomin broadened ESB Misuse and Nano Service coverage.'
• '98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13.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conclude: the MSA Detector is a multi-level static analysis tool for Java/Spring Boot microservices, with ten anti-pattern detectors, a composite health score, and evidence-based reporting. The main contribution is the bridge between source-code evidence and architectural findings: the tool does not only flag that a microservice architecture has a problem, it shows where the evidence comes from and how the issue affects the system. I'm ready for your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you mean by microservice, architectural anti-pattern, service boundary, or evidence-based reporting. Keep the answer short: define the term, then connect it to the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for questions such as 'how is cohesion measured?', 'what does edge weight mean?', or 'how do you avoid punishing larger codebases?'. The key answer is that raw counts are normalised when size would otherwise bias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whether the score is reproducible. Emphasise that each category is capped independently, so a bad category cannot consume points from another category. Also acknowledge that weights are engineering judgement and should be calibrated on industrial data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a specific anti-pattern means. Give the definition first, then move to the detector-detail annex only if they ask how the tool detects it. This keeps conceptual and implementation questions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exactly triggers detector X?'. Avoid reading the full table. Point to the detector they asked about, state the signal and threshold, then explain that thresholds are configurable and would be calibrated for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for more detail than the threshold table but does not need a full detector walkthrough. Read only the row they asked about: signal, rule, evidence. If they ask for deeper implementation detail, go to the graph, service-boundary, or architecture-internals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Tarjan, cycles, graph construction, or why graph analysis is relevant. The concise answer is that microservice anti-patterns are often not visible inside one service; they emerge from the shape of dependencies between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how services are identified automatically. The core answer: the tool first finds candidate build modules, then applies a deployability gate with HIGH, MEDIUM, and LOW confidence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why you did not use distributed tracing. The concise answer is: dynamic analysis is more precise for runtime behaviour, but static analysis works before deployment and gives source-level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challenges the evaluation. Do not overclaim. Say clearly that the work demonstrates feasibility over heterogeneous repositories, while labelled benchmark validation and threshold calibration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implementation architecture. Walk left-to-right conceptually: API creates a job, async worker analyses the workspace, engines collect metrics, detectors create findings, scoring and persistence feed the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how the work differs from related tools. Be precise: the novelty is the integrated workflow from source repository to service boundary recovery, graph/code analysis, evidence snippets, scoring, and remediation.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sp>
      <p:sp>
        <p:nvSpPr>
          <p:cNvPr id="3" name="Text 1"/>
          <p:cNvSpPr/>
          <p:nvPr/>
        </p:nvSpPr>
        <p:spPr>
          <a:xfrm>
            <a:off x="548640" y="1371600"/>
            <a:ext cx="7863840" cy="1417320"/>
          </a:xfrm>
          <a:prstGeom prst="rect">
            <a:avLst/>
          </a:prstGeom>
          <a:noFill/>
          <a:ln/>
        </p:spPr>
        <p:txBody>
          <a:bodyPr wrap="square" lIns="0" tIns="0" rIns="0" bIns="0" rtlCol="0" anchor="ctr"/>
          <a:lstStyle/>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indent="0" marL="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indent="0" marL="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Master's Dissertation Defense</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Motogna</a:t>
            </a:r>
            <a:endParaRPr lang="en-US" sz="1500" dirty="0"/>
          </a:p>
          <a:p>
            <a:pPr indent="0" marL="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804672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sp>
      <p:sp>
        <p:nvSpPr>
          <p:cNvPr id="15" name="Text 13"/>
          <p:cNvSpPr/>
          <p:nvPr/>
        </p:nvSpPr>
        <p:spPr>
          <a:xfrm>
            <a:off x="548640" y="4315968"/>
            <a:ext cx="8046720" cy="36576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Related work positioning</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The gap is not detection alone; it is actionable, evidence-based architectural diagnosis</a:t>
            </a:r>
            <a:endParaRPr lang="en-US" sz="1250" dirty="0"/>
          </a:p>
        </p:txBody>
      </p:sp>
      <p:sp>
        <p:nvSpPr>
          <p:cNvPr id="5" name="Text 3"/>
          <p:cNvSpPr/>
          <p:nvPr/>
        </p:nvSpPr>
        <p:spPr>
          <a:xfrm>
            <a:off x="548640" y="1536192"/>
            <a:ext cx="123444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TOOL</a:t>
            </a:r>
            <a:endParaRPr lang="en-US" sz="850" dirty="0"/>
          </a:p>
        </p:txBody>
      </p:sp>
      <p:sp>
        <p:nvSpPr>
          <p:cNvPr id="6" name="Text 4"/>
          <p:cNvSpPr/>
          <p:nvPr/>
        </p:nvSpPr>
        <p:spPr>
          <a:xfrm>
            <a:off x="1783080" y="1536192"/>
            <a:ext cx="182880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PRIMARY FOCUS</a:t>
            </a:r>
            <a:endParaRPr lang="en-US" sz="850" dirty="0"/>
          </a:p>
        </p:txBody>
      </p:sp>
      <p:sp>
        <p:nvSpPr>
          <p:cNvPr id="7" name="Text 5"/>
          <p:cNvSpPr/>
          <p:nvPr/>
        </p:nvSpPr>
        <p:spPr>
          <a:xfrm>
            <a:off x="3703320" y="1536192"/>
            <a:ext cx="160020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SERVICE BOUNDARY</a:t>
            </a:r>
            <a:endParaRPr lang="en-US" sz="850" dirty="0"/>
          </a:p>
        </p:txBody>
      </p:sp>
      <p:sp>
        <p:nvSpPr>
          <p:cNvPr id="8" name="Text 6"/>
          <p:cNvSpPr/>
          <p:nvPr/>
        </p:nvSpPr>
        <p:spPr>
          <a:xfrm>
            <a:off x="5440680" y="1536192"/>
            <a:ext cx="123444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CODE EVIDENCE</a:t>
            </a:r>
            <a:endParaRPr lang="en-US" sz="850" dirty="0"/>
          </a:p>
        </p:txBody>
      </p:sp>
      <p:sp>
        <p:nvSpPr>
          <p:cNvPr id="9" name="Text 7"/>
          <p:cNvSpPr/>
          <p:nvPr/>
        </p:nvSpPr>
        <p:spPr>
          <a:xfrm>
            <a:off x="6720840" y="1536192"/>
            <a:ext cx="187452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DEVELOPER OUTPUT</a:t>
            </a:r>
            <a:endParaRPr lang="en-US" sz="850" dirty="0"/>
          </a:p>
        </p:txBody>
      </p:sp>
      <p:sp>
        <p:nvSpPr>
          <p:cNvPr id="10" name="Shape 8"/>
          <p:cNvSpPr/>
          <p:nvPr/>
        </p:nvSpPr>
        <p:spPr>
          <a:xfrm>
            <a:off x="548640" y="1847088"/>
            <a:ext cx="8046720" cy="13716"/>
          </a:xfrm>
          <a:prstGeom prst="rect">
            <a:avLst/>
          </a:prstGeom>
          <a:solidFill>
            <a:srgbClr val="D8DEE6"/>
          </a:solidFill>
          <a:ln w="12700">
            <a:solidFill>
              <a:srgbClr val="D8DEE6"/>
            </a:solidFill>
            <a:prstDash val="solid"/>
          </a:ln>
        </p:spPr>
      </p:sp>
      <p:sp>
        <p:nvSpPr>
          <p:cNvPr id="11" name="Text 9"/>
          <p:cNvSpPr/>
          <p:nvPr/>
        </p:nvSpPr>
        <p:spPr>
          <a:xfrm>
            <a:off x="548640" y="1993392"/>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Arcan</a:t>
            </a:r>
            <a:endParaRPr lang="en-US" sz="1050" dirty="0"/>
          </a:p>
        </p:txBody>
      </p:sp>
      <p:sp>
        <p:nvSpPr>
          <p:cNvPr id="12" name="Text 10"/>
          <p:cNvSpPr/>
          <p:nvPr/>
        </p:nvSpPr>
        <p:spPr>
          <a:xfrm>
            <a:off x="1783080" y="1993392"/>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Architectural smells</a:t>
            </a:r>
            <a:endParaRPr lang="en-US" sz="950" dirty="0"/>
          </a:p>
        </p:txBody>
      </p:sp>
      <p:sp>
        <p:nvSpPr>
          <p:cNvPr id="13" name="Text 11"/>
          <p:cNvSpPr/>
          <p:nvPr/>
        </p:nvSpPr>
        <p:spPr>
          <a:xfrm>
            <a:off x="3703320" y="1993392"/>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Manual/system model</a:t>
            </a:r>
            <a:endParaRPr lang="en-US" sz="950" dirty="0"/>
          </a:p>
        </p:txBody>
      </p:sp>
      <p:sp>
        <p:nvSpPr>
          <p:cNvPr id="14" name="Text 12"/>
          <p:cNvSpPr/>
          <p:nvPr/>
        </p:nvSpPr>
        <p:spPr>
          <a:xfrm>
            <a:off x="5440680" y="1993392"/>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Limited</a:t>
            </a:r>
            <a:endParaRPr lang="en-US" sz="950" dirty="0"/>
          </a:p>
        </p:txBody>
      </p:sp>
      <p:sp>
        <p:nvSpPr>
          <p:cNvPr id="15" name="Text 13"/>
          <p:cNvSpPr/>
          <p:nvPr/>
        </p:nvSpPr>
        <p:spPr>
          <a:xfrm>
            <a:off x="6720840" y="1993392"/>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Tool output</a:t>
            </a:r>
            <a:endParaRPr lang="en-US" sz="950" dirty="0"/>
          </a:p>
        </p:txBody>
      </p:sp>
      <p:sp>
        <p:nvSpPr>
          <p:cNvPr id="16" name="Shape 14"/>
          <p:cNvSpPr/>
          <p:nvPr/>
        </p:nvSpPr>
        <p:spPr>
          <a:xfrm>
            <a:off x="548640" y="2432304"/>
            <a:ext cx="8046720" cy="9144"/>
          </a:xfrm>
          <a:prstGeom prst="rect">
            <a:avLst/>
          </a:prstGeom>
          <a:solidFill>
            <a:srgbClr val="D8DEE6"/>
          </a:solidFill>
          <a:ln w="12700">
            <a:solidFill>
              <a:srgbClr val="D8DEE6"/>
            </a:solidFill>
            <a:prstDash val="solid"/>
          </a:ln>
        </p:spPr>
      </p:sp>
      <p:sp>
        <p:nvSpPr>
          <p:cNvPr id="17" name="Text 15"/>
          <p:cNvSpPr/>
          <p:nvPr/>
        </p:nvSpPr>
        <p:spPr>
          <a:xfrm>
            <a:off x="548640" y="2523744"/>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MicroART</a:t>
            </a:r>
            <a:endParaRPr lang="en-US" sz="1050" dirty="0"/>
          </a:p>
        </p:txBody>
      </p:sp>
      <p:sp>
        <p:nvSpPr>
          <p:cNvPr id="18" name="Text 16"/>
          <p:cNvSpPr/>
          <p:nvPr/>
        </p:nvSpPr>
        <p:spPr>
          <a:xfrm>
            <a:off x="1783080" y="2523744"/>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Architecture recovery</a:t>
            </a:r>
            <a:endParaRPr lang="en-US" sz="950" dirty="0"/>
          </a:p>
        </p:txBody>
      </p:sp>
      <p:sp>
        <p:nvSpPr>
          <p:cNvPr id="19" name="Text 17"/>
          <p:cNvSpPr/>
          <p:nvPr/>
        </p:nvSpPr>
        <p:spPr>
          <a:xfrm>
            <a:off x="3703320" y="2523744"/>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Manual/project metadata</a:t>
            </a:r>
            <a:endParaRPr lang="en-US" sz="950" dirty="0"/>
          </a:p>
        </p:txBody>
      </p:sp>
      <p:sp>
        <p:nvSpPr>
          <p:cNvPr id="20" name="Text 18"/>
          <p:cNvSpPr/>
          <p:nvPr/>
        </p:nvSpPr>
        <p:spPr>
          <a:xfrm>
            <a:off x="5440680" y="2523744"/>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No</a:t>
            </a:r>
            <a:endParaRPr lang="en-US" sz="950" dirty="0"/>
          </a:p>
        </p:txBody>
      </p:sp>
      <p:sp>
        <p:nvSpPr>
          <p:cNvPr id="21" name="Text 19"/>
          <p:cNvSpPr/>
          <p:nvPr/>
        </p:nvSpPr>
        <p:spPr>
          <a:xfrm>
            <a:off x="6720840" y="2523744"/>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Visual recovery</a:t>
            </a:r>
            <a:endParaRPr lang="en-US" sz="950" dirty="0"/>
          </a:p>
        </p:txBody>
      </p:sp>
      <p:sp>
        <p:nvSpPr>
          <p:cNvPr id="22" name="Shape 20"/>
          <p:cNvSpPr/>
          <p:nvPr/>
        </p:nvSpPr>
        <p:spPr>
          <a:xfrm>
            <a:off x="548640" y="2962656"/>
            <a:ext cx="8046720" cy="9144"/>
          </a:xfrm>
          <a:prstGeom prst="rect">
            <a:avLst/>
          </a:prstGeom>
          <a:solidFill>
            <a:srgbClr val="D8DEE6"/>
          </a:solidFill>
          <a:ln w="12700">
            <a:solidFill>
              <a:srgbClr val="D8DEE6"/>
            </a:solidFill>
            <a:prstDash val="solid"/>
          </a:ln>
        </p:spPr>
      </p:sp>
      <p:sp>
        <p:nvSpPr>
          <p:cNvPr id="23" name="Text 21"/>
          <p:cNvSpPr/>
          <p:nvPr/>
        </p:nvSpPr>
        <p:spPr>
          <a:xfrm>
            <a:off x="548640" y="3054096"/>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MSANose / MARS</a:t>
            </a:r>
            <a:endParaRPr lang="en-US" sz="1050" dirty="0"/>
          </a:p>
        </p:txBody>
      </p:sp>
      <p:sp>
        <p:nvSpPr>
          <p:cNvPr id="24" name="Text 22"/>
          <p:cNvSpPr/>
          <p:nvPr/>
        </p:nvSpPr>
        <p:spPr>
          <a:xfrm>
            <a:off x="1783080" y="3054096"/>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Microservice smells</a:t>
            </a:r>
            <a:endParaRPr lang="en-US" sz="950" dirty="0"/>
          </a:p>
        </p:txBody>
      </p:sp>
      <p:sp>
        <p:nvSpPr>
          <p:cNvPr id="25" name="Text 23"/>
          <p:cNvSpPr/>
          <p:nvPr/>
        </p:nvSpPr>
        <p:spPr>
          <a:xfrm>
            <a:off x="3703320" y="3054096"/>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Varies by tool</a:t>
            </a:r>
            <a:endParaRPr lang="en-US" sz="950" dirty="0"/>
          </a:p>
        </p:txBody>
      </p:sp>
      <p:sp>
        <p:nvSpPr>
          <p:cNvPr id="26" name="Text 24"/>
          <p:cNvSpPr/>
          <p:nvPr/>
        </p:nvSpPr>
        <p:spPr>
          <a:xfrm>
            <a:off x="5440680" y="3054096"/>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Partial</a:t>
            </a:r>
            <a:endParaRPr lang="en-US" sz="950" dirty="0"/>
          </a:p>
        </p:txBody>
      </p:sp>
      <p:sp>
        <p:nvSpPr>
          <p:cNvPr id="27" name="Text 25"/>
          <p:cNvSpPr/>
          <p:nvPr/>
        </p:nvSpPr>
        <p:spPr>
          <a:xfrm>
            <a:off x="6720840" y="3054096"/>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Catalogue-driven</a:t>
            </a:r>
            <a:endParaRPr lang="en-US" sz="950" dirty="0"/>
          </a:p>
        </p:txBody>
      </p:sp>
      <p:sp>
        <p:nvSpPr>
          <p:cNvPr id="28" name="Shape 26"/>
          <p:cNvSpPr/>
          <p:nvPr/>
        </p:nvSpPr>
        <p:spPr>
          <a:xfrm>
            <a:off x="548640" y="3493008"/>
            <a:ext cx="8046720" cy="9144"/>
          </a:xfrm>
          <a:prstGeom prst="rect">
            <a:avLst/>
          </a:prstGeom>
          <a:solidFill>
            <a:srgbClr val="D8DEE6"/>
          </a:solidFill>
          <a:ln w="12700">
            <a:solidFill>
              <a:srgbClr val="D8DEE6"/>
            </a:solidFill>
            <a:prstDash val="solid"/>
          </a:ln>
        </p:spPr>
      </p:sp>
      <p:sp>
        <p:nvSpPr>
          <p:cNvPr id="29" name="Shape 27"/>
          <p:cNvSpPr/>
          <p:nvPr/>
        </p:nvSpPr>
        <p:spPr>
          <a:xfrm>
            <a:off x="548640" y="3474720"/>
            <a:ext cx="8046720" cy="32004"/>
          </a:xfrm>
          <a:prstGeom prst="rect">
            <a:avLst/>
          </a:prstGeom>
          <a:solidFill>
            <a:srgbClr val="0D9488"/>
          </a:solidFill>
          <a:ln w="12700">
            <a:solidFill>
              <a:srgbClr val="0D9488"/>
            </a:solidFill>
            <a:prstDash val="solid"/>
          </a:ln>
        </p:spPr>
      </p:sp>
      <p:sp>
        <p:nvSpPr>
          <p:cNvPr id="30" name="Text 28"/>
          <p:cNvSpPr/>
          <p:nvPr/>
        </p:nvSpPr>
        <p:spPr>
          <a:xfrm>
            <a:off x="548640" y="3584448"/>
            <a:ext cx="1234440" cy="384048"/>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MSA Detector</a:t>
            </a:r>
            <a:endParaRPr lang="en-US" sz="1050" dirty="0"/>
          </a:p>
        </p:txBody>
      </p:sp>
      <p:sp>
        <p:nvSpPr>
          <p:cNvPr id="31" name="Text 29"/>
          <p:cNvSpPr/>
          <p:nvPr/>
        </p:nvSpPr>
        <p:spPr>
          <a:xfrm>
            <a:off x="1783080" y="3584448"/>
            <a:ext cx="18288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Multi-level anti-patterns</a:t>
            </a:r>
            <a:endParaRPr lang="en-US" sz="950" dirty="0"/>
          </a:p>
        </p:txBody>
      </p:sp>
      <p:sp>
        <p:nvSpPr>
          <p:cNvPr id="32" name="Text 30"/>
          <p:cNvSpPr/>
          <p:nvPr/>
        </p:nvSpPr>
        <p:spPr>
          <a:xfrm>
            <a:off x="3703320" y="3584448"/>
            <a:ext cx="16002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Automated deployability gate</a:t>
            </a:r>
            <a:endParaRPr lang="en-US" sz="950" dirty="0"/>
          </a:p>
        </p:txBody>
      </p:sp>
      <p:sp>
        <p:nvSpPr>
          <p:cNvPr id="33" name="Text 31"/>
          <p:cNvSpPr/>
          <p:nvPr/>
        </p:nvSpPr>
        <p:spPr>
          <a:xfrm>
            <a:off x="5440680" y="3584448"/>
            <a:ext cx="123444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Source snippets</a:t>
            </a:r>
            <a:endParaRPr lang="en-US" sz="950" dirty="0"/>
          </a:p>
        </p:txBody>
      </p:sp>
      <p:sp>
        <p:nvSpPr>
          <p:cNvPr id="34" name="Text 32"/>
          <p:cNvSpPr/>
          <p:nvPr/>
        </p:nvSpPr>
        <p:spPr>
          <a:xfrm>
            <a:off x="6720840" y="3584448"/>
            <a:ext cx="187452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Health score + remediation</a:t>
            </a:r>
            <a:endParaRPr lang="en-US" sz="950" dirty="0"/>
          </a:p>
        </p:txBody>
      </p:sp>
      <p:sp>
        <p:nvSpPr>
          <p:cNvPr id="35" name="Shape 33"/>
          <p:cNvSpPr/>
          <p:nvPr/>
        </p:nvSpPr>
        <p:spPr>
          <a:xfrm>
            <a:off x="548640" y="4023360"/>
            <a:ext cx="8046720" cy="9144"/>
          </a:xfrm>
          <a:prstGeom prst="rect">
            <a:avLst/>
          </a:prstGeom>
          <a:solidFill>
            <a:srgbClr val="D8DEE6"/>
          </a:solidFill>
          <a:ln w="12700">
            <a:solidFill>
              <a:srgbClr val="D8DEE6"/>
            </a:solidFill>
            <a:prstDash val="solid"/>
          </a:ln>
        </p:spPr>
      </p:sp>
      <p:sp>
        <p:nvSpPr>
          <p:cNvPr id="36" name="Shape 34"/>
          <p:cNvSpPr/>
          <p:nvPr/>
        </p:nvSpPr>
        <p:spPr>
          <a:xfrm>
            <a:off x="548640" y="4343400"/>
            <a:ext cx="457200" cy="36576"/>
          </a:xfrm>
          <a:prstGeom prst="rect">
            <a:avLst/>
          </a:prstGeom>
          <a:solidFill>
            <a:srgbClr val="0D9488"/>
          </a:solidFill>
          <a:ln w="12700">
            <a:solidFill>
              <a:srgbClr val="0D9488"/>
            </a:solidFill>
            <a:prstDash val="solid"/>
          </a:ln>
        </p:spPr>
      </p:sp>
      <p:sp>
        <p:nvSpPr>
          <p:cNvPr id="37" name="Text 35"/>
          <p:cNvSpPr/>
          <p:nvPr/>
        </p:nvSpPr>
        <p:spPr>
          <a:xfrm>
            <a:off x="548640" y="4462272"/>
            <a:ext cx="8046720" cy="310896"/>
          </a:xfrm>
          <a:prstGeom prst="rect">
            <a:avLst/>
          </a:prstGeom>
          <a:noFill/>
          <a:ln/>
        </p:spPr>
        <p:txBody>
          <a:bodyPr wrap="square" lIns="0" tIns="0" rIns="0" bIns="0" rtlCol="0" anchor="ctr"/>
          <a:lstStyle/>
          <a:p>
            <a:pPr indent="0" marL="0">
              <a:buNone/>
            </a:pPr>
            <a:r>
              <a:rPr lang="en-US" sz="1100" b="1" dirty="0">
                <a:solidFill>
                  <a:srgbClr val="0F2A44"/>
                </a:solidFill>
                <a:latin typeface="Calibri" pitchFamily="34" charset="0"/>
                <a:ea typeface="Calibri" pitchFamily="34" charset="-122"/>
                <a:cs typeface="Calibri" pitchFamily="34" charset="-120"/>
              </a:rPr>
              <a:t>Positioning: combine static code analysis, recovered service dependencies, scoring, and source-level evidence in one workflow.</a:t>
            </a:r>
            <a:endParaRPr lang="en-US" sz="1100" dirty="0"/>
          </a:p>
        </p:txBody>
      </p:sp>
      <p:sp>
        <p:nvSpPr>
          <p:cNvPr id="38" name="Text 36"/>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Objectives &amp; 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sp>
      <p:sp>
        <p:nvSpPr>
          <p:cNvPr id="6" name="Text 4"/>
          <p:cNvSpPr/>
          <p:nvPr/>
        </p:nvSpPr>
        <p:spPr>
          <a:xfrm>
            <a:off x="65836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sp>
      <p:sp>
        <p:nvSpPr>
          <p:cNvPr id="12" name="Text 10"/>
          <p:cNvSpPr/>
          <p:nvPr/>
        </p:nvSpPr>
        <p:spPr>
          <a:xfrm>
            <a:off x="230428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30428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sp>
      <p:sp>
        <p:nvSpPr>
          <p:cNvPr id="18" name="Text 16"/>
          <p:cNvSpPr/>
          <p:nvPr/>
        </p:nvSpPr>
        <p:spPr>
          <a:xfrm>
            <a:off x="395020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sp>
      <p:sp>
        <p:nvSpPr>
          <p:cNvPr id="24" name="Text 22"/>
          <p:cNvSpPr/>
          <p:nvPr/>
        </p:nvSpPr>
        <p:spPr>
          <a:xfrm>
            <a:off x="559612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sp>
      <p:sp>
        <p:nvSpPr>
          <p:cNvPr id="30" name="Text 28"/>
          <p:cNvSpPr/>
          <p:nvPr/>
        </p:nvSpPr>
        <p:spPr>
          <a:xfrm>
            <a:off x="724204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sp>
      <p:sp>
        <p:nvSpPr>
          <p:cNvPr id="34" name="Text 32"/>
          <p:cNvSpPr/>
          <p:nvPr/>
        </p:nvSpPr>
        <p:spPr>
          <a:xfrm>
            <a:off x="548640" y="2852928"/>
            <a:ext cx="80467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731520" y="3200400"/>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sp>
      <p:sp>
        <p:nvSpPr>
          <p:cNvPr id="7" name="Text 5"/>
          <p:cNvSpPr/>
          <p:nvPr/>
        </p:nvSpPr>
        <p:spPr>
          <a:xfrm>
            <a:off x="713232" y="1463040"/>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sp>
      <p:sp>
        <p:nvSpPr>
          <p:cNvPr id="13" name="Text 11"/>
          <p:cNvSpPr/>
          <p:nvPr/>
        </p:nvSpPr>
        <p:spPr>
          <a:xfrm>
            <a:off x="713232" y="2816352"/>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sp>
      <p:sp>
        <p:nvSpPr>
          <p:cNvPr id="21" name="Text 19"/>
          <p:cNvSpPr/>
          <p:nvPr/>
        </p:nvSpPr>
        <p:spPr>
          <a:xfrm>
            <a:off x="4754880" y="3886200"/>
            <a:ext cx="3840480" cy="457200"/>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274320"/>
          </a:xfrm>
          <a:prstGeom prst="rect">
            <a:avLst/>
          </a:prstGeom>
          <a:noFill/>
          <a:ln/>
        </p:spPr>
        <p:txBody>
          <a:bodyPr wrap="square" lIns="0" tIns="0" rIns="0" bIns="0" rtlCol="0" anchor="ctr"/>
          <a:lstStyle/>
          <a:p>
            <a:pPr indent="0" marL="0">
              <a:buNone/>
            </a:pPr>
            <a:r>
              <a:rPr lang="en-US" sz="1000" dirty="0">
                <a:solidFill>
                  <a:srgbClr val="DC262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critical (−8 pts)      </a:t>
            </a:r>
            <a:pPr indent="0" marL="0">
              <a:buNone/>
            </a:pPr>
            <a:r>
              <a:rPr lang="en-US" sz="1000" dirty="0">
                <a:solidFill>
                  <a:srgbClr val="D9770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high (−5 pts)      </a:t>
            </a:r>
            <a:pPr indent="0" marL="0">
              <a:buNone/>
            </a:pPr>
            <a:r>
              <a:rPr lang="en-US" sz="1000" dirty="0">
                <a:solidFill>
                  <a:srgbClr val="1C4E80"/>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sp>
      <p:sp>
        <p:nvSpPr>
          <p:cNvPr id="8" name="Text 6"/>
          <p:cNvSpPr/>
          <p:nvPr/>
        </p:nvSpPr>
        <p:spPr>
          <a:xfrm>
            <a:off x="822960" y="1673352"/>
            <a:ext cx="10332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sp>
      <p:sp>
        <p:nvSpPr>
          <p:cNvPr id="11" name="Text 9"/>
          <p:cNvSpPr/>
          <p:nvPr/>
        </p:nvSpPr>
        <p:spPr>
          <a:xfrm>
            <a:off x="2286000" y="1673352"/>
            <a:ext cx="98755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sp>
      <p:sp>
        <p:nvSpPr>
          <p:cNvPr id="15" name="Text 13"/>
          <p:cNvSpPr/>
          <p:nvPr/>
        </p:nvSpPr>
        <p:spPr>
          <a:xfrm>
            <a:off x="5029200" y="1673352"/>
            <a:ext cx="12618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sp>
      <p:sp>
        <p:nvSpPr>
          <p:cNvPr id="19" name="Text 17"/>
          <p:cNvSpPr/>
          <p:nvPr/>
        </p:nvSpPr>
        <p:spPr>
          <a:xfrm>
            <a:off x="822960" y="2770632"/>
            <a:ext cx="11704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sp>
      <p:sp>
        <p:nvSpPr>
          <p:cNvPr id="22" name="Text 20"/>
          <p:cNvSpPr/>
          <p:nvPr/>
        </p:nvSpPr>
        <p:spPr>
          <a:xfrm>
            <a:off x="2423160" y="2770632"/>
            <a:ext cx="13990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sp>
      <p:sp>
        <p:nvSpPr>
          <p:cNvPr id="25" name="Text 23"/>
          <p:cNvSpPr/>
          <p:nvPr/>
        </p:nvSpPr>
        <p:spPr>
          <a:xfrm>
            <a:off x="4251960" y="277063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sp>
      <p:sp>
        <p:nvSpPr>
          <p:cNvPr id="28" name="Text 26"/>
          <p:cNvSpPr/>
          <p:nvPr/>
        </p:nvSpPr>
        <p:spPr>
          <a:xfrm>
            <a:off x="6217920" y="277063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sp>
      <p:sp>
        <p:nvSpPr>
          <p:cNvPr id="32" name="Text 30"/>
          <p:cNvSpPr/>
          <p:nvPr/>
        </p:nvSpPr>
        <p:spPr>
          <a:xfrm>
            <a:off x="822960" y="386791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sp>
      <p:sp>
        <p:nvSpPr>
          <p:cNvPr id="35" name="Text 33"/>
          <p:cNvSpPr/>
          <p:nvPr/>
        </p:nvSpPr>
        <p:spPr>
          <a:xfrm>
            <a:off x="2788920" y="3867912"/>
            <a:ext cx="17647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sp>
      <p:sp>
        <p:nvSpPr>
          <p:cNvPr id="38" name="Text 36"/>
          <p:cNvSpPr/>
          <p:nvPr/>
        </p:nvSpPr>
        <p:spPr>
          <a:xfrm>
            <a:off x="4983480" y="386791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sp>
      <p:sp>
        <p:nvSpPr>
          <p:cNvPr id="40" name="Text 38"/>
          <p:cNvSpPr/>
          <p:nvPr/>
        </p:nvSpPr>
        <p:spPr>
          <a:xfrm>
            <a:off x="548640" y="4526280"/>
            <a:ext cx="8046720" cy="292608"/>
          </a:xfrm>
          <a:prstGeom prst="rect">
            <a:avLst/>
          </a:prstGeom>
          <a:noFill/>
          <a:ln/>
        </p:spPr>
        <p:txBody>
          <a:bodyPr wrap="square" lIns="0" tIns="0" rIns="0" bIns="0" rtlCol="0" anchor="ctr"/>
          <a:lstStyle/>
          <a:p>
            <a:pPr indent="0" marL="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sp>
      <p:sp>
        <p:nvSpPr>
          <p:cNvPr id="5" name="Text 3"/>
          <p:cNvSpPr/>
          <p:nvPr/>
        </p:nvSpPr>
        <p:spPr>
          <a:xfrm>
            <a:off x="5486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7" name="Text 5"/>
          <p:cNvSpPr/>
          <p:nvPr/>
        </p:nvSpPr>
        <p:spPr>
          <a:xfrm>
            <a:off x="5486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sp>
      <p:sp>
        <p:nvSpPr>
          <p:cNvPr id="9" name="Text 7"/>
          <p:cNvSpPr/>
          <p:nvPr/>
        </p:nvSpPr>
        <p:spPr>
          <a:xfrm>
            <a:off x="26060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1" name="Text 9"/>
          <p:cNvSpPr/>
          <p:nvPr/>
        </p:nvSpPr>
        <p:spPr>
          <a:xfrm>
            <a:off x="26060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sp>
      <p:sp>
        <p:nvSpPr>
          <p:cNvPr id="13" name="Text 11"/>
          <p:cNvSpPr/>
          <p:nvPr/>
        </p:nvSpPr>
        <p:spPr>
          <a:xfrm>
            <a:off x="46634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5" name="Text 13"/>
          <p:cNvSpPr/>
          <p:nvPr/>
        </p:nvSpPr>
        <p:spPr>
          <a:xfrm>
            <a:off x="46634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sp>
      <p:sp>
        <p:nvSpPr>
          <p:cNvPr id="17" name="Text 15"/>
          <p:cNvSpPr/>
          <p:nvPr/>
        </p:nvSpPr>
        <p:spPr>
          <a:xfrm>
            <a:off x="67208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19" name="Text 17"/>
          <p:cNvSpPr/>
          <p:nvPr/>
        </p:nvSpPr>
        <p:spPr>
          <a:xfrm>
            <a:off x="67208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0" name="Text 18"/>
          <p:cNvSpPr/>
          <p:nvPr/>
        </p:nvSpPr>
        <p:spPr>
          <a:xfrm>
            <a:off x="548640" y="272491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Letter grade scale</a:t>
            </a:r>
            <a:endParaRPr lang="en-US" sz="1250" dirty="0"/>
          </a:p>
        </p:txBody>
      </p:sp>
      <p:sp>
        <p:nvSpPr>
          <p:cNvPr id="21" name="Shape 19"/>
          <p:cNvSpPr/>
          <p:nvPr/>
        </p:nvSpPr>
        <p:spPr>
          <a:xfrm>
            <a:off x="548640" y="3035808"/>
            <a:ext cx="1572768" cy="457200"/>
          </a:xfrm>
          <a:prstGeom prst="rect">
            <a:avLst/>
          </a:prstGeom>
          <a:solidFill>
            <a:srgbClr val="059669"/>
          </a:solidFill>
          <a:ln w="12700">
            <a:solidFill>
              <a:srgbClr val="059669"/>
            </a:solidFill>
            <a:prstDash val="solid"/>
          </a:ln>
        </p:spPr>
      </p:sp>
      <p:sp>
        <p:nvSpPr>
          <p:cNvPr id="22" name="Text 20"/>
          <p:cNvSpPr/>
          <p:nvPr/>
        </p:nvSpPr>
        <p:spPr>
          <a:xfrm>
            <a:off x="685800"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a:t>
            </a:r>
            <a:pPr indent="0" marL="0">
              <a:buNone/>
            </a:pP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3035808"/>
            <a:ext cx="1572768" cy="457200"/>
          </a:xfrm>
          <a:prstGeom prst="rect">
            <a:avLst/>
          </a:prstGeom>
          <a:solidFill>
            <a:srgbClr val="0D9488"/>
          </a:solidFill>
          <a:ln w="12700">
            <a:solidFill>
              <a:srgbClr val="0D9488"/>
            </a:solidFill>
            <a:prstDash val="solid"/>
          </a:ln>
        </p:spPr>
      </p:sp>
      <p:sp>
        <p:nvSpPr>
          <p:cNvPr id="24" name="Text 22"/>
          <p:cNvSpPr/>
          <p:nvPr/>
        </p:nvSpPr>
        <p:spPr>
          <a:xfrm>
            <a:off x="2295144"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  </a:t>
            </a:r>
            <a:pPr indent="0" marL="0">
              <a:buNone/>
            </a:pP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3035808"/>
            <a:ext cx="1572768" cy="457200"/>
          </a:xfrm>
          <a:prstGeom prst="rect">
            <a:avLst/>
          </a:prstGeom>
          <a:solidFill>
            <a:srgbClr val="1C4E80"/>
          </a:solidFill>
          <a:ln w="12700">
            <a:solidFill>
              <a:srgbClr val="1C4E80"/>
            </a:solidFill>
            <a:prstDash val="solid"/>
          </a:ln>
        </p:spPr>
      </p:sp>
      <p:sp>
        <p:nvSpPr>
          <p:cNvPr id="26" name="Text 24"/>
          <p:cNvSpPr/>
          <p:nvPr/>
        </p:nvSpPr>
        <p:spPr>
          <a:xfrm>
            <a:off x="3904488"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  </a:t>
            </a:r>
            <a:pPr indent="0" marL="0">
              <a:buNone/>
            </a:pP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3035808"/>
            <a:ext cx="1572768" cy="457200"/>
          </a:xfrm>
          <a:prstGeom prst="rect">
            <a:avLst/>
          </a:prstGeom>
          <a:solidFill>
            <a:srgbClr val="D97706"/>
          </a:solidFill>
          <a:ln w="12700">
            <a:solidFill>
              <a:srgbClr val="D97706"/>
            </a:solidFill>
            <a:prstDash val="solid"/>
          </a:ln>
        </p:spPr>
      </p:sp>
      <p:sp>
        <p:nvSpPr>
          <p:cNvPr id="28" name="Text 26"/>
          <p:cNvSpPr/>
          <p:nvPr/>
        </p:nvSpPr>
        <p:spPr>
          <a:xfrm>
            <a:off x="5513832"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  </a:t>
            </a:r>
            <a:pPr indent="0" marL="0">
              <a:buNone/>
            </a:pP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3035808"/>
            <a:ext cx="1572768" cy="457200"/>
          </a:xfrm>
          <a:prstGeom prst="rect">
            <a:avLst/>
          </a:prstGeom>
          <a:solidFill>
            <a:srgbClr val="DC2626"/>
          </a:solidFill>
          <a:ln w="12700">
            <a:solidFill>
              <a:srgbClr val="DC2626"/>
            </a:solidFill>
            <a:prstDash val="solid"/>
          </a:ln>
        </p:spPr>
      </p:sp>
      <p:sp>
        <p:nvSpPr>
          <p:cNvPr id="30" name="Text 28"/>
          <p:cNvSpPr/>
          <p:nvPr/>
        </p:nvSpPr>
        <p:spPr>
          <a:xfrm>
            <a:off x="7123176"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  </a:t>
            </a:r>
            <a:pPr indent="0" marL="0">
              <a:buNone/>
            </a:pP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82219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4114800"/>
            <a:ext cx="8046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 single number tells teams whether quality is improving; the per-category breakdown tells them which dimension needs attention. 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9319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sp>
      <p:sp>
        <p:nvSpPr>
          <p:cNvPr id="9" name="Text 7"/>
          <p:cNvSpPr/>
          <p:nvPr/>
        </p:nvSpPr>
        <p:spPr>
          <a:xfrm>
            <a:off x="548640" y="1655064"/>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sp>
      <p:sp>
        <p:nvSpPr>
          <p:cNvPr id="13" name="Text 11"/>
          <p:cNvSpPr/>
          <p:nvPr/>
        </p:nvSpPr>
        <p:spPr>
          <a:xfrm>
            <a:off x="548640" y="1956816"/>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sp>
      <p:sp>
        <p:nvSpPr>
          <p:cNvPr id="17" name="Text 15"/>
          <p:cNvSpPr/>
          <p:nvPr/>
        </p:nvSpPr>
        <p:spPr>
          <a:xfrm>
            <a:off x="548640" y="2258568"/>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sp>
      <p:sp>
        <p:nvSpPr>
          <p:cNvPr id="21" name="Text 19"/>
          <p:cNvSpPr/>
          <p:nvPr/>
        </p:nvSpPr>
        <p:spPr>
          <a:xfrm>
            <a:off x="548640" y="2560320"/>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sp>
      <p:sp>
        <p:nvSpPr>
          <p:cNvPr id="25" name="Text 23"/>
          <p:cNvSpPr/>
          <p:nvPr/>
        </p:nvSpPr>
        <p:spPr>
          <a:xfrm>
            <a:off x="548640" y="2944368"/>
            <a:ext cx="3931920" cy="292608"/>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clamps AP to 0; Architecture loses 9 to dependency-graph coupling; Code Quality 8 to smell density; 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sp>
      <p:sp>
        <p:nvSpPr>
          <p:cNvPr id="30" name="Text 28"/>
          <p:cNvSpPr/>
          <p:nvPr/>
        </p:nvSpPr>
        <p:spPr>
          <a:xfrm>
            <a:off x="8028432" y="13533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sp>
      <p:sp>
        <p:nvSpPr>
          <p:cNvPr id="34" name="Text 32"/>
          <p:cNvSpPr/>
          <p:nvPr/>
        </p:nvSpPr>
        <p:spPr>
          <a:xfrm>
            <a:off x="8028432" y="18105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sp>
      <p:sp>
        <p:nvSpPr>
          <p:cNvPr id="38" name="Text 36"/>
          <p:cNvSpPr/>
          <p:nvPr/>
        </p:nvSpPr>
        <p:spPr>
          <a:xfrm>
            <a:off x="8028432" y="22677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sp>
      <p:sp>
        <p:nvSpPr>
          <p:cNvPr id="42" name="Text 40"/>
          <p:cNvSpPr/>
          <p:nvPr/>
        </p:nvSpPr>
        <p:spPr>
          <a:xfrm>
            <a:off x="8028432" y="27249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40</a:t>
            </a:r>
            <a:pPr indent="0" marL="0">
              <a:buNone/>
            </a:pP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4" name="Text 42"/>
          <p:cNvSpPr/>
          <p:nvPr/>
        </p:nvSpPr>
        <p:spPr>
          <a:xfrm>
            <a:off x="4937760" y="4206240"/>
            <a:ext cx="36576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0 + 12 + 16 + 12</a:t>
            </a:r>
            <a:endParaRPr lang="en-US" sz="11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Evaluation: eleven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graphicFrame>
        <p:nvGraphicFramePr>
          <p:cNvPr id="4" name="Chart 0" descr=""/>
          <p:cNvGraphicFramePr/>
          <p:nvPr/>
        </p:nvGraphicFramePr>
        <p:xfrm>
          <a:off x="502920" y="960120"/>
          <a:ext cx="5029200" cy="2697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sp>
      <p:sp>
        <p:nvSpPr>
          <p:cNvPr id="7" name="Text 4"/>
          <p:cNvSpPr/>
          <p:nvPr/>
        </p:nvSpPr>
        <p:spPr>
          <a:xfrm>
            <a:off x="5943600" y="133502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sp>
      <p:sp>
        <p:nvSpPr>
          <p:cNvPr id="41" name="Text 38"/>
          <p:cNvSpPr/>
          <p:nvPr/>
        </p:nvSpPr>
        <p:spPr>
          <a:xfrm>
            <a:off x="5943600" y="3584448"/>
            <a:ext cx="1417320" cy="201168"/>
          </a:xfrm>
          <a:prstGeom prst="rect">
            <a:avLst/>
          </a:prstGeom>
          <a:noFill/>
          <a:ln/>
        </p:spPr>
        <p:txBody>
          <a:bodyPr wrap="square" lIns="0" tIns="0" rIns="0" bIns="0" rtlCol="0" anchor="ctr"/>
          <a:lstStyle/>
          <a:p>
            <a:pPr indent="0" marL="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algn="ctr" indent="0" marL="0">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algn="r" indent="0" marL="0">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 API Versioning Absence (37) and Nano Service (23) dominate</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sp>
      <p:sp>
        <p:nvSpPr>
          <p:cNvPr id="3" name="Text 1"/>
          <p:cNvSpPr/>
          <p:nvPr/>
        </p:nvSpPr>
        <p:spPr>
          <a:xfrm>
            <a:off x="548640" y="1051560"/>
            <a:ext cx="7863840" cy="77724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indent="0" marL="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Evaluation on 11 open-source projects; not a statistical claim</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sp>
      <p:sp>
        <p:nvSpPr>
          <p:cNvPr id="3" name="Text 1"/>
          <p:cNvSpPr/>
          <p:nvPr/>
        </p:nvSpPr>
        <p:spPr>
          <a:xfrm>
            <a:off x="548640" y="1097280"/>
            <a:ext cx="786384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4" name="Text 2"/>
          <p:cNvSpPr/>
          <p:nvPr/>
        </p:nvSpPr>
        <p:spPr>
          <a:xfrm>
            <a:off x="548640" y="1874520"/>
            <a:ext cx="7863840" cy="411480"/>
          </a:xfrm>
          <a:prstGeom prst="rect">
            <a:avLst/>
          </a:prstGeom>
          <a:noFill/>
          <a:ln/>
        </p:spPr>
        <p:txBody>
          <a:bodyPr wrap="square" lIns="0" tIns="0" rIns="0" bIns="0" rtlCol="0" anchor="ctr"/>
          <a:lstStyle/>
          <a:p>
            <a:pPr indent="0" marL="0">
              <a:buNone/>
            </a:pPr>
            <a:r>
              <a:rPr lang="en-US" sz="1800" i="1" dirty="0">
                <a:solidFill>
                  <a:srgbClr val="DBEAFE"/>
                </a:solidFill>
                <a:latin typeface="Calibri" pitchFamily="34" charset="0"/>
                <a:ea typeface="Calibri" pitchFamily="34" charset="-122"/>
                <a:cs typeface="Calibri" pitchFamily="34" charset="-120"/>
              </a:rPr>
              <a:t>Questions &amp; discussion</a:t>
            </a:r>
            <a:endParaRPr lang="en-US" sz="1800" dirty="0"/>
          </a:p>
        </p:txBody>
      </p:sp>
      <p:sp>
        <p:nvSpPr>
          <p:cNvPr id="5" name="Text 3"/>
          <p:cNvSpPr/>
          <p:nvPr/>
        </p:nvSpPr>
        <p:spPr>
          <a:xfrm>
            <a:off x="548640" y="2697480"/>
            <a:ext cx="7863840" cy="274320"/>
          </a:xfrm>
          <a:prstGeom prst="rect">
            <a:avLst/>
          </a:prstGeom>
          <a:noFill/>
          <a:ln/>
        </p:spPr>
        <p:txBody>
          <a:bodyPr wrap="square" lIns="0" tIns="0" rIns="0" bIns="0" rtlCol="0" anchor="ctr"/>
          <a:lstStyle/>
          <a:p>
            <a:pPr indent="0" marL="0">
              <a:buNone/>
            </a:pPr>
            <a:r>
              <a:rPr lang="en-US" sz="1100" b="1" spc="300" kern="0" dirty="0">
                <a:solidFill>
                  <a:srgbClr val="0D9488"/>
                </a:solidFill>
                <a:latin typeface="Calibri" pitchFamily="34" charset="0"/>
                <a:ea typeface="Calibri" pitchFamily="34" charset="-122"/>
                <a:cs typeface="Calibri" pitchFamily="34" charset="-120"/>
              </a:rPr>
              <a:t>FINAL CLAIMS</a:t>
            </a:r>
            <a:endParaRPr lang="en-US" sz="1100" dirty="0"/>
          </a:p>
        </p:txBody>
      </p:sp>
      <p:sp>
        <p:nvSpPr>
          <p:cNvPr id="6" name="Text 4"/>
          <p:cNvSpPr/>
          <p:nvPr/>
        </p:nvSpPr>
        <p:spPr>
          <a:xfrm>
            <a:off x="731520" y="301752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Open-source web application, ready for CI/CD integration</a:t>
            </a:r>
            <a:endParaRPr lang="en-US" sz="1250" dirty="0"/>
          </a:p>
        </p:txBody>
      </p:sp>
      <p:sp>
        <p:nvSpPr>
          <p:cNvPr id="7" name="Text 5"/>
          <p:cNvSpPr/>
          <p:nvPr/>
        </p:nvSpPr>
        <p:spPr>
          <a:xfrm>
            <a:off x="548640" y="4617720"/>
            <a:ext cx="7863840" cy="274320"/>
          </a:xfrm>
          <a:prstGeom prst="rect">
            <a:avLst/>
          </a:prstGeom>
          <a:noFill/>
          <a:ln/>
        </p:spPr>
        <p:txBody>
          <a:bodyPr wrap="square" lIns="0" tIns="0" rIns="0" bIns="0" rtlCol="0" anchor="ctr"/>
          <a:lstStyle/>
          <a:p>
            <a:pPr indent="0" marL="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
        <p:nvSpPr>
          <p:cNvPr id="8" name="Text 6"/>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14 / 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Selected 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3" name="Text 31"/>
          <p:cNvSpPr/>
          <p:nvPr/>
        </p:nvSpPr>
        <p:spPr>
          <a:xfrm>
            <a:off x="548640" y="4663440"/>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Full bibliography is available in the dissertation reference list.</a:t>
            </a:r>
            <a:endParaRPr lang="en-US" sz="950" dirty="0"/>
          </a:p>
        </p:txBody>
      </p:sp>
      <p:sp>
        <p:nvSpPr>
          <p:cNvPr id="34" name="Text 32"/>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core definitions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11480" cy="36576"/>
          </a:xfrm>
          <a:prstGeom prst="rect">
            <a:avLst/>
          </a:prstGeom>
          <a:solidFill>
            <a:srgbClr val="0D9488"/>
          </a:solidFill>
          <a:ln w="12700">
            <a:solidFill>
              <a:srgbClr val="0D9488"/>
            </a:solidFill>
            <a:prstDash val="solid"/>
          </a:ln>
        </p:spPr>
      </p:sp>
      <p:sp>
        <p:nvSpPr>
          <p:cNvPr id="5" name="Text 3"/>
          <p:cNvSpPr/>
          <p:nvPr/>
        </p:nvSpPr>
        <p:spPr>
          <a:xfrm>
            <a:off x="548640" y="1152144"/>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Microservice</a:t>
            </a:r>
            <a:endParaRPr lang="en-US" sz="1250" dirty="0"/>
          </a:p>
        </p:txBody>
      </p:sp>
      <p:sp>
        <p:nvSpPr>
          <p:cNvPr id="6" name="Text 4"/>
          <p:cNvSpPr/>
          <p:nvPr/>
        </p:nvSpPr>
        <p:spPr>
          <a:xfrm>
            <a:off x="548640" y="1463040"/>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small, independently deployable service organised around a business capability, communicating with other services through lightweight APIs.</a:t>
            </a:r>
            <a:endParaRPr lang="en-US" sz="1020" dirty="0"/>
          </a:p>
        </p:txBody>
      </p:sp>
      <p:sp>
        <p:nvSpPr>
          <p:cNvPr id="7" name="Shape 5"/>
          <p:cNvSpPr/>
          <p:nvPr/>
        </p:nvSpPr>
        <p:spPr>
          <a:xfrm>
            <a:off x="548640" y="2011680"/>
            <a:ext cx="3703320" cy="9144"/>
          </a:xfrm>
          <a:prstGeom prst="rect">
            <a:avLst/>
          </a:prstGeom>
          <a:solidFill>
            <a:srgbClr val="D8DEE6"/>
          </a:solidFill>
          <a:ln w="12700">
            <a:solidFill>
              <a:srgbClr val="D8DEE6"/>
            </a:solidFill>
            <a:prstDash val="solid"/>
          </a:ln>
        </p:spPr>
      </p:sp>
      <p:sp>
        <p:nvSpPr>
          <p:cNvPr id="8" name="Shape 6"/>
          <p:cNvSpPr/>
          <p:nvPr/>
        </p:nvSpPr>
        <p:spPr>
          <a:xfrm>
            <a:off x="4617720" y="1024128"/>
            <a:ext cx="411480" cy="36576"/>
          </a:xfrm>
          <a:prstGeom prst="rect">
            <a:avLst/>
          </a:prstGeom>
          <a:solidFill>
            <a:srgbClr val="1C4E80"/>
          </a:solidFill>
          <a:ln w="12700">
            <a:solidFill>
              <a:srgbClr val="1C4E80"/>
            </a:solidFill>
            <a:prstDash val="solid"/>
          </a:ln>
        </p:spPr>
      </p:sp>
      <p:sp>
        <p:nvSpPr>
          <p:cNvPr id="9" name="Text 7"/>
          <p:cNvSpPr/>
          <p:nvPr/>
        </p:nvSpPr>
        <p:spPr>
          <a:xfrm>
            <a:off x="4617720" y="1152144"/>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Architectural anti-pattern</a:t>
            </a:r>
            <a:endParaRPr lang="en-US" sz="1250" dirty="0"/>
          </a:p>
        </p:txBody>
      </p:sp>
      <p:sp>
        <p:nvSpPr>
          <p:cNvPr id="10" name="Text 8"/>
          <p:cNvSpPr/>
          <p:nvPr/>
        </p:nvSpPr>
        <p:spPr>
          <a:xfrm>
            <a:off x="4617720" y="1463040"/>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recurring architectural decision that appears useful locally, but creates long-term coupling, fragility, or operational cost.</a:t>
            </a:r>
            <a:endParaRPr lang="en-US" sz="1020" dirty="0"/>
          </a:p>
        </p:txBody>
      </p:sp>
      <p:sp>
        <p:nvSpPr>
          <p:cNvPr id="11" name="Shape 9"/>
          <p:cNvSpPr/>
          <p:nvPr/>
        </p:nvSpPr>
        <p:spPr>
          <a:xfrm>
            <a:off x="4617720" y="2011680"/>
            <a:ext cx="3703320" cy="9144"/>
          </a:xfrm>
          <a:prstGeom prst="rect">
            <a:avLst/>
          </a:prstGeom>
          <a:solidFill>
            <a:srgbClr val="D8DEE6"/>
          </a:solidFill>
          <a:ln w="12700">
            <a:solidFill>
              <a:srgbClr val="D8DEE6"/>
            </a:solidFill>
            <a:prstDash val="solid"/>
          </a:ln>
        </p:spPr>
      </p:sp>
      <p:sp>
        <p:nvSpPr>
          <p:cNvPr id="12" name="Shape 10"/>
          <p:cNvSpPr/>
          <p:nvPr/>
        </p:nvSpPr>
        <p:spPr>
          <a:xfrm>
            <a:off x="548640" y="2139696"/>
            <a:ext cx="411480" cy="36576"/>
          </a:xfrm>
          <a:prstGeom prst="rect">
            <a:avLst/>
          </a:prstGeom>
          <a:solidFill>
            <a:srgbClr val="0D9488"/>
          </a:solidFill>
          <a:ln w="12700">
            <a:solidFill>
              <a:srgbClr val="0D9488"/>
            </a:solidFill>
            <a:prstDash val="solid"/>
          </a:ln>
        </p:spPr>
      </p:sp>
      <p:sp>
        <p:nvSpPr>
          <p:cNvPr id="13" name="Text 11"/>
          <p:cNvSpPr/>
          <p:nvPr/>
        </p:nvSpPr>
        <p:spPr>
          <a:xfrm>
            <a:off x="548640" y="2267712"/>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Service boundary</a:t>
            </a:r>
            <a:endParaRPr lang="en-US" sz="1250" dirty="0"/>
          </a:p>
        </p:txBody>
      </p:sp>
      <p:sp>
        <p:nvSpPr>
          <p:cNvPr id="14" name="Text 12"/>
          <p:cNvSpPr/>
          <p:nvPr/>
        </p:nvSpPr>
        <p:spPr>
          <a:xfrm>
            <a:off x="548640" y="2578608"/>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The deployable unit recovered from a repository: build module plus framework entry point, Dockerfile, or main method signal.</a:t>
            </a:r>
            <a:endParaRPr lang="en-US" sz="1020" dirty="0"/>
          </a:p>
        </p:txBody>
      </p:sp>
      <p:sp>
        <p:nvSpPr>
          <p:cNvPr id="15" name="Shape 13"/>
          <p:cNvSpPr/>
          <p:nvPr/>
        </p:nvSpPr>
        <p:spPr>
          <a:xfrm>
            <a:off x="548640" y="3127248"/>
            <a:ext cx="3703320" cy="9144"/>
          </a:xfrm>
          <a:prstGeom prst="rect">
            <a:avLst/>
          </a:prstGeom>
          <a:solidFill>
            <a:srgbClr val="D8DEE6"/>
          </a:solidFill>
          <a:ln w="12700">
            <a:solidFill>
              <a:srgbClr val="D8DEE6"/>
            </a:solidFill>
            <a:prstDash val="solid"/>
          </a:ln>
        </p:spPr>
      </p:sp>
      <p:sp>
        <p:nvSpPr>
          <p:cNvPr id="16" name="Shape 14"/>
          <p:cNvSpPr/>
          <p:nvPr/>
        </p:nvSpPr>
        <p:spPr>
          <a:xfrm>
            <a:off x="4617720" y="2139696"/>
            <a:ext cx="411480" cy="36576"/>
          </a:xfrm>
          <a:prstGeom prst="rect">
            <a:avLst/>
          </a:prstGeom>
          <a:solidFill>
            <a:srgbClr val="1C4E80"/>
          </a:solidFill>
          <a:ln w="12700">
            <a:solidFill>
              <a:srgbClr val="1C4E80"/>
            </a:solidFill>
            <a:prstDash val="solid"/>
          </a:ln>
        </p:spPr>
      </p:sp>
      <p:sp>
        <p:nvSpPr>
          <p:cNvPr id="17" name="Text 15"/>
          <p:cNvSpPr/>
          <p:nvPr/>
        </p:nvSpPr>
        <p:spPr>
          <a:xfrm>
            <a:off x="4617720" y="2267712"/>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Evidence-based finding</a:t>
            </a:r>
            <a:endParaRPr lang="en-US" sz="1250" dirty="0"/>
          </a:p>
        </p:txBody>
      </p:sp>
      <p:sp>
        <p:nvSpPr>
          <p:cNvPr id="18" name="Text 16"/>
          <p:cNvSpPr/>
          <p:nvPr/>
        </p:nvSpPr>
        <p:spPr>
          <a:xfrm>
            <a:off x="4617720" y="2578608"/>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detected issue linked to affected services, source snippets, graph evidence, severity, and remediation guidance.</a:t>
            </a:r>
            <a:endParaRPr lang="en-US" sz="1020" dirty="0"/>
          </a:p>
        </p:txBody>
      </p:sp>
      <p:sp>
        <p:nvSpPr>
          <p:cNvPr id="19" name="Shape 17"/>
          <p:cNvSpPr/>
          <p:nvPr/>
        </p:nvSpPr>
        <p:spPr>
          <a:xfrm>
            <a:off x="4617720" y="3127248"/>
            <a:ext cx="3703320" cy="9144"/>
          </a:xfrm>
          <a:prstGeom prst="rect">
            <a:avLst/>
          </a:prstGeom>
          <a:solidFill>
            <a:srgbClr val="D8DEE6"/>
          </a:solidFill>
          <a:ln w="12700">
            <a:solidFill>
              <a:srgbClr val="D8DEE6"/>
            </a:solidFill>
            <a:prstDash val="solid"/>
          </a:ln>
        </p:spPr>
      </p:sp>
      <p:sp>
        <p:nvSpPr>
          <p:cNvPr id="20" name="Shape 18"/>
          <p:cNvSpPr/>
          <p:nvPr/>
        </p:nvSpPr>
        <p:spPr>
          <a:xfrm>
            <a:off x="548640" y="3255264"/>
            <a:ext cx="411480" cy="36576"/>
          </a:xfrm>
          <a:prstGeom prst="rect">
            <a:avLst/>
          </a:prstGeom>
          <a:solidFill>
            <a:srgbClr val="0D9488"/>
          </a:solidFill>
          <a:ln w="12700">
            <a:solidFill>
              <a:srgbClr val="0D9488"/>
            </a:solidFill>
            <a:prstDash val="solid"/>
          </a:ln>
        </p:spPr>
      </p:sp>
      <p:sp>
        <p:nvSpPr>
          <p:cNvPr id="21" name="Text 19"/>
          <p:cNvSpPr/>
          <p:nvPr/>
        </p:nvSpPr>
        <p:spPr>
          <a:xfrm>
            <a:off x="548640" y="3383280"/>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Multi-level analysis</a:t>
            </a:r>
            <a:endParaRPr lang="en-US" sz="1250" dirty="0"/>
          </a:p>
        </p:txBody>
      </p:sp>
      <p:sp>
        <p:nvSpPr>
          <p:cNvPr id="22" name="Text 20"/>
          <p:cNvSpPr/>
          <p:nvPr/>
        </p:nvSpPr>
        <p:spPr>
          <a:xfrm>
            <a:off x="548640" y="3694176"/>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Combining intra-service code metrics and smells with inter-service dependency graph analysis.</a:t>
            </a:r>
            <a:endParaRPr lang="en-US" sz="1020" dirty="0"/>
          </a:p>
        </p:txBody>
      </p:sp>
      <p:sp>
        <p:nvSpPr>
          <p:cNvPr id="23" name="Shape 21"/>
          <p:cNvSpPr/>
          <p:nvPr/>
        </p:nvSpPr>
        <p:spPr>
          <a:xfrm>
            <a:off x="548640" y="4242816"/>
            <a:ext cx="3703320" cy="9144"/>
          </a:xfrm>
          <a:prstGeom prst="rect">
            <a:avLst/>
          </a:prstGeom>
          <a:solidFill>
            <a:srgbClr val="D8DEE6"/>
          </a:solidFill>
          <a:ln w="12700">
            <a:solidFill>
              <a:srgbClr val="D8DEE6"/>
            </a:solidFill>
            <a:prstDash val="solid"/>
          </a:ln>
        </p:spPr>
      </p:sp>
      <p:sp>
        <p:nvSpPr>
          <p:cNvPr id="24" name="Shape 22"/>
          <p:cNvSpPr/>
          <p:nvPr/>
        </p:nvSpPr>
        <p:spPr>
          <a:xfrm>
            <a:off x="4617720" y="3255264"/>
            <a:ext cx="411480" cy="36576"/>
          </a:xfrm>
          <a:prstGeom prst="rect">
            <a:avLst/>
          </a:prstGeom>
          <a:solidFill>
            <a:srgbClr val="1C4E80"/>
          </a:solidFill>
          <a:ln w="12700">
            <a:solidFill>
              <a:srgbClr val="1C4E80"/>
            </a:solidFill>
            <a:prstDash val="solid"/>
          </a:ln>
        </p:spPr>
      </p:sp>
      <p:sp>
        <p:nvSpPr>
          <p:cNvPr id="25" name="Text 23"/>
          <p:cNvSpPr/>
          <p:nvPr/>
        </p:nvSpPr>
        <p:spPr>
          <a:xfrm>
            <a:off x="4617720" y="3383280"/>
            <a:ext cx="3703320" cy="256032"/>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Health score</a:t>
            </a:r>
            <a:endParaRPr lang="en-US" sz="1250" dirty="0"/>
          </a:p>
        </p:txBody>
      </p:sp>
      <p:sp>
        <p:nvSpPr>
          <p:cNvPr id="26" name="Text 24"/>
          <p:cNvSpPr/>
          <p:nvPr/>
        </p:nvSpPr>
        <p:spPr>
          <a:xfrm>
            <a:off x="4617720" y="3694176"/>
            <a:ext cx="3703320" cy="502920"/>
          </a:xfrm>
          <a:prstGeom prst="rect">
            <a:avLst/>
          </a:prstGeom>
          <a:noFill/>
          <a:ln/>
        </p:spPr>
        <p:txBody>
          <a:bodyPr wrap="square" lIns="0" tIns="0" rIns="0" bIns="0" rtlCol="0" anchor="ctr"/>
          <a:lstStyle/>
          <a:p>
            <a:pPr indent="0" marL="0">
              <a:buNone/>
            </a:pPr>
            <a:r>
              <a:rPr lang="en-US" sz="1020" dirty="0">
                <a:solidFill>
                  <a:srgbClr val="1E293B"/>
                </a:solidFill>
                <a:latin typeface="Calibri" pitchFamily="34" charset="0"/>
                <a:ea typeface="Calibri" pitchFamily="34" charset="-122"/>
                <a:cs typeface="Calibri" pitchFamily="34" charset="-120"/>
              </a:rPr>
              <a:t>A 0-100 composite quality indicator decomposed into Anti-Patterns, Code Quality, Architecture, and Service Sizing.</a:t>
            </a:r>
            <a:endParaRPr lang="en-US" sz="1020" dirty="0"/>
          </a:p>
        </p:txBody>
      </p:sp>
      <p:sp>
        <p:nvSpPr>
          <p:cNvPr id="27" name="Shape 25"/>
          <p:cNvSpPr/>
          <p:nvPr/>
        </p:nvSpPr>
        <p:spPr>
          <a:xfrm>
            <a:off x="4617720" y="4242816"/>
            <a:ext cx="3703320" cy="9144"/>
          </a:xfrm>
          <a:prstGeom prst="rect">
            <a:avLst/>
          </a:prstGeom>
          <a:solidFill>
            <a:srgbClr val="D8DEE6"/>
          </a:solidFill>
          <a:ln w="12700">
            <a:solidFill>
              <a:srgbClr val="D8DEE6"/>
            </a:solidFill>
            <a:prstDash val="solid"/>
          </a:ln>
        </p:spPr>
      </p:sp>
      <p:sp>
        <p:nvSpPr>
          <p:cNvPr id="28" name="Shape 26"/>
          <p:cNvSpPr/>
          <p:nvPr/>
        </p:nvSpPr>
        <p:spPr>
          <a:xfrm>
            <a:off x="548640" y="4498848"/>
            <a:ext cx="457200" cy="36576"/>
          </a:xfrm>
          <a:prstGeom prst="rect">
            <a:avLst/>
          </a:prstGeom>
          <a:solidFill>
            <a:srgbClr val="0D9488"/>
          </a:solidFill>
          <a:ln w="12700">
            <a:solidFill>
              <a:srgbClr val="0D9488"/>
            </a:solidFill>
            <a:prstDash val="solid"/>
          </a:ln>
        </p:spPr>
      </p:sp>
      <p:sp>
        <p:nvSpPr>
          <p:cNvPr id="29" name="Text 27"/>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Use this slide only if the committee asks for terminology or scope clarification.</a:t>
            </a:r>
            <a:endParaRPr lang="en-US" sz="950" dirty="0"/>
          </a:p>
        </p:txBody>
      </p:sp>
      <p:sp>
        <p:nvSpPr>
          <p:cNvPr id="30" name="Text 28"/>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A</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formulas &amp; metrics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Tight Class Cohesion</a:t>
            </a:r>
            <a:endParaRPr lang="en-US" sz="1120" dirty="0"/>
          </a:p>
        </p:txBody>
      </p:sp>
      <p:sp>
        <p:nvSpPr>
          <p:cNvPr id="5" name="Text 3"/>
          <p:cNvSpPr/>
          <p:nvPr/>
        </p:nvSpPr>
        <p:spPr>
          <a:xfrm>
            <a:off x="3063240" y="10241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TCC = NDC / NP</a:t>
            </a:r>
            <a:endParaRPr lang="en-US" sz="1080" dirty="0"/>
          </a:p>
        </p:txBody>
      </p:sp>
      <p:sp>
        <p:nvSpPr>
          <p:cNvPr id="6" name="Text 4"/>
          <p:cNvSpPr/>
          <p:nvPr/>
        </p:nvSpPr>
        <p:spPr>
          <a:xfrm>
            <a:off x="5715000" y="10058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NDC = directly connected method pairs; NP = all possible method pairs. Low TCC means methods operate on disjoint state.</a:t>
            </a:r>
            <a:endParaRPr lang="en-US" sz="880" dirty="0"/>
          </a:p>
        </p:txBody>
      </p:sp>
      <p:sp>
        <p:nvSpPr>
          <p:cNvPr id="7" name="Shape 5"/>
          <p:cNvSpPr/>
          <p:nvPr/>
        </p:nvSpPr>
        <p:spPr>
          <a:xfrm>
            <a:off x="548640" y="1499616"/>
            <a:ext cx="8046720" cy="9144"/>
          </a:xfrm>
          <a:prstGeom prst="rect">
            <a:avLst/>
          </a:prstGeom>
          <a:solidFill>
            <a:srgbClr val="D8DEE6"/>
          </a:solidFill>
          <a:ln w="12700">
            <a:solidFill>
              <a:srgbClr val="D8DEE6"/>
            </a:solidFill>
            <a:prstDash val="solid"/>
          </a:ln>
        </p:spPr>
      </p:sp>
      <p:sp>
        <p:nvSpPr>
          <p:cNvPr id="8" name="Text 6"/>
          <p:cNvSpPr/>
          <p:nvPr/>
        </p:nvSpPr>
        <p:spPr>
          <a:xfrm>
            <a:off x="548640" y="17099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Code smell density</a:t>
            </a:r>
            <a:endParaRPr lang="en-US" sz="1120" dirty="0"/>
          </a:p>
        </p:txBody>
      </p:sp>
      <p:sp>
        <p:nvSpPr>
          <p:cNvPr id="9" name="Text 7"/>
          <p:cNvSpPr/>
          <p:nvPr/>
        </p:nvSpPr>
        <p:spPr>
          <a:xfrm>
            <a:off x="3063240" y="17099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smellDensity = smellCount / (LOC / 1000)</a:t>
            </a:r>
            <a:endParaRPr lang="en-US" sz="1080" dirty="0"/>
          </a:p>
        </p:txBody>
      </p:sp>
      <p:sp>
        <p:nvSpPr>
          <p:cNvPr id="10" name="Text 8"/>
          <p:cNvSpPr/>
          <p:nvPr/>
        </p:nvSpPr>
        <p:spPr>
          <a:xfrm>
            <a:off x="5715000" y="16916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Normalises DesigniteJava smell count by service size, so larger codebases are not punished only for being larger.</a:t>
            </a:r>
            <a:endParaRPr lang="en-US" sz="880" dirty="0"/>
          </a:p>
        </p:txBody>
      </p:sp>
      <p:sp>
        <p:nvSpPr>
          <p:cNvPr id="11" name="Shape 9"/>
          <p:cNvSpPr/>
          <p:nvPr/>
        </p:nvSpPr>
        <p:spPr>
          <a:xfrm>
            <a:off x="548640" y="2185416"/>
            <a:ext cx="8046720" cy="9144"/>
          </a:xfrm>
          <a:prstGeom prst="rect">
            <a:avLst/>
          </a:prstGeom>
          <a:solidFill>
            <a:srgbClr val="D8DEE6"/>
          </a:solidFill>
          <a:ln w="12700">
            <a:solidFill>
              <a:srgbClr val="D8DEE6"/>
            </a:solidFill>
            <a:prstDash val="solid"/>
          </a:ln>
        </p:spPr>
      </p:sp>
      <p:sp>
        <p:nvSpPr>
          <p:cNvPr id="12" name="Text 10"/>
          <p:cNvSpPr/>
          <p:nvPr/>
        </p:nvSpPr>
        <p:spPr>
          <a:xfrm>
            <a:off x="548640" y="23957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Graph coupling coefficient</a:t>
            </a:r>
            <a:endParaRPr lang="en-US" sz="1120" dirty="0"/>
          </a:p>
        </p:txBody>
      </p:sp>
      <p:sp>
        <p:nvSpPr>
          <p:cNvPr id="13" name="Text 11"/>
          <p:cNvSpPr/>
          <p:nvPr/>
        </p:nvSpPr>
        <p:spPr>
          <a:xfrm>
            <a:off x="3063240" y="23957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coupling = E / (N × (N - 1))</a:t>
            </a:r>
            <a:endParaRPr lang="en-US" sz="1080" dirty="0"/>
          </a:p>
        </p:txBody>
      </p:sp>
      <p:sp>
        <p:nvSpPr>
          <p:cNvPr id="14" name="Text 12"/>
          <p:cNvSpPr/>
          <p:nvPr/>
        </p:nvSpPr>
        <p:spPr>
          <a:xfrm>
            <a:off x="5715000" y="23774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E = directed dependency edges; N = detected services. Higher values mean denser inter-service coupling.</a:t>
            </a:r>
            <a:endParaRPr lang="en-US" sz="880" dirty="0"/>
          </a:p>
        </p:txBody>
      </p:sp>
      <p:sp>
        <p:nvSpPr>
          <p:cNvPr id="15" name="Shape 13"/>
          <p:cNvSpPr/>
          <p:nvPr/>
        </p:nvSpPr>
        <p:spPr>
          <a:xfrm>
            <a:off x="548640" y="2871216"/>
            <a:ext cx="8046720" cy="9144"/>
          </a:xfrm>
          <a:prstGeom prst="rect">
            <a:avLst/>
          </a:prstGeom>
          <a:solidFill>
            <a:srgbClr val="D8DEE6"/>
          </a:solidFill>
          <a:ln w="12700">
            <a:solidFill>
              <a:srgbClr val="D8DEE6"/>
            </a:solidFill>
            <a:prstDash val="solid"/>
          </a:ln>
        </p:spPr>
      </p:sp>
      <p:sp>
        <p:nvSpPr>
          <p:cNvPr id="16" name="Text 14"/>
          <p:cNvSpPr/>
          <p:nvPr/>
        </p:nvSpPr>
        <p:spPr>
          <a:xfrm>
            <a:off x="548640" y="30815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Dependency edge weight</a:t>
            </a:r>
            <a:endParaRPr lang="en-US" sz="1120" dirty="0"/>
          </a:p>
        </p:txBody>
      </p:sp>
      <p:sp>
        <p:nvSpPr>
          <p:cNvPr id="17" name="Text 15"/>
          <p:cNvSpPr/>
          <p:nvPr/>
        </p:nvSpPr>
        <p:spPr>
          <a:xfrm>
            <a:off x="3063240" y="30815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weight(A, B) = distinct call sites from A to B</a:t>
            </a:r>
            <a:endParaRPr lang="en-US" sz="1080" dirty="0"/>
          </a:p>
        </p:txBody>
      </p:sp>
      <p:sp>
        <p:nvSpPr>
          <p:cNvPr id="18" name="Text 16"/>
          <p:cNvSpPr/>
          <p:nvPr/>
        </p:nvSpPr>
        <p:spPr>
          <a:xfrm>
            <a:off x="5715000" y="30632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Recovered from Feign clients, RestTemplate calls, and WebClient invocations in the Spoon AST.</a:t>
            </a:r>
            <a:endParaRPr lang="en-US" sz="880" dirty="0"/>
          </a:p>
        </p:txBody>
      </p:sp>
      <p:sp>
        <p:nvSpPr>
          <p:cNvPr id="19" name="Shape 17"/>
          <p:cNvSpPr/>
          <p:nvPr/>
        </p:nvSpPr>
        <p:spPr>
          <a:xfrm>
            <a:off x="548640" y="3557016"/>
            <a:ext cx="8046720" cy="9144"/>
          </a:xfrm>
          <a:prstGeom prst="rect">
            <a:avLst/>
          </a:prstGeom>
          <a:solidFill>
            <a:srgbClr val="D8DEE6"/>
          </a:solidFill>
          <a:ln w="12700">
            <a:solidFill>
              <a:srgbClr val="D8DEE6"/>
            </a:solidFill>
            <a:prstDash val="solid"/>
          </a:ln>
        </p:spPr>
      </p:sp>
      <p:sp>
        <p:nvSpPr>
          <p:cNvPr id="20" name="Text 18"/>
          <p:cNvSpPr/>
          <p:nvPr/>
        </p:nvSpPr>
        <p:spPr>
          <a:xfrm>
            <a:off x="548640" y="3767328"/>
            <a:ext cx="2423160" cy="256032"/>
          </a:xfrm>
          <a:prstGeom prst="rect">
            <a:avLst/>
          </a:prstGeom>
          <a:noFill/>
          <a:ln/>
        </p:spPr>
        <p:txBody>
          <a:bodyPr wrap="square" lIns="0" tIns="0" rIns="0" bIns="0" rtlCol="0" anchor="ctr"/>
          <a:lstStyle/>
          <a:p>
            <a:pPr indent="0" marL="0">
              <a:buNone/>
            </a:pPr>
            <a:r>
              <a:rPr lang="en-US" sz="1120" b="1" dirty="0">
                <a:solidFill>
                  <a:srgbClr val="0F2A44"/>
                </a:solidFill>
                <a:latin typeface="Calibri" pitchFamily="34" charset="0"/>
                <a:ea typeface="Calibri" pitchFamily="34" charset="-122"/>
                <a:cs typeface="Calibri" pitchFamily="34" charset="-120"/>
              </a:rPr>
              <a:t>Service size ratio</a:t>
            </a:r>
            <a:endParaRPr lang="en-US" sz="1120" dirty="0"/>
          </a:p>
        </p:txBody>
      </p:sp>
      <p:sp>
        <p:nvSpPr>
          <p:cNvPr id="21" name="Text 19"/>
          <p:cNvSpPr/>
          <p:nvPr/>
        </p:nvSpPr>
        <p:spPr>
          <a:xfrm>
            <a:off x="3063240" y="3767328"/>
            <a:ext cx="2468880" cy="256032"/>
          </a:xfrm>
          <a:prstGeom prst="rect">
            <a:avLst/>
          </a:prstGeom>
          <a:noFill/>
          <a:ln/>
        </p:spPr>
        <p:txBody>
          <a:bodyPr wrap="square" lIns="0" tIns="0" rIns="0" bIns="0" rtlCol="0" anchor="ctr">
            <a:normAutofit/>
          </a:bodyPr>
          <a:lstStyle/>
          <a:p>
            <a:pPr indent="0" marL="0">
              <a:buNone/>
            </a:pPr>
            <a:r>
              <a:rPr lang="en-US" sz="1080" b="1" dirty="0">
                <a:solidFill>
                  <a:srgbClr val="0D9488"/>
                </a:solidFill>
                <a:latin typeface="Calibri" pitchFamily="34" charset="0"/>
                <a:ea typeface="Calibri" pitchFamily="34" charset="-122"/>
                <a:cs typeface="Calibri" pitchFamily="34" charset="-120"/>
              </a:rPr>
              <a:t>sizeRatio = LOC(service) / medianLOC(project)</a:t>
            </a:r>
            <a:endParaRPr lang="en-US" sz="1080" dirty="0"/>
          </a:p>
        </p:txBody>
      </p:sp>
      <p:sp>
        <p:nvSpPr>
          <p:cNvPr id="22" name="Text 20"/>
          <p:cNvSpPr/>
          <p:nvPr/>
        </p:nvSpPr>
        <p:spPr>
          <a:xfrm>
            <a:off x="5715000" y="3749040"/>
            <a:ext cx="288036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Used as supporting evidence for Nano Service and God Service-style sizing findings.</a:t>
            </a:r>
            <a:endParaRPr lang="en-US" sz="880" dirty="0"/>
          </a:p>
        </p:txBody>
      </p:sp>
      <p:sp>
        <p:nvSpPr>
          <p:cNvPr id="23" name="Shape 21"/>
          <p:cNvSpPr/>
          <p:nvPr/>
        </p:nvSpPr>
        <p:spPr>
          <a:xfrm>
            <a:off x="548640" y="4242816"/>
            <a:ext cx="8046720" cy="9144"/>
          </a:xfrm>
          <a:prstGeom prst="rect">
            <a:avLst/>
          </a:prstGeom>
          <a:solidFill>
            <a:srgbClr val="D8DEE6"/>
          </a:solidFill>
          <a:ln w="12700">
            <a:solidFill>
              <a:srgbClr val="D8DEE6"/>
            </a:solidFill>
            <a:prstDash val="solid"/>
          </a:ln>
        </p:spPr>
      </p:sp>
      <p:sp>
        <p:nvSpPr>
          <p:cNvPr id="24" name="Shape 22"/>
          <p:cNvSpPr/>
          <p:nvPr/>
        </p:nvSpPr>
        <p:spPr>
          <a:xfrm>
            <a:off x="548640" y="4498848"/>
            <a:ext cx="457200" cy="36576"/>
          </a:xfrm>
          <a:prstGeom prst="rect">
            <a:avLst/>
          </a:prstGeom>
          <a:solidFill>
            <a:srgbClr val="0D9488"/>
          </a:solidFill>
          <a:ln w="12700">
            <a:solidFill>
              <a:srgbClr val="0D9488"/>
            </a:solidFill>
            <a:prstDash val="solid"/>
          </a:ln>
        </p:spPr>
      </p:sp>
      <p:sp>
        <p:nvSpPr>
          <p:cNvPr id="25" name="Text 23"/>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TCC follows Bieman &amp; Kang's cohesion interpretation; graph metrics use the recovered directed service dependency graph.</a:t>
            </a:r>
            <a:endParaRPr lang="en-US" sz="950" dirty="0"/>
          </a:p>
        </p:txBody>
      </p:sp>
      <p:sp>
        <p:nvSpPr>
          <p:cNvPr id="26" name="Text 24"/>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B</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health score computation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8046720" cy="27432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Overall score</a:t>
            </a:r>
            <a:endParaRPr lang="en-US" sz="1300" dirty="0"/>
          </a:p>
        </p:txBody>
      </p:sp>
      <p:sp>
        <p:nvSpPr>
          <p:cNvPr id="5" name="Text 3"/>
          <p:cNvSpPr/>
          <p:nvPr/>
        </p:nvSpPr>
        <p:spPr>
          <a:xfrm>
            <a:off x="548640" y="1353312"/>
            <a:ext cx="8046720" cy="384048"/>
          </a:xfrm>
          <a:prstGeom prst="rect">
            <a:avLst/>
          </a:prstGeom>
          <a:noFill/>
          <a:ln/>
        </p:spPr>
        <p:txBody>
          <a:bodyPr wrap="square" lIns="0" tIns="0" rIns="0" bIns="0" rtlCol="0" anchor="ctr"/>
          <a:lstStyle/>
          <a:p>
            <a:pPr algn="ctr" indent="0" marL="0">
              <a:buNone/>
            </a:pPr>
            <a:r>
              <a:rPr lang="en-US" sz="2000" b="1" dirty="0">
                <a:solidFill>
                  <a:srgbClr val="0D9488"/>
                </a:solidFill>
                <a:latin typeface="Calibri" pitchFamily="34" charset="0"/>
                <a:ea typeface="Calibri" pitchFamily="34" charset="-122"/>
                <a:cs typeface="Calibri" pitchFamily="34" charset="-120"/>
              </a:rPr>
              <a:t>score = AP + CQ + ARCH + SIZE</a:t>
            </a:r>
            <a:endParaRPr lang="en-US" sz="2000" dirty="0"/>
          </a:p>
        </p:txBody>
      </p:sp>
      <p:sp>
        <p:nvSpPr>
          <p:cNvPr id="6" name="Text 4"/>
          <p:cNvSpPr/>
          <p:nvPr/>
        </p:nvSpPr>
        <p:spPr>
          <a:xfrm>
            <a:off x="548640" y="2011680"/>
            <a:ext cx="68580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TERM</a:t>
            </a:r>
            <a:endParaRPr lang="en-US" sz="820" dirty="0"/>
          </a:p>
        </p:txBody>
      </p:sp>
      <p:sp>
        <p:nvSpPr>
          <p:cNvPr id="7" name="Text 5"/>
          <p:cNvSpPr/>
          <p:nvPr/>
        </p:nvSpPr>
        <p:spPr>
          <a:xfrm>
            <a:off x="1325880" y="2011680"/>
            <a:ext cx="182880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CATEGORY</a:t>
            </a:r>
            <a:endParaRPr lang="en-US" sz="820" dirty="0"/>
          </a:p>
        </p:txBody>
      </p:sp>
      <p:sp>
        <p:nvSpPr>
          <p:cNvPr id="8" name="Text 6"/>
          <p:cNvSpPr/>
          <p:nvPr/>
        </p:nvSpPr>
        <p:spPr>
          <a:xfrm>
            <a:off x="3246120" y="2011680"/>
            <a:ext cx="77724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BUDGET</a:t>
            </a:r>
            <a:endParaRPr lang="en-US" sz="820" dirty="0"/>
          </a:p>
        </p:txBody>
      </p:sp>
      <p:sp>
        <p:nvSpPr>
          <p:cNvPr id="9" name="Text 7"/>
          <p:cNvSpPr/>
          <p:nvPr/>
        </p:nvSpPr>
        <p:spPr>
          <a:xfrm>
            <a:off x="4251960" y="2011680"/>
            <a:ext cx="4343400" cy="219456"/>
          </a:xfrm>
          <a:prstGeom prst="rect">
            <a:avLst/>
          </a:prstGeom>
          <a:noFill/>
          <a:ln/>
        </p:spPr>
        <p:txBody>
          <a:bodyPr wrap="square" lIns="0" tIns="0" rIns="0" bIns="0" rtlCol="0" anchor="ctr"/>
          <a:lstStyle/>
          <a:p>
            <a:pPr indent="0" marL="0">
              <a:buNone/>
            </a:pPr>
            <a:r>
              <a:rPr lang="en-US" sz="820" b="1" spc="120" kern="0" dirty="0">
                <a:solidFill>
                  <a:srgbClr val="0F2A44"/>
                </a:solidFill>
                <a:latin typeface="Calibri" pitchFamily="34" charset="0"/>
                <a:ea typeface="Calibri" pitchFamily="34" charset="-122"/>
                <a:cs typeface="Calibri" pitchFamily="34" charset="-120"/>
              </a:rPr>
              <a:t>COMPUTATION</a:t>
            </a:r>
            <a:endParaRPr lang="en-US" sz="820" dirty="0"/>
          </a:p>
        </p:txBody>
      </p:sp>
      <p:sp>
        <p:nvSpPr>
          <p:cNvPr id="10" name="Shape 8"/>
          <p:cNvSpPr/>
          <p:nvPr/>
        </p:nvSpPr>
        <p:spPr>
          <a:xfrm>
            <a:off x="548640" y="2286000"/>
            <a:ext cx="8046720" cy="13716"/>
          </a:xfrm>
          <a:prstGeom prst="rect">
            <a:avLst/>
          </a:prstGeom>
          <a:solidFill>
            <a:srgbClr val="D8DEE6"/>
          </a:solidFill>
          <a:ln w="12700">
            <a:solidFill>
              <a:srgbClr val="D8DEE6"/>
            </a:solidFill>
            <a:prstDash val="solid"/>
          </a:ln>
        </p:spPr>
      </p:sp>
      <p:sp>
        <p:nvSpPr>
          <p:cNvPr id="11" name="Text 9"/>
          <p:cNvSpPr/>
          <p:nvPr/>
        </p:nvSpPr>
        <p:spPr>
          <a:xfrm>
            <a:off x="548640" y="2441448"/>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AP</a:t>
            </a:r>
            <a:endParaRPr lang="en-US" sz="1050" dirty="0"/>
          </a:p>
        </p:txBody>
      </p:sp>
      <p:sp>
        <p:nvSpPr>
          <p:cNvPr id="12" name="Text 10"/>
          <p:cNvSpPr/>
          <p:nvPr/>
        </p:nvSpPr>
        <p:spPr>
          <a:xfrm>
            <a:off x="1325880" y="2441448"/>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Anti-Patterns</a:t>
            </a:r>
            <a:endParaRPr lang="en-US" sz="940" dirty="0"/>
          </a:p>
        </p:txBody>
      </p:sp>
      <p:sp>
        <p:nvSpPr>
          <p:cNvPr id="13" name="Text 11"/>
          <p:cNvSpPr/>
          <p:nvPr/>
        </p:nvSpPr>
        <p:spPr>
          <a:xfrm>
            <a:off x="3246120" y="2441448"/>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40</a:t>
            </a:r>
            <a:endParaRPr lang="en-US" sz="940" dirty="0"/>
          </a:p>
        </p:txBody>
      </p:sp>
      <p:sp>
        <p:nvSpPr>
          <p:cNvPr id="14" name="Text 12"/>
          <p:cNvSpPr/>
          <p:nvPr/>
        </p:nvSpPr>
        <p:spPr>
          <a:xfrm>
            <a:off x="4251960" y="2441448"/>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40 - severity penalties)</a:t>
            </a:r>
            <a:endParaRPr lang="en-US" sz="940" dirty="0"/>
          </a:p>
        </p:txBody>
      </p:sp>
      <p:sp>
        <p:nvSpPr>
          <p:cNvPr id="15" name="Shape 13"/>
          <p:cNvSpPr/>
          <p:nvPr/>
        </p:nvSpPr>
        <p:spPr>
          <a:xfrm>
            <a:off x="548640" y="2743200"/>
            <a:ext cx="8046720" cy="9144"/>
          </a:xfrm>
          <a:prstGeom prst="rect">
            <a:avLst/>
          </a:prstGeom>
          <a:solidFill>
            <a:srgbClr val="D8DEE6"/>
          </a:solidFill>
          <a:ln w="12700">
            <a:solidFill>
              <a:srgbClr val="D8DEE6"/>
            </a:solidFill>
            <a:prstDash val="solid"/>
          </a:ln>
        </p:spPr>
      </p:sp>
      <p:sp>
        <p:nvSpPr>
          <p:cNvPr id="16" name="Text 14"/>
          <p:cNvSpPr/>
          <p:nvPr/>
        </p:nvSpPr>
        <p:spPr>
          <a:xfrm>
            <a:off x="548640" y="2834640"/>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CQ</a:t>
            </a:r>
            <a:endParaRPr lang="en-US" sz="1050" dirty="0"/>
          </a:p>
        </p:txBody>
      </p:sp>
      <p:sp>
        <p:nvSpPr>
          <p:cNvPr id="17" name="Text 15"/>
          <p:cNvSpPr/>
          <p:nvPr/>
        </p:nvSpPr>
        <p:spPr>
          <a:xfrm>
            <a:off x="1325880" y="2834640"/>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Code Quality</a:t>
            </a:r>
            <a:endParaRPr lang="en-US" sz="940" dirty="0"/>
          </a:p>
        </p:txBody>
      </p:sp>
      <p:sp>
        <p:nvSpPr>
          <p:cNvPr id="18" name="Text 16"/>
          <p:cNvSpPr/>
          <p:nvPr/>
        </p:nvSpPr>
        <p:spPr>
          <a:xfrm>
            <a:off x="3246120" y="2834640"/>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20</a:t>
            </a:r>
            <a:endParaRPr lang="en-US" sz="940" dirty="0"/>
          </a:p>
        </p:txBody>
      </p:sp>
      <p:sp>
        <p:nvSpPr>
          <p:cNvPr id="19" name="Text 17"/>
          <p:cNvSpPr/>
          <p:nvPr/>
        </p:nvSpPr>
        <p:spPr>
          <a:xfrm>
            <a:off x="4251960" y="2834640"/>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20 - smell-density penalty)</a:t>
            </a:r>
            <a:endParaRPr lang="en-US" sz="940" dirty="0"/>
          </a:p>
        </p:txBody>
      </p:sp>
      <p:sp>
        <p:nvSpPr>
          <p:cNvPr id="20" name="Shape 18"/>
          <p:cNvSpPr/>
          <p:nvPr/>
        </p:nvSpPr>
        <p:spPr>
          <a:xfrm>
            <a:off x="548640" y="3136392"/>
            <a:ext cx="8046720" cy="9144"/>
          </a:xfrm>
          <a:prstGeom prst="rect">
            <a:avLst/>
          </a:prstGeom>
          <a:solidFill>
            <a:srgbClr val="D8DEE6"/>
          </a:solidFill>
          <a:ln w="12700">
            <a:solidFill>
              <a:srgbClr val="D8DEE6"/>
            </a:solidFill>
            <a:prstDash val="solid"/>
          </a:ln>
        </p:spPr>
      </p:sp>
      <p:sp>
        <p:nvSpPr>
          <p:cNvPr id="21" name="Text 19"/>
          <p:cNvSpPr/>
          <p:nvPr/>
        </p:nvSpPr>
        <p:spPr>
          <a:xfrm>
            <a:off x="548640" y="3227832"/>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ARCH</a:t>
            </a:r>
            <a:endParaRPr lang="en-US" sz="1050" dirty="0"/>
          </a:p>
        </p:txBody>
      </p:sp>
      <p:sp>
        <p:nvSpPr>
          <p:cNvPr id="22" name="Text 20"/>
          <p:cNvSpPr/>
          <p:nvPr/>
        </p:nvSpPr>
        <p:spPr>
          <a:xfrm>
            <a:off x="1325880" y="3227832"/>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Architecture</a:t>
            </a:r>
            <a:endParaRPr lang="en-US" sz="940" dirty="0"/>
          </a:p>
        </p:txBody>
      </p:sp>
      <p:sp>
        <p:nvSpPr>
          <p:cNvPr id="23" name="Text 21"/>
          <p:cNvSpPr/>
          <p:nvPr/>
        </p:nvSpPr>
        <p:spPr>
          <a:xfrm>
            <a:off x="3246120" y="3227832"/>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25</a:t>
            </a:r>
            <a:endParaRPr lang="en-US" sz="940" dirty="0"/>
          </a:p>
        </p:txBody>
      </p:sp>
      <p:sp>
        <p:nvSpPr>
          <p:cNvPr id="24" name="Text 22"/>
          <p:cNvSpPr/>
          <p:nvPr/>
        </p:nvSpPr>
        <p:spPr>
          <a:xfrm>
            <a:off x="4251960" y="3227832"/>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25 - coupling/cycle penalties)</a:t>
            </a:r>
            <a:endParaRPr lang="en-US" sz="940" dirty="0"/>
          </a:p>
        </p:txBody>
      </p:sp>
      <p:sp>
        <p:nvSpPr>
          <p:cNvPr id="25" name="Shape 23"/>
          <p:cNvSpPr/>
          <p:nvPr/>
        </p:nvSpPr>
        <p:spPr>
          <a:xfrm>
            <a:off x="548640" y="3529584"/>
            <a:ext cx="8046720" cy="9144"/>
          </a:xfrm>
          <a:prstGeom prst="rect">
            <a:avLst/>
          </a:prstGeom>
          <a:solidFill>
            <a:srgbClr val="D8DEE6"/>
          </a:solidFill>
          <a:ln w="12700">
            <a:solidFill>
              <a:srgbClr val="D8DEE6"/>
            </a:solidFill>
            <a:prstDash val="solid"/>
          </a:ln>
        </p:spPr>
      </p:sp>
      <p:sp>
        <p:nvSpPr>
          <p:cNvPr id="26" name="Text 24"/>
          <p:cNvSpPr/>
          <p:nvPr/>
        </p:nvSpPr>
        <p:spPr>
          <a:xfrm>
            <a:off x="548640" y="3621024"/>
            <a:ext cx="685800" cy="256032"/>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SIZE</a:t>
            </a:r>
            <a:endParaRPr lang="en-US" sz="1050" dirty="0"/>
          </a:p>
        </p:txBody>
      </p:sp>
      <p:sp>
        <p:nvSpPr>
          <p:cNvPr id="27" name="Text 25"/>
          <p:cNvSpPr/>
          <p:nvPr/>
        </p:nvSpPr>
        <p:spPr>
          <a:xfrm>
            <a:off x="1325880" y="3621024"/>
            <a:ext cx="1828800" cy="256032"/>
          </a:xfrm>
          <a:prstGeom prst="rect">
            <a:avLst/>
          </a:prstGeom>
          <a:noFill/>
          <a:ln/>
        </p:spPr>
        <p:txBody>
          <a:bodyPr wrap="square" lIns="0" tIns="0" rIns="0" bIns="0" rtlCol="0" anchor="ctr">
            <a:normAutofit/>
          </a:bodyPr>
          <a:lstStyle/>
          <a:p>
            <a:pPr indent="0" marL="0">
              <a:buNone/>
            </a:pPr>
            <a:r>
              <a:rPr lang="en-US" sz="940" b="1" dirty="0">
                <a:solidFill>
                  <a:srgbClr val="1E293B"/>
                </a:solidFill>
                <a:latin typeface="Calibri" pitchFamily="34" charset="0"/>
                <a:ea typeface="Calibri" pitchFamily="34" charset="-122"/>
                <a:cs typeface="Calibri" pitchFamily="34" charset="-120"/>
              </a:rPr>
              <a:t>Service Sizing</a:t>
            </a:r>
            <a:endParaRPr lang="en-US" sz="940" dirty="0"/>
          </a:p>
        </p:txBody>
      </p:sp>
      <p:sp>
        <p:nvSpPr>
          <p:cNvPr id="28" name="Text 26"/>
          <p:cNvSpPr/>
          <p:nvPr/>
        </p:nvSpPr>
        <p:spPr>
          <a:xfrm>
            <a:off x="3246120" y="3621024"/>
            <a:ext cx="77724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15</a:t>
            </a:r>
            <a:endParaRPr lang="en-US" sz="940" dirty="0"/>
          </a:p>
        </p:txBody>
      </p:sp>
      <p:sp>
        <p:nvSpPr>
          <p:cNvPr id="29" name="Text 27"/>
          <p:cNvSpPr/>
          <p:nvPr/>
        </p:nvSpPr>
        <p:spPr>
          <a:xfrm>
            <a:off x="4251960" y="3621024"/>
            <a:ext cx="4343400" cy="256032"/>
          </a:xfrm>
          <a:prstGeom prst="rect">
            <a:avLst/>
          </a:prstGeom>
          <a:noFill/>
          <a:ln/>
        </p:spPr>
        <p:txBody>
          <a:bodyPr wrap="square" lIns="0" tIns="0" rIns="0" bIns="0" rtlCol="0" anchor="ctr">
            <a:normAutofit/>
          </a:bodyPr>
          <a:lstStyle/>
          <a:p>
            <a:pPr indent="0" marL="0">
              <a:buNone/>
            </a:pPr>
            <a:r>
              <a:rPr lang="en-US" sz="940" dirty="0">
                <a:solidFill>
                  <a:srgbClr val="1E293B"/>
                </a:solidFill>
                <a:latin typeface="Calibri" pitchFamily="34" charset="0"/>
                <a:ea typeface="Calibri" pitchFamily="34" charset="-122"/>
                <a:cs typeface="Calibri" pitchFamily="34" charset="-120"/>
              </a:rPr>
              <a:t>max(0, 15 - nano/god service penalties)</a:t>
            </a:r>
            <a:endParaRPr lang="en-US" sz="940" dirty="0"/>
          </a:p>
        </p:txBody>
      </p:sp>
      <p:sp>
        <p:nvSpPr>
          <p:cNvPr id="30" name="Shape 28"/>
          <p:cNvSpPr/>
          <p:nvPr/>
        </p:nvSpPr>
        <p:spPr>
          <a:xfrm>
            <a:off x="548640" y="3922776"/>
            <a:ext cx="8046720" cy="9144"/>
          </a:xfrm>
          <a:prstGeom prst="rect">
            <a:avLst/>
          </a:prstGeom>
          <a:solidFill>
            <a:srgbClr val="D8DEE6"/>
          </a:solidFill>
          <a:ln w="12700">
            <a:solidFill>
              <a:srgbClr val="D8DEE6"/>
            </a:solidFill>
            <a:prstDash val="solid"/>
          </a:ln>
        </p:spPr>
      </p:sp>
      <p:sp>
        <p:nvSpPr>
          <p:cNvPr id="31" name="Text 29"/>
          <p:cNvSpPr/>
          <p:nvPr/>
        </p:nvSpPr>
        <p:spPr>
          <a:xfrm>
            <a:off x="548640" y="4160520"/>
            <a:ext cx="1645920" cy="228600"/>
          </a:xfrm>
          <a:prstGeom prst="rect">
            <a:avLst/>
          </a:prstGeom>
          <a:noFill/>
          <a:ln/>
        </p:spPr>
        <p:txBody>
          <a:bodyPr wrap="square" lIns="0" tIns="0" rIns="0" bIns="0" rtlCol="0" anchor="ctr"/>
          <a:lstStyle/>
          <a:p>
            <a:pPr indent="0" marL="0">
              <a:buNone/>
            </a:pPr>
            <a:r>
              <a:rPr lang="en-US" sz="1100" b="1" dirty="0">
                <a:solidFill>
                  <a:srgbClr val="0F2A44"/>
                </a:solidFill>
                <a:latin typeface="Calibri" pitchFamily="34" charset="0"/>
                <a:ea typeface="Calibri" pitchFamily="34" charset="-122"/>
                <a:cs typeface="Calibri" pitchFamily="34" charset="-120"/>
              </a:rPr>
              <a:t>Grade mapping</a:t>
            </a:r>
            <a:endParaRPr lang="en-US" sz="1100" dirty="0"/>
          </a:p>
        </p:txBody>
      </p:sp>
      <p:sp>
        <p:nvSpPr>
          <p:cNvPr id="32" name="Text 30"/>
          <p:cNvSpPr/>
          <p:nvPr/>
        </p:nvSpPr>
        <p:spPr>
          <a:xfrm>
            <a:off x="2011680"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A</a:t>
            </a:r>
            <a:endParaRPr lang="en-US" sz="1200" dirty="0"/>
          </a:p>
        </p:txBody>
      </p:sp>
      <p:sp>
        <p:nvSpPr>
          <p:cNvPr id="33" name="Text 31"/>
          <p:cNvSpPr/>
          <p:nvPr/>
        </p:nvSpPr>
        <p:spPr>
          <a:xfrm>
            <a:off x="2359152"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90-100</a:t>
            </a:r>
            <a:endParaRPr lang="en-US" sz="900" dirty="0"/>
          </a:p>
        </p:txBody>
      </p:sp>
      <p:sp>
        <p:nvSpPr>
          <p:cNvPr id="34" name="Text 32"/>
          <p:cNvSpPr/>
          <p:nvPr/>
        </p:nvSpPr>
        <p:spPr>
          <a:xfrm>
            <a:off x="3182112"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B</a:t>
            </a:r>
            <a:endParaRPr lang="en-US" sz="1200" dirty="0"/>
          </a:p>
        </p:txBody>
      </p:sp>
      <p:sp>
        <p:nvSpPr>
          <p:cNvPr id="35" name="Text 33"/>
          <p:cNvSpPr/>
          <p:nvPr/>
        </p:nvSpPr>
        <p:spPr>
          <a:xfrm>
            <a:off x="3529584"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80-89</a:t>
            </a:r>
            <a:endParaRPr lang="en-US" sz="900" dirty="0"/>
          </a:p>
        </p:txBody>
      </p:sp>
      <p:sp>
        <p:nvSpPr>
          <p:cNvPr id="36" name="Text 34"/>
          <p:cNvSpPr/>
          <p:nvPr/>
        </p:nvSpPr>
        <p:spPr>
          <a:xfrm>
            <a:off x="4352544"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C</a:t>
            </a:r>
            <a:endParaRPr lang="en-US" sz="1200" dirty="0"/>
          </a:p>
        </p:txBody>
      </p:sp>
      <p:sp>
        <p:nvSpPr>
          <p:cNvPr id="37" name="Text 35"/>
          <p:cNvSpPr/>
          <p:nvPr/>
        </p:nvSpPr>
        <p:spPr>
          <a:xfrm>
            <a:off x="4700016"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65-79</a:t>
            </a:r>
            <a:endParaRPr lang="en-US" sz="900" dirty="0"/>
          </a:p>
        </p:txBody>
      </p:sp>
      <p:sp>
        <p:nvSpPr>
          <p:cNvPr id="38" name="Text 36"/>
          <p:cNvSpPr/>
          <p:nvPr/>
        </p:nvSpPr>
        <p:spPr>
          <a:xfrm>
            <a:off x="5522976"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
            </a:r>
            <a:endParaRPr lang="en-US" sz="1200" dirty="0"/>
          </a:p>
        </p:txBody>
      </p:sp>
      <p:sp>
        <p:nvSpPr>
          <p:cNvPr id="39" name="Text 37"/>
          <p:cNvSpPr/>
          <p:nvPr/>
        </p:nvSpPr>
        <p:spPr>
          <a:xfrm>
            <a:off x="5870448"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50-64</a:t>
            </a:r>
            <a:endParaRPr lang="en-US" sz="900" dirty="0"/>
          </a:p>
        </p:txBody>
      </p:sp>
      <p:sp>
        <p:nvSpPr>
          <p:cNvPr id="40" name="Text 38"/>
          <p:cNvSpPr/>
          <p:nvPr/>
        </p:nvSpPr>
        <p:spPr>
          <a:xfrm>
            <a:off x="6693408" y="4114800"/>
            <a:ext cx="320040" cy="256032"/>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F</a:t>
            </a:r>
            <a:endParaRPr lang="en-US" sz="1200" dirty="0"/>
          </a:p>
        </p:txBody>
      </p:sp>
      <p:sp>
        <p:nvSpPr>
          <p:cNvPr id="41" name="Text 39"/>
          <p:cNvSpPr/>
          <p:nvPr/>
        </p:nvSpPr>
        <p:spPr>
          <a:xfrm>
            <a:off x="7040880" y="4142232"/>
            <a:ext cx="685800" cy="219456"/>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&lt; 50</a:t>
            </a:r>
            <a:endParaRPr lang="en-US" sz="900" dirty="0"/>
          </a:p>
        </p:txBody>
      </p:sp>
      <p:sp>
        <p:nvSpPr>
          <p:cNvPr id="42" name="Text 40"/>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C</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anti-pattern definitions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05840"/>
            <a:ext cx="301752" cy="32004"/>
          </a:xfrm>
          <a:prstGeom prst="rect">
            <a:avLst/>
          </a:prstGeom>
          <a:solidFill>
            <a:srgbClr val="0D9488"/>
          </a:solidFill>
          <a:ln w="12700">
            <a:solidFill>
              <a:srgbClr val="0D9488"/>
            </a:solidFill>
            <a:prstDash val="solid"/>
          </a:ln>
        </p:spPr>
      </p:sp>
      <p:sp>
        <p:nvSpPr>
          <p:cNvPr id="5" name="Text 3"/>
          <p:cNvSpPr/>
          <p:nvPr/>
        </p:nvSpPr>
        <p:spPr>
          <a:xfrm>
            <a:off x="548640" y="1106424"/>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Shared Database</a:t>
            </a:r>
            <a:endParaRPr lang="en-US" sz="1050" dirty="0"/>
          </a:p>
        </p:txBody>
      </p:sp>
      <p:sp>
        <p:nvSpPr>
          <p:cNvPr id="6" name="Text 4"/>
          <p:cNvSpPr/>
          <p:nvPr/>
        </p:nvSpPr>
        <p:spPr>
          <a:xfrm>
            <a:off x="548640" y="1335024"/>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Multiple services read from or write to the same database schema, weakening data ownership and independent deployment.</a:t>
            </a:r>
            <a:endParaRPr lang="en-US" sz="830" dirty="0"/>
          </a:p>
        </p:txBody>
      </p:sp>
      <p:sp>
        <p:nvSpPr>
          <p:cNvPr id="7" name="Shape 5"/>
          <p:cNvSpPr/>
          <p:nvPr/>
        </p:nvSpPr>
        <p:spPr>
          <a:xfrm>
            <a:off x="548640" y="1627632"/>
            <a:ext cx="3703320" cy="7315"/>
          </a:xfrm>
          <a:prstGeom prst="rect">
            <a:avLst/>
          </a:prstGeom>
          <a:solidFill>
            <a:srgbClr val="D8DEE6"/>
          </a:solidFill>
          <a:ln w="12700">
            <a:solidFill>
              <a:srgbClr val="D8DEE6"/>
            </a:solidFill>
            <a:prstDash val="solid"/>
          </a:ln>
        </p:spPr>
      </p:sp>
      <p:sp>
        <p:nvSpPr>
          <p:cNvPr id="8" name="Shape 6"/>
          <p:cNvSpPr/>
          <p:nvPr/>
        </p:nvSpPr>
        <p:spPr>
          <a:xfrm>
            <a:off x="548640" y="1700784"/>
            <a:ext cx="301752" cy="32004"/>
          </a:xfrm>
          <a:prstGeom prst="rect">
            <a:avLst/>
          </a:prstGeom>
          <a:solidFill>
            <a:srgbClr val="0D9488"/>
          </a:solidFill>
          <a:ln w="12700">
            <a:solidFill>
              <a:srgbClr val="0D9488"/>
            </a:solidFill>
            <a:prstDash val="solid"/>
          </a:ln>
        </p:spPr>
      </p:sp>
      <p:sp>
        <p:nvSpPr>
          <p:cNvPr id="9" name="Text 7"/>
          <p:cNvSpPr/>
          <p:nvPr/>
        </p:nvSpPr>
        <p:spPr>
          <a:xfrm>
            <a:off x="548640" y="1801368"/>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Cyclic Dependency</a:t>
            </a:r>
            <a:endParaRPr lang="en-US" sz="1050" dirty="0"/>
          </a:p>
        </p:txBody>
      </p:sp>
      <p:sp>
        <p:nvSpPr>
          <p:cNvPr id="10" name="Text 8"/>
          <p:cNvSpPr/>
          <p:nvPr/>
        </p:nvSpPr>
        <p:spPr>
          <a:xfrm>
            <a:off x="548640" y="2029968"/>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Two or more services depend on each other through a directed cycle, making isolated deployment and reasoning harder.</a:t>
            </a:r>
            <a:endParaRPr lang="en-US" sz="830" dirty="0"/>
          </a:p>
        </p:txBody>
      </p:sp>
      <p:sp>
        <p:nvSpPr>
          <p:cNvPr id="11" name="Shape 9"/>
          <p:cNvSpPr/>
          <p:nvPr/>
        </p:nvSpPr>
        <p:spPr>
          <a:xfrm>
            <a:off x="548640" y="2322576"/>
            <a:ext cx="3703320" cy="7315"/>
          </a:xfrm>
          <a:prstGeom prst="rect">
            <a:avLst/>
          </a:prstGeom>
          <a:solidFill>
            <a:srgbClr val="D8DEE6"/>
          </a:solidFill>
          <a:ln w="12700">
            <a:solidFill>
              <a:srgbClr val="D8DEE6"/>
            </a:solidFill>
            <a:prstDash val="solid"/>
          </a:ln>
        </p:spPr>
      </p:sp>
      <p:sp>
        <p:nvSpPr>
          <p:cNvPr id="12" name="Shape 10"/>
          <p:cNvSpPr/>
          <p:nvPr/>
        </p:nvSpPr>
        <p:spPr>
          <a:xfrm>
            <a:off x="548640" y="2395728"/>
            <a:ext cx="301752" cy="32004"/>
          </a:xfrm>
          <a:prstGeom prst="rect">
            <a:avLst/>
          </a:prstGeom>
          <a:solidFill>
            <a:srgbClr val="0D9488"/>
          </a:solidFill>
          <a:ln w="12700">
            <a:solidFill>
              <a:srgbClr val="0D9488"/>
            </a:solidFill>
            <a:prstDash val="solid"/>
          </a:ln>
        </p:spPr>
      </p:sp>
      <p:sp>
        <p:nvSpPr>
          <p:cNvPr id="13" name="Text 11"/>
          <p:cNvSpPr/>
          <p:nvPr/>
        </p:nvSpPr>
        <p:spPr>
          <a:xfrm>
            <a:off x="548640" y="2496312"/>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Chatty Service</a:t>
            </a:r>
            <a:endParaRPr lang="en-US" sz="1050" dirty="0"/>
          </a:p>
        </p:txBody>
      </p:sp>
      <p:sp>
        <p:nvSpPr>
          <p:cNvPr id="14" name="Text 12"/>
          <p:cNvSpPr/>
          <p:nvPr/>
        </p:nvSpPr>
        <p:spPr>
          <a:xfrm>
            <a:off x="548640" y="2724912"/>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Services communicate through many fine-grained remote calls, increasing latency, network fragility, and runtime coupling.</a:t>
            </a:r>
            <a:endParaRPr lang="en-US" sz="830" dirty="0"/>
          </a:p>
        </p:txBody>
      </p:sp>
      <p:sp>
        <p:nvSpPr>
          <p:cNvPr id="15" name="Shape 13"/>
          <p:cNvSpPr/>
          <p:nvPr/>
        </p:nvSpPr>
        <p:spPr>
          <a:xfrm>
            <a:off x="548640" y="3017520"/>
            <a:ext cx="3703320" cy="7315"/>
          </a:xfrm>
          <a:prstGeom prst="rect">
            <a:avLst/>
          </a:prstGeom>
          <a:solidFill>
            <a:srgbClr val="D8DEE6"/>
          </a:solidFill>
          <a:ln w="12700">
            <a:solidFill>
              <a:srgbClr val="D8DEE6"/>
            </a:solidFill>
            <a:prstDash val="solid"/>
          </a:ln>
        </p:spPr>
      </p:sp>
      <p:sp>
        <p:nvSpPr>
          <p:cNvPr id="16" name="Shape 14"/>
          <p:cNvSpPr/>
          <p:nvPr/>
        </p:nvSpPr>
        <p:spPr>
          <a:xfrm>
            <a:off x="548640" y="3090672"/>
            <a:ext cx="301752" cy="32004"/>
          </a:xfrm>
          <a:prstGeom prst="rect">
            <a:avLst/>
          </a:prstGeom>
          <a:solidFill>
            <a:srgbClr val="0D9488"/>
          </a:solidFill>
          <a:ln w="12700">
            <a:solidFill>
              <a:srgbClr val="0D9488"/>
            </a:solidFill>
            <a:prstDash val="solid"/>
          </a:ln>
        </p:spPr>
      </p:sp>
      <p:sp>
        <p:nvSpPr>
          <p:cNvPr id="17" name="Text 15"/>
          <p:cNvSpPr/>
          <p:nvPr/>
        </p:nvSpPr>
        <p:spPr>
          <a:xfrm>
            <a:off x="548640" y="3191256"/>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Hardcoded Endpoints</a:t>
            </a:r>
            <a:endParaRPr lang="en-US" sz="1050" dirty="0"/>
          </a:p>
        </p:txBody>
      </p:sp>
      <p:sp>
        <p:nvSpPr>
          <p:cNvPr id="18" name="Text 16"/>
          <p:cNvSpPr/>
          <p:nvPr/>
        </p:nvSpPr>
        <p:spPr>
          <a:xfrm>
            <a:off x="548640" y="3419856"/>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Service URLs, IP addresses, ports, or localhost values are embedded in source code instead of external configuration.</a:t>
            </a:r>
            <a:endParaRPr lang="en-US" sz="830" dirty="0"/>
          </a:p>
        </p:txBody>
      </p:sp>
      <p:sp>
        <p:nvSpPr>
          <p:cNvPr id="19" name="Shape 17"/>
          <p:cNvSpPr/>
          <p:nvPr/>
        </p:nvSpPr>
        <p:spPr>
          <a:xfrm>
            <a:off x="548640" y="3712464"/>
            <a:ext cx="3703320" cy="7315"/>
          </a:xfrm>
          <a:prstGeom prst="rect">
            <a:avLst/>
          </a:prstGeom>
          <a:solidFill>
            <a:srgbClr val="D8DEE6"/>
          </a:solidFill>
          <a:ln w="12700">
            <a:solidFill>
              <a:srgbClr val="D8DEE6"/>
            </a:solidFill>
            <a:prstDash val="solid"/>
          </a:ln>
        </p:spPr>
      </p:sp>
      <p:sp>
        <p:nvSpPr>
          <p:cNvPr id="20" name="Shape 18"/>
          <p:cNvSpPr/>
          <p:nvPr/>
        </p:nvSpPr>
        <p:spPr>
          <a:xfrm>
            <a:off x="548640" y="3785616"/>
            <a:ext cx="301752" cy="32004"/>
          </a:xfrm>
          <a:prstGeom prst="rect">
            <a:avLst/>
          </a:prstGeom>
          <a:solidFill>
            <a:srgbClr val="0D9488"/>
          </a:solidFill>
          <a:ln w="12700">
            <a:solidFill>
              <a:srgbClr val="0D9488"/>
            </a:solidFill>
            <a:prstDash val="solid"/>
          </a:ln>
        </p:spPr>
      </p:sp>
      <p:sp>
        <p:nvSpPr>
          <p:cNvPr id="21" name="Text 19"/>
          <p:cNvSpPr/>
          <p:nvPr/>
        </p:nvSpPr>
        <p:spPr>
          <a:xfrm>
            <a:off x="548640" y="3886200"/>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ESB Misuse</a:t>
            </a:r>
            <a:endParaRPr lang="en-US" sz="1050" dirty="0"/>
          </a:p>
        </p:txBody>
      </p:sp>
      <p:sp>
        <p:nvSpPr>
          <p:cNvPr id="22" name="Text 20"/>
          <p:cNvSpPr/>
          <p:nvPr/>
        </p:nvSpPr>
        <p:spPr>
          <a:xfrm>
            <a:off x="548640" y="4114800"/>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A service behaves as a central mediator for many calls, recreating an enterprise-service-bus bottleneck inside a microservice system.</a:t>
            </a:r>
            <a:endParaRPr lang="en-US" sz="830" dirty="0"/>
          </a:p>
        </p:txBody>
      </p:sp>
      <p:sp>
        <p:nvSpPr>
          <p:cNvPr id="23" name="Shape 21"/>
          <p:cNvSpPr/>
          <p:nvPr/>
        </p:nvSpPr>
        <p:spPr>
          <a:xfrm>
            <a:off x="548640" y="4407408"/>
            <a:ext cx="3703320" cy="7315"/>
          </a:xfrm>
          <a:prstGeom prst="rect">
            <a:avLst/>
          </a:prstGeom>
          <a:solidFill>
            <a:srgbClr val="D8DEE6"/>
          </a:solidFill>
          <a:ln w="12700">
            <a:solidFill>
              <a:srgbClr val="D8DEE6"/>
            </a:solidFill>
            <a:prstDash val="solid"/>
          </a:ln>
        </p:spPr>
      </p:sp>
      <p:sp>
        <p:nvSpPr>
          <p:cNvPr id="24" name="Shape 22"/>
          <p:cNvSpPr/>
          <p:nvPr/>
        </p:nvSpPr>
        <p:spPr>
          <a:xfrm>
            <a:off x="4617720" y="1005840"/>
            <a:ext cx="301752" cy="32004"/>
          </a:xfrm>
          <a:prstGeom prst="rect">
            <a:avLst/>
          </a:prstGeom>
          <a:solidFill>
            <a:srgbClr val="1C4E80"/>
          </a:solidFill>
          <a:ln w="12700">
            <a:solidFill>
              <a:srgbClr val="1C4E80"/>
            </a:solidFill>
            <a:prstDash val="solid"/>
          </a:ln>
        </p:spPr>
      </p:sp>
      <p:sp>
        <p:nvSpPr>
          <p:cNvPr id="25" name="Text 23"/>
          <p:cNvSpPr/>
          <p:nvPr/>
        </p:nvSpPr>
        <p:spPr>
          <a:xfrm>
            <a:off x="4617720" y="1106424"/>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Distributed Monolith</a:t>
            </a:r>
            <a:endParaRPr lang="en-US" sz="1050" dirty="0"/>
          </a:p>
        </p:txBody>
      </p:sp>
      <p:sp>
        <p:nvSpPr>
          <p:cNvPr id="26" name="Text 24"/>
          <p:cNvSpPr/>
          <p:nvPr/>
        </p:nvSpPr>
        <p:spPr>
          <a:xfrm>
            <a:off x="4617720" y="1335024"/>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The system is split into services, but dense coupling, cycles, or shared data force it to change and deploy like one unit.</a:t>
            </a:r>
            <a:endParaRPr lang="en-US" sz="830" dirty="0"/>
          </a:p>
        </p:txBody>
      </p:sp>
      <p:sp>
        <p:nvSpPr>
          <p:cNvPr id="27" name="Shape 25"/>
          <p:cNvSpPr/>
          <p:nvPr/>
        </p:nvSpPr>
        <p:spPr>
          <a:xfrm>
            <a:off x="4617720" y="1627632"/>
            <a:ext cx="3703320" cy="7315"/>
          </a:xfrm>
          <a:prstGeom prst="rect">
            <a:avLst/>
          </a:prstGeom>
          <a:solidFill>
            <a:srgbClr val="D8DEE6"/>
          </a:solidFill>
          <a:ln w="12700">
            <a:solidFill>
              <a:srgbClr val="D8DEE6"/>
            </a:solidFill>
            <a:prstDash val="solid"/>
          </a:ln>
        </p:spPr>
      </p:sp>
      <p:sp>
        <p:nvSpPr>
          <p:cNvPr id="28" name="Shape 26"/>
          <p:cNvSpPr/>
          <p:nvPr/>
        </p:nvSpPr>
        <p:spPr>
          <a:xfrm>
            <a:off x="4617720" y="1700784"/>
            <a:ext cx="301752" cy="32004"/>
          </a:xfrm>
          <a:prstGeom prst="rect">
            <a:avLst/>
          </a:prstGeom>
          <a:solidFill>
            <a:srgbClr val="1C4E80"/>
          </a:solidFill>
          <a:ln w="12700">
            <a:solidFill>
              <a:srgbClr val="1C4E80"/>
            </a:solidFill>
            <a:prstDash val="solid"/>
          </a:ln>
        </p:spPr>
      </p:sp>
      <p:sp>
        <p:nvSpPr>
          <p:cNvPr id="29" name="Text 27"/>
          <p:cNvSpPr/>
          <p:nvPr/>
        </p:nvSpPr>
        <p:spPr>
          <a:xfrm>
            <a:off x="4617720" y="1801368"/>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API Versioning Absence</a:t>
            </a:r>
            <a:endParaRPr lang="en-US" sz="1050" dirty="0"/>
          </a:p>
        </p:txBody>
      </p:sp>
      <p:sp>
        <p:nvSpPr>
          <p:cNvPr id="30" name="Text 28"/>
          <p:cNvSpPr/>
          <p:nvPr/>
        </p:nvSpPr>
        <p:spPr>
          <a:xfrm>
            <a:off x="4617720" y="2029968"/>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Public endpoints lack explicit version markers, making incompatible API evolution risky for existing clients.</a:t>
            </a:r>
            <a:endParaRPr lang="en-US" sz="830" dirty="0"/>
          </a:p>
        </p:txBody>
      </p:sp>
      <p:sp>
        <p:nvSpPr>
          <p:cNvPr id="31" name="Shape 29"/>
          <p:cNvSpPr/>
          <p:nvPr/>
        </p:nvSpPr>
        <p:spPr>
          <a:xfrm>
            <a:off x="4617720" y="2322576"/>
            <a:ext cx="3703320" cy="7315"/>
          </a:xfrm>
          <a:prstGeom prst="rect">
            <a:avLst/>
          </a:prstGeom>
          <a:solidFill>
            <a:srgbClr val="D8DEE6"/>
          </a:solidFill>
          <a:ln w="12700">
            <a:solidFill>
              <a:srgbClr val="D8DEE6"/>
            </a:solidFill>
            <a:prstDash val="solid"/>
          </a:ln>
        </p:spPr>
      </p:sp>
      <p:sp>
        <p:nvSpPr>
          <p:cNvPr id="32" name="Shape 30"/>
          <p:cNvSpPr/>
          <p:nvPr/>
        </p:nvSpPr>
        <p:spPr>
          <a:xfrm>
            <a:off x="4617720" y="2395728"/>
            <a:ext cx="301752" cy="32004"/>
          </a:xfrm>
          <a:prstGeom prst="rect">
            <a:avLst/>
          </a:prstGeom>
          <a:solidFill>
            <a:srgbClr val="1C4E80"/>
          </a:solidFill>
          <a:ln w="12700">
            <a:solidFill>
              <a:srgbClr val="1C4E80"/>
            </a:solidFill>
            <a:prstDash val="solid"/>
          </a:ln>
        </p:spPr>
      </p:sp>
      <p:sp>
        <p:nvSpPr>
          <p:cNvPr id="33" name="Text 31"/>
          <p:cNvSpPr/>
          <p:nvPr/>
        </p:nvSpPr>
        <p:spPr>
          <a:xfrm>
            <a:off x="4617720" y="2496312"/>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Wrong Cuts</a:t>
            </a:r>
            <a:endParaRPr lang="en-US" sz="1050" dirty="0"/>
          </a:p>
        </p:txBody>
      </p:sp>
      <p:sp>
        <p:nvSpPr>
          <p:cNvPr id="34" name="Text 32"/>
          <p:cNvSpPr/>
          <p:nvPr/>
        </p:nvSpPr>
        <p:spPr>
          <a:xfrm>
            <a:off x="4617720" y="2724912"/>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Service boundaries split responsibilities poorly, visible through bidirectional dependencies or strongly coupled service pairs.</a:t>
            </a:r>
            <a:endParaRPr lang="en-US" sz="830" dirty="0"/>
          </a:p>
        </p:txBody>
      </p:sp>
      <p:sp>
        <p:nvSpPr>
          <p:cNvPr id="35" name="Shape 33"/>
          <p:cNvSpPr/>
          <p:nvPr/>
        </p:nvSpPr>
        <p:spPr>
          <a:xfrm>
            <a:off x="4617720" y="3017520"/>
            <a:ext cx="3703320" cy="7315"/>
          </a:xfrm>
          <a:prstGeom prst="rect">
            <a:avLst/>
          </a:prstGeom>
          <a:solidFill>
            <a:srgbClr val="D8DEE6"/>
          </a:solidFill>
          <a:ln w="12700">
            <a:solidFill>
              <a:srgbClr val="D8DEE6"/>
            </a:solidFill>
            <a:prstDash val="solid"/>
          </a:ln>
        </p:spPr>
      </p:sp>
      <p:sp>
        <p:nvSpPr>
          <p:cNvPr id="36" name="Shape 34"/>
          <p:cNvSpPr/>
          <p:nvPr/>
        </p:nvSpPr>
        <p:spPr>
          <a:xfrm>
            <a:off x="4617720" y="3090672"/>
            <a:ext cx="301752" cy="32004"/>
          </a:xfrm>
          <a:prstGeom prst="rect">
            <a:avLst/>
          </a:prstGeom>
          <a:solidFill>
            <a:srgbClr val="1C4E80"/>
          </a:solidFill>
          <a:ln w="12700">
            <a:solidFill>
              <a:srgbClr val="1C4E80"/>
            </a:solidFill>
            <a:prstDash val="solid"/>
          </a:ln>
        </p:spPr>
      </p:sp>
      <p:sp>
        <p:nvSpPr>
          <p:cNvPr id="37" name="Text 35"/>
          <p:cNvSpPr/>
          <p:nvPr/>
        </p:nvSpPr>
        <p:spPr>
          <a:xfrm>
            <a:off x="4617720" y="3191256"/>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Nano Service</a:t>
            </a:r>
            <a:endParaRPr lang="en-US" sz="1050" dirty="0"/>
          </a:p>
        </p:txBody>
      </p:sp>
      <p:sp>
        <p:nvSpPr>
          <p:cNvPr id="38" name="Text 36"/>
          <p:cNvSpPr/>
          <p:nvPr/>
        </p:nvSpPr>
        <p:spPr>
          <a:xfrm>
            <a:off x="4617720" y="3419856"/>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A service is so small that deployment, monitoring, and operational overhead outweigh its autonomy benefits.</a:t>
            </a:r>
            <a:endParaRPr lang="en-US" sz="830" dirty="0"/>
          </a:p>
        </p:txBody>
      </p:sp>
      <p:sp>
        <p:nvSpPr>
          <p:cNvPr id="39" name="Shape 37"/>
          <p:cNvSpPr/>
          <p:nvPr/>
        </p:nvSpPr>
        <p:spPr>
          <a:xfrm>
            <a:off x="4617720" y="3712464"/>
            <a:ext cx="3703320" cy="7315"/>
          </a:xfrm>
          <a:prstGeom prst="rect">
            <a:avLst/>
          </a:prstGeom>
          <a:solidFill>
            <a:srgbClr val="D8DEE6"/>
          </a:solidFill>
          <a:ln w="12700">
            <a:solidFill>
              <a:srgbClr val="D8DEE6"/>
            </a:solidFill>
            <a:prstDash val="solid"/>
          </a:ln>
        </p:spPr>
      </p:sp>
      <p:sp>
        <p:nvSpPr>
          <p:cNvPr id="40" name="Shape 38"/>
          <p:cNvSpPr/>
          <p:nvPr/>
        </p:nvSpPr>
        <p:spPr>
          <a:xfrm>
            <a:off x="4617720" y="3785616"/>
            <a:ext cx="301752" cy="32004"/>
          </a:xfrm>
          <a:prstGeom prst="rect">
            <a:avLst/>
          </a:prstGeom>
          <a:solidFill>
            <a:srgbClr val="1C4E80"/>
          </a:solidFill>
          <a:ln w="12700">
            <a:solidFill>
              <a:srgbClr val="1C4E80"/>
            </a:solidFill>
            <a:prstDash val="solid"/>
          </a:ln>
        </p:spPr>
      </p:sp>
      <p:sp>
        <p:nvSpPr>
          <p:cNvPr id="41" name="Text 39"/>
          <p:cNvSpPr/>
          <p:nvPr/>
        </p:nvSpPr>
        <p:spPr>
          <a:xfrm>
            <a:off x="4617720" y="3886200"/>
            <a:ext cx="3703320" cy="210312"/>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God Service</a:t>
            </a:r>
            <a:endParaRPr lang="en-US" sz="1050" dirty="0"/>
          </a:p>
        </p:txBody>
      </p:sp>
      <p:sp>
        <p:nvSpPr>
          <p:cNvPr id="42" name="Text 40"/>
          <p:cNvSpPr/>
          <p:nvPr/>
        </p:nvSpPr>
        <p:spPr>
          <a:xfrm>
            <a:off x="4617720" y="4114800"/>
            <a:ext cx="3703320" cy="292608"/>
          </a:xfrm>
          <a:prstGeom prst="rect">
            <a:avLst/>
          </a:prstGeom>
          <a:noFill/>
          <a:ln/>
        </p:spPr>
        <p:txBody>
          <a:bodyPr wrap="square" lIns="0" tIns="0" rIns="0" bIns="0" rtlCol="0" anchor="ctr">
            <a:normAutofit/>
          </a:bodyPr>
          <a:lstStyle/>
          <a:p>
            <a:pPr indent="0" marL="0">
              <a:buNone/>
            </a:pPr>
            <a:r>
              <a:rPr lang="en-US" sz="830" dirty="0">
                <a:solidFill>
                  <a:srgbClr val="1E293B"/>
                </a:solidFill>
                <a:latin typeface="Calibri" pitchFamily="34" charset="0"/>
                <a:ea typeface="Calibri" pitchFamily="34" charset="-122"/>
                <a:cs typeface="Calibri" pitchFamily="34" charset="-120"/>
              </a:rPr>
              <a:t>A service concentrates too many responsibilities, often evidenced by very large or low-cohesion classes inside it.</a:t>
            </a:r>
            <a:endParaRPr lang="en-US" sz="830" dirty="0"/>
          </a:p>
        </p:txBody>
      </p:sp>
      <p:sp>
        <p:nvSpPr>
          <p:cNvPr id="43" name="Shape 41"/>
          <p:cNvSpPr/>
          <p:nvPr/>
        </p:nvSpPr>
        <p:spPr>
          <a:xfrm>
            <a:off x="4617720" y="4407408"/>
            <a:ext cx="3703320" cy="7315"/>
          </a:xfrm>
          <a:prstGeom prst="rect">
            <a:avLst/>
          </a:prstGeom>
          <a:solidFill>
            <a:srgbClr val="D8DEE6"/>
          </a:solidFill>
          <a:ln w="12700">
            <a:solidFill>
              <a:srgbClr val="D8DEE6"/>
            </a:solidFill>
            <a:prstDash val="solid"/>
          </a:ln>
        </p:spPr>
      </p:sp>
      <p:sp>
        <p:nvSpPr>
          <p:cNvPr id="44" name="Shape 42"/>
          <p:cNvSpPr/>
          <p:nvPr/>
        </p:nvSpPr>
        <p:spPr>
          <a:xfrm>
            <a:off x="548640" y="4498848"/>
            <a:ext cx="457200" cy="36576"/>
          </a:xfrm>
          <a:prstGeom prst="rect">
            <a:avLst/>
          </a:prstGeom>
          <a:solidFill>
            <a:srgbClr val="0D9488"/>
          </a:solidFill>
          <a:ln w="12700">
            <a:solidFill>
              <a:srgbClr val="0D9488"/>
            </a:solidFill>
            <a:prstDash val="solid"/>
          </a:ln>
        </p:spPr>
      </p:sp>
      <p:sp>
        <p:nvSpPr>
          <p:cNvPr id="45" name="Text 43"/>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Use this slide when asked what a detector means conceptually; use the detector-detail annex when asked how it is implemented.</a:t>
            </a:r>
            <a:endParaRPr lang="en-US" sz="950" dirty="0"/>
          </a:p>
        </p:txBody>
      </p:sp>
      <p:sp>
        <p:nvSpPr>
          <p:cNvPr id="46" name="Text 44"/>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D</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detector thresholds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DETECTOR</a:t>
            </a:r>
            <a:endParaRPr lang="en-US" sz="780" dirty="0"/>
          </a:p>
        </p:txBody>
      </p:sp>
      <p:sp>
        <p:nvSpPr>
          <p:cNvPr id="5" name="Text 3"/>
          <p:cNvSpPr/>
          <p:nvPr/>
        </p:nvSpPr>
        <p:spPr>
          <a:xfrm>
            <a:off x="1691640" y="1005840"/>
            <a:ext cx="242316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SIGNAL</a:t>
            </a:r>
            <a:endParaRPr lang="en-US" sz="780" dirty="0"/>
          </a:p>
        </p:txBody>
      </p:sp>
      <p:sp>
        <p:nvSpPr>
          <p:cNvPr id="6" name="Text 4"/>
          <p:cNvSpPr/>
          <p:nvPr/>
        </p:nvSpPr>
        <p:spPr>
          <a:xfrm>
            <a:off x="4251960" y="1005840"/>
            <a:ext cx="132588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THRESHOLD</a:t>
            </a:r>
            <a:endParaRPr lang="en-US" sz="780" dirty="0"/>
          </a:p>
        </p:txBody>
      </p:sp>
      <p:sp>
        <p:nvSpPr>
          <p:cNvPr id="7" name="Text 5"/>
          <p:cNvSpPr/>
          <p:nvPr/>
        </p:nvSpPr>
        <p:spPr>
          <a:xfrm>
            <a:off x="5715000" y="1005840"/>
            <a:ext cx="68580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SEVERITY</a:t>
            </a:r>
            <a:endParaRPr lang="en-US" sz="780" dirty="0"/>
          </a:p>
        </p:txBody>
      </p:sp>
      <p:sp>
        <p:nvSpPr>
          <p:cNvPr id="8" name="Text 6"/>
          <p:cNvSpPr/>
          <p:nvPr/>
        </p:nvSpPr>
        <p:spPr>
          <a:xfrm>
            <a:off x="6537960" y="1005840"/>
            <a:ext cx="205740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RATIONALE</a:t>
            </a:r>
            <a:endParaRPr lang="en-US" sz="780" dirty="0"/>
          </a:p>
        </p:txBody>
      </p:sp>
      <p:sp>
        <p:nvSpPr>
          <p:cNvPr id="9" name="Shape 7"/>
          <p:cNvSpPr/>
          <p:nvPr/>
        </p:nvSpPr>
        <p:spPr>
          <a:xfrm>
            <a:off x="548640" y="1298448"/>
            <a:ext cx="8046720" cy="13716"/>
          </a:xfrm>
          <a:prstGeom prst="rect">
            <a:avLst/>
          </a:prstGeom>
          <a:solidFill>
            <a:srgbClr val="D8DEE6"/>
          </a:solidFill>
          <a:ln w="12700">
            <a:solidFill>
              <a:srgbClr val="D8DEE6"/>
            </a:solidFill>
            <a:prstDash val="solid"/>
          </a:ln>
        </p:spPr>
      </p:sp>
      <p:sp>
        <p:nvSpPr>
          <p:cNvPr id="10" name="Text 8"/>
          <p:cNvSpPr/>
          <p:nvPr/>
        </p:nvSpPr>
        <p:spPr>
          <a:xfrm>
            <a:off x="548640" y="1408176"/>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Shared DB</a:t>
            </a:r>
            <a:endParaRPr lang="en-US" sz="870" dirty="0"/>
          </a:p>
        </p:txBody>
      </p:sp>
      <p:sp>
        <p:nvSpPr>
          <p:cNvPr id="11" name="Text 9"/>
          <p:cNvSpPr/>
          <p:nvPr/>
        </p:nvSpPr>
        <p:spPr>
          <a:xfrm>
            <a:off x="1691640" y="1408176"/>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same datasource URL in &gt;1 service</a:t>
            </a:r>
            <a:endParaRPr lang="en-US" sz="770" dirty="0"/>
          </a:p>
        </p:txBody>
      </p:sp>
      <p:sp>
        <p:nvSpPr>
          <p:cNvPr id="12" name="Text 10"/>
          <p:cNvSpPr/>
          <p:nvPr/>
        </p:nvSpPr>
        <p:spPr>
          <a:xfrm>
            <a:off x="4251960" y="1408176"/>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&gt;1 service</a:t>
            </a:r>
            <a:endParaRPr lang="en-US" sz="770" dirty="0"/>
          </a:p>
        </p:txBody>
      </p:sp>
      <p:sp>
        <p:nvSpPr>
          <p:cNvPr id="13" name="Text 11"/>
          <p:cNvSpPr/>
          <p:nvPr/>
        </p:nvSpPr>
        <p:spPr>
          <a:xfrm>
            <a:off x="5715000" y="1408176"/>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14" name="Text 12"/>
          <p:cNvSpPr/>
          <p:nvPr/>
        </p:nvSpPr>
        <p:spPr>
          <a:xfrm>
            <a:off x="6537960" y="1408176"/>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lost data ownership</a:t>
            </a:r>
            <a:endParaRPr lang="en-US" sz="770" dirty="0"/>
          </a:p>
        </p:txBody>
      </p:sp>
      <p:sp>
        <p:nvSpPr>
          <p:cNvPr id="15" name="Shape 13"/>
          <p:cNvSpPr/>
          <p:nvPr/>
        </p:nvSpPr>
        <p:spPr>
          <a:xfrm>
            <a:off x="548640" y="1655064"/>
            <a:ext cx="8046720" cy="7315"/>
          </a:xfrm>
          <a:prstGeom prst="rect">
            <a:avLst/>
          </a:prstGeom>
          <a:solidFill>
            <a:srgbClr val="D8DEE6"/>
          </a:solidFill>
          <a:ln w="12700">
            <a:solidFill>
              <a:srgbClr val="D8DEE6"/>
            </a:solidFill>
            <a:prstDash val="solid"/>
          </a:ln>
        </p:spPr>
      </p:sp>
      <p:sp>
        <p:nvSpPr>
          <p:cNvPr id="16" name="Text 14"/>
          <p:cNvSpPr/>
          <p:nvPr/>
        </p:nvSpPr>
        <p:spPr>
          <a:xfrm>
            <a:off x="548640" y="1719072"/>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Cyclic Dep.</a:t>
            </a:r>
            <a:endParaRPr lang="en-US" sz="870" dirty="0"/>
          </a:p>
        </p:txBody>
      </p:sp>
      <p:sp>
        <p:nvSpPr>
          <p:cNvPr id="17" name="Text 15"/>
          <p:cNvSpPr/>
          <p:nvPr/>
        </p:nvSpPr>
        <p:spPr>
          <a:xfrm>
            <a:off x="1691640" y="1719072"/>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Tarjan SCC in service graph</a:t>
            </a:r>
            <a:endParaRPr lang="en-US" sz="770" dirty="0"/>
          </a:p>
        </p:txBody>
      </p:sp>
      <p:sp>
        <p:nvSpPr>
          <p:cNvPr id="18" name="Text 16"/>
          <p:cNvSpPr/>
          <p:nvPr/>
        </p:nvSpPr>
        <p:spPr>
          <a:xfrm>
            <a:off x="4251960" y="1719072"/>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SCC size &gt;1</a:t>
            </a:r>
            <a:endParaRPr lang="en-US" sz="770" dirty="0"/>
          </a:p>
        </p:txBody>
      </p:sp>
      <p:sp>
        <p:nvSpPr>
          <p:cNvPr id="19" name="Text 17"/>
          <p:cNvSpPr/>
          <p:nvPr/>
        </p:nvSpPr>
        <p:spPr>
          <a:xfrm>
            <a:off x="5715000" y="1719072"/>
            <a:ext cx="685800" cy="219456"/>
          </a:xfrm>
          <a:prstGeom prst="rect">
            <a:avLst/>
          </a:prstGeom>
          <a:noFill/>
          <a:ln/>
        </p:spPr>
        <p:txBody>
          <a:bodyPr wrap="square" lIns="0" tIns="0" rIns="0" bIns="0" rtlCol="0" anchor="ctr">
            <a:normAutofit/>
          </a:bodyPr>
          <a:lstStyle/>
          <a:p>
            <a:pPr indent="0" marL="0">
              <a:buNone/>
            </a:pPr>
            <a:r>
              <a:rPr lang="en-US" sz="770" b="1" dirty="0">
                <a:solidFill>
                  <a:srgbClr val="DC2626"/>
                </a:solidFill>
                <a:latin typeface="Calibri" pitchFamily="34" charset="0"/>
                <a:ea typeface="Calibri" pitchFamily="34" charset="-122"/>
                <a:cs typeface="Calibri" pitchFamily="34" charset="-120"/>
              </a:rPr>
              <a:t>Crit.</a:t>
            </a:r>
            <a:endParaRPr lang="en-US" sz="770" dirty="0"/>
          </a:p>
        </p:txBody>
      </p:sp>
      <p:sp>
        <p:nvSpPr>
          <p:cNvPr id="20" name="Text 18"/>
          <p:cNvSpPr/>
          <p:nvPr/>
        </p:nvSpPr>
        <p:spPr>
          <a:xfrm>
            <a:off x="6537960" y="1719072"/>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deployability blocked</a:t>
            </a:r>
            <a:endParaRPr lang="en-US" sz="770" dirty="0"/>
          </a:p>
        </p:txBody>
      </p:sp>
      <p:sp>
        <p:nvSpPr>
          <p:cNvPr id="21" name="Shape 19"/>
          <p:cNvSpPr/>
          <p:nvPr/>
        </p:nvSpPr>
        <p:spPr>
          <a:xfrm>
            <a:off x="548640" y="1965960"/>
            <a:ext cx="8046720" cy="7315"/>
          </a:xfrm>
          <a:prstGeom prst="rect">
            <a:avLst/>
          </a:prstGeom>
          <a:solidFill>
            <a:srgbClr val="D8DEE6"/>
          </a:solidFill>
          <a:ln w="12700">
            <a:solidFill>
              <a:srgbClr val="D8DEE6"/>
            </a:solidFill>
            <a:prstDash val="solid"/>
          </a:ln>
        </p:spPr>
      </p:sp>
      <p:sp>
        <p:nvSpPr>
          <p:cNvPr id="22" name="Text 20"/>
          <p:cNvSpPr/>
          <p:nvPr/>
        </p:nvSpPr>
        <p:spPr>
          <a:xfrm>
            <a:off x="548640" y="2029968"/>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Chatty Service</a:t>
            </a:r>
            <a:endParaRPr lang="en-US" sz="870" dirty="0"/>
          </a:p>
        </p:txBody>
      </p:sp>
      <p:sp>
        <p:nvSpPr>
          <p:cNvPr id="23" name="Text 21"/>
          <p:cNvSpPr/>
          <p:nvPr/>
        </p:nvSpPr>
        <p:spPr>
          <a:xfrm>
            <a:off x="1691640" y="2029968"/>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edge call volume or wide Feign client</a:t>
            </a:r>
            <a:endParaRPr lang="en-US" sz="770" dirty="0"/>
          </a:p>
        </p:txBody>
      </p:sp>
      <p:sp>
        <p:nvSpPr>
          <p:cNvPr id="24" name="Text 22"/>
          <p:cNvSpPr/>
          <p:nvPr/>
        </p:nvSpPr>
        <p:spPr>
          <a:xfrm>
            <a:off x="4251960" y="2029968"/>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&gt;=5 calls/methods</a:t>
            </a:r>
            <a:endParaRPr lang="en-US" sz="770" dirty="0"/>
          </a:p>
        </p:txBody>
      </p:sp>
      <p:sp>
        <p:nvSpPr>
          <p:cNvPr id="25" name="Text 23"/>
          <p:cNvSpPr/>
          <p:nvPr/>
        </p:nvSpPr>
        <p:spPr>
          <a:xfrm>
            <a:off x="5715000" y="2029968"/>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26" name="Text 24"/>
          <p:cNvSpPr/>
          <p:nvPr/>
        </p:nvSpPr>
        <p:spPr>
          <a:xfrm>
            <a:off x="6537960" y="2029968"/>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runtime coupling</a:t>
            </a:r>
            <a:endParaRPr lang="en-US" sz="770" dirty="0"/>
          </a:p>
        </p:txBody>
      </p:sp>
      <p:sp>
        <p:nvSpPr>
          <p:cNvPr id="27" name="Shape 25"/>
          <p:cNvSpPr/>
          <p:nvPr/>
        </p:nvSpPr>
        <p:spPr>
          <a:xfrm>
            <a:off x="548640" y="2276856"/>
            <a:ext cx="8046720" cy="7315"/>
          </a:xfrm>
          <a:prstGeom prst="rect">
            <a:avLst/>
          </a:prstGeom>
          <a:solidFill>
            <a:srgbClr val="D8DEE6"/>
          </a:solidFill>
          <a:ln w="12700">
            <a:solidFill>
              <a:srgbClr val="D8DEE6"/>
            </a:solidFill>
            <a:prstDash val="solid"/>
          </a:ln>
        </p:spPr>
      </p:sp>
      <p:sp>
        <p:nvSpPr>
          <p:cNvPr id="28" name="Text 26"/>
          <p:cNvSpPr/>
          <p:nvPr/>
        </p:nvSpPr>
        <p:spPr>
          <a:xfrm>
            <a:off x="548640" y="2340864"/>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Hardcoded EP</a:t>
            </a:r>
            <a:endParaRPr lang="en-US" sz="870" dirty="0"/>
          </a:p>
        </p:txBody>
      </p:sp>
      <p:sp>
        <p:nvSpPr>
          <p:cNvPr id="29" name="Text 27"/>
          <p:cNvSpPr/>
          <p:nvPr/>
        </p:nvSpPr>
        <p:spPr>
          <a:xfrm>
            <a:off x="1691640" y="2340864"/>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literal URL/IP/localhost in Java</a:t>
            </a:r>
            <a:endParaRPr lang="en-US" sz="770" dirty="0"/>
          </a:p>
        </p:txBody>
      </p:sp>
      <p:sp>
        <p:nvSpPr>
          <p:cNvPr id="30" name="Text 28"/>
          <p:cNvSpPr/>
          <p:nvPr/>
        </p:nvSpPr>
        <p:spPr>
          <a:xfrm>
            <a:off x="4251960" y="2340864"/>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regex match</a:t>
            </a:r>
            <a:endParaRPr lang="en-US" sz="770" dirty="0"/>
          </a:p>
        </p:txBody>
      </p:sp>
      <p:sp>
        <p:nvSpPr>
          <p:cNvPr id="31" name="Text 29"/>
          <p:cNvSpPr/>
          <p:nvPr/>
        </p:nvSpPr>
        <p:spPr>
          <a:xfrm>
            <a:off x="5715000" y="2340864"/>
            <a:ext cx="685800" cy="219456"/>
          </a:xfrm>
          <a:prstGeom prst="rect">
            <a:avLst/>
          </a:prstGeom>
          <a:noFill/>
          <a:ln/>
        </p:spPr>
        <p:txBody>
          <a:bodyPr wrap="square" lIns="0" tIns="0" rIns="0" bIns="0" rtlCol="0" anchor="ctr">
            <a:normAutofit/>
          </a:bodyPr>
          <a:lstStyle/>
          <a:p>
            <a:pPr indent="0" marL="0">
              <a:buNone/>
            </a:pPr>
            <a:r>
              <a:rPr lang="en-US" sz="770" b="1" dirty="0">
                <a:solidFill>
                  <a:srgbClr val="1C4E80"/>
                </a:solidFill>
                <a:latin typeface="Calibri" pitchFamily="34" charset="0"/>
                <a:ea typeface="Calibri" pitchFamily="34" charset="-122"/>
                <a:cs typeface="Calibri" pitchFamily="34" charset="-120"/>
              </a:rPr>
              <a:t>Med.</a:t>
            </a:r>
            <a:endParaRPr lang="en-US" sz="770" dirty="0"/>
          </a:p>
        </p:txBody>
      </p:sp>
      <p:sp>
        <p:nvSpPr>
          <p:cNvPr id="32" name="Text 30"/>
          <p:cNvSpPr/>
          <p:nvPr/>
        </p:nvSpPr>
        <p:spPr>
          <a:xfrm>
            <a:off x="6537960" y="2340864"/>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environment lock-in</a:t>
            </a:r>
            <a:endParaRPr lang="en-US" sz="770" dirty="0"/>
          </a:p>
        </p:txBody>
      </p:sp>
      <p:sp>
        <p:nvSpPr>
          <p:cNvPr id="33" name="Shape 31"/>
          <p:cNvSpPr/>
          <p:nvPr/>
        </p:nvSpPr>
        <p:spPr>
          <a:xfrm>
            <a:off x="548640" y="2587752"/>
            <a:ext cx="8046720" cy="7315"/>
          </a:xfrm>
          <a:prstGeom prst="rect">
            <a:avLst/>
          </a:prstGeom>
          <a:solidFill>
            <a:srgbClr val="D8DEE6"/>
          </a:solidFill>
          <a:ln w="12700">
            <a:solidFill>
              <a:srgbClr val="D8DEE6"/>
            </a:solidFill>
            <a:prstDash val="solid"/>
          </a:ln>
        </p:spPr>
      </p:sp>
      <p:sp>
        <p:nvSpPr>
          <p:cNvPr id="34" name="Text 32"/>
          <p:cNvSpPr/>
          <p:nvPr/>
        </p:nvSpPr>
        <p:spPr>
          <a:xfrm>
            <a:off x="548640" y="2651760"/>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ESB Misuse</a:t>
            </a:r>
            <a:endParaRPr lang="en-US" sz="870" dirty="0"/>
          </a:p>
        </p:txBody>
      </p:sp>
      <p:sp>
        <p:nvSpPr>
          <p:cNvPr id="35" name="Text 33"/>
          <p:cNvSpPr/>
          <p:nvPr/>
        </p:nvSpPr>
        <p:spPr>
          <a:xfrm>
            <a:off x="1691640" y="2651760"/>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mediator-like caller/callee ratio</a:t>
            </a:r>
            <a:endParaRPr lang="en-US" sz="770" dirty="0"/>
          </a:p>
        </p:txBody>
      </p:sp>
      <p:sp>
        <p:nvSpPr>
          <p:cNvPr id="36" name="Text 34"/>
          <p:cNvSpPr/>
          <p:nvPr/>
        </p:nvSpPr>
        <p:spPr>
          <a:xfrm>
            <a:off x="4251960" y="2651760"/>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volume ratio rule</a:t>
            </a:r>
            <a:endParaRPr lang="en-US" sz="770" dirty="0"/>
          </a:p>
        </p:txBody>
      </p:sp>
      <p:sp>
        <p:nvSpPr>
          <p:cNvPr id="37" name="Text 35"/>
          <p:cNvSpPr/>
          <p:nvPr/>
        </p:nvSpPr>
        <p:spPr>
          <a:xfrm>
            <a:off x="5715000" y="2651760"/>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38" name="Text 36"/>
          <p:cNvSpPr/>
          <p:nvPr/>
        </p:nvSpPr>
        <p:spPr>
          <a:xfrm>
            <a:off x="6537960" y="2651760"/>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central bottleneck</a:t>
            </a:r>
            <a:endParaRPr lang="en-US" sz="770" dirty="0"/>
          </a:p>
        </p:txBody>
      </p:sp>
      <p:sp>
        <p:nvSpPr>
          <p:cNvPr id="39" name="Shape 37"/>
          <p:cNvSpPr/>
          <p:nvPr/>
        </p:nvSpPr>
        <p:spPr>
          <a:xfrm>
            <a:off x="548640" y="2898648"/>
            <a:ext cx="8046720" cy="7315"/>
          </a:xfrm>
          <a:prstGeom prst="rect">
            <a:avLst/>
          </a:prstGeom>
          <a:solidFill>
            <a:srgbClr val="D8DEE6"/>
          </a:solidFill>
          <a:ln w="12700">
            <a:solidFill>
              <a:srgbClr val="D8DEE6"/>
            </a:solidFill>
            <a:prstDash val="solid"/>
          </a:ln>
        </p:spPr>
      </p:sp>
      <p:sp>
        <p:nvSpPr>
          <p:cNvPr id="40" name="Text 38"/>
          <p:cNvSpPr/>
          <p:nvPr/>
        </p:nvSpPr>
        <p:spPr>
          <a:xfrm>
            <a:off x="548640" y="2962656"/>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Distributed Mono.</a:t>
            </a:r>
            <a:endParaRPr lang="en-US" sz="870" dirty="0"/>
          </a:p>
        </p:txBody>
      </p:sp>
      <p:sp>
        <p:nvSpPr>
          <p:cNvPr id="41" name="Text 39"/>
          <p:cNvSpPr/>
          <p:nvPr/>
        </p:nvSpPr>
        <p:spPr>
          <a:xfrm>
            <a:off x="1691640" y="2962656"/>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high graph density + shared data</a:t>
            </a:r>
            <a:endParaRPr lang="en-US" sz="770" dirty="0"/>
          </a:p>
        </p:txBody>
      </p:sp>
      <p:sp>
        <p:nvSpPr>
          <p:cNvPr id="42" name="Text 40"/>
          <p:cNvSpPr/>
          <p:nvPr/>
        </p:nvSpPr>
        <p:spPr>
          <a:xfrm>
            <a:off x="4251960" y="2962656"/>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composite rule</a:t>
            </a:r>
            <a:endParaRPr lang="en-US" sz="770" dirty="0"/>
          </a:p>
        </p:txBody>
      </p:sp>
      <p:sp>
        <p:nvSpPr>
          <p:cNvPr id="43" name="Text 41"/>
          <p:cNvSpPr/>
          <p:nvPr/>
        </p:nvSpPr>
        <p:spPr>
          <a:xfrm>
            <a:off x="5715000" y="2962656"/>
            <a:ext cx="685800" cy="219456"/>
          </a:xfrm>
          <a:prstGeom prst="rect">
            <a:avLst/>
          </a:prstGeom>
          <a:noFill/>
          <a:ln/>
        </p:spPr>
        <p:txBody>
          <a:bodyPr wrap="square" lIns="0" tIns="0" rIns="0" bIns="0" rtlCol="0" anchor="ctr">
            <a:normAutofit/>
          </a:bodyPr>
          <a:lstStyle/>
          <a:p>
            <a:pPr indent="0" marL="0">
              <a:buNone/>
            </a:pPr>
            <a:r>
              <a:rPr lang="en-US" sz="770" b="1" dirty="0">
                <a:solidFill>
                  <a:srgbClr val="DC2626"/>
                </a:solidFill>
                <a:latin typeface="Calibri" pitchFamily="34" charset="0"/>
                <a:ea typeface="Calibri" pitchFamily="34" charset="-122"/>
                <a:cs typeface="Calibri" pitchFamily="34" charset="-120"/>
              </a:rPr>
              <a:t>Crit.</a:t>
            </a:r>
            <a:endParaRPr lang="en-US" sz="770" dirty="0"/>
          </a:p>
        </p:txBody>
      </p:sp>
      <p:sp>
        <p:nvSpPr>
          <p:cNvPr id="44" name="Text 42"/>
          <p:cNvSpPr/>
          <p:nvPr/>
        </p:nvSpPr>
        <p:spPr>
          <a:xfrm>
            <a:off x="6537960" y="2962656"/>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system-wide coupling</a:t>
            </a:r>
            <a:endParaRPr lang="en-US" sz="770" dirty="0"/>
          </a:p>
        </p:txBody>
      </p:sp>
      <p:sp>
        <p:nvSpPr>
          <p:cNvPr id="45" name="Shape 43"/>
          <p:cNvSpPr/>
          <p:nvPr/>
        </p:nvSpPr>
        <p:spPr>
          <a:xfrm>
            <a:off x="548640" y="3209544"/>
            <a:ext cx="8046720" cy="7315"/>
          </a:xfrm>
          <a:prstGeom prst="rect">
            <a:avLst/>
          </a:prstGeom>
          <a:solidFill>
            <a:srgbClr val="D8DEE6"/>
          </a:solidFill>
          <a:ln w="12700">
            <a:solidFill>
              <a:srgbClr val="D8DEE6"/>
            </a:solidFill>
            <a:prstDash val="solid"/>
          </a:ln>
        </p:spPr>
      </p:sp>
      <p:sp>
        <p:nvSpPr>
          <p:cNvPr id="46" name="Text 44"/>
          <p:cNvSpPr/>
          <p:nvPr/>
        </p:nvSpPr>
        <p:spPr>
          <a:xfrm>
            <a:off x="548640" y="3273552"/>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API Versioning</a:t>
            </a:r>
            <a:endParaRPr lang="en-US" sz="870" dirty="0"/>
          </a:p>
        </p:txBody>
      </p:sp>
      <p:sp>
        <p:nvSpPr>
          <p:cNvPr id="47" name="Text 45"/>
          <p:cNvSpPr/>
          <p:nvPr/>
        </p:nvSpPr>
        <p:spPr>
          <a:xfrm>
            <a:off x="1691640" y="3273552"/>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endpoint path lacks /vN</a:t>
            </a:r>
            <a:endParaRPr lang="en-US" sz="770" dirty="0"/>
          </a:p>
        </p:txBody>
      </p:sp>
      <p:sp>
        <p:nvSpPr>
          <p:cNvPr id="48" name="Text 46"/>
          <p:cNvSpPr/>
          <p:nvPr/>
        </p:nvSpPr>
        <p:spPr>
          <a:xfrm>
            <a:off x="4251960" y="3273552"/>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no version token</a:t>
            </a:r>
            <a:endParaRPr lang="en-US" sz="770" dirty="0"/>
          </a:p>
        </p:txBody>
      </p:sp>
      <p:sp>
        <p:nvSpPr>
          <p:cNvPr id="49" name="Text 47"/>
          <p:cNvSpPr/>
          <p:nvPr/>
        </p:nvSpPr>
        <p:spPr>
          <a:xfrm>
            <a:off x="5715000" y="3273552"/>
            <a:ext cx="685800" cy="219456"/>
          </a:xfrm>
          <a:prstGeom prst="rect">
            <a:avLst/>
          </a:prstGeom>
          <a:noFill/>
          <a:ln/>
        </p:spPr>
        <p:txBody>
          <a:bodyPr wrap="square" lIns="0" tIns="0" rIns="0" bIns="0" rtlCol="0" anchor="ctr">
            <a:normAutofit/>
          </a:bodyPr>
          <a:lstStyle/>
          <a:p>
            <a:pPr indent="0" marL="0">
              <a:buNone/>
            </a:pPr>
            <a:r>
              <a:rPr lang="en-US" sz="770" b="1" dirty="0">
                <a:solidFill>
                  <a:srgbClr val="1C4E80"/>
                </a:solidFill>
                <a:latin typeface="Calibri" pitchFamily="34" charset="0"/>
                <a:ea typeface="Calibri" pitchFamily="34" charset="-122"/>
                <a:cs typeface="Calibri" pitchFamily="34" charset="-120"/>
              </a:rPr>
              <a:t>Med.</a:t>
            </a:r>
            <a:endParaRPr lang="en-US" sz="770" dirty="0"/>
          </a:p>
        </p:txBody>
      </p:sp>
      <p:sp>
        <p:nvSpPr>
          <p:cNvPr id="50" name="Text 48"/>
          <p:cNvSpPr/>
          <p:nvPr/>
        </p:nvSpPr>
        <p:spPr>
          <a:xfrm>
            <a:off x="6537960" y="3273552"/>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client breakage risk</a:t>
            </a:r>
            <a:endParaRPr lang="en-US" sz="770" dirty="0"/>
          </a:p>
        </p:txBody>
      </p:sp>
      <p:sp>
        <p:nvSpPr>
          <p:cNvPr id="51" name="Shape 49"/>
          <p:cNvSpPr/>
          <p:nvPr/>
        </p:nvSpPr>
        <p:spPr>
          <a:xfrm>
            <a:off x="548640" y="3520440"/>
            <a:ext cx="8046720" cy="7315"/>
          </a:xfrm>
          <a:prstGeom prst="rect">
            <a:avLst/>
          </a:prstGeom>
          <a:solidFill>
            <a:srgbClr val="D8DEE6"/>
          </a:solidFill>
          <a:ln w="12700">
            <a:solidFill>
              <a:srgbClr val="D8DEE6"/>
            </a:solidFill>
            <a:prstDash val="solid"/>
          </a:ln>
        </p:spPr>
      </p:sp>
      <p:sp>
        <p:nvSpPr>
          <p:cNvPr id="52" name="Text 50"/>
          <p:cNvSpPr/>
          <p:nvPr/>
        </p:nvSpPr>
        <p:spPr>
          <a:xfrm>
            <a:off x="548640" y="3584448"/>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Wrong Cuts</a:t>
            </a:r>
            <a:endParaRPr lang="en-US" sz="870" dirty="0"/>
          </a:p>
        </p:txBody>
      </p:sp>
      <p:sp>
        <p:nvSpPr>
          <p:cNvPr id="53" name="Text 51"/>
          <p:cNvSpPr/>
          <p:nvPr/>
        </p:nvSpPr>
        <p:spPr>
          <a:xfrm>
            <a:off x="1691640" y="3584448"/>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bidirectional service pair</a:t>
            </a:r>
            <a:endParaRPr lang="en-US" sz="770" dirty="0"/>
          </a:p>
        </p:txBody>
      </p:sp>
      <p:sp>
        <p:nvSpPr>
          <p:cNvPr id="54" name="Text 52"/>
          <p:cNvSpPr/>
          <p:nvPr/>
        </p:nvSpPr>
        <p:spPr>
          <a:xfrm>
            <a:off x="4251960" y="3584448"/>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A-&gt;B and B-&gt;A</a:t>
            </a:r>
            <a:endParaRPr lang="en-US" sz="770" dirty="0"/>
          </a:p>
        </p:txBody>
      </p:sp>
      <p:sp>
        <p:nvSpPr>
          <p:cNvPr id="55" name="Text 53"/>
          <p:cNvSpPr/>
          <p:nvPr/>
        </p:nvSpPr>
        <p:spPr>
          <a:xfrm>
            <a:off x="5715000" y="3584448"/>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56" name="Text 54"/>
          <p:cNvSpPr/>
          <p:nvPr/>
        </p:nvSpPr>
        <p:spPr>
          <a:xfrm>
            <a:off x="6537960" y="3584448"/>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poor boundaries</a:t>
            </a:r>
            <a:endParaRPr lang="en-US" sz="770" dirty="0"/>
          </a:p>
        </p:txBody>
      </p:sp>
      <p:sp>
        <p:nvSpPr>
          <p:cNvPr id="57" name="Shape 55"/>
          <p:cNvSpPr/>
          <p:nvPr/>
        </p:nvSpPr>
        <p:spPr>
          <a:xfrm>
            <a:off x="548640" y="3831336"/>
            <a:ext cx="8046720" cy="7315"/>
          </a:xfrm>
          <a:prstGeom prst="rect">
            <a:avLst/>
          </a:prstGeom>
          <a:solidFill>
            <a:srgbClr val="D8DEE6"/>
          </a:solidFill>
          <a:ln w="12700">
            <a:solidFill>
              <a:srgbClr val="D8DEE6"/>
            </a:solidFill>
            <a:prstDash val="solid"/>
          </a:ln>
        </p:spPr>
      </p:sp>
      <p:sp>
        <p:nvSpPr>
          <p:cNvPr id="58" name="Text 56"/>
          <p:cNvSpPr/>
          <p:nvPr/>
        </p:nvSpPr>
        <p:spPr>
          <a:xfrm>
            <a:off x="548640" y="3895344"/>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Nano Service</a:t>
            </a:r>
            <a:endParaRPr lang="en-US" sz="870" dirty="0"/>
          </a:p>
        </p:txBody>
      </p:sp>
      <p:sp>
        <p:nvSpPr>
          <p:cNvPr id="59" name="Text 57"/>
          <p:cNvSpPr/>
          <p:nvPr/>
        </p:nvSpPr>
        <p:spPr>
          <a:xfrm>
            <a:off x="1691640" y="3895344"/>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very small deployable service</a:t>
            </a:r>
            <a:endParaRPr lang="en-US" sz="770" dirty="0"/>
          </a:p>
        </p:txBody>
      </p:sp>
      <p:sp>
        <p:nvSpPr>
          <p:cNvPr id="60" name="Text 58"/>
          <p:cNvSpPr/>
          <p:nvPr/>
        </p:nvSpPr>
        <p:spPr>
          <a:xfrm>
            <a:off x="4251960" y="3895344"/>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LOC below floor</a:t>
            </a:r>
            <a:endParaRPr lang="en-US" sz="770" dirty="0"/>
          </a:p>
        </p:txBody>
      </p:sp>
      <p:sp>
        <p:nvSpPr>
          <p:cNvPr id="61" name="Text 59"/>
          <p:cNvSpPr/>
          <p:nvPr/>
        </p:nvSpPr>
        <p:spPr>
          <a:xfrm>
            <a:off x="5715000" y="3895344"/>
            <a:ext cx="685800" cy="219456"/>
          </a:xfrm>
          <a:prstGeom prst="rect">
            <a:avLst/>
          </a:prstGeom>
          <a:noFill/>
          <a:ln/>
        </p:spPr>
        <p:txBody>
          <a:bodyPr wrap="square" lIns="0" tIns="0" rIns="0" bIns="0" rtlCol="0" anchor="ctr">
            <a:normAutofit/>
          </a:bodyPr>
          <a:lstStyle/>
          <a:p>
            <a:pPr indent="0" marL="0">
              <a:buNone/>
            </a:pPr>
            <a:r>
              <a:rPr lang="en-US" sz="770" b="1" dirty="0">
                <a:solidFill>
                  <a:srgbClr val="1C4E80"/>
                </a:solidFill>
                <a:latin typeface="Calibri" pitchFamily="34" charset="0"/>
                <a:ea typeface="Calibri" pitchFamily="34" charset="-122"/>
                <a:cs typeface="Calibri" pitchFamily="34" charset="-120"/>
              </a:rPr>
              <a:t>Med.</a:t>
            </a:r>
            <a:endParaRPr lang="en-US" sz="770" dirty="0"/>
          </a:p>
        </p:txBody>
      </p:sp>
      <p:sp>
        <p:nvSpPr>
          <p:cNvPr id="62" name="Text 60"/>
          <p:cNvSpPr/>
          <p:nvPr/>
        </p:nvSpPr>
        <p:spPr>
          <a:xfrm>
            <a:off x="6537960" y="3895344"/>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operational overhead</a:t>
            </a:r>
            <a:endParaRPr lang="en-US" sz="770" dirty="0"/>
          </a:p>
        </p:txBody>
      </p:sp>
      <p:sp>
        <p:nvSpPr>
          <p:cNvPr id="63" name="Shape 61"/>
          <p:cNvSpPr/>
          <p:nvPr/>
        </p:nvSpPr>
        <p:spPr>
          <a:xfrm>
            <a:off x="548640" y="4142232"/>
            <a:ext cx="8046720" cy="7315"/>
          </a:xfrm>
          <a:prstGeom prst="rect">
            <a:avLst/>
          </a:prstGeom>
          <a:solidFill>
            <a:srgbClr val="D8DEE6"/>
          </a:solidFill>
          <a:ln w="12700">
            <a:solidFill>
              <a:srgbClr val="D8DEE6"/>
            </a:solidFill>
            <a:prstDash val="solid"/>
          </a:ln>
        </p:spPr>
      </p:sp>
      <p:sp>
        <p:nvSpPr>
          <p:cNvPr id="64" name="Text 62"/>
          <p:cNvSpPr/>
          <p:nvPr/>
        </p:nvSpPr>
        <p:spPr>
          <a:xfrm>
            <a:off x="548640" y="4206240"/>
            <a:ext cx="1234440" cy="219456"/>
          </a:xfrm>
          <a:prstGeom prst="rect">
            <a:avLst/>
          </a:prstGeom>
          <a:noFill/>
          <a:ln/>
        </p:spPr>
        <p:txBody>
          <a:bodyPr wrap="square" lIns="0" tIns="0" rIns="0" bIns="0" rtlCol="0" anchor="ctr">
            <a:normAutofit/>
          </a:bodyPr>
          <a:lstStyle/>
          <a:p>
            <a:pPr indent="0" marL="0">
              <a:buNone/>
            </a:pPr>
            <a:r>
              <a:rPr lang="en-US" sz="870" b="1" dirty="0">
                <a:solidFill>
                  <a:srgbClr val="1E293B"/>
                </a:solidFill>
                <a:latin typeface="Calibri" pitchFamily="34" charset="0"/>
                <a:ea typeface="Calibri" pitchFamily="34" charset="-122"/>
                <a:cs typeface="Calibri" pitchFamily="34" charset="-120"/>
              </a:rPr>
              <a:t>God Service</a:t>
            </a:r>
            <a:endParaRPr lang="en-US" sz="870" dirty="0"/>
          </a:p>
        </p:txBody>
      </p:sp>
      <p:sp>
        <p:nvSpPr>
          <p:cNvPr id="65" name="Text 63"/>
          <p:cNvSpPr/>
          <p:nvPr/>
        </p:nvSpPr>
        <p:spPr>
          <a:xfrm>
            <a:off x="1691640" y="4206240"/>
            <a:ext cx="242316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contains God Class evidence</a:t>
            </a:r>
            <a:endParaRPr lang="en-US" sz="770" dirty="0"/>
          </a:p>
        </p:txBody>
      </p:sp>
      <p:sp>
        <p:nvSpPr>
          <p:cNvPr id="66" name="Text 64"/>
          <p:cNvSpPr/>
          <p:nvPr/>
        </p:nvSpPr>
        <p:spPr>
          <a:xfrm>
            <a:off x="4251960" y="4206240"/>
            <a:ext cx="132588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&gt;=3 of 6 metrics</a:t>
            </a:r>
            <a:endParaRPr lang="en-US" sz="770" dirty="0"/>
          </a:p>
        </p:txBody>
      </p:sp>
      <p:sp>
        <p:nvSpPr>
          <p:cNvPr id="67" name="Text 65"/>
          <p:cNvSpPr/>
          <p:nvPr/>
        </p:nvSpPr>
        <p:spPr>
          <a:xfrm>
            <a:off x="5715000" y="4206240"/>
            <a:ext cx="685800" cy="219456"/>
          </a:xfrm>
          <a:prstGeom prst="rect">
            <a:avLst/>
          </a:prstGeom>
          <a:noFill/>
          <a:ln/>
        </p:spPr>
        <p:txBody>
          <a:bodyPr wrap="square" lIns="0" tIns="0" rIns="0" bIns="0" rtlCol="0" anchor="ctr">
            <a:normAutofit/>
          </a:bodyPr>
          <a:lstStyle/>
          <a:p>
            <a:pPr indent="0" marL="0">
              <a:buNone/>
            </a:pPr>
            <a:r>
              <a:rPr lang="en-US" sz="770" b="1" dirty="0">
                <a:solidFill>
                  <a:srgbClr val="D97706"/>
                </a:solidFill>
                <a:latin typeface="Calibri" pitchFamily="34" charset="0"/>
                <a:ea typeface="Calibri" pitchFamily="34" charset="-122"/>
                <a:cs typeface="Calibri" pitchFamily="34" charset="-120"/>
              </a:rPr>
              <a:t>High</a:t>
            </a:r>
            <a:endParaRPr lang="en-US" sz="770" dirty="0"/>
          </a:p>
        </p:txBody>
      </p:sp>
      <p:sp>
        <p:nvSpPr>
          <p:cNvPr id="68" name="Text 66"/>
          <p:cNvSpPr/>
          <p:nvPr/>
        </p:nvSpPr>
        <p:spPr>
          <a:xfrm>
            <a:off x="6537960" y="4206240"/>
            <a:ext cx="2057400" cy="219456"/>
          </a:xfrm>
          <a:prstGeom prst="rect">
            <a:avLst/>
          </a:prstGeom>
          <a:noFill/>
          <a:ln/>
        </p:spPr>
        <p:txBody>
          <a:bodyPr wrap="square" lIns="0" tIns="0" rIns="0" bIns="0" rtlCol="0" anchor="ctr">
            <a:normAutofit/>
          </a:bodyPr>
          <a:lstStyle/>
          <a:p>
            <a:pPr indent="0" marL="0">
              <a:buNone/>
            </a:pPr>
            <a:r>
              <a:rPr lang="en-US" sz="770" dirty="0">
                <a:solidFill>
                  <a:srgbClr val="1E293B"/>
                </a:solidFill>
                <a:latin typeface="Calibri" pitchFamily="34" charset="0"/>
                <a:ea typeface="Calibri" pitchFamily="34" charset="-122"/>
                <a:cs typeface="Calibri" pitchFamily="34" charset="-120"/>
              </a:rPr>
              <a:t>too many responsibilities</a:t>
            </a:r>
            <a:endParaRPr lang="en-US" sz="770" dirty="0"/>
          </a:p>
        </p:txBody>
      </p:sp>
      <p:sp>
        <p:nvSpPr>
          <p:cNvPr id="69" name="Shape 67"/>
          <p:cNvSpPr/>
          <p:nvPr/>
        </p:nvSpPr>
        <p:spPr>
          <a:xfrm>
            <a:off x="548640" y="4453128"/>
            <a:ext cx="8046720" cy="7315"/>
          </a:xfrm>
          <a:prstGeom prst="rect">
            <a:avLst/>
          </a:prstGeom>
          <a:solidFill>
            <a:srgbClr val="D8DEE6"/>
          </a:solidFill>
          <a:ln w="12700">
            <a:solidFill>
              <a:srgbClr val="D8DEE6"/>
            </a:solidFill>
            <a:prstDash val="solid"/>
          </a:ln>
        </p:spPr>
      </p:sp>
      <p:sp>
        <p:nvSpPr>
          <p:cNvPr id="70" name="Shape 68"/>
          <p:cNvSpPr/>
          <p:nvPr/>
        </p:nvSpPr>
        <p:spPr>
          <a:xfrm>
            <a:off x="548640" y="4599432"/>
            <a:ext cx="457200" cy="36576"/>
          </a:xfrm>
          <a:prstGeom prst="rect">
            <a:avLst/>
          </a:prstGeom>
          <a:solidFill>
            <a:srgbClr val="0D9488"/>
          </a:solidFill>
          <a:ln w="12700">
            <a:solidFill>
              <a:srgbClr val="0D9488"/>
            </a:solidFill>
            <a:prstDash val="solid"/>
          </a:ln>
        </p:spPr>
      </p:sp>
      <p:sp>
        <p:nvSpPr>
          <p:cNvPr id="71" name="Text 69"/>
          <p:cNvSpPr/>
          <p:nvPr/>
        </p:nvSpPr>
        <p:spPr>
          <a:xfrm>
            <a:off x="548640" y="4681728"/>
            <a:ext cx="8046720" cy="201168"/>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Thresholds are configurable and intentionally conservative for a dissertation prototype; production use should calibrate them per organisation.</a:t>
            </a:r>
            <a:endParaRPr lang="en-US" sz="850" dirty="0"/>
          </a:p>
        </p:txBody>
      </p:sp>
      <p:sp>
        <p:nvSpPr>
          <p:cNvPr id="72" name="Text 70"/>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E</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how each detector works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DETECTOR</a:t>
            </a:r>
            <a:endParaRPr lang="en-US" sz="780" dirty="0"/>
          </a:p>
        </p:txBody>
      </p:sp>
      <p:sp>
        <p:nvSpPr>
          <p:cNvPr id="5" name="Text 3"/>
          <p:cNvSpPr/>
          <p:nvPr/>
        </p:nvSpPr>
        <p:spPr>
          <a:xfrm>
            <a:off x="1664208" y="1005840"/>
            <a:ext cx="484632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DETECTION LOGIC</a:t>
            </a:r>
            <a:endParaRPr lang="en-US" sz="780" dirty="0"/>
          </a:p>
        </p:txBody>
      </p:sp>
      <p:sp>
        <p:nvSpPr>
          <p:cNvPr id="6" name="Text 4"/>
          <p:cNvSpPr/>
          <p:nvPr/>
        </p:nvSpPr>
        <p:spPr>
          <a:xfrm>
            <a:off x="6720840" y="1005840"/>
            <a:ext cx="1874520" cy="228600"/>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EVIDENCE</a:t>
            </a:r>
            <a:endParaRPr lang="en-US" sz="780" dirty="0"/>
          </a:p>
        </p:txBody>
      </p:sp>
      <p:sp>
        <p:nvSpPr>
          <p:cNvPr id="7" name="Shape 5"/>
          <p:cNvSpPr/>
          <p:nvPr/>
        </p:nvSpPr>
        <p:spPr>
          <a:xfrm>
            <a:off x="548640" y="1298448"/>
            <a:ext cx="8046720" cy="13716"/>
          </a:xfrm>
          <a:prstGeom prst="rect">
            <a:avLst/>
          </a:prstGeom>
          <a:solidFill>
            <a:srgbClr val="D8DEE6"/>
          </a:solidFill>
          <a:ln w="12700">
            <a:solidFill>
              <a:srgbClr val="D8DEE6"/>
            </a:solidFill>
            <a:prstDash val="solid"/>
          </a:ln>
        </p:spPr>
      </p:sp>
      <p:sp>
        <p:nvSpPr>
          <p:cNvPr id="8" name="Shape 6"/>
          <p:cNvSpPr/>
          <p:nvPr/>
        </p:nvSpPr>
        <p:spPr>
          <a:xfrm>
            <a:off x="548640" y="1444752"/>
            <a:ext cx="219456" cy="27432"/>
          </a:xfrm>
          <a:prstGeom prst="rect">
            <a:avLst/>
          </a:prstGeom>
          <a:solidFill>
            <a:srgbClr val="0D9488"/>
          </a:solidFill>
          <a:ln w="12700">
            <a:solidFill>
              <a:srgbClr val="0D9488"/>
            </a:solidFill>
            <a:prstDash val="solid"/>
          </a:ln>
        </p:spPr>
      </p:sp>
      <p:sp>
        <p:nvSpPr>
          <p:cNvPr id="9" name="Text 7"/>
          <p:cNvSpPr/>
          <p:nvPr/>
        </p:nvSpPr>
        <p:spPr>
          <a:xfrm>
            <a:off x="841248" y="1408176"/>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Shared DB</a:t>
            </a:r>
            <a:endParaRPr lang="en-US" sz="830" dirty="0"/>
          </a:p>
        </p:txBody>
      </p:sp>
      <p:sp>
        <p:nvSpPr>
          <p:cNvPr id="10" name="Text 8"/>
          <p:cNvSpPr/>
          <p:nvPr/>
        </p:nvSpPr>
        <p:spPr>
          <a:xfrm>
            <a:off x="1664208" y="1408176"/>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Parse Spring datasource config and group services by resolved database URL.</a:t>
            </a:r>
            <a:endParaRPr lang="en-US" sz="745" dirty="0"/>
          </a:p>
        </p:txBody>
      </p:sp>
      <p:sp>
        <p:nvSpPr>
          <p:cNvPr id="11" name="Text 9"/>
          <p:cNvSpPr/>
          <p:nvPr/>
        </p:nvSpPr>
        <p:spPr>
          <a:xfrm>
            <a:off x="6720840" y="1408176"/>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Datasource line</a:t>
            </a:r>
            <a:endParaRPr lang="en-US" sz="745" dirty="0"/>
          </a:p>
        </p:txBody>
      </p:sp>
      <p:sp>
        <p:nvSpPr>
          <p:cNvPr id="12" name="Shape 10"/>
          <p:cNvSpPr/>
          <p:nvPr/>
        </p:nvSpPr>
        <p:spPr>
          <a:xfrm>
            <a:off x="548640" y="1655064"/>
            <a:ext cx="8046720" cy="7315"/>
          </a:xfrm>
          <a:prstGeom prst="rect">
            <a:avLst/>
          </a:prstGeom>
          <a:solidFill>
            <a:srgbClr val="D8DEE6"/>
          </a:solidFill>
          <a:ln w="12700">
            <a:solidFill>
              <a:srgbClr val="D8DEE6"/>
            </a:solidFill>
            <a:prstDash val="solid"/>
          </a:ln>
        </p:spPr>
      </p:sp>
      <p:sp>
        <p:nvSpPr>
          <p:cNvPr id="13" name="Shape 11"/>
          <p:cNvSpPr/>
          <p:nvPr/>
        </p:nvSpPr>
        <p:spPr>
          <a:xfrm>
            <a:off x="548640" y="1755648"/>
            <a:ext cx="219456" cy="27432"/>
          </a:xfrm>
          <a:prstGeom prst="rect">
            <a:avLst/>
          </a:prstGeom>
          <a:solidFill>
            <a:srgbClr val="0D9488"/>
          </a:solidFill>
          <a:ln w="12700">
            <a:solidFill>
              <a:srgbClr val="0D9488"/>
            </a:solidFill>
            <a:prstDash val="solid"/>
          </a:ln>
        </p:spPr>
      </p:sp>
      <p:sp>
        <p:nvSpPr>
          <p:cNvPr id="14" name="Text 12"/>
          <p:cNvSpPr/>
          <p:nvPr/>
        </p:nvSpPr>
        <p:spPr>
          <a:xfrm>
            <a:off x="841248" y="1719072"/>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Cyclic Dep.</a:t>
            </a:r>
            <a:endParaRPr lang="en-US" sz="830" dirty="0"/>
          </a:p>
        </p:txBody>
      </p:sp>
      <p:sp>
        <p:nvSpPr>
          <p:cNvPr id="15" name="Text 13"/>
          <p:cNvSpPr/>
          <p:nvPr/>
        </p:nvSpPr>
        <p:spPr>
          <a:xfrm>
            <a:off x="1664208" y="1719072"/>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Run Tarjan SCC over the directed service dependency graph; SCC size &gt; 1 is a cycle.</a:t>
            </a:r>
            <a:endParaRPr lang="en-US" sz="745" dirty="0"/>
          </a:p>
        </p:txBody>
      </p:sp>
      <p:sp>
        <p:nvSpPr>
          <p:cNvPr id="16" name="Text 14"/>
          <p:cNvSpPr/>
          <p:nvPr/>
        </p:nvSpPr>
        <p:spPr>
          <a:xfrm>
            <a:off x="6720840" y="1719072"/>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Call edge snippet</a:t>
            </a:r>
            <a:endParaRPr lang="en-US" sz="745" dirty="0"/>
          </a:p>
        </p:txBody>
      </p:sp>
      <p:sp>
        <p:nvSpPr>
          <p:cNvPr id="17" name="Shape 15"/>
          <p:cNvSpPr/>
          <p:nvPr/>
        </p:nvSpPr>
        <p:spPr>
          <a:xfrm>
            <a:off x="548640" y="1965960"/>
            <a:ext cx="8046720" cy="7315"/>
          </a:xfrm>
          <a:prstGeom prst="rect">
            <a:avLst/>
          </a:prstGeom>
          <a:solidFill>
            <a:srgbClr val="D8DEE6"/>
          </a:solidFill>
          <a:ln w="12700">
            <a:solidFill>
              <a:srgbClr val="D8DEE6"/>
            </a:solidFill>
            <a:prstDash val="solid"/>
          </a:ln>
        </p:spPr>
      </p:sp>
      <p:sp>
        <p:nvSpPr>
          <p:cNvPr id="18" name="Shape 16"/>
          <p:cNvSpPr/>
          <p:nvPr/>
        </p:nvSpPr>
        <p:spPr>
          <a:xfrm>
            <a:off x="548640" y="2066544"/>
            <a:ext cx="219456" cy="27432"/>
          </a:xfrm>
          <a:prstGeom prst="rect">
            <a:avLst/>
          </a:prstGeom>
          <a:solidFill>
            <a:srgbClr val="0D9488"/>
          </a:solidFill>
          <a:ln w="12700">
            <a:solidFill>
              <a:srgbClr val="0D9488"/>
            </a:solidFill>
            <a:prstDash val="solid"/>
          </a:ln>
        </p:spPr>
      </p:sp>
      <p:sp>
        <p:nvSpPr>
          <p:cNvPr id="19" name="Text 17"/>
          <p:cNvSpPr/>
          <p:nvPr/>
        </p:nvSpPr>
        <p:spPr>
          <a:xfrm>
            <a:off x="841248" y="2029968"/>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Chatty Service</a:t>
            </a:r>
            <a:endParaRPr lang="en-US" sz="830" dirty="0"/>
          </a:p>
        </p:txBody>
      </p:sp>
      <p:sp>
        <p:nvSpPr>
          <p:cNvPr id="20" name="Text 18"/>
          <p:cNvSpPr/>
          <p:nvPr/>
        </p:nvSpPr>
        <p:spPr>
          <a:xfrm>
            <a:off x="1664208" y="2029968"/>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Combine high edge call count with source scan for wide Feign/client interfaces.</a:t>
            </a:r>
            <a:endParaRPr lang="en-US" sz="745" dirty="0"/>
          </a:p>
        </p:txBody>
      </p:sp>
      <p:sp>
        <p:nvSpPr>
          <p:cNvPr id="21" name="Text 19"/>
          <p:cNvSpPr/>
          <p:nvPr/>
        </p:nvSpPr>
        <p:spPr>
          <a:xfrm>
            <a:off x="6720840" y="2029968"/>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Client method/call</a:t>
            </a:r>
            <a:endParaRPr lang="en-US" sz="745" dirty="0"/>
          </a:p>
        </p:txBody>
      </p:sp>
      <p:sp>
        <p:nvSpPr>
          <p:cNvPr id="22" name="Shape 20"/>
          <p:cNvSpPr/>
          <p:nvPr/>
        </p:nvSpPr>
        <p:spPr>
          <a:xfrm>
            <a:off x="548640" y="2276856"/>
            <a:ext cx="8046720" cy="7315"/>
          </a:xfrm>
          <a:prstGeom prst="rect">
            <a:avLst/>
          </a:prstGeom>
          <a:solidFill>
            <a:srgbClr val="D8DEE6"/>
          </a:solidFill>
          <a:ln w="12700">
            <a:solidFill>
              <a:srgbClr val="D8DEE6"/>
            </a:solidFill>
            <a:prstDash val="solid"/>
          </a:ln>
        </p:spPr>
      </p:sp>
      <p:sp>
        <p:nvSpPr>
          <p:cNvPr id="23" name="Shape 21"/>
          <p:cNvSpPr/>
          <p:nvPr/>
        </p:nvSpPr>
        <p:spPr>
          <a:xfrm>
            <a:off x="548640" y="2377440"/>
            <a:ext cx="219456" cy="27432"/>
          </a:xfrm>
          <a:prstGeom prst="rect">
            <a:avLst/>
          </a:prstGeom>
          <a:solidFill>
            <a:srgbClr val="0D9488"/>
          </a:solidFill>
          <a:ln w="12700">
            <a:solidFill>
              <a:srgbClr val="0D9488"/>
            </a:solidFill>
            <a:prstDash val="solid"/>
          </a:ln>
        </p:spPr>
      </p:sp>
      <p:sp>
        <p:nvSpPr>
          <p:cNvPr id="24" name="Text 22"/>
          <p:cNvSpPr/>
          <p:nvPr/>
        </p:nvSpPr>
        <p:spPr>
          <a:xfrm>
            <a:off x="841248" y="2340864"/>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Hardcoded EP</a:t>
            </a:r>
            <a:endParaRPr lang="en-US" sz="830" dirty="0"/>
          </a:p>
        </p:txBody>
      </p:sp>
      <p:sp>
        <p:nvSpPr>
          <p:cNvPr id="25" name="Text 23"/>
          <p:cNvSpPr/>
          <p:nvPr/>
        </p:nvSpPr>
        <p:spPr>
          <a:xfrm>
            <a:off x="1664208" y="2340864"/>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Scan Java string literals for http, localhost, IP, or port-based URL constants.</a:t>
            </a:r>
            <a:endParaRPr lang="en-US" sz="745" dirty="0"/>
          </a:p>
        </p:txBody>
      </p:sp>
      <p:sp>
        <p:nvSpPr>
          <p:cNvPr id="26" name="Text 24"/>
          <p:cNvSpPr/>
          <p:nvPr/>
        </p:nvSpPr>
        <p:spPr>
          <a:xfrm>
            <a:off x="6720840" y="2340864"/>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URL literal</a:t>
            </a:r>
            <a:endParaRPr lang="en-US" sz="745" dirty="0"/>
          </a:p>
        </p:txBody>
      </p:sp>
      <p:sp>
        <p:nvSpPr>
          <p:cNvPr id="27" name="Shape 25"/>
          <p:cNvSpPr/>
          <p:nvPr/>
        </p:nvSpPr>
        <p:spPr>
          <a:xfrm>
            <a:off x="548640" y="2587752"/>
            <a:ext cx="8046720" cy="7315"/>
          </a:xfrm>
          <a:prstGeom prst="rect">
            <a:avLst/>
          </a:prstGeom>
          <a:solidFill>
            <a:srgbClr val="D8DEE6"/>
          </a:solidFill>
          <a:ln w="12700">
            <a:solidFill>
              <a:srgbClr val="D8DEE6"/>
            </a:solidFill>
            <a:prstDash val="solid"/>
          </a:ln>
        </p:spPr>
      </p:sp>
      <p:sp>
        <p:nvSpPr>
          <p:cNvPr id="28" name="Shape 26"/>
          <p:cNvSpPr/>
          <p:nvPr/>
        </p:nvSpPr>
        <p:spPr>
          <a:xfrm>
            <a:off x="548640" y="2688336"/>
            <a:ext cx="219456" cy="27432"/>
          </a:xfrm>
          <a:prstGeom prst="rect">
            <a:avLst/>
          </a:prstGeom>
          <a:solidFill>
            <a:srgbClr val="0D9488"/>
          </a:solidFill>
          <a:ln w="12700">
            <a:solidFill>
              <a:srgbClr val="0D9488"/>
            </a:solidFill>
            <a:prstDash val="solid"/>
          </a:ln>
        </p:spPr>
      </p:sp>
      <p:sp>
        <p:nvSpPr>
          <p:cNvPr id="29" name="Text 27"/>
          <p:cNvSpPr/>
          <p:nvPr/>
        </p:nvSpPr>
        <p:spPr>
          <a:xfrm>
            <a:off x="841248" y="2651760"/>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ESB Misuse</a:t>
            </a:r>
            <a:endParaRPr lang="en-US" sz="830" dirty="0"/>
          </a:p>
        </p:txBody>
      </p:sp>
      <p:sp>
        <p:nvSpPr>
          <p:cNvPr id="30" name="Text 28"/>
          <p:cNvSpPr/>
          <p:nvPr/>
        </p:nvSpPr>
        <p:spPr>
          <a:xfrm>
            <a:off x="1664208" y="2651760"/>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Compute caller/callee ratios, mediator volume, and betweenness centrality; exclude gateways.</a:t>
            </a:r>
            <a:endParaRPr lang="en-US" sz="745" dirty="0"/>
          </a:p>
        </p:txBody>
      </p:sp>
      <p:sp>
        <p:nvSpPr>
          <p:cNvPr id="31" name="Text 29"/>
          <p:cNvSpPr/>
          <p:nvPr/>
        </p:nvSpPr>
        <p:spPr>
          <a:xfrm>
            <a:off x="6720840" y="2651760"/>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Central edges</a:t>
            </a:r>
            <a:endParaRPr lang="en-US" sz="745" dirty="0"/>
          </a:p>
        </p:txBody>
      </p:sp>
      <p:sp>
        <p:nvSpPr>
          <p:cNvPr id="32" name="Shape 30"/>
          <p:cNvSpPr/>
          <p:nvPr/>
        </p:nvSpPr>
        <p:spPr>
          <a:xfrm>
            <a:off x="548640" y="2898648"/>
            <a:ext cx="8046720" cy="7315"/>
          </a:xfrm>
          <a:prstGeom prst="rect">
            <a:avLst/>
          </a:prstGeom>
          <a:solidFill>
            <a:srgbClr val="D8DEE6"/>
          </a:solidFill>
          <a:ln w="12700">
            <a:solidFill>
              <a:srgbClr val="D8DEE6"/>
            </a:solidFill>
            <a:prstDash val="solid"/>
          </a:ln>
        </p:spPr>
      </p:sp>
      <p:sp>
        <p:nvSpPr>
          <p:cNvPr id="33" name="Shape 31"/>
          <p:cNvSpPr/>
          <p:nvPr/>
        </p:nvSpPr>
        <p:spPr>
          <a:xfrm>
            <a:off x="548640" y="2999232"/>
            <a:ext cx="219456" cy="27432"/>
          </a:xfrm>
          <a:prstGeom prst="rect">
            <a:avLst/>
          </a:prstGeom>
          <a:solidFill>
            <a:srgbClr val="1C4E80"/>
          </a:solidFill>
          <a:ln w="12700">
            <a:solidFill>
              <a:srgbClr val="1C4E80"/>
            </a:solidFill>
            <a:prstDash val="solid"/>
          </a:ln>
        </p:spPr>
      </p:sp>
      <p:sp>
        <p:nvSpPr>
          <p:cNvPr id="34" name="Text 32"/>
          <p:cNvSpPr/>
          <p:nvPr/>
        </p:nvSpPr>
        <p:spPr>
          <a:xfrm>
            <a:off x="841248" y="2962656"/>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Distributed Mono.</a:t>
            </a:r>
            <a:endParaRPr lang="en-US" sz="830" dirty="0"/>
          </a:p>
        </p:txBody>
      </p:sp>
      <p:sp>
        <p:nvSpPr>
          <p:cNvPr id="35" name="Text 33"/>
          <p:cNvSpPr/>
          <p:nvPr/>
        </p:nvSpPr>
        <p:spPr>
          <a:xfrm>
            <a:off x="1664208" y="2962656"/>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Evaluate system coupling coefficient, connected-service ratio, and shared database count.</a:t>
            </a:r>
            <a:endParaRPr lang="en-US" sz="745" dirty="0"/>
          </a:p>
        </p:txBody>
      </p:sp>
      <p:sp>
        <p:nvSpPr>
          <p:cNvPr id="36" name="Text 34"/>
          <p:cNvSpPr/>
          <p:nvPr/>
        </p:nvSpPr>
        <p:spPr>
          <a:xfrm>
            <a:off x="6720840" y="2962656"/>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Graph metrics</a:t>
            </a:r>
            <a:endParaRPr lang="en-US" sz="745" dirty="0"/>
          </a:p>
        </p:txBody>
      </p:sp>
      <p:sp>
        <p:nvSpPr>
          <p:cNvPr id="37" name="Shape 35"/>
          <p:cNvSpPr/>
          <p:nvPr/>
        </p:nvSpPr>
        <p:spPr>
          <a:xfrm>
            <a:off x="548640" y="3209544"/>
            <a:ext cx="8046720" cy="7315"/>
          </a:xfrm>
          <a:prstGeom prst="rect">
            <a:avLst/>
          </a:prstGeom>
          <a:solidFill>
            <a:srgbClr val="D8DEE6"/>
          </a:solidFill>
          <a:ln w="12700">
            <a:solidFill>
              <a:srgbClr val="D8DEE6"/>
            </a:solidFill>
            <a:prstDash val="solid"/>
          </a:ln>
        </p:spPr>
      </p:sp>
      <p:sp>
        <p:nvSpPr>
          <p:cNvPr id="38" name="Shape 36"/>
          <p:cNvSpPr/>
          <p:nvPr/>
        </p:nvSpPr>
        <p:spPr>
          <a:xfrm>
            <a:off x="548640" y="3310128"/>
            <a:ext cx="219456" cy="27432"/>
          </a:xfrm>
          <a:prstGeom prst="rect">
            <a:avLst/>
          </a:prstGeom>
          <a:solidFill>
            <a:srgbClr val="1C4E80"/>
          </a:solidFill>
          <a:ln w="12700">
            <a:solidFill>
              <a:srgbClr val="1C4E80"/>
            </a:solidFill>
            <a:prstDash val="solid"/>
          </a:ln>
        </p:spPr>
      </p:sp>
      <p:sp>
        <p:nvSpPr>
          <p:cNvPr id="39" name="Text 37"/>
          <p:cNvSpPr/>
          <p:nvPr/>
        </p:nvSpPr>
        <p:spPr>
          <a:xfrm>
            <a:off x="841248" y="3273552"/>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API Versioning</a:t>
            </a:r>
            <a:endParaRPr lang="en-US" sz="830" dirty="0"/>
          </a:p>
        </p:txBody>
      </p:sp>
      <p:sp>
        <p:nvSpPr>
          <p:cNvPr id="40" name="Text 38"/>
          <p:cNvSpPr/>
          <p:nvPr/>
        </p:nvSpPr>
        <p:spPr>
          <a:xfrm>
            <a:off x="1664208" y="3273552"/>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Extract endpoints with Spoon and flag services where no endpoint has path/header/media/query versioning.</a:t>
            </a:r>
            <a:endParaRPr lang="en-US" sz="745" dirty="0"/>
          </a:p>
        </p:txBody>
      </p:sp>
      <p:sp>
        <p:nvSpPr>
          <p:cNvPr id="41" name="Text 39"/>
          <p:cNvSpPr/>
          <p:nvPr/>
        </p:nvSpPr>
        <p:spPr>
          <a:xfrm>
            <a:off x="6720840" y="3273552"/>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Controller mapping</a:t>
            </a:r>
            <a:endParaRPr lang="en-US" sz="745" dirty="0"/>
          </a:p>
        </p:txBody>
      </p:sp>
      <p:sp>
        <p:nvSpPr>
          <p:cNvPr id="42" name="Shape 40"/>
          <p:cNvSpPr/>
          <p:nvPr/>
        </p:nvSpPr>
        <p:spPr>
          <a:xfrm>
            <a:off x="548640" y="3520440"/>
            <a:ext cx="8046720" cy="7315"/>
          </a:xfrm>
          <a:prstGeom prst="rect">
            <a:avLst/>
          </a:prstGeom>
          <a:solidFill>
            <a:srgbClr val="D8DEE6"/>
          </a:solidFill>
          <a:ln w="12700">
            <a:solidFill>
              <a:srgbClr val="D8DEE6"/>
            </a:solidFill>
            <a:prstDash val="solid"/>
          </a:ln>
        </p:spPr>
      </p:sp>
      <p:sp>
        <p:nvSpPr>
          <p:cNvPr id="43" name="Shape 41"/>
          <p:cNvSpPr/>
          <p:nvPr/>
        </p:nvSpPr>
        <p:spPr>
          <a:xfrm>
            <a:off x="548640" y="3621024"/>
            <a:ext cx="219456" cy="27432"/>
          </a:xfrm>
          <a:prstGeom prst="rect">
            <a:avLst/>
          </a:prstGeom>
          <a:solidFill>
            <a:srgbClr val="1C4E80"/>
          </a:solidFill>
          <a:ln w="12700">
            <a:solidFill>
              <a:srgbClr val="1C4E80"/>
            </a:solidFill>
            <a:prstDash val="solid"/>
          </a:ln>
        </p:spPr>
      </p:sp>
      <p:sp>
        <p:nvSpPr>
          <p:cNvPr id="44" name="Text 42"/>
          <p:cNvSpPr/>
          <p:nvPr/>
        </p:nvSpPr>
        <p:spPr>
          <a:xfrm>
            <a:off x="841248" y="3584448"/>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Wrong Cuts</a:t>
            </a:r>
            <a:endParaRPr lang="en-US" sz="830" dirty="0"/>
          </a:p>
        </p:txBody>
      </p:sp>
      <p:sp>
        <p:nvSpPr>
          <p:cNvPr id="45" name="Text 43"/>
          <p:cNvSpPr/>
          <p:nvPr/>
        </p:nvSpPr>
        <p:spPr>
          <a:xfrm>
            <a:off x="1664208" y="3584448"/>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Find bidirectional service pairs in the dependency graph: A calls B and B calls A.</a:t>
            </a:r>
            <a:endParaRPr lang="en-US" sz="745" dirty="0"/>
          </a:p>
        </p:txBody>
      </p:sp>
      <p:sp>
        <p:nvSpPr>
          <p:cNvPr id="46" name="Text 44"/>
          <p:cNvSpPr/>
          <p:nvPr/>
        </p:nvSpPr>
        <p:spPr>
          <a:xfrm>
            <a:off x="6720840" y="3584448"/>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Both directions</a:t>
            </a:r>
            <a:endParaRPr lang="en-US" sz="745" dirty="0"/>
          </a:p>
        </p:txBody>
      </p:sp>
      <p:sp>
        <p:nvSpPr>
          <p:cNvPr id="47" name="Shape 45"/>
          <p:cNvSpPr/>
          <p:nvPr/>
        </p:nvSpPr>
        <p:spPr>
          <a:xfrm>
            <a:off x="548640" y="3831336"/>
            <a:ext cx="8046720" cy="7315"/>
          </a:xfrm>
          <a:prstGeom prst="rect">
            <a:avLst/>
          </a:prstGeom>
          <a:solidFill>
            <a:srgbClr val="D8DEE6"/>
          </a:solidFill>
          <a:ln w="12700">
            <a:solidFill>
              <a:srgbClr val="D8DEE6"/>
            </a:solidFill>
            <a:prstDash val="solid"/>
          </a:ln>
        </p:spPr>
      </p:sp>
      <p:sp>
        <p:nvSpPr>
          <p:cNvPr id="48" name="Shape 46"/>
          <p:cNvSpPr/>
          <p:nvPr/>
        </p:nvSpPr>
        <p:spPr>
          <a:xfrm>
            <a:off x="548640" y="3931920"/>
            <a:ext cx="219456" cy="27432"/>
          </a:xfrm>
          <a:prstGeom prst="rect">
            <a:avLst/>
          </a:prstGeom>
          <a:solidFill>
            <a:srgbClr val="1C4E80"/>
          </a:solidFill>
          <a:ln w="12700">
            <a:solidFill>
              <a:srgbClr val="1C4E80"/>
            </a:solidFill>
            <a:prstDash val="solid"/>
          </a:ln>
        </p:spPr>
      </p:sp>
      <p:sp>
        <p:nvSpPr>
          <p:cNvPr id="49" name="Text 47"/>
          <p:cNvSpPr/>
          <p:nvPr/>
        </p:nvSpPr>
        <p:spPr>
          <a:xfrm>
            <a:off x="841248" y="3895344"/>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Nano Service</a:t>
            </a:r>
            <a:endParaRPr lang="en-US" sz="830" dirty="0"/>
          </a:p>
        </p:txBody>
      </p:sp>
      <p:sp>
        <p:nvSpPr>
          <p:cNvPr id="50" name="Text 48"/>
          <p:cNvSpPr/>
          <p:nvPr/>
        </p:nvSpPr>
        <p:spPr>
          <a:xfrm>
            <a:off x="1664208" y="3895344"/>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Flag services below both size thresholds: low Java LOC and very few endpoints.</a:t>
            </a:r>
            <a:endParaRPr lang="en-US" sz="745" dirty="0"/>
          </a:p>
        </p:txBody>
      </p:sp>
      <p:sp>
        <p:nvSpPr>
          <p:cNvPr id="51" name="Text 49"/>
          <p:cNvSpPr/>
          <p:nvPr/>
        </p:nvSpPr>
        <p:spPr>
          <a:xfrm>
            <a:off x="6720840" y="3895344"/>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Main class</a:t>
            </a:r>
            <a:endParaRPr lang="en-US" sz="745" dirty="0"/>
          </a:p>
        </p:txBody>
      </p:sp>
      <p:sp>
        <p:nvSpPr>
          <p:cNvPr id="52" name="Shape 50"/>
          <p:cNvSpPr/>
          <p:nvPr/>
        </p:nvSpPr>
        <p:spPr>
          <a:xfrm>
            <a:off x="548640" y="4142232"/>
            <a:ext cx="8046720" cy="7315"/>
          </a:xfrm>
          <a:prstGeom prst="rect">
            <a:avLst/>
          </a:prstGeom>
          <a:solidFill>
            <a:srgbClr val="D8DEE6"/>
          </a:solidFill>
          <a:ln w="12700">
            <a:solidFill>
              <a:srgbClr val="D8DEE6"/>
            </a:solidFill>
            <a:prstDash val="solid"/>
          </a:ln>
        </p:spPr>
      </p:sp>
      <p:sp>
        <p:nvSpPr>
          <p:cNvPr id="53" name="Shape 51"/>
          <p:cNvSpPr/>
          <p:nvPr/>
        </p:nvSpPr>
        <p:spPr>
          <a:xfrm>
            <a:off x="548640" y="4242816"/>
            <a:ext cx="219456" cy="27432"/>
          </a:xfrm>
          <a:prstGeom prst="rect">
            <a:avLst/>
          </a:prstGeom>
          <a:solidFill>
            <a:srgbClr val="1C4E80"/>
          </a:solidFill>
          <a:ln w="12700">
            <a:solidFill>
              <a:srgbClr val="1C4E80"/>
            </a:solidFill>
            <a:prstDash val="solid"/>
          </a:ln>
        </p:spPr>
      </p:sp>
      <p:sp>
        <p:nvSpPr>
          <p:cNvPr id="54" name="Text 52"/>
          <p:cNvSpPr/>
          <p:nvPr/>
        </p:nvSpPr>
        <p:spPr>
          <a:xfrm>
            <a:off x="841248" y="4206240"/>
            <a:ext cx="941832" cy="228600"/>
          </a:xfrm>
          <a:prstGeom prst="rect">
            <a:avLst/>
          </a:prstGeom>
          <a:noFill/>
          <a:ln/>
        </p:spPr>
        <p:txBody>
          <a:bodyPr wrap="square" lIns="0" tIns="0" rIns="0" bIns="0" rtlCol="0" anchor="ctr">
            <a:normAutofit/>
          </a:bodyPr>
          <a:lstStyle/>
          <a:p>
            <a:pPr indent="0" marL="0">
              <a:buNone/>
            </a:pPr>
            <a:r>
              <a:rPr lang="en-US" sz="830" b="1" dirty="0">
                <a:solidFill>
                  <a:srgbClr val="0F2A44"/>
                </a:solidFill>
                <a:latin typeface="Calibri" pitchFamily="34" charset="0"/>
                <a:ea typeface="Calibri" pitchFamily="34" charset="-122"/>
                <a:cs typeface="Calibri" pitchFamily="34" charset="-120"/>
              </a:rPr>
              <a:t>God Service</a:t>
            </a:r>
            <a:endParaRPr lang="en-US" sz="830" dirty="0"/>
          </a:p>
        </p:txBody>
      </p:sp>
      <p:sp>
        <p:nvSpPr>
          <p:cNvPr id="55" name="Text 53"/>
          <p:cNvSpPr/>
          <p:nvPr/>
        </p:nvSpPr>
        <p:spPr>
          <a:xfrm>
            <a:off x="1664208" y="4206240"/>
            <a:ext cx="48463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Use Spoon class metrics; one class exceeding at least 3 of 6 God-Class thresholds flags the service.</a:t>
            </a:r>
            <a:endParaRPr lang="en-US" sz="745" dirty="0"/>
          </a:p>
        </p:txBody>
      </p:sp>
      <p:sp>
        <p:nvSpPr>
          <p:cNvPr id="56" name="Text 54"/>
          <p:cNvSpPr/>
          <p:nvPr/>
        </p:nvSpPr>
        <p:spPr>
          <a:xfrm>
            <a:off x="6720840" y="4206240"/>
            <a:ext cx="1874520" cy="228600"/>
          </a:xfrm>
          <a:prstGeom prst="rect">
            <a:avLst/>
          </a:prstGeom>
          <a:noFill/>
          <a:ln/>
        </p:spPr>
        <p:txBody>
          <a:bodyPr wrap="square" lIns="0" tIns="0" rIns="0" bIns="0" rtlCol="0" anchor="ctr">
            <a:normAutofit/>
          </a:bodyPr>
          <a:lstStyle/>
          <a:p>
            <a:pPr indent="0" marL="0">
              <a:buNone/>
            </a:pPr>
            <a:r>
              <a:rPr lang="en-US" sz="745" dirty="0">
                <a:solidFill>
                  <a:srgbClr val="1E293B"/>
                </a:solidFill>
                <a:latin typeface="Calibri" pitchFamily="34" charset="0"/>
                <a:ea typeface="Calibri" pitchFamily="34" charset="-122"/>
                <a:cs typeface="Calibri" pitchFamily="34" charset="-120"/>
              </a:rPr>
              <a:t>Class metrics</a:t>
            </a:r>
            <a:endParaRPr lang="en-US" sz="745" dirty="0"/>
          </a:p>
        </p:txBody>
      </p:sp>
      <p:sp>
        <p:nvSpPr>
          <p:cNvPr id="57" name="Shape 55"/>
          <p:cNvSpPr/>
          <p:nvPr/>
        </p:nvSpPr>
        <p:spPr>
          <a:xfrm>
            <a:off x="548640" y="4453128"/>
            <a:ext cx="8046720" cy="7315"/>
          </a:xfrm>
          <a:prstGeom prst="rect">
            <a:avLst/>
          </a:prstGeom>
          <a:solidFill>
            <a:srgbClr val="D8DEE6"/>
          </a:solidFill>
          <a:ln w="12700">
            <a:solidFill>
              <a:srgbClr val="D8DEE6"/>
            </a:solidFill>
            <a:prstDash val="solid"/>
          </a:ln>
        </p:spPr>
      </p:sp>
      <p:sp>
        <p:nvSpPr>
          <p:cNvPr id="58" name="Shape 56"/>
          <p:cNvSpPr/>
          <p:nvPr/>
        </p:nvSpPr>
        <p:spPr>
          <a:xfrm>
            <a:off x="548640" y="4599432"/>
            <a:ext cx="457200" cy="36576"/>
          </a:xfrm>
          <a:prstGeom prst="rect">
            <a:avLst/>
          </a:prstGeom>
          <a:solidFill>
            <a:srgbClr val="0D9488"/>
          </a:solidFill>
          <a:ln w="12700">
            <a:solidFill>
              <a:srgbClr val="0D9488"/>
            </a:solidFill>
            <a:prstDash val="solid"/>
          </a:ln>
        </p:spPr>
      </p:sp>
      <p:sp>
        <p:nvSpPr>
          <p:cNvPr id="59" name="Text 57"/>
          <p:cNvSpPr/>
          <p:nvPr/>
        </p:nvSpPr>
        <p:spPr>
          <a:xfrm>
            <a:off x="548640" y="4681728"/>
            <a:ext cx="8046720" cy="201168"/>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Common pattern: input signal -&gt; rule or graph algorithm -&gt; stored evidence snippet, so each finding is inspectable rather than a black-box warning.</a:t>
            </a:r>
            <a:endParaRPr lang="en-US" sz="850" dirty="0"/>
          </a:p>
        </p:txBody>
      </p:sp>
      <p:sp>
        <p:nvSpPr>
          <p:cNvPr id="60" name="Text 58"/>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F</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graph analysis terms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Directed dependency graph</a:t>
            </a:r>
            <a:endParaRPr lang="en-US" sz="1070" dirty="0"/>
          </a:p>
        </p:txBody>
      </p:sp>
      <p:sp>
        <p:nvSpPr>
          <p:cNvPr id="5" name="Text 3"/>
          <p:cNvSpPr/>
          <p:nvPr/>
        </p:nvSpPr>
        <p:spPr>
          <a:xfrm>
            <a:off x="548640" y="1280160"/>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G = (V, E), where V is the set of detected services and E contains directed calls between services.</a:t>
            </a:r>
            <a:endParaRPr lang="en-US" sz="880" dirty="0"/>
          </a:p>
        </p:txBody>
      </p:sp>
      <p:sp>
        <p:nvSpPr>
          <p:cNvPr id="6" name="Shape 4"/>
          <p:cNvSpPr/>
          <p:nvPr/>
        </p:nvSpPr>
        <p:spPr>
          <a:xfrm>
            <a:off x="548640" y="1737360"/>
            <a:ext cx="3703320" cy="9144"/>
          </a:xfrm>
          <a:prstGeom prst="rect">
            <a:avLst/>
          </a:prstGeom>
          <a:solidFill>
            <a:srgbClr val="D8DEE6"/>
          </a:solidFill>
          <a:ln w="12700">
            <a:solidFill>
              <a:srgbClr val="D8DEE6"/>
            </a:solidFill>
            <a:prstDash val="solid"/>
          </a:ln>
        </p:spPr>
      </p:sp>
      <p:sp>
        <p:nvSpPr>
          <p:cNvPr id="7" name="Text 5"/>
          <p:cNvSpPr/>
          <p:nvPr/>
        </p:nvSpPr>
        <p:spPr>
          <a:xfrm>
            <a:off x="548640" y="1865376"/>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Edge weight</a:t>
            </a:r>
            <a:endParaRPr lang="en-US" sz="1070" dirty="0"/>
          </a:p>
        </p:txBody>
      </p:sp>
      <p:sp>
        <p:nvSpPr>
          <p:cNvPr id="8" name="Text 6"/>
          <p:cNvSpPr/>
          <p:nvPr/>
        </p:nvSpPr>
        <p:spPr>
          <a:xfrm>
            <a:off x="548640" y="2121408"/>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The number of distinct source-level call sites from one service to another.</a:t>
            </a:r>
            <a:endParaRPr lang="en-US" sz="880" dirty="0"/>
          </a:p>
        </p:txBody>
      </p:sp>
      <p:sp>
        <p:nvSpPr>
          <p:cNvPr id="9" name="Shape 7"/>
          <p:cNvSpPr/>
          <p:nvPr/>
        </p:nvSpPr>
        <p:spPr>
          <a:xfrm>
            <a:off x="548640" y="2578608"/>
            <a:ext cx="3703320" cy="9144"/>
          </a:xfrm>
          <a:prstGeom prst="rect">
            <a:avLst/>
          </a:prstGeom>
          <a:solidFill>
            <a:srgbClr val="D8DEE6"/>
          </a:solidFill>
          <a:ln w="12700">
            <a:solidFill>
              <a:srgbClr val="D8DEE6"/>
            </a:solidFill>
            <a:prstDash val="solid"/>
          </a:ln>
        </p:spPr>
      </p:sp>
      <p:sp>
        <p:nvSpPr>
          <p:cNvPr id="10" name="Text 8"/>
          <p:cNvSpPr/>
          <p:nvPr/>
        </p:nvSpPr>
        <p:spPr>
          <a:xfrm>
            <a:off x="548640" y="2706624"/>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Strongly connected component</a:t>
            </a:r>
            <a:endParaRPr lang="en-US" sz="1070" dirty="0"/>
          </a:p>
        </p:txBody>
      </p:sp>
      <p:sp>
        <p:nvSpPr>
          <p:cNvPr id="11" name="Text 9"/>
          <p:cNvSpPr/>
          <p:nvPr/>
        </p:nvSpPr>
        <p:spPr>
          <a:xfrm>
            <a:off x="548640" y="2962656"/>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A maximal service set where each service can reach every other service through directed paths.</a:t>
            </a:r>
            <a:endParaRPr lang="en-US" sz="880" dirty="0"/>
          </a:p>
        </p:txBody>
      </p:sp>
      <p:sp>
        <p:nvSpPr>
          <p:cNvPr id="12" name="Shape 10"/>
          <p:cNvSpPr/>
          <p:nvPr/>
        </p:nvSpPr>
        <p:spPr>
          <a:xfrm>
            <a:off x="548640" y="3419856"/>
            <a:ext cx="3703320" cy="9144"/>
          </a:xfrm>
          <a:prstGeom prst="rect">
            <a:avLst/>
          </a:prstGeom>
          <a:solidFill>
            <a:srgbClr val="D8DEE6"/>
          </a:solidFill>
          <a:ln w="12700">
            <a:solidFill>
              <a:srgbClr val="D8DEE6"/>
            </a:solidFill>
            <a:prstDash val="solid"/>
          </a:ln>
        </p:spPr>
      </p:sp>
      <p:sp>
        <p:nvSpPr>
          <p:cNvPr id="13" name="Text 11"/>
          <p:cNvSpPr/>
          <p:nvPr/>
        </p:nvSpPr>
        <p:spPr>
          <a:xfrm>
            <a:off x="548640" y="3547872"/>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Cycle</a:t>
            </a:r>
            <a:endParaRPr lang="en-US" sz="1070" dirty="0"/>
          </a:p>
        </p:txBody>
      </p:sp>
      <p:sp>
        <p:nvSpPr>
          <p:cNvPr id="14" name="Text 12"/>
          <p:cNvSpPr/>
          <p:nvPr/>
        </p:nvSpPr>
        <p:spPr>
          <a:xfrm>
            <a:off x="548640" y="3803904"/>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An SCC with more than one service; used as evidence for Cyclic Dependency.</a:t>
            </a:r>
            <a:endParaRPr lang="en-US" sz="880" dirty="0"/>
          </a:p>
        </p:txBody>
      </p:sp>
      <p:sp>
        <p:nvSpPr>
          <p:cNvPr id="15" name="Shape 13"/>
          <p:cNvSpPr/>
          <p:nvPr/>
        </p:nvSpPr>
        <p:spPr>
          <a:xfrm>
            <a:off x="548640" y="4261104"/>
            <a:ext cx="3703320" cy="9144"/>
          </a:xfrm>
          <a:prstGeom prst="rect">
            <a:avLst/>
          </a:prstGeom>
          <a:solidFill>
            <a:srgbClr val="D8DEE6"/>
          </a:solidFill>
          <a:ln w="12700">
            <a:solidFill>
              <a:srgbClr val="D8DEE6"/>
            </a:solidFill>
            <a:prstDash val="solid"/>
          </a:ln>
        </p:spPr>
      </p:sp>
      <p:sp>
        <p:nvSpPr>
          <p:cNvPr id="16" name="Text 14"/>
          <p:cNvSpPr/>
          <p:nvPr/>
        </p:nvSpPr>
        <p:spPr>
          <a:xfrm>
            <a:off x="4617720" y="1024128"/>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Fan-in / fan-out</a:t>
            </a:r>
            <a:endParaRPr lang="en-US" sz="1070" dirty="0"/>
          </a:p>
        </p:txBody>
      </p:sp>
      <p:sp>
        <p:nvSpPr>
          <p:cNvPr id="17" name="Text 15"/>
          <p:cNvSpPr/>
          <p:nvPr/>
        </p:nvSpPr>
        <p:spPr>
          <a:xfrm>
            <a:off x="4617720" y="1280160"/>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Incoming and outgoing service dependency counts; useful for spotting central services and mediator behaviour.</a:t>
            </a:r>
            <a:endParaRPr lang="en-US" sz="880" dirty="0"/>
          </a:p>
        </p:txBody>
      </p:sp>
      <p:sp>
        <p:nvSpPr>
          <p:cNvPr id="18" name="Shape 16"/>
          <p:cNvSpPr/>
          <p:nvPr/>
        </p:nvSpPr>
        <p:spPr>
          <a:xfrm>
            <a:off x="4617720" y="1737360"/>
            <a:ext cx="3703320" cy="9144"/>
          </a:xfrm>
          <a:prstGeom prst="rect">
            <a:avLst/>
          </a:prstGeom>
          <a:solidFill>
            <a:srgbClr val="D8DEE6"/>
          </a:solidFill>
          <a:ln w="12700">
            <a:solidFill>
              <a:srgbClr val="D8DEE6"/>
            </a:solidFill>
            <a:prstDash val="solid"/>
          </a:ln>
        </p:spPr>
      </p:sp>
      <p:sp>
        <p:nvSpPr>
          <p:cNvPr id="19" name="Text 17"/>
          <p:cNvSpPr/>
          <p:nvPr/>
        </p:nvSpPr>
        <p:spPr>
          <a:xfrm>
            <a:off x="4617720" y="1865376"/>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Bidirectional dependency</a:t>
            </a:r>
            <a:endParaRPr lang="en-US" sz="1070" dirty="0"/>
          </a:p>
        </p:txBody>
      </p:sp>
      <p:sp>
        <p:nvSpPr>
          <p:cNvPr id="20" name="Text 18"/>
          <p:cNvSpPr/>
          <p:nvPr/>
        </p:nvSpPr>
        <p:spPr>
          <a:xfrm>
            <a:off x="4617720" y="2121408"/>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A pair A-&gt;B and B-&gt;A; used as evidence for Wrong Cuts and poor service boundaries.</a:t>
            </a:r>
            <a:endParaRPr lang="en-US" sz="880" dirty="0"/>
          </a:p>
        </p:txBody>
      </p:sp>
      <p:sp>
        <p:nvSpPr>
          <p:cNvPr id="21" name="Shape 19"/>
          <p:cNvSpPr/>
          <p:nvPr/>
        </p:nvSpPr>
        <p:spPr>
          <a:xfrm>
            <a:off x="4617720" y="2578608"/>
            <a:ext cx="3703320" cy="9144"/>
          </a:xfrm>
          <a:prstGeom prst="rect">
            <a:avLst/>
          </a:prstGeom>
          <a:solidFill>
            <a:srgbClr val="D8DEE6"/>
          </a:solidFill>
          <a:ln w="12700">
            <a:solidFill>
              <a:srgbClr val="D8DEE6"/>
            </a:solidFill>
            <a:prstDash val="solid"/>
          </a:ln>
        </p:spPr>
      </p:sp>
      <p:sp>
        <p:nvSpPr>
          <p:cNvPr id="22" name="Text 20"/>
          <p:cNvSpPr/>
          <p:nvPr/>
        </p:nvSpPr>
        <p:spPr>
          <a:xfrm>
            <a:off x="4617720" y="2706624"/>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Connected ratio</a:t>
            </a:r>
            <a:endParaRPr lang="en-US" sz="1070" dirty="0"/>
          </a:p>
        </p:txBody>
      </p:sp>
      <p:sp>
        <p:nvSpPr>
          <p:cNvPr id="23" name="Text 21"/>
          <p:cNvSpPr/>
          <p:nvPr/>
        </p:nvSpPr>
        <p:spPr>
          <a:xfrm>
            <a:off x="4617720" y="2962656"/>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Fraction of services participating in dependencies; used as part of Distributed Monolith evidence.</a:t>
            </a:r>
            <a:endParaRPr lang="en-US" sz="880" dirty="0"/>
          </a:p>
        </p:txBody>
      </p:sp>
      <p:sp>
        <p:nvSpPr>
          <p:cNvPr id="24" name="Shape 22"/>
          <p:cNvSpPr/>
          <p:nvPr/>
        </p:nvSpPr>
        <p:spPr>
          <a:xfrm>
            <a:off x="4617720" y="3419856"/>
            <a:ext cx="3703320" cy="9144"/>
          </a:xfrm>
          <a:prstGeom prst="rect">
            <a:avLst/>
          </a:prstGeom>
          <a:solidFill>
            <a:srgbClr val="D8DEE6"/>
          </a:solidFill>
          <a:ln w="12700">
            <a:solidFill>
              <a:srgbClr val="D8DEE6"/>
            </a:solidFill>
            <a:prstDash val="solid"/>
          </a:ln>
        </p:spPr>
      </p:sp>
      <p:sp>
        <p:nvSpPr>
          <p:cNvPr id="25" name="Text 23"/>
          <p:cNvSpPr/>
          <p:nvPr/>
        </p:nvSpPr>
        <p:spPr>
          <a:xfrm>
            <a:off x="4617720" y="3547872"/>
            <a:ext cx="3703320" cy="228600"/>
          </a:xfrm>
          <a:prstGeom prst="rect">
            <a:avLst/>
          </a:prstGeom>
          <a:noFill/>
          <a:ln/>
        </p:spPr>
        <p:txBody>
          <a:bodyPr wrap="square" lIns="0" tIns="0" rIns="0" bIns="0" rtlCol="0" anchor="ctr"/>
          <a:lstStyle/>
          <a:p>
            <a:pPr indent="0" marL="0">
              <a:buNone/>
            </a:pPr>
            <a:r>
              <a:rPr lang="en-US" sz="1070" b="1" dirty="0">
                <a:solidFill>
                  <a:srgbClr val="0F2A44"/>
                </a:solidFill>
                <a:latin typeface="Calibri" pitchFamily="34" charset="0"/>
                <a:ea typeface="Calibri" pitchFamily="34" charset="-122"/>
                <a:cs typeface="Calibri" pitchFamily="34" charset="-120"/>
              </a:rPr>
              <a:t>Betweenness centrality</a:t>
            </a:r>
            <a:endParaRPr lang="en-US" sz="1070" dirty="0"/>
          </a:p>
        </p:txBody>
      </p:sp>
      <p:sp>
        <p:nvSpPr>
          <p:cNvPr id="26" name="Text 24"/>
          <p:cNvSpPr/>
          <p:nvPr/>
        </p:nvSpPr>
        <p:spPr>
          <a:xfrm>
            <a:off x="4617720" y="3803904"/>
            <a:ext cx="3703320" cy="384048"/>
          </a:xfrm>
          <a:prstGeom prst="rect">
            <a:avLst/>
          </a:prstGeom>
          <a:noFill/>
          <a:ln/>
        </p:spPr>
        <p:txBody>
          <a:bodyPr wrap="square" lIns="0" tIns="0" rIns="0" bIns="0" rtlCol="0" anchor="ctr">
            <a:normAutofit/>
          </a:bodyPr>
          <a:lstStyle/>
          <a:p>
            <a:pPr indent="0" marL="0">
              <a:buNone/>
            </a:pPr>
            <a:r>
              <a:rPr lang="en-US" sz="880" dirty="0">
                <a:solidFill>
                  <a:srgbClr val="1E293B"/>
                </a:solidFill>
                <a:latin typeface="Calibri" pitchFamily="34" charset="0"/>
                <a:ea typeface="Calibri" pitchFamily="34" charset="-122"/>
                <a:cs typeface="Calibri" pitchFamily="34" charset="-120"/>
              </a:rPr>
              <a:t>How often a service lies on shortest paths between other services; useful for identifying broker-like nodes.</a:t>
            </a:r>
            <a:endParaRPr lang="en-US" sz="880" dirty="0"/>
          </a:p>
        </p:txBody>
      </p:sp>
      <p:sp>
        <p:nvSpPr>
          <p:cNvPr id="27" name="Shape 25"/>
          <p:cNvSpPr/>
          <p:nvPr/>
        </p:nvSpPr>
        <p:spPr>
          <a:xfrm>
            <a:off x="4617720" y="4261104"/>
            <a:ext cx="3703320" cy="9144"/>
          </a:xfrm>
          <a:prstGeom prst="rect">
            <a:avLst/>
          </a:prstGeom>
          <a:solidFill>
            <a:srgbClr val="D8DEE6"/>
          </a:solidFill>
          <a:ln w="12700">
            <a:solidFill>
              <a:srgbClr val="D8DEE6"/>
            </a:solidFill>
            <a:prstDash val="solid"/>
          </a:ln>
        </p:spPr>
      </p:sp>
      <p:sp>
        <p:nvSpPr>
          <p:cNvPr id="28" name="Shape 26"/>
          <p:cNvSpPr/>
          <p:nvPr/>
        </p:nvSpPr>
        <p:spPr>
          <a:xfrm>
            <a:off x="548640" y="4498848"/>
            <a:ext cx="457200" cy="36576"/>
          </a:xfrm>
          <a:prstGeom prst="rect">
            <a:avLst/>
          </a:prstGeom>
          <a:solidFill>
            <a:srgbClr val="0D9488"/>
          </a:solidFill>
          <a:ln w="12700">
            <a:solidFill>
              <a:srgbClr val="0D9488"/>
            </a:solidFill>
            <a:prstDash val="solid"/>
          </a:ln>
        </p:spPr>
      </p:sp>
      <p:sp>
        <p:nvSpPr>
          <p:cNvPr id="29" name="Text 27"/>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Graph algorithms are deterministic over the recovered service dependency graph; uncertainty comes mainly from static call resolution.</a:t>
            </a:r>
            <a:endParaRPr lang="en-US" sz="950" dirty="0"/>
          </a:p>
        </p:txBody>
      </p:sp>
      <p:sp>
        <p:nvSpPr>
          <p:cNvPr id="30" name="Text 28"/>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service boundary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749040" cy="27432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Candidate modules</a:t>
            </a:r>
            <a:endParaRPr lang="en-US" sz="1300" dirty="0"/>
          </a:p>
        </p:txBody>
      </p:sp>
      <p:sp>
        <p:nvSpPr>
          <p:cNvPr id="5" name="Text 3"/>
          <p:cNvSpPr/>
          <p:nvPr/>
        </p:nvSpPr>
        <p:spPr>
          <a:xfrm>
            <a:off x="713232" y="1371600"/>
            <a:ext cx="3657600" cy="105156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1E293B"/>
                </a:solidFill>
                <a:latin typeface="Calibri" pitchFamily="34" charset="0"/>
                <a:ea typeface="Calibri" pitchFamily="34" charset="-122"/>
                <a:cs typeface="Calibri" pitchFamily="34" charset="-120"/>
              </a:rPr>
              <a:t>Scan repository for Maven/Gradle build files</a:t>
            </a:r>
            <a:endParaRPr lang="en-US" sz="1050" dirty="0"/>
          </a:p>
          <a:p>
            <a:pPr marL="342900" indent="-342900">
              <a:spcAft>
                <a:spcPts val="400"/>
              </a:spcAft>
              <a:buSzPct val="100000"/>
              <a:buChar char="•"/>
            </a:pPr>
            <a:r>
              <a:rPr lang="en-US" sz="1050" dirty="0">
                <a:solidFill>
                  <a:srgbClr val="1E293B"/>
                </a:solidFill>
                <a:latin typeface="Calibri" pitchFamily="34" charset="0"/>
                <a:ea typeface="Calibri" pitchFamily="34" charset="-122"/>
                <a:cs typeface="Calibri" pitchFamily="34" charset="-120"/>
              </a:rPr>
              <a:t>Exclude aggregators, generated modules, examples, docs, and tests</a:t>
            </a:r>
            <a:endParaRPr lang="en-US" sz="1050" dirty="0"/>
          </a:p>
          <a:p>
            <a:pPr marL="342900" indent="-342900">
              <a:spcAft>
                <a:spcPts val="400"/>
              </a:spcAft>
              <a:buSzPct val="100000"/>
              <a:buChar char="•"/>
            </a:pPr>
            <a:r>
              <a:rPr lang="en-US" sz="1050" dirty="0">
                <a:solidFill>
                  <a:srgbClr val="1E293B"/>
                </a:solidFill>
                <a:latin typeface="Calibri" pitchFamily="34" charset="0"/>
                <a:ea typeface="Calibri" pitchFamily="34" charset="-122"/>
                <a:cs typeface="Calibri" pitchFamily="34" charset="-120"/>
              </a:rPr>
              <a:t>Keep modules with at least one deployability signal</a:t>
            </a:r>
            <a:endParaRPr lang="en-US" sz="1050" dirty="0"/>
          </a:p>
        </p:txBody>
      </p:sp>
      <p:sp>
        <p:nvSpPr>
          <p:cNvPr id="6" name="Text 4"/>
          <p:cNvSpPr/>
          <p:nvPr/>
        </p:nvSpPr>
        <p:spPr>
          <a:xfrm>
            <a:off x="4617720" y="987552"/>
            <a:ext cx="3977640" cy="27432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Deployability gate</a:t>
            </a:r>
            <a:endParaRPr lang="en-US" sz="1300" dirty="0"/>
          </a:p>
        </p:txBody>
      </p:sp>
      <p:sp>
        <p:nvSpPr>
          <p:cNvPr id="7" name="Shape 5"/>
          <p:cNvSpPr/>
          <p:nvPr/>
        </p:nvSpPr>
        <p:spPr>
          <a:xfrm>
            <a:off x="4617720" y="1399032"/>
            <a:ext cx="347472" cy="36576"/>
          </a:xfrm>
          <a:prstGeom prst="rect">
            <a:avLst/>
          </a:prstGeom>
          <a:solidFill>
            <a:srgbClr val="059669"/>
          </a:solidFill>
          <a:ln w="12700">
            <a:solidFill>
              <a:srgbClr val="059669"/>
            </a:solidFill>
            <a:prstDash val="solid"/>
          </a:ln>
        </p:spPr>
      </p:sp>
      <p:sp>
        <p:nvSpPr>
          <p:cNvPr id="8" name="Text 6"/>
          <p:cNvSpPr/>
          <p:nvPr/>
        </p:nvSpPr>
        <p:spPr>
          <a:xfrm>
            <a:off x="4617720" y="1517904"/>
            <a:ext cx="731520" cy="219456"/>
          </a:xfrm>
          <a:prstGeom prst="rect">
            <a:avLst/>
          </a:prstGeom>
          <a:noFill/>
          <a:ln/>
        </p:spPr>
        <p:txBody>
          <a:bodyPr wrap="square" lIns="0" tIns="0" rIns="0" bIns="0" rtlCol="0" anchor="ctr"/>
          <a:lstStyle/>
          <a:p>
            <a:pPr indent="0" marL="0">
              <a:buNone/>
            </a:pPr>
            <a:r>
              <a:rPr lang="en-US" sz="880" b="1" dirty="0">
                <a:solidFill>
                  <a:srgbClr val="059669"/>
                </a:solidFill>
                <a:latin typeface="Calibri" pitchFamily="34" charset="0"/>
                <a:ea typeface="Calibri" pitchFamily="34" charset="-122"/>
                <a:cs typeface="Calibri" pitchFamily="34" charset="-120"/>
              </a:rPr>
              <a:t>HIGH</a:t>
            </a:r>
            <a:endParaRPr lang="en-US" sz="880" dirty="0"/>
          </a:p>
        </p:txBody>
      </p:sp>
      <p:sp>
        <p:nvSpPr>
          <p:cNvPr id="9" name="Text 7"/>
          <p:cNvSpPr/>
          <p:nvPr/>
        </p:nvSpPr>
        <p:spPr>
          <a:xfrm>
            <a:off x="5440680" y="1371600"/>
            <a:ext cx="3154680" cy="228600"/>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Spring Boot entry point</a:t>
            </a:r>
            <a:endParaRPr lang="en-US" sz="1050" dirty="0"/>
          </a:p>
        </p:txBody>
      </p:sp>
      <p:sp>
        <p:nvSpPr>
          <p:cNvPr id="10" name="Text 8"/>
          <p:cNvSpPr/>
          <p:nvPr/>
        </p:nvSpPr>
        <p:spPr>
          <a:xfrm>
            <a:off x="5440680" y="1618488"/>
            <a:ext cx="3154680" cy="292608"/>
          </a:xfrm>
          <a:prstGeom prst="rect">
            <a:avLst/>
          </a:prstGeom>
          <a:noFill/>
          <a:ln/>
        </p:spPr>
        <p:txBody>
          <a:bodyPr wrap="square" lIns="0" tIns="0" rIns="0" bIns="0" rtlCol="0" anchor="ctr">
            <a:normAutofit/>
          </a:bodyPr>
          <a:lstStyle/>
          <a:p>
            <a:pPr indent="0" marL="0">
              <a:buNone/>
            </a:pPr>
            <a:r>
              <a:rPr lang="en-US" sz="890" dirty="0">
                <a:solidFill>
                  <a:srgbClr val="1E293B"/>
                </a:solidFill>
                <a:latin typeface="Calibri" pitchFamily="34" charset="0"/>
                <a:ea typeface="Calibri" pitchFamily="34" charset="-122"/>
                <a:cs typeface="Calibri" pitchFamily="34" charset="-120"/>
              </a:rPr>
              <a:t>@SpringBootApplication / framework annotation</a:t>
            </a:r>
            <a:endParaRPr lang="en-US" sz="890" dirty="0"/>
          </a:p>
        </p:txBody>
      </p:sp>
      <p:sp>
        <p:nvSpPr>
          <p:cNvPr id="11" name="Shape 9"/>
          <p:cNvSpPr/>
          <p:nvPr/>
        </p:nvSpPr>
        <p:spPr>
          <a:xfrm>
            <a:off x="4617720" y="1938528"/>
            <a:ext cx="3977640" cy="9144"/>
          </a:xfrm>
          <a:prstGeom prst="rect">
            <a:avLst/>
          </a:prstGeom>
          <a:solidFill>
            <a:srgbClr val="D8DEE6"/>
          </a:solidFill>
          <a:ln w="12700">
            <a:solidFill>
              <a:srgbClr val="D8DEE6"/>
            </a:solidFill>
            <a:prstDash val="solid"/>
          </a:ln>
        </p:spPr>
      </p:sp>
      <p:sp>
        <p:nvSpPr>
          <p:cNvPr id="12" name="Shape 10"/>
          <p:cNvSpPr/>
          <p:nvPr/>
        </p:nvSpPr>
        <p:spPr>
          <a:xfrm>
            <a:off x="4617720" y="2057400"/>
            <a:ext cx="347472" cy="36576"/>
          </a:xfrm>
          <a:prstGeom prst="rect">
            <a:avLst/>
          </a:prstGeom>
          <a:solidFill>
            <a:srgbClr val="0D9488"/>
          </a:solidFill>
          <a:ln w="12700">
            <a:solidFill>
              <a:srgbClr val="0D9488"/>
            </a:solidFill>
            <a:prstDash val="solid"/>
          </a:ln>
        </p:spPr>
      </p:sp>
      <p:sp>
        <p:nvSpPr>
          <p:cNvPr id="13" name="Text 11"/>
          <p:cNvSpPr/>
          <p:nvPr/>
        </p:nvSpPr>
        <p:spPr>
          <a:xfrm>
            <a:off x="4617720" y="2176272"/>
            <a:ext cx="731520" cy="219456"/>
          </a:xfrm>
          <a:prstGeom prst="rect">
            <a:avLst/>
          </a:prstGeom>
          <a:noFill/>
          <a:ln/>
        </p:spPr>
        <p:txBody>
          <a:bodyPr wrap="square" lIns="0" tIns="0" rIns="0" bIns="0" rtlCol="0" anchor="ctr"/>
          <a:lstStyle/>
          <a:p>
            <a:pPr indent="0" marL="0">
              <a:buNone/>
            </a:pPr>
            <a:r>
              <a:rPr lang="en-US" sz="880" b="1" dirty="0">
                <a:solidFill>
                  <a:srgbClr val="0D9488"/>
                </a:solidFill>
                <a:latin typeface="Calibri" pitchFamily="34" charset="0"/>
                <a:ea typeface="Calibri" pitchFamily="34" charset="-122"/>
                <a:cs typeface="Calibri" pitchFamily="34" charset="-120"/>
              </a:rPr>
              <a:t>MEDIUM</a:t>
            </a:r>
            <a:endParaRPr lang="en-US" sz="880" dirty="0"/>
          </a:p>
        </p:txBody>
      </p:sp>
      <p:sp>
        <p:nvSpPr>
          <p:cNvPr id="14" name="Text 12"/>
          <p:cNvSpPr/>
          <p:nvPr/>
        </p:nvSpPr>
        <p:spPr>
          <a:xfrm>
            <a:off x="5440680" y="2029968"/>
            <a:ext cx="3154680" cy="228600"/>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Dockerfile</a:t>
            </a:r>
            <a:endParaRPr lang="en-US" sz="1050" dirty="0"/>
          </a:p>
        </p:txBody>
      </p:sp>
      <p:sp>
        <p:nvSpPr>
          <p:cNvPr id="15" name="Text 13"/>
          <p:cNvSpPr/>
          <p:nvPr/>
        </p:nvSpPr>
        <p:spPr>
          <a:xfrm>
            <a:off x="5440680" y="2276856"/>
            <a:ext cx="3154680" cy="292608"/>
          </a:xfrm>
          <a:prstGeom prst="rect">
            <a:avLst/>
          </a:prstGeom>
          <a:noFill/>
          <a:ln/>
        </p:spPr>
        <p:txBody>
          <a:bodyPr wrap="square" lIns="0" tIns="0" rIns="0" bIns="0" rtlCol="0" anchor="ctr">
            <a:normAutofit/>
          </a:bodyPr>
          <a:lstStyle/>
          <a:p>
            <a:pPr indent="0" marL="0">
              <a:buNone/>
            </a:pPr>
            <a:r>
              <a:rPr lang="en-US" sz="890" dirty="0">
                <a:solidFill>
                  <a:srgbClr val="1E293B"/>
                </a:solidFill>
                <a:latin typeface="Calibri" pitchFamily="34" charset="0"/>
                <a:ea typeface="Calibri" pitchFamily="34" charset="-122"/>
                <a:cs typeface="Calibri" pitchFamily="34" charset="-120"/>
              </a:rPr>
              <a:t>Module has its own deployment container</a:t>
            </a:r>
            <a:endParaRPr lang="en-US" sz="890" dirty="0"/>
          </a:p>
        </p:txBody>
      </p:sp>
      <p:sp>
        <p:nvSpPr>
          <p:cNvPr id="16" name="Shape 14"/>
          <p:cNvSpPr/>
          <p:nvPr/>
        </p:nvSpPr>
        <p:spPr>
          <a:xfrm>
            <a:off x="4617720" y="2596896"/>
            <a:ext cx="3977640" cy="9144"/>
          </a:xfrm>
          <a:prstGeom prst="rect">
            <a:avLst/>
          </a:prstGeom>
          <a:solidFill>
            <a:srgbClr val="D8DEE6"/>
          </a:solidFill>
          <a:ln w="12700">
            <a:solidFill>
              <a:srgbClr val="D8DEE6"/>
            </a:solidFill>
            <a:prstDash val="solid"/>
          </a:ln>
        </p:spPr>
      </p:sp>
      <p:sp>
        <p:nvSpPr>
          <p:cNvPr id="17" name="Shape 15"/>
          <p:cNvSpPr/>
          <p:nvPr/>
        </p:nvSpPr>
        <p:spPr>
          <a:xfrm>
            <a:off x="4617720" y="2715768"/>
            <a:ext cx="347472" cy="36576"/>
          </a:xfrm>
          <a:prstGeom prst="rect">
            <a:avLst/>
          </a:prstGeom>
          <a:solidFill>
            <a:srgbClr val="D97706"/>
          </a:solidFill>
          <a:ln w="12700">
            <a:solidFill>
              <a:srgbClr val="D97706"/>
            </a:solidFill>
            <a:prstDash val="solid"/>
          </a:ln>
        </p:spPr>
      </p:sp>
      <p:sp>
        <p:nvSpPr>
          <p:cNvPr id="18" name="Text 16"/>
          <p:cNvSpPr/>
          <p:nvPr/>
        </p:nvSpPr>
        <p:spPr>
          <a:xfrm>
            <a:off x="4617720" y="2834640"/>
            <a:ext cx="731520" cy="219456"/>
          </a:xfrm>
          <a:prstGeom prst="rect">
            <a:avLst/>
          </a:prstGeom>
          <a:noFill/>
          <a:ln/>
        </p:spPr>
        <p:txBody>
          <a:bodyPr wrap="square" lIns="0" tIns="0" rIns="0" bIns="0" rtlCol="0" anchor="ctr"/>
          <a:lstStyle/>
          <a:p>
            <a:pPr indent="0" marL="0">
              <a:buNone/>
            </a:pPr>
            <a:r>
              <a:rPr lang="en-US" sz="880" b="1" dirty="0">
                <a:solidFill>
                  <a:srgbClr val="D97706"/>
                </a:solidFill>
                <a:latin typeface="Calibri" pitchFamily="34" charset="0"/>
                <a:ea typeface="Calibri" pitchFamily="34" charset="-122"/>
                <a:cs typeface="Calibri" pitchFamily="34" charset="-120"/>
              </a:rPr>
              <a:t>LOW</a:t>
            </a:r>
            <a:endParaRPr lang="en-US" sz="880" dirty="0"/>
          </a:p>
        </p:txBody>
      </p:sp>
      <p:sp>
        <p:nvSpPr>
          <p:cNvPr id="19" name="Text 17"/>
          <p:cNvSpPr/>
          <p:nvPr/>
        </p:nvSpPr>
        <p:spPr>
          <a:xfrm>
            <a:off x="5440680" y="2688336"/>
            <a:ext cx="3154680" cy="228600"/>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main() method</a:t>
            </a:r>
            <a:endParaRPr lang="en-US" sz="1050" dirty="0"/>
          </a:p>
        </p:txBody>
      </p:sp>
      <p:sp>
        <p:nvSpPr>
          <p:cNvPr id="20" name="Text 18"/>
          <p:cNvSpPr/>
          <p:nvPr/>
        </p:nvSpPr>
        <p:spPr>
          <a:xfrm>
            <a:off x="5440680" y="2935224"/>
            <a:ext cx="3154680" cy="292608"/>
          </a:xfrm>
          <a:prstGeom prst="rect">
            <a:avLst/>
          </a:prstGeom>
          <a:noFill/>
          <a:ln/>
        </p:spPr>
        <p:txBody>
          <a:bodyPr wrap="square" lIns="0" tIns="0" rIns="0" bIns="0" rtlCol="0" anchor="ctr">
            <a:normAutofit/>
          </a:bodyPr>
          <a:lstStyle/>
          <a:p>
            <a:pPr indent="0" marL="0">
              <a:buNone/>
            </a:pPr>
            <a:r>
              <a:rPr lang="en-US" sz="890" dirty="0">
                <a:solidFill>
                  <a:srgbClr val="1E293B"/>
                </a:solidFill>
                <a:latin typeface="Calibri" pitchFamily="34" charset="0"/>
                <a:ea typeface="Calibri" pitchFamily="34" charset="-122"/>
                <a:cs typeface="Calibri" pitchFamily="34" charset="-120"/>
              </a:rPr>
              <a:t>Executable Java entry point without stronger framework signal</a:t>
            </a:r>
            <a:endParaRPr lang="en-US" sz="890" dirty="0"/>
          </a:p>
        </p:txBody>
      </p:sp>
      <p:sp>
        <p:nvSpPr>
          <p:cNvPr id="21" name="Shape 19"/>
          <p:cNvSpPr/>
          <p:nvPr/>
        </p:nvSpPr>
        <p:spPr>
          <a:xfrm>
            <a:off x="4617720" y="3255264"/>
            <a:ext cx="3977640" cy="9144"/>
          </a:xfrm>
          <a:prstGeom prst="rect">
            <a:avLst/>
          </a:prstGeom>
          <a:solidFill>
            <a:srgbClr val="D8DEE6"/>
          </a:solidFill>
          <a:ln w="12700">
            <a:solidFill>
              <a:srgbClr val="D8DEE6"/>
            </a:solidFill>
            <a:prstDash val="solid"/>
          </a:ln>
        </p:spPr>
      </p:sp>
      <p:sp>
        <p:nvSpPr>
          <p:cNvPr id="22" name="Shape 20"/>
          <p:cNvSpPr/>
          <p:nvPr/>
        </p:nvSpPr>
        <p:spPr>
          <a:xfrm>
            <a:off x="548640" y="3401568"/>
            <a:ext cx="457200" cy="36576"/>
          </a:xfrm>
          <a:prstGeom prst="rect">
            <a:avLst/>
          </a:prstGeom>
          <a:solidFill>
            <a:srgbClr val="0D9488"/>
          </a:solidFill>
          <a:ln w="12700">
            <a:solidFill>
              <a:srgbClr val="0D9488"/>
            </a:solidFill>
            <a:prstDash val="solid"/>
          </a:ln>
        </p:spPr>
      </p:sp>
      <p:sp>
        <p:nvSpPr>
          <p:cNvPr id="23" name="Text 21"/>
          <p:cNvSpPr/>
          <p:nvPr/>
        </p:nvSpPr>
        <p:spPr>
          <a:xfrm>
            <a:off x="548640" y="3511296"/>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Why this matters</a:t>
            </a:r>
            <a:endParaRPr lang="en-US" sz="1250" dirty="0"/>
          </a:p>
        </p:txBody>
      </p:sp>
      <p:sp>
        <p:nvSpPr>
          <p:cNvPr id="24" name="Text 22"/>
          <p:cNvSpPr/>
          <p:nvPr/>
        </p:nvSpPr>
        <p:spPr>
          <a:xfrm>
            <a:off x="548640" y="3822192"/>
            <a:ext cx="8046720" cy="56692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The tool does not require a manually supplied service list. It recovers likely deployable services from source structure, then attaches a confidence level so uncertain boundaries can be inspected instead of hidden.</a:t>
            </a:r>
            <a:endParaRPr lang="en-US" sz="1050" dirty="0"/>
          </a:p>
        </p:txBody>
      </p:sp>
      <p:sp>
        <p:nvSpPr>
          <p:cNvPr id="25" name="Text 23"/>
          <p:cNvSpPr/>
          <p:nvPr/>
        </p:nvSpPr>
        <p:spPr>
          <a:xfrm>
            <a:off x="548640" y="4462272"/>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Main limitation: unusual build layouts or services hidden behind dynamic runtime configuration can still be missed.</a:t>
            </a:r>
            <a:endParaRPr lang="en-US" sz="950" dirty="0"/>
          </a:p>
        </p:txBody>
      </p:sp>
      <p:sp>
        <p:nvSpPr>
          <p:cNvPr id="26" name="Text 24"/>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H</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static vs dynamic analysis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57200" cy="36576"/>
          </a:xfrm>
          <a:prstGeom prst="rect">
            <a:avLst/>
          </a:prstGeom>
          <a:solidFill>
            <a:srgbClr val="0D9488"/>
          </a:solidFill>
          <a:ln w="12700">
            <a:solidFill>
              <a:srgbClr val="0D9488"/>
            </a:solidFill>
            <a:prstDash val="solid"/>
          </a:ln>
        </p:spPr>
      </p:sp>
      <p:sp>
        <p:nvSpPr>
          <p:cNvPr id="5" name="Text 3"/>
          <p:cNvSpPr/>
          <p:nvPr/>
        </p:nvSpPr>
        <p:spPr>
          <a:xfrm>
            <a:off x="548640" y="1143000"/>
            <a:ext cx="37490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Static analysis</a:t>
            </a:r>
            <a:endParaRPr lang="en-US" sz="1400" dirty="0"/>
          </a:p>
        </p:txBody>
      </p:sp>
      <p:sp>
        <p:nvSpPr>
          <p:cNvPr id="6" name="Text 4"/>
          <p:cNvSpPr/>
          <p:nvPr/>
        </p:nvSpPr>
        <p:spPr>
          <a:xfrm>
            <a:off x="713232" y="1600200"/>
            <a:ext cx="3657600" cy="1417320"/>
          </a:xfrm>
          <a:prstGeom prst="rect">
            <a:avLst/>
          </a:prstGeom>
          <a:noFill/>
          <a:ln/>
        </p:spPr>
        <p:txBody>
          <a:bodyPr wrap="square" lIns="0" tIns="0" rIns="0" bIns="0" rtlCol="0" anchor="ctr"/>
          <a:lstStyle/>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Runs on a fresh repository checkout</a:t>
            </a:r>
            <a:endParaRPr lang="en-US" sz="1030" dirty="0"/>
          </a:p>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No deployment, traffic, credentials, or tracing setup needed</a:t>
            </a:r>
            <a:endParaRPr lang="en-US" sz="1030" dirty="0"/>
          </a:p>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Finds source-level evidence and configuration issues</a:t>
            </a:r>
            <a:endParaRPr lang="en-US" sz="1030" dirty="0"/>
          </a:p>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Good fit for CI/CD and early design feedback</a:t>
            </a:r>
            <a:endParaRPr lang="en-US" sz="1030" dirty="0"/>
          </a:p>
        </p:txBody>
      </p:sp>
      <p:sp>
        <p:nvSpPr>
          <p:cNvPr id="7" name="Shape 5"/>
          <p:cNvSpPr/>
          <p:nvPr/>
        </p:nvSpPr>
        <p:spPr>
          <a:xfrm>
            <a:off x="4617720" y="1024128"/>
            <a:ext cx="457200" cy="36576"/>
          </a:xfrm>
          <a:prstGeom prst="rect">
            <a:avLst/>
          </a:prstGeom>
          <a:solidFill>
            <a:srgbClr val="1C4E80"/>
          </a:solidFill>
          <a:ln w="12700">
            <a:solidFill>
              <a:srgbClr val="1C4E80"/>
            </a:solidFill>
            <a:prstDash val="solid"/>
          </a:ln>
        </p:spPr>
      </p:sp>
      <p:sp>
        <p:nvSpPr>
          <p:cNvPr id="8" name="Text 6"/>
          <p:cNvSpPr/>
          <p:nvPr/>
        </p:nvSpPr>
        <p:spPr>
          <a:xfrm>
            <a:off x="4617720" y="1143000"/>
            <a:ext cx="37490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Dynamic analysis</a:t>
            </a:r>
            <a:endParaRPr lang="en-US" sz="1400" dirty="0"/>
          </a:p>
        </p:txBody>
      </p:sp>
      <p:sp>
        <p:nvSpPr>
          <p:cNvPr id="9" name="Text 7"/>
          <p:cNvSpPr/>
          <p:nvPr/>
        </p:nvSpPr>
        <p:spPr>
          <a:xfrm>
            <a:off x="4782312" y="1600200"/>
            <a:ext cx="3657600" cy="1417320"/>
          </a:xfrm>
          <a:prstGeom prst="rect">
            <a:avLst/>
          </a:prstGeom>
          <a:noFill/>
          <a:ln/>
        </p:spPr>
        <p:txBody>
          <a:bodyPr wrap="square" lIns="0" tIns="0" rIns="0" bIns="0" rtlCol="0" anchor="ctr"/>
          <a:lstStyle/>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Observes real runtime calls and frequencies</a:t>
            </a:r>
            <a:endParaRPr lang="en-US" sz="1030" dirty="0"/>
          </a:p>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Requires deployed system and representative workload</a:t>
            </a:r>
            <a:endParaRPr lang="en-US" sz="1030" dirty="0"/>
          </a:p>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Captures dynamic routing and production behaviour</a:t>
            </a:r>
            <a:endParaRPr lang="en-US" sz="1030" dirty="0"/>
          </a:p>
          <a:p>
            <a:pPr marL="342900" indent="-342900">
              <a:spcAft>
                <a:spcPts val="500"/>
              </a:spcAft>
              <a:buSzPct val="100000"/>
              <a:buChar char="•"/>
            </a:pPr>
            <a:r>
              <a:rPr lang="en-US" sz="1030" dirty="0">
                <a:solidFill>
                  <a:srgbClr val="1E293B"/>
                </a:solidFill>
                <a:latin typeface="Calibri" pitchFamily="34" charset="0"/>
                <a:ea typeface="Calibri" pitchFamily="34" charset="-122"/>
                <a:cs typeface="Calibri" pitchFamily="34" charset="-120"/>
              </a:rPr>
              <a:t>Useful for validating or calibrating static findings</a:t>
            </a:r>
            <a:endParaRPr lang="en-US" sz="1030" dirty="0"/>
          </a:p>
        </p:txBody>
      </p:sp>
      <p:sp>
        <p:nvSpPr>
          <p:cNvPr id="10" name="Text 8"/>
          <p:cNvSpPr/>
          <p:nvPr/>
        </p:nvSpPr>
        <p:spPr>
          <a:xfrm>
            <a:off x="548640" y="3429000"/>
            <a:ext cx="80467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Chosen tradeoff</a:t>
            </a:r>
            <a:endParaRPr lang="en-US" sz="1300" dirty="0"/>
          </a:p>
        </p:txBody>
      </p:sp>
      <p:sp>
        <p:nvSpPr>
          <p:cNvPr id="11" name="Text 9"/>
          <p:cNvSpPr/>
          <p:nvPr/>
        </p:nvSpPr>
        <p:spPr>
          <a:xfrm>
            <a:off x="548640" y="3767328"/>
            <a:ext cx="8046720" cy="65836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MSA Detector prioritises applicability over runtime precision: it can analyse systems before they are running, making it useful during development, review, and CI. Runtime traces would improve call-frequency accuracy, but would reduce portability and require operational setup.</a:t>
            </a:r>
            <a:endParaRPr lang="en-US" sz="1050" dirty="0"/>
          </a:p>
        </p:txBody>
      </p:sp>
      <p:sp>
        <p:nvSpPr>
          <p:cNvPr id="12" name="Text 10"/>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I</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threats to validity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05840"/>
            <a:ext cx="384048" cy="36576"/>
          </a:xfrm>
          <a:prstGeom prst="rect">
            <a:avLst/>
          </a:prstGeom>
          <a:solidFill>
            <a:srgbClr val="D97706"/>
          </a:solidFill>
          <a:ln w="12700">
            <a:solidFill>
              <a:srgbClr val="D97706"/>
            </a:solidFill>
            <a:prstDash val="solid"/>
          </a:ln>
        </p:spPr>
      </p:sp>
      <p:sp>
        <p:nvSpPr>
          <p:cNvPr id="5" name="Text 3"/>
          <p:cNvSpPr/>
          <p:nvPr/>
        </p:nvSpPr>
        <p:spPr>
          <a:xfrm>
            <a:off x="548640" y="1115568"/>
            <a:ext cx="205740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Construct validity</a:t>
            </a:r>
            <a:endParaRPr lang="en-US" sz="1080" dirty="0"/>
          </a:p>
        </p:txBody>
      </p:sp>
      <p:sp>
        <p:nvSpPr>
          <p:cNvPr id="6" name="Text 4"/>
          <p:cNvSpPr/>
          <p:nvPr/>
        </p:nvSpPr>
        <p:spPr>
          <a:xfrm>
            <a:off x="2697480" y="1060704"/>
            <a:ext cx="5897880" cy="402336"/>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The health score approximates architectural quality; it is not a direct measurement of maintainability, reliability, or business impact.</a:t>
            </a:r>
            <a:endParaRPr lang="en-US" sz="920" dirty="0"/>
          </a:p>
        </p:txBody>
      </p:sp>
      <p:sp>
        <p:nvSpPr>
          <p:cNvPr id="7" name="Shape 5"/>
          <p:cNvSpPr/>
          <p:nvPr/>
        </p:nvSpPr>
        <p:spPr>
          <a:xfrm>
            <a:off x="548640" y="1554480"/>
            <a:ext cx="8046720" cy="9144"/>
          </a:xfrm>
          <a:prstGeom prst="rect">
            <a:avLst/>
          </a:prstGeom>
          <a:solidFill>
            <a:srgbClr val="D8DEE6"/>
          </a:solidFill>
          <a:ln w="12700">
            <a:solidFill>
              <a:srgbClr val="D8DEE6"/>
            </a:solidFill>
            <a:prstDash val="solid"/>
          </a:ln>
        </p:spPr>
      </p:sp>
      <p:sp>
        <p:nvSpPr>
          <p:cNvPr id="8" name="Shape 6"/>
          <p:cNvSpPr/>
          <p:nvPr/>
        </p:nvSpPr>
        <p:spPr>
          <a:xfrm>
            <a:off x="548640" y="1719072"/>
            <a:ext cx="384048" cy="36576"/>
          </a:xfrm>
          <a:prstGeom prst="rect">
            <a:avLst/>
          </a:prstGeom>
          <a:solidFill>
            <a:srgbClr val="0D9488"/>
          </a:solidFill>
          <a:ln w="12700">
            <a:solidFill>
              <a:srgbClr val="0D9488"/>
            </a:solidFill>
            <a:prstDash val="solid"/>
          </a:ln>
        </p:spPr>
      </p:sp>
      <p:sp>
        <p:nvSpPr>
          <p:cNvPr id="9" name="Text 7"/>
          <p:cNvSpPr/>
          <p:nvPr/>
        </p:nvSpPr>
        <p:spPr>
          <a:xfrm>
            <a:off x="548640" y="1828800"/>
            <a:ext cx="205740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Internal validity</a:t>
            </a:r>
            <a:endParaRPr lang="en-US" sz="1080" dirty="0"/>
          </a:p>
        </p:txBody>
      </p:sp>
      <p:sp>
        <p:nvSpPr>
          <p:cNvPr id="10" name="Text 8"/>
          <p:cNvSpPr/>
          <p:nvPr/>
        </p:nvSpPr>
        <p:spPr>
          <a:xfrm>
            <a:off x="2697480" y="1773936"/>
            <a:ext cx="5897880" cy="402336"/>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Static call resolution may miss dynamic URLs, generated clients, reflection, service discovery indirection, or framework-specific routing.</a:t>
            </a:r>
            <a:endParaRPr lang="en-US" sz="920" dirty="0"/>
          </a:p>
        </p:txBody>
      </p:sp>
      <p:sp>
        <p:nvSpPr>
          <p:cNvPr id="11" name="Shape 9"/>
          <p:cNvSpPr/>
          <p:nvPr/>
        </p:nvSpPr>
        <p:spPr>
          <a:xfrm>
            <a:off x="548640" y="2267712"/>
            <a:ext cx="8046720" cy="9144"/>
          </a:xfrm>
          <a:prstGeom prst="rect">
            <a:avLst/>
          </a:prstGeom>
          <a:solidFill>
            <a:srgbClr val="D8DEE6"/>
          </a:solidFill>
          <a:ln w="12700">
            <a:solidFill>
              <a:srgbClr val="D8DEE6"/>
            </a:solidFill>
            <a:prstDash val="solid"/>
          </a:ln>
        </p:spPr>
      </p:sp>
      <p:sp>
        <p:nvSpPr>
          <p:cNvPr id="12" name="Shape 10"/>
          <p:cNvSpPr/>
          <p:nvPr/>
        </p:nvSpPr>
        <p:spPr>
          <a:xfrm>
            <a:off x="548640" y="2432304"/>
            <a:ext cx="384048" cy="36576"/>
          </a:xfrm>
          <a:prstGeom prst="rect">
            <a:avLst/>
          </a:prstGeom>
          <a:solidFill>
            <a:srgbClr val="D97706"/>
          </a:solidFill>
          <a:ln w="12700">
            <a:solidFill>
              <a:srgbClr val="D97706"/>
            </a:solidFill>
            <a:prstDash val="solid"/>
          </a:ln>
        </p:spPr>
      </p:sp>
      <p:sp>
        <p:nvSpPr>
          <p:cNvPr id="13" name="Text 11"/>
          <p:cNvSpPr/>
          <p:nvPr/>
        </p:nvSpPr>
        <p:spPr>
          <a:xfrm>
            <a:off x="548640" y="2542032"/>
            <a:ext cx="205740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External validity</a:t>
            </a:r>
            <a:endParaRPr lang="en-US" sz="1080" dirty="0"/>
          </a:p>
        </p:txBody>
      </p:sp>
      <p:sp>
        <p:nvSpPr>
          <p:cNvPr id="14" name="Text 12"/>
          <p:cNvSpPr/>
          <p:nvPr/>
        </p:nvSpPr>
        <p:spPr>
          <a:xfrm>
            <a:off x="2697480" y="2487168"/>
            <a:ext cx="5897880" cy="402336"/>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Evaluation covers 11 Java/Spring Boot open-source systems, so results may not generalise to industrial, polyglot, or cloud-native systems.</a:t>
            </a:r>
            <a:endParaRPr lang="en-US" sz="920" dirty="0"/>
          </a:p>
        </p:txBody>
      </p:sp>
      <p:sp>
        <p:nvSpPr>
          <p:cNvPr id="15" name="Shape 13"/>
          <p:cNvSpPr/>
          <p:nvPr/>
        </p:nvSpPr>
        <p:spPr>
          <a:xfrm>
            <a:off x="548640" y="2980944"/>
            <a:ext cx="8046720" cy="9144"/>
          </a:xfrm>
          <a:prstGeom prst="rect">
            <a:avLst/>
          </a:prstGeom>
          <a:solidFill>
            <a:srgbClr val="D8DEE6"/>
          </a:solidFill>
          <a:ln w="12700">
            <a:solidFill>
              <a:srgbClr val="D8DEE6"/>
            </a:solidFill>
            <a:prstDash val="solid"/>
          </a:ln>
        </p:spPr>
      </p:sp>
      <p:sp>
        <p:nvSpPr>
          <p:cNvPr id="16" name="Shape 14"/>
          <p:cNvSpPr/>
          <p:nvPr/>
        </p:nvSpPr>
        <p:spPr>
          <a:xfrm>
            <a:off x="548640" y="3145536"/>
            <a:ext cx="384048" cy="36576"/>
          </a:xfrm>
          <a:prstGeom prst="rect">
            <a:avLst/>
          </a:prstGeom>
          <a:solidFill>
            <a:srgbClr val="0D9488"/>
          </a:solidFill>
          <a:ln w="12700">
            <a:solidFill>
              <a:srgbClr val="0D9488"/>
            </a:solidFill>
            <a:prstDash val="solid"/>
          </a:ln>
        </p:spPr>
      </p:sp>
      <p:sp>
        <p:nvSpPr>
          <p:cNvPr id="17" name="Text 15"/>
          <p:cNvSpPr/>
          <p:nvPr/>
        </p:nvSpPr>
        <p:spPr>
          <a:xfrm>
            <a:off x="548640" y="3255264"/>
            <a:ext cx="205740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Conclusion validity</a:t>
            </a:r>
            <a:endParaRPr lang="en-US" sz="1080" dirty="0"/>
          </a:p>
        </p:txBody>
      </p:sp>
      <p:sp>
        <p:nvSpPr>
          <p:cNvPr id="18" name="Text 16"/>
          <p:cNvSpPr/>
          <p:nvPr/>
        </p:nvSpPr>
        <p:spPr>
          <a:xfrm>
            <a:off x="2697480" y="3200400"/>
            <a:ext cx="5897880" cy="402336"/>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No labelled benchmark exists for these microservice anti-patterns, so the evaluation demonstrates feasibility rather than precision/recall.</a:t>
            </a:r>
            <a:endParaRPr lang="en-US" sz="920" dirty="0"/>
          </a:p>
        </p:txBody>
      </p:sp>
      <p:sp>
        <p:nvSpPr>
          <p:cNvPr id="19" name="Shape 17"/>
          <p:cNvSpPr/>
          <p:nvPr/>
        </p:nvSpPr>
        <p:spPr>
          <a:xfrm>
            <a:off x="548640" y="3694176"/>
            <a:ext cx="8046720" cy="9144"/>
          </a:xfrm>
          <a:prstGeom prst="rect">
            <a:avLst/>
          </a:prstGeom>
          <a:solidFill>
            <a:srgbClr val="D8DEE6"/>
          </a:solidFill>
          <a:ln w="12700">
            <a:solidFill>
              <a:srgbClr val="D8DEE6"/>
            </a:solidFill>
            <a:prstDash val="solid"/>
          </a:ln>
        </p:spPr>
      </p:sp>
      <p:sp>
        <p:nvSpPr>
          <p:cNvPr id="20" name="Shape 18"/>
          <p:cNvSpPr/>
          <p:nvPr/>
        </p:nvSpPr>
        <p:spPr>
          <a:xfrm>
            <a:off x="548640" y="3858768"/>
            <a:ext cx="384048" cy="36576"/>
          </a:xfrm>
          <a:prstGeom prst="rect">
            <a:avLst/>
          </a:prstGeom>
          <a:solidFill>
            <a:srgbClr val="D97706"/>
          </a:solidFill>
          <a:ln w="12700">
            <a:solidFill>
              <a:srgbClr val="D97706"/>
            </a:solidFill>
            <a:prstDash val="solid"/>
          </a:ln>
        </p:spPr>
      </p:sp>
      <p:sp>
        <p:nvSpPr>
          <p:cNvPr id="21" name="Text 19"/>
          <p:cNvSpPr/>
          <p:nvPr/>
        </p:nvSpPr>
        <p:spPr>
          <a:xfrm>
            <a:off x="548640" y="3968496"/>
            <a:ext cx="205740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Threshold validity</a:t>
            </a:r>
            <a:endParaRPr lang="en-US" sz="1080" dirty="0"/>
          </a:p>
        </p:txBody>
      </p:sp>
      <p:sp>
        <p:nvSpPr>
          <p:cNvPr id="22" name="Text 20"/>
          <p:cNvSpPr/>
          <p:nvPr/>
        </p:nvSpPr>
        <p:spPr>
          <a:xfrm>
            <a:off x="2697480" y="3913632"/>
            <a:ext cx="5897880" cy="402336"/>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Detector thresholds and score weights are engineering choices informed by literature, but not calibrated on a large industrial corpus.</a:t>
            </a:r>
            <a:endParaRPr lang="en-US" sz="920" dirty="0"/>
          </a:p>
        </p:txBody>
      </p:sp>
      <p:sp>
        <p:nvSpPr>
          <p:cNvPr id="23" name="Shape 21"/>
          <p:cNvSpPr/>
          <p:nvPr/>
        </p:nvSpPr>
        <p:spPr>
          <a:xfrm>
            <a:off x="548640" y="4407408"/>
            <a:ext cx="8046720" cy="9144"/>
          </a:xfrm>
          <a:prstGeom prst="rect">
            <a:avLst/>
          </a:prstGeom>
          <a:solidFill>
            <a:srgbClr val="D8DEE6"/>
          </a:solidFill>
          <a:ln w="12700">
            <a:solidFill>
              <a:srgbClr val="D8DEE6"/>
            </a:solidFill>
            <a:prstDash val="solid"/>
          </a:ln>
        </p:spPr>
      </p:sp>
      <p:sp>
        <p:nvSpPr>
          <p:cNvPr id="24" name="Shape 22"/>
          <p:cNvSpPr/>
          <p:nvPr/>
        </p:nvSpPr>
        <p:spPr>
          <a:xfrm>
            <a:off x="548640" y="4498848"/>
            <a:ext cx="457200" cy="36576"/>
          </a:xfrm>
          <a:prstGeom prst="rect">
            <a:avLst/>
          </a:prstGeom>
          <a:solidFill>
            <a:srgbClr val="0D9488"/>
          </a:solidFill>
          <a:ln w="12700">
            <a:solidFill>
              <a:srgbClr val="0D9488"/>
            </a:solidFill>
            <a:prstDash val="solid"/>
          </a:ln>
        </p:spPr>
      </p:sp>
      <p:sp>
        <p:nvSpPr>
          <p:cNvPr id="25" name="Text 23"/>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Positioning: the dissertation claims an explainable end-to-end prototype and feasibility study, not a statistically validated detector benchmark.</a:t>
            </a:r>
            <a:endParaRPr lang="en-US" sz="950" dirty="0"/>
          </a:p>
        </p:txBody>
      </p:sp>
      <p:sp>
        <p:nvSpPr>
          <p:cNvPr id="26" name="Text 24"/>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J</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tool architecture internals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1</a:t>
            </a:r>
            <a:endParaRPr lang="en-US" sz="1200" dirty="0"/>
          </a:p>
        </p:txBody>
      </p:sp>
      <p:sp>
        <p:nvSpPr>
          <p:cNvPr id="5" name="Text 3"/>
          <p:cNvSpPr/>
          <p:nvPr/>
        </p:nvSpPr>
        <p:spPr>
          <a:xfrm>
            <a:off x="960120" y="987552"/>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API layer</a:t>
            </a:r>
            <a:endParaRPr lang="en-US" sz="1080" dirty="0"/>
          </a:p>
        </p:txBody>
      </p:sp>
      <p:sp>
        <p:nvSpPr>
          <p:cNvPr id="6" name="Text 4"/>
          <p:cNvSpPr/>
          <p:nvPr/>
        </p:nvSpPr>
        <p:spPr>
          <a:xfrm>
            <a:off x="960120" y="1243584"/>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Upload ZIP / clone URL, create analysis job, expose polling and results endpoints</a:t>
            </a:r>
            <a:endParaRPr lang="en-US" sz="840" dirty="0"/>
          </a:p>
        </p:txBody>
      </p:sp>
      <p:sp>
        <p:nvSpPr>
          <p:cNvPr id="7" name="Shape 5"/>
          <p:cNvSpPr/>
          <p:nvPr/>
        </p:nvSpPr>
        <p:spPr>
          <a:xfrm>
            <a:off x="548640" y="1645920"/>
            <a:ext cx="3703320" cy="7315"/>
          </a:xfrm>
          <a:prstGeom prst="rect">
            <a:avLst/>
          </a:prstGeom>
          <a:solidFill>
            <a:srgbClr val="D8DEE6"/>
          </a:solidFill>
          <a:ln w="12700">
            <a:solidFill>
              <a:srgbClr val="D8DEE6"/>
            </a:solidFill>
            <a:prstDash val="solid"/>
          </a:ln>
        </p:spPr>
      </p:sp>
      <p:sp>
        <p:nvSpPr>
          <p:cNvPr id="8" name="Text 6"/>
          <p:cNvSpPr/>
          <p:nvPr/>
        </p:nvSpPr>
        <p:spPr>
          <a:xfrm>
            <a:off x="548640" y="1773936"/>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2</a:t>
            </a:r>
            <a:endParaRPr lang="en-US" sz="1200" dirty="0"/>
          </a:p>
        </p:txBody>
      </p:sp>
      <p:sp>
        <p:nvSpPr>
          <p:cNvPr id="9" name="Text 7"/>
          <p:cNvSpPr/>
          <p:nvPr/>
        </p:nvSpPr>
        <p:spPr>
          <a:xfrm>
            <a:off x="960120" y="1755648"/>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Async orchestration</a:t>
            </a:r>
            <a:endParaRPr lang="en-US" sz="1080" dirty="0"/>
          </a:p>
        </p:txBody>
      </p:sp>
      <p:sp>
        <p:nvSpPr>
          <p:cNvPr id="10" name="Text 8"/>
          <p:cNvSpPr/>
          <p:nvPr/>
        </p:nvSpPr>
        <p:spPr>
          <a:xfrm>
            <a:off x="960120" y="2011680"/>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Spring @Async worker starts after transaction commit and updates job status</a:t>
            </a:r>
            <a:endParaRPr lang="en-US" sz="840" dirty="0"/>
          </a:p>
        </p:txBody>
      </p:sp>
      <p:sp>
        <p:nvSpPr>
          <p:cNvPr id="11" name="Shape 9"/>
          <p:cNvSpPr/>
          <p:nvPr/>
        </p:nvSpPr>
        <p:spPr>
          <a:xfrm>
            <a:off x="548640" y="2414016"/>
            <a:ext cx="3703320" cy="7315"/>
          </a:xfrm>
          <a:prstGeom prst="rect">
            <a:avLst/>
          </a:prstGeom>
          <a:solidFill>
            <a:srgbClr val="D8DEE6"/>
          </a:solidFill>
          <a:ln w="12700">
            <a:solidFill>
              <a:srgbClr val="D8DEE6"/>
            </a:solidFill>
            <a:prstDash val="solid"/>
          </a:ln>
        </p:spPr>
      </p:sp>
      <p:sp>
        <p:nvSpPr>
          <p:cNvPr id="12" name="Text 10"/>
          <p:cNvSpPr/>
          <p:nvPr/>
        </p:nvSpPr>
        <p:spPr>
          <a:xfrm>
            <a:off x="548640" y="2542032"/>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3</a:t>
            </a:r>
            <a:endParaRPr lang="en-US" sz="1200" dirty="0"/>
          </a:p>
        </p:txBody>
      </p:sp>
      <p:sp>
        <p:nvSpPr>
          <p:cNvPr id="13" name="Text 11"/>
          <p:cNvSpPr/>
          <p:nvPr/>
        </p:nvSpPr>
        <p:spPr>
          <a:xfrm>
            <a:off x="960120" y="2523744"/>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Repository workspace</a:t>
            </a:r>
            <a:endParaRPr lang="en-US" sz="1080" dirty="0"/>
          </a:p>
        </p:txBody>
      </p:sp>
      <p:sp>
        <p:nvSpPr>
          <p:cNvPr id="14" name="Text 12"/>
          <p:cNvSpPr/>
          <p:nvPr/>
        </p:nvSpPr>
        <p:spPr>
          <a:xfrm>
            <a:off x="960120" y="2779776"/>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Extracts or clones project into temporary analysis workspace</a:t>
            </a:r>
            <a:endParaRPr lang="en-US" sz="840" dirty="0"/>
          </a:p>
        </p:txBody>
      </p:sp>
      <p:sp>
        <p:nvSpPr>
          <p:cNvPr id="15" name="Shape 13"/>
          <p:cNvSpPr/>
          <p:nvPr/>
        </p:nvSpPr>
        <p:spPr>
          <a:xfrm>
            <a:off x="548640" y="3182112"/>
            <a:ext cx="3703320" cy="7315"/>
          </a:xfrm>
          <a:prstGeom prst="rect">
            <a:avLst/>
          </a:prstGeom>
          <a:solidFill>
            <a:srgbClr val="D8DEE6"/>
          </a:solidFill>
          <a:ln w="12700">
            <a:solidFill>
              <a:srgbClr val="D8DEE6"/>
            </a:solidFill>
            <a:prstDash val="solid"/>
          </a:ln>
        </p:spPr>
      </p:sp>
      <p:sp>
        <p:nvSpPr>
          <p:cNvPr id="16" name="Text 14"/>
          <p:cNvSpPr/>
          <p:nvPr/>
        </p:nvSpPr>
        <p:spPr>
          <a:xfrm>
            <a:off x="548640" y="3310128"/>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4</a:t>
            </a:r>
            <a:endParaRPr lang="en-US" sz="1200" dirty="0"/>
          </a:p>
        </p:txBody>
      </p:sp>
      <p:sp>
        <p:nvSpPr>
          <p:cNvPr id="17" name="Text 15"/>
          <p:cNvSpPr/>
          <p:nvPr/>
        </p:nvSpPr>
        <p:spPr>
          <a:xfrm>
            <a:off x="960120" y="3291840"/>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Service discovery</a:t>
            </a:r>
            <a:endParaRPr lang="en-US" sz="1080" dirty="0"/>
          </a:p>
        </p:txBody>
      </p:sp>
      <p:sp>
        <p:nvSpPr>
          <p:cNvPr id="18" name="Text 16"/>
          <p:cNvSpPr/>
          <p:nvPr/>
        </p:nvSpPr>
        <p:spPr>
          <a:xfrm>
            <a:off x="960120" y="3547872"/>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Build-file scan plus deployability gate with confidence levels</a:t>
            </a:r>
            <a:endParaRPr lang="en-US" sz="840" dirty="0"/>
          </a:p>
        </p:txBody>
      </p:sp>
      <p:sp>
        <p:nvSpPr>
          <p:cNvPr id="19" name="Shape 17"/>
          <p:cNvSpPr/>
          <p:nvPr/>
        </p:nvSpPr>
        <p:spPr>
          <a:xfrm>
            <a:off x="548640" y="3950208"/>
            <a:ext cx="3703320" cy="7315"/>
          </a:xfrm>
          <a:prstGeom prst="rect">
            <a:avLst/>
          </a:prstGeom>
          <a:solidFill>
            <a:srgbClr val="D8DEE6"/>
          </a:solidFill>
          <a:ln w="12700">
            <a:solidFill>
              <a:srgbClr val="D8DEE6"/>
            </a:solidFill>
            <a:prstDash val="solid"/>
          </a:ln>
        </p:spPr>
      </p:sp>
      <p:sp>
        <p:nvSpPr>
          <p:cNvPr id="20" name="Text 18"/>
          <p:cNvSpPr/>
          <p:nvPr/>
        </p:nvSpPr>
        <p:spPr>
          <a:xfrm>
            <a:off x="4617720" y="1005840"/>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5</a:t>
            </a:r>
            <a:endParaRPr lang="en-US" sz="1200" dirty="0"/>
          </a:p>
        </p:txBody>
      </p:sp>
      <p:sp>
        <p:nvSpPr>
          <p:cNvPr id="21" name="Text 19"/>
          <p:cNvSpPr/>
          <p:nvPr/>
        </p:nvSpPr>
        <p:spPr>
          <a:xfrm>
            <a:off x="5029200" y="987552"/>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Analysis engines</a:t>
            </a:r>
            <a:endParaRPr lang="en-US" sz="1080" dirty="0"/>
          </a:p>
        </p:txBody>
      </p:sp>
      <p:sp>
        <p:nvSpPr>
          <p:cNvPr id="22" name="Text 20"/>
          <p:cNvSpPr/>
          <p:nvPr/>
        </p:nvSpPr>
        <p:spPr>
          <a:xfrm>
            <a:off x="5029200" y="1243584"/>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DesigniteJava subprocess for smells; Spoon AST for structural and dependency analysis</a:t>
            </a:r>
            <a:endParaRPr lang="en-US" sz="840" dirty="0"/>
          </a:p>
        </p:txBody>
      </p:sp>
      <p:sp>
        <p:nvSpPr>
          <p:cNvPr id="23" name="Shape 21"/>
          <p:cNvSpPr/>
          <p:nvPr/>
        </p:nvSpPr>
        <p:spPr>
          <a:xfrm>
            <a:off x="4617720" y="1645920"/>
            <a:ext cx="3703320" cy="7315"/>
          </a:xfrm>
          <a:prstGeom prst="rect">
            <a:avLst/>
          </a:prstGeom>
          <a:solidFill>
            <a:srgbClr val="D8DEE6"/>
          </a:solidFill>
          <a:ln w="12700">
            <a:solidFill>
              <a:srgbClr val="D8DEE6"/>
            </a:solidFill>
            <a:prstDash val="solid"/>
          </a:ln>
        </p:spPr>
      </p:sp>
      <p:sp>
        <p:nvSpPr>
          <p:cNvPr id="24" name="Text 22"/>
          <p:cNvSpPr/>
          <p:nvPr/>
        </p:nvSpPr>
        <p:spPr>
          <a:xfrm>
            <a:off x="4617720" y="1773936"/>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6</a:t>
            </a:r>
            <a:endParaRPr lang="en-US" sz="1200" dirty="0"/>
          </a:p>
        </p:txBody>
      </p:sp>
      <p:sp>
        <p:nvSpPr>
          <p:cNvPr id="25" name="Text 23"/>
          <p:cNvSpPr/>
          <p:nvPr/>
        </p:nvSpPr>
        <p:spPr>
          <a:xfrm>
            <a:off x="5029200" y="1755648"/>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Detector layer</a:t>
            </a:r>
            <a:endParaRPr lang="en-US" sz="1080" dirty="0"/>
          </a:p>
        </p:txBody>
      </p:sp>
      <p:sp>
        <p:nvSpPr>
          <p:cNvPr id="26" name="Text 24"/>
          <p:cNvSpPr/>
          <p:nvPr/>
        </p:nvSpPr>
        <p:spPr>
          <a:xfrm>
            <a:off x="5029200" y="2011680"/>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AntiPatternDetector Strategy components run over services, metrics, and graph</a:t>
            </a:r>
            <a:endParaRPr lang="en-US" sz="840" dirty="0"/>
          </a:p>
        </p:txBody>
      </p:sp>
      <p:sp>
        <p:nvSpPr>
          <p:cNvPr id="27" name="Shape 25"/>
          <p:cNvSpPr/>
          <p:nvPr/>
        </p:nvSpPr>
        <p:spPr>
          <a:xfrm>
            <a:off x="4617720" y="2414016"/>
            <a:ext cx="3703320" cy="7315"/>
          </a:xfrm>
          <a:prstGeom prst="rect">
            <a:avLst/>
          </a:prstGeom>
          <a:solidFill>
            <a:srgbClr val="D8DEE6"/>
          </a:solidFill>
          <a:ln w="12700">
            <a:solidFill>
              <a:srgbClr val="D8DEE6"/>
            </a:solidFill>
            <a:prstDash val="solid"/>
          </a:ln>
        </p:spPr>
      </p:sp>
      <p:sp>
        <p:nvSpPr>
          <p:cNvPr id="28" name="Text 26"/>
          <p:cNvSpPr/>
          <p:nvPr/>
        </p:nvSpPr>
        <p:spPr>
          <a:xfrm>
            <a:off x="4617720" y="2542032"/>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7</a:t>
            </a:r>
            <a:endParaRPr lang="en-US" sz="1200" dirty="0"/>
          </a:p>
        </p:txBody>
      </p:sp>
      <p:sp>
        <p:nvSpPr>
          <p:cNvPr id="29" name="Text 27"/>
          <p:cNvSpPr/>
          <p:nvPr/>
        </p:nvSpPr>
        <p:spPr>
          <a:xfrm>
            <a:off x="5029200" y="2523744"/>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Scoring/reporting</a:t>
            </a:r>
            <a:endParaRPr lang="en-US" sz="1080" dirty="0"/>
          </a:p>
        </p:txBody>
      </p:sp>
      <p:sp>
        <p:nvSpPr>
          <p:cNvPr id="30" name="Text 28"/>
          <p:cNvSpPr/>
          <p:nvPr/>
        </p:nvSpPr>
        <p:spPr>
          <a:xfrm>
            <a:off x="5029200" y="2779776"/>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Health score, category breakdown, evidence snippets, remediation, graph JSON</a:t>
            </a:r>
            <a:endParaRPr lang="en-US" sz="840" dirty="0"/>
          </a:p>
        </p:txBody>
      </p:sp>
      <p:sp>
        <p:nvSpPr>
          <p:cNvPr id="31" name="Shape 29"/>
          <p:cNvSpPr/>
          <p:nvPr/>
        </p:nvSpPr>
        <p:spPr>
          <a:xfrm>
            <a:off x="4617720" y="3182112"/>
            <a:ext cx="3703320" cy="7315"/>
          </a:xfrm>
          <a:prstGeom prst="rect">
            <a:avLst/>
          </a:prstGeom>
          <a:solidFill>
            <a:srgbClr val="D8DEE6"/>
          </a:solidFill>
          <a:ln w="12700">
            <a:solidFill>
              <a:srgbClr val="D8DEE6"/>
            </a:solidFill>
            <a:prstDash val="solid"/>
          </a:ln>
        </p:spPr>
      </p:sp>
      <p:sp>
        <p:nvSpPr>
          <p:cNvPr id="32" name="Text 30"/>
          <p:cNvSpPr/>
          <p:nvPr/>
        </p:nvSpPr>
        <p:spPr>
          <a:xfrm>
            <a:off x="4617720" y="3310128"/>
            <a:ext cx="310896" cy="27432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8</a:t>
            </a:r>
            <a:endParaRPr lang="en-US" sz="1200" dirty="0"/>
          </a:p>
        </p:txBody>
      </p:sp>
      <p:sp>
        <p:nvSpPr>
          <p:cNvPr id="33" name="Text 31"/>
          <p:cNvSpPr/>
          <p:nvPr/>
        </p:nvSpPr>
        <p:spPr>
          <a:xfrm>
            <a:off x="5029200" y="3291840"/>
            <a:ext cx="3337560" cy="228600"/>
          </a:xfrm>
          <a:prstGeom prst="rect">
            <a:avLst/>
          </a:prstGeom>
          <a:noFill/>
          <a:ln/>
        </p:spPr>
        <p:txBody>
          <a:bodyPr wrap="square" lIns="0" tIns="0" rIns="0" bIns="0" rtlCol="0" anchor="ctr"/>
          <a:lstStyle/>
          <a:p>
            <a:pPr indent="0" marL="0">
              <a:buNone/>
            </a:pPr>
            <a:r>
              <a:rPr lang="en-US" sz="1080" b="1" dirty="0">
                <a:solidFill>
                  <a:srgbClr val="0F2A44"/>
                </a:solidFill>
                <a:latin typeface="Calibri" pitchFamily="34" charset="0"/>
                <a:ea typeface="Calibri" pitchFamily="34" charset="-122"/>
                <a:cs typeface="Calibri" pitchFamily="34" charset="-120"/>
              </a:rPr>
              <a:t>Persistence/UI</a:t>
            </a:r>
            <a:endParaRPr lang="en-US" sz="1080" dirty="0"/>
          </a:p>
        </p:txBody>
      </p:sp>
      <p:sp>
        <p:nvSpPr>
          <p:cNvPr id="34" name="Text 32"/>
          <p:cNvSpPr/>
          <p:nvPr/>
        </p:nvSpPr>
        <p:spPr>
          <a:xfrm>
            <a:off x="5029200" y="3547872"/>
            <a:ext cx="3337560" cy="347472"/>
          </a:xfrm>
          <a:prstGeom prst="rect">
            <a:avLst/>
          </a:prstGeom>
          <a:noFill/>
          <a:ln/>
        </p:spPr>
        <p:txBody>
          <a:bodyPr wrap="square" lIns="0" tIns="0" rIns="0" bIns="0" rtlCol="0" anchor="ctr">
            <a:normAutofit/>
          </a:bodyPr>
          <a:lstStyle/>
          <a:p>
            <a:pPr indent="0" marL="0">
              <a:buNone/>
            </a:pPr>
            <a:r>
              <a:rPr lang="en-US" sz="840" dirty="0">
                <a:solidFill>
                  <a:srgbClr val="1E293B"/>
                </a:solidFill>
                <a:latin typeface="Calibri" pitchFamily="34" charset="0"/>
                <a:ea typeface="Calibri" pitchFamily="34" charset="-122"/>
                <a:cs typeface="Calibri" pitchFamily="34" charset="-120"/>
              </a:rPr>
              <a:t>Results stored in database and rendered in dashboard, finding cards, diff view, graph view</a:t>
            </a:r>
            <a:endParaRPr lang="en-US" sz="840" dirty="0"/>
          </a:p>
        </p:txBody>
      </p:sp>
      <p:sp>
        <p:nvSpPr>
          <p:cNvPr id="35" name="Shape 33"/>
          <p:cNvSpPr/>
          <p:nvPr/>
        </p:nvSpPr>
        <p:spPr>
          <a:xfrm>
            <a:off x="4617720" y="3950208"/>
            <a:ext cx="3703320" cy="7315"/>
          </a:xfrm>
          <a:prstGeom prst="rect">
            <a:avLst/>
          </a:prstGeom>
          <a:solidFill>
            <a:srgbClr val="D8DEE6"/>
          </a:solidFill>
          <a:ln w="12700">
            <a:solidFill>
              <a:srgbClr val="D8DEE6"/>
            </a:solidFill>
            <a:prstDash val="solid"/>
          </a:ln>
        </p:spPr>
      </p:sp>
      <p:sp>
        <p:nvSpPr>
          <p:cNvPr id="36" name="Shape 34"/>
          <p:cNvSpPr/>
          <p:nvPr/>
        </p:nvSpPr>
        <p:spPr>
          <a:xfrm>
            <a:off x="548640" y="4498848"/>
            <a:ext cx="457200" cy="36576"/>
          </a:xfrm>
          <a:prstGeom prst="rect">
            <a:avLst/>
          </a:prstGeom>
          <a:solidFill>
            <a:srgbClr val="0D9488"/>
          </a:solidFill>
          <a:ln w="12700">
            <a:solidFill>
              <a:srgbClr val="0D9488"/>
            </a:solidFill>
            <a:prstDash val="solid"/>
          </a:ln>
        </p:spPr>
      </p:sp>
      <p:sp>
        <p:nvSpPr>
          <p:cNvPr id="37" name="Text 35"/>
          <p:cNvSpPr/>
          <p:nvPr/>
        </p:nvSpPr>
        <p:spPr>
          <a:xfrm>
            <a:off x="548640" y="4590288"/>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Design principle: detectors are pluggable Strategy components, so extending the catalogue does not require rewriting the pipeline orchestrator.</a:t>
            </a:r>
            <a:endParaRPr lang="en-US" sz="950" dirty="0"/>
          </a:p>
        </p:txBody>
      </p:sp>
      <p:sp>
        <p:nvSpPr>
          <p:cNvPr id="38" name="Text 36"/>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Annex: comparison with existing tools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1143000" cy="219456"/>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TOOL</a:t>
            </a:r>
            <a:endParaRPr lang="en-US" sz="780" dirty="0"/>
          </a:p>
        </p:txBody>
      </p:sp>
      <p:sp>
        <p:nvSpPr>
          <p:cNvPr id="5" name="Text 3"/>
          <p:cNvSpPr/>
          <p:nvPr/>
        </p:nvSpPr>
        <p:spPr>
          <a:xfrm>
            <a:off x="1645920" y="1024128"/>
            <a:ext cx="1645920" cy="219456"/>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FOCUS</a:t>
            </a:r>
            <a:endParaRPr lang="en-US" sz="780" dirty="0"/>
          </a:p>
        </p:txBody>
      </p:sp>
      <p:sp>
        <p:nvSpPr>
          <p:cNvPr id="6" name="Text 4"/>
          <p:cNvSpPr/>
          <p:nvPr/>
        </p:nvSpPr>
        <p:spPr>
          <a:xfrm>
            <a:off x="3429000" y="1024128"/>
            <a:ext cx="2423160" cy="219456"/>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STRENGTH</a:t>
            </a:r>
            <a:endParaRPr lang="en-US" sz="780" dirty="0"/>
          </a:p>
        </p:txBody>
      </p:sp>
      <p:sp>
        <p:nvSpPr>
          <p:cNvPr id="7" name="Text 5"/>
          <p:cNvSpPr/>
          <p:nvPr/>
        </p:nvSpPr>
        <p:spPr>
          <a:xfrm>
            <a:off x="5989320" y="1024128"/>
            <a:ext cx="2606040" cy="219456"/>
          </a:xfrm>
          <a:prstGeom prst="rect">
            <a:avLst/>
          </a:prstGeom>
          <a:noFill/>
          <a:ln/>
        </p:spPr>
        <p:txBody>
          <a:bodyPr wrap="square" lIns="0" tIns="0" rIns="0" bIns="0" rtlCol="0" anchor="ctr"/>
          <a:lstStyle/>
          <a:p>
            <a:pPr indent="0" marL="0">
              <a:buNone/>
            </a:pPr>
            <a:r>
              <a:rPr lang="en-US" sz="780" b="1" spc="110" kern="0" dirty="0">
                <a:solidFill>
                  <a:srgbClr val="0F2A44"/>
                </a:solidFill>
                <a:latin typeface="Calibri" pitchFamily="34" charset="0"/>
                <a:ea typeface="Calibri" pitchFamily="34" charset="-122"/>
                <a:cs typeface="Calibri" pitchFamily="34" charset="-120"/>
              </a:rPr>
              <a:t>DIFFERENCE / LIMITATION</a:t>
            </a:r>
            <a:endParaRPr lang="en-US" sz="780" dirty="0"/>
          </a:p>
        </p:txBody>
      </p:sp>
      <p:sp>
        <p:nvSpPr>
          <p:cNvPr id="8" name="Shape 6"/>
          <p:cNvSpPr/>
          <p:nvPr/>
        </p:nvSpPr>
        <p:spPr>
          <a:xfrm>
            <a:off x="548640" y="1298448"/>
            <a:ext cx="8046720" cy="13716"/>
          </a:xfrm>
          <a:prstGeom prst="rect">
            <a:avLst/>
          </a:prstGeom>
          <a:solidFill>
            <a:srgbClr val="D8DEE6"/>
          </a:solidFill>
          <a:ln w="12700">
            <a:solidFill>
              <a:srgbClr val="D8DEE6"/>
            </a:solidFill>
            <a:prstDash val="solid"/>
          </a:ln>
        </p:spPr>
      </p:sp>
      <p:sp>
        <p:nvSpPr>
          <p:cNvPr id="9" name="Text 7"/>
          <p:cNvSpPr/>
          <p:nvPr/>
        </p:nvSpPr>
        <p:spPr>
          <a:xfrm>
            <a:off x="548640" y="1463040"/>
            <a:ext cx="11430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Arcan</a:t>
            </a:r>
            <a:endParaRPr lang="en-US" sz="950" dirty="0"/>
          </a:p>
        </p:txBody>
      </p:sp>
      <p:sp>
        <p:nvSpPr>
          <p:cNvPr id="10" name="Text 8"/>
          <p:cNvSpPr/>
          <p:nvPr/>
        </p:nvSpPr>
        <p:spPr>
          <a:xfrm>
            <a:off x="1645920" y="1463040"/>
            <a:ext cx="164592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Architectural smells</a:t>
            </a:r>
            <a:endParaRPr lang="en-US" sz="820" dirty="0"/>
          </a:p>
        </p:txBody>
      </p:sp>
      <p:sp>
        <p:nvSpPr>
          <p:cNvPr id="11" name="Text 9"/>
          <p:cNvSpPr/>
          <p:nvPr/>
        </p:nvSpPr>
        <p:spPr>
          <a:xfrm>
            <a:off x="3429000" y="1463040"/>
            <a:ext cx="242316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Strong smell detection</a:t>
            </a:r>
            <a:endParaRPr lang="en-US" sz="820" dirty="0"/>
          </a:p>
        </p:txBody>
      </p:sp>
      <p:sp>
        <p:nvSpPr>
          <p:cNvPr id="12" name="Text 10"/>
          <p:cNvSpPr/>
          <p:nvPr/>
        </p:nvSpPr>
        <p:spPr>
          <a:xfrm>
            <a:off x="5989320" y="1463040"/>
            <a:ext cx="260604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Not focused on evidence-based microservice workflow</a:t>
            </a:r>
            <a:endParaRPr lang="en-US" sz="820" dirty="0"/>
          </a:p>
        </p:txBody>
      </p:sp>
      <p:sp>
        <p:nvSpPr>
          <p:cNvPr id="13" name="Shape 11"/>
          <p:cNvSpPr/>
          <p:nvPr/>
        </p:nvSpPr>
        <p:spPr>
          <a:xfrm>
            <a:off x="548640" y="1920240"/>
            <a:ext cx="8046720" cy="7315"/>
          </a:xfrm>
          <a:prstGeom prst="rect">
            <a:avLst/>
          </a:prstGeom>
          <a:solidFill>
            <a:srgbClr val="D8DEE6"/>
          </a:solidFill>
          <a:ln w="12700">
            <a:solidFill>
              <a:srgbClr val="D8DEE6"/>
            </a:solidFill>
            <a:prstDash val="solid"/>
          </a:ln>
        </p:spPr>
      </p:sp>
      <p:sp>
        <p:nvSpPr>
          <p:cNvPr id="14" name="Text 12"/>
          <p:cNvSpPr/>
          <p:nvPr/>
        </p:nvSpPr>
        <p:spPr>
          <a:xfrm>
            <a:off x="548640" y="2057400"/>
            <a:ext cx="11430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MicroART</a:t>
            </a:r>
            <a:endParaRPr lang="en-US" sz="950" dirty="0"/>
          </a:p>
        </p:txBody>
      </p:sp>
      <p:sp>
        <p:nvSpPr>
          <p:cNvPr id="15" name="Text 13"/>
          <p:cNvSpPr/>
          <p:nvPr/>
        </p:nvSpPr>
        <p:spPr>
          <a:xfrm>
            <a:off x="1645920" y="2057400"/>
            <a:ext cx="164592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Architecture recovery</a:t>
            </a:r>
            <a:endParaRPr lang="en-US" sz="820" dirty="0"/>
          </a:p>
        </p:txBody>
      </p:sp>
      <p:sp>
        <p:nvSpPr>
          <p:cNvPr id="16" name="Text 14"/>
          <p:cNvSpPr/>
          <p:nvPr/>
        </p:nvSpPr>
        <p:spPr>
          <a:xfrm>
            <a:off x="3429000" y="2057400"/>
            <a:ext cx="242316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Useful system visualisation</a:t>
            </a:r>
            <a:endParaRPr lang="en-US" sz="820" dirty="0"/>
          </a:p>
        </p:txBody>
      </p:sp>
      <p:sp>
        <p:nvSpPr>
          <p:cNvPr id="17" name="Text 15"/>
          <p:cNvSpPr/>
          <p:nvPr/>
        </p:nvSpPr>
        <p:spPr>
          <a:xfrm>
            <a:off x="5989320" y="2057400"/>
            <a:ext cx="260604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Requires project metadata; not a detector/reporting workflow</a:t>
            </a:r>
            <a:endParaRPr lang="en-US" sz="820" dirty="0"/>
          </a:p>
        </p:txBody>
      </p:sp>
      <p:sp>
        <p:nvSpPr>
          <p:cNvPr id="18" name="Shape 16"/>
          <p:cNvSpPr/>
          <p:nvPr/>
        </p:nvSpPr>
        <p:spPr>
          <a:xfrm>
            <a:off x="548640" y="2514600"/>
            <a:ext cx="8046720" cy="7315"/>
          </a:xfrm>
          <a:prstGeom prst="rect">
            <a:avLst/>
          </a:prstGeom>
          <a:solidFill>
            <a:srgbClr val="D8DEE6"/>
          </a:solidFill>
          <a:ln w="12700">
            <a:solidFill>
              <a:srgbClr val="D8DEE6"/>
            </a:solidFill>
            <a:prstDash val="solid"/>
          </a:ln>
        </p:spPr>
      </p:sp>
      <p:sp>
        <p:nvSpPr>
          <p:cNvPr id="19" name="Text 17"/>
          <p:cNvSpPr/>
          <p:nvPr/>
        </p:nvSpPr>
        <p:spPr>
          <a:xfrm>
            <a:off x="548640" y="2651760"/>
            <a:ext cx="11430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MSANose</a:t>
            </a:r>
            <a:endParaRPr lang="en-US" sz="950" dirty="0"/>
          </a:p>
        </p:txBody>
      </p:sp>
      <p:sp>
        <p:nvSpPr>
          <p:cNvPr id="20" name="Text 18"/>
          <p:cNvSpPr/>
          <p:nvPr/>
        </p:nvSpPr>
        <p:spPr>
          <a:xfrm>
            <a:off x="1645920" y="2651760"/>
            <a:ext cx="164592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Microservice smells</a:t>
            </a:r>
            <a:endParaRPr lang="en-US" sz="820" dirty="0"/>
          </a:p>
        </p:txBody>
      </p:sp>
      <p:sp>
        <p:nvSpPr>
          <p:cNvPr id="21" name="Text 19"/>
          <p:cNvSpPr/>
          <p:nvPr/>
        </p:nvSpPr>
        <p:spPr>
          <a:xfrm>
            <a:off x="3429000" y="2651760"/>
            <a:ext cx="242316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Microservice-specific catalogue</a:t>
            </a:r>
            <a:endParaRPr lang="en-US" sz="820" dirty="0"/>
          </a:p>
        </p:txBody>
      </p:sp>
      <p:sp>
        <p:nvSpPr>
          <p:cNvPr id="22" name="Text 20"/>
          <p:cNvSpPr/>
          <p:nvPr/>
        </p:nvSpPr>
        <p:spPr>
          <a:xfrm>
            <a:off x="5989320" y="2651760"/>
            <a:ext cx="260604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Less emphasis on source snippets and composite scoring</a:t>
            </a:r>
            <a:endParaRPr lang="en-US" sz="820" dirty="0"/>
          </a:p>
        </p:txBody>
      </p:sp>
      <p:sp>
        <p:nvSpPr>
          <p:cNvPr id="23" name="Shape 21"/>
          <p:cNvSpPr/>
          <p:nvPr/>
        </p:nvSpPr>
        <p:spPr>
          <a:xfrm>
            <a:off x="548640" y="3108960"/>
            <a:ext cx="8046720" cy="7315"/>
          </a:xfrm>
          <a:prstGeom prst="rect">
            <a:avLst/>
          </a:prstGeom>
          <a:solidFill>
            <a:srgbClr val="D8DEE6"/>
          </a:solidFill>
          <a:ln w="12700">
            <a:solidFill>
              <a:srgbClr val="D8DEE6"/>
            </a:solidFill>
            <a:prstDash val="solid"/>
          </a:ln>
        </p:spPr>
      </p:sp>
      <p:sp>
        <p:nvSpPr>
          <p:cNvPr id="24" name="Text 22"/>
          <p:cNvSpPr/>
          <p:nvPr/>
        </p:nvSpPr>
        <p:spPr>
          <a:xfrm>
            <a:off x="548640" y="3246120"/>
            <a:ext cx="11430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MARS</a:t>
            </a:r>
            <a:endParaRPr lang="en-US" sz="950" dirty="0"/>
          </a:p>
        </p:txBody>
      </p:sp>
      <p:sp>
        <p:nvSpPr>
          <p:cNvPr id="25" name="Text 23"/>
          <p:cNvSpPr/>
          <p:nvPr/>
        </p:nvSpPr>
        <p:spPr>
          <a:xfrm>
            <a:off x="1645920" y="3246120"/>
            <a:ext cx="164592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Anti-pattern catalogue</a:t>
            </a:r>
            <a:endParaRPr lang="en-US" sz="820" dirty="0"/>
          </a:p>
        </p:txBody>
      </p:sp>
      <p:sp>
        <p:nvSpPr>
          <p:cNvPr id="26" name="Text 24"/>
          <p:cNvSpPr/>
          <p:nvPr/>
        </p:nvSpPr>
        <p:spPr>
          <a:xfrm>
            <a:off x="3429000" y="3246120"/>
            <a:ext cx="242316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Broad microservice anti-pattern coverage</a:t>
            </a:r>
            <a:endParaRPr lang="en-US" sz="820" dirty="0"/>
          </a:p>
        </p:txBody>
      </p:sp>
      <p:sp>
        <p:nvSpPr>
          <p:cNvPr id="27" name="Text 25"/>
          <p:cNvSpPr/>
          <p:nvPr/>
        </p:nvSpPr>
        <p:spPr>
          <a:xfrm>
            <a:off x="5989320" y="3246120"/>
            <a:ext cx="2606040" cy="384048"/>
          </a:xfrm>
          <a:prstGeom prst="rect">
            <a:avLst/>
          </a:prstGeom>
          <a:noFill/>
          <a:ln/>
        </p:spPr>
        <p:txBody>
          <a:bodyPr wrap="square" lIns="0" tIns="0" rIns="0" bIns="0" rtlCol="0" anchor="ctr">
            <a:normAutofit/>
          </a:bodyPr>
          <a:lstStyle/>
          <a:p>
            <a:pPr indent="0" marL="0">
              <a:buNone/>
            </a:pPr>
            <a:r>
              <a:rPr lang="en-US" sz="820" dirty="0">
                <a:solidFill>
                  <a:srgbClr val="1E293B"/>
                </a:solidFill>
                <a:latin typeface="Calibri" pitchFamily="34" charset="0"/>
                <a:ea typeface="Calibri" pitchFamily="34" charset="-122"/>
                <a:cs typeface="Calibri" pitchFamily="34" charset="-120"/>
              </a:rPr>
              <a:t>Different scope; not the same integrated repository-to-report pipeline</a:t>
            </a:r>
            <a:endParaRPr lang="en-US" sz="820" dirty="0"/>
          </a:p>
        </p:txBody>
      </p:sp>
      <p:sp>
        <p:nvSpPr>
          <p:cNvPr id="28" name="Shape 26"/>
          <p:cNvSpPr/>
          <p:nvPr/>
        </p:nvSpPr>
        <p:spPr>
          <a:xfrm>
            <a:off x="548640" y="3703320"/>
            <a:ext cx="8046720" cy="7315"/>
          </a:xfrm>
          <a:prstGeom prst="rect">
            <a:avLst/>
          </a:prstGeom>
          <a:solidFill>
            <a:srgbClr val="D8DEE6"/>
          </a:solidFill>
          <a:ln w="12700">
            <a:solidFill>
              <a:srgbClr val="D8DEE6"/>
            </a:solidFill>
            <a:prstDash val="solid"/>
          </a:ln>
        </p:spPr>
      </p:sp>
      <p:sp>
        <p:nvSpPr>
          <p:cNvPr id="29" name="Shape 27"/>
          <p:cNvSpPr/>
          <p:nvPr/>
        </p:nvSpPr>
        <p:spPr>
          <a:xfrm>
            <a:off x="548640" y="3749040"/>
            <a:ext cx="8046720" cy="32004"/>
          </a:xfrm>
          <a:prstGeom prst="rect">
            <a:avLst/>
          </a:prstGeom>
          <a:solidFill>
            <a:srgbClr val="0D9488"/>
          </a:solidFill>
          <a:ln w="12700">
            <a:solidFill>
              <a:srgbClr val="0D9488"/>
            </a:solidFill>
            <a:prstDash val="solid"/>
          </a:ln>
        </p:spPr>
      </p:sp>
      <p:sp>
        <p:nvSpPr>
          <p:cNvPr id="30" name="Text 28"/>
          <p:cNvSpPr/>
          <p:nvPr/>
        </p:nvSpPr>
        <p:spPr>
          <a:xfrm>
            <a:off x="548640" y="3840480"/>
            <a:ext cx="1143000" cy="384048"/>
          </a:xfrm>
          <a:prstGeom prst="rect">
            <a:avLst/>
          </a:prstGeom>
          <a:noFill/>
          <a:ln/>
        </p:spPr>
        <p:txBody>
          <a:bodyPr wrap="square" lIns="0" tIns="0" rIns="0" bIns="0" rtlCol="0" anchor="ctr">
            <a:normAutofit/>
          </a:bodyPr>
          <a:lstStyle/>
          <a:p>
            <a:pPr indent="0" marL="0">
              <a:buNone/>
            </a:pPr>
            <a:r>
              <a:rPr lang="en-US" sz="950" b="1" dirty="0">
                <a:solidFill>
                  <a:srgbClr val="0D9488"/>
                </a:solidFill>
                <a:latin typeface="Calibri" pitchFamily="34" charset="0"/>
                <a:ea typeface="Calibri" pitchFamily="34" charset="-122"/>
                <a:cs typeface="Calibri" pitchFamily="34" charset="-120"/>
              </a:rPr>
              <a:t>MSA Detector</a:t>
            </a:r>
            <a:endParaRPr lang="en-US" sz="950" dirty="0"/>
          </a:p>
        </p:txBody>
      </p:sp>
      <p:sp>
        <p:nvSpPr>
          <p:cNvPr id="31" name="Text 29"/>
          <p:cNvSpPr/>
          <p:nvPr/>
        </p:nvSpPr>
        <p:spPr>
          <a:xfrm>
            <a:off x="1645920" y="3840480"/>
            <a:ext cx="1645920" cy="384048"/>
          </a:xfrm>
          <a:prstGeom prst="rect">
            <a:avLst/>
          </a:prstGeom>
          <a:noFill/>
          <a:ln/>
        </p:spPr>
        <p:txBody>
          <a:bodyPr wrap="square" lIns="0" tIns="0" rIns="0" bIns="0" rtlCol="0" anchor="ctr">
            <a:normAutofit/>
          </a:bodyPr>
          <a:lstStyle/>
          <a:p>
            <a:pPr indent="0" marL="0">
              <a:buNone/>
            </a:pPr>
            <a:r>
              <a:rPr lang="en-US" sz="820" b="1" dirty="0">
                <a:solidFill>
                  <a:srgbClr val="1E293B"/>
                </a:solidFill>
                <a:latin typeface="Calibri" pitchFamily="34" charset="0"/>
                <a:ea typeface="Calibri" pitchFamily="34" charset="-122"/>
                <a:cs typeface="Calibri" pitchFamily="34" charset="-120"/>
              </a:rPr>
              <a:t>Multi-level diagnosis</a:t>
            </a:r>
            <a:endParaRPr lang="en-US" sz="820" dirty="0"/>
          </a:p>
        </p:txBody>
      </p:sp>
      <p:sp>
        <p:nvSpPr>
          <p:cNvPr id="32" name="Text 30"/>
          <p:cNvSpPr/>
          <p:nvPr/>
        </p:nvSpPr>
        <p:spPr>
          <a:xfrm>
            <a:off x="3429000" y="3840480"/>
            <a:ext cx="2423160" cy="384048"/>
          </a:xfrm>
          <a:prstGeom prst="rect">
            <a:avLst/>
          </a:prstGeom>
          <a:noFill/>
          <a:ln/>
        </p:spPr>
        <p:txBody>
          <a:bodyPr wrap="square" lIns="0" tIns="0" rIns="0" bIns="0" rtlCol="0" anchor="ctr">
            <a:normAutofit/>
          </a:bodyPr>
          <a:lstStyle/>
          <a:p>
            <a:pPr indent="0" marL="0">
              <a:buNone/>
            </a:pPr>
            <a:r>
              <a:rPr lang="en-US" sz="820" b="1" dirty="0">
                <a:solidFill>
                  <a:srgbClr val="1E293B"/>
                </a:solidFill>
                <a:latin typeface="Calibri" pitchFamily="34" charset="0"/>
                <a:ea typeface="Calibri" pitchFamily="34" charset="-122"/>
                <a:cs typeface="Calibri" pitchFamily="34" charset="-120"/>
              </a:rPr>
              <a:t>Automated boundaries, snippets, graph evidence, health score, remediation</a:t>
            </a:r>
            <a:endParaRPr lang="en-US" sz="820" dirty="0"/>
          </a:p>
        </p:txBody>
      </p:sp>
      <p:sp>
        <p:nvSpPr>
          <p:cNvPr id="33" name="Text 31"/>
          <p:cNvSpPr/>
          <p:nvPr/>
        </p:nvSpPr>
        <p:spPr>
          <a:xfrm>
            <a:off x="5989320" y="3840480"/>
            <a:ext cx="2606040" cy="384048"/>
          </a:xfrm>
          <a:prstGeom prst="rect">
            <a:avLst/>
          </a:prstGeom>
          <a:noFill/>
          <a:ln/>
        </p:spPr>
        <p:txBody>
          <a:bodyPr wrap="square" lIns="0" tIns="0" rIns="0" bIns="0" rtlCol="0" anchor="ctr">
            <a:normAutofit/>
          </a:bodyPr>
          <a:lstStyle/>
          <a:p>
            <a:pPr indent="0" marL="0">
              <a:buNone/>
            </a:pPr>
            <a:r>
              <a:rPr lang="en-US" sz="820" b="1" dirty="0">
                <a:solidFill>
                  <a:srgbClr val="1E293B"/>
                </a:solidFill>
                <a:latin typeface="Calibri" pitchFamily="34" charset="0"/>
                <a:ea typeface="Calibri" pitchFamily="34" charset="-122"/>
                <a:cs typeface="Calibri" pitchFamily="34" charset="-120"/>
              </a:rPr>
              <a:t>Prototype scope: Java/Spring Boot only</a:t>
            </a:r>
            <a:endParaRPr lang="en-US" sz="820" dirty="0"/>
          </a:p>
        </p:txBody>
      </p:sp>
      <p:sp>
        <p:nvSpPr>
          <p:cNvPr id="34" name="Shape 32"/>
          <p:cNvSpPr/>
          <p:nvPr/>
        </p:nvSpPr>
        <p:spPr>
          <a:xfrm>
            <a:off x="548640" y="4297680"/>
            <a:ext cx="8046720" cy="7315"/>
          </a:xfrm>
          <a:prstGeom prst="rect">
            <a:avLst/>
          </a:prstGeom>
          <a:solidFill>
            <a:srgbClr val="D8DEE6"/>
          </a:solidFill>
          <a:ln w="12700">
            <a:solidFill>
              <a:srgbClr val="D8DEE6"/>
            </a:solidFill>
            <a:prstDash val="solid"/>
          </a:ln>
        </p:spPr>
      </p:sp>
      <p:sp>
        <p:nvSpPr>
          <p:cNvPr id="35" name="Shape 33"/>
          <p:cNvSpPr/>
          <p:nvPr/>
        </p:nvSpPr>
        <p:spPr>
          <a:xfrm>
            <a:off x="548640" y="4572000"/>
            <a:ext cx="457200" cy="36576"/>
          </a:xfrm>
          <a:prstGeom prst="rect">
            <a:avLst/>
          </a:prstGeom>
          <a:solidFill>
            <a:srgbClr val="0D9488"/>
          </a:solidFill>
          <a:ln w="12700">
            <a:solidFill>
              <a:srgbClr val="0D9488"/>
            </a:solidFill>
            <a:prstDash val="solid"/>
          </a:ln>
        </p:spPr>
      </p:sp>
      <p:sp>
        <p:nvSpPr>
          <p:cNvPr id="36" name="Text 34"/>
          <p:cNvSpPr/>
          <p:nvPr/>
        </p:nvSpPr>
        <p:spPr>
          <a:xfrm>
            <a:off x="548640" y="4663440"/>
            <a:ext cx="8046720" cy="219456"/>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Positioning: the contribution is integration and actionable reporting, not claiming that every individual detector is novel.</a:t>
            </a:r>
            <a:endParaRPr lang="en-US" sz="900" dirty="0"/>
          </a:p>
        </p:txBody>
      </p:sp>
      <p:sp>
        <p:nvSpPr>
          <p:cNvPr id="37" name="Text 35"/>
          <p:cNvSpPr/>
          <p:nvPr/>
        </p:nvSpPr>
        <p:spPr>
          <a:xfrm>
            <a:off x="7452360" y="4864608"/>
            <a:ext cx="11430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Appendix 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1</cp:revision>
  <dcterms:created xsi:type="dcterms:W3CDTF">2026-06-23T17:47:20Z</dcterms:created>
  <dcterms:modified xsi:type="dcterms:W3CDTF">2026-06-23T17:47:20Z</dcterms:modified>
</cp:coreProperties>
</file>