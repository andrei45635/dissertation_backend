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charts/chart1.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notesMasterIdLst>
    <p:notesMasterId r:id="rId2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notesMaster" Target="notesMasters/notesMaster1.xml"/><Relationship Id="rId29" Type="http://schemas.openxmlformats.org/officeDocument/2006/relationships/presProps" Target="presProps.xml"/><Relationship Id="rId30" Type="http://schemas.openxmlformats.org/officeDocument/2006/relationships/viewProps" Target="viewProps.xml"/><Relationship Id="rId31" Type="http://schemas.openxmlformats.org/officeDocument/2006/relationships/theme" Target="theme/theme1.xml"/><Relationship Id="rId3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0F2A44"/>
                </a:solidFill>
                <a:latin typeface="Calibri"/>
              </a:defRPr>
            </a:pPr>
            <a:r>
              <a:rPr sz="1200" b="0" i="0" u="none" strike="noStrike">
                <a:solidFill>
                  <a:srgbClr val="0F2A44"/>
                </a:solidFill>
                <a:latin typeface="Calibri"/>
              </a:rPr>
              <a:t>Health scores by project (0–100)</a:t>
            </a:r>
          </a:p>
        </c:rich>
      </c:tx>
      <c:layout/>
      <c:overlay val="0"/>
    </c:title>
    <c:autoTitleDeleted val="0"/>
    <c:plotArea>
      <c:layout/>
      <c:barChart>
        <c:barDir val="col"/>
        <c:grouping val="clustered"/>
        <c:varyColors val="0"/>
        <c:ser>
          <c:idx val="0"/>
          <c:order val="0"/>
          <c:tx>
            <c:strRef>
              <c:f>Sheet1!$B$1</c:f>
              <c:strCache>
                <c:ptCount val="1"/>
                <c:pt idx="0">
                  <c:v>Health score</c:v>
                </c:pt>
              </c:strCache>
            </c:strRef>
          </c:tx>
          <c:spPr>
            <a:solidFill>
              <a:srgbClr val="0D9488"/>
            </a:solidFill>
            <a:effectLst/>
          </c:spPr>
          <c:invertIfNegative val="0"/>
          <c:dLbls>
            <c:numFmt formatCode="#,##0" sourceLinked="0"/>
            <c:txPr>
              <a:bodyPr/>
              <a:lstStyle/>
              <a:p>
                <a:pPr>
                  <a:defRPr b="0" i="0" strike="noStrike" sz="900" u="none">
                    <a:solidFill>
                      <a:srgbClr val="1E293B"/>
                    </a:solidFill>
                    <a:latin typeface="Arial"/>
                  </a:defRPr>
                </a:pPr>
              </a:p>
            </c:txPr>
            <c:showLegendKey val="0"/>
            <c:showVal val="1"/>
            <c:showCatName val="0"/>
            <c:showSerName val="0"/>
            <c:showPercent val="0"/>
            <c:showBubbleSize val="0"/>
            <c:showLeaderLines val="0"/>
          </c:dLbls>
          <c:cat>
            <c:multiLvlStrRef>
              <c:f>Sheet1!$A$2:$A$12</c:f>
              <c:multiLvlStrCache>
                <c:ptCount val="11"/>
                <c:lvl>
                  <c:pt idx="0">
                    <c:v>MicroSocial</c:v>
                  </c:pt>
                  <c:pt idx="1">
                    <c:v>ftgo</c:v>
                  </c:pt>
                  <c:pt idx="2">
                    <c:v>PiggyMetrics</c:v>
                  </c:pt>
                  <c:pt idx="3">
                    <c:v>RuoYi</c:v>
                  </c:pt>
                  <c:pt idx="4">
                    <c:v>Site-Where</c:v>
                  </c:pt>
                  <c:pt idx="5">
                    <c:v>design-pat.</c:v>
                  </c:pt>
                  <c:pt idx="6">
                    <c:v>NetworkDisk</c:v>
                  </c:pt>
                  <c:pt idx="7">
                    <c:v>piomin</c:v>
                  </c:pt>
                  <c:pt idx="8">
                    <c:v>Train-Ticket</c:v>
                  </c:pt>
                  <c:pt idx="9">
                    <c:v>mall-swarm</c:v>
                  </c:pt>
                  <c:pt idx="10">
                    <c:v>recruit</c:v>
                  </c:pt>
                </c:lvl>
              </c:multiLvlStrCache>
            </c:multiLvlStrRef>
          </c:cat>
          <c:val>
            <c:numRef>
              <c:f>Sheet1!$B$2:$B$12</c:f>
              <c:numCache>
                <c:formatCode>General</c:formatCode>
                <c:ptCount val="11"/>
                <c:pt idx="0">
                  <c:v>83</c:v>
                </c:pt>
                <c:pt idx="1">
                  <c:v>75</c:v>
                </c:pt>
                <c:pt idx="2">
                  <c:v>71</c:v>
                </c:pt>
                <c:pt idx="3">
                  <c:v>71</c:v>
                </c:pt>
                <c:pt idx="4">
                  <c:v>69</c:v>
                </c:pt>
                <c:pt idx="5">
                  <c:v>60</c:v>
                </c:pt>
                <c:pt idx="6">
                  <c:v>59</c:v>
                </c:pt>
                <c:pt idx="7">
                  <c:v>55</c:v>
                </c:pt>
                <c:pt idx="8">
                  <c:v>54</c:v>
                </c:pt>
                <c:pt idx="9">
                  <c:v>53</c:v>
                </c:pt>
                <c:pt idx="10">
                  <c:v>40</c:v>
                </c:pt>
              </c:numCache>
            </c:numRef>
          </c:val>
        </c:ser>
        <c:dLbls>
          <c:numFmt formatCode="#,##0" sourceLinked="0"/>
          <c:txPr>
            <a:bodyPr/>
            <a:lstStyle/>
            <a:p>
              <a:pPr>
                <a:defRPr b="0" i="0" strike="noStrike" sz="900" u="none">
                  <a:solidFill>
                    <a:srgbClr val="1E293B"/>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64748B"/>
                </a:solidFill>
                <a:latin typeface="Arial"/>
              </a:defRPr>
            </a:pPr>
            <a:endParaRPr lang="en-US"/>
          </a:p>
        </c:txPr>
        <c:crossAx val="2094734552"/>
        <c:crosses val="autoZero"/>
        <c:auto val="1"/>
        <c:lblAlgn val="ctr"/>
        <c:noMultiLvlLbl val="1"/>
      </c:catAx>
      <c:valAx>
        <c:axId val="2094734552"/>
        <c:scaling>
          <c:orientation val="minMax"/>
          <c:max val="100"/>
          <c:min val="0"/>
        </c:scaling>
        <c:delete val="0"/>
        <c:axPos val="l"/>
        <c:majorGridlines>
          <c:spPr>
            <a:ln w="6350" cap="flat">
              <a:solidFill>
                <a:srgbClr val="D8DEE6"/>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64748B"/>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'Good morning. My name is Andrei Iacob, and today I'll be defending my dissertation: MSA Detector — a tool for detecting architectural anti-patterns in Java-based microservice systems. My supervisor is Professor Simona Motogna.'
You can add: 'The core idea is straightforward — as organisations adopt microservices, they often unknowingly introduce structural problems that erode the very benefits they were after. This tool helps catch those problems early, from a source code checkout, before they become production incidents.'
Keep this short — about 30 seconds. Don't introduce content yet; that's the next slide.
Breathe, slow down. The committee already knows your name from the schedule, so this is just orientation.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Spend ~90 seconds here. This frames why the tool exists.
Talking points:
• Microservices have become the default for new large systems. But tooling for architectural quality hasn't kept up.
• Teams ship anti-patterns — shared DBs, cycles, services that are either too small or too big — and they only find out when deployment friction or cascading failures appear in production.
• Existing academic tools address important parts of the problem: Arcan detects architectural smells, MicroART visualises recovered architectures, MSANose detects microservice smells, and MARS covers a broader anti-pattern catalogue. They differ in the anti-patterns they cover and in how much developer-facing evidence, scoring, and workflow support they provide.
• Even when something IS detected, the output is usually an abstract warning. Developers don't act on warnings without code evidence and remediation guidance.
You can mention a concrete example: 'For instance, a shared database between two services looks harmless at first — both teams just point at the same Postgres instance. But over time, schema changes in one service silently break the other, and you've lost independent deployability — arguably the single biggest reason to use microservices in the first place.'
Pivot to next slide: 'So the goal of this work was a tool that bridges both levels and outputs actionable findings.'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Optional slide — about 45 seconds if included in the main talk.
Talking points:
• 'The related work is valuable, but each tool emphasises a different slice: architecture smells, recovery, or microservice smell catalogues.'
• 'The gap I target is the combination: automatically detecting service boundaries from a source checkout, recovering dependencies, linking findings to source-level evidence, and producing a health score with remediation guidance.'
• 'So the contribution is not simply another detector list. It is an integrated workflow from repository input to actionable architectural diagnosis.'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Spend ~75 seconds here. Don't read the slide — talk to it.
What to actually say:
• 'The work has five contributions. The first is the multi-level analysis itself — using code-level structural metrics like class cohesion to flag architectural problems like God Service. That bridge between abstraction levels is the central novelty.'
• 'Second, ten selected anti-patterns across four dimensions — not the largest catalogue, since MARS covers more, but integrated with code-level smell density, evidence snippets, remediation guidance, and a health score.'
• 'Third, automated microservice boundary detection via a three-signal deployability gate — framework entry points, Dockerfiles, and main methods — with confidence levels. Most existing tools require manual configuration.'
• 'Fourth, a composite health score on 0–100, decomposed into four categories so you can see which dimension is dragging the score down.'
• 'Fifth, evidence-based reporting — every finding includes the actual code that triggered it.'
Bridge to next slide: 'To give you a clearer picture of how these pieces fit together, let me walk you through the analysis pipeline — from the moment a project is uploaded to the final report.'
Don't dwell on each one. They'll see the details later. This slide sets expectations for the rest of the talk.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Spend ~2 minutes here. This is the spine of the talk — get the pipeline right and everything else follows.
Walk left to right:
• Ingest: user uploads a ZIP or pastes a Git URL. The system extracts/clones and creates an analysis job.
• Service detection: scan for build files — pom.xml, build.gradle, build.gradle.kts. Filter out non-service modules using exclusion keywords and aggregator checks. Then apply a three-signal deployability gate: framework entry point (HIGH), Dockerfile (MEDIUM), main() method (LOW). Only candidates passing at least one signal are kept.
• Intra-service analysis runs DesigniteJava as a subprocess for code smells. Inter-service uses Spoon AST to find @FeignClient, RestTemplate, WebClient calls and build the dependency graph.
• Then ten detectors run over that graph + the smells. Each is a Spring component implementing a common interface — Strategy pattern.
• Finally results are assembled, the health score is computed, the dependency graph is serialised to JSON, and everything is persisted.
If asked about why async: 'Analyses on large projects like Activiti take several minutes. Blocking the HTTP request would time out. The frontend polls for status.'
Worth mentioning: 'The dependency graph construction is the most technically interesting part of this stage. Spoon parses the AST of every Java file and looks for inter-service communication annotations — @FeignClient declarations, RestTemplate.exchange calls, WebClient invocations — then resolves each target to a known service. The result is a directed weighted graph where edge weight represents the number of distinct call sites.'
Don't read the design-choices panel verbatim — mention one or two if you have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Spend ~90–120 seconds. This is the slide that demonstrates the multi-level claim.
Talking points:
• 'I picked God Service as the example because it's the cleanest illustration of how code-level signals feed an architectural-level finding.'
• Walk through left side: 'For each service, a Spoon-based analysis parses every class and computes structural metrics — field count, public method count, lines of code, import domains, constructor parameters, and class cohesion. The God Service detector flags any microservice containing at least one class identified as a God Class.'
• Right side: 'A class is flagged as a God Class when it exceeds at least three of the six metrics. Pure data holders such as entities and DTOs are excluded first, since they naturally have many fields and low cohesion without being an anti-pattern.'
• On TCC: 'Tight Class Cohesion measures the fraction of method pairs that share an instance field access. Low TCC means the methods operate on disjoint state — a sign of unrelated responsibilities packed into one class.'
EXPECT THIS QUESTION: 'Why does one God Class flag a service?'
Answer: 'The default is intentionally sensitive. False positives are cheap to dismiss. False negatives — architectural debt growing undetected — are expensive. The threshold is configurable; teams in production would calibrate it. Even one class concentrating that many responsibilities is worth a look.'
If asked where DesigniteJava fits: 'DesigniteJava runs per service for code smells, but its catalogue is abstraction and modularization smells rather than a literal God Class. So God Service detection is driven by the Spoon structural metrics, and DesigniteJava smell density feeds the code-quality category of the health score instead.'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slide — about 45 seconds. Don't read every detector aloud.
What to say:
• 'These are the ten detectors, organised by architectural dimension. Each is a Spring component implementing a common interface, so adding a new detector means writing one class — no orchestrator changes.'
• 'Severities feed directly into the health score: critical issues cost 8 points, high cost 5, medium cost 3.'
• 'I won't walk through each detector — they're in Chapter 3 of the thesis. I'll focus on the scoring mechanism next.'
If a committee member asks about a specific detector:
• Shared DB — group services by spring.datasource.url, flag groups of size &gt; 1
• Cyclic Dependency — Tarjan's SCC on the dep graph, any SCC &gt; 1 vertex is a cycle
• Chatty Service — call count per edge ≥ 5 OR a Feign interface with ≥ 5 methods
• Hardcoded Endpoints — regex scan of .java for http://, localhost:, IP literals (with comment/test exclusions)
• Distributed Monolith — composite rule on coupling coefficient, connected ratio, shared DB count
• API Versioning — regex /v\d+[/.] on endpoint paths
• ESB Misuse — caller/callee ratios + volume-based mediator ratio
• Wrong Cuts — bidirectional edges between a service pair
Worth saying aloud: 'The severity levels aren't arbitrary — they reflect how much damage the anti-pattern can cause. Cyclic Dependency and Distributed Monolith are critical because they undermine independent deployability entirely. Hardcoded Endpoints and API Versioning are medium because they're easier to fix and their impact is more localised.'
Don't get defensive about limitations. Acknowledging them is more impressive than glossing over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Spend ~75 seconds.
Talking points:
• 'The composite score is a sum of four independent categories. Each has its own budget — Anti-Patterns is 40 points, Code Quality 20, Architecture 25, Service Sizing 15. Total: 100.'
• 'Each category clamps at zero, so penalties can't bleed across categories. That's intentional: a code-quality-heavy project shouldn't have its architectural score dragged down.'
• 'Importantly, the breakdown is preserved in the UI. A developer doesn't just see 45/100 — they see WHICH category is dragging the score down, with itemised deductions.'
• 'The diff feature compares successive analyses, so a team that fixes a shared DB anti-pattern can see exactly how many points that bought them.'
EXPECT THIS QUESTION: 'Doesn't clamping at zero mean you lose discrimination between moderately bad and very bad projects?'
Answer: 'Yes — that's a known limitation of the category-cap approach, which I note in the threats to validity. A team with 13 nano services and one with 50 would both see Anti-Patterns at zero. The Service Sizing breakdown still preserves the per-issue counts, so the full picture is still visible to the user. A scaled, density-style penalty in the AP category — similar to the Code Quality category — would address this in future work.'
You can also add: 'The weights were informed by how other composite metrics work in the literature — SonarQube's maintainability rating, SQALE, and the ISO 25010 quality model. Anti-patterns get the largest budget because they represent architectural-level issues that are expensive to fix after deployment.'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Spend ~75 seconds. This slide makes the scoring reproducible.
Walk through it:
• 'Take microservice-recruit — a Spring Cloud recruitment platform. In the anti-pattern category it has 6 API versioning absences, 2 ESB misuse and 2 wrong-cuts findings, 1 cyclic dependency, and 1 hardcoded endpoint — total penalty 49, but the category caps at 40, so it clamps to zero.'
• 'Its single nano service is scored under Service Sizing instead of the anti-pattern category, to avoid double counting — costing 3 points there, leaving 12 of 15.'
• 'Architecture loses 9 points for the structural coupling of its dependency graph — leaving 16 of 25.'
• 'Code Quality is scored by smell density: 260 smells over 8.3K LOC is 31.4 per KLOC, an 8-point deduction, leaving 12 of 20.'
• 'The final composite is 0 + 12 + 16 + 12 = 40 — grade F. Unlike a project whose problems sit in one place, this one loses points in every dimension, which is exactly what the multi-level scoring is meant to surface.'
This demonstrates that the scoring is transparent and that the breakdown shows exactly what's wrong.
EXPECT QUESTION: 'Only 8 points lost on Code Quality with 260 smells — why so little?'
Answer: 'Code Quality is scored on smell density per 1000 LOC, not raw count, so a codebase isn't punished just for its size. The category is deliberately bounded so that architectural anti-patterns remain the dominant signal in the overall score.'
If time allows, mention: 'What makes this example interesting is that the problems are spread across all four categories — it's not a project with one catastrophic issue, it's a project with consistent low-level neglect across every dimension. That's exactly the kind of systemic debt the multi-category decomposition is designed to surface.'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Spend ~45 seconds if included in the main flow.
Talking points:
• 'The evaluation is designed as a feasibility study across heterogeneous open-source systems.'
• 'For each project I measured service count, LOC, anti-pattern findings, dependency graph metrics, smell density, and the resulting health score.'
• 'I am not claiming statistical precision or recall because that would require a labelled benchmark of microservice anti-patterns. Such a corpus is not generally available, so the claim here is that the pipeline works end to end and produces explainable outputs across varied systems.'
Bridge: 'With that framing, here are the actual results.'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Spend ~90 seconds.
Talking points:
• 'I evaluated on eleven open-source Spring Boot projects, spanning from piomin at 1.3k LOC to mall-swarm at 86k LOC. 130 microservices, about 274k LOC total.'
• 'Health scores ranged from 40 to 83 — the scoring mechanism produces meaningful spread.'
• 'The dominant findings are configuration and sizing issues: 37 API versioning absences, 23 nano services, 15 hardcoded endpoints. Cyclic Dependency and Wrong Cuts were detected in microservice-recruit. Adding PiggyMetrics and piomin broadened ESB Misuse and Nano Service coverage.'
• '98 total anti-pattern instances across 9 distinct types. Only Distributed Monolith was not detected — plausible given these projects' topologies.'
You can add: 'The score range — 40 to 83 — shows that the metric has useful discriminating power. Projects known to be well-structured like MicroSocial score highest; projects known to have issues like Train-Ticket and microservice-recruit score lowest. If every project scored 70, the metric wouldn't be telling us much.'
EXPECT: 'Only eleven projects, is that enough?'
Answer: 'Not for a statistical claim. This evaluation is a feasibility demonstration across heterogeneous codebases. A full precision/recall study would need a labelled corpus, which doesn't exist for microservice anti-patterns — that's an open problem in the field. I note this in Threats to Validity.'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demo slide — switch to the browser/tool after this title comes up. Aim for ~2 minutes total.
Before you start:
• Have the app already running on localhost. Don't start the server live.
• Be logged in already. Don't waste demo time on the login form.
• Have a small known-working repo URL ready in your clipboard. MicroservicesSocial is the safest choice — small, fast, and produces a varied set of findings (Shared DB, Nano Service, Hardcoded Endpoint, API Versioning).
• Have a second browser tab open with a PREVIOUSLY COMPLETED analysis loaded, as a fallback. If the live clone fails or runs slow, switch to that tab and say 'here's a previous run on the same project.'
Demo script (~2 min):
1. CLONE (~30 s): 'I'll paste a GitHub URL of a small microservice project and submit it.' Paste, click submit. While it runs: 'the pipeline is now detecting microservices, running DesigniteJava per service, building the dependency graph, and running the ten detectors.'
2. DASHBOARD (~30 s): When the results page loads, point at the health score gauge. 'Score 83, grade B. The four-category breakdown shows where the deductions came from — mostly Anti-Patterns category.'
3. DRILL-DOWN (~45 s): Click on the Shared Database finding to expand it. 'You can see the affected services, the actual datasource URL that's being shared, the code snippet from the application.yml file, and remediation guidance.' This is the slide's strongest moment — the committee sees the evidence-based reporting in action.
4. DEPENDENCY GRAPH (~15 s): Scroll down or switch to the dep-graph view. 'Interactive force-directed graph. Each node is a service, edges show inter-service calls, node size scales with LOC.'
Then say: 'I'll switch back to the slides.' Click back to slide 13.
If the demo BREAKS at any point:
• Don't panic. Say 'looks like the network is being slow — let me switch to a pre-computed run.'
• Switch to your backup tab.
• If even the backup fails: 'the deployment is on my laptop and I'd be happy to demo it after the defense — meanwhile, the screenshots in Chapter 4 of the thesis show the same flow.'
• Move on quickly. Don't burn 90 seconds debugging in front of the committee. The thesis stands on its 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Spend ~60 seconds. This is your honesty slide — committee will respect frankness here.
Talking points:
• 'The tool has real limitations. The biggest is the Java/Spring Boot restriction — real-world systems are polyglot, and the current tool can't analyse non-Java services.'
• 'Static analysis trades precision for applicability. A distributed tracing approach would give exact runtime call counts but requires the system to be deployed and instrumented — which prevents the tool from running on a fresh checkout.'
• 'The health score weights aren't empirically validated. They're engineering judgement informed by the literature. Different teams might want different weightings.'
• 'Future work in priority order: multi-language support, then ML-based detection, then empirical calibration of thresholds.'
You can add: 'The multi-language extension is actually partially designed already — Chapter 5 describes a roadmap where Docker Compose and Kubernetes manifests provide a language-agnostic dependency graph, and only the intra-service analysis needs per-language adapters. So the architecture is ready for it, even though the implementation is Java-only today.'
Don't get defensive about limitations. Acknowledging them is more impressive than glossing over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close — about 20 seconds.
Suggested wording:
'To conclude: the MSA Detector is a multi-level static analysis tool for Java/Spring Boot microservices, with ten anti-pattern detectors, a composite health score, and evidence-based reporting. The main contribution is the bridge between source-code evidence and architectural findings: the tool does not only flag that a microservice architecture has a problem, it shows where the evidence comes from and how the issue affects the system. I'm ready for your questions.'
Then SHUT UP. Don't fill the silence. Let the committee speak.
When the first question comes:
1. Listen to the whole question — don't start composing the answer mid-question.
2. If unclear, ask for clarification: 'Just to make sure I understand — are you asking about X or about Y?'
3. Pause for 2 seconds before answering. Looks thoughtful, not nervous.
4. Answer concisely. If you don't know, say 'I didn't investigate that — my best guess is X but I'd want to verify.'
Common questions to prepare for:
• 'Why God Service threshold = 1?' → false positives cheap, false negatives expensive; configurable.
• 'Why only eleven projects?' → feasibility demo not statistical claim; no labelled corpus exists.
• 'Score compression at the bottom?' → known limitation, a scaled AP penalty would fix.
• 'Why static instead of dynamic?' → applicability over precision; no deployed system required.
• 'Why Spring Boot only?' → biggest Java microservice ecosystem; other frameworks future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 slide only — do not spend presentation time here unless the committee asks about sources.
If asked, say: 'These are the selected works that shaped the microservice definition, anti-pattern catalogue, static analysis approach, related tools, and graph algorithms used in the implementation. The complete bibliography is in the dissertation.'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slide only.
Use this if someone asks what you mean by microservice, architectural anti-pattern, service boundary, or evidence-based reporting. Keep the answer short: define the term, then connect it to the implementation.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slide only.
Use this for questions such as 'how is cohesion measured?', 'what does edge weight mean?', or 'how do you avoid punishing larger codebases?'. The key answer is that raw counts are normalised when size would otherwise bias the result.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slide only.
Use this if someone asks whether the score is reproducible. Emphasise that each category is capped independently, so a bad category cannot consume points from another category. Also acknowledge that weights are engineering judgement and should be calibrated on industrial data in future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slide only.
Use this if someone asks what a specific anti-pattern means. Give the definition first, then move to Appendix E only if they ask how the tool detects it. This keeps conceptual and implementation questions separate.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slide only.
Use this if someone asks 'what exactly triggers detector X?'. Avoid reading the full table. Point to the detector they asked about, state the signal and threshold, then explain that thresholds are configurable and would be calibrated for production 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slide only.
Use this if someone asks about Tarjan, cycles, graph construction, or why graph analysis is relevant. The concise answer is that microservice anti-patterns are often not visible inside one service; they emerge from the shape of dependencies between services.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slide only.
Use this if someone asks how services are identified automatically. The core answer: the tool first finds candidate build modules, then applies a deployability gate with HIGH, MEDIUM, and LOW confidence signals.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slide only.
Use this if someone asks why you did not use distributed tracing. The concise answer is: dynamic analysis is more precise for runtime behaviour, but static analysis works before deployment and gives source-level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slide only.
Use this if someone challenges the evaluation. Do not overclaim. Say clearly that the work demonstrates feasibility over heterogeneous repositories, while labelled benchmark validation and threshold calibration are future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slide only.
Use this if someone asks about implementation architecture. Walk left-to-right conceptually: API creates a job, async worker analyses the workspace, engines collect metrics, detectors create findings, scoring and persistence feed the UI.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slide only.
Use this if someone asks how the work differs from related tools. Be precise: the novelty is the integrated workflow from source repository to service boundary recovery, graph/code analysis, evidence snippets, scoring, and remediation.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2A44"/>
        </a:solidFill>
      </p:bgPr>
    </p:bg>
    <p:spTree>
      <p:nvGrpSpPr>
        <p:cNvPr id="1" name=""/>
        <p:cNvGrpSpPr/>
        <p:nvPr/>
      </p:nvGrpSpPr>
      <p:grpSpPr>
        <a:xfrm>
          <a:off x="0" y="0"/>
          <a:ext cx="0" cy="0"/>
          <a:chOff x="0" y="0"/>
          <a:chExt cx="0" cy="0"/>
        </a:xfrm>
      </p:grpSpPr>
      <p:sp>
        <p:nvSpPr>
          <p:cNvPr id="2" name="Shape 0"/>
          <p:cNvSpPr/>
          <p:nvPr/>
        </p:nvSpPr>
        <p:spPr>
          <a:xfrm>
            <a:off x="548640" y="1170432"/>
            <a:ext cx="640080" cy="41148"/>
          </a:xfrm>
          <a:prstGeom prst="rect">
            <a:avLst/>
          </a:prstGeom>
          <a:solidFill>
            <a:srgbClr val="0D9488"/>
          </a:solidFill>
          <a:ln w="12700">
            <a:solidFill>
              <a:srgbClr val="0D9488"/>
            </a:solidFill>
            <a:prstDash val="solid"/>
          </a:ln>
        </p:spPr>
      </p:sp>
      <p:sp>
        <p:nvSpPr>
          <p:cNvPr id="3" name="Text 1"/>
          <p:cNvSpPr/>
          <p:nvPr/>
        </p:nvSpPr>
        <p:spPr>
          <a:xfrm>
            <a:off x="548640" y="1371600"/>
            <a:ext cx="7863840" cy="1417320"/>
          </a:xfrm>
          <a:prstGeom prst="rect">
            <a:avLst/>
          </a:prstGeom>
          <a:noFill/>
          <a:ln/>
        </p:spPr>
        <p:txBody>
          <a:bodyPr wrap="square" lIns="0" tIns="0" rIns="0" bIns="0" rtlCol="0" anchor="ctr"/>
          <a:lstStyle/>
          <a:p>
            <a:pPr indent="0" marL="0">
              <a:spcAft>
                <a:spcPts val="400"/>
              </a:spcAft>
              <a:buNone/>
            </a:pPr>
            <a:r>
              <a:rPr lang="en-US" sz="3200" b="1" dirty="0">
                <a:solidFill>
                  <a:srgbClr val="FFFFFF"/>
                </a:solidFill>
                <a:latin typeface="Calibri" pitchFamily="34" charset="0"/>
                <a:ea typeface="Calibri" pitchFamily="34" charset="-122"/>
                <a:cs typeface="Calibri" pitchFamily="34" charset="-120"/>
              </a:rPr>
              <a:t>Detecting Architectural</a:t>
            </a:r>
            <a:endParaRPr lang="en-US" sz="3200" dirty="0"/>
          </a:p>
          <a:p>
            <a:pPr indent="0" marL="0">
              <a:spcAft>
                <a:spcPts val="400"/>
              </a:spcAft>
              <a:buNone/>
            </a:pPr>
            <a:r>
              <a:rPr lang="en-US" sz="3200" b="1" dirty="0">
                <a:solidFill>
                  <a:srgbClr val="FFFFFF"/>
                </a:solidFill>
                <a:latin typeface="Calibri" pitchFamily="34" charset="0"/>
                <a:ea typeface="Calibri" pitchFamily="34" charset="-122"/>
                <a:cs typeface="Calibri" pitchFamily="34" charset="-120"/>
              </a:rPr>
              <a:t>Anti-Patterns in Microservices</a:t>
            </a:r>
            <a:endParaRPr lang="en-US" sz="3200" dirty="0"/>
          </a:p>
        </p:txBody>
      </p:sp>
      <p:sp>
        <p:nvSpPr>
          <p:cNvPr id="4" name="Text 2"/>
          <p:cNvSpPr/>
          <p:nvPr/>
        </p:nvSpPr>
        <p:spPr>
          <a:xfrm>
            <a:off x="548640" y="2834640"/>
            <a:ext cx="7863840" cy="365760"/>
          </a:xfrm>
          <a:prstGeom prst="rect">
            <a:avLst/>
          </a:prstGeom>
          <a:noFill/>
          <a:ln/>
        </p:spPr>
        <p:txBody>
          <a:bodyPr wrap="square" lIns="0" tIns="0" rIns="0" bIns="0" rtlCol="0" anchor="ctr"/>
          <a:lstStyle/>
          <a:p>
            <a:pPr indent="0" marL="0">
              <a:buNone/>
            </a:pPr>
            <a:r>
              <a:rPr lang="en-US" sz="1500" i="1" dirty="0">
                <a:solidFill>
                  <a:srgbClr val="DBEAFE"/>
                </a:solidFill>
                <a:latin typeface="Calibri" pitchFamily="34" charset="0"/>
                <a:ea typeface="Calibri" pitchFamily="34" charset="-122"/>
                <a:cs typeface="Calibri" pitchFamily="34" charset="-120"/>
              </a:rPr>
              <a:t>A multi-level static analysis tool for Java/Spring Boot systems</a:t>
            </a:r>
            <a:endParaRPr lang="en-US" sz="1500" dirty="0"/>
          </a:p>
        </p:txBody>
      </p:sp>
      <p:sp>
        <p:nvSpPr>
          <p:cNvPr id="5" name="Text 3"/>
          <p:cNvSpPr/>
          <p:nvPr/>
        </p:nvSpPr>
        <p:spPr>
          <a:xfrm>
            <a:off x="548640" y="3794760"/>
            <a:ext cx="7863840" cy="1051560"/>
          </a:xfrm>
          <a:prstGeom prst="rect">
            <a:avLst/>
          </a:prstGeom>
          <a:noFill/>
          <a:ln/>
        </p:spPr>
        <p:txBody>
          <a:bodyPr wrap="square" lIns="0" tIns="0" rIns="0" bIns="0" rtlCol="0" anchor="ctr"/>
          <a:lstStyle/>
          <a:p>
            <a:pPr indent="0" marL="0">
              <a:spcAft>
                <a:spcPts val="200"/>
              </a:spcAft>
              <a:buNone/>
            </a:pPr>
            <a:r>
              <a:rPr lang="en-US" sz="1500" b="1" dirty="0">
                <a:solidFill>
                  <a:srgbClr val="FFFFFF"/>
                </a:solidFill>
                <a:latin typeface="Calibri" pitchFamily="34" charset="0"/>
                <a:ea typeface="Calibri" pitchFamily="34" charset="-122"/>
                <a:cs typeface="Calibri" pitchFamily="34" charset="-120"/>
              </a:rPr>
              <a:t>Iacob Andrei</a:t>
            </a:r>
            <a:endParaRPr lang="en-US" sz="1500" dirty="0"/>
          </a:p>
          <a:p>
            <a:pPr indent="0" marL="0">
              <a:spcAft>
                <a:spcPts val="200"/>
              </a:spcAft>
              <a:buNone/>
            </a:pPr>
            <a:r>
              <a:rPr lang="en-US" sz="1150" dirty="0">
                <a:solidFill>
                  <a:srgbClr val="DBEAFE"/>
                </a:solidFill>
                <a:latin typeface="Calibri" pitchFamily="34" charset="0"/>
                <a:ea typeface="Calibri" pitchFamily="34" charset="-122"/>
                <a:cs typeface="Calibri" pitchFamily="34" charset="-120"/>
              </a:rPr>
              <a:t>Master's Dissertation Defense</a:t>
            </a:r>
            <a:endParaRPr lang="en-US" sz="1500" dirty="0"/>
          </a:p>
          <a:p>
            <a:pPr indent="0" marL="0">
              <a:spcAft>
                <a:spcPts val="200"/>
              </a:spcAft>
              <a:buNone/>
            </a:pPr>
            <a:r>
              <a:rPr lang="en-US" sz="1150" dirty="0">
                <a:solidFill>
                  <a:srgbClr val="DBEAFE"/>
                </a:solidFill>
                <a:latin typeface="Calibri" pitchFamily="34" charset="0"/>
                <a:ea typeface="Calibri" pitchFamily="34" charset="-122"/>
                <a:cs typeface="Calibri" pitchFamily="34" charset="-120"/>
              </a:rPr>
              <a:t>Supervisor: Prof. Dr. Simona Motogna</a:t>
            </a:r>
            <a:endParaRPr lang="en-US" sz="1500" dirty="0"/>
          </a:p>
          <a:p>
            <a:pPr indent="0" marL="0">
              <a:spcAft>
                <a:spcPts val="200"/>
              </a:spcAft>
              <a:buNone/>
            </a:pPr>
            <a:r>
              <a:rPr lang="en-US" sz="1100" i="1" dirty="0">
                <a:solidFill>
                  <a:srgbClr val="DBEAFE"/>
                </a:solidFill>
                <a:latin typeface="Calibri" pitchFamily="34" charset="0"/>
                <a:ea typeface="Calibri" pitchFamily="34" charset="-122"/>
                <a:cs typeface="Calibri" pitchFamily="34" charset="-120"/>
              </a:rPr>
              <a:t>Faculty of Mathematics and Computer Science, Babeş-Bolyai University</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56032"/>
            <a:ext cx="8046720" cy="502920"/>
          </a:xfrm>
          <a:prstGeom prst="rect">
            <a:avLst/>
          </a:prstGeom>
          <a:noFill/>
          <a:ln/>
        </p:spPr>
        <p:txBody>
          <a:bodyPr wrap="square" lIns="0" tIns="0" rIns="0" bIns="0" rtlCol="0" anchor="ctr"/>
          <a:lstStyle/>
          <a:p>
            <a:pPr indent="0" marL="0">
              <a:buNone/>
            </a:pPr>
            <a:r>
              <a:rPr lang="en-US" sz="2500" b="1" dirty="0">
                <a:solidFill>
                  <a:srgbClr val="0F2A44"/>
                </a:solidFill>
                <a:latin typeface="Calibri" pitchFamily="34" charset="0"/>
                <a:ea typeface="Calibri" pitchFamily="34" charset="-122"/>
                <a:cs typeface="Calibri" pitchFamily="34" charset="-120"/>
              </a:rPr>
              <a:t>Why this matters</a:t>
            </a:r>
            <a:endParaRPr lang="en-US" sz="2500" dirty="0"/>
          </a:p>
        </p:txBody>
      </p:sp>
      <p:sp>
        <p:nvSpPr>
          <p:cNvPr id="3" name="Shape 1"/>
          <p:cNvSpPr/>
          <p:nvPr/>
        </p:nvSpPr>
        <p:spPr>
          <a:xfrm>
            <a:off x="548640" y="841248"/>
            <a:ext cx="8046720" cy="13716"/>
          </a:xfrm>
          <a:prstGeom prst="rect">
            <a:avLst/>
          </a:prstGeom>
          <a:solidFill>
            <a:srgbClr val="D8DEE6"/>
          </a:solidFill>
          <a:ln w="12700">
            <a:solidFill>
              <a:srgbClr val="D8DEE6"/>
            </a:solidFill>
            <a:prstDash val="solid"/>
          </a:ln>
        </p:spPr>
      </p:sp>
      <p:sp>
        <p:nvSpPr>
          <p:cNvPr id="4" name="Text 2"/>
          <p:cNvSpPr/>
          <p:nvPr/>
        </p:nvSpPr>
        <p:spPr>
          <a:xfrm>
            <a:off x="548640" y="987552"/>
            <a:ext cx="8046720" cy="365760"/>
          </a:xfrm>
          <a:prstGeom prst="rect">
            <a:avLst/>
          </a:prstGeom>
          <a:noFill/>
          <a:ln/>
        </p:spPr>
        <p:txBody>
          <a:bodyPr wrap="square" lIns="0" tIns="0" rIns="0" bIns="0" rtlCol="0" anchor="ctr"/>
          <a:lstStyle/>
          <a:p>
            <a:pPr indent="0" marL="0">
              <a:buNone/>
            </a:pPr>
            <a:r>
              <a:rPr lang="en-US" sz="1500" i="1" dirty="0">
                <a:solidFill>
                  <a:srgbClr val="64748B"/>
                </a:solidFill>
                <a:latin typeface="Calibri" pitchFamily="34" charset="0"/>
                <a:ea typeface="Calibri" pitchFamily="34" charset="-122"/>
                <a:cs typeface="Calibri" pitchFamily="34" charset="-120"/>
              </a:rPr>
              <a:t>Microservices adoption has outpaced tooling</a:t>
            </a:r>
            <a:endParaRPr lang="en-US" sz="1500" dirty="0"/>
          </a:p>
        </p:txBody>
      </p:sp>
      <p:sp>
        <p:nvSpPr>
          <p:cNvPr id="5" name="Text 3"/>
          <p:cNvSpPr/>
          <p:nvPr/>
        </p:nvSpPr>
        <p:spPr>
          <a:xfrm>
            <a:off x="548640" y="1481328"/>
            <a:ext cx="457200" cy="502920"/>
          </a:xfrm>
          <a:prstGeom prst="rect">
            <a:avLst/>
          </a:prstGeom>
          <a:noFill/>
          <a:ln/>
        </p:spPr>
        <p:txBody>
          <a:bodyPr wrap="square" lIns="0" tIns="0" rIns="0" bIns="0" rtlCol="0" anchor="ctr"/>
          <a:lstStyle/>
          <a:p>
            <a:pPr indent="0" marL="0">
              <a:buNone/>
            </a:pPr>
            <a:r>
              <a:rPr lang="en-US" sz="2600" b="1" dirty="0">
                <a:solidFill>
                  <a:srgbClr val="C2CCD6"/>
                </a:solidFill>
                <a:latin typeface="Calibri" pitchFamily="34" charset="0"/>
                <a:ea typeface="Calibri" pitchFamily="34" charset="-122"/>
                <a:cs typeface="Calibri" pitchFamily="34" charset="-120"/>
              </a:rPr>
              <a:t>1</a:t>
            </a:r>
            <a:endParaRPr lang="en-US" sz="2600" dirty="0"/>
          </a:p>
        </p:txBody>
      </p:sp>
      <p:sp>
        <p:nvSpPr>
          <p:cNvPr id="6" name="Text 4"/>
          <p:cNvSpPr/>
          <p:nvPr/>
        </p:nvSpPr>
        <p:spPr>
          <a:xfrm>
            <a:off x="1188720" y="1536192"/>
            <a:ext cx="7406640" cy="292608"/>
          </a:xfrm>
          <a:prstGeom prst="rect">
            <a:avLst/>
          </a:prstGeom>
          <a:noFill/>
          <a:ln/>
        </p:spPr>
        <p:txBody>
          <a:bodyPr wrap="square" lIns="0" tIns="0" rIns="0" bIns="0" rtlCol="0" anchor="ctr"/>
          <a:lstStyle/>
          <a:p>
            <a:pPr indent="0" marL="0">
              <a:buNone/>
            </a:pPr>
            <a:r>
              <a:rPr lang="en-US" sz="1400" b="1" dirty="0">
                <a:solidFill>
                  <a:srgbClr val="0F2A44"/>
                </a:solidFill>
                <a:latin typeface="Calibri" pitchFamily="34" charset="0"/>
                <a:ea typeface="Calibri" pitchFamily="34" charset="-122"/>
                <a:cs typeface="Calibri" pitchFamily="34" charset="-120"/>
              </a:rPr>
              <a:t>Architectural debt accumulates silently</a:t>
            </a:r>
            <a:endParaRPr lang="en-US" sz="1400" dirty="0"/>
          </a:p>
        </p:txBody>
      </p:sp>
      <p:sp>
        <p:nvSpPr>
          <p:cNvPr id="7" name="Text 5"/>
          <p:cNvSpPr/>
          <p:nvPr/>
        </p:nvSpPr>
        <p:spPr>
          <a:xfrm>
            <a:off x="1188720" y="1837944"/>
            <a:ext cx="7406640" cy="457200"/>
          </a:xfrm>
          <a:prstGeom prst="rect">
            <a:avLst/>
          </a:prstGeom>
          <a:noFill/>
          <a:ln/>
        </p:spPr>
        <p:txBody>
          <a:bodyPr wrap="square" lIns="0" tIns="0" rIns="0" bIns="0" rtlCol="0" anchor="ctr"/>
          <a:lstStyle/>
          <a:p>
            <a:pPr indent="0" marL="0">
              <a:buNone/>
            </a:pPr>
            <a:r>
              <a:rPr lang="en-US" sz="1150" dirty="0">
                <a:solidFill>
                  <a:srgbClr val="1E293B"/>
                </a:solidFill>
                <a:latin typeface="Calibri" pitchFamily="34" charset="0"/>
                <a:ea typeface="Calibri" pitchFamily="34" charset="-122"/>
                <a:cs typeface="Calibri" pitchFamily="34" charset="-120"/>
              </a:rPr>
              <a:t>Shared databases, cyclic dependencies, and ill-sized services erode the benefits microservices promise.</a:t>
            </a:r>
            <a:endParaRPr lang="en-US" sz="1150" dirty="0"/>
          </a:p>
        </p:txBody>
      </p:sp>
      <p:sp>
        <p:nvSpPr>
          <p:cNvPr id="8" name="Text 6"/>
          <p:cNvSpPr/>
          <p:nvPr/>
        </p:nvSpPr>
        <p:spPr>
          <a:xfrm>
            <a:off x="548640" y="2322576"/>
            <a:ext cx="457200" cy="502920"/>
          </a:xfrm>
          <a:prstGeom prst="rect">
            <a:avLst/>
          </a:prstGeom>
          <a:noFill/>
          <a:ln/>
        </p:spPr>
        <p:txBody>
          <a:bodyPr wrap="square" lIns="0" tIns="0" rIns="0" bIns="0" rtlCol="0" anchor="ctr"/>
          <a:lstStyle/>
          <a:p>
            <a:pPr indent="0" marL="0">
              <a:buNone/>
            </a:pPr>
            <a:r>
              <a:rPr lang="en-US" sz="2600" b="1" dirty="0">
                <a:solidFill>
                  <a:srgbClr val="C2CCD6"/>
                </a:solidFill>
                <a:latin typeface="Calibri" pitchFamily="34" charset="0"/>
                <a:ea typeface="Calibri" pitchFamily="34" charset="-122"/>
                <a:cs typeface="Calibri" pitchFamily="34" charset="-120"/>
              </a:rPr>
              <a:t>2</a:t>
            </a:r>
            <a:endParaRPr lang="en-US" sz="2600" dirty="0"/>
          </a:p>
        </p:txBody>
      </p:sp>
      <p:sp>
        <p:nvSpPr>
          <p:cNvPr id="9" name="Text 7"/>
          <p:cNvSpPr/>
          <p:nvPr/>
        </p:nvSpPr>
        <p:spPr>
          <a:xfrm>
            <a:off x="1188720" y="2377440"/>
            <a:ext cx="7406640" cy="292608"/>
          </a:xfrm>
          <a:prstGeom prst="rect">
            <a:avLst/>
          </a:prstGeom>
          <a:noFill/>
          <a:ln/>
        </p:spPr>
        <p:txBody>
          <a:bodyPr wrap="square" lIns="0" tIns="0" rIns="0" bIns="0" rtlCol="0" anchor="ctr"/>
          <a:lstStyle/>
          <a:p>
            <a:pPr indent="0" marL="0">
              <a:buNone/>
            </a:pPr>
            <a:r>
              <a:rPr lang="en-US" sz="1400" b="1" dirty="0">
                <a:solidFill>
                  <a:srgbClr val="0F2A44"/>
                </a:solidFill>
                <a:latin typeface="Calibri" pitchFamily="34" charset="0"/>
                <a:ea typeface="Calibri" pitchFamily="34" charset="-122"/>
                <a:cs typeface="Calibri" pitchFamily="34" charset="-120"/>
              </a:rPr>
              <a:t>Related tools vary in scope</a:t>
            </a:r>
            <a:endParaRPr lang="en-US" sz="1400" dirty="0"/>
          </a:p>
        </p:txBody>
      </p:sp>
      <p:sp>
        <p:nvSpPr>
          <p:cNvPr id="10" name="Text 8"/>
          <p:cNvSpPr/>
          <p:nvPr/>
        </p:nvSpPr>
        <p:spPr>
          <a:xfrm>
            <a:off x="1188720" y="2679192"/>
            <a:ext cx="7406640" cy="457200"/>
          </a:xfrm>
          <a:prstGeom prst="rect">
            <a:avLst/>
          </a:prstGeom>
          <a:noFill/>
          <a:ln/>
        </p:spPr>
        <p:txBody>
          <a:bodyPr wrap="square" lIns="0" tIns="0" rIns="0" bIns="0" rtlCol="0" anchor="ctr"/>
          <a:lstStyle/>
          <a:p>
            <a:pPr indent="0" marL="0">
              <a:buNone/>
            </a:pPr>
            <a:r>
              <a:rPr lang="en-US" sz="1150" dirty="0">
                <a:solidFill>
                  <a:srgbClr val="1E293B"/>
                </a:solidFill>
                <a:latin typeface="Calibri" pitchFamily="34" charset="0"/>
                <a:ea typeface="Calibri" pitchFamily="34" charset="-122"/>
                <a:cs typeface="Calibri" pitchFamily="34" charset="-120"/>
              </a:rPr>
              <a:t>Prior tools such as Arcan, MicroART, MSANose, and MARS address important slices of the problem, but differ in scope and output.</a:t>
            </a:r>
            <a:endParaRPr lang="en-US" sz="1150" dirty="0"/>
          </a:p>
        </p:txBody>
      </p:sp>
      <p:sp>
        <p:nvSpPr>
          <p:cNvPr id="11" name="Text 9"/>
          <p:cNvSpPr/>
          <p:nvPr/>
        </p:nvSpPr>
        <p:spPr>
          <a:xfrm>
            <a:off x="548640" y="3163824"/>
            <a:ext cx="457200" cy="502920"/>
          </a:xfrm>
          <a:prstGeom prst="rect">
            <a:avLst/>
          </a:prstGeom>
          <a:noFill/>
          <a:ln/>
        </p:spPr>
        <p:txBody>
          <a:bodyPr wrap="square" lIns="0" tIns="0" rIns="0" bIns="0" rtlCol="0" anchor="ctr"/>
          <a:lstStyle/>
          <a:p>
            <a:pPr indent="0" marL="0">
              <a:buNone/>
            </a:pPr>
            <a:r>
              <a:rPr lang="en-US" sz="2600" b="1" dirty="0">
                <a:solidFill>
                  <a:srgbClr val="C2CCD6"/>
                </a:solidFill>
                <a:latin typeface="Calibri" pitchFamily="34" charset="0"/>
                <a:ea typeface="Calibri" pitchFamily="34" charset="-122"/>
                <a:cs typeface="Calibri" pitchFamily="34" charset="-120"/>
              </a:rPr>
              <a:t>3</a:t>
            </a:r>
            <a:endParaRPr lang="en-US" sz="2600" dirty="0"/>
          </a:p>
        </p:txBody>
      </p:sp>
      <p:sp>
        <p:nvSpPr>
          <p:cNvPr id="12" name="Text 10"/>
          <p:cNvSpPr/>
          <p:nvPr/>
        </p:nvSpPr>
        <p:spPr>
          <a:xfrm>
            <a:off x="1188720" y="3218688"/>
            <a:ext cx="7406640" cy="292608"/>
          </a:xfrm>
          <a:prstGeom prst="rect">
            <a:avLst/>
          </a:prstGeom>
          <a:noFill/>
          <a:ln/>
        </p:spPr>
        <p:txBody>
          <a:bodyPr wrap="square" lIns="0" tIns="0" rIns="0" bIns="0" rtlCol="0" anchor="ctr"/>
          <a:lstStyle/>
          <a:p>
            <a:pPr indent="0" marL="0">
              <a:buNone/>
            </a:pPr>
            <a:r>
              <a:rPr lang="en-US" sz="1400" b="1" dirty="0">
                <a:solidFill>
                  <a:srgbClr val="0F2A44"/>
                </a:solidFill>
                <a:latin typeface="Calibri" pitchFamily="34" charset="0"/>
                <a:ea typeface="Calibri" pitchFamily="34" charset="-122"/>
                <a:cs typeface="Calibri" pitchFamily="34" charset="-120"/>
              </a:rPr>
              <a:t>Findings without evidence don't help</a:t>
            </a:r>
            <a:endParaRPr lang="en-US" sz="1400" dirty="0"/>
          </a:p>
        </p:txBody>
      </p:sp>
      <p:sp>
        <p:nvSpPr>
          <p:cNvPr id="13" name="Text 11"/>
          <p:cNvSpPr/>
          <p:nvPr/>
        </p:nvSpPr>
        <p:spPr>
          <a:xfrm>
            <a:off x="1188720" y="3520440"/>
            <a:ext cx="7406640" cy="457200"/>
          </a:xfrm>
          <a:prstGeom prst="rect">
            <a:avLst/>
          </a:prstGeom>
          <a:noFill/>
          <a:ln/>
        </p:spPr>
        <p:txBody>
          <a:bodyPr wrap="square" lIns="0" tIns="0" rIns="0" bIns="0" rtlCol="0" anchor="ctr"/>
          <a:lstStyle/>
          <a:p>
            <a:pPr indent="0" marL="0">
              <a:buNone/>
            </a:pPr>
            <a:r>
              <a:rPr lang="en-US" sz="1150" dirty="0">
                <a:solidFill>
                  <a:srgbClr val="1E293B"/>
                </a:solidFill>
                <a:latin typeface="Calibri" pitchFamily="34" charset="0"/>
                <a:ea typeface="Calibri" pitchFamily="34" charset="-122"/>
                <a:cs typeface="Calibri" pitchFamily="34" charset="-120"/>
              </a:rPr>
              <a:t>Warnings without source snippets, affected services, or remediation guidance get ignored.</a:t>
            </a:r>
            <a:endParaRPr lang="en-US" sz="1150" dirty="0"/>
          </a:p>
        </p:txBody>
      </p:sp>
      <p:sp>
        <p:nvSpPr>
          <p:cNvPr id="14" name="Shape 12"/>
          <p:cNvSpPr/>
          <p:nvPr/>
        </p:nvSpPr>
        <p:spPr>
          <a:xfrm>
            <a:off x="548640" y="4206240"/>
            <a:ext cx="457200" cy="36576"/>
          </a:xfrm>
          <a:prstGeom prst="rect">
            <a:avLst/>
          </a:prstGeom>
          <a:solidFill>
            <a:srgbClr val="0D9488"/>
          </a:solidFill>
          <a:ln w="12700">
            <a:solidFill>
              <a:srgbClr val="0D9488"/>
            </a:solidFill>
            <a:prstDash val="solid"/>
          </a:ln>
        </p:spPr>
      </p:sp>
      <p:sp>
        <p:nvSpPr>
          <p:cNvPr id="15" name="Text 13"/>
          <p:cNvSpPr/>
          <p:nvPr/>
        </p:nvSpPr>
        <p:spPr>
          <a:xfrm>
            <a:off x="548640" y="4315968"/>
            <a:ext cx="8046720" cy="365760"/>
          </a:xfrm>
          <a:prstGeom prst="rect">
            <a:avLst/>
          </a:prstGeom>
          <a:noFill/>
          <a:ln/>
        </p:spPr>
        <p:txBody>
          <a:bodyPr wrap="square" lIns="0" tIns="0" rIns="0" bIns="0" rtlCol="0" anchor="ctr"/>
          <a:lstStyle/>
          <a:p>
            <a:pPr indent="0" marL="0">
              <a:buNone/>
            </a:pPr>
            <a:r>
              <a:rPr lang="en-US" sz="1300" b="1" dirty="0">
                <a:solidFill>
                  <a:srgbClr val="0F2A44"/>
                </a:solidFill>
                <a:latin typeface="Calibri" pitchFamily="34" charset="0"/>
                <a:ea typeface="Calibri" pitchFamily="34" charset="-122"/>
                <a:cs typeface="Calibri" pitchFamily="34" charset="-120"/>
              </a:rPr>
              <a:t>Goal: actionable, evidence-based detection that bridges code and architecture levels</a:t>
            </a:r>
            <a:endParaRPr lang="en-US" sz="1300" dirty="0"/>
          </a:p>
        </p:txBody>
      </p:sp>
      <p:sp>
        <p:nvSpPr>
          <p:cNvPr id="16" name="Text 14"/>
          <p:cNvSpPr/>
          <p:nvPr/>
        </p:nvSpPr>
        <p:spPr>
          <a:xfrm>
            <a:off x="7955280" y="4864608"/>
            <a:ext cx="640080" cy="22860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2 / 15</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56032"/>
            <a:ext cx="8046720" cy="502920"/>
          </a:xfrm>
          <a:prstGeom prst="rect">
            <a:avLst/>
          </a:prstGeom>
          <a:noFill/>
          <a:ln/>
        </p:spPr>
        <p:txBody>
          <a:bodyPr wrap="square" lIns="0" tIns="0" rIns="0" bIns="0" rtlCol="0" anchor="ctr"/>
          <a:lstStyle/>
          <a:p>
            <a:pPr indent="0" marL="0">
              <a:buNone/>
            </a:pPr>
            <a:r>
              <a:rPr lang="en-US" sz="2500" b="1" dirty="0">
                <a:solidFill>
                  <a:srgbClr val="0F2A44"/>
                </a:solidFill>
                <a:latin typeface="Calibri" pitchFamily="34" charset="0"/>
                <a:ea typeface="Calibri" pitchFamily="34" charset="-122"/>
                <a:cs typeface="Calibri" pitchFamily="34" charset="-120"/>
              </a:rPr>
              <a:t>Related work positioning</a:t>
            </a:r>
            <a:endParaRPr lang="en-US" sz="2500" dirty="0"/>
          </a:p>
        </p:txBody>
      </p:sp>
      <p:sp>
        <p:nvSpPr>
          <p:cNvPr id="3" name="Shape 1"/>
          <p:cNvSpPr/>
          <p:nvPr/>
        </p:nvSpPr>
        <p:spPr>
          <a:xfrm>
            <a:off x="548640" y="841248"/>
            <a:ext cx="8046720" cy="13716"/>
          </a:xfrm>
          <a:prstGeom prst="rect">
            <a:avLst/>
          </a:prstGeom>
          <a:solidFill>
            <a:srgbClr val="D8DEE6"/>
          </a:solidFill>
          <a:ln w="12700">
            <a:solidFill>
              <a:srgbClr val="D8DEE6"/>
            </a:solidFill>
            <a:prstDash val="solid"/>
          </a:ln>
        </p:spPr>
      </p:sp>
      <p:sp>
        <p:nvSpPr>
          <p:cNvPr id="4" name="Text 2"/>
          <p:cNvSpPr/>
          <p:nvPr/>
        </p:nvSpPr>
        <p:spPr>
          <a:xfrm>
            <a:off x="548640" y="969264"/>
            <a:ext cx="8046720" cy="310896"/>
          </a:xfrm>
          <a:prstGeom prst="rect">
            <a:avLst/>
          </a:prstGeom>
          <a:noFill/>
          <a:ln/>
        </p:spPr>
        <p:txBody>
          <a:bodyPr wrap="square" lIns="0" tIns="0" rIns="0" bIns="0" rtlCol="0" anchor="ctr"/>
          <a:lstStyle/>
          <a:p>
            <a:pPr indent="0" marL="0">
              <a:buNone/>
            </a:pPr>
            <a:r>
              <a:rPr lang="en-US" sz="1250" i="1" dirty="0">
                <a:solidFill>
                  <a:srgbClr val="64748B"/>
                </a:solidFill>
                <a:latin typeface="Calibri" pitchFamily="34" charset="0"/>
                <a:ea typeface="Calibri" pitchFamily="34" charset="-122"/>
                <a:cs typeface="Calibri" pitchFamily="34" charset="-120"/>
              </a:rPr>
              <a:t>The gap is not detection alone; it is actionable, evidence-based architectural diagnosis</a:t>
            </a:r>
            <a:endParaRPr lang="en-US" sz="1250" dirty="0"/>
          </a:p>
        </p:txBody>
      </p:sp>
      <p:sp>
        <p:nvSpPr>
          <p:cNvPr id="5" name="Text 3"/>
          <p:cNvSpPr/>
          <p:nvPr/>
        </p:nvSpPr>
        <p:spPr>
          <a:xfrm>
            <a:off x="548640" y="1536192"/>
            <a:ext cx="1234440" cy="256032"/>
          </a:xfrm>
          <a:prstGeom prst="rect">
            <a:avLst/>
          </a:prstGeom>
          <a:noFill/>
          <a:ln/>
        </p:spPr>
        <p:txBody>
          <a:bodyPr wrap="square" lIns="0" tIns="0" rIns="0" bIns="0" rtlCol="0" anchor="ctr"/>
          <a:lstStyle/>
          <a:p>
            <a:pPr indent="0" marL="0">
              <a:buNone/>
            </a:pPr>
            <a:r>
              <a:rPr lang="en-US" sz="850" b="1" spc="150" kern="0" dirty="0">
                <a:solidFill>
                  <a:srgbClr val="0F2A44"/>
                </a:solidFill>
                <a:latin typeface="Calibri" pitchFamily="34" charset="0"/>
                <a:ea typeface="Calibri" pitchFamily="34" charset="-122"/>
                <a:cs typeface="Calibri" pitchFamily="34" charset="-120"/>
              </a:rPr>
              <a:t>TOOL</a:t>
            </a:r>
            <a:endParaRPr lang="en-US" sz="850" dirty="0"/>
          </a:p>
        </p:txBody>
      </p:sp>
      <p:sp>
        <p:nvSpPr>
          <p:cNvPr id="6" name="Text 4"/>
          <p:cNvSpPr/>
          <p:nvPr/>
        </p:nvSpPr>
        <p:spPr>
          <a:xfrm>
            <a:off x="1783080" y="1536192"/>
            <a:ext cx="1828800" cy="256032"/>
          </a:xfrm>
          <a:prstGeom prst="rect">
            <a:avLst/>
          </a:prstGeom>
          <a:noFill/>
          <a:ln/>
        </p:spPr>
        <p:txBody>
          <a:bodyPr wrap="square" lIns="0" tIns="0" rIns="0" bIns="0" rtlCol="0" anchor="ctr"/>
          <a:lstStyle/>
          <a:p>
            <a:pPr indent="0" marL="0">
              <a:buNone/>
            </a:pPr>
            <a:r>
              <a:rPr lang="en-US" sz="850" b="1" spc="150" kern="0" dirty="0">
                <a:solidFill>
                  <a:srgbClr val="0F2A44"/>
                </a:solidFill>
                <a:latin typeface="Calibri" pitchFamily="34" charset="0"/>
                <a:ea typeface="Calibri" pitchFamily="34" charset="-122"/>
                <a:cs typeface="Calibri" pitchFamily="34" charset="-120"/>
              </a:rPr>
              <a:t>PRIMARY FOCUS</a:t>
            </a:r>
            <a:endParaRPr lang="en-US" sz="850" dirty="0"/>
          </a:p>
        </p:txBody>
      </p:sp>
      <p:sp>
        <p:nvSpPr>
          <p:cNvPr id="7" name="Text 5"/>
          <p:cNvSpPr/>
          <p:nvPr/>
        </p:nvSpPr>
        <p:spPr>
          <a:xfrm>
            <a:off x="3703320" y="1536192"/>
            <a:ext cx="1600200" cy="256032"/>
          </a:xfrm>
          <a:prstGeom prst="rect">
            <a:avLst/>
          </a:prstGeom>
          <a:noFill/>
          <a:ln/>
        </p:spPr>
        <p:txBody>
          <a:bodyPr wrap="square" lIns="0" tIns="0" rIns="0" bIns="0" rtlCol="0" anchor="ctr"/>
          <a:lstStyle/>
          <a:p>
            <a:pPr indent="0" marL="0">
              <a:buNone/>
            </a:pPr>
            <a:r>
              <a:rPr lang="en-US" sz="850" b="1" spc="150" kern="0" dirty="0">
                <a:solidFill>
                  <a:srgbClr val="0F2A44"/>
                </a:solidFill>
                <a:latin typeface="Calibri" pitchFamily="34" charset="0"/>
                <a:ea typeface="Calibri" pitchFamily="34" charset="-122"/>
                <a:cs typeface="Calibri" pitchFamily="34" charset="-120"/>
              </a:rPr>
              <a:t>SERVICE BOUNDARY</a:t>
            </a:r>
            <a:endParaRPr lang="en-US" sz="850" dirty="0"/>
          </a:p>
        </p:txBody>
      </p:sp>
      <p:sp>
        <p:nvSpPr>
          <p:cNvPr id="8" name="Text 6"/>
          <p:cNvSpPr/>
          <p:nvPr/>
        </p:nvSpPr>
        <p:spPr>
          <a:xfrm>
            <a:off x="5440680" y="1536192"/>
            <a:ext cx="1234440" cy="256032"/>
          </a:xfrm>
          <a:prstGeom prst="rect">
            <a:avLst/>
          </a:prstGeom>
          <a:noFill/>
          <a:ln/>
        </p:spPr>
        <p:txBody>
          <a:bodyPr wrap="square" lIns="0" tIns="0" rIns="0" bIns="0" rtlCol="0" anchor="ctr"/>
          <a:lstStyle/>
          <a:p>
            <a:pPr indent="0" marL="0">
              <a:buNone/>
            </a:pPr>
            <a:r>
              <a:rPr lang="en-US" sz="850" b="1" spc="150" kern="0" dirty="0">
                <a:solidFill>
                  <a:srgbClr val="0F2A44"/>
                </a:solidFill>
                <a:latin typeface="Calibri" pitchFamily="34" charset="0"/>
                <a:ea typeface="Calibri" pitchFamily="34" charset="-122"/>
                <a:cs typeface="Calibri" pitchFamily="34" charset="-120"/>
              </a:rPr>
              <a:t>CODE EVIDENCE</a:t>
            </a:r>
            <a:endParaRPr lang="en-US" sz="850" dirty="0"/>
          </a:p>
        </p:txBody>
      </p:sp>
      <p:sp>
        <p:nvSpPr>
          <p:cNvPr id="9" name="Text 7"/>
          <p:cNvSpPr/>
          <p:nvPr/>
        </p:nvSpPr>
        <p:spPr>
          <a:xfrm>
            <a:off x="6720840" y="1536192"/>
            <a:ext cx="1874520" cy="256032"/>
          </a:xfrm>
          <a:prstGeom prst="rect">
            <a:avLst/>
          </a:prstGeom>
          <a:noFill/>
          <a:ln/>
        </p:spPr>
        <p:txBody>
          <a:bodyPr wrap="square" lIns="0" tIns="0" rIns="0" bIns="0" rtlCol="0" anchor="ctr"/>
          <a:lstStyle/>
          <a:p>
            <a:pPr indent="0" marL="0">
              <a:buNone/>
            </a:pPr>
            <a:r>
              <a:rPr lang="en-US" sz="850" b="1" spc="150" kern="0" dirty="0">
                <a:solidFill>
                  <a:srgbClr val="0F2A44"/>
                </a:solidFill>
                <a:latin typeface="Calibri" pitchFamily="34" charset="0"/>
                <a:ea typeface="Calibri" pitchFamily="34" charset="-122"/>
                <a:cs typeface="Calibri" pitchFamily="34" charset="-120"/>
              </a:rPr>
              <a:t>DEVELOPER OUTPUT</a:t>
            </a:r>
            <a:endParaRPr lang="en-US" sz="850" dirty="0"/>
          </a:p>
        </p:txBody>
      </p:sp>
      <p:sp>
        <p:nvSpPr>
          <p:cNvPr id="10" name="Shape 8"/>
          <p:cNvSpPr/>
          <p:nvPr/>
        </p:nvSpPr>
        <p:spPr>
          <a:xfrm>
            <a:off x="548640" y="1847088"/>
            <a:ext cx="8046720" cy="13716"/>
          </a:xfrm>
          <a:prstGeom prst="rect">
            <a:avLst/>
          </a:prstGeom>
          <a:solidFill>
            <a:srgbClr val="D8DEE6"/>
          </a:solidFill>
          <a:ln w="12700">
            <a:solidFill>
              <a:srgbClr val="D8DEE6"/>
            </a:solidFill>
            <a:prstDash val="solid"/>
          </a:ln>
        </p:spPr>
      </p:sp>
      <p:sp>
        <p:nvSpPr>
          <p:cNvPr id="11" name="Text 9"/>
          <p:cNvSpPr/>
          <p:nvPr/>
        </p:nvSpPr>
        <p:spPr>
          <a:xfrm>
            <a:off x="548640" y="1993392"/>
            <a:ext cx="1234440" cy="384048"/>
          </a:xfrm>
          <a:prstGeom prst="rect">
            <a:avLst/>
          </a:prstGeom>
          <a:noFill/>
          <a:ln/>
        </p:spPr>
        <p:txBody>
          <a:bodyPr wrap="square" lIns="0" tIns="0" rIns="0" bIns="0" rtlCol="0" anchor="ctr">
            <a:normAutofit/>
          </a:bodyPr>
          <a:lstStyle/>
          <a:p>
            <a:pPr indent="0" marL="0">
              <a:buNone/>
            </a:pPr>
            <a:r>
              <a:rPr lang="en-US" sz="1050" b="1" dirty="0">
                <a:solidFill>
                  <a:srgbClr val="1E293B"/>
                </a:solidFill>
                <a:latin typeface="Calibri" pitchFamily="34" charset="0"/>
                <a:ea typeface="Calibri" pitchFamily="34" charset="-122"/>
                <a:cs typeface="Calibri" pitchFamily="34" charset="-120"/>
              </a:rPr>
              <a:t>Arcan</a:t>
            </a:r>
            <a:endParaRPr lang="en-US" sz="1050" dirty="0"/>
          </a:p>
        </p:txBody>
      </p:sp>
      <p:sp>
        <p:nvSpPr>
          <p:cNvPr id="12" name="Text 10"/>
          <p:cNvSpPr/>
          <p:nvPr/>
        </p:nvSpPr>
        <p:spPr>
          <a:xfrm>
            <a:off x="1783080" y="1993392"/>
            <a:ext cx="1828800" cy="384048"/>
          </a:xfrm>
          <a:prstGeom prst="rect">
            <a:avLst/>
          </a:prstGeom>
          <a:noFill/>
          <a:ln/>
        </p:spPr>
        <p:txBody>
          <a:bodyPr wrap="square" lIns="0" tIns="0" rIns="0" bIns="0" rtlCol="0" anchor="ctr">
            <a:normAutofit/>
          </a:bodyPr>
          <a:lstStyle/>
          <a:p>
            <a:pPr indent="0" marL="0">
              <a:buNone/>
            </a:pPr>
            <a:r>
              <a:rPr lang="en-US" sz="950" dirty="0">
                <a:solidFill>
                  <a:srgbClr val="1E293B"/>
                </a:solidFill>
                <a:latin typeface="Calibri" pitchFamily="34" charset="0"/>
                <a:ea typeface="Calibri" pitchFamily="34" charset="-122"/>
                <a:cs typeface="Calibri" pitchFamily="34" charset="-120"/>
              </a:rPr>
              <a:t>Architectural smells</a:t>
            </a:r>
            <a:endParaRPr lang="en-US" sz="950" dirty="0"/>
          </a:p>
        </p:txBody>
      </p:sp>
      <p:sp>
        <p:nvSpPr>
          <p:cNvPr id="13" name="Text 11"/>
          <p:cNvSpPr/>
          <p:nvPr/>
        </p:nvSpPr>
        <p:spPr>
          <a:xfrm>
            <a:off x="3703320" y="1993392"/>
            <a:ext cx="1600200" cy="384048"/>
          </a:xfrm>
          <a:prstGeom prst="rect">
            <a:avLst/>
          </a:prstGeom>
          <a:noFill/>
          <a:ln/>
        </p:spPr>
        <p:txBody>
          <a:bodyPr wrap="square" lIns="0" tIns="0" rIns="0" bIns="0" rtlCol="0" anchor="ctr">
            <a:normAutofit/>
          </a:bodyPr>
          <a:lstStyle/>
          <a:p>
            <a:pPr indent="0" marL="0">
              <a:buNone/>
            </a:pPr>
            <a:r>
              <a:rPr lang="en-US" sz="950" dirty="0">
                <a:solidFill>
                  <a:srgbClr val="1E293B"/>
                </a:solidFill>
                <a:latin typeface="Calibri" pitchFamily="34" charset="0"/>
                <a:ea typeface="Calibri" pitchFamily="34" charset="-122"/>
                <a:cs typeface="Calibri" pitchFamily="34" charset="-120"/>
              </a:rPr>
              <a:t>Manual/system model</a:t>
            </a:r>
            <a:endParaRPr lang="en-US" sz="950" dirty="0"/>
          </a:p>
        </p:txBody>
      </p:sp>
      <p:sp>
        <p:nvSpPr>
          <p:cNvPr id="14" name="Text 12"/>
          <p:cNvSpPr/>
          <p:nvPr/>
        </p:nvSpPr>
        <p:spPr>
          <a:xfrm>
            <a:off x="5440680" y="1993392"/>
            <a:ext cx="1234440" cy="384048"/>
          </a:xfrm>
          <a:prstGeom prst="rect">
            <a:avLst/>
          </a:prstGeom>
          <a:noFill/>
          <a:ln/>
        </p:spPr>
        <p:txBody>
          <a:bodyPr wrap="square" lIns="0" tIns="0" rIns="0" bIns="0" rtlCol="0" anchor="ctr">
            <a:normAutofit/>
          </a:bodyPr>
          <a:lstStyle/>
          <a:p>
            <a:pPr indent="0" marL="0">
              <a:buNone/>
            </a:pPr>
            <a:r>
              <a:rPr lang="en-US" sz="950" dirty="0">
                <a:solidFill>
                  <a:srgbClr val="1E293B"/>
                </a:solidFill>
                <a:latin typeface="Calibri" pitchFamily="34" charset="0"/>
                <a:ea typeface="Calibri" pitchFamily="34" charset="-122"/>
                <a:cs typeface="Calibri" pitchFamily="34" charset="-120"/>
              </a:rPr>
              <a:t>Limited</a:t>
            </a:r>
            <a:endParaRPr lang="en-US" sz="950" dirty="0"/>
          </a:p>
        </p:txBody>
      </p:sp>
      <p:sp>
        <p:nvSpPr>
          <p:cNvPr id="15" name="Text 13"/>
          <p:cNvSpPr/>
          <p:nvPr/>
        </p:nvSpPr>
        <p:spPr>
          <a:xfrm>
            <a:off x="6720840" y="1993392"/>
            <a:ext cx="1874520" cy="384048"/>
          </a:xfrm>
          <a:prstGeom prst="rect">
            <a:avLst/>
          </a:prstGeom>
          <a:noFill/>
          <a:ln/>
        </p:spPr>
        <p:txBody>
          <a:bodyPr wrap="square" lIns="0" tIns="0" rIns="0" bIns="0" rtlCol="0" anchor="ctr">
            <a:normAutofit/>
          </a:bodyPr>
          <a:lstStyle/>
          <a:p>
            <a:pPr indent="0" marL="0">
              <a:buNone/>
            </a:pPr>
            <a:r>
              <a:rPr lang="en-US" sz="950" dirty="0">
                <a:solidFill>
                  <a:srgbClr val="1E293B"/>
                </a:solidFill>
                <a:latin typeface="Calibri" pitchFamily="34" charset="0"/>
                <a:ea typeface="Calibri" pitchFamily="34" charset="-122"/>
                <a:cs typeface="Calibri" pitchFamily="34" charset="-120"/>
              </a:rPr>
              <a:t>Tool output</a:t>
            </a:r>
            <a:endParaRPr lang="en-US" sz="950" dirty="0"/>
          </a:p>
        </p:txBody>
      </p:sp>
      <p:sp>
        <p:nvSpPr>
          <p:cNvPr id="16" name="Shape 14"/>
          <p:cNvSpPr/>
          <p:nvPr/>
        </p:nvSpPr>
        <p:spPr>
          <a:xfrm>
            <a:off x="548640" y="2432304"/>
            <a:ext cx="8046720" cy="9144"/>
          </a:xfrm>
          <a:prstGeom prst="rect">
            <a:avLst/>
          </a:prstGeom>
          <a:solidFill>
            <a:srgbClr val="D8DEE6"/>
          </a:solidFill>
          <a:ln w="12700">
            <a:solidFill>
              <a:srgbClr val="D8DEE6"/>
            </a:solidFill>
            <a:prstDash val="solid"/>
          </a:ln>
        </p:spPr>
      </p:sp>
      <p:sp>
        <p:nvSpPr>
          <p:cNvPr id="17" name="Text 15"/>
          <p:cNvSpPr/>
          <p:nvPr/>
        </p:nvSpPr>
        <p:spPr>
          <a:xfrm>
            <a:off x="548640" y="2523744"/>
            <a:ext cx="1234440" cy="384048"/>
          </a:xfrm>
          <a:prstGeom prst="rect">
            <a:avLst/>
          </a:prstGeom>
          <a:noFill/>
          <a:ln/>
        </p:spPr>
        <p:txBody>
          <a:bodyPr wrap="square" lIns="0" tIns="0" rIns="0" bIns="0" rtlCol="0" anchor="ctr">
            <a:normAutofit/>
          </a:bodyPr>
          <a:lstStyle/>
          <a:p>
            <a:pPr indent="0" marL="0">
              <a:buNone/>
            </a:pPr>
            <a:r>
              <a:rPr lang="en-US" sz="1050" b="1" dirty="0">
                <a:solidFill>
                  <a:srgbClr val="1E293B"/>
                </a:solidFill>
                <a:latin typeface="Calibri" pitchFamily="34" charset="0"/>
                <a:ea typeface="Calibri" pitchFamily="34" charset="-122"/>
                <a:cs typeface="Calibri" pitchFamily="34" charset="-120"/>
              </a:rPr>
              <a:t>MicroART</a:t>
            </a:r>
            <a:endParaRPr lang="en-US" sz="1050" dirty="0"/>
          </a:p>
        </p:txBody>
      </p:sp>
      <p:sp>
        <p:nvSpPr>
          <p:cNvPr id="18" name="Text 16"/>
          <p:cNvSpPr/>
          <p:nvPr/>
        </p:nvSpPr>
        <p:spPr>
          <a:xfrm>
            <a:off x="1783080" y="2523744"/>
            <a:ext cx="1828800" cy="384048"/>
          </a:xfrm>
          <a:prstGeom prst="rect">
            <a:avLst/>
          </a:prstGeom>
          <a:noFill/>
          <a:ln/>
        </p:spPr>
        <p:txBody>
          <a:bodyPr wrap="square" lIns="0" tIns="0" rIns="0" bIns="0" rtlCol="0" anchor="ctr">
            <a:normAutofit/>
          </a:bodyPr>
          <a:lstStyle/>
          <a:p>
            <a:pPr indent="0" marL="0">
              <a:buNone/>
            </a:pPr>
            <a:r>
              <a:rPr lang="en-US" sz="950" dirty="0">
                <a:solidFill>
                  <a:srgbClr val="1E293B"/>
                </a:solidFill>
                <a:latin typeface="Calibri" pitchFamily="34" charset="0"/>
                <a:ea typeface="Calibri" pitchFamily="34" charset="-122"/>
                <a:cs typeface="Calibri" pitchFamily="34" charset="-120"/>
              </a:rPr>
              <a:t>Architecture recovery</a:t>
            </a:r>
            <a:endParaRPr lang="en-US" sz="950" dirty="0"/>
          </a:p>
        </p:txBody>
      </p:sp>
      <p:sp>
        <p:nvSpPr>
          <p:cNvPr id="19" name="Text 17"/>
          <p:cNvSpPr/>
          <p:nvPr/>
        </p:nvSpPr>
        <p:spPr>
          <a:xfrm>
            <a:off x="3703320" y="2523744"/>
            <a:ext cx="1600200" cy="384048"/>
          </a:xfrm>
          <a:prstGeom prst="rect">
            <a:avLst/>
          </a:prstGeom>
          <a:noFill/>
          <a:ln/>
        </p:spPr>
        <p:txBody>
          <a:bodyPr wrap="square" lIns="0" tIns="0" rIns="0" bIns="0" rtlCol="0" anchor="ctr">
            <a:normAutofit/>
          </a:bodyPr>
          <a:lstStyle/>
          <a:p>
            <a:pPr indent="0" marL="0">
              <a:buNone/>
            </a:pPr>
            <a:r>
              <a:rPr lang="en-US" sz="950" dirty="0">
                <a:solidFill>
                  <a:srgbClr val="1E293B"/>
                </a:solidFill>
                <a:latin typeface="Calibri" pitchFamily="34" charset="0"/>
                <a:ea typeface="Calibri" pitchFamily="34" charset="-122"/>
                <a:cs typeface="Calibri" pitchFamily="34" charset="-120"/>
              </a:rPr>
              <a:t>Manual/project metadata</a:t>
            </a:r>
            <a:endParaRPr lang="en-US" sz="950" dirty="0"/>
          </a:p>
        </p:txBody>
      </p:sp>
      <p:sp>
        <p:nvSpPr>
          <p:cNvPr id="20" name="Text 18"/>
          <p:cNvSpPr/>
          <p:nvPr/>
        </p:nvSpPr>
        <p:spPr>
          <a:xfrm>
            <a:off x="5440680" y="2523744"/>
            <a:ext cx="1234440" cy="384048"/>
          </a:xfrm>
          <a:prstGeom prst="rect">
            <a:avLst/>
          </a:prstGeom>
          <a:noFill/>
          <a:ln/>
        </p:spPr>
        <p:txBody>
          <a:bodyPr wrap="square" lIns="0" tIns="0" rIns="0" bIns="0" rtlCol="0" anchor="ctr">
            <a:normAutofit/>
          </a:bodyPr>
          <a:lstStyle/>
          <a:p>
            <a:pPr indent="0" marL="0">
              <a:buNone/>
            </a:pPr>
            <a:r>
              <a:rPr lang="en-US" sz="950" dirty="0">
                <a:solidFill>
                  <a:srgbClr val="1E293B"/>
                </a:solidFill>
                <a:latin typeface="Calibri" pitchFamily="34" charset="0"/>
                <a:ea typeface="Calibri" pitchFamily="34" charset="-122"/>
                <a:cs typeface="Calibri" pitchFamily="34" charset="-120"/>
              </a:rPr>
              <a:t>No</a:t>
            </a:r>
            <a:endParaRPr lang="en-US" sz="950" dirty="0"/>
          </a:p>
        </p:txBody>
      </p:sp>
      <p:sp>
        <p:nvSpPr>
          <p:cNvPr id="21" name="Text 19"/>
          <p:cNvSpPr/>
          <p:nvPr/>
        </p:nvSpPr>
        <p:spPr>
          <a:xfrm>
            <a:off x="6720840" y="2523744"/>
            <a:ext cx="1874520" cy="384048"/>
          </a:xfrm>
          <a:prstGeom prst="rect">
            <a:avLst/>
          </a:prstGeom>
          <a:noFill/>
          <a:ln/>
        </p:spPr>
        <p:txBody>
          <a:bodyPr wrap="square" lIns="0" tIns="0" rIns="0" bIns="0" rtlCol="0" anchor="ctr">
            <a:normAutofit/>
          </a:bodyPr>
          <a:lstStyle/>
          <a:p>
            <a:pPr indent="0" marL="0">
              <a:buNone/>
            </a:pPr>
            <a:r>
              <a:rPr lang="en-US" sz="950" dirty="0">
                <a:solidFill>
                  <a:srgbClr val="1E293B"/>
                </a:solidFill>
                <a:latin typeface="Calibri" pitchFamily="34" charset="0"/>
                <a:ea typeface="Calibri" pitchFamily="34" charset="-122"/>
                <a:cs typeface="Calibri" pitchFamily="34" charset="-120"/>
              </a:rPr>
              <a:t>Visual recovery</a:t>
            </a:r>
            <a:endParaRPr lang="en-US" sz="950" dirty="0"/>
          </a:p>
        </p:txBody>
      </p:sp>
      <p:sp>
        <p:nvSpPr>
          <p:cNvPr id="22" name="Shape 20"/>
          <p:cNvSpPr/>
          <p:nvPr/>
        </p:nvSpPr>
        <p:spPr>
          <a:xfrm>
            <a:off x="548640" y="2962656"/>
            <a:ext cx="8046720" cy="9144"/>
          </a:xfrm>
          <a:prstGeom prst="rect">
            <a:avLst/>
          </a:prstGeom>
          <a:solidFill>
            <a:srgbClr val="D8DEE6"/>
          </a:solidFill>
          <a:ln w="12700">
            <a:solidFill>
              <a:srgbClr val="D8DEE6"/>
            </a:solidFill>
            <a:prstDash val="solid"/>
          </a:ln>
        </p:spPr>
      </p:sp>
      <p:sp>
        <p:nvSpPr>
          <p:cNvPr id="23" name="Text 21"/>
          <p:cNvSpPr/>
          <p:nvPr/>
        </p:nvSpPr>
        <p:spPr>
          <a:xfrm>
            <a:off x="548640" y="3054096"/>
            <a:ext cx="1234440" cy="384048"/>
          </a:xfrm>
          <a:prstGeom prst="rect">
            <a:avLst/>
          </a:prstGeom>
          <a:noFill/>
          <a:ln/>
        </p:spPr>
        <p:txBody>
          <a:bodyPr wrap="square" lIns="0" tIns="0" rIns="0" bIns="0" rtlCol="0" anchor="ctr">
            <a:normAutofit/>
          </a:bodyPr>
          <a:lstStyle/>
          <a:p>
            <a:pPr indent="0" marL="0">
              <a:buNone/>
            </a:pPr>
            <a:r>
              <a:rPr lang="en-US" sz="1050" b="1" dirty="0">
                <a:solidFill>
                  <a:srgbClr val="1E293B"/>
                </a:solidFill>
                <a:latin typeface="Calibri" pitchFamily="34" charset="0"/>
                <a:ea typeface="Calibri" pitchFamily="34" charset="-122"/>
                <a:cs typeface="Calibri" pitchFamily="34" charset="-120"/>
              </a:rPr>
              <a:t>MSANose / MARS</a:t>
            </a:r>
            <a:endParaRPr lang="en-US" sz="1050" dirty="0"/>
          </a:p>
        </p:txBody>
      </p:sp>
      <p:sp>
        <p:nvSpPr>
          <p:cNvPr id="24" name="Text 22"/>
          <p:cNvSpPr/>
          <p:nvPr/>
        </p:nvSpPr>
        <p:spPr>
          <a:xfrm>
            <a:off x="1783080" y="3054096"/>
            <a:ext cx="1828800" cy="384048"/>
          </a:xfrm>
          <a:prstGeom prst="rect">
            <a:avLst/>
          </a:prstGeom>
          <a:noFill/>
          <a:ln/>
        </p:spPr>
        <p:txBody>
          <a:bodyPr wrap="square" lIns="0" tIns="0" rIns="0" bIns="0" rtlCol="0" anchor="ctr">
            <a:normAutofit/>
          </a:bodyPr>
          <a:lstStyle/>
          <a:p>
            <a:pPr indent="0" marL="0">
              <a:buNone/>
            </a:pPr>
            <a:r>
              <a:rPr lang="en-US" sz="950" dirty="0">
                <a:solidFill>
                  <a:srgbClr val="1E293B"/>
                </a:solidFill>
                <a:latin typeface="Calibri" pitchFamily="34" charset="0"/>
                <a:ea typeface="Calibri" pitchFamily="34" charset="-122"/>
                <a:cs typeface="Calibri" pitchFamily="34" charset="-120"/>
              </a:rPr>
              <a:t>Microservice smells</a:t>
            </a:r>
            <a:endParaRPr lang="en-US" sz="950" dirty="0"/>
          </a:p>
        </p:txBody>
      </p:sp>
      <p:sp>
        <p:nvSpPr>
          <p:cNvPr id="25" name="Text 23"/>
          <p:cNvSpPr/>
          <p:nvPr/>
        </p:nvSpPr>
        <p:spPr>
          <a:xfrm>
            <a:off x="3703320" y="3054096"/>
            <a:ext cx="1600200" cy="384048"/>
          </a:xfrm>
          <a:prstGeom prst="rect">
            <a:avLst/>
          </a:prstGeom>
          <a:noFill/>
          <a:ln/>
        </p:spPr>
        <p:txBody>
          <a:bodyPr wrap="square" lIns="0" tIns="0" rIns="0" bIns="0" rtlCol="0" anchor="ctr">
            <a:normAutofit/>
          </a:bodyPr>
          <a:lstStyle/>
          <a:p>
            <a:pPr indent="0" marL="0">
              <a:buNone/>
            </a:pPr>
            <a:r>
              <a:rPr lang="en-US" sz="950" dirty="0">
                <a:solidFill>
                  <a:srgbClr val="1E293B"/>
                </a:solidFill>
                <a:latin typeface="Calibri" pitchFamily="34" charset="0"/>
                <a:ea typeface="Calibri" pitchFamily="34" charset="-122"/>
                <a:cs typeface="Calibri" pitchFamily="34" charset="-120"/>
              </a:rPr>
              <a:t>Varies by tool</a:t>
            </a:r>
            <a:endParaRPr lang="en-US" sz="950" dirty="0"/>
          </a:p>
        </p:txBody>
      </p:sp>
      <p:sp>
        <p:nvSpPr>
          <p:cNvPr id="26" name="Text 24"/>
          <p:cNvSpPr/>
          <p:nvPr/>
        </p:nvSpPr>
        <p:spPr>
          <a:xfrm>
            <a:off x="5440680" y="3054096"/>
            <a:ext cx="1234440" cy="384048"/>
          </a:xfrm>
          <a:prstGeom prst="rect">
            <a:avLst/>
          </a:prstGeom>
          <a:noFill/>
          <a:ln/>
        </p:spPr>
        <p:txBody>
          <a:bodyPr wrap="square" lIns="0" tIns="0" rIns="0" bIns="0" rtlCol="0" anchor="ctr">
            <a:normAutofit/>
          </a:bodyPr>
          <a:lstStyle/>
          <a:p>
            <a:pPr indent="0" marL="0">
              <a:buNone/>
            </a:pPr>
            <a:r>
              <a:rPr lang="en-US" sz="950" dirty="0">
                <a:solidFill>
                  <a:srgbClr val="1E293B"/>
                </a:solidFill>
                <a:latin typeface="Calibri" pitchFamily="34" charset="0"/>
                <a:ea typeface="Calibri" pitchFamily="34" charset="-122"/>
                <a:cs typeface="Calibri" pitchFamily="34" charset="-120"/>
              </a:rPr>
              <a:t>Partial</a:t>
            </a:r>
            <a:endParaRPr lang="en-US" sz="950" dirty="0"/>
          </a:p>
        </p:txBody>
      </p:sp>
      <p:sp>
        <p:nvSpPr>
          <p:cNvPr id="27" name="Text 25"/>
          <p:cNvSpPr/>
          <p:nvPr/>
        </p:nvSpPr>
        <p:spPr>
          <a:xfrm>
            <a:off x="6720840" y="3054096"/>
            <a:ext cx="1874520" cy="384048"/>
          </a:xfrm>
          <a:prstGeom prst="rect">
            <a:avLst/>
          </a:prstGeom>
          <a:noFill/>
          <a:ln/>
        </p:spPr>
        <p:txBody>
          <a:bodyPr wrap="square" lIns="0" tIns="0" rIns="0" bIns="0" rtlCol="0" anchor="ctr">
            <a:normAutofit/>
          </a:bodyPr>
          <a:lstStyle/>
          <a:p>
            <a:pPr indent="0" marL="0">
              <a:buNone/>
            </a:pPr>
            <a:r>
              <a:rPr lang="en-US" sz="950" dirty="0">
                <a:solidFill>
                  <a:srgbClr val="1E293B"/>
                </a:solidFill>
                <a:latin typeface="Calibri" pitchFamily="34" charset="0"/>
                <a:ea typeface="Calibri" pitchFamily="34" charset="-122"/>
                <a:cs typeface="Calibri" pitchFamily="34" charset="-120"/>
              </a:rPr>
              <a:t>Catalogue-driven</a:t>
            </a:r>
            <a:endParaRPr lang="en-US" sz="950" dirty="0"/>
          </a:p>
        </p:txBody>
      </p:sp>
      <p:sp>
        <p:nvSpPr>
          <p:cNvPr id="28" name="Shape 26"/>
          <p:cNvSpPr/>
          <p:nvPr/>
        </p:nvSpPr>
        <p:spPr>
          <a:xfrm>
            <a:off x="548640" y="3493008"/>
            <a:ext cx="8046720" cy="9144"/>
          </a:xfrm>
          <a:prstGeom prst="rect">
            <a:avLst/>
          </a:prstGeom>
          <a:solidFill>
            <a:srgbClr val="D8DEE6"/>
          </a:solidFill>
          <a:ln w="12700">
            <a:solidFill>
              <a:srgbClr val="D8DEE6"/>
            </a:solidFill>
            <a:prstDash val="solid"/>
          </a:ln>
        </p:spPr>
      </p:sp>
      <p:sp>
        <p:nvSpPr>
          <p:cNvPr id="29" name="Shape 27"/>
          <p:cNvSpPr/>
          <p:nvPr/>
        </p:nvSpPr>
        <p:spPr>
          <a:xfrm>
            <a:off x="548640" y="3474720"/>
            <a:ext cx="8046720" cy="32004"/>
          </a:xfrm>
          <a:prstGeom prst="rect">
            <a:avLst/>
          </a:prstGeom>
          <a:solidFill>
            <a:srgbClr val="0D9488"/>
          </a:solidFill>
          <a:ln w="12700">
            <a:solidFill>
              <a:srgbClr val="0D9488"/>
            </a:solidFill>
            <a:prstDash val="solid"/>
          </a:ln>
        </p:spPr>
      </p:sp>
      <p:sp>
        <p:nvSpPr>
          <p:cNvPr id="30" name="Text 28"/>
          <p:cNvSpPr/>
          <p:nvPr/>
        </p:nvSpPr>
        <p:spPr>
          <a:xfrm>
            <a:off x="548640" y="3584448"/>
            <a:ext cx="1234440" cy="384048"/>
          </a:xfrm>
          <a:prstGeom prst="rect">
            <a:avLst/>
          </a:prstGeom>
          <a:noFill/>
          <a:ln/>
        </p:spPr>
        <p:txBody>
          <a:bodyPr wrap="square" lIns="0" tIns="0" rIns="0" bIns="0" rtlCol="0" anchor="ctr">
            <a:normAutofit/>
          </a:bodyPr>
          <a:lstStyle/>
          <a:p>
            <a:pPr indent="0" marL="0">
              <a:buNone/>
            </a:pPr>
            <a:r>
              <a:rPr lang="en-US" sz="1050" b="1" dirty="0">
                <a:solidFill>
                  <a:srgbClr val="0D9488"/>
                </a:solidFill>
                <a:latin typeface="Calibri" pitchFamily="34" charset="0"/>
                <a:ea typeface="Calibri" pitchFamily="34" charset="-122"/>
                <a:cs typeface="Calibri" pitchFamily="34" charset="-120"/>
              </a:rPr>
              <a:t>MSA Detector</a:t>
            </a:r>
            <a:endParaRPr lang="en-US" sz="1050" dirty="0"/>
          </a:p>
        </p:txBody>
      </p:sp>
      <p:sp>
        <p:nvSpPr>
          <p:cNvPr id="31" name="Text 29"/>
          <p:cNvSpPr/>
          <p:nvPr/>
        </p:nvSpPr>
        <p:spPr>
          <a:xfrm>
            <a:off x="1783080" y="3584448"/>
            <a:ext cx="1828800" cy="384048"/>
          </a:xfrm>
          <a:prstGeom prst="rect">
            <a:avLst/>
          </a:prstGeom>
          <a:noFill/>
          <a:ln/>
        </p:spPr>
        <p:txBody>
          <a:bodyPr wrap="square" lIns="0" tIns="0" rIns="0" bIns="0" rtlCol="0" anchor="ctr">
            <a:normAutofit/>
          </a:bodyPr>
          <a:lstStyle/>
          <a:p>
            <a:pPr indent="0" marL="0">
              <a:buNone/>
            </a:pPr>
            <a:r>
              <a:rPr lang="en-US" sz="950" b="1" dirty="0">
                <a:solidFill>
                  <a:srgbClr val="1E293B"/>
                </a:solidFill>
                <a:latin typeface="Calibri" pitchFamily="34" charset="0"/>
                <a:ea typeface="Calibri" pitchFamily="34" charset="-122"/>
                <a:cs typeface="Calibri" pitchFamily="34" charset="-120"/>
              </a:rPr>
              <a:t>Multi-level anti-patterns</a:t>
            </a:r>
            <a:endParaRPr lang="en-US" sz="950" dirty="0"/>
          </a:p>
        </p:txBody>
      </p:sp>
      <p:sp>
        <p:nvSpPr>
          <p:cNvPr id="32" name="Text 30"/>
          <p:cNvSpPr/>
          <p:nvPr/>
        </p:nvSpPr>
        <p:spPr>
          <a:xfrm>
            <a:off x="3703320" y="3584448"/>
            <a:ext cx="1600200" cy="384048"/>
          </a:xfrm>
          <a:prstGeom prst="rect">
            <a:avLst/>
          </a:prstGeom>
          <a:noFill/>
          <a:ln/>
        </p:spPr>
        <p:txBody>
          <a:bodyPr wrap="square" lIns="0" tIns="0" rIns="0" bIns="0" rtlCol="0" anchor="ctr">
            <a:normAutofit/>
          </a:bodyPr>
          <a:lstStyle/>
          <a:p>
            <a:pPr indent="0" marL="0">
              <a:buNone/>
            </a:pPr>
            <a:r>
              <a:rPr lang="en-US" sz="950" b="1" dirty="0">
                <a:solidFill>
                  <a:srgbClr val="1E293B"/>
                </a:solidFill>
                <a:latin typeface="Calibri" pitchFamily="34" charset="0"/>
                <a:ea typeface="Calibri" pitchFamily="34" charset="-122"/>
                <a:cs typeface="Calibri" pitchFamily="34" charset="-120"/>
              </a:rPr>
              <a:t>Automated deployability gate</a:t>
            </a:r>
            <a:endParaRPr lang="en-US" sz="950" dirty="0"/>
          </a:p>
        </p:txBody>
      </p:sp>
      <p:sp>
        <p:nvSpPr>
          <p:cNvPr id="33" name="Text 31"/>
          <p:cNvSpPr/>
          <p:nvPr/>
        </p:nvSpPr>
        <p:spPr>
          <a:xfrm>
            <a:off x="5440680" y="3584448"/>
            <a:ext cx="1234440" cy="384048"/>
          </a:xfrm>
          <a:prstGeom prst="rect">
            <a:avLst/>
          </a:prstGeom>
          <a:noFill/>
          <a:ln/>
        </p:spPr>
        <p:txBody>
          <a:bodyPr wrap="square" lIns="0" tIns="0" rIns="0" bIns="0" rtlCol="0" anchor="ctr">
            <a:normAutofit/>
          </a:bodyPr>
          <a:lstStyle/>
          <a:p>
            <a:pPr indent="0" marL="0">
              <a:buNone/>
            </a:pPr>
            <a:r>
              <a:rPr lang="en-US" sz="950" b="1" dirty="0">
                <a:solidFill>
                  <a:srgbClr val="1E293B"/>
                </a:solidFill>
                <a:latin typeface="Calibri" pitchFamily="34" charset="0"/>
                <a:ea typeface="Calibri" pitchFamily="34" charset="-122"/>
                <a:cs typeface="Calibri" pitchFamily="34" charset="-120"/>
              </a:rPr>
              <a:t>Source snippets</a:t>
            </a:r>
            <a:endParaRPr lang="en-US" sz="950" dirty="0"/>
          </a:p>
        </p:txBody>
      </p:sp>
      <p:sp>
        <p:nvSpPr>
          <p:cNvPr id="34" name="Text 32"/>
          <p:cNvSpPr/>
          <p:nvPr/>
        </p:nvSpPr>
        <p:spPr>
          <a:xfrm>
            <a:off x="6720840" y="3584448"/>
            <a:ext cx="1874520" cy="384048"/>
          </a:xfrm>
          <a:prstGeom prst="rect">
            <a:avLst/>
          </a:prstGeom>
          <a:noFill/>
          <a:ln/>
        </p:spPr>
        <p:txBody>
          <a:bodyPr wrap="square" lIns="0" tIns="0" rIns="0" bIns="0" rtlCol="0" anchor="ctr">
            <a:normAutofit/>
          </a:bodyPr>
          <a:lstStyle/>
          <a:p>
            <a:pPr indent="0" marL="0">
              <a:buNone/>
            </a:pPr>
            <a:r>
              <a:rPr lang="en-US" sz="950" b="1" dirty="0">
                <a:solidFill>
                  <a:srgbClr val="1E293B"/>
                </a:solidFill>
                <a:latin typeface="Calibri" pitchFamily="34" charset="0"/>
                <a:ea typeface="Calibri" pitchFamily="34" charset="-122"/>
                <a:cs typeface="Calibri" pitchFamily="34" charset="-120"/>
              </a:rPr>
              <a:t>Health score + remediation</a:t>
            </a:r>
            <a:endParaRPr lang="en-US" sz="950" dirty="0"/>
          </a:p>
        </p:txBody>
      </p:sp>
      <p:sp>
        <p:nvSpPr>
          <p:cNvPr id="35" name="Shape 33"/>
          <p:cNvSpPr/>
          <p:nvPr/>
        </p:nvSpPr>
        <p:spPr>
          <a:xfrm>
            <a:off x="548640" y="4023360"/>
            <a:ext cx="8046720" cy="9144"/>
          </a:xfrm>
          <a:prstGeom prst="rect">
            <a:avLst/>
          </a:prstGeom>
          <a:solidFill>
            <a:srgbClr val="D8DEE6"/>
          </a:solidFill>
          <a:ln w="12700">
            <a:solidFill>
              <a:srgbClr val="D8DEE6"/>
            </a:solidFill>
            <a:prstDash val="solid"/>
          </a:ln>
        </p:spPr>
      </p:sp>
      <p:sp>
        <p:nvSpPr>
          <p:cNvPr id="36" name="Shape 34"/>
          <p:cNvSpPr/>
          <p:nvPr/>
        </p:nvSpPr>
        <p:spPr>
          <a:xfrm>
            <a:off x="548640" y="4343400"/>
            <a:ext cx="457200" cy="36576"/>
          </a:xfrm>
          <a:prstGeom prst="rect">
            <a:avLst/>
          </a:prstGeom>
          <a:solidFill>
            <a:srgbClr val="0D9488"/>
          </a:solidFill>
          <a:ln w="12700">
            <a:solidFill>
              <a:srgbClr val="0D9488"/>
            </a:solidFill>
            <a:prstDash val="solid"/>
          </a:ln>
        </p:spPr>
      </p:sp>
      <p:sp>
        <p:nvSpPr>
          <p:cNvPr id="37" name="Text 35"/>
          <p:cNvSpPr/>
          <p:nvPr/>
        </p:nvSpPr>
        <p:spPr>
          <a:xfrm>
            <a:off x="548640" y="4462272"/>
            <a:ext cx="8046720" cy="310896"/>
          </a:xfrm>
          <a:prstGeom prst="rect">
            <a:avLst/>
          </a:prstGeom>
          <a:noFill/>
          <a:ln/>
        </p:spPr>
        <p:txBody>
          <a:bodyPr wrap="square" lIns="0" tIns="0" rIns="0" bIns="0" rtlCol="0" anchor="ctr"/>
          <a:lstStyle/>
          <a:p>
            <a:pPr indent="0" marL="0">
              <a:buNone/>
            </a:pPr>
            <a:r>
              <a:rPr lang="en-US" sz="1100" b="1" dirty="0">
                <a:solidFill>
                  <a:srgbClr val="0F2A44"/>
                </a:solidFill>
                <a:latin typeface="Calibri" pitchFamily="34" charset="0"/>
                <a:ea typeface="Calibri" pitchFamily="34" charset="-122"/>
                <a:cs typeface="Calibri" pitchFamily="34" charset="-120"/>
              </a:rPr>
              <a:t>Positioning: combine static code analysis, recovered service dependencies, scoring, and source-level evidence in one workflow.</a:t>
            </a:r>
            <a:endParaRPr lang="en-US" sz="1100" dirty="0"/>
          </a:p>
        </p:txBody>
      </p:sp>
      <p:sp>
        <p:nvSpPr>
          <p:cNvPr id="38" name="Text 36"/>
          <p:cNvSpPr/>
          <p:nvPr/>
        </p:nvSpPr>
        <p:spPr>
          <a:xfrm>
            <a:off x="7955280" y="4864608"/>
            <a:ext cx="640080" cy="22860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3 / 15</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56032"/>
            <a:ext cx="8046720" cy="502920"/>
          </a:xfrm>
          <a:prstGeom prst="rect">
            <a:avLst/>
          </a:prstGeom>
          <a:noFill/>
          <a:ln/>
        </p:spPr>
        <p:txBody>
          <a:bodyPr wrap="square" lIns="0" tIns="0" rIns="0" bIns="0" rtlCol="0" anchor="ctr"/>
          <a:lstStyle/>
          <a:p>
            <a:pPr indent="0" marL="0">
              <a:buNone/>
            </a:pPr>
            <a:r>
              <a:rPr lang="en-US" sz="2500" b="1" dirty="0">
                <a:solidFill>
                  <a:srgbClr val="0F2A44"/>
                </a:solidFill>
                <a:latin typeface="Calibri" pitchFamily="34" charset="0"/>
                <a:ea typeface="Calibri" pitchFamily="34" charset="-122"/>
                <a:cs typeface="Calibri" pitchFamily="34" charset="-120"/>
              </a:rPr>
              <a:t>Objectives &amp; contributions</a:t>
            </a:r>
            <a:endParaRPr lang="en-US" sz="2500" dirty="0"/>
          </a:p>
        </p:txBody>
      </p:sp>
      <p:sp>
        <p:nvSpPr>
          <p:cNvPr id="3" name="Shape 1"/>
          <p:cNvSpPr/>
          <p:nvPr/>
        </p:nvSpPr>
        <p:spPr>
          <a:xfrm>
            <a:off x="548640" y="841248"/>
            <a:ext cx="8046720" cy="13716"/>
          </a:xfrm>
          <a:prstGeom prst="rect">
            <a:avLst/>
          </a:prstGeom>
          <a:solidFill>
            <a:srgbClr val="D8DEE6"/>
          </a:solidFill>
          <a:ln w="12700">
            <a:solidFill>
              <a:srgbClr val="D8DEE6"/>
            </a:solidFill>
            <a:prstDash val="solid"/>
          </a:ln>
        </p:spPr>
      </p:sp>
      <p:sp>
        <p:nvSpPr>
          <p:cNvPr id="4" name="Text 2"/>
          <p:cNvSpPr/>
          <p:nvPr/>
        </p:nvSpPr>
        <p:spPr>
          <a:xfrm>
            <a:off x="548640" y="1005840"/>
            <a:ext cx="411480" cy="365760"/>
          </a:xfrm>
          <a:prstGeom prst="rect">
            <a:avLst/>
          </a:prstGeom>
          <a:noFill/>
          <a:ln/>
        </p:spPr>
        <p:txBody>
          <a:bodyPr wrap="square" lIns="0" tIns="0" rIns="0" bIns="0" rtlCol="0" anchor="ctr"/>
          <a:lstStyle/>
          <a:p>
            <a:pPr indent="0" marL="0">
              <a:buNone/>
            </a:pPr>
            <a:r>
              <a:rPr lang="en-US" sz="1700" b="1" dirty="0">
                <a:solidFill>
                  <a:srgbClr val="0D9488"/>
                </a:solidFill>
                <a:latin typeface="Calibri" pitchFamily="34" charset="0"/>
                <a:ea typeface="Calibri" pitchFamily="34" charset="-122"/>
                <a:cs typeface="Calibri" pitchFamily="34" charset="-120"/>
              </a:rPr>
              <a:t>1</a:t>
            </a:r>
            <a:endParaRPr lang="en-US" sz="1700" dirty="0"/>
          </a:p>
        </p:txBody>
      </p:sp>
      <p:sp>
        <p:nvSpPr>
          <p:cNvPr id="5" name="Text 3"/>
          <p:cNvSpPr/>
          <p:nvPr/>
        </p:nvSpPr>
        <p:spPr>
          <a:xfrm>
            <a:off x="1097280" y="1024128"/>
            <a:ext cx="7498080" cy="292608"/>
          </a:xfrm>
          <a:prstGeom prst="rect">
            <a:avLst/>
          </a:prstGeom>
          <a:noFill/>
          <a:ln/>
        </p:spPr>
        <p:txBody>
          <a:bodyPr wrap="square" lIns="0" tIns="0" rIns="0" bIns="0" rtlCol="0" anchor="ctr"/>
          <a:lstStyle/>
          <a:p>
            <a:pPr indent="0" marL="0">
              <a:buNone/>
            </a:pPr>
            <a:r>
              <a:rPr lang="en-US" sz="1400" b="1" dirty="0">
                <a:solidFill>
                  <a:srgbClr val="0F2A44"/>
                </a:solidFill>
                <a:latin typeface="Calibri" pitchFamily="34" charset="0"/>
                <a:ea typeface="Calibri" pitchFamily="34" charset="-122"/>
                <a:cs typeface="Calibri" pitchFamily="34" charset="-120"/>
              </a:rPr>
              <a:t>Multi-level analysis</a:t>
            </a:r>
            <a:endParaRPr lang="en-US" sz="1400" dirty="0"/>
          </a:p>
        </p:txBody>
      </p:sp>
      <p:sp>
        <p:nvSpPr>
          <p:cNvPr id="6" name="Text 4"/>
          <p:cNvSpPr/>
          <p:nvPr/>
        </p:nvSpPr>
        <p:spPr>
          <a:xfrm>
            <a:off x="1097280" y="1316736"/>
            <a:ext cx="7498080" cy="384048"/>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Combines intra-service code analysis (DesigniteJava smells + Spoon structural metrics) with inter-service dependency analysis (graph algorithms)</a:t>
            </a:r>
            <a:endParaRPr lang="en-US" sz="1100" dirty="0"/>
          </a:p>
        </p:txBody>
      </p:sp>
      <p:sp>
        <p:nvSpPr>
          <p:cNvPr id="7" name="Text 5"/>
          <p:cNvSpPr/>
          <p:nvPr/>
        </p:nvSpPr>
        <p:spPr>
          <a:xfrm>
            <a:off x="548640" y="1700784"/>
            <a:ext cx="411480" cy="365760"/>
          </a:xfrm>
          <a:prstGeom prst="rect">
            <a:avLst/>
          </a:prstGeom>
          <a:noFill/>
          <a:ln/>
        </p:spPr>
        <p:txBody>
          <a:bodyPr wrap="square" lIns="0" tIns="0" rIns="0" bIns="0" rtlCol="0" anchor="ctr"/>
          <a:lstStyle/>
          <a:p>
            <a:pPr indent="0" marL="0">
              <a:buNone/>
            </a:pPr>
            <a:r>
              <a:rPr lang="en-US" sz="1700" b="1" dirty="0">
                <a:solidFill>
                  <a:srgbClr val="0D9488"/>
                </a:solidFill>
                <a:latin typeface="Calibri" pitchFamily="34" charset="0"/>
                <a:ea typeface="Calibri" pitchFamily="34" charset="-122"/>
                <a:cs typeface="Calibri" pitchFamily="34" charset="-120"/>
              </a:rPr>
              <a:t>2</a:t>
            </a:r>
            <a:endParaRPr lang="en-US" sz="1700" dirty="0"/>
          </a:p>
        </p:txBody>
      </p:sp>
      <p:sp>
        <p:nvSpPr>
          <p:cNvPr id="8" name="Text 6"/>
          <p:cNvSpPr/>
          <p:nvPr/>
        </p:nvSpPr>
        <p:spPr>
          <a:xfrm>
            <a:off x="1097280" y="1719072"/>
            <a:ext cx="7498080" cy="292608"/>
          </a:xfrm>
          <a:prstGeom prst="rect">
            <a:avLst/>
          </a:prstGeom>
          <a:noFill/>
          <a:ln/>
        </p:spPr>
        <p:txBody>
          <a:bodyPr wrap="square" lIns="0" tIns="0" rIns="0" bIns="0" rtlCol="0" anchor="ctr"/>
          <a:lstStyle/>
          <a:p>
            <a:pPr indent="0" marL="0">
              <a:buNone/>
            </a:pPr>
            <a:r>
              <a:rPr lang="en-US" sz="1400" b="1" dirty="0">
                <a:solidFill>
                  <a:srgbClr val="0F2A44"/>
                </a:solidFill>
                <a:latin typeface="Calibri" pitchFamily="34" charset="0"/>
                <a:ea typeface="Calibri" pitchFamily="34" charset="-122"/>
                <a:cs typeface="Calibri" pitchFamily="34" charset="-120"/>
              </a:rPr>
              <a:t>Ten anti-patterns detected</a:t>
            </a:r>
            <a:endParaRPr lang="en-US" sz="1400" dirty="0"/>
          </a:p>
        </p:txBody>
      </p:sp>
      <p:sp>
        <p:nvSpPr>
          <p:cNvPr id="9" name="Text 7"/>
          <p:cNvSpPr/>
          <p:nvPr/>
        </p:nvSpPr>
        <p:spPr>
          <a:xfrm>
            <a:off x="1097280" y="2011680"/>
            <a:ext cx="7498080" cy="384048"/>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Across four dimensions: service design, communication, data management, deployment &amp; coupling</a:t>
            </a:r>
            <a:endParaRPr lang="en-US" sz="1100" dirty="0"/>
          </a:p>
        </p:txBody>
      </p:sp>
      <p:sp>
        <p:nvSpPr>
          <p:cNvPr id="10" name="Text 8"/>
          <p:cNvSpPr/>
          <p:nvPr/>
        </p:nvSpPr>
        <p:spPr>
          <a:xfrm>
            <a:off x="548640" y="2395728"/>
            <a:ext cx="411480" cy="365760"/>
          </a:xfrm>
          <a:prstGeom prst="rect">
            <a:avLst/>
          </a:prstGeom>
          <a:noFill/>
          <a:ln/>
        </p:spPr>
        <p:txBody>
          <a:bodyPr wrap="square" lIns="0" tIns="0" rIns="0" bIns="0" rtlCol="0" anchor="ctr"/>
          <a:lstStyle/>
          <a:p>
            <a:pPr indent="0" marL="0">
              <a:buNone/>
            </a:pPr>
            <a:r>
              <a:rPr lang="en-US" sz="1700" b="1" dirty="0">
                <a:solidFill>
                  <a:srgbClr val="0D9488"/>
                </a:solidFill>
                <a:latin typeface="Calibri" pitchFamily="34" charset="0"/>
                <a:ea typeface="Calibri" pitchFamily="34" charset="-122"/>
                <a:cs typeface="Calibri" pitchFamily="34" charset="-120"/>
              </a:rPr>
              <a:t>3</a:t>
            </a:r>
            <a:endParaRPr lang="en-US" sz="1700" dirty="0"/>
          </a:p>
        </p:txBody>
      </p:sp>
      <p:sp>
        <p:nvSpPr>
          <p:cNvPr id="11" name="Text 9"/>
          <p:cNvSpPr/>
          <p:nvPr/>
        </p:nvSpPr>
        <p:spPr>
          <a:xfrm>
            <a:off x="1097280" y="2414016"/>
            <a:ext cx="7498080" cy="292608"/>
          </a:xfrm>
          <a:prstGeom prst="rect">
            <a:avLst/>
          </a:prstGeom>
          <a:noFill/>
          <a:ln/>
        </p:spPr>
        <p:txBody>
          <a:bodyPr wrap="square" lIns="0" tIns="0" rIns="0" bIns="0" rtlCol="0" anchor="ctr"/>
          <a:lstStyle/>
          <a:p>
            <a:pPr indent="0" marL="0">
              <a:buNone/>
            </a:pPr>
            <a:r>
              <a:rPr lang="en-US" sz="1400" b="1" dirty="0">
                <a:solidFill>
                  <a:srgbClr val="0F2A44"/>
                </a:solidFill>
                <a:latin typeface="Calibri" pitchFamily="34" charset="0"/>
                <a:ea typeface="Calibri" pitchFamily="34" charset="-122"/>
                <a:cs typeface="Calibri" pitchFamily="34" charset="-120"/>
              </a:rPr>
              <a:t>Automated boundary detection</a:t>
            </a:r>
            <a:endParaRPr lang="en-US" sz="1400" dirty="0"/>
          </a:p>
        </p:txBody>
      </p:sp>
      <p:sp>
        <p:nvSpPr>
          <p:cNvPr id="12" name="Text 10"/>
          <p:cNvSpPr/>
          <p:nvPr/>
        </p:nvSpPr>
        <p:spPr>
          <a:xfrm>
            <a:off x="1097280" y="2706624"/>
            <a:ext cx="7498080" cy="384048"/>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Three-signal deployability gate (framework entry point, Dockerfile, main method) with confidence levels</a:t>
            </a:r>
            <a:endParaRPr lang="en-US" sz="1100" dirty="0"/>
          </a:p>
        </p:txBody>
      </p:sp>
      <p:sp>
        <p:nvSpPr>
          <p:cNvPr id="13" name="Text 11"/>
          <p:cNvSpPr/>
          <p:nvPr/>
        </p:nvSpPr>
        <p:spPr>
          <a:xfrm>
            <a:off x="548640" y="3090672"/>
            <a:ext cx="411480" cy="365760"/>
          </a:xfrm>
          <a:prstGeom prst="rect">
            <a:avLst/>
          </a:prstGeom>
          <a:noFill/>
          <a:ln/>
        </p:spPr>
        <p:txBody>
          <a:bodyPr wrap="square" lIns="0" tIns="0" rIns="0" bIns="0" rtlCol="0" anchor="ctr"/>
          <a:lstStyle/>
          <a:p>
            <a:pPr indent="0" marL="0">
              <a:buNone/>
            </a:pPr>
            <a:r>
              <a:rPr lang="en-US" sz="1700" b="1" dirty="0">
                <a:solidFill>
                  <a:srgbClr val="0D9488"/>
                </a:solidFill>
                <a:latin typeface="Calibri" pitchFamily="34" charset="0"/>
                <a:ea typeface="Calibri" pitchFamily="34" charset="-122"/>
                <a:cs typeface="Calibri" pitchFamily="34" charset="-120"/>
              </a:rPr>
              <a:t>4</a:t>
            </a:r>
            <a:endParaRPr lang="en-US" sz="1700" dirty="0"/>
          </a:p>
        </p:txBody>
      </p:sp>
      <p:sp>
        <p:nvSpPr>
          <p:cNvPr id="14" name="Text 12"/>
          <p:cNvSpPr/>
          <p:nvPr/>
        </p:nvSpPr>
        <p:spPr>
          <a:xfrm>
            <a:off x="1097280" y="3108960"/>
            <a:ext cx="7498080" cy="292608"/>
          </a:xfrm>
          <a:prstGeom prst="rect">
            <a:avLst/>
          </a:prstGeom>
          <a:noFill/>
          <a:ln/>
        </p:spPr>
        <p:txBody>
          <a:bodyPr wrap="square" lIns="0" tIns="0" rIns="0" bIns="0" rtlCol="0" anchor="ctr"/>
          <a:lstStyle/>
          <a:p>
            <a:pPr indent="0" marL="0">
              <a:buNone/>
            </a:pPr>
            <a:r>
              <a:rPr lang="en-US" sz="1400" b="1" dirty="0">
                <a:solidFill>
                  <a:srgbClr val="0F2A44"/>
                </a:solidFill>
                <a:latin typeface="Calibri" pitchFamily="34" charset="0"/>
                <a:ea typeface="Calibri" pitchFamily="34" charset="-122"/>
                <a:cs typeface="Calibri" pitchFamily="34" charset="-120"/>
              </a:rPr>
              <a:t>Composite health score</a:t>
            </a:r>
            <a:endParaRPr lang="en-US" sz="1400" dirty="0"/>
          </a:p>
        </p:txBody>
      </p:sp>
      <p:sp>
        <p:nvSpPr>
          <p:cNvPr id="15" name="Text 13"/>
          <p:cNvSpPr/>
          <p:nvPr/>
        </p:nvSpPr>
        <p:spPr>
          <a:xfrm>
            <a:off x="1097280" y="3401568"/>
            <a:ext cx="7498080" cy="384048"/>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0–100 with letter grading; decomposes into four interpretable categories; tracks change over time</a:t>
            </a:r>
            <a:endParaRPr lang="en-US" sz="1100" dirty="0"/>
          </a:p>
        </p:txBody>
      </p:sp>
      <p:sp>
        <p:nvSpPr>
          <p:cNvPr id="16" name="Text 14"/>
          <p:cNvSpPr/>
          <p:nvPr/>
        </p:nvSpPr>
        <p:spPr>
          <a:xfrm>
            <a:off x="548640" y="3785616"/>
            <a:ext cx="411480" cy="365760"/>
          </a:xfrm>
          <a:prstGeom prst="rect">
            <a:avLst/>
          </a:prstGeom>
          <a:noFill/>
          <a:ln/>
        </p:spPr>
        <p:txBody>
          <a:bodyPr wrap="square" lIns="0" tIns="0" rIns="0" bIns="0" rtlCol="0" anchor="ctr"/>
          <a:lstStyle/>
          <a:p>
            <a:pPr indent="0" marL="0">
              <a:buNone/>
            </a:pPr>
            <a:r>
              <a:rPr lang="en-US" sz="1700" b="1" dirty="0">
                <a:solidFill>
                  <a:srgbClr val="0D9488"/>
                </a:solidFill>
                <a:latin typeface="Calibri" pitchFamily="34" charset="0"/>
                <a:ea typeface="Calibri" pitchFamily="34" charset="-122"/>
                <a:cs typeface="Calibri" pitchFamily="34" charset="-120"/>
              </a:rPr>
              <a:t>5</a:t>
            </a:r>
            <a:endParaRPr lang="en-US" sz="1700" dirty="0"/>
          </a:p>
        </p:txBody>
      </p:sp>
      <p:sp>
        <p:nvSpPr>
          <p:cNvPr id="17" name="Text 15"/>
          <p:cNvSpPr/>
          <p:nvPr/>
        </p:nvSpPr>
        <p:spPr>
          <a:xfrm>
            <a:off x="1097280" y="3803904"/>
            <a:ext cx="7498080" cy="292608"/>
          </a:xfrm>
          <a:prstGeom prst="rect">
            <a:avLst/>
          </a:prstGeom>
          <a:noFill/>
          <a:ln/>
        </p:spPr>
        <p:txBody>
          <a:bodyPr wrap="square" lIns="0" tIns="0" rIns="0" bIns="0" rtlCol="0" anchor="ctr"/>
          <a:lstStyle/>
          <a:p>
            <a:pPr indent="0" marL="0">
              <a:buNone/>
            </a:pPr>
            <a:r>
              <a:rPr lang="en-US" sz="1400" b="1" dirty="0">
                <a:solidFill>
                  <a:srgbClr val="0F2A44"/>
                </a:solidFill>
                <a:latin typeface="Calibri" pitchFamily="34" charset="0"/>
                <a:ea typeface="Calibri" pitchFamily="34" charset="-122"/>
                <a:cs typeface="Calibri" pitchFamily="34" charset="-120"/>
              </a:rPr>
              <a:t>Evidence-based reporting</a:t>
            </a:r>
            <a:endParaRPr lang="en-US" sz="1400" dirty="0"/>
          </a:p>
        </p:txBody>
      </p:sp>
      <p:sp>
        <p:nvSpPr>
          <p:cNvPr id="18" name="Text 16"/>
          <p:cNvSpPr/>
          <p:nvPr/>
        </p:nvSpPr>
        <p:spPr>
          <a:xfrm>
            <a:off x="1097280" y="4096512"/>
            <a:ext cx="7498080" cy="384048"/>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Every finding includes source snippets, affected services, and remediation guidance</a:t>
            </a:r>
            <a:endParaRPr lang="en-US" sz="1100" dirty="0"/>
          </a:p>
        </p:txBody>
      </p:sp>
      <p:sp>
        <p:nvSpPr>
          <p:cNvPr id="19" name="Text 17"/>
          <p:cNvSpPr/>
          <p:nvPr/>
        </p:nvSpPr>
        <p:spPr>
          <a:xfrm>
            <a:off x="7955280" y="4864608"/>
            <a:ext cx="640080" cy="22860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4 / 15</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56032"/>
            <a:ext cx="8046720" cy="502920"/>
          </a:xfrm>
          <a:prstGeom prst="rect">
            <a:avLst/>
          </a:prstGeom>
          <a:noFill/>
          <a:ln/>
        </p:spPr>
        <p:txBody>
          <a:bodyPr wrap="square" lIns="0" tIns="0" rIns="0" bIns="0" rtlCol="0" anchor="ctr"/>
          <a:lstStyle/>
          <a:p>
            <a:pPr indent="0" marL="0">
              <a:buNone/>
            </a:pPr>
            <a:r>
              <a:rPr lang="en-US" sz="2500" b="1" dirty="0">
                <a:solidFill>
                  <a:srgbClr val="0F2A44"/>
                </a:solidFill>
                <a:latin typeface="Calibri" pitchFamily="34" charset="0"/>
                <a:ea typeface="Calibri" pitchFamily="34" charset="-122"/>
                <a:cs typeface="Calibri" pitchFamily="34" charset="-120"/>
              </a:rPr>
              <a:t>The analysis pipeline</a:t>
            </a:r>
            <a:endParaRPr lang="en-US" sz="2500" dirty="0"/>
          </a:p>
        </p:txBody>
      </p:sp>
      <p:sp>
        <p:nvSpPr>
          <p:cNvPr id="3" name="Shape 1"/>
          <p:cNvSpPr/>
          <p:nvPr/>
        </p:nvSpPr>
        <p:spPr>
          <a:xfrm>
            <a:off x="548640" y="841248"/>
            <a:ext cx="8046720" cy="13716"/>
          </a:xfrm>
          <a:prstGeom prst="rect">
            <a:avLst/>
          </a:prstGeom>
          <a:solidFill>
            <a:srgbClr val="D8DEE6"/>
          </a:solidFill>
          <a:ln w="12700">
            <a:solidFill>
              <a:srgbClr val="D8DEE6"/>
            </a:solidFill>
            <a:prstDash val="solid"/>
          </a:ln>
        </p:spPr>
      </p:sp>
      <p:sp>
        <p:nvSpPr>
          <p:cNvPr id="4" name="Shape 2"/>
          <p:cNvSpPr/>
          <p:nvPr/>
        </p:nvSpPr>
        <p:spPr>
          <a:xfrm>
            <a:off x="548640" y="1051560"/>
            <a:ext cx="1463040" cy="1325880"/>
          </a:xfrm>
          <a:prstGeom prst="rect">
            <a:avLst/>
          </a:prstGeom>
          <a:solidFill>
            <a:srgbClr val="FFFFFF"/>
          </a:solidFill>
          <a:ln w="12700">
            <a:solidFill>
              <a:srgbClr val="D8DEE6"/>
            </a:solidFill>
            <a:prstDash val="solid"/>
          </a:ln>
        </p:spPr>
      </p:sp>
      <p:sp>
        <p:nvSpPr>
          <p:cNvPr id="5" name="Shape 3"/>
          <p:cNvSpPr/>
          <p:nvPr/>
        </p:nvSpPr>
        <p:spPr>
          <a:xfrm>
            <a:off x="548640" y="1051560"/>
            <a:ext cx="1463040" cy="41148"/>
          </a:xfrm>
          <a:prstGeom prst="rect">
            <a:avLst/>
          </a:prstGeom>
          <a:solidFill>
            <a:srgbClr val="0D9488"/>
          </a:solidFill>
          <a:ln w="12700">
            <a:solidFill>
              <a:srgbClr val="0D9488"/>
            </a:solidFill>
            <a:prstDash val="solid"/>
          </a:ln>
        </p:spPr>
      </p:sp>
      <p:sp>
        <p:nvSpPr>
          <p:cNvPr id="6" name="Text 4"/>
          <p:cNvSpPr/>
          <p:nvPr/>
        </p:nvSpPr>
        <p:spPr>
          <a:xfrm>
            <a:off x="658368" y="1161288"/>
            <a:ext cx="457200" cy="228600"/>
          </a:xfrm>
          <a:prstGeom prst="rect">
            <a:avLst/>
          </a:prstGeom>
          <a:noFill/>
          <a:ln/>
        </p:spPr>
        <p:txBody>
          <a:bodyPr wrap="square" lIns="0" tIns="0" rIns="0" bIns="0" rtlCol="0" anchor="ctr"/>
          <a:lstStyle/>
          <a:p>
            <a:pPr indent="0" marL="0">
              <a:buNone/>
            </a:pPr>
            <a:r>
              <a:rPr lang="en-US" sz="1100" b="1" dirty="0">
                <a:solidFill>
                  <a:srgbClr val="0D9488"/>
                </a:solidFill>
                <a:latin typeface="Calibri" pitchFamily="34" charset="0"/>
                <a:ea typeface="Calibri" pitchFamily="34" charset="-122"/>
                <a:cs typeface="Calibri" pitchFamily="34" charset="-120"/>
              </a:rPr>
              <a:t>1</a:t>
            </a:r>
            <a:endParaRPr lang="en-US" sz="1100" dirty="0"/>
          </a:p>
        </p:txBody>
      </p:sp>
      <p:sp>
        <p:nvSpPr>
          <p:cNvPr id="7" name="Text 5"/>
          <p:cNvSpPr/>
          <p:nvPr/>
        </p:nvSpPr>
        <p:spPr>
          <a:xfrm>
            <a:off x="658368" y="1399032"/>
            <a:ext cx="1243584" cy="457200"/>
          </a:xfrm>
          <a:prstGeom prst="rect">
            <a:avLst/>
          </a:prstGeom>
          <a:noFill/>
          <a:ln/>
        </p:spPr>
        <p:txBody>
          <a:bodyPr wrap="square" lIns="0" tIns="0" rIns="0" bIns="0" rtlCol="0" anchor="ctr"/>
          <a:lstStyle/>
          <a:p>
            <a:pPr indent="0" marL="0">
              <a:buNone/>
            </a:pPr>
            <a:r>
              <a:rPr lang="en-US" sz="1250" b="1" dirty="0">
                <a:solidFill>
                  <a:srgbClr val="0F2A44"/>
                </a:solidFill>
                <a:latin typeface="Calibri" pitchFamily="34" charset="0"/>
                <a:ea typeface="Calibri" pitchFamily="34" charset="-122"/>
                <a:cs typeface="Calibri" pitchFamily="34" charset="-120"/>
              </a:rPr>
              <a:t>Ingest</a:t>
            </a:r>
            <a:endParaRPr lang="en-US" sz="1250" dirty="0"/>
          </a:p>
        </p:txBody>
      </p:sp>
      <p:sp>
        <p:nvSpPr>
          <p:cNvPr id="8" name="Text 6"/>
          <p:cNvSpPr/>
          <p:nvPr/>
        </p:nvSpPr>
        <p:spPr>
          <a:xfrm>
            <a:off x="658368" y="1856232"/>
            <a:ext cx="1243584" cy="457200"/>
          </a:xfrm>
          <a:prstGeom prst="rect">
            <a:avLst/>
          </a:prstGeom>
          <a:noFill/>
          <a:ln/>
        </p:spPr>
        <p:txBody>
          <a:bodyPr wrap="square" lIns="0" tIns="0" rIns="0" bIns="0" rtlCol="0" anchor="ctr"/>
          <a:lstStyle/>
          <a:p>
            <a:pPr indent="0" marL="0">
              <a:buNone/>
            </a:pPr>
            <a:r>
              <a:rPr lang="en-US" sz="950" dirty="0">
                <a:solidFill>
                  <a:srgbClr val="64748B"/>
                </a:solidFill>
                <a:latin typeface="Calibri" pitchFamily="34" charset="0"/>
                <a:ea typeface="Calibri" pitchFamily="34" charset="-122"/>
                <a:cs typeface="Calibri" pitchFamily="34" charset="-120"/>
              </a:rPr>
              <a:t>ZIP upload / Git clone</a:t>
            </a:r>
            <a:endParaRPr lang="en-US" sz="950" dirty="0"/>
          </a:p>
        </p:txBody>
      </p:sp>
      <p:sp>
        <p:nvSpPr>
          <p:cNvPr id="9" name="Text 7"/>
          <p:cNvSpPr/>
          <p:nvPr/>
        </p:nvSpPr>
        <p:spPr>
          <a:xfrm>
            <a:off x="2011680" y="1508760"/>
            <a:ext cx="182880" cy="365760"/>
          </a:xfrm>
          <a:prstGeom prst="rect">
            <a:avLst/>
          </a:prstGeom>
          <a:noFill/>
          <a:ln/>
        </p:spPr>
        <p:txBody>
          <a:bodyPr wrap="square" lIns="0" tIns="0" rIns="0" bIns="0" rtlCol="0" anchor="ctr"/>
          <a:lstStyle/>
          <a:p>
            <a:pPr algn="ctr" indent="0" marL="0">
              <a:buNone/>
            </a:pPr>
            <a:r>
              <a:rPr lang="en-US" sz="1400" b="1" dirty="0">
                <a:solidFill>
                  <a:srgbClr val="0D9488"/>
                </a:solidFill>
                <a:latin typeface="Calibri" pitchFamily="34" charset="0"/>
                <a:ea typeface="Calibri" pitchFamily="34" charset="-122"/>
                <a:cs typeface="Calibri" pitchFamily="34" charset="-120"/>
              </a:rPr>
              <a:t>→</a:t>
            </a:r>
            <a:endParaRPr lang="en-US" sz="1400" dirty="0"/>
          </a:p>
        </p:txBody>
      </p:sp>
      <p:sp>
        <p:nvSpPr>
          <p:cNvPr id="10" name="Shape 8"/>
          <p:cNvSpPr/>
          <p:nvPr/>
        </p:nvSpPr>
        <p:spPr>
          <a:xfrm>
            <a:off x="2194560" y="1051560"/>
            <a:ext cx="1463040" cy="1325880"/>
          </a:xfrm>
          <a:prstGeom prst="rect">
            <a:avLst/>
          </a:prstGeom>
          <a:solidFill>
            <a:srgbClr val="FFFFFF"/>
          </a:solidFill>
          <a:ln w="12700">
            <a:solidFill>
              <a:srgbClr val="D8DEE6"/>
            </a:solidFill>
            <a:prstDash val="solid"/>
          </a:ln>
        </p:spPr>
      </p:sp>
      <p:sp>
        <p:nvSpPr>
          <p:cNvPr id="11" name="Shape 9"/>
          <p:cNvSpPr/>
          <p:nvPr/>
        </p:nvSpPr>
        <p:spPr>
          <a:xfrm>
            <a:off x="2194560" y="1051560"/>
            <a:ext cx="1463040" cy="41148"/>
          </a:xfrm>
          <a:prstGeom prst="rect">
            <a:avLst/>
          </a:prstGeom>
          <a:solidFill>
            <a:srgbClr val="0D9488"/>
          </a:solidFill>
          <a:ln w="12700">
            <a:solidFill>
              <a:srgbClr val="0D9488"/>
            </a:solidFill>
            <a:prstDash val="solid"/>
          </a:ln>
        </p:spPr>
      </p:sp>
      <p:sp>
        <p:nvSpPr>
          <p:cNvPr id="12" name="Text 10"/>
          <p:cNvSpPr/>
          <p:nvPr/>
        </p:nvSpPr>
        <p:spPr>
          <a:xfrm>
            <a:off x="2304288" y="1161288"/>
            <a:ext cx="457200" cy="228600"/>
          </a:xfrm>
          <a:prstGeom prst="rect">
            <a:avLst/>
          </a:prstGeom>
          <a:noFill/>
          <a:ln/>
        </p:spPr>
        <p:txBody>
          <a:bodyPr wrap="square" lIns="0" tIns="0" rIns="0" bIns="0" rtlCol="0" anchor="ctr"/>
          <a:lstStyle/>
          <a:p>
            <a:pPr indent="0" marL="0">
              <a:buNone/>
            </a:pPr>
            <a:r>
              <a:rPr lang="en-US" sz="1100" b="1" dirty="0">
                <a:solidFill>
                  <a:srgbClr val="0D9488"/>
                </a:solidFill>
                <a:latin typeface="Calibri" pitchFamily="34" charset="0"/>
                <a:ea typeface="Calibri" pitchFamily="34" charset="-122"/>
                <a:cs typeface="Calibri" pitchFamily="34" charset="-120"/>
              </a:rPr>
              <a:t>2</a:t>
            </a:r>
            <a:endParaRPr lang="en-US" sz="1100" dirty="0"/>
          </a:p>
        </p:txBody>
      </p:sp>
      <p:sp>
        <p:nvSpPr>
          <p:cNvPr id="13" name="Text 11"/>
          <p:cNvSpPr/>
          <p:nvPr/>
        </p:nvSpPr>
        <p:spPr>
          <a:xfrm>
            <a:off x="2304288" y="1399032"/>
            <a:ext cx="1243584" cy="457200"/>
          </a:xfrm>
          <a:prstGeom prst="rect">
            <a:avLst/>
          </a:prstGeom>
          <a:noFill/>
          <a:ln/>
        </p:spPr>
        <p:txBody>
          <a:bodyPr wrap="square" lIns="0" tIns="0" rIns="0" bIns="0" rtlCol="0" anchor="ctr"/>
          <a:lstStyle/>
          <a:p>
            <a:pPr indent="0" marL="0">
              <a:buNone/>
            </a:pPr>
            <a:r>
              <a:rPr lang="en-US" sz="1250" b="1" dirty="0">
                <a:solidFill>
                  <a:srgbClr val="0F2A44"/>
                </a:solidFill>
                <a:latin typeface="Calibri" pitchFamily="34" charset="0"/>
                <a:ea typeface="Calibri" pitchFamily="34" charset="-122"/>
                <a:cs typeface="Calibri" pitchFamily="34" charset="-120"/>
              </a:rPr>
              <a:t>Detect services</a:t>
            </a:r>
            <a:endParaRPr lang="en-US" sz="1250" dirty="0"/>
          </a:p>
        </p:txBody>
      </p:sp>
      <p:sp>
        <p:nvSpPr>
          <p:cNvPr id="14" name="Text 12"/>
          <p:cNvSpPr/>
          <p:nvPr/>
        </p:nvSpPr>
        <p:spPr>
          <a:xfrm>
            <a:off x="2304288" y="1856232"/>
            <a:ext cx="1243584" cy="457200"/>
          </a:xfrm>
          <a:prstGeom prst="rect">
            <a:avLst/>
          </a:prstGeom>
          <a:noFill/>
          <a:ln/>
        </p:spPr>
        <p:txBody>
          <a:bodyPr wrap="square" lIns="0" tIns="0" rIns="0" bIns="0" rtlCol="0" anchor="ctr"/>
          <a:lstStyle/>
          <a:p>
            <a:pPr indent="0" marL="0">
              <a:buNone/>
            </a:pPr>
            <a:r>
              <a:rPr lang="en-US" sz="950" dirty="0">
                <a:solidFill>
                  <a:srgbClr val="64748B"/>
                </a:solidFill>
                <a:latin typeface="Calibri" pitchFamily="34" charset="0"/>
                <a:ea typeface="Calibri" pitchFamily="34" charset="-122"/>
                <a:cs typeface="Calibri" pitchFamily="34" charset="-120"/>
              </a:rPr>
              <a:t>Deployability gate (3 signals)</a:t>
            </a:r>
            <a:endParaRPr lang="en-US" sz="950" dirty="0"/>
          </a:p>
        </p:txBody>
      </p:sp>
      <p:sp>
        <p:nvSpPr>
          <p:cNvPr id="15" name="Text 13"/>
          <p:cNvSpPr/>
          <p:nvPr/>
        </p:nvSpPr>
        <p:spPr>
          <a:xfrm>
            <a:off x="3657600" y="1508760"/>
            <a:ext cx="182880" cy="365760"/>
          </a:xfrm>
          <a:prstGeom prst="rect">
            <a:avLst/>
          </a:prstGeom>
          <a:noFill/>
          <a:ln/>
        </p:spPr>
        <p:txBody>
          <a:bodyPr wrap="square" lIns="0" tIns="0" rIns="0" bIns="0" rtlCol="0" anchor="ctr"/>
          <a:lstStyle/>
          <a:p>
            <a:pPr algn="ctr" indent="0" marL="0">
              <a:buNone/>
            </a:pPr>
            <a:r>
              <a:rPr lang="en-US" sz="1400" b="1" dirty="0">
                <a:solidFill>
                  <a:srgbClr val="0D9488"/>
                </a:solidFill>
                <a:latin typeface="Calibri" pitchFamily="34" charset="0"/>
                <a:ea typeface="Calibri" pitchFamily="34" charset="-122"/>
                <a:cs typeface="Calibri" pitchFamily="34" charset="-120"/>
              </a:rPr>
              <a:t>→</a:t>
            </a:r>
            <a:endParaRPr lang="en-US" sz="1400" dirty="0"/>
          </a:p>
        </p:txBody>
      </p:sp>
      <p:sp>
        <p:nvSpPr>
          <p:cNvPr id="16" name="Shape 14"/>
          <p:cNvSpPr/>
          <p:nvPr/>
        </p:nvSpPr>
        <p:spPr>
          <a:xfrm>
            <a:off x="3840480" y="1051560"/>
            <a:ext cx="1463040" cy="1325880"/>
          </a:xfrm>
          <a:prstGeom prst="rect">
            <a:avLst/>
          </a:prstGeom>
          <a:solidFill>
            <a:srgbClr val="FFFFFF"/>
          </a:solidFill>
          <a:ln w="12700">
            <a:solidFill>
              <a:srgbClr val="D8DEE6"/>
            </a:solidFill>
            <a:prstDash val="solid"/>
          </a:ln>
        </p:spPr>
      </p:sp>
      <p:sp>
        <p:nvSpPr>
          <p:cNvPr id="17" name="Shape 15"/>
          <p:cNvSpPr/>
          <p:nvPr/>
        </p:nvSpPr>
        <p:spPr>
          <a:xfrm>
            <a:off x="3840480" y="1051560"/>
            <a:ext cx="1463040" cy="41148"/>
          </a:xfrm>
          <a:prstGeom prst="rect">
            <a:avLst/>
          </a:prstGeom>
          <a:solidFill>
            <a:srgbClr val="0D9488"/>
          </a:solidFill>
          <a:ln w="12700">
            <a:solidFill>
              <a:srgbClr val="0D9488"/>
            </a:solidFill>
            <a:prstDash val="solid"/>
          </a:ln>
        </p:spPr>
      </p:sp>
      <p:sp>
        <p:nvSpPr>
          <p:cNvPr id="18" name="Text 16"/>
          <p:cNvSpPr/>
          <p:nvPr/>
        </p:nvSpPr>
        <p:spPr>
          <a:xfrm>
            <a:off x="3950208" y="1161288"/>
            <a:ext cx="457200" cy="228600"/>
          </a:xfrm>
          <a:prstGeom prst="rect">
            <a:avLst/>
          </a:prstGeom>
          <a:noFill/>
          <a:ln/>
        </p:spPr>
        <p:txBody>
          <a:bodyPr wrap="square" lIns="0" tIns="0" rIns="0" bIns="0" rtlCol="0" anchor="ctr"/>
          <a:lstStyle/>
          <a:p>
            <a:pPr indent="0" marL="0">
              <a:buNone/>
            </a:pPr>
            <a:r>
              <a:rPr lang="en-US" sz="1100" b="1" dirty="0">
                <a:solidFill>
                  <a:srgbClr val="0D9488"/>
                </a:solidFill>
                <a:latin typeface="Calibri" pitchFamily="34" charset="0"/>
                <a:ea typeface="Calibri" pitchFamily="34" charset="-122"/>
                <a:cs typeface="Calibri" pitchFamily="34" charset="-120"/>
              </a:rPr>
              <a:t>3</a:t>
            </a:r>
            <a:endParaRPr lang="en-US" sz="1100" dirty="0"/>
          </a:p>
        </p:txBody>
      </p:sp>
      <p:sp>
        <p:nvSpPr>
          <p:cNvPr id="19" name="Text 17"/>
          <p:cNvSpPr/>
          <p:nvPr/>
        </p:nvSpPr>
        <p:spPr>
          <a:xfrm>
            <a:off x="3950208" y="1399032"/>
            <a:ext cx="1243584" cy="457200"/>
          </a:xfrm>
          <a:prstGeom prst="rect">
            <a:avLst/>
          </a:prstGeom>
          <a:noFill/>
          <a:ln/>
        </p:spPr>
        <p:txBody>
          <a:bodyPr wrap="square" lIns="0" tIns="0" rIns="0" bIns="0" rtlCol="0" anchor="ctr"/>
          <a:lstStyle/>
          <a:p>
            <a:pPr indent="0" marL="0">
              <a:buNone/>
            </a:pPr>
            <a:r>
              <a:rPr lang="en-US" sz="1250" b="1" dirty="0">
                <a:solidFill>
                  <a:srgbClr val="0F2A44"/>
                </a:solidFill>
                <a:latin typeface="Calibri" pitchFamily="34" charset="0"/>
                <a:ea typeface="Calibri" pitchFamily="34" charset="-122"/>
                <a:cs typeface="Calibri" pitchFamily="34" charset="-120"/>
              </a:rPr>
              <a:t>Intra + inter</a:t>
            </a:r>
            <a:endParaRPr lang="en-US" sz="1250" dirty="0"/>
          </a:p>
        </p:txBody>
      </p:sp>
      <p:sp>
        <p:nvSpPr>
          <p:cNvPr id="20" name="Text 18"/>
          <p:cNvSpPr/>
          <p:nvPr/>
        </p:nvSpPr>
        <p:spPr>
          <a:xfrm>
            <a:off x="3950208" y="1856232"/>
            <a:ext cx="1243584" cy="457200"/>
          </a:xfrm>
          <a:prstGeom prst="rect">
            <a:avLst/>
          </a:prstGeom>
          <a:noFill/>
          <a:ln/>
        </p:spPr>
        <p:txBody>
          <a:bodyPr wrap="square" lIns="0" tIns="0" rIns="0" bIns="0" rtlCol="0" anchor="ctr"/>
          <a:lstStyle/>
          <a:p>
            <a:pPr indent="0" marL="0">
              <a:buNone/>
            </a:pPr>
            <a:r>
              <a:rPr lang="en-US" sz="950" dirty="0">
                <a:solidFill>
                  <a:srgbClr val="64748B"/>
                </a:solidFill>
                <a:latin typeface="Calibri" pitchFamily="34" charset="0"/>
                <a:ea typeface="Calibri" pitchFamily="34" charset="-122"/>
                <a:cs typeface="Calibri" pitchFamily="34" charset="-120"/>
              </a:rPr>
              <a:t>DesigniteJava + Spoon</a:t>
            </a:r>
            <a:endParaRPr lang="en-US" sz="950" dirty="0"/>
          </a:p>
        </p:txBody>
      </p:sp>
      <p:sp>
        <p:nvSpPr>
          <p:cNvPr id="21" name="Text 19"/>
          <p:cNvSpPr/>
          <p:nvPr/>
        </p:nvSpPr>
        <p:spPr>
          <a:xfrm>
            <a:off x="5303520" y="1508760"/>
            <a:ext cx="182880" cy="365760"/>
          </a:xfrm>
          <a:prstGeom prst="rect">
            <a:avLst/>
          </a:prstGeom>
          <a:noFill/>
          <a:ln/>
        </p:spPr>
        <p:txBody>
          <a:bodyPr wrap="square" lIns="0" tIns="0" rIns="0" bIns="0" rtlCol="0" anchor="ctr"/>
          <a:lstStyle/>
          <a:p>
            <a:pPr algn="ctr" indent="0" marL="0">
              <a:buNone/>
            </a:pPr>
            <a:r>
              <a:rPr lang="en-US" sz="1400" b="1" dirty="0">
                <a:solidFill>
                  <a:srgbClr val="0D9488"/>
                </a:solidFill>
                <a:latin typeface="Calibri" pitchFamily="34" charset="0"/>
                <a:ea typeface="Calibri" pitchFamily="34" charset="-122"/>
                <a:cs typeface="Calibri" pitchFamily="34" charset="-120"/>
              </a:rPr>
              <a:t>→</a:t>
            </a:r>
            <a:endParaRPr lang="en-US" sz="1400" dirty="0"/>
          </a:p>
        </p:txBody>
      </p:sp>
      <p:sp>
        <p:nvSpPr>
          <p:cNvPr id="22" name="Shape 20"/>
          <p:cNvSpPr/>
          <p:nvPr/>
        </p:nvSpPr>
        <p:spPr>
          <a:xfrm>
            <a:off x="5486400" y="1051560"/>
            <a:ext cx="1463040" cy="1325880"/>
          </a:xfrm>
          <a:prstGeom prst="rect">
            <a:avLst/>
          </a:prstGeom>
          <a:solidFill>
            <a:srgbClr val="FFFFFF"/>
          </a:solidFill>
          <a:ln w="12700">
            <a:solidFill>
              <a:srgbClr val="D8DEE6"/>
            </a:solidFill>
            <a:prstDash val="solid"/>
          </a:ln>
        </p:spPr>
      </p:sp>
      <p:sp>
        <p:nvSpPr>
          <p:cNvPr id="23" name="Shape 21"/>
          <p:cNvSpPr/>
          <p:nvPr/>
        </p:nvSpPr>
        <p:spPr>
          <a:xfrm>
            <a:off x="5486400" y="1051560"/>
            <a:ext cx="1463040" cy="41148"/>
          </a:xfrm>
          <a:prstGeom prst="rect">
            <a:avLst/>
          </a:prstGeom>
          <a:solidFill>
            <a:srgbClr val="0D9488"/>
          </a:solidFill>
          <a:ln w="12700">
            <a:solidFill>
              <a:srgbClr val="0D9488"/>
            </a:solidFill>
            <a:prstDash val="solid"/>
          </a:ln>
        </p:spPr>
      </p:sp>
      <p:sp>
        <p:nvSpPr>
          <p:cNvPr id="24" name="Text 22"/>
          <p:cNvSpPr/>
          <p:nvPr/>
        </p:nvSpPr>
        <p:spPr>
          <a:xfrm>
            <a:off x="5596128" y="1161288"/>
            <a:ext cx="457200" cy="228600"/>
          </a:xfrm>
          <a:prstGeom prst="rect">
            <a:avLst/>
          </a:prstGeom>
          <a:noFill/>
          <a:ln/>
        </p:spPr>
        <p:txBody>
          <a:bodyPr wrap="square" lIns="0" tIns="0" rIns="0" bIns="0" rtlCol="0" anchor="ctr"/>
          <a:lstStyle/>
          <a:p>
            <a:pPr indent="0" marL="0">
              <a:buNone/>
            </a:pPr>
            <a:r>
              <a:rPr lang="en-US" sz="1100" b="1" dirty="0">
                <a:solidFill>
                  <a:srgbClr val="0D9488"/>
                </a:solidFill>
                <a:latin typeface="Calibri" pitchFamily="34" charset="0"/>
                <a:ea typeface="Calibri" pitchFamily="34" charset="-122"/>
                <a:cs typeface="Calibri" pitchFamily="34" charset="-120"/>
              </a:rPr>
              <a:t>4</a:t>
            </a:r>
            <a:endParaRPr lang="en-US" sz="1100" dirty="0"/>
          </a:p>
        </p:txBody>
      </p:sp>
      <p:sp>
        <p:nvSpPr>
          <p:cNvPr id="25" name="Text 23"/>
          <p:cNvSpPr/>
          <p:nvPr/>
        </p:nvSpPr>
        <p:spPr>
          <a:xfrm>
            <a:off x="5596128" y="1399032"/>
            <a:ext cx="1243584" cy="457200"/>
          </a:xfrm>
          <a:prstGeom prst="rect">
            <a:avLst/>
          </a:prstGeom>
          <a:noFill/>
          <a:ln/>
        </p:spPr>
        <p:txBody>
          <a:bodyPr wrap="square" lIns="0" tIns="0" rIns="0" bIns="0" rtlCol="0" anchor="ctr"/>
          <a:lstStyle/>
          <a:p>
            <a:pPr indent="0" marL="0">
              <a:buNone/>
            </a:pPr>
            <a:r>
              <a:rPr lang="en-US" sz="1250" b="1" dirty="0">
                <a:solidFill>
                  <a:srgbClr val="0F2A44"/>
                </a:solidFill>
                <a:latin typeface="Calibri" pitchFamily="34" charset="0"/>
                <a:ea typeface="Calibri" pitchFamily="34" charset="-122"/>
                <a:cs typeface="Calibri" pitchFamily="34" charset="-120"/>
              </a:rPr>
              <a:t>Detect patterns</a:t>
            </a:r>
            <a:endParaRPr lang="en-US" sz="1250" dirty="0"/>
          </a:p>
        </p:txBody>
      </p:sp>
      <p:sp>
        <p:nvSpPr>
          <p:cNvPr id="26" name="Text 24"/>
          <p:cNvSpPr/>
          <p:nvPr/>
        </p:nvSpPr>
        <p:spPr>
          <a:xfrm>
            <a:off x="5596128" y="1856232"/>
            <a:ext cx="1243584" cy="457200"/>
          </a:xfrm>
          <a:prstGeom prst="rect">
            <a:avLst/>
          </a:prstGeom>
          <a:noFill/>
          <a:ln/>
        </p:spPr>
        <p:txBody>
          <a:bodyPr wrap="square" lIns="0" tIns="0" rIns="0" bIns="0" rtlCol="0" anchor="ctr"/>
          <a:lstStyle/>
          <a:p>
            <a:pPr indent="0" marL="0">
              <a:buNone/>
            </a:pPr>
            <a:r>
              <a:rPr lang="en-US" sz="950" dirty="0">
                <a:solidFill>
                  <a:srgbClr val="64748B"/>
                </a:solidFill>
                <a:latin typeface="Calibri" pitchFamily="34" charset="0"/>
                <a:ea typeface="Calibri" pitchFamily="34" charset="-122"/>
                <a:cs typeface="Calibri" pitchFamily="34" charset="-120"/>
              </a:rPr>
              <a:t>10 detectors (Strategy)</a:t>
            </a:r>
            <a:endParaRPr lang="en-US" sz="950" dirty="0"/>
          </a:p>
        </p:txBody>
      </p:sp>
      <p:sp>
        <p:nvSpPr>
          <p:cNvPr id="27" name="Text 25"/>
          <p:cNvSpPr/>
          <p:nvPr/>
        </p:nvSpPr>
        <p:spPr>
          <a:xfrm>
            <a:off x="6949440" y="1508760"/>
            <a:ext cx="182880" cy="365760"/>
          </a:xfrm>
          <a:prstGeom prst="rect">
            <a:avLst/>
          </a:prstGeom>
          <a:noFill/>
          <a:ln/>
        </p:spPr>
        <p:txBody>
          <a:bodyPr wrap="square" lIns="0" tIns="0" rIns="0" bIns="0" rtlCol="0" anchor="ctr"/>
          <a:lstStyle/>
          <a:p>
            <a:pPr algn="ctr" indent="0" marL="0">
              <a:buNone/>
            </a:pPr>
            <a:r>
              <a:rPr lang="en-US" sz="1400" b="1" dirty="0">
                <a:solidFill>
                  <a:srgbClr val="0D9488"/>
                </a:solidFill>
                <a:latin typeface="Calibri" pitchFamily="34" charset="0"/>
                <a:ea typeface="Calibri" pitchFamily="34" charset="-122"/>
                <a:cs typeface="Calibri" pitchFamily="34" charset="-120"/>
              </a:rPr>
              <a:t>→</a:t>
            </a:r>
            <a:endParaRPr lang="en-US" sz="1400" dirty="0"/>
          </a:p>
        </p:txBody>
      </p:sp>
      <p:sp>
        <p:nvSpPr>
          <p:cNvPr id="28" name="Shape 26"/>
          <p:cNvSpPr/>
          <p:nvPr/>
        </p:nvSpPr>
        <p:spPr>
          <a:xfrm>
            <a:off x="7132320" y="1051560"/>
            <a:ext cx="1463040" cy="1325880"/>
          </a:xfrm>
          <a:prstGeom prst="rect">
            <a:avLst/>
          </a:prstGeom>
          <a:solidFill>
            <a:srgbClr val="FFFFFF"/>
          </a:solidFill>
          <a:ln w="12700">
            <a:solidFill>
              <a:srgbClr val="D8DEE6"/>
            </a:solidFill>
            <a:prstDash val="solid"/>
          </a:ln>
        </p:spPr>
      </p:sp>
      <p:sp>
        <p:nvSpPr>
          <p:cNvPr id="29" name="Shape 27"/>
          <p:cNvSpPr/>
          <p:nvPr/>
        </p:nvSpPr>
        <p:spPr>
          <a:xfrm>
            <a:off x="7132320" y="1051560"/>
            <a:ext cx="1463040" cy="41148"/>
          </a:xfrm>
          <a:prstGeom prst="rect">
            <a:avLst/>
          </a:prstGeom>
          <a:solidFill>
            <a:srgbClr val="0D9488"/>
          </a:solidFill>
          <a:ln w="12700">
            <a:solidFill>
              <a:srgbClr val="0D9488"/>
            </a:solidFill>
            <a:prstDash val="solid"/>
          </a:ln>
        </p:spPr>
      </p:sp>
      <p:sp>
        <p:nvSpPr>
          <p:cNvPr id="30" name="Text 28"/>
          <p:cNvSpPr/>
          <p:nvPr/>
        </p:nvSpPr>
        <p:spPr>
          <a:xfrm>
            <a:off x="7242048" y="1161288"/>
            <a:ext cx="457200" cy="228600"/>
          </a:xfrm>
          <a:prstGeom prst="rect">
            <a:avLst/>
          </a:prstGeom>
          <a:noFill/>
          <a:ln/>
        </p:spPr>
        <p:txBody>
          <a:bodyPr wrap="square" lIns="0" tIns="0" rIns="0" bIns="0" rtlCol="0" anchor="ctr"/>
          <a:lstStyle/>
          <a:p>
            <a:pPr indent="0" marL="0">
              <a:buNone/>
            </a:pPr>
            <a:r>
              <a:rPr lang="en-US" sz="1100" b="1" dirty="0">
                <a:solidFill>
                  <a:srgbClr val="0D9488"/>
                </a:solidFill>
                <a:latin typeface="Calibri" pitchFamily="34" charset="0"/>
                <a:ea typeface="Calibri" pitchFamily="34" charset="-122"/>
                <a:cs typeface="Calibri" pitchFamily="34" charset="-120"/>
              </a:rPr>
              <a:t>5</a:t>
            </a:r>
            <a:endParaRPr lang="en-US" sz="1100" dirty="0"/>
          </a:p>
        </p:txBody>
      </p:sp>
      <p:sp>
        <p:nvSpPr>
          <p:cNvPr id="31" name="Text 29"/>
          <p:cNvSpPr/>
          <p:nvPr/>
        </p:nvSpPr>
        <p:spPr>
          <a:xfrm>
            <a:off x="7242048" y="1399032"/>
            <a:ext cx="1243584" cy="457200"/>
          </a:xfrm>
          <a:prstGeom prst="rect">
            <a:avLst/>
          </a:prstGeom>
          <a:noFill/>
          <a:ln/>
        </p:spPr>
        <p:txBody>
          <a:bodyPr wrap="square" lIns="0" tIns="0" rIns="0" bIns="0" rtlCol="0" anchor="ctr"/>
          <a:lstStyle/>
          <a:p>
            <a:pPr indent="0" marL="0">
              <a:buNone/>
            </a:pPr>
            <a:r>
              <a:rPr lang="en-US" sz="1250" b="1" dirty="0">
                <a:solidFill>
                  <a:srgbClr val="0F2A44"/>
                </a:solidFill>
                <a:latin typeface="Calibri" pitchFamily="34" charset="0"/>
                <a:ea typeface="Calibri" pitchFamily="34" charset="-122"/>
                <a:cs typeface="Calibri" pitchFamily="34" charset="-120"/>
              </a:rPr>
              <a:t>Score &amp; report</a:t>
            </a:r>
            <a:endParaRPr lang="en-US" sz="1250" dirty="0"/>
          </a:p>
        </p:txBody>
      </p:sp>
      <p:sp>
        <p:nvSpPr>
          <p:cNvPr id="32" name="Text 30"/>
          <p:cNvSpPr/>
          <p:nvPr/>
        </p:nvSpPr>
        <p:spPr>
          <a:xfrm>
            <a:off x="7242048" y="1856232"/>
            <a:ext cx="1243584" cy="457200"/>
          </a:xfrm>
          <a:prstGeom prst="rect">
            <a:avLst/>
          </a:prstGeom>
          <a:noFill/>
          <a:ln/>
        </p:spPr>
        <p:txBody>
          <a:bodyPr wrap="square" lIns="0" tIns="0" rIns="0" bIns="0" rtlCol="0" anchor="ctr"/>
          <a:lstStyle/>
          <a:p>
            <a:pPr indent="0" marL="0">
              <a:buNone/>
            </a:pPr>
            <a:r>
              <a:rPr lang="en-US" sz="950" dirty="0">
                <a:solidFill>
                  <a:srgbClr val="64748B"/>
                </a:solidFill>
                <a:latin typeface="Calibri" pitchFamily="34" charset="0"/>
                <a:ea typeface="Calibri" pitchFamily="34" charset="-122"/>
                <a:cs typeface="Calibri" pitchFamily="34" charset="-120"/>
              </a:rPr>
              <a:t>Health score + evidence</a:t>
            </a:r>
            <a:endParaRPr lang="en-US" sz="950" dirty="0"/>
          </a:p>
        </p:txBody>
      </p:sp>
      <p:sp>
        <p:nvSpPr>
          <p:cNvPr id="33" name="Shape 31"/>
          <p:cNvSpPr/>
          <p:nvPr/>
        </p:nvSpPr>
        <p:spPr>
          <a:xfrm>
            <a:off x="548640" y="2743200"/>
            <a:ext cx="457200" cy="36576"/>
          </a:xfrm>
          <a:prstGeom prst="rect">
            <a:avLst/>
          </a:prstGeom>
          <a:solidFill>
            <a:srgbClr val="0D9488"/>
          </a:solidFill>
          <a:ln w="12700">
            <a:solidFill>
              <a:srgbClr val="0D9488"/>
            </a:solidFill>
            <a:prstDash val="solid"/>
          </a:ln>
        </p:spPr>
      </p:sp>
      <p:sp>
        <p:nvSpPr>
          <p:cNvPr id="34" name="Text 32"/>
          <p:cNvSpPr/>
          <p:nvPr/>
        </p:nvSpPr>
        <p:spPr>
          <a:xfrm>
            <a:off x="548640" y="2852928"/>
            <a:ext cx="8046720" cy="292608"/>
          </a:xfrm>
          <a:prstGeom prst="rect">
            <a:avLst/>
          </a:prstGeom>
          <a:noFill/>
          <a:ln/>
        </p:spPr>
        <p:txBody>
          <a:bodyPr wrap="square" lIns="0" tIns="0" rIns="0" bIns="0" rtlCol="0" anchor="ctr"/>
          <a:lstStyle/>
          <a:p>
            <a:pPr indent="0" marL="0">
              <a:buNone/>
            </a:pPr>
            <a:r>
              <a:rPr lang="en-US" sz="1300" b="1" dirty="0">
                <a:solidFill>
                  <a:srgbClr val="0F2A44"/>
                </a:solidFill>
                <a:latin typeface="Calibri" pitchFamily="34" charset="0"/>
                <a:ea typeface="Calibri" pitchFamily="34" charset="-122"/>
                <a:cs typeface="Calibri" pitchFamily="34" charset="-120"/>
              </a:rPr>
              <a:t>Key design choices</a:t>
            </a:r>
            <a:endParaRPr lang="en-US" sz="1300" dirty="0"/>
          </a:p>
        </p:txBody>
      </p:sp>
      <p:sp>
        <p:nvSpPr>
          <p:cNvPr id="35" name="Text 33"/>
          <p:cNvSpPr/>
          <p:nvPr/>
        </p:nvSpPr>
        <p:spPr>
          <a:xfrm>
            <a:off x="731520" y="3200400"/>
            <a:ext cx="7863840" cy="1280160"/>
          </a:xfrm>
          <a:prstGeom prst="rect">
            <a:avLst/>
          </a:prstGeom>
          <a:noFill/>
          <a:ln/>
        </p:spPr>
        <p:txBody>
          <a:bodyPr wrap="square" lIns="0" tIns="0" rIns="0" bIns="0" rtlCol="0" anchor="ctr"/>
          <a:lstStyle/>
          <a:p>
            <a:pPr marL="342900" indent="-342900">
              <a:spcAft>
                <a:spcPts val="500"/>
              </a:spcAft>
              <a:buSzPct val="100000"/>
              <a:buChar char="•"/>
            </a:pPr>
            <a:r>
              <a:rPr lang="en-US" sz="1100" dirty="0">
                <a:solidFill>
                  <a:srgbClr val="1E293B"/>
                </a:solidFill>
                <a:latin typeface="Calibri" pitchFamily="34" charset="0"/>
                <a:ea typeface="Calibri" pitchFamily="34" charset="-122"/>
                <a:cs typeface="Calibri" pitchFamily="34" charset="-120"/>
              </a:rPr>
              <a:t>Async pipeline: long analyses don't block the API; Spring @Async with TransactionSynchronization.afterCommit() ensures consistency</a:t>
            </a:r>
            <a:endParaRPr lang="en-US" sz="1100" dirty="0"/>
          </a:p>
          <a:p>
            <a:pPr marL="342900" indent="-342900">
              <a:spcAft>
                <a:spcPts val="500"/>
              </a:spcAft>
              <a:buSzPct val="100000"/>
              <a:buChar char="•"/>
            </a:pPr>
            <a:r>
              <a:rPr lang="en-US" sz="1100" dirty="0">
                <a:solidFill>
                  <a:srgbClr val="1E293B"/>
                </a:solidFill>
                <a:latin typeface="Calibri" pitchFamily="34" charset="0"/>
                <a:ea typeface="Calibri" pitchFamily="34" charset="-122"/>
                <a:cs typeface="Calibri" pitchFamily="34" charset="-120"/>
              </a:rPr>
              <a:t>Each detector is a Spring @Component implementing AntiPatternDetector; adding a new detector means no orchestrator changes</a:t>
            </a:r>
            <a:endParaRPr lang="en-US" sz="1100" dirty="0"/>
          </a:p>
          <a:p>
            <a:pPr marL="342900" indent="-342900">
              <a:spcAft>
                <a:spcPts val="500"/>
              </a:spcAft>
              <a:buSzPct val="100000"/>
              <a:buChar char="•"/>
            </a:pPr>
            <a:r>
              <a:rPr lang="en-US" sz="1100" dirty="0">
                <a:solidFill>
                  <a:srgbClr val="1E293B"/>
                </a:solidFill>
                <a:latin typeface="Calibri" pitchFamily="34" charset="0"/>
                <a:ea typeface="Calibri" pitchFamily="34" charset="-122"/>
                <a:cs typeface="Calibri" pitchFamily="34" charset="-120"/>
              </a:rPr>
              <a:t>Snippets are extracted and persisted as JSON during analysis, so results survive workspace cleanup</a:t>
            </a:r>
            <a:endParaRPr lang="en-US" sz="1100" dirty="0"/>
          </a:p>
        </p:txBody>
      </p:sp>
      <p:sp>
        <p:nvSpPr>
          <p:cNvPr id="36" name="Text 34"/>
          <p:cNvSpPr/>
          <p:nvPr/>
        </p:nvSpPr>
        <p:spPr>
          <a:xfrm>
            <a:off x="7955280" y="4864608"/>
            <a:ext cx="640080" cy="22860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5 / 15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56032"/>
            <a:ext cx="8046720" cy="502920"/>
          </a:xfrm>
          <a:prstGeom prst="rect">
            <a:avLst/>
          </a:prstGeom>
          <a:noFill/>
          <a:ln/>
        </p:spPr>
        <p:txBody>
          <a:bodyPr wrap="square" lIns="0" tIns="0" rIns="0" bIns="0" rtlCol="0" anchor="ctr"/>
          <a:lstStyle/>
          <a:p>
            <a:pPr indent="0" marL="0">
              <a:buNone/>
            </a:pPr>
            <a:r>
              <a:rPr lang="en-US" sz="2500" b="1" dirty="0">
                <a:solidFill>
                  <a:srgbClr val="0F2A44"/>
                </a:solidFill>
                <a:latin typeface="Calibri" pitchFamily="34" charset="0"/>
                <a:ea typeface="Calibri" pitchFamily="34" charset="-122"/>
                <a:cs typeface="Calibri" pitchFamily="34" charset="-120"/>
              </a:rPr>
              <a:t>Spotlight: God Service detection</a:t>
            </a:r>
            <a:endParaRPr lang="en-US" sz="2500" dirty="0"/>
          </a:p>
        </p:txBody>
      </p:sp>
      <p:sp>
        <p:nvSpPr>
          <p:cNvPr id="3" name="Shape 1"/>
          <p:cNvSpPr/>
          <p:nvPr/>
        </p:nvSpPr>
        <p:spPr>
          <a:xfrm>
            <a:off x="548640" y="841248"/>
            <a:ext cx="8046720" cy="13716"/>
          </a:xfrm>
          <a:prstGeom prst="rect">
            <a:avLst/>
          </a:prstGeom>
          <a:solidFill>
            <a:srgbClr val="D8DEE6"/>
          </a:solidFill>
          <a:ln w="12700">
            <a:solidFill>
              <a:srgbClr val="D8DEE6"/>
            </a:solidFill>
            <a:prstDash val="solid"/>
          </a:ln>
        </p:spPr>
      </p:sp>
      <p:sp>
        <p:nvSpPr>
          <p:cNvPr id="4" name="Text 2"/>
          <p:cNvSpPr/>
          <p:nvPr/>
        </p:nvSpPr>
        <p:spPr>
          <a:xfrm>
            <a:off x="548640" y="987552"/>
            <a:ext cx="3657600" cy="292608"/>
          </a:xfrm>
          <a:prstGeom prst="rect">
            <a:avLst/>
          </a:prstGeom>
          <a:noFill/>
          <a:ln/>
        </p:spPr>
        <p:txBody>
          <a:bodyPr wrap="square" lIns="0" tIns="0" rIns="0" bIns="0" rtlCol="0" anchor="ctr"/>
          <a:lstStyle/>
          <a:p>
            <a:pPr indent="0" marL="0">
              <a:buNone/>
            </a:pPr>
            <a:r>
              <a:rPr lang="en-US" sz="1300" b="1" dirty="0">
                <a:solidFill>
                  <a:srgbClr val="0F2A44"/>
                </a:solidFill>
                <a:latin typeface="Calibri" pitchFamily="34" charset="0"/>
                <a:ea typeface="Calibri" pitchFamily="34" charset="-122"/>
                <a:cs typeface="Calibri" pitchFamily="34" charset="-120"/>
              </a:rPr>
              <a:t>Multi-level bridge in action</a:t>
            </a:r>
            <a:endParaRPr lang="en-US" sz="1300" dirty="0"/>
          </a:p>
        </p:txBody>
      </p:sp>
      <p:sp>
        <p:nvSpPr>
          <p:cNvPr id="5" name="Shape 3"/>
          <p:cNvSpPr/>
          <p:nvPr/>
        </p:nvSpPr>
        <p:spPr>
          <a:xfrm>
            <a:off x="548640" y="1371600"/>
            <a:ext cx="3657600" cy="914400"/>
          </a:xfrm>
          <a:prstGeom prst="rect">
            <a:avLst/>
          </a:prstGeom>
          <a:solidFill>
            <a:srgbClr val="FFFFFF"/>
          </a:solidFill>
          <a:ln w="12700">
            <a:solidFill>
              <a:srgbClr val="D8DEE6"/>
            </a:solidFill>
            <a:prstDash val="solid"/>
          </a:ln>
        </p:spPr>
      </p:sp>
      <p:sp>
        <p:nvSpPr>
          <p:cNvPr id="6" name="Shape 4"/>
          <p:cNvSpPr/>
          <p:nvPr/>
        </p:nvSpPr>
        <p:spPr>
          <a:xfrm>
            <a:off x="548640" y="1371600"/>
            <a:ext cx="41148" cy="914400"/>
          </a:xfrm>
          <a:prstGeom prst="rect">
            <a:avLst/>
          </a:prstGeom>
          <a:solidFill>
            <a:srgbClr val="0F2A44"/>
          </a:solidFill>
          <a:ln w="12700">
            <a:solidFill>
              <a:srgbClr val="0F2A44"/>
            </a:solidFill>
            <a:prstDash val="solid"/>
          </a:ln>
        </p:spPr>
      </p:sp>
      <p:sp>
        <p:nvSpPr>
          <p:cNvPr id="7" name="Text 5"/>
          <p:cNvSpPr/>
          <p:nvPr/>
        </p:nvSpPr>
        <p:spPr>
          <a:xfrm>
            <a:off x="713232" y="1463040"/>
            <a:ext cx="3383280" cy="219456"/>
          </a:xfrm>
          <a:prstGeom prst="rect">
            <a:avLst/>
          </a:prstGeom>
          <a:noFill/>
          <a:ln/>
        </p:spPr>
        <p:txBody>
          <a:bodyPr wrap="square" lIns="0" tIns="0" rIns="0" bIns="0" rtlCol="0" anchor="ctr"/>
          <a:lstStyle/>
          <a:p>
            <a:pPr indent="0" marL="0">
              <a:buNone/>
            </a:pPr>
            <a:r>
              <a:rPr lang="en-US" sz="900" b="1" spc="200" kern="0" dirty="0">
                <a:solidFill>
                  <a:srgbClr val="64748B"/>
                </a:solidFill>
                <a:latin typeface="Calibri" pitchFamily="34" charset="0"/>
                <a:ea typeface="Calibri" pitchFamily="34" charset="-122"/>
                <a:cs typeface="Calibri" pitchFamily="34" charset="-120"/>
              </a:rPr>
              <a:t>CODE LEVEL</a:t>
            </a:r>
            <a:endParaRPr lang="en-US" sz="900" dirty="0"/>
          </a:p>
        </p:txBody>
      </p:sp>
      <p:sp>
        <p:nvSpPr>
          <p:cNvPr id="8" name="Text 6"/>
          <p:cNvSpPr/>
          <p:nvPr/>
        </p:nvSpPr>
        <p:spPr>
          <a:xfrm>
            <a:off x="713232" y="1691640"/>
            <a:ext cx="3383280" cy="274320"/>
          </a:xfrm>
          <a:prstGeom prst="rect">
            <a:avLst/>
          </a:prstGeom>
          <a:noFill/>
          <a:ln/>
        </p:spPr>
        <p:txBody>
          <a:bodyPr wrap="square" lIns="0" tIns="0" rIns="0" bIns="0" rtlCol="0" anchor="ctr"/>
          <a:lstStyle/>
          <a:p>
            <a:pPr indent="0" marL="0">
              <a:buNone/>
            </a:pPr>
            <a:r>
              <a:rPr lang="en-US" sz="1250" b="1" dirty="0">
                <a:solidFill>
                  <a:srgbClr val="1E293B"/>
                </a:solidFill>
                <a:latin typeface="Calibri" pitchFamily="34" charset="0"/>
                <a:ea typeface="Calibri" pitchFamily="34" charset="-122"/>
                <a:cs typeface="Calibri" pitchFamily="34" charset="-120"/>
              </a:rPr>
              <a:t>Structural class metrics (per class)</a:t>
            </a:r>
            <a:endParaRPr lang="en-US" sz="1250" dirty="0"/>
          </a:p>
        </p:txBody>
      </p:sp>
      <p:sp>
        <p:nvSpPr>
          <p:cNvPr id="9" name="Text 7"/>
          <p:cNvSpPr/>
          <p:nvPr/>
        </p:nvSpPr>
        <p:spPr>
          <a:xfrm>
            <a:off x="713232" y="1965960"/>
            <a:ext cx="3383280" cy="274320"/>
          </a:xfrm>
          <a:prstGeom prst="rect">
            <a:avLst/>
          </a:prstGeom>
          <a:noFill/>
          <a:ln/>
        </p:spPr>
        <p:txBody>
          <a:bodyPr wrap="square" lIns="0" tIns="0" rIns="0" bIns="0" rtlCol="0" anchor="ctr"/>
          <a:lstStyle/>
          <a:p>
            <a:pPr indent="0" marL="0">
              <a:buNone/>
            </a:pPr>
            <a:r>
              <a:rPr lang="en-US" sz="1000" i="1" dirty="0">
                <a:solidFill>
                  <a:srgbClr val="64748B"/>
                </a:solidFill>
                <a:latin typeface="Calibri" pitchFamily="34" charset="0"/>
                <a:ea typeface="Calibri" pitchFamily="34" charset="-122"/>
                <a:cs typeface="Calibri" pitchFamily="34" charset="-120"/>
              </a:rPr>
              <a:t>Computed from the Spoon AST: fields, methods, LOC, cohesion</a:t>
            </a:r>
            <a:endParaRPr lang="en-US" sz="1000" dirty="0"/>
          </a:p>
        </p:txBody>
      </p:sp>
      <p:sp>
        <p:nvSpPr>
          <p:cNvPr id="10" name="Shape 8"/>
          <p:cNvSpPr/>
          <p:nvPr/>
        </p:nvSpPr>
        <p:spPr>
          <a:xfrm>
            <a:off x="2377440" y="2359152"/>
            <a:ext cx="0" cy="292608"/>
          </a:xfrm>
          <a:prstGeom prst="line">
            <a:avLst/>
          </a:prstGeom>
          <a:noFill/>
          <a:ln w="28575">
            <a:solidFill>
              <a:srgbClr val="0D9488"/>
            </a:solidFill>
            <a:prstDash val="solid"/>
            <a:tailEnd type="triangle"/>
          </a:ln>
        </p:spPr>
      </p:sp>
      <p:sp>
        <p:nvSpPr>
          <p:cNvPr id="11" name="Shape 9"/>
          <p:cNvSpPr/>
          <p:nvPr/>
        </p:nvSpPr>
        <p:spPr>
          <a:xfrm>
            <a:off x="548640" y="2724912"/>
            <a:ext cx="3657600" cy="914400"/>
          </a:xfrm>
          <a:prstGeom prst="rect">
            <a:avLst/>
          </a:prstGeom>
          <a:solidFill>
            <a:srgbClr val="FFFFFF"/>
          </a:solidFill>
          <a:ln w="12700">
            <a:solidFill>
              <a:srgbClr val="D8DEE6"/>
            </a:solidFill>
            <a:prstDash val="solid"/>
          </a:ln>
        </p:spPr>
      </p:sp>
      <p:sp>
        <p:nvSpPr>
          <p:cNvPr id="12" name="Shape 10"/>
          <p:cNvSpPr/>
          <p:nvPr/>
        </p:nvSpPr>
        <p:spPr>
          <a:xfrm>
            <a:off x="548640" y="2724912"/>
            <a:ext cx="41148" cy="914400"/>
          </a:xfrm>
          <a:prstGeom prst="rect">
            <a:avLst/>
          </a:prstGeom>
          <a:solidFill>
            <a:srgbClr val="0D9488"/>
          </a:solidFill>
          <a:ln w="12700">
            <a:solidFill>
              <a:srgbClr val="0D9488"/>
            </a:solidFill>
            <a:prstDash val="solid"/>
          </a:ln>
        </p:spPr>
      </p:sp>
      <p:sp>
        <p:nvSpPr>
          <p:cNvPr id="13" name="Text 11"/>
          <p:cNvSpPr/>
          <p:nvPr/>
        </p:nvSpPr>
        <p:spPr>
          <a:xfrm>
            <a:off x="713232" y="2816352"/>
            <a:ext cx="3383280" cy="219456"/>
          </a:xfrm>
          <a:prstGeom prst="rect">
            <a:avLst/>
          </a:prstGeom>
          <a:noFill/>
          <a:ln/>
        </p:spPr>
        <p:txBody>
          <a:bodyPr wrap="square" lIns="0" tIns="0" rIns="0" bIns="0" rtlCol="0" anchor="ctr"/>
          <a:lstStyle/>
          <a:p>
            <a:pPr indent="0" marL="0">
              <a:buNone/>
            </a:pPr>
            <a:r>
              <a:rPr lang="en-US" sz="900" b="1" spc="200" kern="0" dirty="0">
                <a:solidFill>
                  <a:srgbClr val="64748B"/>
                </a:solidFill>
                <a:latin typeface="Calibri" pitchFamily="34" charset="0"/>
                <a:ea typeface="Calibri" pitchFamily="34" charset="-122"/>
                <a:cs typeface="Calibri" pitchFamily="34" charset="-120"/>
              </a:rPr>
              <a:t>ARCHITECTURAL LEVEL</a:t>
            </a:r>
            <a:endParaRPr lang="en-US" sz="900" dirty="0"/>
          </a:p>
        </p:txBody>
      </p:sp>
      <p:sp>
        <p:nvSpPr>
          <p:cNvPr id="14" name="Text 12"/>
          <p:cNvSpPr/>
          <p:nvPr/>
        </p:nvSpPr>
        <p:spPr>
          <a:xfrm>
            <a:off x="713232" y="3044952"/>
            <a:ext cx="3383280" cy="274320"/>
          </a:xfrm>
          <a:prstGeom prst="rect">
            <a:avLst/>
          </a:prstGeom>
          <a:noFill/>
          <a:ln/>
        </p:spPr>
        <p:txBody>
          <a:bodyPr wrap="square" lIns="0" tIns="0" rIns="0" bIns="0" rtlCol="0" anchor="ctr"/>
          <a:lstStyle/>
          <a:p>
            <a:pPr indent="0" marL="0">
              <a:buNone/>
            </a:pPr>
            <a:r>
              <a:rPr lang="en-US" sz="1250" b="1" dirty="0">
                <a:solidFill>
                  <a:srgbClr val="1E293B"/>
                </a:solidFill>
                <a:latin typeface="Calibri" pitchFamily="34" charset="0"/>
                <a:ea typeface="Calibri" pitchFamily="34" charset="-122"/>
                <a:cs typeface="Calibri" pitchFamily="34" charset="-120"/>
              </a:rPr>
              <a:t>God Service (per microservice)</a:t>
            </a:r>
            <a:endParaRPr lang="en-US" sz="1250" dirty="0"/>
          </a:p>
        </p:txBody>
      </p:sp>
      <p:sp>
        <p:nvSpPr>
          <p:cNvPr id="15" name="Text 13"/>
          <p:cNvSpPr/>
          <p:nvPr/>
        </p:nvSpPr>
        <p:spPr>
          <a:xfrm>
            <a:off x="713232" y="3319272"/>
            <a:ext cx="3383280" cy="274320"/>
          </a:xfrm>
          <a:prstGeom prst="rect">
            <a:avLst/>
          </a:prstGeom>
          <a:noFill/>
          <a:ln/>
        </p:spPr>
        <p:txBody>
          <a:bodyPr wrap="square" lIns="0" tIns="0" rIns="0" bIns="0" rtlCol="0" anchor="ctr"/>
          <a:lstStyle/>
          <a:p>
            <a:pPr indent="0" marL="0">
              <a:buNone/>
            </a:pPr>
            <a:r>
              <a:rPr lang="en-US" sz="1000" i="1" dirty="0">
                <a:solidFill>
                  <a:srgbClr val="64748B"/>
                </a:solidFill>
                <a:latin typeface="Calibri" pitchFamily="34" charset="0"/>
                <a:ea typeface="Calibri" pitchFamily="34" charset="-122"/>
                <a:cs typeface="Calibri" pitchFamily="34" charset="-120"/>
              </a:rPr>
              <a:t>Flag service if it contains at least one God Class</a:t>
            </a:r>
            <a:endParaRPr lang="en-US" sz="1000" dirty="0"/>
          </a:p>
        </p:txBody>
      </p:sp>
      <p:sp>
        <p:nvSpPr>
          <p:cNvPr id="16" name="Text 14"/>
          <p:cNvSpPr/>
          <p:nvPr/>
        </p:nvSpPr>
        <p:spPr>
          <a:xfrm>
            <a:off x="548640" y="3886200"/>
            <a:ext cx="3657600" cy="320040"/>
          </a:xfrm>
          <a:prstGeom prst="rect">
            <a:avLst/>
          </a:prstGeom>
          <a:noFill/>
          <a:ln/>
        </p:spPr>
        <p:txBody>
          <a:bodyPr wrap="square" lIns="0" tIns="0" rIns="0" bIns="0" rtlCol="0" anchor="ctr"/>
          <a:lstStyle/>
          <a:p>
            <a:pPr indent="0" marL="0">
              <a:buNone/>
            </a:pPr>
            <a:r>
              <a:rPr lang="en-US" sz="1050" i="1" dirty="0">
                <a:solidFill>
                  <a:srgbClr val="64748B"/>
                </a:solidFill>
                <a:latin typeface="Calibri" pitchFamily="34" charset="0"/>
                <a:ea typeface="Calibri" pitchFamily="34" charset="-122"/>
                <a:cs typeface="Calibri" pitchFamily="34" charset="-120"/>
              </a:rPr>
              <a:t>Code-level evidence → architectural-level finding</a:t>
            </a:r>
            <a:endParaRPr lang="en-US" sz="1050" dirty="0"/>
          </a:p>
        </p:txBody>
      </p:sp>
      <p:sp>
        <p:nvSpPr>
          <p:cNvPr id="17" name="Text 15"/>
          <p:cNvSpPr/>
          <p:nvPr/>
        </p:nvSpPr>
        <p:spPr>
          <a:xfrm>
            <a:off x="4754880" y="987552"/>
            <a:ext cx="3840480" cy="292608"/>
          </a:xfrm>
          <a:prstGeom prst="rect">
            <a:avLst/>
          </a:prstGeom>
          <a:noFill/>
          <a:ln/>
        </p:spPr>
        <p:txBody>
          <a:bodyPr wrap="square" lIns="0" tIns="0" rIns="0" bIns="0" rtlCol="0" anchor="ctr"/>
          <a:lstStyle/>
          <a:p>
            <a:pPr indent="0" marL="0">
              <a:buNone/>
            </a:pPr>
            <a:r>
              <a:rPr lang="en-US" sz="1300" b="1" dirty="0">
                <a:solidFill>
                  <a:srgbClr val="0F2A44"/>
                </a:solidFill>
                <a:latin typeface="Calibri" pitchFamily="34" charset="0"/>
                <a:ea typeface="Calibri" pitchFamily="34" charset="-122"/>
                <a:cs typeface="Calibri" pitchFamily="34" charset="-120"/>
              </a:rPr>
              <a:t>Six structural metrics</a:t>
            </a:r>
            <a:endParaRPr lang="en-US" sz="1300" dirty="0"/>
          </a:p>
        </p:txBody>
      </p:sp>
      <p:sp>
        <p:nvSpPr>
          <p:cNvPr id="18" name="Text 16"/>
          <p:cNvSpPr/>
          <p:nvPr/>
        </p:nvSpPr>
        <p:spPr>
          <a:xfrm>
            <a:off x="4754880" y="1316736"/>
            <a:ext cx="3840480" cy="475488"/>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Each non-data class is evaluated against six thresholds computed from its AST:</a:t>
            </a:r>
            <a:endParaRPr lang="en-US" sz="1100" dirty="0"/>
          </a:p>
        </p:txBody>
      </p:sp>
      <p:sp>
        <p:nvSpPr>
          <p:cNvPr id="19" name="Text 17"/>
          <p:cNvSpPr/>
          <p:nvPr/>
        </p:nvSpPr>
        <p:spPr>
          <a:xfrm>
            <a:off x="4846320" y="1828800"/>
            <a:ext cx="3749040" cy="1783080"/>
          </a:xfrm>
          <a:prstGeom prst="rect">
            <a:avLst/>
          </a:prstGeom>
          <a:noFill/>
          <a:ln/>
        </p:spPr>
        <p:txBody>
          <a:bodyPr wrap="square" lIns="0" tIns="0" rIns="0" bIns="0" rtlCol="0" anchor="ctr"/>
          <a:lstStyle/>
          <a:p>
            <a:pPr marL="342900" indent="-342900">
              <a:spcAft>
                <a:spcPts val="300"/>
              </a:spcAft>
              <a:buSzPct val="100000"/>
              <a:buChar char="•"/>
            </a:pPr>
            <a:r>
              <a:rPr lang="en-US" sz="1100" dirty="0">
                <a:solidFill>
                  <a:srgbClr val="1E293B"/>
                </a:solidFill>
                <a:latin typeface="Calibri" pitchFamily="34" charset="0"/>
                <a:ea typeface="Calibri" pitchFamily="34" charset="-122"/>
                <a:cs typeface="Calibri" pitchFamily="34" charset="-120"/>
              </a:rPr>
              <a:t>≥ 25 fields</a:t>
            </a:r>
            <a:endParaRPr lang="en-US" sz="1100" dirty="0"/>
          </a:p>
          <a:p>
            <a:pPr marL="342900" indent="-342900">
              <a:spcAft>
                <a:spcPts val="300"/>
              </a:spcAft>
              <a:buSzPct val="100000"/>
              <a:buChar char="•"/>
            </a:pPr>
            <a:r>
              <a:rPr lang="en-US" sz="1100" dirty="0">
                <a:solidFill>
                  <a:srgbClr val="1E293B"/>
                </a:solidFill>
                <a:latin typeface="Calibri" pitchFamily="34" charset="0"/>
                <a:ea typeface="Calibri" pitchFamily="34" charset="-122"/>
                <a:cs typeface="Calibri" pitchFamily="34" charset="-120"/>
              </a:rPr>
              <a:t>≥ 30 public methods</a:t>
            </a:r>
            <a:endParaRPr lang="en-US" sz="1100" dirty="0"/>
          </a:p>
          <a:p>
            <a:pPr marL="342900" indent="-342900">
              <a:spcAft>
                <a:spcPts val="300"/>
              </a:spcAft>
              <a:buSzPct val="100000"/>
              <a:buChar char="•"/>
            </a:pPr>
            <a:r>
              <a:rPr lang="en-US" sz="1100" dirty="0">
                <a:solidFill>
                  <a:srgbClr val="1E293B"/>
                </a:solidFill>
                <a:latin typeface="Calibri" pitchFamily="34" charset="0"/>
                <a:ea typeface="Calibri" pitchFamily="34" charset="-122"/>
                <a:cs typeface="Calibri" pitchFamily="34" charset="-120"/>
              </a:rPr>
              <a:t>≥ 1000 lines of code</a:t>
            </a:r>
            <a:endParaRPr lang="en-US" sz="1100" dirty="0"/>
          </a:p>
          <a:p>
            <a:pPr marL="342900" indent="-342900">
              <a:spcAft>
                <a:spcPts val="300"/>
              </a:spcAft>
              <a:buSzPct val="100000"/>
              <a:buChar char="•"/>
            </a:pPr>
            <a:r>
              <a:rPr lang="en-US" sz="1100" dirty="0">
                <a:solidFill>
                  <a:srgbClr val="1E293B"/>
                </a:solidFill>
                <a:latin typeface="Calibri" pitchFamily="34" charset="0"/>
                <a:ea typeface="Calibri" pitchFamily="34" charset="-122"/>
                <a:cs typeface="Calibri" pitchFamily="34" charset="-120"/>
              </a:rPr>
              <a:t>≥ 20 distinct import domains</a:t>
            </a:r>
            <a:endParaRPr lang="en-US" sz="1100" dirty="0"/>
          </a:p>
          <a:p>
            <a:pPr marL="342900" indent="-342900">
              <a:spcAft>
                <a:spcPts val="300"/>
              </a:spcAft>
              <a:buSzPct val="100000"/>
              <a:buChar char="•"/>
            </a:pPr>
            <a:r>
              <a:rPr lang="en-US" sz="1100" dirty="0">
                <a:solidFill>
                  <a:srgbClr val="1E293B"/>
                </a:solidFill>
                <a:latin typeface="Calibri" pitchFamily="34" charset="0"/>
                <a:ea typeface="Calibri" pitchFamily="34" charset="-122"/>
                <a:cs typeface="Calibri" pitchFamily="34" charset="-120"/>
              </a:rPr>
              <a:t>≥ 12 constructor parameters</a:t>
            </a:r>
            <a:endParaRPr lang="en-US" sz="1100" dirty="0"/>
          </a:p>
          <a:p>
            <a:pPr marL="342900" indent="-342900">
              <a:spcAft>
                <a:spcPts val="300"/>
              </a:spcAft>
              <a:buSzPct val="100000"/>
              <a:buChar char="•"/>
            </a:pPr>
            <a:r>
              <a:rPr lang="en-US" sz="1100" dirty="0">
                <a:solidFill>
                  <a:srgbClr val="1E293B"/>
                </a:solidFill>
                <a:latin typeface="Calibri" pitchFamily="34" charset="0"/>
                <a:ea typeface="Calibri" pitchFamily="34" charset="-122"/>
                <a:cs typeface="Calibri" pitchFamily="34" charset="-120"/>
              </a:rPr>
              <a:t>TCC &lt; 0.5  (Bieman &amp; Kang, 1995)</a:t>
            </a:r>
            <a:endParaRPr lang="en-US" sz="1100" dirty="0"/>
          </a:p>
        </p:txBody>
      </p:sp>
      <p:sp>
        <p:nvSpPr>
          <p:cNvPr id="20" name="Shape 18"/>
          <p:cNvSpPr/>
          <p:nvPr/>
        </p:nvSpPr>
        <p:spPr>
          <a:xfrm>
            <a:off x="4754880" y="3767328"/>
            <a:ext cx="457200" cy="36576"/>
          </a:xfrm>
          <a:prstGeom prst="rect">
            <a:avLst/>
          </a:prstGeom>
          <a:solidFill>
            <a:srgbClr val="0D9488"/>
          </a:solidFill>
          <a:ln w="12700">
            <a:solidFill>
              <a:srgbClr val="0D9488"/>
            </a:solidFill>
            <a:prstDash val="solid"/>
          </a:ln>
        </p:spPr>
      </p:sp>
      <p:sp>
        <p:nvSpPr>
          <p:cNvPr id="21" name="Text 19"/>
          <p:cNvSpPr/>
          <p:nvPr/>
        </p:nvSpPr>
        <p:spPr>
          <a:xfrm>
            <a:off x="4754880" y="3886200"/>
            <a:ext cx="3840480" cy="457200"/>
          </a:xfrm>
          <a:prstGeom prst="rect">
            <a:avLst/>
          </a:prstGeom>
          <a:noFill/>
          <a:ln/>
        </p:spPr>
        <p:txBody>
          <a:bodyPr wrap="square" lIns="0" tIns="0" rIns="0" bIns="0" rtlCol="0" anchor="ctr"/>
          <a:lstStyle/>
          <a:p>
            <a:pPr indent="0" marL="0">
              <a:buNone/>
            </a:pPr>
            <a:r>
              <a:rPr lang="en-US" sz="1150" b="1" dirty="0">
                <a:solidFill>
                  <a:srgbClr val="0F2A44"/>
                </a:solidFill>
                <a:latin typeface="Calibri" pitchFamily="34" charset="0"/>
                <a:ea typeface="Calibri" pitchFamily="34" charset="-122"/>
                <a:cs typeface="Calibri" pitchFamily="34" charset="-120"/>
              </a:rPr>
              <a:t>Flag class as God Class if ≥ 3 of 6 thresholds are exceeded</a:t>
            </a:r>
            <a:endParaRPr lang="en-US" sz="1150" dirty="0"/>
          </a:p>
        </p:txBody>
      </p:sp>
      <p:sp>
        <p:nvSpPr>
          <p:cNvPr id="22" name="Text 20"/>
          <p:cNvSpPr/>
          <p:nvPr/>
        </p:nvSpPr>
        <p:spPr>
          <a:xfrm>
            <a:off x="7955280" y="4864608"/>
            <a:ext cx="640080" cy="22860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6 / 15</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56032"/>
            <a:ext cx="8046720" cy="502920"/>
          </a:xfrm>
          <a:prstGeom prst="rect">
            <a:avLst/>
          </a:prstGeom>
          <a:noFill/>
          <a:ln/>
        </p:spPr>
        <p:txBody>
          <a:bodyPr wrap="square" lIns="0" tIns="0" rIns="0" bIns="0" rtlCol="0" anchor="ctr"/>
          <a:lstStyle/>
          <a:p>
            <a:pPr indent="0" marL="0">
              <a:buNone/>
            </a:pPr>
            <a:r>
              <a:rPr lang="en-US" sz="2500" b="1" dirty="0">
                <a:solidFill>
                  <a:srgbClr val="0F2A44"/>
                </a:solidFill>
                <a:latin typeface="Calibri" pitchFamily="34" charset="0"/>
                <a:ea typeface="Calibri" pitchFamily="34" charset="-122"/>
                <a:cs typeface="Calibri" pitchFamily="34" charset="-120"/>
              </a:rPr>
              <a:t>Ten detectors across four dimensions</a:t>
            </a:r>
            <a:endParaRPr lang="en-US" sz="2500" dirty="0"/>
          </a:p>
        </p:txBody>
      </p:sp>
      <p:sp>
        <p:nvSpPr>
          <p:cNvPr id="3" name="Shape 1"/>
          <p:cNvSpPr/>
          <p:nvPr/>
        </p:nvSpPr>
        <p:spPr>
          <a:xfrm>
            <a:off x="548640" y="841248"/>
            <a:ext cx="8046720" cy="13716"/>
          </a:xfrm>
          <a:prstGeom prst="rect">
            <a:avLst/>
          </a:prstGeom>
          <a:solidFill>
            <a:srgbClr val="D8DEE6"/>
          </a:solidFill>
          <a:ln w="12700">
            <a:solidFill>
              <a:srgbClr val="D8DEE6"/>
            </a:solidFill>
            <a:prstDash val="solid"/>
          </a:ln>
        </p:spPr>
      </p:sp>
      <p:sp>
        <p:nvSpPr>
          <p:cNvPr id="4" name="Text 2"/>
          <p:cNvSpPr/>
          <p:nvPr/>
        </p:nvSpPr>
        <p:spPr>
          <a:xfrm>
            <a:off x="548640" y="969264"/>
            <a:ext cx="8046720" cy="274320"/>
          </a:xfrm>
          <a:prstGeom prst="rect">
            <a:avLst/>
          </a:prstGeom>
          <a:noFill/>
          <a:ln/>
        </p:spPr>
        <p:txBody>
          <a:bodyPr wrap="square" lIns="0" tIns="0" rIns="0" bIns="0" rtlCol="0" anchor="ctr"/>
          <a:lstStyle/>
          <a:p>
            <a:pPr indent="0" marL="0">
              <a:buNone/>
            </a:pPr>
            <a:r>
              <a:rPr lang="en-US" sz="1000" dirty="0">
                <a:solidFill>
                  <a:srgbClr val="DC2626"/>
                </a:solidFill>
                <a:latin typeface="Calibri" pitchFamily="34" charset="0"/>
                <a:ea typeface="Calibri" pitchFamily="34" charset="-122"/>
                <a:cs typeface="Calibri" pitchFamily="34" charset="-120"/>
              </a:rPr>
              <a:t>● </a:t>
            </a:r>
            <a:pPr indent="0" marL="0">
              <a:buNone/>
            </a:pPr>
            <a:r>
              <a:rPr lang="en-US" sz="1000" dirty="0">
                <a:solidFill>
                  <a:srgbClr val="64748B"/>
                </a:solidFill>
                <a:latin typeface="Calibri" pitchFamily="34" charset="0"/>
                <a:ea typeface="Calibri" pitchFamily="34" charset="-122"/>
                <a:cs typeface="Calibri" pitchFamily="34" charset="-120"/>
              </a:rPr>
              <a:t>critical (−8 pts)      </a:t>
            </a:r>
            <a:pPr indent="0" marL="0">
              <a:buNone/>
            </a:pPr>
            <a:r>
              <a:rPr lang="en-US" sz="1000" dirty="0">
                <a:solidFill>
                  <a:srgbClr val="D97706"/>
                </a:solidFill>
                <a:latin typeface="Calibri" pitchFamily="34" charset="0"/>
                <a:ea typeface="Calibri" pitchFamily="34" charset="-122"/>
                <a:cs typeface="Calibri" pitchFamily="34" charset="-120"/>
              </a:rPr>
              <a:t>● </a:t>
            </a:r>
            <a:pPr indent="0" marL="0">
              <a:buNone/>
            </a:pPr>
            <a:r>
              <a:rPr lang="en-US" sz="1000" dirty="0">
                <a:solidFill>
                  <a:srgbClr val="64748B"/>
                </a:solidFill>
                <a:latin typeface="Calibri" pitchFamily="34" charset="0"/>
                <a:ea typeface="Calibri" pitchFamily="34" charset="-122"/>
                <a:cs typeface="Calibri" pitchFamily="34" charset="-120"/>
              </a:rPr>
              <a:t>high (−5 pts)      </a:t>
            </a:r>
            <a:pPr indent="0" marL="0">
              <a:buNone/>
            </a:pPr>
            <a:r>
              <a:rPr lang="en-US" sz="1000" dirty="0">
                <a:solidFill>
                  <a:srgbClr val="1C4E80"/>
                </a:solidFill>
                <a:latin typeface="Calibri" pitchFamily="34" charset="0"/>
                <a:ea typeface="Calibri" pitchFamily="34" charset="-122"/>
                <a:cs typeface="Calibri" pitchFamily="34" charset="-120"/>
              </a:rPr>
              <a:t>● </a:t>
            </a:r>
            <a:pPr indent="0" marL="0">
              <a:buNone/>
            </a:pPr>
            <a:r>
              <a:rPr lang="en-US" sz="1000" dirty="0">
                <a:solidFill>
                  <a:srgbClr val="64748B"/>
                </a:solidFill>
                <a:latin typeface="Calibri" pitchFamily="34" charset="0"/>
                <a:ea typeface="Calibri" pitchFamily="34" charset="-122"/>
                <a:cs typeface="Calibri" pitchFamily="34" charset="-120"/>
              </a:rPr>
              <a:t>medium (−3 pts)</a:t>
            </a:r>
            <a:endParaRPr lang="en-US" sz="1000" dirty="0"/>
          </a:p>
        </p:txBody>
      </p:sp>
      <p:sp>
        <p:nvSpPr>
          <p:cNvPr id="5" name="Text 3"/>
          <p:cNvSpPr/>
          <p:nvPr/>
        </p:nvSpPr>
        <p:spPr>
          <a:xfrm>
            <a:off x="548640" y="1371600"/>
            <a:ext cx="4023360" cy="256032"/>
          </a:xfrm>
          <a:prstGeom prst="rect">
            <a:avLst/>
          </a:prstGeom>
          <a:noFill/>
          <a:ln/>
        </p:spPr>
        <p:txBody>
          <a:bodyPr wrap="square" lIns="0" tIns="0" rIns="0" bIns="0" rtlCol="0" anchor="ctr"/>
          <a:lstStyle/>
          <a:p>
            <a:pPr indent="0" marL="0">
              <a:buNone/>
            </a:pPr>
            <a:r>
              <a:rPr lang="en-US" sz="1050" b="1" spc="200" kern="0" dirty="0">
                <a:solidFill>
                  <a:srgbClr val="0F2A44"/>
                </a:solidFill>
                <a:latin typeface="Calibri" pitchFamily="34" charset="0"/>
                <a:ea typeface="Calibri" pitchFamily="34" charset="-122"/>
                <a:cs typeface="Calibri" pitchFamily="34" charset="-120"/>
              </a:rPr>
              <a:t>SERVICE DESIGN</a:t>
            </a:r>
            <a:endParaRPr lang="en-US" sz="1050" dirty="0"/>
          </a:p>
        </p:txBody>
      </p:sp>
      <p:sp>
        <p:nvSpPr>
          <p:cNvPr id="6" name="Shape 4"/>
          <p:cNvSpPr/>
          <p:nvPr/>
        </p:nvSpPr>
        <p:spPr>
          <a:xfrm>
            <a:off x="548640" y="1673352"/>
            <a:ext cx="1325880" cy="402336"/>
          </a:xfrm>
          <a:prstGeom prst="roundRect">
            <a:avLst>
              <a:gd name="adj" fmla="val 22727"/>
            </a:avLst>
          </a:prstGeom>
          <a:solidFill>
            <a:srgbClr val="DBEAFE"/>
          </a:solidFill>
          <a:ln w="12700">
            <a:solidFill>
              <a:srgbClr val="DBEAFE"/>
            </a:solidFill>
            <a:prstDash val="solid"/>
          </a:ln>
        </p:spPr>
      </p:sp>
      <p:sp>
        <p:nvSpPr>
          <p:cNvPr id="7" name="Shape 5"/>
          <p:cNvSpPr/>
          <p:nvPr/>
        </p:nvSpPr>
        <p:spPr>
          <a:xfrm>
            <a:off x="685800" y="1833372"/>
            <a:ext cx="82296" cy="82296"/>
          </a:xfrm>
          <a:prstGeom prst="ellipse">
            <a:avLst/>
          </a:prstGeom>
          <a:solidFill>
            <a:srgbClr val="1C4E80"/>
          </a:solidFill>
          <a:ln w="12700">
            <a:solidFill>
              <a:srgbClr val="1C4E80"/>
            </a:solidFill>
            <a:prstDash val="solid"/>
          </a:ln>
        </p:spPr>
      </p:sp>
      <p:sp>
        <p:nvSpPr>
          <p:cNvPr id="8" name="Text 6"/>
          <p:cNvSpPr/>
          <p:nvPr/>
        </p:nvSpPr>
        <p:spPr>
          <a:xfrm>
            <a:off x="822960" y="1673352"/>
            <a:ext cx="1033272" cy="402336"/>
          </a:xfrm>
          <a:prstGeom prst="rect">
            <a:avLst/>
          </a:prstGeom>
          <a:noFill/>
          <a:ln/>
        </p:spPr>
        <p:txBody>
          <a:bodyPr wrap="square" lIns="0" tIns="0" rIns="0" bIns="0" rtlCol="0" anchor="ctr"/>
          <a:lstStyle/>
          <a:p>
            <a:pPr indent="0" marL="0">
              <a:buNone/>
            </a:pPr>
            <a:r>
              <a:rPr lang="en-US" sz="1050" dirty="0">
                <a:solidFill>
                  <a:srgbClr val="1E293B"/>
                </a:solidFill>
                <a:latin typeface="Calibri" pitchFamily="34" charset="0"/>
                <a:ea typeface="Calibri" pitchFamily="34" charset="-122"/>
                <a:cs typeface="Calibri" pitchFamily="34" charset="-120"/>
              </a:rPr>
              <a:t>Nano Service</a:t>
            </a:r>
            <a:endParaRPr lang="en-US" sz="1050" dirty="0"/>
          </a:p>
        </p:txBody>
      </p:sp>
      <p:sp>
        <p:nvSpPr>
          <p:cNvPr id="9" name="Shape 7"/>
          <p:cNvSpPr/>
          <p:nvPr/>
        </p:nvSpPr>
        <p:spPr>
          <a:xfrm>
            <a:off x="2011680" y="1673352"/>
            <a:ext cx="1280160" cy="402336"/>
          </a:xfrm>
          <a:prstGeom prst="roundRect">
            <a:avLst>
              <a:gd name="adj" fmla="val 22727"/>
            </a:avLst>
          </a:prstGeom>
          <a:solidFill>
            <a:srgbClr val="FEF3C7"/>
          </a:solidFill>
          <a:ln w="12700">
            <a:solidFill>
              <a:srgbClr val="FEF3C7"/>
            </a:solidFill>
            <a:prstDash val="solid"/>
          </a:ln>
        </p:spPr>
      </p:sp>
      <p:sp>
        <p:nvSpPr>
          <p:cNvPr id="10" name="Shape 8"/>
          <p:cNvSpPr/>
          <p:nvPr/>
        </p:nvSpPr>
        <p:spPr>
          <a:xfrm>
            <a:off x="2148840" y="1833372"/>
            <a:ext cx="82296" cy="82296"/>
          </a:xfrm>
          <a:prstGeom prst="ellipse">
            <a:avLst/>
          </a:prstGeom>
          <a:solidFill>
            <a:srgbClr val="D97706"/>
          </a:solidFill>
          <a:ln w="12700">
            <a:solidFill>
              <a:srgbClr val="D97706"/>
            </a:solidFill>
            <a:prstDash val="solid"/>
          </a:ln>
        </p:spPr>
      </p:sp>
      <p:sp>
        <p:nvSpPr>
          <p:cNvPr id="11" name="Text 9"/>
          <p:cNvSpPr/>
          <p:nvPr/>
        </p:nvSpPr>
        <p:spPr>
          <a:xfrm>
            <a:off x="2286000" y="1673352"/>
            <a:ext cx="987552" cy="402336"/>
          </a:xfrm>
          <a:prstGeom prst="rect">
            <a:avLst/>
          </a:prstGeom>
          <a:noFill/>
          <a:ln/>
        </p:spPr>
        <p:txBody>
          <a:bodyPr wrap="square" lIns="0" tIns="0" rIns="0" bIns="0" rtlCol="0" anchor="ctr"/>
          <a:lstStyle/>
          <a:p>
            <a:pPr indent="0" marL="0">
              <a:buNone/>
            </a:pPr>
            <a:r>
              <a:rPr lang="en-US" sz="1050" dirty="0">
                <a:solidFill>
                  <a:srgbClr val="1E293B"/>
                </a:solidFill>
                <a:latin typeface="Calibri" pitchFamily="34" charset="0"/>
                <a:ea typeface="Calibri" pitchFamily="34" charset="-122"/>
                <a:cs typeface="Calibri" pitchFamily="34" charset="-120"/>
              </a:rPr>
              <a:t>God Service</a:t>
            </a:r>
            <a:endParaRPr lang="en-US" sz="1050" dirty="0"/>
          </a:p>
        </p:txBody>
      </p:sp>
      <p:sp>
        <p:nvSpPr>
          <p:cNvPr id="12" name="Text 10"/>
          <p:cNvSpPr/>
          <p:nvPr/>
        </p:nvSpPr>
        <p:spPr>
          <a:xfrm>
            <a:off x="4754880" y="1371600"/>
            <a:ext cx="4023360" cy="256032"/>
          </a:xfrm>
          <a:prstGeom prst="rect">
            <a:avLst/>
          </a:prstGeom>
          <a:noFill/>
          <a:ln/>
        </p:spPr>
        <p:txBody>
          <a:bodyPr wrap="square" lIns="0" tIns="0" rIns="0" bIns="0" rtlCol="0" anchor="ctr"/>
          <a:lstStyle/>
          <a:p>
            <a:pPr indent="0" marL="0">
              <a:buNone/>
            </a:pPr>
            <a:r>
              <a:rPr lang="en-US" sz="1050" b="1" spc="200" kern="0" dirty="0">
                <a:solidFill>
                  <a:srgbClr val="0F2A44"/>
                </a:solidFill>
                <a:latin typeface="Calibri" pitchFamily="34" charset="0"/>
                <a:ea typeface="Calibri" pitchFamily="34" charset="-122"/>
                <a:cs typeface="Calibri" pitchFamily="34" charset="-120"/>
              </a:rPr>
              <a:t>DATA MANAGEMENT</a:t>
            </a:r>
            <a:endParaRPr lang="en-US" sz="1050" dirty="0"/>
          </a:p>
        </p:txBody>
      </p:sp>
      <p:sp>
        <p:nvSpPr>
          <p:cNvPr id="13" name="Shape 11"/>
          <p:cNvSpPr/>
          <p:nvPr/>
        </p:nvSpPr>
        <p:spPr>
          <a:xfrm>
            <a:off x="4754880" y="1673352"/>
            <a:ext cx="1554480" cy="402336"/>
          </a:xfrm>
          <a:prstGeom prst="roundRect">
            <a:avLst>
              <a:gd name="adj" fmla="val 22727"/>
            </a:avLst>
          </a:prstGeom>
          <a:solidFill>
            <a:srgbClr val="FEF3C7"/>
          </a:solidFill>
          <a:ln w="12700">
            <a:solidFill>
              <a:srgbClr val="FEF3C7"/>
            </a:solidFill>
            <a:prstDash val="solid"/>
          </a:ln>
        </p:spPr>
      </p:sp>
      <p:sp>
        <p:nvSpPr>
          <p:cNvPr id="14" name="Shape 12"/>
          <p:cNvSpPr/>
          <p:nvPr/>
        </p:nvSpPr>
        <p:spPr>
          <a:xfrm>
            <a:off x="4892040" y="1833372"/>
            <a:ext cx="82296" cy="82296"/>
          </a:xfrm>
          <a:prstGeom prst="ellipse">
            <a:avLst/>
          </a:prstGeom>
          <a:solidFill>
            <a:srgbClr val="D97706"/>
          </a:solidFill>
          <a:ln w="12700">
            <a:solidFill>
              <a:srgbClr val="D97706"/>
            </a:solidFill>
            <a:prstDash val="solid"/>
          </a:ln>
        </p:spPr>
      </p:sp>
      <p:sp>
        <p:nvSpPr>
          <p:cNvPr id="15" name="Text 13"/>
          <p:cNvSpPr/>
          <p:nvPr/>
        </p:nvSpPr>
        <p:spPr>
          <a:xfrm>
            <a:off x="5029200" y="1673352"/>
            <a:ext cx="1261872" cy="402336"/>
          </a:xfrm>
          <a:prstGeom prst="rect">
            <a:avLst/>
          </a:prstGeom>
          <a:noFill/>
          <a:ln/>
        </p:spPr>
        <p:txBody>
          <a:bodyPr wrap="square" lIns="0" tIns="0" rIns="0" bIns="0" rtlCol="0" anchor="ctr"/>
          <a:lstStyle/>
          <a:p>
            <a:pPr indent="0" marL="0">
              <a:buNone/>
            </a:pPr>
            <a:r>
              <a:rPr lang="en-US" sz="1050" dirty="0">
                <a:solidFill>
                  <a:srgbClr val="1E293B"/>
                </a:solidFill>
                <a:latin typeface="Calibri" pitchFamily="34" charset="0"/>
                <a:ea typeface="Calibri" pitchFamily="34" charset="-122"/>
                <a:cs typeface="Calibri" pitchFamily="34" charset="-120"/>
              </a:rPr>
              <a:t>Shared Database</a:t>
            </a:r>
            <a:endParaRPr lang="en-US" sz="1050" dirty="0"/>
          </a:p>
        </p:txBody>
      </p:sp>
      <p:sp>
        <p:nvSpPr>
          <p:cNvPr id="16" name="Text 14"/>
          <p:cNvSpPr/>
          <p:nvPr/>
        </p:nvSpPr>
        <p:spPr>
          <a:xfrm>
            <a:off x="548640" y="2468880"/>
            <a:ext cx="4023360" cy="256032"/>
          </a:xfrm>
          <a:prstGeom prst="rect">
            <a:avLst/>
          </a:prstGeom>
          <a:noFill/>
          <a:ln/>
        </p:spPr>
        <p:txBody>
          <a:bodyPr wrap="square" lIns="0" tIns="0" rIns="0" bIns="0" rtlCol="0" anchor="ctr"/>
          <a:lstStyle/>
          <a:p>
            <a:pPr indent="0" marL="0">
              <a:buNone/>
            </a:pPr>
            <a:r>
              <a:rPr lang="en-US" sz="1050" b="1" spc="200" kern="0" dirty="0">
                <a:solidFill>
                  <a:srgbClr val="0F2A44"/>
                </a:solidFill>
                <a:latin typeface="Calibri" pitchFamily="34" charset="0"/>
                <a:ea typeface="Calibri" pitchFamily="34" charset="-122"/>
                <a:cs typeface="Calibri" pitchFamily="34" charset="-120"/>
              </a:rPr>
              <a:t>COMMUNICATION</a:t>
            </a:r>
            <a:endParaRPr lang="en-US" sz="1050" dirty="0"/>
          </a:p>
        </p:txBody>
      </p:sp>
      <p:sp>
        <p:nvSpPr>
          <p:cNvPr id="17" name="Shape 15"/>
          <p:cNvSpPr/>
          <p:nvPr/>
        </p:nvSpPr>
        <p:spPr>
          <a:xfrm>
            <a:off x="548640" y="2770632"/>
            <a:ext cx="1463040" cy="402336"/>
          </a:xfrm>
          <a:prstGeom prst="roundRect">
            <a:avLst>
              <a:gd name="adj" fmla="val 22727"/>
            </a:avLst>
          </a:prstGeom>
          <a:solidFill>
            <a:srgbClr val="FEF3C7"/>
          </a:solidFill>
          <a:ln w="12700">
            <a:solidFill>
              <a:srgbClr val="FEF3C7"/>
            </a:solidFill>
            <a:prstDash val="solid"/>
          </a:ln>
        </p:spPr>
      </p:sp>
      <p:sp>
        <p:nvSpPr>
          <p:cNvPr id="18" name="Shape 16"/>
          <p:cNvSpPr/>
          <p:nvPr/>
        </p:nvSpPr>
        <p:spPr>
          <a:xfrm>
            <a:off x="685800" y="2930652"/>
            <a:ext cx="82296" cy="82296"/>
          </a:xfrm>
          <a:prstGeom prst="ellipse">
            <a:avLst/>
          </a:prstGeom>
          <a:solidFill>
            <a:srgbClr val="D97706"/>
          </a:solidFill>
          <a:ln w="12700">
            <a:solidFill>
              <a:srgbClr val="D97706"/>
            </a:solidFill>
            <a:prstDash val="solid"/>
          </a:ln>
        </p:spPr>
      </p:sp>
      <p:sp>
        <p:nvSpPr>
          <p:cNvPr id="19" name="Text 17"/>
          <p:cNvSpPr/>
          <p:nvPr/>
        </p:nvSpPr>
        <p:spPr>
          <a:xfrm>
            <a:off x="822960" y="2770632"/>
            <a:ext cx="1170432" cy="402336"/>
          </a:xfrm>
          <a:prstGeom prst="rect">
            <a:avLst/>
          </a:prstGeom>
          <a:noFill/>
          <a:ln/>
        </p:spPr>
        <p:txBody>
          <a:bodyPr wrap="square" lIns="0" tIns="0" rIns="0" bIns="0" rtlCol="0" anchor="ctr"/>
          <a:lstStyle/>
          <a:p>
            <a:pPr indent="0" marL="0">
              <a:buNone/>
            </a:pPr>
            <a:r>
              <a:rPr lang="en-US" sz="1050" dirty="0">
                <a:solidFill>
                  <a:srgbClr val="1E293B"/>
                </a:solidFill>
                <a:latin typeface="Calibri" pitchFamily="34" charset="0"/>
                <a:ea typeface="Calibri" pitchFamily="34" charset="-122"/>
                <a:cs typeface="Calibri" pitchFamily="34" charset="-120"/>
              </a:rPr>
              <a:t>Chatty Service</a:t>
            </a:r>
            <a:endParaRPr lang="en-US" sz="1050" dirty="0"/>
          </a:p>
        </p:txBody>
      </p:sp>
      <p:sp>
        <p:nvSpPr>
          <p:cNvPr id="20" name="Shape 18"/>
          <p:cNvSpPr/>
          <p:nvPr/>
        </p:nvSpPr>
        <p:spPr>
          <a:xfrm>
            <a:off x="2148840" y="2770632"/>
            <a:ext cx="1691640" cy="402336"/>
          </a:xfrm>
          <a:prstGeom prst="roundRect">
            <a:avLst>
              <a:gd name="adj" fmla="val 22727"/>
            </a:avLst>
          </a:prstGeom>
          <a:solidFill>
            <a:srgbClr val="FEE2E2"/>
          </a:solidFill>
          <a:ln w="12700">
            <a:solidFill>
              <a:srgbClr val="FEE2E2"/>
            </a:solidFill>
            <a:prstDash val="solid"/>
          </a:ln>
        </p:spPr>
      </p:sp>
      <p:sp>
        <p:nvSpPr>
          <p:cNvPr id="21" name="Shape 19"/>
          <p:cNvSpPr/>
          <p:nvPr/>
        </p:nvSpPr>
        <p:spPr>
          <a:xfrm>
            <a:off x="2286000" y="2930652"/>
            <a:ext cx="82296" cy="82296"/>
          </a:xfrm>
          <a:prstGeom prst="ellipse">
            <a:avLst/>
          </a:prstGeom>
          <a:solidFill>
            <a:srgbClr val="DC2626"/>
          </a:solidFill>
          <a:ln w="12700">
            <a:solidFill>
              <a:srgbClr val="DC2626"/>
            </a:solidFill>
            <a:prstDash val="solid"/>
          </a:ln>
        </p:spPr>
      </p:sp>
      <p:sp>
        <p:nvSpPr>
          <p:cNvPr id="22" name="Text 20"/>
          <p:cNvSpPr/>
          <p:nvPr/>
        </p:nvSpPr>
        <p:spPr>
          <a:xfrm>
            <a:off x="2423160" y="2770632"/>
            <a:ext cx="1399032" cy="402336"/>
          </a:xfrm>
          <a:prstGeom prst="rect">
            <a:avLst/>
          </a:prstGeom>
          <a:noFill/>
          <a:ln/>
        </p:spPr>
        <p:txBody>
          <a:bodyPr wrap="square" lIns="0" tIns="0" rIns="0" bIns="0" rtlCol="0" anchor="ctr"/>
          <a:lstStyle/>
          <a:p>
            <a:pPr indent="0" marL="0">
              <a:buNone/>
            </a:pPr>
            <a:r>
              <a:rPr lang="en-US" sz="1050" dirty="0">
                <a:solidFill>
                  <a:srgbClr val="1E293B"/>
                </a:solidFill>
                <a:latin typeface="Calibri" pitchFamily="34" charset="0"/>
                <a:ea typeface="Calibri" pitchFamily="34" charset="-122"/>
                <a:cs typeface="Calibri" pitchFamily="34" charset="-120"/>
              </a:rPr>
              <a:t>Cyclic Dependency</a:t>
            </a:r>
            <a:endParaRPr lang="en-US" sz="1050" dirty="0"/>
          </a:p>
        </p:txBody>
      </p:sp>
      <p:sp>
        <p:nvSpPr>
          <p:cNvPr id="23" name="Shape 21"/>
          <p:cNvSpPr/>
          <p:nvPr/>
        </p:nvSpPr>
        <p:spPr>
          <a:xfrm>
            <a:off x="3977640" y="2770632"/>
            <a:ext cx="1828800" cy="402336"/>
          </a:xfrm>
          <a:prstGeom prst="roundRect">
            <a:avLst>
              <a:gd name="adj" fmla="val 22727"/>
            </a:avLst>
          </a:prstGeom>
          <a:solidFill>
            <a:srgbClr val="DBEAFE"/>
          </a:solidFill>
          <a:ln w="12700">
            <a:solidFill>
              <a:srgbClr val="DBEAFE"/>
            </a:solidFill>
            <a:prstDash val="solid"/>
          </a:ln>
        </p:spPr>
      </p:sp>
      <p:sp>
        <p:nvSpPr>
          <p:cNvPr id="24" name="Shape 22"/>
          <p:cNvSpPr/>
          <p:nvPr/>
        </p:nvSpPr>
        <p:spPr>
          <a:xfrm>
            <a:off x="4114800" y="2930652"/>
            <a:ext cx="82296" cy="82296"/>
          </a:xfrm>
          <a:prstGeom prst="ellipse">
            <a:avLst/>
          </a:prstGeom>
          <a:solidFill>
            <a:srgbClr val="1C4E80"/>
          </a:solidFill>
          <a:ln w="12700">
            <a:solidFill>
              <a:srgbClr val="1C4E80"/>
            </a:solidFill>
            <a:prstDash val="solid"/>
          </a:ln>
        </p:spPr>
      </p:sp>
      <p:sp>
        <p:nvSpPr>
          <p:cNvPr id="25" name="Text 23"/>
          <p:cNvSpPr/>
          <p:nvPr/>
        </p:nvSpPr>
        <p:spPr>
          <a:xfrm>
            <a:off x="4251960" y="2770632"/>
            <a:ext cx="1536192" cy="402336"/>
          </a:xfrm>
          <a:prstGeom prst="rect">
            <a:avLst/>
          </a:prstGeom>
          <a:noFill/>
          <a:ln/>
        </p:spPr>
        <p:txBody>
          <a:bodyPr wrap="square" lIns="0" tIns="0" rIns="0" bIns="0" rtlCol="0" anchor="ctr"/>
          <a:lstStyle/>
          <a:p>
            <a:pPr indent="0" marL="0">
              <a:buNone/>
            </a:pPr>
            <a:r>
              <a:rPr lang="en-US" sz="1050" dirty="0">
                <a:solidFill>
                  <a:srgbClr val="1E293B"/>
                </a:solidFill>
                <a:latin typeface="Calibri" pitchFamily="34" charset="0"/>
                <a:ea typeface="Calibri" pitchFamily="34" charset="-122"/>
                <a:cs typeface="Calibri" pitchFamily="34" charset="-120"/>
              </a:rPr>
              <a:t>Hardcoded Endpoints</a:t>
            </a:r>
            <a:endParaRPr lang="en-US" sz="1050" dirty="0"/>
          </a:p>
        </p:txBody>
      </p:sp>
      <p:sp>
        <p:nvSpPr>
          <p:cNvPr id="26" name="Shape 24"/>
          <p:cNvSpPr/>
          <p:nvPr/>
        </p:nvSpPr>
        <p:spPr>
          <a:xfrm>
            <a:off x="5943600" y="2770632"/>
            <a:ext cx="1188720" cy="402336"/>
          </a:xfrm>
          <a:prstGeom prst="roundRect">
            <a:avLst>
              <a:gd name="adj" fmla="val 22727"/>
            </a:avLst>
          </a:prstGeom>
          <a:solidFill>
            <a:srgbClr val="FEF3C7"/>
          </a:solidFill>
          <a:ln w="12700">
            <a:solidFill>
              <a:srgbClr val="FEF3C7"/>
            </a:solidFill>
            <a:prstDash val="solid"/>
          </a:ln>
        </p:spPr>
      </p:sp>
      <p:sp>
        <p:nvSpPr>
          <p:cNvPr id="27" name="Shape 25"/>
          <p:cNvSpPr/>
          <p:nvPr/>
        </p:nvSpPr>
        <p:spPr>
          <a:xfrm>
            <a:off x="6080760" y="2930652"/>
            <a:ext cx="82296" cy="82296"/>
          </a:xfrm>
          <a:prstGeom prst="ellipse">
            <a:avLst/>
          </a:prstGeom>
          <a:solidFill>
            <a:srgbClr val="D97706"/>
          </a:solidFill>
          <a:ln w="12700">
            <a:solidFill>
              <a:srgbClr val="D97706"/>
            </a:solidFill>
            <a:prstDash val="solid"/>
          </a:ln>
        </p:spPr>
      </p:sp>
      <p:sp>
        <p:nvSpPr>
          <p:cNvPr id="28" name="Text 26"/>
          <p:cNvSpPr/>
          <p:nvPr/>
        </p:nvSpPr>
        <p:spPr>
          <a:xfrm>
            <a:off x="6217920" y="2770632"/>
            <a:ext cx="896112" cy="402336"/>
          </a:xfrm>
          <a:prstGeom prst="rect">
            <a:avLst/>
          </a:prstGeom>
          <a:noFill/>
          <a:ln/>
        </p:spPr>
        <p:txBody>
          <a:bodyPr wrap="square" lIns="0" tIns="0" rIns="0" bIns="0" rtlCol="0" anchor="ctr"/>
          <a:lstStyle/>
          <a:p>
            <a:pPr indent="0" marL="0">
              <a:buNone/>
            </a:pPr>
            <a:r>
              <a:rPr lang="en-US" sz="1050" dirty="0">
                <a:solidFill>
                  <a:srgbClr val="1E293B"/>
                </a:solidFill>
                <a:latin typeface="Calibri" pitchFamily="34" charset="0"/>
                <a:ea typeface="Calibri" pitchFamily="34" charset="-122"/>
                <a:cs typeface="Calibri" pitchFamily="34" charset="-120"/>
              </a:rPr>
              <a:t>ESB Misuse</a:t>
            </a:r>
            <a:endParaRPr lang="en-US" sz="1050" dirty="0"/>
          </a:p>
        </p:txBody>
      </p:sp>
      <p:sp>
        <p:nvSpPr>
          <p:cNvPr id="29" name="Text 27"/>
          <p:cNvSpPr/>
          <p:nvPr/>
        </p:nvSpPr>
        <p:spPr>
          <a:xfrm>
            <a:off x="548640" y="3566160"/>
            <a:ext cx="4023360" cy="256032"/>
          </a:xfrm>
          <a:prstGeom prst="rect">
            <a:avLst/>
          </a:prstGeom>
          <a:noFill/>
          <a:ln/>
        </p:spPr>
        <p:txBody>
          <a:bodyPr wrap="square" lIns="0" tIns="0" rIns="0" bIns="0" rtlCol="0" anchor="ctr"/>
          <a:lstStyle/>
          <a:p>
            <a:pPr indent="0" marL="0">
              <a:buNone/>
            </a:pPr>
            <a:r>
              <a:rPr lang="en-US" sz="1050" b="1" spc="200" kern="0" dirty="0">
                <a:solidFill>
                  <a:srgbClr val="0F2A44"/>
                </a:solidFill>
                <a:latin typeface="Calibri" pitchFamily="34" charset="0"/>
                <a:ea typeface="Calibri" pitchFamily="34" charset="-122"/>
                <a:cs typeface="Calibri" pitchFamily="34" charset="-120"/>
              </a:rPr>
              <a:t>DEPLOYMENT &amp; COUPLING</a:t>
            </a:r>
            <a:endParaRPr lang="en-US" sz="1050" dirty="0"/>
          </a:p>
        </p:txBody>
      </p:sp>
      <p:sp>
        <p:nvSpPr>
          <p:cNvPr id="30" name="Shape 28"/>
          <p:cNvSpPr/>
          <p:nvPr/>
        </p:nvSpPr>
        <p:spPr>
          <a:xfrm>
            <a:off x="548640" y="3867912"/>
            <a:ext cx="1828800" cy="402336"/>
          </a:xfrm>
          <a:prstGeom prst="roundRect">
            <a:avLst>
              <a:gd name="adj" fmla="val 22727"/>
            </a:avLst>
          </a:prstGeom>
          <a:solidFill>
            <a:srgbClr val="FEE2E2"/>
          </a:solidFill>
          <a:ln w="12700">
            <a:solidFill>
              <a:srgbClr val="FEE2E2"/>
            </a:solidFill>
            <a:prstDash val="solid"/>
          </a:ln>
        </p:spPr>
      </p:sp>
      <p:sp>
        <p:nvSpPr>
          <p:cNvPr id="31" name="Shape 29"/>
          <p:cNvSpPr/>
          <p:nvPr/>
        </p:nvSpPr>
        <p:spPr>
          <a:xfrm>
            <a:off x="685800" y="4027932"/>
            <a:ext cx="82296" cy="82296"/>
          </a:xfrm>
          <a:prstGeom prst="ellipse">
            <a:avLst/>
          </a:prstGeom>
          <a:solidFill>
            <a:srgbClr val="DC2626"/>
          </a:solidFill>
          <a:ln w="12700">
            <a:solidFill>
              <a:srgbClr val="DC2626"/>
            </a:solidFill>
            <a:prstDash val="solid"/>
          </a:ln>
        </p:spPr>
      </p:sp>
      <p:sp>
        <p:nvSpPr>
          <p:cNvPr id="32" name="Text 30"/>
          <p:cNvSpPr/>
          <p:nvPr/>
        </p:nvSpPr>
        <p:spPr>
          <a:xfrm>
            <a:off x="822960" y="3867912"/>
            <a:ext cx="1536192" cy="402336"/>
          </a:xfrm>
          <a:prstGeom prst="rect">
            <a:avLst/>
          </a:prstGeom>
          <a:noFill/>
          <a:ln/>
        </p:spPr>
        <p:txBody>
          <a:bodyPr wrap="square" lIns="0" tIns="0" rIns="0" bIns="0" rtlCol="0" anchor="ctr"/>
          <a:lstStyle/>
          <a:p>
            <a:pPr indent="0" marL="0">
              <a:buNone/>
            </a:pPr>
            <a:r>
              <a:rPr lang="en-US" sz="1050" dirty="0">
                <a:solidFill>
                  <a:srgbClr val="1E293B"/>
                </a:solidFill>
                <a:latin typeface="Calibri" pitchFamily="34" charset="0"/>
                <a:ea typeface="Calibri" pitchFamily="34" charset="-122"/>
                <a:cs typeface="Calibri" pitchFamily="34" charset="-120"/>
              </a:rPr>
              <a:t>Distributed Monolith</a:t>
            </a:r>
            <a:endParaRPr lang="en-US" sz="1050" dirty="0"/>
          </a:p>
        </p:txBody>
      </p:sp>
      <p:sp>
        <p:nvSpPr>
          <p:cNvPr id="33" name="Shape 31"/>
          <p:cNvSpPr/>
          <p:nvPr/>
        </p:nvSpPr>
        <p:spPr>
          <a:xfrm>
            <a:off x="2514600" y="3867912"/>
            <a:ext cx="2057400" cy="402336"/>
          </a:xfrm>
          <a:prstGeom prst="roundRect">
            <a:avLst>
              <a:gd name="adj" fmla="val 22727"/>
            </a:avLst>
          </a:prstGeom>
          <a:solidFill>
            <a:srgbClr val="DBEAFE"/>
          </a:solidFill>
          <a:ln w="12700">
            <a:solidFill>
              <a:srgbClr val="DBEAFE"/>
            </a:solidFill>
            <a:prstDash val="solid"/>
          </a:ln>
        </p:spPr>
      </p:sp>
      <p:sp>
        <p:nvSpPr>
          <p:cNvPr id="34" name="Shape 32"/>
          <p:cNvSpPr/>
          <p:nvPr/>
        </p:nvSpPr>
        <p:spPr>
          <a:xfrm>
            <a:off x="2651760" y="4027932"/>
            <a:ext cx="82296" cy="82296"/>
          </a:xfrm>
          <a:prstGeom prst="ellipse">
            <a:avLst/>
          </a:prstGeom>
          <a:solidFill>
            <a:srgbClr val="1C4E80"/>
          </a:solidFill>
          <a:ln w="12700">
            <a:solidFill>
              <a:srgbClr val="1C4E80"/>
            </a:solidFill>
            <a:prstDash val="solid"/>
          </a:ln>
        </p:spPr>
      </p:sp>
      <p:sp>
        <p:nvSpPr>
          <p:cNvPr id="35" name="Text 33"/>
          <p:cNvSpPr/>
          <p:nvPr/>
        </p:nvSpPr>
        <p:spPr>
          <a:xfrm>
            <a:off x="2788920" y="3867912"/>
            <a:ext cx="1764792" cy="402336"/>
          </a:xfrm>
          <a:prstGeom prst="rect">
            <a:avLst/>
          </a:prstGeom>
          <a:noFill/>
          <a:ln/>
        </p:spPr>
        <p:txBody>
          <a:bodyPr wrap="square" lIns="0" tIns="0" rIns="0" bIns="0" rtlCol="0" anchor="ctr"/>
          <a:lstStyle/>
          <a:p>
            <a:pPr indent="0" marL="0">
              <a:buNone/>
            </a:pPr>
            <a:r>
              <a:rPr lang="en-US" sz="1050" dirty="0">
                <a:solidFill>
                  <a:srgbClr val="1E293B"/>
                </a:solidFill>
                <a:latin typeface="Calibri" pitchFamily="34" charset="0"/>
                <a:ea typeface="Calibri" pitchFamily="34" charset="-122"/>
                <a:cs typeface="Calibri" pitchFamily="34" charset="-120"/>
              </a:rPr>
              <a:t>API Versioning Absence</a:t>
            </a:r>
            <a:endParaRPr lang="en-US" sz="1050" dirty="0"/>
          </a:p>
        </p:txBody>
      </p:sp>
      <p:sp>
        <p:nvSpPr>
          <p:cNvPr id="36" name="Shape 34"/>
          <p:cNvSpPr/>
          <p:nvPr/>
        </p:nvSpPr>
        <p:spPr>
          <a:xfrm>
            <a:off x="4709160" y="3867912"/>
            <a:ext cx="1188720" cy="402336"/>
          </a:xfrm>
          <a:prstGeom prst="roundRect">
            <a:avLst>
              <a:gd name="adj" fmla="val 22727"/>
            </a:avLst>
          </a:prstGeom>
          <a:solidFill>
            <a:srgbClr val="FEF3C7"/>
          </a:solidFill>
          <a:ln w="12700">
            <a:solidFill>
              <a:srgbClr val="FEF3C7"/>
            </a:solidFill>
            <a:prstDash val="solid"/>
          </a:ln>
        </p:spPr>
      </p:sp>
      <p:sp>
        <p:nvSpPr>
          <p:cNvPr id="37" name="Shape 35"/>
          <p:cNvSpPr/>
          <p:nvPr/>
        </p:nvSpPr>
        <p:spPr>
          <a:xfrm>
            <a:off x="4846320" y="4027932"/>
            <a:ext cx="82296" cy="82296"/>
          </a:xfrm>
          <a:prstGeom prst="ellipse">
            <a:avLst/>
          </a:prstGeom>
          <a:solidFill>
            <a:srgbClr val="D97706"/>
          </a:solidFill>
          <a:ln w="12700">
            <a:solidFill>
              <a:srgbClr val="D97706"/>
            </a:solidFill>
            <a:prstDash val="solid"/>
          </a:ln>
        </p:spPr>
      </p:sp>
      <p:sp>
        <p:nvSpPr>
          <p:cNvPr id="38" name="Text 36"/>
          <p:cNvSpPr/>
          <p:nvPr/>
        </p:nvSpPr>
        <p:spPr>
          <a:xfrm>
            <a:off x="4983480" y="3867912"/>
            <a:ext cx="896112" cy="402336"/>
          </a:xfrm>
          <a:prstGeom prst="rect">
            <a:avLst/>
          </a:prstGeom>
          <a:noFill/>
          <a:ln/>
        </p:spPr>
        <p:txBody>
          <a:bodyPr wrap="square" lIns="0" tIns="0" rIns="0" bIns="0" rtlCol="0" anchor="ctr"/>
          <a:lstStyle/>
          <a:p>
            <a:pPr indent="0" marL="0">
              <a:buNone/>
            </a:pPr>
            <a:r>
              <a:rPr lang="en-US" sz="1050" dirty="0">
                <a:solidFill>
                  <a:srgbClr val="1E293B"/>
                </a:solidFill>
                <a:latin typeface="Calibri" pitchFamily="34" charset="0"/>
                <a:ea typeface="Calibri" pitchFamily="34" charset="-122"/>
                <a:cs typeface="Calibri" pitchFamily="34" charset="-120"/>
              </a:rPr>
              <a:t>Wrong Cuts</a:t>
            </a:r>
            <a:endParaRPr lang="en-US" sz="1050" dirty="0"/>
          </a:p>
        </p:txBody>
      </p:sp>
      <p:sp>
        <p:nvSpPr>
          <p:cNvPr id="39" name="Shape 37"/>
          <p:cNvSpPr/>
          <p:nvPr/>
        </p:nvSpPr>
        <p:spPr>
          <a:xfrm>
            <a:off x="548640" y="4434840"/>
            <a:ext cx="457200" cy="36576"/>
          </a:xfrm>
          <a:prstGeom prst="rect">
            <a:avLst/>
          </a:prstGeom>
          <a:solidFill>
            <a:srgbClr val="0D9488"/>
          </a:solidFill>
          <a:ln w="12700">
            <a:solidFill>
              <a:srgbClr val="0D9488"/>
            </a:solidFill>
            <a:prstDash val="solid"/>
          </a:ln>
        </p:spPr>
      </p:sp>
      <p:sp>
        <p:nvSpPr>
          <p:cNvPr id="40" name="Text 38"/>
          <p:cNvSpPr/>
          <p:nvPr/>
        </p:nvSpPr>
        <p:spPr>
          <a:xfrm>
            <a:off x="548640" y="4526280"/>
            <a:ext cx="8046720" cy="292608"/>
          </a:xfrm>
          <a:prstGeom prst="rect">
            <a:avLst/>
          </a:prstGeom>
          <a:noFill/>
          <a:ln/>
        </p:spPr>
        <p:txBody>
          <a:bodyPr wrap="square" lIns="0" tIns="0" rIns="0" bIns="0" rtlCol="0" anchor="ctr"/>
          <a:lstStyle/>
          <a:p>
            <a:pPr indent="0" marL="0">
              <a:buNone/>
            </a:pPr>
            <a:r>
              <a:rPr lang="en-US" sz="1150" dirty="0">
                <a:solidFill>
                  <a:srgbClr val="0F2A44"/>
                </a:solidFill>
                <a:latin typeface="Calibri" pitchFamily="34" charset="0"/>
                <a:ea typeface="Calibri" pitchFamily="34" charset="-122"/>
                <a:cs typeface="Calibri" pitchFamily="34" charset="-120"/>
              </a:rPr>
              <a:t>All detectors are pluggable Strategy components with configurable thresholds</a:t>
            </a:r>
            <a:endParaRPr lang="en-US" sz="1150" dirty="0"/>
          </a:p>
        </p:txBody>
      </p:sp>
      <p:sp>
        <p:nvSpPr>
          <p:cNvPr id="41" name="Text 39"/>
          <p:cNvSpPr/>
          <p:nvPr/>
        </p:nvSpPr>
        <p:spPr>
          <a:xfrm>
            <a:off x="7955280" y="4864608"/>
            <a:ext cx="640080" cy="22860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7 / 15</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56032"/>
            <a:ext cx="8046720" cy="502920"/>
          </a:xfrm>
          <a:prstGeom prst="rect">
            <a:avLst/>
          </a:prstGeom>
          <a:noFill/>
          <a:ln/>
        </p:spPr>
        <p:txBody>
          <a:bodyPr wrap="square" lIns="0" tIns="0" rIns="0" bIns="0" rtlCol="0" anchor="ctr"/>
          <a:lstStyle/>
          <a:p>
            <a:pPr indent="0" marL="0">
              <a:buNone/>
            </a:pPr>
            <a:r>
              <a:rPr lang="en-US" sz="2500" b="1" dirty="0">
                <a:solidFill>
                  <a:srgbClr val="0F2A44"/>
                </a:solidFill>
                <a:latin typeface="Calibri" pitchFamily="34" charset="0"/>
                <a:ea typeface="Calibri" pitchFamily="34" charset="-122"/>
                <a:cs typeface="Calibri" pitchFamily="34" charset="-120"/>
              </a:rPr>
              <a:t>Composite health score</a:t>
            </a:r>
            <a:endParaRPr lang="en-US" sz="2500" dirty="0"/>
          </a:p>
        </p:txBody>
      </p:sp>
      <p:sp>
        <p:nvSpPr>
          <p:cNvPr id="3" name="Shape 1"/>
          <p:cNvSpPr/>
          <p:nvPr/>
        </p:nvSpPr>
        <p:spPr>
          <a:xfrm>
            <a:off x="548640" y="841248"/>
            <a:ext cx="8046720" cy="13716"/>
          </a:xfrm>
          <a:prstGeom prst="rect">
            <a:avLst/>
          </a:prstGeom>
          <a:solidFill>
            <a:srgbClr val="D8DEE6"/>
          </a:solidFill>
          <a:ln w="12700">
            <a:solidFill>
              <a:srgbClr val="D8DEE6"/>
            </a:solidFill>
            <a:prstDash val="solid"/>
          </a:ln>
        </p:spPr>
      </p:sp>
      <p:sp>
        <p:nvSpPr>
          <p:cNvPr id="4" name="Shape 2"/>
          <p:cNvSpPr/>
          <p:nvPr/>
        </p:nvSpPr>
        <p:spPr>
          <a:xfrm>
            <a:off x="548640" y="1051560"/>
            <a:ext cx="1874520" cy="41148"/>
          </a:xfrm>
          <a:prstGeom prst="rect">
            <a:avLst/>
          </a:prstGeom>
          <a:solidFill>
            <a:srgbClr val="DC2626"/>
          </a:solidFill>
          <a:ln w="12700">
            <a:solidFill>
              <a:srgbClr val="DC2626"/>
            </a:solidFill>
            <a:prstDash val="solid"/>
          </a:ln>
        </p:spPr>
      </p:sp>
      <p:sp>
        <p:nvSpPr>
          <p:cNvPr id="5" name="Text 3"/>
          <p:cNvSpPr/>
          <p:nvPr/>
        </p:nvSpPr>
        <p:spPr>
          <a:xfrm>
            <a:off x="548640" y="1170432"/>
            <a:ext cx="1874520" cy="502920"/>
          </a:xfrm>
          <a:prstGeom prst="rect">
            <a:avLst/>
          </a:prstGeom>
          <a:noFill/>
          <a:ln/>
        </p:spPr>
        <p:txBody>
          <a:bodyPr wrap="square" lIns="0" tIns="0" rIns="0" bIns="0" rtlCol="0" anchor="ctr"/>
          <a:lstStyle/>
          <a:p>
            <a:pPr indent="0" marL="0">
              <a:buNone/>
            </a:pPr>
            <a:r>
              <a:rPr lang="en-US" sz="3000" b="1" dirty="0">
                <a:solidFill>
                  <a:srgbClr val="0F2A44"/>
                </a:solidFill>
                <a:latin typeface="Calibri" pitchFamily="34" charset="0"/>
                <a:ea typeface="Calibri" pitchFamily="34" charset="-122"/>
                <a:cs typeface="Calibri" pitchFamily="34" charset="-120"/>
              </a:rPr>
              <a:t>40</a:t>
            </a:r>
            <a:endParaRPr lang="en-US" sz="3000" dirty="0"/>
          </a:p>
        </p:txBody>
      </p:sp>
      <p:sp>
        <p:nvSpPr>
          <p:cNvPr id="6" name="Text 4"/>
          <p:cNvSpPr/>
          <p:nvPr/>
        </p:nvSpPr>
        <p:spPr>
          <a:xfrm>
            <a:off x="548640" y="1700784"/>
            <a:ext cx="1874520" cy="274320"/>
          </a:xfrm>
          <a:prstGeom prst="rect">
            <a:avLst/>
          </a:prstGeom>
          <a:noFill/>
          <a:ln/>
        </p:spPr>
        <p:txBody>
          <a:bodyPr wrap="square" lIns="0" tIns="0" rIns="0" bIns="0" rtlCol="0" anchor="ctr"/>
          <a:lstStyle/>
          <a:p>
            <a:pPr indent="0" marL="0">
              <a:buNone/>
            </a:pPr>
            <a:r>
              <a:rPr lang="en-US" sz="1250" b="1" dirty="0">
                <a:solidFill>
                  <a:srgbClr val="0F2A44"/>
                </a:solidFill>
                <a:latin typeface="Calibri" pitchFamily="34" charset="0"/>
                <a:ea typeface="Calibri" pitchFamily="34" charset="-122"/>
                <a:cs typeface="Calibri" pitchFamily="34" charset="-120"/>
              </a:rPr>
              <a:t>Anti-Patterns</a:t>
            </a:r>
            <a:endParaRPr lang="en-US" sz="1250" dirty="0"/>
          </a:p>
        </p:txBody>
      </p:sp>
      <p:sp>
        <p:nvSpPr>
          <p:cNvPr id="7" name="Text 5"/>
          <p:cNvSpPr/>
          <p:nvPr/>
        </p:nvSpPr>
        <p:spPr>
          <a:xfrm>
            <a:off x="548640" y="1993392"/>
            <a:ext cx="1874520" cy="548640"/>
          </a:xfrm>
          <a:prstGeom prst="rect">
            <a:avLst/>
          </a:prstGeom>
          <a:noFill/>
          <a:ln/>
        </p:spPr>
        <p:txBody>
          <a:bodyPr wrap="square" lIns="0" tIns="0" rIns="0" bIns="0" rtlCol="0" anchor="ctr"/>
          <a:lstStyle/>
          <a:p>
            <a:pPr indent="0" marL="0">
              <a:buNone/>
            </a:pPr>
            <a:r>
              <a:rPr lang="en-US" sz="950" dirty="0">
                <a:solidFill>
                  <a:srgbClr val="64748B"/>
                </a:solidFill>
                <a:latin typeface="Calibri" pitchFamily="34" charset="0"/>
                <a:ea typeface="Calibri" pitchFamily="34" charset="-122"/>
                <a:cs typeface="Calibri" pitchFamily="34" charset="-120"/>
              </a:rPr>
              <a:t>−8/−5/−3/−1 per issue (crit/high/med/low)</a:t>
            </a:r>
            <a:endParaRPr lang="en-US" sz="950" dirty="0"/>
          </a:p>
        </p:txBody>
      </p:sp>
      <p:sp>
        <p:nvSpPr>
          <p:cNvPr id="8" name="Shape 6"/>
          <p:cNvSpPr/>
          <p:nvPr/>
        </p:nvSpPr>
        <p:spPr>
          <a:xfrm>
            <a:off x="2606040" y="1051560"/>
            <a:ext cx="1874520" cy="41148"/>
          </a:xfrm>
          <a:prstGeom prst="rect">
            <a:avLst/>
          </a:prstGeom>
          <a:solidFill>
            <a:srgbClr val="D97706"/>
          </a:solidFill>
          <a:ln w="12700">
            <a:solidFill>
              <a:srgbClr val="D97706"/>
            </a:solidFill>
            <a:prstDash val="solid"/>
          </a:ln>
        </p:spPr>
      </p:sp>
      <p:sp>
        <p:nvSpPr>
          <p:cNvPr id="9" name="Text 7"/>
          <p:cNvSpPr/>
          <p:nvPr/>
        </p:nvSpPr>
        <p:spPr>
          <a:xfrm>
            <a:off x="2606040" y="1170432"/>
            <a:ext cx="1874520" cy="502920"/>
          </a:xfrm>
          <a:prstGeom prst="rect">
            <a:avLst/>
          </a:prstGeom>
          <a:noFill/>
          <a:ln/>
        </p:spPr>
        <p:txBody>
          <a:bodyPr wrap="square" lIns="0" tIns="0" rIns="0" bIns="0" rtlCol="0" anchor="ctr"/>
          <a:lstStyle/>
          <a:p>
            <a:pPr indent="0" marL="0">
              <a:buNone/>
            </a:pPr>
            <a:r>
              <a:rPr lang="en-US" sz="3000" b="1" dirty="0">
                <a:solidFill>
                  <a:srgbClr val="0F2A44"/>
                </a:solidFill>
                <a:latin typeface="Calibri" pitchFamily="34" charset="0"/>
                <a:ea typeface="Calibri" pitchFamily="34" charset="-122"/>
                <a:cs typeface="Calibri" pitchFamily="34" charset="-120"/>
              </a:rPr>
              <a:t>20</a:t>
            </a:r>
            <a:endParaRPr lang="en-US" sz="3000" dirty="0"/>
          </a:p>
        </p:txBody>
      </p:sp>
      <p:sp>
        <p:nvSpPr>
          <p:cNvPr id="10" name="Text 8"/>
          <p:cNvSpPr/>
          <p:nvPr/>
        </p:nvSpPr>
        <p:spPr>
          <a:xfrm>
            <a:off x="2606040" y="1700784"/>
            <a:ext cx="1874520" cy="274320"/>
          </a:xfrm>
          <a:prstGeom prst="rect">
            <a:avLst/>
          </a:prstGeom>
          <a:noFill/>
          <a:ln/>
        </p:spPr>
        <p:txBody>
          <a:bodyPr wrap="square" lIns="0" tIns="0" rIns="0" bIns="0" rtlCol="0" anchor="ctr"/>
          <a:lstStyle/>
          <a:p>
            <a:pPr indent="0" marL="0">
              <a:buNone/>
            </a:pPr>
            <a:r>
              <a:rPr lang="en-US" sz="1250" b="1" dirty="0">
                <a:solidFill>
                  <a:srgbClr val="0F2A44"/>
                </a:solidFill>
                <a:latin typeface="Calibri" pitchFamily="34" charset="0"/>
                <a:ea typeface="Calibri" pitchFamily="34" charset="-122"/>
                <a:cs typeface="Calibri" pitchFamily="34" charset="-120"/>
              </a:rPr>
              <a:t>Code Quality</a:t>
            </a:r>
            <a:endParaRPr lang="en-US" sz="1250" dirty="0"/>
          </a:p>
        </p:txBody>
      </p:sp>
      <p:sp>
        <p:nvSpPr>
          <p:cNvPr id="11" name="Text 9"/>
          <p:cNvSpPr/>
          <p:nvPr/>
        </p:nvSpPr>
        <p:spPr>
          <a:xfrm>
            <a:off x="2606040" y="1993392"/>
            <a:ext cx="1874520" cy="548640"/>
          </a:xfrm>
          <a:prstGeom prst="rect">
            <a:avLst/>
          </a:prstGeom>
          <a:noFill/>
          <a:ln/>
        </p:spPr>
        <p:txBody>
          <a:bodyPr wrap="square" lIns="0" tIns="0" rIns="0" bIns="0" rtlCol="0" anchor="ctr"/>
          <a:lstStyle/>
          <a:p>
            <a:pPr indent="0" marL="0">
              <a:buNone/>
            </a:pPr>
            <a:r>
              <a:rPr lang="en-US" sz="950" dirty="0">
                <a:solidFill>
                  <a:srgbClr val="64748B"/>
                </a:solidFill>
                <a:latin typeface="Calibri" pitchFamily="34" charset="0"/>
                <a:ea typeface="Calibri" pitchFamily="34" charset="-122"/>
                <a:cs typeface="Calibri" pitchFamily="34" charset="-120"/>
              </a:rPr>
              <a:t>Density-based penalty (smells / KLOC)</a:t>
            </a:r>
            <a:endParaRPr lang="en-US" sz="950" dirty="0"/>
          </a:p>
        </p:txBody>
      </p:sp>
      <p:sp>
        <p:nvSpPr>
          <p:cNvPr id="12" name="Shape 10"/>
          <p:cNvSpPr/>
          <p:nvPr/>
        </p:nvSpPr>
        <p:spPr>
          <a:xfrm>
            <a:off x="4663440" y="1051560"/>
            <a:ext cx="1874520" cy="41148"/>
          </a:xfrm>
          <a:prstGeom prst="rect">
            <a:avLst/>
          </a:prstGeom>
          <a:solidFill>
            <a:srgbClr val="1C4E80"/>
          </a:solidFill>
          <a:ln w="12700">
            <a:solidFill>
              <a:srgbClr val="1C4E80"/>
            </a:solidFill>
            <a:prstDash val="solid"/>
          </a:ln>
        </p:spPr>
      </p:sp>
      <p:sp>
        <p:nvSpPr>
          <p:cNvPr id="13" name="Text 11"/>
          <p:cNvSpPr/>
          <p:nvPr/>
        </p:nvSpPr>
        <p:spPr>
          <a:xfrm>
            <a:off x="4663440" y="1170432"/>
            <a:ext cx="1874520" cy="502920"/>
          </a:xfrm>
          <a:prstGeom prst="rect">
            <a:avLst/>
          </a:prstGeom>
          <a:noFill/>
          <a:ln/>
        </p:spPr>
        <p:txBody>
          <a:bodyPr wrap="square" lIns="0" tIns="0" rIns="0" bIns="0" rtlCol="0" anchor="ctr"/>
          <a:lstStyle/>
          <a:p>
            <a:pPr indent="0" marL="0">
              <a:buNone/>
            </a:pPr>
            <a:r>
              <a:rPr lang="en-US" sz="3000" b="1" dirty="0">
                <a:solidFill>
                  <a:srgbClr val="0F2A44"/>
                </a:solidFill>
                <a:latin typeface="Calibri" pitchFamily="34" charset="0"/>
                <a:ea typeface="Calibri" pitchFamily="34" charset="-122"/>
                <a:cs typeface="Calibri" pitchFamily="34" charset="-120"/>
              </a:rPr>
              <a:t>25</a:t>
            </a:r>
            <a:endParaRPr lang="en-US" sz="3000" dirty="0"/>
          </a:p>
        </p:txBody>
      </p:sp>
      <p:sp>
        <p:nvSpPr>
          <p:cNvPr id="14" name="Text 12"/>
          <p:cNvSpPr/>
          <p:nvPr/>
        </p:nvSpPr>
        <p:spPr>
          <a:xfrm>
            <a:off x="4663440" y="1700784"/>
            <a:ext cx="1874520" cy="274320"/>
          </a:xfrm>
          <a:prstGeom prst="rect">
            <a:avLst/>
          </a:prstGeom>
          <a:noFill/>
          <a:ln/>
        </p:spPr>
        <p:txBody>
          <a:bodyPr wrap="square" lIns="0" tIns="0" rIns="0" bIns="0" rtlCol="0" anchor="ctr"/>
          <a:lstStyle/>
          <a:p>
            <a:pPr indent="0" marL="0">
              <a:buNone/>
            </a:pPr>
            <a:r>
              <a:rPr lang="en-US" sz="1250" b="1" dirty="0">
                <a:solidFill>
                  <a:srgbClr val="0F2A44"/>
                </a:solidFill>
                <a:latin typeface="Calibri" pitchFamily="34" charset="0"/>
                <a:ea typeface="Calibri" pitchFamily="34" charset="-122"/>
                <a:cs typeface="Calibri" pitchFamily="34" charset="-120"/>
              </a:rPr>
              <a:t>Architecture</a:t>
            </a:r>
            <a:endParaRPr lang="en-US" sz="1250" dirty="0"/>
          </a:p>
        </p:txBody>
      </p:sp>
      <p:sp>
        <p:nvSpPr>
          <p:cNvPr id="15" name="Text 13"/>
          <p:cNvSpPr/>
          <p:nvPr/>
        </p:nvSpPr>
        <p:spPr>
          <a:xfrm>
            <a:off x="4663440" y="1993392"/>
            <a:ext cx="1874520" cy="548640"/>
          </a:xfrm>
          <a:prstGeom prst="rect">
            <a:avLst/>
          </a:prstGeom>
          <a:noFill/>
          <a:ln/>
        </p:spPr>
        <p:txBody>
          <a:bodyPr wrap="square" lIns="0" tIns="0" rIns="0" bIns="0" rtlCol="0" anchor="ctr"/>
          <a:lstStyle/>
          <a:p>
            <a:pPr indent="0" marL="0">
              <a:buNone/>
            </a:pPr>
            <a:r>
              <a:rPr lang="en-US" sz="950" dirty="0">
                <a:solidFill>
                  <a:srgbClr val="64748B"/>
                </a:solidFill>
                <a:latin typeface="Calibri" pitchFamily="34" charset="0"/>
                <a:ea typeface="Calibri" pitchFamily="34" charset="-122"/>
                <a:cs typeface="Calibri" pitchFamily="34" charset="-120"/>
              </a:rPr>
              <a:t>Coupling coefficient + cycle count</a:t>
            </a:r>
            <a:endParaRPr lang="en-US" sz="950" dirty="0"/>
          </a:p>
        </p:txBody>
      </p:sp>
      <p:sp>
        <p:nvSpPr>
          <p:cNvPr id="16" name="Shape 14"/>
          <p:cNvSpPr/>
          <p:nvPr/>
        </p:nvSpPr>
        <p:spPr>
          <a:xfrm>
            <a:off x="6720840" y="1051560"/>
            <a:ext cx="1874520" cy="41148"/>
          </a:xfrm>
          <a:prstGeom prst="rect">
            <a:avLst/>
          </a:prstGeom>
          <a:solidFill>
            <a:srgbClr val="0D9488"/>
          </a:solidFill>
          <a:ln w="12700">
            <a:solidFill>
              <a:srgbClr val="0D9488"/>
            </a:solidFill>
            <a:prstDash val="solid"/>
          </a:ln>
        </p:spPr>
      </p:sp>
      <p:sp>
        <p:nvSpPr>
          <p:cNvPr id="17" name="Text 15"/>
          <p:cNvSpPr/>
          <p:nvPr/>
        </p:nvSpPr>
        <p:spPr>
          <a:xfrm>
            <a:off x="6720840" y="1170432"/>
            <a:ext cx="1874520" cy="502920"/>
          </a:xfrm>
          <a:prstGeom prst="rect">
            <a:avLst/>
          </a:prstGeom>
          <a:noFill/>
          <a:ln/>
        </p:spPr>
        <p:txBody>
          <a:bodyPr wrap="square" lIns="0" tIns="0" rIns="0" bIns="0" rtlCol="0" anchor="ctr"/>
          <a:lstStyle/>
          <a:p>
            <a:pPr indent="0" marL="0">
              <a:buNone/>
            </a:pPr>
            <a:r>
              <a:rPr lang="en-US" sz="3000" b="1" dirty="0">
                <a:solidFill>
                  <a:srgbClr val="0F2A44"/>
                </a:solidFill>
                <a:latin typeface="Calibri" pitchFamily="34" charset="0"/>
                <a:ea typeface="Calibri" pitchFamily="34" charset="-122"/>
                <a:cs typeface="Calibri" pitchFamily="34" charset="-120"/>
              </a:rPr>
              <a:t>15</a:t>
            </a:r>
            <a:endParaRPr lang="en-US" sz="3000" dirty="0"/>
          </a:p>
        </p:txBody>
      </p:sp>
      <p:sp>
        <p:nvSpPr>
          <p:cNvPr id="18" name="Text 16"/>
          <p:cNvSpPr/>
          <p:nvPr/>
        </p:nvSpPr>
        <p:spPr>
          <a:xfrm>
            <a:off x="6720840" y="1700784"/>
            <a:ext cx="1874520" cy="274320"/>
          </a:xfrm>
          <a:prstGeom prst="rect">
            <a:avLst/>
          </a:prstGeom>
          <a:noFill/>
          <a:ln/>
        </p:spPr>
        <p:txBody>
          <a:bodyPr wrap="square" lIns="0" tIns="0" rIns="0" bIns="0" rtlCol="0" anchor="ctr"/>
          <a:lstStyle/>
          <a:p>
            <a:pPr indent="0" marL="0">
              <a:buNone/>
            </a:pPr>
            <a:r>
              <a:rPr lang="en-US" sz="1250" b="1" dirty="0">
                <a:solidFill>
                  <a:srgbClr val="0F2A44"/>
                </a:solidFill>
                <a:latin typeface="Calibri" pitchFamily="34" charset="0"/>
                <a:ea typeface="Calibri" pitchFamily="34" charset="-122"/>
                <a:cs typeface="Calibri" pitchFamily="34" charset="-120"/>
              </a:rPr>
              <a:t>Service Sizing</a:t>
            </a:r>
            <a:endParaRPr lang="en-US" sz="1250" dirty="0"/>
          </a:p>
        </p:txBody>
      </p:sp>
      <p:sp>
        <p:nvSpPr>
          <p:cNvPr id="19" name="Text 17"/>
          <p:cNvSpPr/>
          <p:nvPr/>
        </p:nvSpPr>
        <p:spPr>
          <a:xfrm>
            <a:off x="6720840" y="1993392"/>
            <a:ext cx="1874520" cy="548640"/>
          </a:xfrm>
          <a:prstGeom prst="rect">
            <a:avLst/>
          </a:prstGeom>
          <a:noFill/>
          <a:ln/>
        </p:spPr>
        <p:txBody>
          <a:bodyPr wrap="square" lIns="0" tIns="0" rIns="0" bIns="0" rtlCol="0" anchor="ctr"/>
          <a:lstStyle/>
          <a:p>
            <a:pPr indent="0" marL="0">
              <a:buNone/>
            </a:pPr>
            <a:r>
              <a:rPr lang="en-US" sz="950" dirty="0">
                <a:solidFill>
                  <a:srgbClr val="64748B"/>
                </a:solidFill>
                <a:latin typeface="Calibri" pitchFamily="34" charset="0"/>
                <a:ea typeface="Calibri" pitchFamily="34" charset="-122"/>
                <a:cs typeface="Calibri" pitchFamily="34" charset="-120"/>
              </a:rPr>
              <a:t>Nano (cap 8) + god (cap 10) penalties</a:t>
            </a:r>
            <a:endParaRPr lang="en-US" sz="950" dirty="0"/>
          </a:p>
        </p:txBody>
      </p:sp>
      <p:sp>
        <p:nvSpPr>
          <p:cNvPr id="20" name="Text 18"/>
          <p:cNvSpPr/>
          <p:nvPr/>
        </p:nvSpPr>
        <p:spPr>
          <a:xfrm>
            <a:off x="548640" y="2724912"/>
            <a:ext cx="8046720" cy="274320"/>
          </a:xfrm>
          <a:prstGeom prst="rect">
            <a:avLst/>
          </a:prstGeom>
          <a:noFill/>
          <a:ln/>
        </p:spPr>
        <p:txBody>
          <a:bodyPr wrap="square" lIns="0" tIns="0" rIns="0" bIns="0" rtlCol="0" anchor="ctr"/>
          <a:lstStyle/>
          <a:p>
            <a:pPr indent="0" marL="0">
              <a:buNone/>
            </a:pPr>
            <a:r>
              <a:rPr lang="en-US" sz="1250" b="1" dirty="0">
                <a:solidFill>
                  <a:srgbClr val="0F2A44"/>
                </a:solidFill>
                <a:latin typeface="Calibri" pitchFamily="34" charset="0"/>
                <a:ea typeface="Calibri" pitchFamily="34" charset="-122"/>
                <a:cs typeface="Calibri" pitchFamily="34" charset="-120"/>
              </a:rPr>
              <a:t>Letter grade scale</a:t>
            </a:r>
            <a:endParaRPr lang="en-US" sz="1250" dirty="0"/>
          </a:p>
        </p:txBody>
      </p:sp>
      <p:sp>
        <p:nvSpPr>
          <p:cNvPr id="21" name="Shape 19"/>
          <p:cNvSpPr/>
          <p:nvPr/>
        </p:nvSpPr>
        <p:spPr>
          <a:xfrm>
            <a:off x="548640" y="3035808"/>
            <a:ext cx="1572768" cy="457200"/>
          </a:xfrm>
          <a:prstGeom prst="rect">
            <a:avLst/>
          </a:prstGeom>
          <a:solidFill>
            <a:srgbClr val="059669"/>
          </a:solidFill>
          <a:ln w="12700">
            <a:solidFill>
              <a:srgbClr val="059669"/>
            </a:solidFill>
            <a:prstDash val="solid"/>
          </a:ln>
        </p:spPr>
      </p:sp>
      <p:sp>
        <p:nvSpPr>
          <p:cNvPr id="22" name="Text 20"/>
          <p:cNvSpPr/>
          <p:nvPr/>
        </p:nvSpPr>
        <p:spPr>
          <a:xfrm>
            <a:off x="685800" y="3035808"/>
            <a:ext cx="1426464" cy="45720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A  </a:t>
            </a:r>
            <a:pPr indent="0" marL="0">
              <a:buNone/>
            </a:pPr>
            <a:r>
              <a:rPr lang="en-US" sz="1100" dirty="0">
                <a:solidFill>
                  <a:srgbClr val="FFFFFF"/>
                </a:solidFill>
                <a:latin typeface="Calibri" pitchFamily="34" charset="0"/>
                <a:ea typeface="Calibri" pitchFamily="34" charset="-122"/>
                <a:cs typeface="Calibri" pitchFamily="34" charset="-120"/>
              </a:rPr>
              <a:t>≥ 90</a:t>
            </a:r>
            <a:endParaRPr lang="en-US" sz="1400" dirty="0"/>
          </a:p>
        </p:txBody>
      </p:sp>
      <p:sp>
        <p:nvSpPr>
          <p:cNvPr id="23" name="Shape 21"/>
          <p:cNvSpPr/>
          <p:nvPr/>
        </p:nvSpPr>
        <p:spPr>
          <a:xfrm>
            <a:off x="2157984" y="3035808"/>
            <a:ext cx="1572768" cy="457200"/>
          </a:xfrm>
          <a:prstGeom prst="rect">
            <a:avLst/>
          </a:prstGeom>
          <a:solidFill>
            <a:srgbClr val="0D9488"/>
          </a:solidFill>
          <a:ln w="12700">
            <a:solidFill>
              <a:srgbClr val="0D9488"/>
            </a:solidFill>
            <a:prstDash val="solid"/>
          </a:ln>
        </p:spPr>
      </p:sp>
      <p:sp>
        <p:nvSpPr>
          <p:cNvPr id="24" name="Text 22"/>
          <p:cNvSpPr/>
          <p:nvPr/>
        </p:nvSpPr>
        <p:spPr>
          <a:xfrm>
            <a:off x="2295144" y="3035808"/>
            <a:ext cx="1426464" cy="45720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B  </a:t>
            </a:r>
            <a:pPr indent="0" marL="0">
              <a:buNone/>
            </a:pPr>
            <a:r>
              <a:rPr lang="en-US" sz="1100" dirty="0">
                <a:solidFill>
                  <a:srgbClr val="FFFFFF"/>
                </a:solidFill>
                <a:latin typeface="Calibri" pitchFamily="34" charset="0"/>
                <a:ea typeface="Calibri" pitchFamily="34" charset="-122"/>
                <a:cs typeface="Calibri" pitchFamily="34" charset="-120"/>
              </a:rPr>
              <a:t>≥ 80</a:t>
            </a:r>
            <a:endParaRPr lang="en-US" sz="1400" dirty="0"/>
          </a:p>
        </p:txBody>
      </p:sp>
      <p:sp>
        <p:nvSpPr>
          <p:cNvPr id="25" name="Shape 23"/>
          <p:cNvSpPr/>
          <p:nvPr/>
        </p:nvSpPr>
        <p:spPr>
          <a:xfrm>
            <a:off x="3767328" y="3035808"/>
            <a:ext cx="1572768" cy="457200"/>
          </a:xfrm>
          <a:prstGeom prst="rect">
            <a:avLst/>
          </a:prstGeom>
          <a:solidFill>
            <a:srgbClr val="1C4E80"/>
          </a:solidFill>
          <a:ln w="12700">
            <a:solidFill>
              <a:srgbClr val="1C4E80"/>
            </a:solidFill>
            <a:prstDash val="solid"/>
          </a:ln>
        </p:spPr>
      </p:sp>
      <p:sp>
        <p:nvSpPr>
          <p:cNvPr id="26" name="Text 24"/>
          <p:cNvSpPr/>
          <p:nvPr/>
        </p:nvSpPr>
        <p:spPr>
          <a:xfrm>
            <a:off x="3904488" y="3035808"/>
            <a:ext cx="1426464" cy="45720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C  </a:t>
            </a:r>
            <a:pPr indent="0" marL="0">
              <a:buNone/>
            </a:pPr>
            <a:r>
              <a:rPr lang="en-US" sz="1100" dirty="0">
                <a:solidFill>
                  <a:srgbClr val="FFFFFF"/>
                </a:solidFill>
                <a:latin typeface="Calibri" pitchFamily="34" charset="0"/>
                <a:ea typeface="Calibri" pitchFamily="34" charset="-122"/>
                <a:cs typeface="Calibri" pitchFamily="34" charset="-120"/>
              </a:rPr>
              <a:t>≥ 65</a:t>
            </a:r>
            <a:endParaRPr lang="en-US" sz="1400" dirty="0"/>
          </a:p>
        </p:txBody>
      </p:sp>
      <p:sp>
        <p:nvSpPr>
          <p:cNvPr id="27" name="Shape 25"/>
          <p:cNvSpPr/>
          <p:nvPr/>
        </p:nvSpPr>
        <p:spPr>
          <a:xfrm>
            <a:off x="5376672" y="3035808"/>
            <a:ext cx="1572768" cy="457200"/>
          </a:xfrm>
          <a:prstGeom prst="rect">
            <a:avLst/>
          </a:prstGeom>
          <a:solidFill>
            <a:srgbClr val="D97706"/>
          </a:solidFill>
          <a:ln w="12700">
            <a:solidFill>
              <a:srgbClr val="D97706"/>
            </a:solidFill>
            <a:prstDash val="solid"/>
          </a:ln>
        </p:spPr>
      </p:sp>
      <p:sp>
        <p:nvSpPr>
          <p:cNvPr id="28" name="Text 26"/>
          <p:cNvSpPr/>
          <p:nvPr/>
        </p:nvSpPr>
        <p:spPr>
          <a:xfrm>
            <a:off x="5513832" y="3035808"/>
            <a:ext cx="1426464" cy="45720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D  </a:t>
            </a:r>
            <a:pPr indent="0" marL="0">
              <a:buNone/>
            </a:pPr>
            <a:r>
              <a:rPr lang="en-US" sz="1100" dirty="0">
                <a:solidFill>
                  <a:srgbClr val="FFFFFF"/>
                </a:solidFill>
                <a:latin typeface="Calibri" pitchFamily="34" charset="0"/>
                <a:ea typeface="Calibri" pitchFamily="34" charset="-122"/>
                <a:cs typeface="Calibri" pitchFamily="34" charset="-120"/>
              </a:rPr>
              <a:t>≥ 50</a:t>
            </a:r>
            <a:endParaRPr lang="en-US" sz="1400" dirty="0"/>
          </a:p>
        </p:txBody>
      </p:sp>
      <p:sp>
        <p:nvSpPr>
          <p:cNvPr id="29" name="Shape 27"/>
          <p:cNvSpPr/>
          <p:nvPr/>
        </p:nvSpPr>
        <p:spPr>
          <a:xfrm>
            <a:off x="6986016" y="3035808"/>
            <a:ext cx="1572768" cy="457200"/>
          </a:xfrm>
          <a:prstGeom prst="rect">
            <a:avLst/>
          </a:prstGeom>
          <a:solidFill>
            <a:srgbClr val="DC2626"/>
          </a:solidFill>
          <a:ln w="12700">
            <a:solidFill>
              <a:srgbClr val="DC2626"/>
            </a:solidFill>
            <a:prstDash val="solid"/>
          </a:ln>
        </p:spPr>
      </p:sp>
      <p:sp>
        <p:nvSpPr>
          <p:cNvPr id="30" name="Text 28"/>
          <p:cNvSpPr/>
          <p:nvPr/>
        </p:nvSpPr>
        <p:spPr>
          <a:xfrm>
            <a:off x="7123176" y="3035808"/>
            <a:ext cx="1426464" cy="45720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F  </a:t>
            </a:r>
            <a:pPr indent="0" marL="0">
              <a:buNone/>
            </a:pPr>
            <a:r>
              <a:rPr lang="en-US" sz="1100" dirty="0">
                <a:solidFill>
                  <a:srgbClr val="FFFFFF"/>
                </a:solidFill>
                <a:latin typeface="Calibri" pitchFamily="34" charset="0"/>
                <a:ea typeface="Calibri" pitchFamily="34" charset="-122"/>
                <a:cs typeface="Calibri" pitchFamily="34" charset="-120"/>
              </a:rPr>
              <a:t>&lt; 50</a:t>
            </a:r>
            <a:endParaRPr lang="en-US" sz="1400" dirty="0"/>
          </a:p>
        </p:txBody>
      </p:sp>
      <p:sp>
        <p:nvSpPr>
          <p:cNvPr id="31" name="Text 29"/>
          <p:cNvSpPr/>
          <p:nvPr/>
        </p:nvSpPr>
        <p:spPr>
          <a:xfrm>
            <a:off x="548640" y="3822192"/>
            <a:ext cx="8046720" cy="274320"/>
          </a:xfrm>
          <a:prstGeom prst="rect">
            <a:avLst/>
          </a:prstGeom>
          <a:noFill/>
          <a:ln/>
        </p:spPr>
        <p:txBody>
          <a:bodyPr wrap="square" lIns="0" tIns="0" rIns="0" bIns="0" rtlCol="0" anchor="ctr"/>
          <a:lstStyle/>
          <a:p>
            <a:pPr indent="0" marL="0">
              <a:buNone/>
            </a:pPr>
            <a:r>
              <a:rPr lang="en-US" sz="1250" b="1" dirty="0">
                <a:solidFill>
                  <a:srgbClr val="0F2A44"/>
                </a:solidFill>
                <a:latin typeface="Calibri" pitchFamily="34" charset="0"/>
                <a:ea typeface="Calibri" pitchFamily="34" charset="-122"/>
                <a:cs typeface="Calibri" pitchFamily="34" charset="-120"/>
              </a:rPr>
              <a:t>Why decompose?</a:t>
            </a:r>
            <a:endParaRPr lang="en-US" sz="1250" dirty="0"/>
          </a:p>
        </p:txBody>
      </p:sp>
      <p:sp>
        <p:nvSpPr>
          <p:cNvPr id="32" name="Text 30"/>
          <p:cNvSpPr/>
          <p:nvPr/>
        </p:nvSpPr>
        <p:spPr>
          <a:xfrm>
            <a:off x="548640" y="4114800"/>
            <a:ext cx="8046720" cy="548640"/>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A single number tells teams whether quality is improving; the per-category breakdown tells them which dimension needs attention. Both views are exposed via the analysis-diff feature for tracking over time.</a:t>
            </a:r>
            <a:endParaRPr lang="en-US" sz="1100" dirty="0"/>
          </a:p>
        </p:txBody>
      </p:sp>
      <p:sp>
        <p:nvSpPr>
          <p:cNvPr id="33" name="Text 31"/>
          <p:cNvSpPr/>
          <p:nvPr/>
        </p:nvSpPr>
        <p:spPr>
          <a:xfrm>
            <a:off x="7955280" y="4864608"/>
            <a:ext cx="640080" cy="22860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8 / 15</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56032"/>
            <a:ext cx="8046720" cy="502920"/>
          </a:xfrm>
          <a:prstGeom prst="rect">
            <a:avLst/>
          </a:prstGeom>
          <a:noFill/>
          <a:ln/>
        </p:spPr>
        <p:txBody>
          <a:bodyPr wrap="square" lIns="0" tIns="0" rIns="0" bIns="0" rtlCol="0" anchor="ctr"/>
          <a:lstStyle/>
          <a:p>
            <a:pPr indent="0" marL="0">
              <a:buNone/>
            </a:pPr>
            <a:r>
              <a:rPr lang="en-US" sz="2500" b="1" dirty="0">
                <a:solidFill>
                  <a:srgbClr val="0F2A44"/>
                </a:solidFill>
                <a:latin typeface="Calibri" pitchFamily="34" charset="0"/>
                <a:ea typeface="Calibri" pitchFamily="34" charset="-122"/>
                <a:cs typeface="Calibri" pitchFamily="34" charset="-120"/>
              </a:rPr>
              <a:t>Worked example: microservice-recruit</a:t>
            </a:r>
            <a:endParaRPr lang="en-US" sz="2500" dirty="0"/>
          </a:p>
        </p:txBody>
      </p:sp>
      <p:sp>
        <p:nvSpPr>
          <p:cNvPr id="3" name="Shape 1"/>
          <p:cNvSpPr/>
          <p:nvPr/>
        </p:nvSpPr>
        <p:spPr>
          <a:xfrm>
            <a:off x="548640" y="841248"/>
            <a:ext cx="8046720" cy="13716"/>
          </a:xfrm>
          <a:prstGeom prst="rect">
            <a:avLst/>
          </a:prstGeom>
          <a:solidFill>
            <a:srgbClr val="D8DEE6"/>
          </a:solidFill>
          <a:ln w="12700">
            <a:solidFill>
              <a:srgbClr val="D8DEE6"/>
            </a:solidFill>
            <a:prstDash val="solid"/>
          </a:ln>
        </p:spPr>
      </p:sp>
      <p:sp>
        <p:nvSpPr>
          <p:cNvPr id="4" name="Text 2"/>
          <p:cNvSpPr/>
          <p:nvPr/>
        </p:nvSpPr>
        <p:spPr>
          <a:xfrm>
            <a:off x="548640" y="987552"/>
            <a:ext cx="3931920" cy="292608"/>
          </a:xfrm>
          <a:prstGeom prst="rect">
            <a:avLst/>
          </a:prstGeom>
          <a:noFill/>
          <a:ln/>
        </p:spPr>
        <p:txBody>
          <a:bodyPr wrap="square" lIns="0" tIns="0" rIns="0" bIns="0" rtlCol="0" anchor="ctr"/>
          <a:lstStyle/>
          <a:p>
            <a:pPr indent="0" marL="0">
              <a:buNone/>
            </a:pPr>
            <a:r>
              <a:rPr lang="en-US" sz="1300" b="1" dirty="0">
                <a:solidFill>
                  <a:srgbClr val="0F2A44"/>
                </a:solidFill>
                <a:latin typeface="Calibri" pitchFamily="34" charset="0"/>
                <a:ea typeface="Calibri" pitchFamily="34" charset="-122"/>
                <a:cs typeface="Calibri" pitchFamily="34" charset="-120"/>
              </a:rPr>
              <a:t>Anti-pattern findings</a:t>
            </a:r>
            <a:endParaRPr lang="en-US" sz="1300" dirty="0"/>
          </a:p>
        </p:txBody>
      </p:sp>
      <p:sp>
        <p:nvSpPr>
          <p:cNvPr id="5" name="Text 3"/>
          <p:cNvSpPr/>
          <p:nvPr/>
        </p:nvSpPr>
        <p:spPr>
          <a:xfrm>
            <a:off x="548640" y="1353312"/>
            <a:ext cx="411480" cy="274320"/>
          </a:xfrm>
          <a:prstGeom prst="rect">
            <a:avLst/>
          </a:prstGeom>
          <a:noFill/>
          <a:ln/>
        </p:spPr>
        <p:txBody>
          <a:bodyPr wrap="square" lIns="0" tIns="0" rIns="0" bIns="0" rtlCol="0" anchor="ctr"/>
          <a:lstStyle/>
          <a:p>
            <a:pPr indent="0" marL="0">
              <a:buNone/>
            </a:pPr>
            <a:r>
              <a:rPr lang="en-US" sz="1100" b="1" dirty="0">
                <a:solidFill>
                  <a:srgbClr val="DC2626"/>
                </a:solidFill>
                <a:latin typeface="Calibri" pitchFamily="34" charset="0"/>
                <a:ea typeface="Calibri" pitchFamily="34" charset="-122"/>
                <a:cs typeface="Calibri" pitchFamily="34" charset="-120"/>
              </a:rPr>
              <a:t>6×</a:t>
            </a:r>
            <a:endParaRPr lang="en-US" sz="1100" dirty="0"/>
          </a:p>
        </p:txBody>
      </p:sp>
      <p:sp>
        <p:nvSpPr>
          <p:cNvPr id="6" name="Text 4"/>
          <p:cNvSpPr/>
          <p:nvPr/>
        </p:nvSpPr>
        <p:spPr>
          <a:xfrm>
            <a:off x="1005840" y="1353312"/>
            <a:ext cx="2240280" cy="274320"/>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API Versioning Absence</a:t>
            </a:r>
            <a:endParaRPr lang="en-US" sz="1100" dirty="0"/>
          </a:p>
        </p:txBody>
      </p:sp>
      <p:sp>
        <p:nvSpPr>
          <p:cNvPr id="7" name="Text 5"/>
          <p:cNvSpPr/>
          <p:nvPr/>
        </p:nvSpPr>
        <p:spPr>
          <a:xfrm>
            <a:off x="3246120" y="1353312"/>
            <a:ext cx="1234440" cy="274320"/>
          </a:xfrm>
          <a:prstGeom prst="rect">
            <a:avLst/>
          </a:prstGeom>
          <a:noFill/>
          <a:ln/>
        </p:spPr>
        <p:txBody>
          <a:bodyPr wrap="square" lIns="0" tIns="0" rIns="0" bIns="0"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−3 each = −18</a:t>
            </a:r>
            <a:endParaRPr lang="en-US" sz="1000" dirty="0"/>
          </a:p>
        </p:txBody>
      </p:sp>
      <p:sp>
        <p:nvSpPr>
          <p:cNvPr id="8" name="Shape 6"/>
          <p:cNvSpPr/>
          <p:nvPr/>
        </p:nvSpPr>
        <p:spPr>
          <a:xfrm>
            <a:off x="548640" y="1618488"/>
            <a:ext cx="3931920" cy="10973"/>
          </a:xfrm>
          <a:prstGeom prst="rect">
            <a:avLst/>
          </a:prstGeom>
          <a:solidFill>
            <a:srgbClr val="D8DEE6"/>
          </a:solidFill>
          <a:ln w="12700">
            <a:solidFill>
              <a:srgbClr val="D8DEE6"/>
            </a:solidFill>
            <a:prstDash val="solid"/>
          </a:ln>
        </p:spPr>
      </p:sp>
      <p:sp>
        <p:nvSpPr>
          <p:cNvPr id="9" name="Text 7"/>
          <p:cNvSpPr/>
          <p:nvPr/>
        </p:nvSpPr>
        <p:spPr>
          <a:xfrm>
            <a:off x="548640" y="1655064"/>
            <a:ext cx="411480" cy="274320"/>
          </a:xfrm>
          <a:prstGeom prst="rect">
            <a:avLst/>
          </a:prstGeom>
          <a:noFill/>
          <a:ln/>
        </p:spPr>
        <p:txBody>
          <a:bodyPr wrap="square" lIns="0" tIns="0" rIns="0" bIns="0" rtlCol="0" anchor="ctr"/>
          <a:lstStyle/>
          <a:p>
            <a:pPr indent="0" marL="0">
              <a:buNone/>
            </a:pPr>
            <a:r>
              <a:rPr lang="en-US" sz="1100" b="1" dirty="0">
                <a:solidFill>
                  <a:srgbClr val="DC2626"/>
                </a:solidFill>
                <a:latin typeface="Calibri" pitchFamily="34" charset="0"/>
                <a:ea typeface="Calibri" pitchFamily="34" charset="-122"/>
                <a:cs typeface="Calibri" pitchFamily="34" charset="-120"/>
              </a:rPr>
              <a:t>2×</a:t>
            </a:r>
            <a:endParaRPr lang="en-US" sz="1100" dirty="0"/>
          </a:p>
        </p:txBody>
      </p:sp>
      <p:sp>
        <p:nvSpPr>
          <p:cNvPr id="10" name="Text 8"/>
          <p:cNvSpPr/>
          <p:nvPr/>
        </p:nvSpPr>
        <p:spPr>
          <a:xfrm>
            <a:off x="1005840" y="1655064"/>
            <a:ext cx="2240280" cy="274320"/>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ESB Misuse</a:t>
            </a:r>
            <a:endParaRPr lang="en-US" sz="1100" dirty="0"/>
          </a:p>
        </p:txBody>
      </p:sp>
      <p:sp>
        <p:nvSpPr>
          <p:cNvPr id="11" name="Text 9"/>
          <p:cNvSpPr/>
          <p:nvPr/>
        </p:nvSpPr>
        <p:spPr>
          <a:xfrm>
            <a:off x="3246120" y="1655064"/>
            <a:ext cx="1234440" cy="274320"/>
          </a:xfrm>
          <a:prstGeom prst="rect">
            <a:avLst/>
          </a:prstGeom>
          <a:noFill/>
          <a:ln/>
        </p:spPr>
        <p:txBody>
          <a:bodyPr wrap="square" lIns="0" tIns="0" rIns="0" bIns="0"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−5 each = −10</a:t>
            </a:r>
            <a:endParaRPr lang="en-US" sz="1000" dirty="0"/>
          </a:p>
        </p:txBody>
      </p:sp>
      <p:sp>
        <p:nvSpPr>
          <p:cNvPr id="12" name="Shape 10"/>
          <p:cNvSpPr/>
          <p:nvPr/>
        </p:nvSpPr>
        <p:spPr>
          <a:xfrm>
            <a:off x="548640" y="1920240"/>
            <a:ext cx="3931920" cy="10973"/>
          </a:xfrm>
          <a:prstGeom prst="rect">
            <a:avLst/>
          </a:prstGeom>
          <a:solidFill>
            <a:srgbClr val="D8DEE6"/>
          </a:solidFill>
          <a:ln w="12700">
            <a:solidFill>
              <a:srgbClr val="D8DEE6"/>
            </a:solidFill>
            <a:prstDash val="solid"/>
          </a:ln>
        </p:spPr>
      </p:sp>
      <p:sp>
        <p:nvSpPr>
          <p:cNvPr id="13" name="Text 11"/>
          <p:cNvSpPr/>
          <p:nvPr/>
        </p:nvSpPr>
        <p:spPr>
          <a:xfrm>
            <a:off x="548640" y="1956816"/>
            <a:ext cx="411480" cy="274320"/>
          </a:xfrm>
          <a:prstGeom prst="rect">
            <a:avLst/>
          </a:prstGeom>
          <a:noFill/>
          <a:ln/>
        </p:spPr>
        <p:txBody>
          <a:bodyPr wrap="square" lIns="0" tIns="0" rIns="0" bIns="0" rtlCol="0" anchor="ctr"/>
          <a:lstStyle/>
          <a:p>
            <a:pPr indent="0" marL="0">
              <a:buNone/>
            </a:pPr>
            <a:r>
              <a:rPr lang="en-US" sz="1100" b="1" dirty="0">
                <a:solidFill>
                  <a:srgbClr val="DC2626"/>
                </a:solidFill>
                <a:latin typeface="Calibri" pitchFamily="34" charset="0"/>
                <a:ea typeface="Calibri" pitchFamily="34" charset="-122"/>
                <a:cs typeface="Calibri" pitchFamily="34" charset="-120"/>
              </a:rPr>
              <a:t>2×</a:t>
            </a:r>
            <a:endParaRPr lang="en-US" sz="1100" dirty="0"/>
          </a:p>
        </p:txBody>
      </p:sp>
      <p:sp>
        <p:nvSpPr>
          <p:cNvPr id="14" name="Text 12"/>
          <p:cNvSpPr/>
          <p:nvPr/>
        </p:nvSpPr>
        <p:spPr>
          <a:xfrm>
            <a:off x="1005840" y="1956816"/>
            <a:ext cx="2240280" cy="274320"/>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Wrong Cuts</a:t>
            </a:r>
            <a:endParaRPr lang="en-US" sz="1100" dirty="0"/>
          </a:p>
        </p:txBody>
      </p:sp>
      <p:sp>
        <p:nvSpPr>
          <p:cNvPr id="15" name="Text 13"/>
          <p:cNvSpPr/>
          <p:nvPr/>
        </p:nvSpPr>
        <p:spPr>
          <a:xfrm>
            <a:off x="3246120" y="1956816"/>
            <a:ext cx="1234440" cy="274320"/>
          </a:xfrm>
          <a:prstGeom prst="rect">
            <a:avLst/>
          </a:prstGeom>
          <a:noFill/>
          <a:ln/>
        </p:spPr>
        <p:txBody>
          <a:bodyPr wrap="square" lIns="0" tIns="0" rIns="0" bIns="0"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−5 each = −10</a:t>
            </a:r>
            <a:endParaRPr lang="en-US" sz="1000" dirty="0"/>
          </a:p>
        </p:txBody>
      </p:sp>
      <p:sp>
        <p:nvSpPr>
          <p:cNvPr id="16" name="Shape 14"/>
          <p:cNvSpPr/>
          <p:nvPr/>
        </p:nvSpPr>
        <p:spPr>
          <a:xfrm>
            <a:off x="548640" y="2221992"/>
            <a:ext cx="3931920" cy="10973"/>
          </a:xfrm>
          <a:prstGeom prst="rect">
            <a:avLst/>
          </a:prstGeom>
          <a:solidFill>
            <a:srgbClr val="D8DEE6"/>
          </a:solidFill>
          <a:ln w="12700">
            <a:solidFill>
              <a:srgbClr val="D8DEE6"/>
            </a:solidFill>
            <a:prstDash val="solid"/>
          </a:ln>
        </p:spPr>
      </p:sp>
      <p:sp>
        <p:nvSpPr>
          <p:cNvPr id="17" name="Text 15"/>
          <p:cNvSpPr/>
          <p:nvPr/>
        </p:nvSpPr>
        <p:spPr>
          <a:xfrm>
            <a:off x="548640" y="2258568"/>
            <a:ext cx="411480" cy="274320"/>
          </a:xfrm>
          <a:prstGeom prst="rect">
            <a:avLst/>
          </a:prstGeom>
          <a:noFill/>
          <a:ln/>
        </p:spPr>
        <p:txBody>
          <a:bodyPr wrap="square" lIns="0" tIns="0" rIns="0" bIns="0" rtlCol="0" anchor="ctr"/>
          <a:lstStyle/>
          <a:p>
            <a:pPr indent="0" marL="0">
              <a:buNone/>
            </a:pPr>
            <a:r>
              <a:rPr lang="en-US" sz="1100" b="1" dirty="0">
                <a:solidFill>
                  <a:srgbClr val="DC2626"/>
                </a:solidFill>
                <a:latin typeface="Calibri" pitchFamily="34" charset="0"/>
                <a:ea typeface="Calibri" pitchFamily="34" charset="-122"/>
                <a:cs typeface="Calibri" pitchFamily="34" charset="-120"/>
              </a:rPr>
              <a:t>1×</a:t>
            </a:r>
            <a:endParaRPr lang="en-US" sz="1100" dirty="0"/>
          </a:p>
        </p:txBody>
      </p:sp>
      <p:sp>
        <p:nvSpPr>
          <p:cNvPr id="18" name="Text 16"/>
          <p:cNvSpPr/>
          <p:nvPr/>
        </p:nvSpPr>
        <p:spPr>
          <a:xfrm>
            <a:off x="1005840" y="2258568"/>
            <a:ext cx="2240280" cy="274320"/>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Cyclic Dependency</a:t>
            </a:r>
            <a:endParaRPr lang="en-US" sz="1100" dirty="0"/>
          </a:p>
        </p:txBody>
      </p:sp>
      <p:sp>
        <p:nvSpPr>
          <p:cNvPr id="19" name="Text 17"/>
          <p:cNvSpPr/>
          <p:nvPr/>
        </p:nvSpPr>
        <p:spPr>
          <a:xfrm>
            <a:off x="3246120" y="2258568"/>
            <a:ext cx="1234440" cy="274320"/>
          </a:xfrm>
          <a:prstGeom prst="rect">
            <a:avLst/>
          </a:prstGeom>
          <a:noFill/>
          <a:ln/>
        </p:spPr>
        <p:txBody>
          <a:bodyPr wrap="square" lIns="0" tIns="0" rIns="0" bIns="0"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−8</a:t>
            </a:r>
            <a:endParaRPr lang="en-US" sz="1000" dirty="0"/>
          </a:p>
        </p:txBody>
      </p:sp>
      <p:sp>
        <p:nvSpPr>
          <p:cNvPr id="20" name="Shape 18"/>
          <p:cNvSpPr/>
          <p:nvPr/>
        </p:nvSpPr>
        <p:spPr>
          <a:xfrm>
            <a:off x="548640" y="2523744"/>
            <a:ext cx="3931920" cy="10973"/>
          </a:xfrm>
          <a:prstGeom prst="rect">
            <a:avLst/>
          </a:prstGeom>
          <a:solidFill>
            <a:srgbClr val="D8DEE6"/>
          </a:solidFill>
          <a:ln w="12700">
            <a:solidFill>
              <a:srgbClr val="D8DEE6"/>
            </a:solidFill>
            <a:prstDash val="solid"/>
          </a:ln>
        </p:spPr>
      </p:sp>
      <p:sp>
        <p:nvSpPr>
          <p:cNvPr id="21" name="Text 19"/>
          <p:cNvSpPr/>
          <p:nvPr/>
        </p:nvSpPr>
        <p:spPr>
          <a:xfrm>
            <a:off x="548640" y="2560320"/>
            <a:ext cx="411480" cy="274320"/>
          </a:xfrm>
          <a:prstGeom prst="rect">
            <a:avLst/>
          </a:prstGeom>
          <a:noFill/>
          <a:ln/>
        </p:spPr>
        <p:txBody>
          <a:bodyPr wrap="square" lIns="0" tIns="0" rIns="0" bIns="0" rtlCol="0" anchor="ctr"/>
          <a:lstStyle/>
          <a:p>
            <a:pPr indent="0" marL="0">
              <a:buNone/>
            </a:pPr>
            <a:r>
              <a:rPr lang="en-US" sz="1100" b="1" dirty="0">
                <a:solidFill>
                  <a:srgbClr val="DC2626"/>
                </a:solidFill>
                <a:latin typeface="Calibri" pitchFamily="34" charset="0"/>
                <a:ea typeface="Calibri" pitchFamily="34" charset="-122"/>
                <a:cs typeface="Calibri" pitchFamily="34" charset="-120"/>
              </a:rPr>
              <a:t>1×</a:t>
            </a:r>
            <a:endParaRPr lang="en-US" sz="1100" dirty="0"/>
          </a:p>
        </p:txBody>
      </p:sp>
      <p:sp>
        <p:nvSpPr>
          <p:cNvPr id="22" name="Text 20"/>
          <p:cNvSpPr/>
          <p:nvPr/>
        </p:nvSpPr>
        <p:spPr>
          <a:xfrm>
            <a:off x="1005840" y="2560320"/>
            <a:ext cx="2240280" cy="274320"/>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Hardcoded Endpoints</a:t>
            </a:r>
            <a:endParaRPr lang="en-US" sz="1100" dirty="0"/>
          </a:p>
        </p:txBody>
      </p:sp>
      <p:sp>
        <p:nvSpPr>
          <p:cNvPr id="23" name="Text 21"/>
          <p:cNvSpPr/>
          <p:nvPr/>
        </p:nvSpPr>
        <p:spPr>
          <a:xfrm>
            <a:off x="3246120" y="2560320"/>
            <a:ext cx="1234440" cy="274320"/>
          </a:xfrm>
          <a:prstGeom prst="rect">
            <a:avLst/>
          </a:prstGeom>
          <a:noFill/>
          <a:ln/>
        </p:spPr>
        <p:txBody>
          <a:bodyPr wrap="square" lIns="0" tIns="0" rIns="0" bIns="0"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−3</a:t>
            </a:r>
            <a:endParaRPr lang="en-US" sz="1000" dirty="0"/>
          </a:p>
        </p:txBody>
      </p:sp>
      <p:sp>
        <p:nvSpPr>
          <p:cNvPr id="24" name="Shape 22"/>
          <p:cNvSpPr/>
          <p:nvPr/>
        </p:nvSpPr>
        <p:spPr>
          <a:xfrm>
            <a:off x="548640" y="2825496"/>
            <a:ext cx="3931920" cy="10973"/>
          </a:xfrm>
          <a:prstGeom prst="rect">
            <a:avLst/>
          </a:prstGeom>
          <a:solidFill>
            <a:srgbClr val="D8DEE6"/>
          </a:solidFill>
          <a:ln w="12700">
            <a:solidFill>
              <a:srgbClr val="D8DEE6"/>
            </a:solidFill>
            <a:prstDash val="solid"/>
          </a:ln>
        </p:spPr>
      </p:sp>
      <p:sp>
        <p:nvSpPr>
          <p:cNvPr id="25" name="Text 23"/>
          <p:cNvSpPr/>
          <p:nvPr/>
        </p:nvSpPr>
        <p:spPr>
          <a:xfrm>
            <a:off x="548640" y="2944368"/>
            <a:ext cx="3931920" cy="292608"/>
          </a:xfrm>
          <a:prstGeom prst="rect">
            <a:avLst/>
          </a:prstGeom>
          <a:noFill/>
          <a:ln/>
        </p:spPr>
        <p:txBody>
          <a:bodyPr wrap="square" lIns="0" tIns="0" rIns="0" bIns="0" rtlCol="0" anchor="ctr"/>
          <a:lstStyle/>
          <a:p>
            <a:pPr indent="0" marL="0">
              <a:buNone/>
            </a:pPr>
            <a:r>
              <a:rPr lang="en-US" sz="1150" b="1" dirty="0">
                <a:solidFill>
                  <a:srgbClr val="0F2A44"/>
                </a:solidFill>
                <a:latin typeface="Calibri" pitchFamily="34" charset="0"/>
                <a:ea typeface="Calibri" pitchFamily="34" charset="-122"/>
                <a:cs typeface="Calibri" pitchFamily="34" charset="-120"/>
              </a:rPr>
              <a:t>Total penalty 49  →  category clamps at 0 / 40</a:t>
            </a:r>
            <a:endParaRPr lang="en-US" sz="1150" dirty="0"/>
          </a:p>
        </p:txBody>
      </p:sp>
      <p:sp>
        <p:nvSpPr>
          <p:cNvPr id="26" name="Text 24"/>
          <p:cNvSpPr/>
          <p:nvPr/>
        </p:nvSpPr>
        <p:spPr>
          <a:xfrm>
            <a:off x="548640" y="3429000"/>
            <a:ext cx="3931920" cy="1097280"/>
          </a:xfrm>
          <a:prstGeom prst="rect">
            <a:avLst/>
          </a:prstGeom>
          <a:noFill/>
          <a:ln/>
        </p:spPr>
        <p:txBody>
          <a:bodyPr wrap="square" lIns="0" tIns="0" rIns="0" bIns="0" rtlCol="0" anchor="ctr"/>
          <a:lstStyle/>
          <a:p>
            <a:pPr indent="0" marL="0">
              <a:buNone/>
            </a:pPr>
            <a:r>
              <a:rPr lang="en-US" sz="1000" i="1" dirty="0">
                <a:solidFill>
                  <a:srgbClr val="64748B"/>
                </a:solidFill>
                <a:latin typeface="Calibri" pitchFamily="34" charset="0"/>
                <a:ea typeface="Calibri" pitchFamily="34" charset="-122"/>
                <a:cs typeface="Calibri" pitchFamily="34" charset="-120"/>
              </a:rPr>
              <a:t>Deductions spread across all four categories: the anti-pattern load clamps AP to 0; Architecture loses 9 to dependency-graph coupling; Code Quality 8 to smell density; Service Sizing 3 to one nano service.</a:t>
            </a:r>
            <a:endParaRPr lang="en-US" sz="1000" dirty="0"/>
          </a:p>
        </p:txBody>
      </p:sp>
      <p:sp>
        <p:nvSpPr>
          <p:cNvPr id="27" name="Text 25"/>
          <p:cNvSpPr/>
          <p:nvPr/>
        </p:nvSpPr>
        <p:spPr>
          <a:xfrm>
            <a:off x="4937760" y="987552"/>
            <a:ext cx="3657600" cy="292608"/>
          </a:xfrm>
          <a:prstGeom prst="rect">
            <a:avLst/>
          </a:prstGeom>
          <a:noFill/>
          <a:ln/>
        </p:spPr>
        <p:txBody>
          <a:bodyPr wrap="square" lIns="0" tIns="0" rIns="0" bIns="0" rtlCol="0" anchor="ctr"/>
          <a:lstStyle/>
          <a:p>
            <a:pPr indent="0" marL="0">
              <a:buNone/>
            </a:pPr>
            <a:r>
              <a:rPr lang="en-US" sz="1300" b="1" dirty="0">
                <a:solidFill>
                  <a:srgbClr val="0F2A44"/>
                </a:solidFill>
                <a:latin typeface="Calibri" pitchFamily="34" charset="0"/>
                <a:ea typeface="Calibri" pitchFamily="34" charset="-122"/>
                <a:cs typeface="Calibri" pitchFamily="34" charset="-120"/>
              </a:rPr>
              <a:t>Category contributions</a:t>
            </a:r>
            <a:endParaRPr lang="en-US" sz="1300" dirty="0"/>
          </a:p>
        </p:txBody>
      </p:sp>
      <p:sp>
        <p:nvSpPr>
          <p:cNvPr id="28" name="Text 26"/>
          <p:cNvSpPr/>
          <p:nvPr/>
        </p:nvSpPr>
        <p:spPr>
          <a:xfrm>
            <a:off x="4937760" y="1353312"/>
            <a:ext cx="1280160" cy="292608"/>
          </a:xfrm>
          <a:prstGeom prst="rect">
            <a:avLst/>
          </a:prstGeom>
          <a:noFill/>
          <a:ln/>
        </p:spPr>
        <p:txBody>
          <a:bodyPr wrap="square" lIns="0" tIns="0" rIns="0" bIns="0" rtlCol="0" anchor="ctr"/>
          <a:lstStyle/>
          <a:p>
            <a:pPr indent="0" marL="0">
              <a:buNone/>
            </a:pPr>
            <a:r>
              <a:rPr lang="en-US" sz="1050" dirty="0">
                <a:solidFill>
                  <a:srgbClr val="1E293B"/>
                </a:solidFill>
                <a:latin typeface="Calibri" pitchFamily="34" charset="0"/>
                <a:ea typeface="Calibri" pitchFamily="34" charset="-122"/>
                <a:cs typeface="Calibri" pitchFamily="34" charset="-120"/>
              </a:rPr>
              <a:t>Anti-Patterns</a:t>
            </a:r>
            <a:endParaRPr lang="en-US" sz="1050" dirty="0"/>
          </a:p>
        </p:txBody>
      </p:sp>
      <p:sp>
        <p:nvSpPr>
          <p:cNvPr id="29" name="Shape 27"/>
          <p:cNvSpPr/>
          <p:nvPr/>
        </p:nvSpPr>
        <p:spPr>
          <a:xfrm>
            <a:off x="6263640" y="1389888"/>
            <a:ext cx="1691640" cy="219456"/>
          </a:xfrm>
          <a:prstGeom prst="rect">
            <a:avLst/>
          </a:prstGeom>
          <a:solidFill>
            <a:srgbClr val="D8DEE6"/>
          </a:solidFill>
          <a:ln w="12700">
            <a:solidFill>
              <a:srgbClr val="D8DEE6"/>
            </a:solidFill>
            <a:prstDash val="solid"/>
          </a:ln>
        </p:spPr>
      </p:sp>
      <p:sp>
        <p:nvSpPr>
          <p:cNvPr id="30" name="Text 28"/>
          <p:cNvSpPr/>
          <p:nvPr/>
        </p:nvSpPr>
        <p:spPr>
          <a:xfrm>
            <a:off x="8028432" y="1353312"/>
            <a:ext cx="566928" cy="292608"/>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0 / 40</a:t>
            </a:r>
            <a:endParaRPr lang="en-US" sz="1000" dirty="0"/>
          </a:p>
        </p:txBody>
      </p:sp>
      <p:sp>
        <p:nvSpPr>
          <p:cNvPr id="31" name="Text 29"/>
          <p:cNvSpPr/>
          <p:nvPr/>
        </p:nvSpPr>
        <p:spPr>
          <a:xfrm>
            <a:off x="4937760" y="1810512"/>
            <a:ext cx="1280160" cy="292608"/>
          </a:xfrm>
          <a:prstGeom prst="rect">
            <a:avLst/>
          </a:prstGeom>
          <a:noFill/>
          <a:ln/>
        </p:spPr>
        <p:txBody>
          <a:bodyPr wrap="square" lIns="0" tIns="0" rIns="0" bIns="0" rtlCol="0" anchor="ctr"/>
          <a:lstStyle/>
          <a:p>
            <a:pPr indent="0" marL="0">
              <a:buNone/>
            </a:pPr>
            <a:r>
              <a:rPr lang="en-US" sz="1050" dirty="0">
                <a:solidFill>
                  <a:srgbClr val="1E293B"/>
                </a:solidFill>
                <a:latin typeface="Calibri" pitchFamily="34" charset="0"/>
                <a:ea typeface="Calibri" pitchFamily="34" charset="-122"/>
                <a:cs typeface="Calibri" pitchFamily="34" charset="-120"/>
              </a:rPr>
              <a:t>Code Quality</a:t>
            </a:r>
            <a:endParaRPr lang="en-US" sz="1050" dirty="0"/>
          </a:p>
        </p:txBody>
      </p:sp>
      <p:sp>
        <p:nvSpPr>
          <p:cNvPr id="32" name="Shape 30"/>
          <p:cNvSpPr/>
          <p:nvPr/>
        </p:nvSpPr>
        <p:spPr>
          <a:xfrm>
            <a:off x="6263640" y="1847088"/>
            <a:ext cx="1691640" cy="219456"/>
          </a:xfrm>
          <a:prstGeom prst="rect">
            <a:avLst/>
          </a:prstGeom>
          <a:solidFill>
            <a:srgbClr val="D8DEE6"/>
          </a:solidFill>
          <a:ln w="12700">
            <a:solidFill>
              <a:srgbClr val="D8DEE6"/>
            </a:solidFill>
            <a:prstDash val="solid"/>
          </a:ln>
        </p:spPr>
      </p:sp>
      <p:sp>
        <p:nvSpPr>
          <p:cNvPr id="33" name="Shape 31"/>
          <p:cNvSpPr/>
          <p:nvPr/>
        </p:nvSpPr>
        <p:spPr>
          <a:xfrm>
            <a:off x="6263640" y="1847088"/>
            <a:ext cx="1014984" cy="219456"/>
          </a:xfrm>
          <a:prstGeom prst="rect">
            <a:avLst/>
          </a:prstGeom>
          <a:solidFill>
            <a:srgbClr val="D97706"/>
          </a:solidFill>
          <a:ln w="12700">
            <a:solidFill>
              <a:srgbClr val="D97706"/>
            </a:solidFill>
            <a:prstDash val="solid"/>
          </a:ln>
        </p:spPr>
      </p:sp>
      <p:sp>
        <p:nvSpPr>
          <p:cNvPr id="34" name="Text 32"/>
          <p:cNvSpPr/>
          <p:nvPr/>
        </p:nvSpPr>
        <p:spPr>
          <a:xfrm>
            <a:off x="8028432" y="1810512"/>
            <a:ext cx="566928" cy="292608"/>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12 / 20</a:t>
            </a:r>
            <a:endParaRPr lang="en-US" sz="1000" dirty="0"/>
          </a:p>
        </p:txBody>
      </p:sp>
      <p:sp>
        <p:nvSpPr>
          <p:cNvPr id="35" name="Text 33"/>
          <p:cNvSpPr/>
          <p:nvPr/>
        </p:nvSpPr>
        <p:spPr>
          <a:xfrm>
            <a:off x="4937760" y="2267712"/>
            <a:ext cx="1280160" cy="292608"/>
          </a:xfrm>
          <a:prstGeom prst="rect">
            <a:avLst/>
          </a:prstGeom>
          <a:noFill/>
          <a:ln/>
        </p:spPr>
        <p:txBody>
          <a:bodyPr wrap="square" lIns="0" tIns="0" rIns="0" bIns="0" rtlCol="0" anchor="ctr"/>
          <a:lstStyle/>
          <a:p>
            <a:pPr indent="0" marL="0">
              <a:buNone/>
            </a:pPr>
            <a:r>
              <a:rPr lang="en-US" sz="1050" dirty="0">
                <a:solidFill>
                  <a:srgbClr val="1E293B"/>
                </a:solidFill>
                <a:latin typeface="Calibri" pitchFamily="34" charset="0"/>
                <a:ea typeface="Calibri" pitchFamily="34" charset="-122"/>
                <a:cs typeface="Calibri" pitchFamily="34" charset="-120"/>
              </a:rPr>
              <a:t>Architecture</a:t>
            </a:r>
            <a:endParaRPr lang="en-US" sz="1050" dirty="0"/>
          </a:p>
        </p:txBody>
      </p:sp>
      <p:sp>
        <p:nvSpPr>
          <p:cNvPr id="36" name="Shape 34"/>
          <p:cNvSpPr/>
          <p:nvPr/>
        </p:nvSpPr>
        <p:spPr>
          <a:xfrm>
            <a:off x="6263640" y="2304288"/>
            <a:ext cx="1691640" cy="219456"/>
          </a:xfrm>
          <a:prstGeom prst="rect">
            <a:avLst/>
          </a:prstGeom>
          <a:solidFill>
            <a:srgbClr val="D8DEE6"/>
          </a:solidFill>
          <a:ln w="12700">
            <a:solidFill>
              <a:srgbClr val="D8DEE6"/>
            </a:solidFill>
            <a:prstDash val="solid"/>
          </a:ln>
        </p:spPr>
      </p:sp>
      <p:sp>
        <p:nvSpPr>
          <p:cNvPr id="37" name="Shape 35"/>
          <p:cNvSpPr/>
          <p:nvPr/>
        </p:nvSpPr>
        <p:spPr>
          <a:xfrm>
            <a:off x="6263640" y="2304288"/>
            <a:ext cx="1082650" cy="219456"/>
          </a:xfrm>
          <a:prstGeom prst="rect">
            <a:avLst/>
          </a:prstGeom>
          <a:solidFill>
            <a:srgbClr val="1C4E80"/>
          </a:solidFill>
          <a:ln w="12700">
            <a:solidFill>
              <a:srgbClr val="1C4E80"/>
            </a:solidFill>
            <a:prstDash val="solid"/>
          </a:ln>
        </p:spPr>
      </p:sp>
      <p:sp>
        <p:nvSpPr>
          <p:cNvPr id="38" name="Text 36"/>
          <p:cNvSpPr/>
          <p:nvPr/>
        </p:nvSpPr>
        <p:spPr>
          <a:xfrm>
            <a:off x="8028432" y="2267712"/>
            <a:ext cx="566928" cy="292608"/>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16 / 25</a:t>
            </a:r>
            <a:endParaRPr lang="en-US" sz="1000" dirty="0"/>
          </a:p>
        </p:txBody>
      </p:sp>
      <p:sp>
        <p:nvSpPr>
          <p:cNvPr id="39" name="Text 37"/>
          <p:cNvSpPr/>
          <p:nvPr/>
        </p:nvSpPr>
        <p:spPr>
          <a:xfrm>
            <a:off x="4937760" y="2724912"/>
            <a:ext cx="1280160" cy="292608"/>
          </a:xfrm>
          <a:prstGeom prst="rect">
            <a:avLst/>
          </a:prstGeom>
          <a:noFill/>
          <a:ln/>
        </p:spPr>
        <p:txBody>
          <a:bodyPr wrap="square" lIns="0" tIns="0" rIns="0" bIns="0" rtlCol="0" anchor="ctr"/>
          <a:lstStyle/>
          <a:p>
            <a:pPr indent="0" marL="0">
              <a:buNone/>
            </a:pPr>
            <a:r>
              <a:rPr lang="en-US" sz="1050" dirty="0">
                <a:solidFill>
                  <a:srgbClr val="1E293B"/>
                </a:solidFill>
                <a:latin typeface="Calibri" pitchFamily="34" charset="0"/>
                <a:ea typeface="Calibri" pitchFamily="34" charset="-122"/>
                <a:cs typeface="Calibri" pitchFamily="34" charset="-120"/>
              </a:rPr>
              <a:t>Service Sizing</a:t>
            </a:r>
            <a:endParaRPr lang="en-US" sz="1050" dirty="0"/>
          </a:p>
        </p:txBody>
      </p:sp>
      <p:sp>
        <p:nvSpPr>
          <p:cNvPr id="40" name="Shape 38"/>
          <p:cNvSpPr/>
          <p:nvPr/>
        </p:nvSpPr>
        <p:spPr>
          <a:xfrm>
            <a:off x="6263640" y="2761488"/>
            <a:ext cx="1691640" cy="219456"/>
          </a:xfrm>
          <a:prstGeom prst="rect">
            <a:avLst/>
          </a:prstGeom>
          <a:solidFill>
            <a:srgbClr val="D8DEE6"/>
          </a:solidFill>
          <a:ln w="12700">
            <a:solidFill>
              <a:srgbClr val="D8DEE6"/>
            </a:solidFill>
            <a:prstDash val="solid"/>
          </a:ln>
        </p:spPr>
      </p:sp>
      <p:sp>
        <p:nvSpPr>
          <p:cNvPr id="41" name="Shape 39"/>
          <p:cNvSpPr/>
          <p:nvPr/>
        </p:nvSpPr>
        <p:spPr>
          <a:xfrm>
            <a:off x="6263640" y="2761488"/>
            <a:ext cx="1353312" cy="219456"/>
          </a:xfrm>
          <a:prstGeom prst="rect">
            <a:avLst/>
          </a:prstGeom>
          <a:solidFill>
            <a:srgbClr val="0D9488"/>
          </a:solidFill>
          <a:ln w="12700">
            <a:solidFill>
              <a:srgbClr val="0D9488"/>
            </a:solidFill>
            <a:prstDash val="solid"/>
          </a:ln>
        </p:spPr>
      </p:sp>
      <p:sp>
        <p:nvSpPr>
          <p:cNvPr id="42" name="Text 40"/>
          <p:cNvSpPr/>
          <p:nvPr/>
        </p:nvSpPr>
        <p:spPr>
          <a:xfrm>
            <a:off x="8028432" y="2724912"/>
            <a:ext cx="566928" cy="292608"/>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12 / 15</a:t>
            </a:r>
            <a:endParaRPr lang="en-US" sz="1000" dirty="0"/>
          </a:p>
        </p:txBody>
      </p:sp>
      <p:sp>
        <p:nvSpPr>
          <p:cNvPr id="43" name="Text 41"/>
          <p:cNvSpPr/>
          <p:nvPr/>
        </p:nvSpPr>
        <p:spPr>
          <a:xfrm>
            <a:off x="4937760" y="3429000"/>
            <a:ext cx="3657600" cy="777240"/>
          </a:xfrm>
          <a:prstGeom prst="rect">
            <a:avLst/>
          </a:prstGeom>
          <a:noFill/>
          <a:ln/>
        </p:spPr>
        <p:txBody>
          <a:bodyPr wrap="square" lIns="0" tIns="0" rIns="0" bIns="0" rtlCol="0" anchor="ctr"/>
          <a:lstStyle/>
          <a:p>
            <a:pPr indent="0" marL="0">
              <a:buNone/>
            </a:pPr>
            <a:r>
              <a:rPr lang="en-US" sz="4000" b="1" dirty="0">
                <a:solidFill>
                  <a:srgbClr val="DC2626"/>
                </a:solidFill>
                <a:latin typeface="Calibri" pitchFamily="34" charset="0"/>
                <a:ea typeface="Calibri" pitchFamily="34" charset="-122"/>
                <a:cs typeface="Calibri" pitchFamily="34" charset="-120"/>
              </a:rPr>
              <a:t>40</a:t>
            </a:r>
            <a:pPr indent="0" marL="0">
              <a:buNone/>
            </a:pPr>
            <a:r>
              <a:rPr lang="en-US" sz="1400" b="1" dirty="0">
                <a:solidFill>
                  <a:srgbClr val="0F2A44"/>
                </a:solidFill>
                <a:latin typeface="Calibri" pitchFamily="34" charset="0"/>
                <a:ea typeface="Calibri" pitchFamily="34" charset="-122"/>
                <a:cs typeface="Calibri" pitchFamily="34" charset="-120"/>
              </a:rPr>
              <a:t>  / 100  ·  Grade F</a:t>
            </a:r>
            <a:endParaRPr lang="en-US" sz="4000" dirty="0"/>
          </a:p>
        </p:txBody>
      </p:sp>
      <p:sp>
        <p:nvSpPr>
          <p:cNvPr id="44" name="Text 42"/>
          <p:cNvSpPr/>
          <p:nvPr/>
        </p:nvSpPr>
        <p:spPr>
          <a:xfrm>
            <a:off x="4937760" y="4206240"/>
            <a:ext cx="3657600" cy="274320"/>
          </a:xfrm>
          <a:prstGeom prst="rect">
            <a:avLst/>
          </a:prstGeom>
          <a:noFill/>
          <a:ln/>
        </p:spPr>
        <p:txBody>
          <a:bodyPr wrap="square" lIns="0" tIns="0" rIns="0" bIns="0" rtlCol="0" anchor="ctr"/>
          <a:lstStyle/>
          <a:p>
            <a:pPr indent="0" marL="0">
              <a:buNone/>
            </a:pPr>
            <a:r>
              <a:rPr lang="en-US" sz="1100" i="1" dirty="0">
                <a:solidFill>
                  <a:srgbClr val="64748B"/>
                </a:solidFill>
                <a:latin typeface="Calibri" pitchFamily="34" charset="0"/>
                <a:ea typeface="Calibri" pitchFamily="34" charset="-122"/>
                <a:cs typeface="Calibri" pitchFamily="34" charset="-120"/>
              </a:rPr>
              <a:t>0 + 12 + 16 + 12</a:t>
            </a:r>
            <a:endParaRPr lang="en-US" sz="1100" dirty="0"/>
          </a:p>
        </p:txBody>
      </p:sp>
      <p:sp>
        <p:nvSpPr>
          <p:cNvPr id="45" name="Text 43"/>
          <p:cNvSpPr/>
          <p:nvPr/>
        </p:nvSpPr>
        <p:spPr>
          <a:xfrm>
            <a:off x="7955280" y="4864608"/>
            <a:ext cx="640080" cy="22860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9 / 15</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56032"/>
            <a:ext cx="8046720" cy="502920"/>
          </a:xfrm>
          <a:prstGeom prst="rect">
            <a:avLst/>
          </a:prstGeom>
          <a:noFill/>
          <a:ln/>
        </p:spPr>
        <p:txBody>
          <a:bodyPr wrap="square" lIns="0" tIns="0" rIns="0" bIns="0" rtlCol="0" anchor="ctr"/>
          <a:lstStyle/>
          <a:p>
            <a:pPr indent="0" marL="0">
              <a:buNone/>
            </a:pPr>
            <a:r>
              <a:rPr lang="en-US" sz="2500" b="1" dirty="0">
                <a:solidFill>
                  <a:srgbClr val="0F2A44"/>
                </a:solidFill>
                <a:latin typeface="Calibri" pitchFamily="34" charset="0"/>
                <a:ea typeface="Calibri" pitchFamily="34" charset="-122"/>
                <a:cs typeface="Calibri" pitchFamily="34" charset="-120"/>
              </a:rPr>
              <a:t>Evaluation methodology</a:t>
            </a:r>
            <a:endParaRPr lang="en-US" sz="2500" dirty="0"/>
          </a:p>
        </p:txBody>
      </p:sp>
      <p:sp>
        <p:nvSpPr>
          <p:cNvPr id="3" name="Shape 1"/>
          <p:cNvSpPr/>
          <p:nvPr/>
        </p:nvSpPr>
        <p:spPr>
          <a:xfrm>
            <a:off x="548640" y="841248"/>
            <a:ext cx="8046720" cy="13716"/>
          </a:xfrm>
          <a:prstGeom prst="rect">
            <a:avLst/>
          </a:prstGeom>
          <a:solidFill>
            <a:srgbClr val="D8DEE6"/>
          </a:solidFill>
          <a:ln w="12700">
            <a:solidFill>
              <a:srgbClr val="D8DEE6"/>
            </a:solidFill>
            <a:prstDash val="solid"/>
          </a:ln>
        </p:spPr>
      </p:sp>
      <p:sp>
        <p:nvSpPr>
          <p:cNvPr id="4" name="Text 2"/>
          <p:cNvSpPr/>
          <p:nvPr/>
        </p:nvSpPr>
        <p:spPr>
          <a:xfrm>
            <a:off x="548640" y="969264"/>
            <a:ext cx="8046720" cy="310896"/>
          </a:xfrm>
          <a:prstGeom prst="rect">
            <a:avLst/>
          </a:prstGeom>
          <a:noFill/>
          <a:ln/>
        </p:spPr>
        <p:txBody>
          <a:bodyPr wrap="square" lIns="0" tIns="0" rIns="0" bIns="0" rtlCol="0" anchor="ctr"/>
          <a:lstStyle/>
          <a:p>
            <a:pPr indent="0" marL="0">
              <a:buNone/>
            </a:pPr>
            <a:r>
              <a:rPr lang="en-US" sz="1250" i="1" dirty="0">
                <a:solidFill>
                  <a:srgbClr val="64748B"/>
                </a:solidFill>
                <a:latin typeface="Calibri" pitchFamily="34" charset="0"/>
                <a:ea typeface="Calibri" pitchFamily="34" charset="-122"/>
                <a:cs typeface="Calibri" pitchFamily="34" charset="-120"/>
              </a:rPr>
              <a:t>Goal: demonstrate feasibility across heterogeneous real-world repositories</a:t>
            </a:r>
            <a:endParaRPr lang="en-US" sz="1250" dirty="0"/>
          </a:p>
        </p:txBody>
      </p:sp>
      <p:sp>
        <p:nvSpPr>
          <p:cNvPr id="5" name="Shape 3"/>
          <p:cNvSpPr/>
          <p:nvPr/>
        </p:nvSpPr>
        <p:spPr>
          <a:xfrm>
            <a:off x="548640" y="1481328"/>
            <a:ext cx="2331720" cy="41148"/>
          </a:xfrm>
          <a:prstGeom prst="rect">
            <a:avLst/>
          </a:prstGeom>
          <a:solidFill>
            <a:srgbClr val="0D9488"/>
          </a:solidFill>
          <a:ln w="12700">
            <a:solidFill>
              <a:srgbClr val="0D9488"/>
            </a:solidFill>
            <a:prstDash val="solid"/>
          </a:ln>
        </p:spPr>
      </p:sp>
      <p:sp>
        <p:nvSpPr>
          <p:cNvPr id="6" name="Text 4"/>
          <p:cNvSpPr/>
          <p:nvPr/>
        </p:nvSpPr>
        <p:spPr>
          <a:xfrm>
            <a:off x="548640" y="1627632"/>
            <a:ext cx="2331720" cy="502920"/>
          </a:xfrm>
          <a:prstGeom prst="rect">
            <a:avLst/>
          </a:prstGeom>
          <a:noFill/>
          <a:ln/>
        </p:spPr>
        <p:txBody>
          <a:bodyPr wrap="square" lIns="0" tIns="0" rIns="0" bIns="0" rtlCol="0" anchor="ctr"/>
          <a:lstStyle/>
          <a:p>
            <a:pPr indent="0" marL="0">
              <a:buNone/>
            </a:pPr>
            <a:r>
              <a:rPr lang="en-US" sz="2900" b="1" dirty="0">
                <a:solidFill>
                  <a:srgbClr val="0F2A44"/>
                </a:solidFill>
                <a:latin typeface="Calibri" pitchFamily="34" charset="0"/>
                <a:ea typeface="Calibri" pitchFamily="34" charset="-122"/>
                <a:cs typeface="Calibri" pitchFamily="34" charset="-120"/>
              </a:rPr>
              <a:t>11</a:t>
            </a:r>
            <a:endParaRPr lang="en-US" sz="2900" dirty="0"/>
          </a:p>
        </p:txBody>
      </p:sp>
      <p:sp>
        <p:nvSpPr>
          <p:cNvPr id="7" name="Text 5"/>
          <p:cNvSpPr/>
          <p:nvPr/>
        </p:nvSpPr>
        <p:spPr>
          <a:xfrm>
            <a:off x="548640" y="2139696"/>
            <a:ext cx="2331720" cy="274320"/>
          </a:xfrm>
          <a:prstGeom prst="rect">
            <a:avLst/>
          </a:prstGeom>
          <a:noFill/>
          <a:ln/>
        </p:spPr>
        <p:txBody>
          <a:bodyPr wrap="square" lIns="0" tIns="0" rIns="0" bIns="0" rtlCol="0" anchor="ctr"/>
          <a:lstStyle/>
          <a:p>
            <a:pPr indent="0" marL="0">
              <a:buNone/>
            </a:pPr>
            <a:r>
              <a:rPr lang="en-US" sz="1200" b="1" dirty="0">
                <a:solidFill>
                  <a:srgbClr val="0F2A44"/>
                </a:solidFill>
                <a:latin typeface="Calibri" pitchFamily="34" charset="0"/>
                <a:ea typeface="Calibri" pitchFamily="34" charset="-122"/>
                <a:cs typeface="Calibri" pitchFamily="34" charset="-120"/>
              </a:rPr>
              <a:t>Dataset</a:t>
            </a:r>
            <a:endParaRPr lang="en-US" sz="1200" dirty="0"/>
          </a:p>
        </p:txBody>
      </p:sp>
      <p:sp>
        <p:nvSpPr>
          <p:cNvPr id="8" name="Text 6"/>
          <p:cNvSpPr/>
          <p:nvPr/>
        </p:nvSpPr>
        <p:spPr>
          <a:xfrm>
            <a:off x="548640" y="2432304"/>
            <a:ext cx="2331720" cy="530352"/>
          </a:xfrm>
          <a:prstGeom prst="rect">
            <a:avLst/>
          </a:prstGeom>
          <a:noFill/>
          <a:ln/>
        </p:spPr>
        <p:txBody>
          <a:bodyPr wrap="square" lIns="0" tIns="0" rIns="0" bIns="0" rtlCol="0" anchor="ctr"/>
          <a:lstStyle/>
          <a:p>
            <a:pPr indent="0" marL="0">
              <a:buNone/>
            </a:pPr>
            <a:r>
              <a:rPr lang="en-US" sz="950" dirty="0">
                <a:solidFill>
                  <a:srgbClr val="64748B"/>
                </a:solidFill>
                <a:latin typeface="Calibri" pitchFamily="34" charset="0"/>
                <a:ea typeface="Calibri" pitchFamily="34" charset="-122"/>
                <a:cs typeface="Calibri" pitchFamily="34" charset="-120"/>
              </a:rPr>
              <a:t>Open-source Java/Spring Boot microservice systems</a:t>
            </a:r>
            <a:endParaRPr lang="en-US" sz="950" dirty="0"/>
          </a:p>
        </p:txBody>
      </p:sp>
      <p:sp>
        <p:nvSpPr>
          <p:cNvPr id="9" name="Shape 7"/>
          <p:cNvSpPr/>
          <p:nvPr/>
        </p:nvSpPr>
        <p:spPr>
          <a:xfrm>
            <a:off x="3291840" y="1481328"/>
            <a:ext cx="2331720" cy="41148"/>
          </a:xfrm>
          <a:prstGeom prst="rect">
            <a:avLst/>
          </a:prstGeom>
          <a:solidFill>
            <a:srgbClr val="1C4E80"/>
          </a:solidFill>
          <a:ln w="12700">
            <a:solidFill>
              <a:srgbClr val="1C4E80"/>
            </a:solidFill>
            <a:prstDash val="solid"/>
          </a:ln>
        </p:spPr>
      </p:sp>
      <p:sp>
        <p:nvSpPr>
          <p:cNvPr id="10" name="Text 8"/>
          <p:cNvSpPr/>
          <p:nvPr/>
        </p:nvSpPr>
        <p:spPr>
          <a:xfrm>
            <a:off x="3291840" y="1627632"/>
            <a:ext cx="2331720" cy="502920"/>
          </a:xfrm>
          <a:prstGeom prst="rect">
            <a:avLst/>
          </a:prstGeom>
          <a:noFill/>
          <a:ln/>
        </p:spPr>
        <p:txBody>
          <a:bodyPr wrap="square" lIns="0" tIns="0" rIns="0" bIns="0" rtlCol="0" anchor="ctr"/>
          <a:lstStyle/>
          <a:p>
            <a:pPr indent="0" marL="0">
              <a:buNone/>
            </a:pPr>
            <a:r>
              <a:rPr lang="en-US" sz="2900" b="1" dirty="0">
                <a:solidFill>
                  <a:srgbClr val="0F2A44"/>
                </a:solidFill>
                <a:latin typeface="Calibri" pitchFamily="34" charset="0"/>
                <a:ea typeface="Calibri" pitchFamily="34" charset="-122"/>
                <a:cs typeface="Calibri" pitchFamily="34" charset="-120"/>
              </a:rPr>
              <a:t>130</a:t>
            </a:r>
            <a:endParaRPr lang="en-US" sz="2900" dirty="0"/>
          </a:p>
        </p:txBody>
      </p:sp>
      <p:sp>
        <p:nvSpPr>
          <p:cNvPr id="11" name="Text 9"/>
          <p:cNvSpPr/>
          <p:nvPr/>
        </p:nvSpPr>
        <p:spPr>
          <a:xfrm>
            <a:off x="3291840" y="2139696"/>
            <a:ext cx="2331720" cy="274320"/>
          </a:xfrm>
          <a:prstGeom prst="rect">
            <a:avLst/>
          </a:prstGeom>
          <a:noFill/>
          <a:ln/>
        </p:spPr>
        <p:txBody>
          <a:bodyPr wrap="square" lIns="0" tIns="0" rIns="0" bIns="0" rtlCol="0" anchor="ctr"/>
          <a:lstStyle/>
          <a:p>
            <a:pPr indent="0" marL="0">
              <a:buNone/>
            </a:pPr>
            <a:r>
              <a:rPr lang="en-US" sz="1200" b="1" dirty="0">
                <a:solidFill>
                  <a:srgbClr val="0F2A44"/>
                </a:solidFill>
                <a:latin typeface="Calibri" pitchFamily="34" charset="0"/>
                <a:ea typeface="Calibri" pitchFamily="34" charset="-122"/>
                <a:cs typeface="Calibri" pitchFamily="34" charset="-120"/>
              </a:rPr>
              <a:t>Detected services</a:t>
            </a:r>
            <a:endParaRPr lang="en-US" sz="1200" dirty="0"/>
          </a:p>
        </p:txBody>
      </p:sp>
      <p:sp>
        <p:nvSpPr>
          <p:cNvPr id="12" name="Text 10"/>
          <p:cNvSpPr/>
          <p:nvPr/>
        </p:nvSpPr>
        <p:spPr>
          <a:xfrm>
            <a:off x="3291840" y="2432304"/>
            <a:ext cx="2331720" cy="530352"/>
          </a:xfrm>
          <a:prstGeom prst="rect">
            <a:avLst/>
          </a:prstGeom>
          <a:noFill/>
          <a:ln/>
        </p:spPr>
        <p:txBody>
          <a:bodyPr wrap="square" lIns="0" tIns="0" rIns="0" bIns="0" rtlCol="0" anchor="ctr"/>
          <a:lstStyle/>
          <a:p>
            <a:pPr indent="0" marL="0">
              <a:buNone/>
            </a:pPr>
            <a:r>
              <a:rPr lang="en-US" sz="950" dirty="0">
                <a:solidFill>
                  <a:srgbClr val="64748B"/>
                </a:solidFill>
                <a:latin typeface="Calibri" pitchFamily="34" charset="0"/>
                <a:ea typeface="Calibri" pitchFamily="34" charset="-122"/>
                <a:cs typeface="Calibri" pitchFamily="34" charset="-120"/>
              </a:rPr>
              <a:t>Service modules identified by the deployability gate</a:t>
            </a:r>
            <a:endParaRPr lang="en-US" sz="950" dirty="0"/>
          </a:p>
        </p:txBody>
      </p:sp>
      <p:sp>
        <p:nvSpPr>
          <p:cNvPr id="13" name="Shape 11"/>
          <p:cNvSpPr/>
          <p:nvPr/>
        </p:nvSpPr>
        <p:spPr>
          <a:xfrm>
            <a:off x="6035040" y="1481328"/>
            <a:ext cx="2331720" cy="41148"/>
          </a:xfrm>
          <a:prstGeom prst="rect">
            <a:avLst/>
          </a:prstGeom>
          <a:solidFill>
            <a:srgbClr val="D97706"/>
          </a:solidFill>
          <a:ln w="12700">
            <a:solidFill>
              <a:srgbClr val="D97706"/>
            </a:solidFill>
            <a:prstDash val="solid"/>
          </a:ln>
        </p:spPr>
      </p:sp>
      <p:sp>
        <p:nvSpPr>
          <p:cNvPr id="14" name="Text 12"/>
          <p:cNvSpPr/>
          <p:nvPr/>
        </p:nvSpPr>
        <p:spPr>
          <a:xfrm>
            <a:off x="6035040" y="1627632"/>
            <a:ext cx="2331720" cy="502920"/>
          </a:xfrm>
          <a:prstGeom prst="rect">
            <a:avLst/>
          </a:prstGeom>
          <a:noFill/>
          <a:ln/>
        </p:spPr>
        <p:txBody>
          <a:bodyPr wrap="square" lIns="0" tIns="0" rIns="0" bIns="0" rtlCol="0" anchor="ctr"/>
          <a:lstStyle/>
          <a:p>
            <a:pPr indent="0" marL="0">
              <a:buNone/>
            </a:pPr>
            <a:r>
              <a:rPr lang="en-US" sz="2900" b="1" dirty="0">
                <a:solidFill>
                  <a:srgbClr val="0F2A44"/>
                </a:solidFill>
                <a:latin typeface="Calibri" pitchFamily="34" charset="0"/>
                <a:ea typeface="Calibri" pitchFamily="34" charset="-122"/>
                <a:cs typeface="Calibri" pitchFamily="34" charset="-120"/>
              </a:rPr>
              <a:t>~274k</a:t>
            </a:r>
            <a:endParaRPr lang="en-US" sz="2900" dirty="0"/>
          </a:p>
        </p:txBody>
      </p:sp>
      <p:sp>
        <p:nvSpPr>
          <p:cNvPr id="15" name="Text 13"/>
          <p:cNvSpPr/>
          <p:nvPr/>
        </p:nvSpPr>
        <p:spPr>
          <a:xfrm>
            <a:off x="6035040" y="2139696"/>
            <a:ext cx="2331720" cy="274320"/>
          </a:xfrm>
          <a:prstGeom prst="rect">
            <a:avLst/>
          </a:prstGeom>
          <a:noFill/>
          <a:ln/>
        </p:spPr>
        <p:txBody>
          <a:bodyPr wrap="square" lIns="0" tIns="0" rIns="0" bIns="0" rtlCol="0" anchor="ctr"/>
          <a:lstStyle/>
          <a:p>
            <a:pPr indent="0" marL="0">
              <a:buNone/>
            </a:pPr>
            <a:r>
              <a:rPr lang="en-US" sz="1200" b="1" dirty="0">
                <a:solidFill>
                  <a:srgbClr val="0F2A44"/>
                </a:solidFill>
                <a:latin typeface="Calibri" pitchFamily="34" charset="0"/>
                <a:ea typeface="Calibri" pitchFamily="34" charset="-122"/>
                <a:cs typeface="Calibri" pitchFamily="34" charset="-120"/>
              </a:rPr>
              <a:t>Code volume</a:t>
            </a:r>
            <a:endParaRPr lang="en-US" sz="1200" dirty="0"/>
          </a:p>
        </p:txBody>
      </p:sp>
      <p:sp>
        <p:nvSpPr>
          <p:cNvPr id="16" name="Text 14"/>
          <p:cNvSpPr/>
          <p:nvPr/>
        </p:nvSpPr>
        <p:spPr>
          <a:xfrm>
            <a:off x="6035040" y="2432304"/>
            <a:ext cx="2331720" cy="530352"/>
          </a:xfrm>
          <a:prstGeom prst="rect">
            <a:avLst/>
          </a:prstGeom>
          <a:noFill/>
          <a:ln/>
        </p:spPr>
        <p:txBody>
          <a:bodyPr wrap="square" lIns="0" tIns="0" rIns="0" bIns="0" rtlCol="0" anchor="ctr"/>
          <a:lstStyle/>
          <a:p>
            <a:pPr indent="0" marL="0">
              <a:buNone/>
            </a:pPr>
            <a:r>
              <a:rPr lang="en-US" sz="950" dirty="0">
                <a:solidFill>
                  <a:srgbClr val="64748B"/>
                </a:solidFill>
                <a:latin typeface="Calibri" pitchFamily="34" charset="0"/>
                <a:ea typeface="Calibri" pitchFamily="34" charset="-122"/>
                <a:cs typeface="Calibri" pitchFamily="34" charset="-120"/>
              </a:rPr>
              <a:t>Lines of Java code analysed across all projects</a:t>
            </a:r>
            <a:endParaRPr lang="en-US" sz="950" dirty="0"/>
          </a:p>
        </p:txBody>
      </p:sp>
      <p:sp>
        <p:nvSpPr>
          <p:cNvPr id="17" name="Text 15"/>
          <p:cNvSpPr/>
          <p:nvPr/>
        </p:nvSpPr>
        <p:spPr>
          <a:xfrm>
            <a:off x="548640" y="3218688"/>
            <a:ext cx="3566160" cy="292608"/>
          </a:xfrm>
          <a:prstGeom prst="rect">
            <a:avLst/>
          </a:prstGeom>
          <a:noFill/>
          <a:ln/>
        </p:spPr>
        <p:txBody>
          <a:bodyPr wrap="square" lIns="0" tIns="0" rIns="0" bIns="0" rtlCol="0" anchor="ctr"/>
          <a:lstStyle/>
          <a:p>
            <a:pPr indent="0" marL="0">
              <a:buNone/>
            </a:pPr>
            <a:r>
              <a:rPr lang="en-US" sz="1300" b="1" dirty="0">
                <a:solidFill>
                  <a:srgbClr val="0F2A44"/>
                </a:solidFill>
                <a:latin typeface="Calibri" pitchFamily="34" charset="0"/>
                <a:ea typeface="Calibri" pitchFamily="34" charset="-122"/>
                <a:cs typeface="Calibri" pitchFamily="34" charset="-120"/>
              </a:rPr>
              <a:t>What was measured</a:t>
            </a:r>
            <a:endParaRPr lang="en-US" sz="1300" dirty="0"/>
          </a:p>
        </p:txBody>
      </p:sp>
      <p:sp>
        <p:nvSpPr>
          <p:cNvPr id="18" name="Text 16"/>
          <p:cNvSpPr/>
          <p:nvPr/>
        </p:nvSpPr>
        <p:spPr>
          <a:xfrm>
            <a:off x="749808" y="3566160"/>
            <a:ext cx="3566160" cy="914400"/>
          </a:xfrm>
          <a:prstGeom prst="rect">
            <a:avLst/>
          </a:prstGeom>
          <a:noFill/>
          <a:ln/>
        </p:spPr>
        <p:txBody>
          <a:bodyPr wrap="square" lIns="0" tIns="0" rIns="0" bIns="0" rtlCol="0" anchor="ctr"/>
          <a:lstStyle/>
          <a:p>
            <a:pPr marL="342900" indent="-342900">
              <a:spcAft>
                <a:spcPts val="200"/>
              </a:spcAft>
              <a:buSzPct val="100000"/>
              <a:buChar char="•"/>
            </a:pPr>
            <a:r>
              <a:rPr lang="en-US" sz="1050" dirty="0">
                <a:solidFill>
                  <a:srgbClr val="1E293B"/>
                </a:solidFill>
                <a:latin typeface="Calibri" pitchFamily="34" charset="0"/>
                <a:ea typeface="Calibri" pitchFamily="34" charset="-122"/>
                <a:cs typeface="Calibri" pitchFamily="34" charset="-120"/>
              </a:rPr>
              <a:t>service count and Java LOC</a:t>
            </a:r>
            <a:endParaRPr lang="en-US" sz="1050" dirty="0"/>
          </a:p>
          <a:p>
            <a:pPr marL="342900" indent="-342900">
              <a:spcAft>
                <a:spcPts val="200"/>
              </a:spcAft>
              <a:buSzPct val="100000"/>
              <a:buChar char="•"/>
            </a:pPr>
            <a:r>
              <a:rPr lang="en-US" sz="1050" dirty="0">
                <a:solidFill>
                  <a:srgbClr val="1E293B"/>
                </a:solidFill>
                <a:latin typeface="Calibri" pitchFamily="34" charset="0"/>
                <a:ea typeface="Calibri" pitchFamily="34" charset="-122"/>
                <a:cs typeface="Calibri" pitchFamily="34" charset="-120"/>
              </a:rPr>
              <a:t>anti-pattern instances and severity</a:t>
            </a:r>
            <a:endParaRPr lang="en-US" sz="1050" dirty="0"/>
          </a:p>
          <a:p>
            <a:pPr marL="342900" indent="-342900">
              <a:spcAft>
                <a:spcPts val="200"/>
              </a:spcAft>
              <a:buSzPct val="100000"/>
              <a:buChar char="•"/>
            </a:pPr>
            <a:r>
              <a:rPr lang="en-US" sz="1050" dirty="0">
                <a:solidFill>
                  <a:srgbClr val="1E293B"/>
                </a:solidFill>
                <a:latin typeface="Calibri" pitchFamily="34" charset="0"/>
                <a:ea typeface="Calibri" pitchFamily="34" charset="-122"/>
                <a:cs typeface="Calibri" pitchFamily="34" charset="-120"/>
              </a:rPr>
              <a:t>dependency graph metrics and cycle count</a:t>
            </a:r>
            <a:endParaRPr lang="en-US" sz="1050" dirty="0"/>
          </a:p>
          <a:p>
            <a:pPr marL="342900" indent="-342900">
              <a:spcAft>
                <a:spcPts val="200"/>
              </a:spcAft>
              <a:buSzPct val="100000"/>
              <a:buChar char="•"/>
            </a:pPr>
            <a:r>
              <a:rPr lang="en-US" sz="1050" dirty="0">
                <a:solidFill>
                  <a:srgbClr val="1E293B"/>
                </a:solidFill>
                <a:latin typeface="Calibri" pitchFamily="34" charset="0"/>
                <a:ea typeface="Calibri" pitchFamily="34" charset="-122"/>
                <a:cs typeface="Calibri" pitchFamily="34" charset="-120"/>
              </a:rPr>
              <a:t>code-smell density and final health score</a:t>
            </a:r>
            <a:endParaRPr lang="en-US" sz="1050" dirty="0"/>
          </a:p>
        </p:txBody>
      </p:sp>
      <p:sp>
        <p:nvSpPr>
          <p:cNvPr id="19" name="Text 17"/>
          <p:cNvSpPr/>
          <p:nvPr/>
        </p:nvSpPr>
        <p:spPr>
          <a:xfrm>
            <a:off x="4754880" y="3218688"/>
            <a:ext cx="3840480" cy="292608"/>
          </a:xfrm>
          <a:prstGeom prst="rect">
            <a:avLst/>
          </a:prstGeom>
          <a:noFill/>
          <a:ln/>
        </p:spPr>
        <p:txBody>
          <a:bodyPr wrap="square" lIns="0" tIns="0" rIns="0" bIns="0" rtlCol="0" anchor="ctr"/>
          <a:lstStyle/>
          <a:p>
            <a:pPr indent="0" marL="0">
              <a:buNone/>
            </a:pPr>
            <a:r>
              <a:rPr lang="en-US" sz="1300" b="1" dirty="0">
                <a:solidFill>
                  <a:srgbClr val="0F2A44"/>
                </a:solidFill>
                <a:latin typeface="Calibri" pitchFamily="34" charset="0"/>
                <a:ea typeface="Calibri" pitchFamily="34" charset="-122"/>
                <a:cs typeface="Calibri" pitchFamily="34" charset="-120"/>
              </a:rPr>
              <a:t>Interpretation</a:t>
            </a:r>
            <a:endParaRPr lang="en-US" sz="1300" dirty="0"/>
          </a:p>
        </p:txBody>
      </p:sp>
      <p:sp>
        <p:nvSpPr>
          <p:cNvPr id="20" name="Text 18"/>
          <p:cNvSpPr/>
          <p:nvPr/>
        </p:nvSpPr>
        <p:spPr>
          <a:xfrm>
            <a:off x="4754880" y="3547872"/>
            <a:ext cx="3840480" cy="960120"/>
          </a:xfrm>
          <a:prstGeom prst="rect">
            <a:avLst/>
          </a:prstGeom>
          <a:noFill/>
          <a:ln/>
        </p:spPr>
        <p:txBody>
          <a:bodyPr wrap="square" lIns="0" tIns="0" rIns="0" bIns="0" rtlCol="0" anchor="ctr"/>
          <a:lstStyle/>
          <a:p>
            <a:pPr indent="0" marL="0">
              <a:buNone/>
            </a:pPr>
            <a:r>
              <a:rPr lang="en-US" sz="1050" dirty="0">
                <a:solidFill>
                  <a:srgbClr val="1E293B"/>
                </a:solidFill>
                <a:latin typeface="Calibri" pitchFamily="34" charset="0"/>
                <a:ea typeface="Calibri" pitchFamily="34" charset="-122"/>
                <a:cs typeface="Calibri" pitchFamily="34" charset="-120"/>
              </a:rPr>
              <a:t>This is a feasibility study, not a statistical precision/recall claim. A labelled benchmark for microservice anti-patterns is not yet widely available, so the evaluation focuses on whether the full pipeline can process real systems and produce explainable, comparable outputs.</a:t>
            </a:r>
            <a:endParaRPr lang="en-US" sz="1050" dirty="0"/>
          </a:p>
        </p:txBody>
      </p:sp>
      <p:sp>
        <p:nvSpPr>
          <p:cNvPr id="21" name="Text 19"/>
          <p:cNvSpPr/>
          <p:nvPr/>
        </p:nvSpPr>
        <p:spPr>
          <a:xfrm>
            <a:off x="7955280" y="4864608"/>
            <a:ext cx="640080" cy="22860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10 / 15</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56032"/>
            <a:ext cx="8046720" cy="502920"/>
          </a:xfrm>
          <a:prstGeom prst="rect">
            <a:avLst/>
          </a:prstGeom>
          <a:noFill/>
          <a:ln/>
        </p:spPr>
        <p:txBody>
          <a:bodyPr wrap="square" lIns="0" tIns="0" rIns="0" bIns="0" rtlCol="0" anchor="ctr"/>
          <a:lstStyle/>
          <a:p>
            <a:pPr indent="0" marL="0">
              <a:buNone/>
            </a:pPr>
            <a:r>
              <a:rPr lang="en-US" sz="2500" b="1" dirty="0">
                <a:solidFill>
                  <a:srgbClr val="0F2A44"/>
                </a:solidFill>
                <a:latin typeface="Calibri" pitchFamily="34" charset="0"/>
                <a:ea typeface="Calibri" pitchFamily="34" charset="-122"/>
                <a:cs typeface="Calibri" pitchFamily="34" charset="-120"/>
              </a:rPr>
              <a:t>Evaluation: eleven open-source projects</a:t>
            </a:r>
            <a:endParaRPr lang="en-US" sz="2500" dirty="0"/>
          </a:p>
        </p:txBody>
      </p:sp>
      <p:sp>
        <p:nvSpPr>
          <p:cNvPr id="3" name="Shape 1"/>
          <p:cNvSpPr/>
          <p:nvPr/>
        </p:nvSpPr>
        <p:spPr>
          <a:xfrm>
            <a:off x="548640" y="841248"/>
            <a:ext cx="8046720" cy="13716"/>
          </a:xfrm>
          <a:prstGeom prst="rect">
            <a:avLst/>
          </a:prstGeom>
          <a:solidFill>
            <a:srgbClr val="D8DEE6"/>
          </a:solidFill>
          <a:ln w="12700">
            <a:solidFill>
              <a:srgbClr val="D8DEE6"/>
            </a:solidFill>
            <a:prstDash val="solid"/>
          </a:ln>
        </p:spPr>
      </p:sp>
      <p:graphicFrame>
        <p:nvGraphicFramePr>
          <p:cNvPr id="4" name="Chart 0" descr=""/>
          <p:cNvGraphicFramePr/>
          <p:nvPr/>
        </p:nvGraphicFramePr>
        <p:xfrm>
          <a:off x="502920" y="960120"/>
          <a:ext cx="5029200" cy="2697480"/>
        </p:xfrm>
        <a:graphic xmlns:a="http://schemas.openxmlformats.org/drawingml/2006/main">
          <a:graphicData uri="http://schemas.openxmlformats.org/drawingml/2006/chart">
            <c:chart xmlns:c="http://schemas.openxmlformats.org/drawingml/2006/chart" r:id="rId1"/>
          </a:graphicData>
        </a:graphic>
      </p:graphicFrame>
      <p:sp>
        <p:nvSpPr>
          <p:cNvPr id="5" name="Text 2"/>
          <p:cNvSpPr/>
          <p:nvPr/>
        </p:nvSpPr>
        <p:spPr>
          <a:xfrm>
            <a:off x="5943600" y="960120"/>
            <a:ext cx="2651760" cy="274320"/>
          </a:xfrm>
          <a:prstGeom prst="rect">
            <a:avLst/>
          </a:prstGeom>
          <a:noFill/>
          <a:ln/>
        </p:spPr>
        <p:txBody>
          <a:bodyPr wrap="square" lIns="0" tIns="0" rIns="0" bIns="0" rtlCol="0" anchor="ctr"/>
          <a:lstStyle/>
          <a:p>
            <a:pPr indent="0" marL="0">
              <a:buNone/>
            </a:pPr>
            <a:r>
              <a:rPr lang="en-US" sz="1200" b="1" dirty="0">
                <a:solidFill>
                  <a:srgbClr val="0F2A44"/>
                </a:solidFill>
                <a:latin typeface="Calibri" pitchFamily="34" charset="0"/>
                <a:ea typeface="Calibri" pitchFamily="34" charset="-122"/>
                <a:cs typeface="Calibri" pitchFamily="34" charset="-120"/>
              </a:rPr>
              <a:t>Dataset (services · LOC)</a:t>
            </a:r>
            <a:endParaRPr lang="en-US" sz="1200" dirty="0"/>
          </a:p>
        </p:txBody>
      </p:sp>
      <p:sp>
        <p:nvSpPr>
          <p:cNvPr id="6" name="Shape 3"/>
          <p:cNvSpPr/>
          <p:nvPr/>
        </p:nvSpPr>
        <p:spPr>
          <a:xfrm>
            <a:off x="5943600" y="1261872"/>
            <a:ext cx="2651760" cy="13716"/>
          </a:xfrm>
          <a:prstGeom prst="rect">
            <a:avLst/>
          </a:prstGeom>
          <a:solidFill>
            <a:srgbClr val="D8DEE6"/>
          </a:solidFill>
          <a:ln w="12700">
            <a:solidFill>
              <a:srgbClr val="D8DEE6"/>
            </a:solidFill>
            <a:prstDash val="solid"/>
          </a:ln>
        </p:spPr>
      </p:sp>
      <p:sp>
        <p:nvSpPr>
          <p:cNvPr id="7" name="Text 4"/>
          <p:cNvSpPr/>
          <p:nvPr/>
        </p:nvSpPr>
        <p:spPr>
          <a:xfrm>
            <a:off x="5943600" y="1335024"/>
            <a:ext cx="1417320" cy="192024"/>
          </a:xfrm>
          <a:prstGeom prst="rect">
            <a:avLst/>
          </a:prstGeom>
          <a:noFill/>
          <a:ln/>
        </p:spPr>
        <p:txBody>
          <a:bodyPr wrap="square" lIns="0" tIns="0" rIns="0" bIns="0" rtlCol="0" anchor="ctr"/>
          <a:lstStyle/>
          <a:p>
            <a:pPr indent="0" marL="0">
              <a:buNone/>
            </a:pPr>
            <a:r>
              <a:rPr lang="en-US" sz="900" dirty="0">
                <a:solidFill>
                  <a:srgbClr val="1E293B"/>
                </a:solidFill>
                <a:latin typeface="Calibri" pitchFamily="34" charset="0"/>
                <a:ea typeface="Calibri" pitchFamily="34" charset="-122"/>
                <a:cs typeface="Calibri" pitchFamily="34" charset="-120"/>
              </a:rPr>
              <a:t>MicroSocial</a:t>
            </a:r>
            <a:endParaRPr lang="en-US" sz="900" dirty="0"/>
          </a:p>
        </p:txBody>
      </p:sp>
      <p:sp>
        <p:nvSpPr>
          <p:cNvPr id="8" name="Text 5"/>
          <p:cNvSpPr/>
          <p:nvPr/>
        </p:nvSpPr>
        <p:spPr>
          <a:xfrm>
            <a:off x="7360920" y="1335024"/>
            <a:ext cx="457200" cy="192024"/>
          </a:xfrm>
          <a:prstGeom prst="rect">
            <a:avLst/>
          </a:prstGeom>
          <a:noFill/>
          <a:ln/>
        </p:spPr>
        <p:txBody>
          <a:bodyPr wrap="square" lIns="0" tIns="0" rIns="0" bIns="0" rtlCol="0" anchor="ctr"/>
          <a:lstStyle/>
          <a:p>
            <a:pPr algn="ctr" indent="0" marL="0">
              <a:buNone/>
            </a:pPr>
            <a:r>
              <a:rPr lang="en-US" sz="900" dirty="0">
                <a:solidFill>
                  <a:srgbClr val="1E293B"/>
                </a:solidFill>
                <a:latin typeface="Calibri" pitchFamily="34" charset="0"/>
                <a:ea typeface="Calibri" pitchFamily="34" charset="-122"/>
                <a:cs typeface="Calibri" pitchFamily="34" charset="-120"/>
              </a:rPr>
              <a:t>4</a:t>
            </a:r>
            <a:endParaRPr lang="en-US" sz="900" dirty="0"/>
          </a:p>
        </p:txBody>
      </p:sp>
      <p:sp>
        <p:nvSpPr>
          <p:cNvPr id="9" name="Text 6"/>
          <p:cNvSpPr/>
          <p:nvPr/>
        </p:nvSpPr>
        <p:spPr>
          <a:xfrm>
            <a:off x="7818120" y="1335024"/>
            <a:ext cx="777240" cy="192024"/>
          </a:xfrm>
          <a:prstGeom prst="rect">
            <a:avLst/>
          </a:prstGeom>
          <a:noFill/>
          <a:ln/>
        </p:spPr>
        <p:txBody>
          <a:bodyPr wrap="square" lIns="0" tIns="0" rIns="0" bIns="0" rtlCol="0" anchor="ctr"/>
          <a:lstStyle/>
          <a:p>
            <a:pPr algn="r" indent="0" marL="0">
              <a:buNone/>
            </a:pPr>
            <a:r>
              <a:rPr lang="en-US" sz="900" dirty="0">
                <a:solidFill>
                  <a:srgbClr val="1E293B"/>
                </a:solidFill>
                <a:latin typeface="Calibri" pitchFamily="34" charset="0"/>
                <a:ea typeface="Calibri" pitchFamily="34" charset="-122"/>
                <a:cs typeface="Calibri" pitchFamily="34" charset="-120"/>
              </a:rPr>
              <a:t>2k</a:t>
            </a:r>
            <a:endParaRPr lang="en-US" sz="900" dirty="0"/>
          </a:p>
        </p:txBody>
      </p:sp>
      <p:sp>
        <p:nvSpPr>
          <p:cNvPr id="10" name="Text 7"/>
          <p:cNvSpPr/>
          <p:nvPr/>
        </p:nvSpPr>
        <p:spPr>
          <a:xfrm>
            <a:off x="5943600" y="1531620"/>
            <a:ext cx="1417320" cy="192024"/>
          </a:xfrm>
          <a:prstGeom prst="rect">
            <a:avLst/>
          </a:prstGeom>
          <a:noFill/>
          <a:ln/>
        </p:spPr>
        <p:txBody>
          <a:bodyPr wrap="square" lIns="0" tIns="0" rIns="0" bIns="0" rtlCol="0" anchor="ctr"/>
          <a:lstStyle/>
          <a:p>
            <a:pPr indent="0" marL="0">
              <a:buNone/>
            </a:pPr>
            <a:r>
              <a:rPr lang="en-US" sz="900" dirty="0">
                <a:solidFill>
                  <a:srgbClr val="1E293B"/>
                </a:solidFill>
                <a:latin typeface="Calibri" pitchFamily="34" charset="0"/>
                <a:ea typeface="Calibri" pitchFamily="34" charset="-122"/>
                <a:cs typeface="Calibri" pitchFamily="34" charset="-120"/>
              </a:rPr>
              <a:t>design-pat.</a:t>
            </a:r>
            <a:endParaRPr lang="en-US" sz="900" dirty="0"/>
          </a:p>
        </p:txBody>
      </p:sp>
      <p:sp>
        <p:nvSpPr>
          <p:cNvPr id="11" name="Text 8"/>
          <p:cNvSpPr/>
          <p:nvPr/>
        </p:nvSpPr>
        <p:spPr>
          <a:xfrm>
            <a:off x="7360920" y="1531620"/>
            <a:ext cx="457200" cy="192024"/>
          </a:xfrm>
          <a:prstGeom prst="rect">
            <a:avLst/>
          </a:prstGeom>
          <a:noFill/>
          <a:ln/>
        </p:spPr>
        <p:txBody>
          <a:bodyPr wrap="square" lIns="0" tIns="0" rIns="0" bIns="0" rtlCol="0" anchor="ctr"/>
          <a:lstStyle/>
          <a:p>
            <a:pPr algn="ctr" indent="0" marL="0">
              <a:buNone/>
            </a:pPr>
            <a:r>
              <a:rPr lang="en-US" sz="900" dirty="0">
                <a:solidFill>
                  <a:srgbClr val="1E293B"/>
                </a:solidFill>
                <a:latin typeface="Calibri" pitchFamily="34" charset="0"/>
                <a:ea typeface="Calibri" pitchFamily="34" charset="-122"/>
                <a:cs typeface="Calibri" pitchFamily="34" charset="-120"/>
              </a:rPr>
              <a:t>16</a:t>
            </a:r>
            <a:endParaRPr lang="en-US" sz="900" dirty="0"/>
          </a:p>
        </p:txBody>
      </p:sp>
      <p:sp>
        <p:nvSpPr>
          <p:cNvPr id="12" name="Text 9"/>
          <p:cNvSpPr/>
          <p:nvPr/>
        </p:nvSpPr>
        <p:spPr>
          <a:xfrm>
            <a:off x="7818120" y="1531620"/>
            <a:ext cx="777240" cy="192024"/>
          </a:xfrm>
          <a:prstGeom prst="rect">
            <a:avLst/>
          </a:prstGeom>
          <a:noFill/>
          <a:ln/>
        </p:spPr>
        <p:txBody>
          <a:bodyPr wrap="square" lIns="0" tIns="0" rIns="0" bIns="0" rtlCol="0" anchor="ctr"/>
          <a:lstStyle/>
          <a:p>
            <a:pPr algn="r" indent="0" marL="0">
              <a:buNone/>
            </a:pPr>
            <a:r>
              <a:rPr lang="en-US" sz="900" dirty="0">
                <a:solidFill>
                  <a:srgbClr val="1E293B"/>
                </a:solidFill>
                <a:latin typeface="Calibri" pitchFamily="34" charset="0"/>
                <a:ea typeface="Calibri" pitchFamily="34" charset="-122"/>
                <a:cs typeface="Calibri" pitchFamily="34" charset="-120"/>
              </a:rPr>
              <a:t>19k</a:t>
            </a:r>
            <a:endParaRPr lang="en-US" sz="900" dirty="0"/>
          </a:p>
        </p:txBody>
      </p:sp>
      <p:sp>
        <p:nvSpPr>
          <p:cNvPr id="13" name="Text 10"/>
          <p:cNvSpPr/>
          <p:nvPr/>
        </p:nvSpPr>
        <p:spPr>
          <a:xfrm>
            <a:off x="5943600" y="1728216"/>
            <a:ext cx="1417320" cy="192024"/>
          </a:xfrm>
          <a:prstGeom prst="rect">
            <a:avLst/>
          </a:prstGeom>
          <a:noFill/>
          <a:ln/>
        </p:spPr>
        <p:txBody>
          <a:bodyPr wrap="square" lIns="0" tIns="0" rIns="0" bIns="0" rtlCol="0" anchor="ctr"/>
          <a:lstStyle/>
          <a:p>
            <a:pPr indent="0" marL="0">
              <a:buNone/>
            </a:pPr>
            <a:r>
              <a:rPr lang="en-US" sz="900" dirty="0">
                <a:solidFill>
                  <a:srgbClr val="1E293B"/>
                </a:solidFill>
                <a:latin typeface="Calibri" pitchFamily="34" charset="0"/>
                <a:ea typeface="Calibri" pitchFamily="34" charset="-122"/>
                <a:cs typeface="Calibri" pitchFamily="34" charset="-120"/>
              </a:rPr>
              <a:t>Site-Where</a:t>
            </a:r>
            <a:endParaRPr lang="en-US" sz="900" dirty="0"/>
          </a:p>
        </p:txBody>
      </p:sp>
      <p:sp>
        <p:nvSpPr>
          <p:cNvPr id="14" name="Text 11"/>
          <p:cNvSpPr/>
          <p:nvPr/>
        </p:nvSpPr>
        <p:spPr>
          <a:xfrm>
            <a:off x="7360920" y="1728216"/>
            <a:ext cx="457200" cy="192024"/>
          </a:xfrm>
          <a:prstGeom prst="rect">
            <a:avLst/>
          </a:prstGeom>
          <a:noFill/>
          <a:ln/>
        </p:spPr>
        <p:txBody>
          <a:bodyPr wrap="square" lIns="0" tIns="0" rIns="0" bIns="0" rtlCol="0" anchor="ctr"/>
          <a:lstStyle/>
          <a:p>
            <a:pPr algn="ctr" indent="0" marL="0">
              <a:buNone/>
            </a:pPr>
            <a:r>
              <a:rPr lang="en-US" sz="900" dirty="0">
                <a:solidFill>
                  <a:srgbClr val="1E293B"/>
                </a:solidFill>
                <a:latin typeface="Calibri" pitchFamily="34" charset="0"/>
                <a:ea typeface="Calibri" pitchFamily="34" charset="-122"/>
                <a:cs typeface="Calibri" pitchFamily="34" charset="-120"/>
              </a:rPr>
              <a:t>15</a:t>
            </a:r>
            <a:endParaRPr lang="en-US" sz="900" dirty="0"/>
          </a:p>
        </p:txBody>
      </p:sp>
      <p:sp>
        <p:nvSpPr>
          <p:cNvPr id="15" name="Text 12"/>
          <p:cNvSpPr/>
          <p:nvPr/>
        </p:nvSpPr>
        <p:spPr>
          <a:xfrm>
            <a:off x="7818120" y="1728216"/>
            <a:ext cx="777240" cy="192024"/>
          </a:xfrm>
          <a:prstGeom prst="rect">
            <a:avLst/>
          </a:prstGeom>
          <a:noFill/>
          <a:ln/>
        </p:spPr>
        <p:txBody>
          <a:bodyPr wrap="square" lIns="0" tIns="0" rIns="0" bIns="0" rtlCol="0" anchor="ctr"/>
          <a:lstStyle/>
          <a:p>
            <a:pPr algn="r" indent="0" marL="0">
              <a:buNone/>
            </a:pPr>
            <a:r>
              <a:rPr lang="en-US" sz="900" dirty="0">
                <a:solidFill>
                  <a:srgbClr val="1E293B"/>
                </a:solidFill>
                <a:latin typeface="Calibri" pitchFamily="34" charset="0"/>
                <a:ea typeface="Calibri" pitchFamily="34" charset="-122"/>
                <a:cs typeface="Calibri" pitchFamily="34" charset="-120"/>
              </a:rPr>
              <a:t>74k</a:t>
            </a:r>
            <a:endParaRPr lang="en-US" sz="900" dirty="0"/>
          </a:p>
        </p:txBody>
      </p:sp>
      <p:sp>
        <p:nvSpPr>
          <p:cNvPr id="16" name="Text 13"/>
          <p:cNvSpPr/>
          <p:nvPr/>
        </p:nvSpPr>
        <p:spPr>
          <a:xfrm>
            <a:off x="5943600" y="1924812"/>
            <a:ext cx="1417320" cy="192024"/>
          </a:xfrm>
          <a:prstGeom prst="rect">
            <a:avLst/>
          </a:prstGeom>
          <a:noFill/>
          <a:ln/>
        </p:spPr>
        <p:txBody>
          <a:bodyPr wrap="square" lIns="0" tIns="0" rIns="0" bIns="0" rtlCol="0" anchor="ctr"/>
          <a:lstStyle/>
          <a:p>
            <a:pPr indent="0" marL="0">
              <a:buNone/>
            </a:pPr>
            <a:r>
              <a:rPr lang="en-US" sz="900" dirty="0">
                <a:solidFill>
                  <a:srgbClr val="1E293B"/>
                </a:solidFill>
                <a:latin typeface="Calibri" pitchFamily="34" charset="0"/>
                <a:ea typeface="Calibri" pitchFamily="34" charset="-122"/>
                <a:cs typeface="Calibri" pitchFamily="34" charset="-120"/>
              </a:rPr>
              <a:t>Train-Ticket</a:t>
            </a:r>
            <a:endParaRPr lang="en-US" sz="900" dirty="0"/>
          </a:p>
        </p:txBody>
      </p:sp>
      <p:sp>
        <p:nvSpPr>
          <p:cNvPr id="17" name="Text 14"/>
          <p:cNvSpPr/>
          <p:nvPr/>
        </p:nvSpPr>
        <p:spPr>
          <a:xfrm>
            <a:off x="7360920" y="1924812"/>
            <a:ext cx="457200" cy="192024"/>
          </a:xfrm>
          <a:prstGeom prst="rect">
            <a:avLst/>
          </a:prstGeom>
          <a:noFill/>
          <a:ln/>
        </p:spPr>
        <p:txBody>
          <a:bodyPr wrap="square" lIns="0" tIns="0" rIns="0" bIns="0" rtlCol="0" anchor="ctr"/>
          <a:lstStyle/>
          <a:p>
            <a:pPr algn="ctr" indent="0" marL="0">
              <a:buNone/>
            </a:pPr>
            <a:r>
              <a:rPr lang="en-US" sz="900" dirty="0">
                <a:solidFill>
                  <a:srgbClr val="1E293B"/>
                </a:solidFill>
                <a:latin typeface="Calibri" pitchFamily="34" charset="0"/>
                <a:ea typeface="Calibri" pitchFamily="34" charset="-122"/>
                <a:cs typeface="Calibri" pitchFamily="34" charset="-120"/>
              </a:rPr>
              <a:t>41</a:t>
            </a:r>
            <a:endParaRPr lang="en-US" sz="900" dirty="0"/>
          </a:p>
        </p:txBody>
      </p:sp>
      <p:sp>
        <p:nvSpPr>
          <p:cNvPr id="18" name="Text 15"/>
          <p:cNvSpPr/>
          <p:nvPr/>
        </p:nvSpPr>
        <p:spPr>
          <a:xfrm>
            <a:off x="7818120" y="1924812"/>
            <a:ext cx="777240" cy="192024"/>
          </a:xfrm>
          <a:prstGeom prst="rect">
            <a:avLst/>
          </a:prstGeom>
          <a:noFill/>
          <a:ln/>
        </p:spPr>
        <p:txBody>
          <a:bodyPr wrap="square" lIns="0" tIns="0" rIns="0" bIns="0" rtlCol="0" anchor="ctr"/>
          <a:lstStyle/>
          <a:p>
            <a:pPr algn="r" indent="0" marL="0">
              <a:buNone/>
            </a:pPr>
            <a:r>
              <a:rPr lang="en-US" sz="900" dirty="0">
                <a:solidFill>
                  <a:srgbClr val="1E293B"/>
                </a:solidFill>
                <a:latin typeface="Calibri" pitchFamily="34" charset="0"/>
                <a:ea typeface="Calibri" pitchFamily="34" charset="-122"/>
                <a:cs typeface="Calibri" pitchFamily="34" charset="-120"/>
              </a:rPr>
              <a:t>36k</a:t>
            </a:r>
            <a:endParaRPr lang="en-US" sz="900" dirty="0"/>
          </a:p>
        </p:txBody>
      </p:sp>
      <p:sp>
        <p:nvSpPr>
          <p:cNvPr id="19" name="Text 16"/>
          <p:cNvSpPr/>
          <p:nvPr/>
        </p:nvSpPr>
        <p:spPr>
          <a:xfrm>
            <a:off x="5943600" y="2121408"/>
            <a:ext cx="1417320" cy="192024"/>
          </a:xfrm>
          <a:prstGeom prst="rect">
            <a:avLst/>
          </a:prstGeom>
          <a:noFill/>
          <a:ln/>
        </p:spPr>
        <p:txBody>
          <a:bodyPr wrap="square" lIns="0" tIns="0" rIns="0" bIns="0" rtlCol="0" anchor="ctr"/>
          <a:lstStyle/>
          <a:p>
            <a:pPr indent="0" marL="0">
              <a:buNone/>
            </a:pPr>
            <a:r>
              <a:rPr lang="en-US" sz="900" dirty="0">
                <a:solidFill>
                  <a:srgbClr val="1E293B"/>
                </a:solidFill>
                <a:latin typeface="Calibri" pitchFamily="34" charset="0"/>
                <a:ea typeface="Calibri" pitchFamily="34" charset="-122"/>
                <a:cs typeface="Calibri" pitchFamily="34" charset="-120"/>
              </a:rPr>
              <a:t>NetworkDisk</a:t>
            </a:r>
            <a:endParaRPr lang="en-US" sz="900" dirty="0"/>
          </a:p>
        </p:txBody>
      </p:sp>
      <p:sp>
        <p:nvSpPr>
          <p:cNvPr id="20" name="Text 17"/>
          <p:cNvSpPr/>
          <p:nvPr/>
        </p:nvSpPr>
        <p:spPr>
          <a:xfrm>
            <a:off x="7360920" y="2121408"/>
            <a:ext cx="457200" cy="192024"/>
          </a:xfrm>
          <a:prstGeom prst="rect">
            <a:avLst/>
          </a:prstGeom>
          <a:noFill/>
          <a:ln/>
        </p:spPr>
        <p:txBody>
          <a:bodyPr wrap="square" lIns="0" tIns="0" rIns="0" bIns="0" rtlCol="0" anchor="ctr"/>
          <a:lstStyle/>
          <a:p>
            <a:pPr algn="ctr" indent="0" marL="0">
              <a:buNone/>
            </a:pPr>
            <a:r>
              <a:rPr lang="en-US" sz="900" dirty="0">
                <a:solidFill>
                  <a:srgbClr val="1E293B"/>
                </a:solidFill>
                <a:latin typeface="Calibri" pitchFamily="34" charset="0"/>
                <a:ea typeface="Calibri" pitchFamily="34" charset="-122"/>
                <a:cs typeface="Calibri" pitchFamily="34" charset="-120"/>
              </a:rPr>
              <a:t>10</a:t>
            </a:r>
            <a:endParaRPr lang="en-US" sz="900" dirty="0"/>
          </a:p>
        </p:txBody>
      </p:sp>
      <p:sp>
        <p:nvSpPr>
          <p:cNvPr id="21" name="Text 18"/>
          <p:cNvSpPr/>
          <p:nvPr/>
        </p:nvSpPr>
        <p:spPr>
          <a:xfrm>
            <a:off x="7818120" y="2121408"/>
            <a:ext cx="777240" cy="192024"/>
          </a:xfrm>
          <a:prstGeom prst="rect">
            <a:avLst/>
          </a:prstGeom>
          <a:noFill/>
          <a:ln/>
        </p:spPr>
        <p:txBody>
          <a:bodyPr wrap="square" lIns="0" tIns="0" rIns="0" bIns="0" rtlCol="0" anchor="ctr"/>
          <a:lstStyle/>
          <a:p>
            <a:pPr algn="r" indent="0" marL="0">
              <a:buNone/>
            </a:pPr>
            <a:r>
              <a:rPr lang="en-US" sz="900" dirty="0">
                <a:solidFill>
                  <a:srgbClr val="1E293B"/>
                </a:solidFill>
                <a:latin typeface="Calibri" pitchFamily="34" charset="0"/>
                <a:ea typeface="Calibri" pitchFamily="34" charset="-122"/>
                <a:cs typeface="Calibri" pitchFamily="34" charset="-120"/>
              </a:rPr>
              <a:t>7k</a:t>
            </a:r>
            <a:endParaRPr lang="en-US" sz="900" dirty="0"/>
          </a:p>
        </p:txBody>
      </p:sp>
      <p:sp>
        <p:nvSpPr>
          <p:cNvPr id="22" name="Text 19"/>
          <p:cNvSpPr/>
          <p:nvPr/>
        </p:nvSpPr>
        <p:spPr>
          <a:xfrm>
            <a:off x="5943600" y="2318004"/>
            <a:ext cx="1417320" cy="192024"/>
          </a:xfrm>
          <a:prstGeom prst="rect">
            <a:avLst/>
          </a:prstGeom>
          <a:noFill/>
          <a:ln/>
        </p:spPr>
        <p:txBody>
          <a:bodyPr wrap="square" lIns="0" tIns="0" rIns="0" bIns="0" rtlCol="0" anchor="ctr"/>
          <a:lstStyle/>
          <a:p>
            <a:pPr indent="0" marL="0">
              <a:buNone/>
            </a:pPr>
            <a:r>
              <a:rPr lang="en-US" sz="900" dirty="0">
                <a:solidFill>
                  <a:srgbClr val="1E293B"/>
                </a:solidFill>
                <a:latin typeface="Calibri" pitchFamily="34" charset="0"/>
                <a:ea typeface="Calibri" pitchFamily="34" charset="-122"/>
                <a:cs typeface="Calibri" pitchFamily="34" charset="-120"/>
              </a:rPr>
              <a:t>recruit</a:t>
            </a:r>
            <a:endParaRPr lang="en-US" sz="900" dirty="0"/>
          </a:p>
        </p:txBody>
      </p:sp>
      <p:sp>
        <p:nvSpPr>
          <p:cNvPr id="23" name="Text 20"/>
          <p:cNvSpPr/>
          <p:nvPr/>
        </p:nvSpPr>
        <p:spPr>
          <a:xfrm>
            <a:off x="7360920" y="2318004"/>
            <a:ext cx="457200" cy="192024"/>
          </a:xfrm>
          <a:prstGeom prst="rect">
            <a:avLst/>
          </a:prstGeom>
          <a:noFill/>
          <a:ln/>
        </p:spPr>
        <p:txBody>
          <a:bodyPr wrap="square" lIns="0" tIns="0" rIns="0" bIns="0" rtlCol="0" anchor="ctr"/>
          <a:lstStyle/>
          <a:p>
            <a:pPr algn="ctr" indent="0" marL="0">
              <a:buNone/>
            </a:pPr>
            <a:r>
              <a:rPr lang="en-US" sz="900" dirty="0">
                <a:solidFill>
                  <a:srgbClr val="1E293B"/>
                </a:solidFill>
                <a:latin typeface="Calibri" pitchFamily="34" charset="0"/>
                <a:ea typeface="Calibri" pitchFamily="34" charset="-122"/>
                <a:cs typeface="Calibri" pitchFamily="34" charset="-120"/>
              </a:rPr>
              <a:t>8</a:t>
            </a:r>
            <a:endParaRPr lang="en-US" sz="900" dirty="0"/>
          </a:p>
        </p:txBody>
      </p:sp>
      <p:sp>
        <p:nvSpPr>
          <p:cNvPr id="24" name="Text 21"/>
          <p:cNvSpPr/>
          <p:nvPr/>
        </p:nvSpPr>
        <p:spPr>
          <a:xfrm>
            <a:off x="7818120" y="2318004"/>
            <a:ext cx="777240" cy="192024"/>
          </a:xfrm>
          <a:prstGeom prst="rect">
            <a:avLst/>
          </a:prstGeom>
          <a:noFill/>
          <a:ln/>
        </p:spPr>
        <p:txBody>
          <a:bodyPr wrap="square" lIns="0" tIns="0" rIns="0" bIns="0" rtlCol="0" anchor="ctr"/>
          <a:lstStyle/>
          <a:p>
            <a:pPr algn="r" indent="0" marL="0">
              <a:buNone/>
            </a:pPr>
            <a:r>
              <a:rPr lang="en-US" sz="900" dirty="0">
                <a:solidFill>
                  <a:srgbClr val="1E293B"/>
                </a:solidFill>
                <a:latin typeface="Calibri" pitchFamily="34" charset="0"/>
                <a:ea typeface="Calibri" pitchFamily="34" charset="-122"/>
                <a:cs typeface="Calibri" pitchFamily="34" charset="-120"/>
              </a:rPr>
              <a:t>8k</a:t>
            </a:r>
            <a:endParaRPr lang="en-US" sz="900" dirty="0"/>
          </a:p>
        </p:txBody>
      </p:sp>
      <p:sp>
        <p:nvSpPr>
          <p:cNvPr id="25" name="Text 22"/>
          <p:cNvSpPr/>
          <p:nvPr/>
        </p:nvSpPr>
        <p:spPr>
          <a:xfrm>
            <a:off x="5943600" y="2514600"/>
            <a:ext cx="1417320" cy="192024"/>
          </a:xfrm>
          <a:prstGeom prst="rect">
            <a:avLst/>
          </a:prstGeom>
          <a:noFill/>
          <a:ln/>
        </p:spPr>
        <p:txBody>
          <a:bodyPr wrap="square" lIns="0" tIns="0" rIns="0" bIns="0" rtlCol="0" anchor="ctr"/>
          <a:lstStyle/>
          <a:p>
            <a:pPr indent="0" marL="0">
              <a:buNone/>
            </a:pPr>
            <a:r>
              <a:rPr lang="en-US" sz="900" dirty="0">
                <a:solidFill>
                  <a:srgbClr val="1E293B"/>
                </a:solidFill>
                <a:latin typeface="Calibri" pitchFamily="34" charset="0"/>
                <a:ea typeface="Calibri" pitchFamily="34" charset="-122"/>
                <a:cs typeface="Calibri" pitchFamily="34" charset="-120"/>
              </a:rPr>
              <a:t>ftgo</a:t>
            </a:r>
            <a:endParaRPr lang="en-US" sz="900" dirty="0"/>
          </a:p>
        </p:txBody>
      </p:sp>
      <p:sp>
        <p:nvSpPr>
          <p:cNvPr id="26" name="Text 23"/>
          <p:cNvSpPr/>
          <p:nvPr/>
        </p:nvSpPr>
        <p:spPr>
          <a:xfrm>
            <a:off x="7360920" y="2514600"/>
            <a:ext cx="457200" cy="192024"/>
          </a:xfrm>
          <a:prstGeom prst="rect">
            <a:avLst/>
          </a:prstGeom>
          <a:noFill/>
          <a:ln/>
        </p:spPr>
        <p:txBody>
          <a:bodyPr wrap="square" lIns="0" tIns="0" rIns="0" bIns="0" rtlCol="0" anchor="ctr"/>
          <a:lstStyle/>
          <a:p>
            <a:pPr algn="ctr" indent="0" marL="0">
              <a:buNone/>
            </a:pPr>
            <a:r>
              <a:rPr lang="en-US" sz="900" dirty="0">
                <a:solidFill>
                  <a:srgbClr val="1E293B"/>
                </a:solidFill>
                <a:latin typeface="Calibri" pitchFamily="34" charset="0"/>
                <a:ea typeface="Calibri" pitchFamily="34" charset="-122"/>
                <a:cs typeface="Calibri" pitchFamily="34" charset="-120"/>
              </a:rPr>
              <a:t>7</a:t>
            </a:r>
            <a:endParaRPr lang="en-US" sz="900" dirty="0"/>
          </a:p>
        </p:txBody>
      </p:sp>
      <p:sp>
        <p:nvSpPr>
          <p:cNvPr id="27" name="Text 24"/>
          <p:cNvSpPr/>
          <p:nvPr/>
        </p:nvSpPr>
        <p:spPr>
          <a:xfrm>
            <a:off x="7818120" y="2514600"/>
            <a:ext cx="777240" cy="192024"/>
          </a:xfrm>
          <a:prstGeom prst="rect">
            <a:avLst/>
          </a:prstGeom>
          <a:noFill/>
          <a:ln/>
        </p:spPr>
        <p:txBody>
          <a:bodyPr wrap="square" lIns="0" tIns="0" rIns="0" bIns="0" rtlCol="0" anchor="ctr"/>
          <a:lstStyle/>
          <a:p>
            <a:pPr algn="r" indent="0" marL="0">
              <a:buNone/>
            </a:pPr>
            <a:r>
              <a:rPr lang="en-US" sz="900" dirty="0">
                <a:solidFill>
                  <a:srgbClr val="1E293B"/>
                </a:solidFill>
                <a:latin typeface="Calibri" pitchFamily="34" charset="0"/>
                <a:ea typeface="Calibri" pitchFamily="34" charset="-122"/>
                <a:cs typeface="Calibri" pitchFamily="34" charset="-120"/>
              </a:rPr>
              <a:t>11k</a:t>
            </a:r>
            <a:endParaRPr lang="en-US" sz="900" dirty="0"/>
          </a:p>
        </p:txBody>
      </p:sp>
      <p:sp>
        <p:nvSpPr>
          <p:cNvPr id="28" name="Text 25"/>
          <p:cNvSpPr/>
          <p:nvPr/>
        </p:nvSpPr>
        <p:spPr>
          <a:xfrm>
            <a:off x="5943600" y="2711196"/>
            <a:ext cx="1417320" cy="192024"/>
          </a:xfrm>
          <a:prstGeom prst="rect">
            <a:avLst/>
          </a:prstGeom>
          <a:noFill/>
          <a:ln/>
        </p:spPr>
        <p:txBody>
          <a:bodyPr wrap="square" lIns="0" tIns="0" rIns="0" bIns="0" rtlCol="0" anchor="ctr"/>
          <a:lstStyle/>
          <a:p>
            <a:pPr indent="0" marL="0">
              <a:buNone/>
            </a:pPr>
            <a:r>
              <a:rPr lang="en-US" sz="900" dirty="0">
                <a:solidFill>
                  <a:srgbClr val="1E293B"/>
                </a:solidFill>
                <a:latin typeface="Calibri" pitchFamily="34" charset="0"/>
                <a:ea typeface="Calibri" pitchFamily="34" charset="-122"/>
                <a:cs typeface="Calibri" pitchFamily="34" charset="-120"/>
              </a:rPr>
              <a:t>mall-swarm</a:t>
            </a:r>
            <a:endParaRPr lang="en-US" sz="900" dirty="0"/>
          </a:p>
        </p:txBody>
      </p:sp>
      <p:sp>
        <p:nvSpPr>
          <p:cNvPr id="29" name="Text 26"/>
          <p:cNvSpPr/>
          <p:nvPr/>
        </p:nvSpPr>
        <p:spPr>
          <a:xfrm>
            <a:off x="7360920" y="2711196"/>
            <a:ext cx="457200" cy="192024"/>
          </a:xfrm>
          <a:prstGeom prst="rect">
            <a:avLst/>
          </a:prstGeom>
          <a:noFill/>
          <a:ln/>
        </p:spPr>
        <p:txBody>
          <a:bodyPr wrap="square" lIns="0" tIns="0" rIns="0" bIns="0" rtlCol="0" anchor="ctr"/>
          <a:lstStyle/>
          <a:p>
            <a:pPr algn="ctr" indent="0" marL="0">
              <a:buNone/>
            </a:pPr>
            <a:r>
              <a:rPr lang="en-US" sz="900" dirty="0">
                <a:solidFill>
                  <a:srgbClr val="1E293B"/>
                </a:solidFill>
                <a:latin typeface="Calibri" pitchFamily="34" charset="0"/>
                <a:ea typeface="Calibri" pitchFamily="34" charset="-122"/>
                <a:cs typeface="Calibri" pitchFamily="34" charset="-120"/>
              </a:rPr>
              <a:t>7</a:t>
            </a:r>
            <a:endParaRPr lang="en-US" sz="900" dirty="0"/>
          </a:p>
        </p:txBody>
      </p:sp>
      <p:sp>
        <p:nvSpPr>
          <p:cNvPr id="30" name="Text 27"/>
          <p:cNvSpPr/>
          <p:nvPr/>
        </p:nvSpPr>
        <p:spPr>
          <a:xfrm>
            <a:off x="7818120" y="2711196"/>
            <a:ext cx="777240" cy="192024"/>
          </a:xfrm>
          <a:prstGeom prst="rect">
            <a:avLst/>
          </a:prstGeom>
          <a:noFill/>
          <a:ln/>
        </p:spPr>
        <p:txBody>
          <a:bodyPr wrap="square" lIns="0" tIns="0" rIns="0" bIns="0" rtlCol="0" anchor="ctr"/>
          <a:lstStyle/>
          <a:p>
            <a:pPr algn="r" indent="0" marL="0">
              <a:buNone/>
            </a:pPr>
            <a:r>
              <a:rPr lang="en-US" sz="900" dirty="0">
                <a:solidFill>
                  <a:srgbClr val="1E293B"/>
                </a:solidFill>
                <a:latin typeface="Calibri" pitchFamily="34" charset="0"/>
                <a:ea typeface="Calibri" pitchFamily="34" charset="-122"/>
                <a:cs typeface="Calibri" pitchFamily="34" charset="-120"/>
              </a:rPr>
              <a:t>86k</a:t>
            </a:r>
            <a:endParaRPr lang="en-US" sz="900" dirty="0"/>
          </a:p>
        </p:txBody>
      </p:sp>
      <p:sp>
        <p:nvSpPr>
          <p:cNvPr id="31" name="Text 28"/>
          <p:cNvSpPr/>
          <p:nvPr/>
        </p:nvSpPr>
        <p:spPr>
          <a:xfrm>
            <a:off x="5943600" y="2907792"/>
            <a:ext cx="1417320" cy="192024"/>
          </a:xfrm>
          <a:prstGeom prst="rect">
            <a:avLst/>
          </a:prstGeom>
          <a:noFill/>
          <a:ln/>
        </p:spPr>
        <p:txBody>
          <a:bodyPr wrap="square" lIns="0" tIns="0" rIns="0" bIns="0" rtlCol="0" anchor="ctr"/>
          <a:lstStyle/>
          <a:p>
            <a:pPr indent="0" marL="0">
              <a:buNone/>
            </a:pPr>
            <a:r>
              <a:rPr lang="en-US" sz="900" dirty="0">
                <a:solidFill>
                  <a:srgbClr val="1E293B"/>
                </a:solidFill>
                <a:latin typeface="Calibri" pitchFamily="34" charset="0"/>
                <a:ea typeface="Calibri" pitchFamily="34" charset="-122"/>
                <a:cs typeface="Calibri" pitchFamily="34" charset="-120"/>
              </a:rPr>
              <a:t>RuoYi</a:t>
            </a:r>
            <a:endParaRPr lang="en-US" sz="900" dirty="0"/>
          </a:p>
        </p:txBody>
      </p:sp>
      <p:sp>
        <p:nvSpPr>
          <p:cNvPr id="32" name="Text 29"/>
          <p:cNvSpPr/>
          <p:nvPr/>
        </p:nvSpPr>
        <p:spPr>
          <a:xfrm>
            <a:off x="7360920" y="2907792"/>
            <a:ext cx="457200" cy="192024"/>
          </a:xfrm>
          <a:prstGeom prst="rect">
            <a:avLst/>
          </a:prstGeom>
          <a:noFill/>
          <a:ln/>
        </p:spPr>
        <p:txBody>
          <a:bodyPr wrap="square" lIns="0" tIns="0" rIns="0" bIns="0" rtlCol="0" anchor="ctr"/>
          <a:lstStyle/>
          <a:p>
            <a:pPr algn="ctr" indent="0" marL="0">
              <a:buNone/>
            </a:pPr>
            <a:r>
              <a:rPr lang="en-US" sz="900" dirty="0">
                <a:solidFill>
                  <a:srgbClr val="1E293B"/>
                </a:solidFill>
                <a:latin typeface="Calibri" pitchFamily="34" charset="0"/>
                <a:ea typeface="Calibri" pitchFamily="34" charset="-122"/>
                <a:cs typeface="Calibri" pitchFamily="34" charset="-120"/>
              </a:rPr>
              <a:t>8</a:t>
            </a:r>
            <a:endParaRPr lang="en-US" sz="900" dirty="0"/>
          </a:p>
        </p:txBody>
      </p:sp>
      <p:sp>
        <p:nvSpPr>
          <p:cNvPr id="33" name="Text 30"/>
          <p:cNvSpPr/>
          <p:nvPr/>
        </p:nvSpPr>
        <p:spPr>
          <a:xfrm>
            <a:off x="7818120" y="2907792"/>
            <a:ext cx="777240" cy="192024"/>
          </a:xfrm>
          <a:prstGeom prst="rect">
            <a:avLst/>
          </a:prstGeom>
          <a:noFill/>
          <a:ln/>
        </p:spPr>
        <p:txBody>
          <a:bodyPr wrap="square" lIns="0" tIns="0" rIns="0" bIns="0" rtlCol="0" anchor="ctr"/>
          <a:lstStyle/>
          <a:p>
            <a:pPr algn="r" indent="0" marL="0">
              <a:buNone/>
            </a:pPr>
            <a:r>
              <a:rPr lang="en-US" sz="900" dirty="0">
                <a:solidFill>
                  <a:srgbClr val="1E293B"/>
                </a:solidFill>
                <a:latin typeface="Calibri" pitchFamily="34" charset="0"/>
                <a:ea typeface="Calibri" pitchFamily="34" charset="-122"/>
                <a:cs typeface="Calibri" pitchFamily="34" charset="-120"/>
              </a:rPr>
              <a:t>27k</a:t>
            </a:r>
            <a:endParaRPr lang="en-US" sz="900" dirty="0"/>
          </a:p>
        </p:txBody>
      </p:sp>
      <p:sp>
        <p:nvSpPr>
          <p:cNvPr id="34" name="Text 31"/>
          <p:cNvSpPr/>
          <p:nvPr/>
        </p:nvSpPr>
        <p:spPr>
          <a:xfrm>
            <a:off x="5943600" y="3104388"/>
            <a:ext cx="1417320" cy="192024"/>
          </a:xfrm>
          <a:prstGeom prst="rect">
            <a:avLst/>
          </a:prstGeom>
          <a:noFill/>
          <a:ln/>
        </p:spPr>
        <p:txBody>
          <a:bodyPr wrap="square" lIns="0" tIns="0" rIns="0" bIns="0" rtlCol="0" anchor="ctr"/>
          <a:lstStyle/>
          <a:p>
            <a:pPr indent="0" marL="0">
              <a:buNone/>
            </a:pPr>
            <a:r>
              <a:rPr lang="en-US" sz="900" dirty="0">
                <a:solidFill>
                  <a:srgbClr val="1E293B"/>
                </a:solidFill>
                <a:latin typeface="Calibri" pitchFamily="34" charset="0"/>
                <a:ea typeface="Calibri" pitchFamily="34" charset="-122"/>
                <a:cs typeface="Calibri" pitchFamily="34" charset="-120"/>
              </a:rPr>
              <a:t>PiggyMetrics</a:t>
            </a:r>
            <a:endParaRPr lang="en-US" sz="900" dirty="0"/>
          </a:p>
        </p:txBody>
      </p:sp>
      <p:sp>
        <p:nvSpPr>
          <p:cNvPr id="35" name="Text 32"/>
          <p:cNvSpPr/>
          <p:nvPr/>
        </p:nvSpPr>
        <p:spPr>
          <a:xfrm>
            <a:off x="7360920" y="3104388"/>
            <a:ext cx="457200" cy="192024"/>
          </a:xfrm>
          <a:prstGeom prst="rect">
            <a:avLst/>
          </a:prstGeom>
          <a:noFill/>
          <a:ln/>
        </p:spPr>
        <p:txBody>
          <a:bodyPr wrap="square" lIns="0" tIns="0" rIns="0" bIns="0" rtlCol="0" anchor="ctr"/>
          <a:lstStyle/>
          <a:p>
            <a:pPr algn="ctr" indent="0" marL="0">
              <a:buNone/>
            </a:pPr>
            <a:r>
              <a:rPr lang="en-US" sz="900" dirty="0">
                <a:solidFill>
                  <a:srgbClr val="1E293B"/>
                </a:solidFill>
                <a:latin typeface="Calibri" pitchFamily="34" charset="0"/>
                <a:ea typeface="Calibri" pitchFamily="34" charset="-122"/>
                <a:cs typeface="Calibri" pitchFamily="34" charset="-120"/>
              </a:rPr>
              <a:t>8</a:t>
            </a:r>
            <a:endParaRPr lang="en-US" sz="900" dirty="0"/>
          </a:p>
        </p:txBody>
      </p:sp>
      <p:sp>
        <p:nvSpPr>
          <p:cNvPr id="36" name="Text 33"/>
          <p:cNvSpPr/>
          <p:nvPr/>
        </p:nvSpPr>
        <p:spPr>
          <a:xfrm>
            <a:off x="7818120" y="3104388"/>
            <a:ext cx="777240" cy="192024"/>
          </a:xfrm>
          <a:prstGeom prst="rect">
            <a:avLst/>
          </a:prstGeom>
          <a:noFill/>
          <a:ln/>
        </p:spPr>
        <p:txBody>
          <a:bodyPr wrap="square" lIns="0" tIns="0" rIns="0" bIns="0" rtlCol="0" anchor="ctr"/>
          <a:lstStyle/>
          <a:p>
            <a:pPr algn="r" indent="0" marL="0">
              <a:buNone/>
            </a:pPr>
            <a:r>
              <a:rPr lang="en-US" sz="900" dirty="0">
                <a:solidFill>
                  <a:srgbClr val="1E293B"/>
                </a:solidFill>
                <a:latin typeface="Calibri" pitchFamily="34" charset="0"/>
                <a:ea typeface="Calibri" pitchFamily="34" charset="-122"/>
                <a:cs typeface="Calibri" pitchFamily="34" charset="-120"/>
              </a:rPr>
              <a:t>4.5k</a:t>
            </a:r>
            <a:endParaRPr lang="en-US" sz="900" dirty="0"/>
          </a:p>
        </p:txBody>
      </p:sp>
      <p:sp>
        <p:nvSpPr>
          <p:cNvPr id="37" name="Text 34"/>
          <p:cNvSpPr/>
          <p:nvPr/>
        </p:nvSpPr>
        <p:spPr>
          <a:xfrm>
            <a:off x="5943600" y="3300984"/>
            <a:ext cx="1417320" cy="192024"/>
          </a:xfrm>
          <a:prstGeom prst="rect">
            <a:avLst/>
          </a:prstGeom>
          <a:noFill/>
          <a:ln/>
        </p:spPr>
        <p:txBody>
          <a:bodyPr wrap="square" lIns="0" tIns="0" rIns="0" bIns="0" rtlCol="0" anchor="ctr"/>
          <a:lstStyle/>
          <a:p>
            <a:pPr indent="0" marL="0">
              <a:buNone/>
            </a:pPr>
            <a:r>
              <a:rPr lang="en-US" sz="900" dirty="0">
                <a:solidFill>
                  <a:srgbClr val="1E293B"/>
                </a:solidFill>
                <a:latin typeface="Calibri" pitchFamily="34" charset="0"/>
                <a:ea typeface="Calibri" pitchFamily="34" charset="-122"/>
                <a:cs typeface="Calibri" pitchFamily="34" charset="-120"/>
              </a:rPr>
              <a:t>piomin</a:t>
            </a:r>
            <a:endParaRPr lang="en-US" sz="900" dirty="0"/>
          </a:p>
        </p:txBody>
      </p:sp>
      <p:sp>
        <p:nvSpPr>
          <p:cNvPr id="38" name="Text 35"/>
          <p:cNvSpPr/>
          <p:nvPr/>
        </p:nvSpPr>
        <p:spPr>
          <a:xfrm>
            <a:off x="7360920" y="3300984"/>
            <a:ext cx="457200" cy="192024"/>
          </a:xfrm>
          <a:prstGeom prst="rect">
            <a:avLst/>
          </a:prstGeom>
          <a:noFill/>
          <a:ln/>
        </p:spPr>
        <p:txBody>
          <a:bodyPr wrap="square" lIns="0" tIns="0" rIns="0" bIns="0" rtlCol="0" anchor="ctr"/>
          <a:lstStyle/>
          <a:p>
            <a:pPr algn="ctr" indent="0" marL="0">
              <a:buNone/>
            </a:pPr>
            <a:r>
              <a:rPr lang="en-US" sz="900" dirty="0">
                <a:solidFill>
                  <a:srgbClr val="1E293B"/>
                </a:solidFill>
                <a:latin typeface="Calibri" pitchFamily="34" charset="0"/>
                <a:ea typeface="Calibri" pitchFamily="34" charset="-122"/>
                <a:cs typeface="Calibri" pitchFamily="34" charset="-120"/>
              </a:rPr>
              <a:t>6</a:t>
            </a:r>
            <a:endParaRPr lang="en-US" sz="900" dirty="0"/>
          </a:p>
        </p:txBody>
      </p:sp>
      <p:sp>
        <p:nvSpPr>
          <p:cNvPr id="39" name="Text 36"/>
          <p:cNvSpPr/>
          <p:nvPr/>
        </p:nvSpPr>
        <p:spPr>
          <a:xfrm>
            <a:off x="7818120" y="3300984"/>
            <a:ext cx="777240" cy="192024"/>
          </a:xfrm>
          <a:prstGeom prst="rect">
            <a:avLst/>
          </a:prstGeom>
          <a:noFill/>
          <a:ln/>
        </p:spPr>
        <p:txBody>
          <a:bodyPr wrap="square" lIns="0" tIns="0" rIns="0" bIns="0" rtlCol="0" anchor="ctr"/>
          <a:lstStyle/>
          <a:p>
            <a:pPr algn="r" indent="0" marL="0">
              <a:buNone/>
            </a:pPr>
            <a:r>
              <a:rPr lang="en-US" sz="900" dirty="0">
                <a:solidFill>
                  <a:srgbClr val="1E293B"/>
                </a:solidFill>
                <a:latin typeface="Calibri" pitchFamily="34" charset="0"/>
                <a:ea typeface="Calibri" pitchFamily="34" charset="-122"/>
                <a:cs typeface="Calibri" pitchFamily="34" charset="-120"/>
              </a:rPr>
              <a:t>1.3k</a:t>
            </a:r>
            <a:endParaRPr lang="en-US" sz="900" dirty="0"/>
          </a:p>
        </p:txBody>
      </p:sp>
      <p:sp>
        <p:nvSpPr>
          <p:cNvPr id="40" name="Shape 37"/>
          <p:cNvSpPr/>
          <p:nvPr/>
        </p:nvSpPr>
        <p:spPr>
          <a:xfrm>
            <a:off x="5943600" y="3529584"/>
            <a:ext cx="2651760" cy="18288"/>
          </a:xfrm>
          <a:prstGeom prst="rect">
            <a:avLst/>
          </a:prstGeom>
          <a:solidFill>
            <a:srgbClr val="0F2A44"/>
          </a:solidFill>
          <a:ln w="12700">
            <a:solidFill>
              <a:srgbClr val="0F2A44"/>
            </a:solidFill>
            <a:prstDash val="solid"/>
          </a:ln>
        </p:spPr>
      </p:sp>
      <p:sp>
        <p:nvSpPr>
          <p:cNvPr id="41" name="Text 38"/>
          <p:cNvSpPr/>
          <p:nvPr/>
        </p:nvSpPr>
        <p:spPr>
          <a:xfrm>
            <a:off x="5943600" y="3584448"/>
            <a:ext cx="1417320" cy="201168"/>
          </a:xfrm>
          <a:prstGeom prst="rect">
            <a:avLst/>
          </a:prstGeom>
          <a:noFill/>
          <a:ln/>
        </p:spPr>
        <p:txBody>
          <a:bodyPr wrap="square" lIns="0" tIns="0" rIns="0" bIns="0" rtlCol="0" anchor="ctr"/>
          <a:lstStyle/>
          <a:p>
            <a:pPr indent="0" marL="0">
              <a:buNone/>
            </a:pPr>
            <a:r>
              <a:rPr lang="en-US" sz="900" b="1" dirty="0">
                <a:solidFill>
                  <a:srgbClr val="0F2A44"/>
                </a:solidFill>
                <a:latin typeface="Calibri" pitchFamily="34" charset="0"/>
                <a:ea typeface="Calibri" pitchFamily="34" charset="-122"/>
                <a:cs typeface="Calibri" pitchFamily="34" charset="-120"/>
              </a:rPr>
              <a:t>Total</a:t>
            </a:r>
            <a:endParaRPr lang="en-US" sz="900" dirty="0"/>
          </a:p>
        </p:txBody>
      </p:sp>
      <p:sp>
        <p:nvSpPr>
          <p:cNvPr id="42" name="Text 39"/>
          <p:cNvSpPr/>
          <p:nvPr/>
        </p:nvSpPr>
        <p:spPr>
          <a:xfrm>
            <a:off x="7360920" y="3584448"/>
            <a:ext cx="457200" cy="201168"/>
          </a:xfrm>
          <a:prstGeom prst="rect">
            <a:avLst/>
          </a:prstGeom>
          <a:noFill/>
          <a:ln/>
        </p:spPr>
        <p:txBody>
          <a:bodyPr wrap="square" lIns="0" tIns="0" rIns="0" bIns="0" rtlCol="0" anchor="ctr"/>
          <a:lstStyle/>
          <a:p>
            <a:pPr algn="ctr" indent="0" marL="0">
              <a:buNone/>
            </a:pPr>
            <a:r>
              <a:rPr lang="en-US" sz="900" b="1" dirty="0">
                <a:solidFill>
                  <a:srgbClr val="0F2A44"/>
                </a:solidFill>
                <a:latin typeface="Calibri" pitchFamily="34" charset="0"/>
                <a:ea typeface="Calibri" pitchFamily="34" charset="-122"/>
                <a:cs typeface="Calibri" pitchFamily="34" charset="-120"/>
              </a:rPr>
              <a:t>130</a:t>
            </a:r>
            <a:endParaRPr lang="en-US" sz="900" dirty="0"/>
          </a:p>
        </p:txBody>
      </p:sp>
      <p:sp>
        <p:nvSpPr>
          <p:cNvPr id="43" name="Text 40"/>
          <p:cNvSpPr/>
          <p:nvPr/>
        </p:nvSpPr>
        <p:spPr>
          <a:xfrm>
            <a:off x="7818120" y="3584448"/>
            <a:ext cx="777240" cy="201168"/>
          </a:xfrm>
          <a:prstGeom prst="rect">
            <a:avLst/>
          </a:prstGeom>
          <a:noFill/>
          <a:ln/>
        </p:spPr>
        <p:txBody>
          <a:bodyPr wrap="square" lIns="0" tIns="0" rIns="0" bIns="0" rtlCol="0" anchor="ctr"/>
          <a:lstStyle/>
          <a:p>
            <a:pPr algn="r" indent="0" marL="0">
              <a:buNone/>
            </a:pPr>
            <a:r>
              <a:rPr lang="en-US" sz="900" b="1" dirty="0">
                <a:solidFill>
                  <a:srgbClr val="0F2A44"/>
                </a:solidFill>
                <a:latin typeface="Calibri" pitchFamily="34" charset="0"/>
                <a:ea typeface="Calibri" pitchFamily="34" charset="-122"/>
                <a:cs typeface="Calibri" pitchFamily="34" charset="-120"/>
              </a:rPr>
              <a:t>274k</a:t>
            </a:r>
            <a:endParaRPr lang="en-US" sz="900" dirty="0"/>
          </a:p>
        </p:txBody>
      </p:sp>
      <p:sp>
        <p:nvSpPr>
          <p:cNvPr id="44" name="Shape 41"/>
          <p:cNvSpPr/>
          <p:nvPr/>
        </p:nvSpPr>
        <p:spPr>
          <a:xfrm>
            <a:off x="548640" y="3950208"/>
            <a:ext cx="457200" cy="36576"/>
          </a:xfrm>
          <a:prstGeom prst="rect">
            <a:avLst/>
          </a:prstGeom>
          <a:solidFill>
            <a:srgbClr val="0D9488"/>
          </a:solidFill>
          <a:ln w="12700">
            <a:solidFill>
              <a:srgbClr val="0D9488"/>
            </a:solidFill>
            <a:prstDash val="solid"/>
          </a:ln>
        </p:spPr>
      </p:sp>
      <p:sp>
        <p:nvSpPr>
          <p:cNvPr id="45" name="Text 42"/>
          <p:cNvSpPr/>
          <p:nvPr/>
        </p:nvSpPr>
        <p:spPr>
          <a:xfrm>
            <a:off x="731520" y="4059936"/>
            <a:ext cx="7863840" cy="640080"/>
          </a:xfrm>
          <a:prstGeom prst="rect">
            <a:avLst/>
          </a:prstGeom>
          <a:noFill/>
          <a:ln/>
        </p:spPr>
        <p:txBody>
          <a:bodyPr wrap="square" lIns="0" tIns="0" rIns="0" bIns="0" rtlCol="0" anchor="ctr"/>
          <a:lstStyle/>
          <a:p>
            <a:pPr marL="342900" indent="-342900">
              <a:spcAft>
                <a:spcPts val="200"/>
              </a:spcAft>
              <a:buSzPct val="100000"/>
              <a:buChar char="•"/>
            </a:pPr>
            <a:r>
              <a:rPr lang="en-US" sz="1050" dirty="0">
                <a:solidFill>
                  <a:srgbClr val="1E293B"/>
                </a:solidFill>
                <a:latin typeface="Calibri" pitchFamily="34" charset="0"/>
                <a:ea typeface="Calibri" pitchFamily="34" charset="-122"/>
                <a:cs typeface="Calibri" pitchFamily="34" charset="-120"/>
              </a:rPr>
              <a:t>98 anti-pattern instances across 9 types; API Versioning Absence (37) and Nano Service (23) dominate</a:t>
            </a:r>
            <a:endParaRPr lang="en-US" sz="1050" dirty="0"/>
          </a:p>
          <a:p>
            <a:pPr marL="342900" indent="-342900">
              <a:spcAft>
                <a:spcPts val="200"/>
              </a:spcAft>
              <a:buSzPct val="100000"/>
              <a:buChar char="•"/>
            </a:pPr>
            <a:r>
              <a:rPr lang="en-US" sz="1050" dirty="0">
                <a:solidFill>
                  <a:srgbClr val="1E293B"/>
                </a:solidFill>
                <a:latin typeface="Calibri" pitchFamily="34" charset="0"/>
                <a:ea typeface="Calibri" pitchFamily="34" charset="-122"/>
                <a:cs typeface="Calibri" pitchFamily="34" charset="-120"/>
              </a:rPr>
              <a:t>PiggyMetrics and piomin broadened ESB Misuse and Nano Service coverage; Cyclic Dependency and Wrong Cuts detected in microservice-recruit</a:t>
            </a:r>
            <a:endParaRPr lang="en-US" sz="1050" dirty="0"/>
          </a:p>
        </p:txBody>
      </p:sp>
      <p:sp>
        <p:nvSpPr>
          <p:cNvPr id="46" name="Text 43"/>
          <p:cNvSpPr/>
          <p:nvPr/>
        </p:nvSpPr>
        <p:spPr>
          <a:xfrm>
            <a:off x="7955280" y="4864608"/>
            <a:ext cx="640080" cy="22860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11 / 15</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F2A44"/>
        </a:solidFill>
      </p:bgPr>
    </p:bg>
    <p:spTree>
      <p:nvGrpSpPr>
        <p:cNvPr id="1" name=""/>
        <p:cNvGrpSpPr/>
        <p:nvPr/>
      </p:nvGrpSpPr>
      <p:grpSpPr>
        <a:xfrm>
          <a:off x="0" y="0"/>
          <a:ext cx="0" cy="0"/>
          <a:chOff x="0" y="0"/>
          <a:chExt cx="0" cy="0"/>
        </a:xfrm>
      </p:grpSpPr>
      <p:sp>
        <p:nvSpPr>
          <p:cNvPr id="2" name="Shape 0"/>
          <p:cNvSpPr/>
          <p:nvPr/>
        </p:nvSpPr>
        <p:spPr>
          <a:xfrm>
            <a:off x="548640" y="868680"/>
            <a:ext cx="640080" cy="41148"/>
          </a:xfrm>
          <a:prstGeom prst="rect">
            <a:avLst/>
          </a:prstGeom>
          <a:solidFill>
            <a:srgbClr val="0D9488"/>
          </a:solidFill>
          <a:ln w="12700">
            <a:solidFill>
              <a:srgbClr val="0D9488"/>
            </a:solidFill>
            <a:prstDash val="solid"/>
          </a:ln>
        </p:spPr>
      </p:sp>
      <p:sp>
        <p:nvSpPr>
          <p:cNvPr id="3" name="Text 1"/>
          <p:cNvSpPr/>
          <p:nvPr/>
        </p:nvSpPr>
        <p:spPr>
          <a:xfrm>
            <a:off x="548640" y="1051560"/>
            <a:ext cx="7863840" cy="777240"/>
          </a:xfrm>
          <a:prstGeom prst="rect">
            <a:avLst/>
          </a:prstGeom>
          <a:noFill/>
          <a:ln/>
        </p:spPr>
        <p:txBody>
          <a:bodyPr wrap="square" lIns="0" tIns="0" rIns="0" bIns="0" rtlCol="0" anchor="ctr"/>
          <a:lstStyle/>
          <a:p>
            <a:pPr indent="0" marL="0">
              <a:buNone/>
            </a:pPr>
            <a:r>
              <a:rPr lang="en-US" sz="4400" b="1" dirty="0">
                <a:solidFill>
                  <a:srgbClr val="FFFFFF"/>
                </a:solidFill>
                <a:latin typeface="Calibri" pitchFamily="34" charset="0"/>
                <a:ea typeface="Calibri" pitchFamily="34" charset="-122"/>
                <a:cs typeface="Calibri" pitchFamily="34" charset="-120"/>
              </a:rPr>
              <a:t>Live demo</a:t>
            </a:r>
            <a:endParaRPr lang="en-US" sz="4400" dirty="0"/>
          </a:p>
        </p:txBody>
      </p:sp>
      <p:sp>
        <p:nvSpPr>
          <p:cNvPr id="4" name="Text 2"/>
          <p:cNvSpPr/>
          <p:nvPr/>
        </p:nvSpPr>
        <p:spPr>
          <a:xfrm>
            <a:off x="548640" y="1874520"/>
            <a:ext cx="7863840" cy="365760"/>
          </a:xfrm>
          <a:prstGeom prst="rect">
            <a:avLst/>
          </a:prstGeom>
          <a:noFill/>
          <a:ln/>
        </p:spPr>
        <p:txBody>
          <a:bodyPr wrap="square" lIns="0" tIns="0" rIns="0" bIns="0" rtlCol="0" anchor="ctr"/>
          <a:lstStyle/>
          <a:p>
            <a:pPr indent="0" marL="0">
              <a:buNone/>
            </a:pPr>
            <a:r>
              <a:rPr lang="en-US" sz="1600" i="1" dirty="0">
                <a:solidFill>
                  <a:srgbClr val="DBEAFE"/>
                </a:solidFill>
                <a:latin typeface="Calibri" pitchFamily="34" charset="0"/>
                <a:ea typeface="Calibri" pitchFamily="34" charset="-122"/>
                <a:cs typeface="Calibri" pitchFamily="34" charset="-120"/>
              </a:rPr>
              <a:t>Cloning and analysing a microservice project in real time</a:t>
            </a:r>
            <a:endParaRPr lang="en-US" sz="1600" dirty="0"/>
          </a:p>
        </p:txBody>
      </p:sp>
      <p:sp>
        <p:nvSpPr>
          <p:cNvPr id="5" name="Text 3"/>
          <p:cNvSpPr/>
          <p:nvPr/>
        </p:nvSpPr>
        <p:spPr>
          <a:xfrm>
            <a:off x="548640" y="2560320"/>
            <a:ext cx="365760" cy="292608"/>
          </a:xfrm>
          <a:prstGeom prst="rect">
            <a:avLst/>
          </a:prstGeom>
          <a:noFill/>
          <a:ln/>
        </p:spPr>
        <p:txBody>
          <a:bodyPr wrap="square" lIns="0" tIns="0" rIns="0" bIns="0" rtlCol="0" anchor="ctr"/>
          <a:lstStyle/>
          <a:p>
            <a:pPr indent="0" marL="0">
              <a:buNone/>
            </a:pPr>
            <a:r>
              <a:rPr lang="en-US" sz="1600" b="1" dirty="0">
                <a:solidFill>
                  <a:srgbClr val="0D9488"/>
                </a:solidFill>
                <a:latin typeface="Calibri" pitchFamily="34" charset="0"/>
                <a:ea typeface="Calibri" pitchFamily="34" charset="-122"/>
                <a:cs typeface="Calibri" pitchFamily="34" charset="-120"/>
              </a:rPr>
              <a:t>1</a:t>
            </a:r>
            <a:endParaRPr lang="en-US" sz="1600" dirty="0"/>
          </a:p>
        </p:txBody>
      </p:sp>
      <p:sp>
        <p:nvSpPr>
          <p:cNvPr id="6" name="Text 4"/>
          <p:cNvSpPr/>
          <p:nvPr/>
        </p:nvSpPr>
        <p:spPr>
          <a:xfrm>
            <a:off x="1051560" y="2569464"/>
            <a:ext cx="7498080" cy="27432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Clone a small repo</a:t>
            </a:r>
            <a:endParaRPr lang="en-US" sz="1400" dirty="0"/>
          </a:p>
        </p:txBody>
      </p:sp>
      <p:sp>
        <p:nvSpPr>
          <p:cNvPr id="7" name="Text 5"/>
          <p:cNvSpPr/>
          <p:nvPr/>
        </p:nvSpPr>
        <p:spPr>
          <a:xfrm>
            <a:off x="1051560" y="2825496"/>
            <a:ext cx="7498080" cy="237744"/>
          </a:xfrm>
          <a:prstGeom prst="rect">
            <a:avLst/>
          </a:prstGeom>
          <a:noFill/>
          <a:ln/>
        </p:spPr>
        <p:txBody>
          <a:bodyPr wrap="square" lIns="0" tIns="0" rIns="0" bIns="0" rtlCol="0" anchor="ctr"/>
          <a:lstStyle/>
          <a:p>
            <a:pPr indent="0" marL="0">
              <a:buNone/>
            </a:pPr>
            <a:r>
              <a:rPr lang="en-US" sz="1100" dirty="0">
                <a:solidFill>
                  <a:srgbClr val="DBEAFE"/>
                </a:solidFill>
                <a:latin typeface="Calibri" pitchFamily="34" charset="0"/>
                <a:ea typeface="Calibri" pitchFamily="34" charset="-122"/>
                <a:cs typeface="Calibri" pitchFamily="34" charset="-120"/>
              </a:rPr>
              <a:t>Paste a public Git URL, submit, watch the pipeline progress</a:t>
            </a:r>
            <a:endParaRPr lang="en-US" sz="1100" dirty="0"/>
          </a:p>
        </p:txBody>
      </p:sp>
      <p:sp>
        <p:nvSpPr>
          <p:cNvPr id="8" name="Text 6"/>
          <p:cNvSpPr/>
          <p:nvPr/>
        </p:nvSpPr>
        <p:spPr>
          <a:xfrm>
            <a:off x="548640" y="3108960"/>
            <a:ext cx="365760" cy="292608"/>
          </a:xfrm>
          <a:prstGeom prst="rect">
            <a:avLst/>
          </a:prstGeom>
          <a:noFill/>
          <a:ln/>
        </p:spPr>
        <p:txBody>
          <a:bodyPr wrap="square" lIns="0" tIns="0" rIns="0" bIns="0" rtlCol="0" anchor="ctr"/>
          <a:lstStyle/>
          <a:p>
            <a:pPr indent="0" marL="0">
              <a:buNone/>
            </a:pPr>
            <a:r>
              <a:rPr lang="en-US" sz="1600" b="1" dirty="0">
                <a:solidFill>
                  <a:srgbClr val="0D9488"/>
                </a:solidFill>
                <a:latin typeface="Calibri" pitchFamily="34" charset="0"/>
                <a:ea typeface="Calibri" pitchFamily="34" charset="-122"/>
                <a:cs typeface="Calibri" pitchFamily="34" charset="-120"/>
              </a:rPr>
              <a:t>2</a:t>
            </a:r>
            <a:endParaRPr lang="en-US" sz="1600" dirty="0"/>
          </a:p>
        </p:txBody>
      </p:sp>
      <p:sp>
        <p:nvSpPr>
          <p:cNvPr id="9" name="Text 7"/>
          <p:cNvSpPr/>
          <p:nvPr/>
        </p:nvSpPr>
        <p:spPr>
          <a:xfrm>
            <a:off x="1051560" y="3118104"/>
            <a:ext cx="7498080" cy="27432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Open the results dashboard</a:t>
            </a:r>
            <a:endParaRPr lang="en-US" sz="1400" dirty="0"/>
          </a:p>
        </p:txBody>
      </p:sp>
      <p:sp>
        <p:nvSpPr>
          <p:cNvPr id="10" name="Text 8"/>
          <p:cNvSpPr/>
          <p:nvPr/>
        </p:nvSpPr>
        <p:spPr>
          <a:xfrm>
            <a:off x="1051560" y="3374136"/>
            <a:ext cx="7498080" cy="237744"/>
          </a:xfrm>
          <a:prstGeom prst="rect">
            <a:avLst/>
          </a:prstGeom>
          <a:noFill/>
          <a:ln/>
        </p:spPr>
        <p:txBody>
          <a:bodyPr wrap="square" lIns="0" tIns="0" rIns="0" bIns="0" rtlCol="0" anchor="ctr"/>
          <a:lstStyle/>
          <a:p>
            <a:pPr indent="0" marL="0">
              <a:buNone/>
            </a:pPr>
            <a:r>
              <a:rPr lang="en-US" sz="1100" dirty="0">
                <a:solidFill>
                  <a:srgbClr val="DBEAFE"/>
                </a:solidFill>
                <a:latin typeface="Calibri" pitchFamily="34" charset="0"/>
                <a:ea typeface="Calibri" pitchFamily="34" charset="-122"/>
                <a:cs typeface="Calibri" pitchFamily="34" charset="-120"/>
              </a:rPr>
              <a:t>Health score gauge, four-category breakdown, summary metrics</a:t>
            </a:r>
            <a:endParaRPr lang="en-US" sz="1100" dirty="0"/>
          </a:p>
        </p:txBody>
      </p:sp>
      <p:sp>
        <p:nvSpPr>
          <p:cNvPr id="11" name="Text 9"/>
          <p:cNvSpPr/>
          <p:nvPr/>
        </p:nvSpPr>
        <p:spPr>
          <a:xfrm>
            <a:off x="548640" y="3657600"/>
            <a:ext cx="365760" cy="292608"/>
          </a:xfrm>
          <a:prstGeom prst="rect">
            <a:avLst/>
          </a:prstGeom>
          <a:noFill/>
          <a:ln/>
        </p:spPr>
        <p:txBody>
          <a:bodyPr wrap="square" lIns="0" tIns="0" rIns="0" bIns="0" rtlCol="0" anchor="ctr"/>
          <a:lstStyle/>
          <a:p>
            <a:pPr indent="0" marL="0">
              <a:buNone/>
            </a:pPr>
            <a:r>
              <a:rPr lang="en-US" sz="1600" b="1" dirty="0">
                <a:solidFill>
                  <a:srgbClr val="0D9488"/>
                </a:solidFill>
                <a:latin typeface="Calibri" pitchFamily="34" charset="0"/>
                <a:ea typeface="Calibri" pitchFamily="34" charset="-122"/>
                <a:cs typeface="Calibri" pitchFamily="34" charset="-120"/>
              </a:rPr>
              <a:t>3</a:t>
            </a:r>
            <a:endParaRPr lang="en-US" sz="1600" dirty="0"/>
          </a:p>
        </p:txBody>
      </p:sp>
      <p:sp>
        <p:nvSpPr>
          <p:cNvPr id="12" name="Text 10"/>
          <p:cNvSpPr/>
          <p:nvPr/>
        </p:nvSpPr>
        <p:spPr>
          <a:xfrm>
            <a:off x="1051560" y="3666744"/>
            <a:ext cx="7498080" cy="27432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Drill into a finding</a:t>
            </a:r>
            <a:endParaRPr lang="en-US" sz="1400" dirty="0"/>
          </a:p>
        </p:txBody>
      </p:sp>
      <p:sp>
        <p:nvSpPr>
          <p:cNvPr id="13" name="Text 11"/>
          <p:cNvSpPr/>
          <p:nvPr/>
        </p:nvSpPr>
        <p:spPr>
          <a:xfrm>
            <a:off x="1051560" y="3922776"/>
            <a:ext cx="7498080" cy="237744"/>
          </a:xfrm>
          <a:prstGeom prst="rect">
            <a:avLst/>
          </a:prstGeom>
          <a:noFill/>
          <a:ln/>
        </p:spPr>
        <p:txBody>
          <a:bodyPr wrap="square" lIns="0" tIns="0" rIns="0" bIns="0" rtlCol="0" anchor="ctr"/>
          <a:lstStyle/>
          <a:p>
            <a:pPr indent="0" marL="0">
              <a:buNone/>
            </a:pPr>
            <a:r>
              <a:rPr lang="en-US" sz="1100" dirty="0">
                <a:solidFill>
                  <a:srgbClr val="DBEAFE"/>
                </a:solidFill>
                <a:latin typeface="Calibri" pitchFamily="34" charset="0"/>
                <a:ea typeface="Calibri" pitchFamily="34" charset="-122"/>
                <a:cs typeface="Calibri" pitchFamily="34" charset="-120"/>
              </a:rPr>
              <a:t>Expand an anti-pattern card to see source-code evidence and remediation</a:t>
            </a:r>
            <a:endParaRPr lang="en-US" sz="1100" dirty="0"/>
          </a:p>
        </p:txBody>
      </p:sp>
      <p:sp>
        <p:nvSpPr>
          <p:cNvPr id="14" name="Text 12"/>
          <p:cNvSpPr/>
          <p:nvPr/>
        </p:nvSpPr>
        <p:spPr>
          <a:xfrm>
            <a:off x="548640" y="4206240"/>
            <a:ext cx="365760" cy="292608"/>
          </a:xfrm>
          <a:prstGeom prst="rect">
            <a:avLst/>
          </a:prstGeom>
          <a:noFill/>
          <a:ln/>
        </p:spPr>
        <p:txBody>
          <a:bodyPr wrap="square" lIns="0" tIns="0" rIns="0" bIns="0" rtlCol="0" anchor="ctr"/>
          <a:lstStyle/>
          <a:p>
            <a:pPr indent="0" marL="0">
              <a:buNone/>
            </a:pPr>
            <a:r>
              <a:rPr lang="en-US" sz="1600" b="1" dirty="0">
                <a:solidFill>
                  <a:srgbClr val="0D9488"/>
                </a:solidFill>
                <a:latin typeface="Calibri" pitchFamily="34" charset="0"/>
                <a:ea typeface="Calibri" pitchFamily="34" charset="-122"/>
                <a:cs typeface="Calibri" pitchFamily="34" charset="-120"/>
              </a:rPr>
              <a:t>4</a:t>
            </a:r>
            <a:endParaRPr lang="en-US" sz="1600" dirty="0"/>
          </a:p>
        </p:txBody>
      </p:sp>
      <p:sp>
        <p:nvSpPr>
          <p:cNvPr id="15" name="Text 13"/>
          <p:cNvSpPr/>
          <p:nvPr/>
        </p:nvSpPr>
        <p:spPr>
          <a:xfrm>
            <a:off x="1051560" y="4215384"/>
            <a:ext cx="7498080" cy="27432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Explore the dependency graph</a:t>
            </a:r>
            <a:endParaRPr lang="en-US" sz="1400" dirty="0"/>
          </a:p>
        </p:txBody>
      </p:sp>
      <p:sp>
        <p:nvSpPr>
          <p:cNvPr id="16" name="Text 14"/>
          <p:cNvSpPr/>
          <p:nvPr/>
        </p:nvSpPr>
        <p:spPr>
          <a:xfrm>
            <a:off x="1051560" y="4471416"/>
            <a:ext cx="7498080" cy="237744"/>
          </a:xfrm>
          <a:prstGeom prst="rect">
            <a:avLst/>
          </a:prstGeom>
          <a:noFill/>
          <a:ln/>
        </p:spPr>
        <p:txBody>
          <a:bodyPr wrap="square" lIns="0" tIns="0" rIns="0" bIns="0" rtlCol="0" anchor="ctr"/>
          <a:lstStyle/>
          <a:p>
            <a:pPr indent="0" marL="0">
              <a:buNone/>
            </a:pPr>
            <a:r>
              <a:rPr lang="en-US" sz="1100" dirty="0">
                <a:solidFill>
                  <a:srgbClr val="DBEAFE"/>
                </a:solidFill>
                <a:latin typeface="Calibri" pitchFamily="34" charset="0"/>
                <a:ea typeface="Calibri" pitchFamily="34" charset="-122"/>
                <a:cs typeface="Calibri" pitchFamily="34" charset="-120"/>
              </a:rPr>
              <a:t>Interactive Cytoscape view of inter-service edges</a:t>
            </a:r>
            <a:endParaRPr lang="en-US" sz="1100" dirty="0"/>
          </a:p>
        </p:txBody>
      </p:sp>
      <p:sp>
        <p:nvSpPr>
          <p:cNvPr id="17" name="Text 15"/>
          <p:cNvSpPr/>
          <p:nvPr/>
        </p:nvSpPr>
        <p:spPr>
          <a:xfrm>
            <a:off x="7955280" y="4864608"/>
            <a:ext cx="640080" cy="228600"/>
          </a:xfrm>
          <a:prstGeom prst="rect">
            <a:avLst/>
          </a:prstGeom>
          <a:noFill/>
          <a:ln/>
        </p:spPr>
        <p:txBody>
          <a:bodyPr wrap="square" lIns="0" tIns="0" rIns="0" bIns="0" rtlCol="0" anchor="ctr"/>
          <a:lstStyle/>
          <a:p>
            <a:pPr algn="r" indent="0" marL="0">
              <a:buNone/>
            </a:pPr>
            <a:r>
              <a:rPr lang="en-US" sz="900" dirty="0">
                <a:solidFill>
                  <a:srgbClr val="DBEAFE"/>
                </a:solidFill>
                <a:latin typeface="Calibri" pitchFamily="34" charset="0"/>
                <a:ea typeface="Calibri" pitchFamily="34" charset="-122"/>
                <a:cs typeface="Calibri" pitchFamily="34" charset="-120"/>
              </a:rPr>
              <a:t>12 / 15</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56032"/>
            <a:ext cx="8046720" cy="502920"/>
          </a:xfrm>
          <a:prstGeom prst="rect">
            <a:avLst/>
          </a:prstGeom>
          <a:noFill/>
          <a:ln/>
        </p:spPr>
        <p:txBody>
          <a:bodyPr wrap="square" lIns="0" tIns="0" rIns="0" bIns="0" rtlCol="0" anchor="ctr"/>
          <a:lstStyle/>
          <a:p>
            <a:pPr indent="0" marL="0">
              <a:buNone/>
            </a:pPr>
            <a:r>
              <a:rPr lang="en-US" sz="2500" b="1" dirty="0">
                <a:solidFill>
                  <a:srgbClr val="0F2A44"/>
                </a:solidFill>
                <a:latin typeface="Calibri" pitchFamily="34" charset="0"/>
                <a:ea typeface="Calibri" pitchFamily="34" charset="-122"/>
                <a:cs typeface="Calibri" pitchFamily="34" charset="-120"/>
              </a:rPr>
              <a:t>Limitations &amp; future work</a:t>
            </a:r>
            <a:endParaRPr lang="en-US" sz="2500" dirty="0"/>
          </a:p>
        </p:txBody>
      </p:sp>
      <p:sp>
        <p:nvSpPr>
          <p:cNvPr id="3" name="Shape 1"/>
          <p:cNvSpPr/>
          <p:nvPr/>
        </p:nvSpPr>
        <p:spPr>
          <a:xfrm>
            <a:off x="548640" y="841248"/>
            <a:ext cx="8046720" cy="13716"/>
          </a:xfrm>
          <a:prstGeom prst="rect">
            <a:avLst/>
          </a:prstGeom>
          <a:solidFill>
            <a:srgbClr val="D8DEE6"/>
          </a:solidFill>
          <a:ln w="12700">
            <a:solidFill>
              <a:srgbClr val="D8DEE6"/>
            </a:solidFill>
            <a:prstDash val="solid"/>
          </a:ln>
        </p:spPr>
      </p:sp>
      <p:sp>
        <p:nvSpPr>
          <p:cNvPr id="4" name="Text 2"/>
          <p:cNvSpPr/>
          <p:nvPr/>
        </p:nvSpPr>
        <p:spPr>
          <a:xfrm>
            <a:off x="548640" y="1005840"/>
            <a:ext cx="3840480" cy="347472"/>
          </a:xfrm>
          <a:prstGeom prst="rect">
            <a:avLst/>
          </a:prstGeom>
          <a:noFill/>
          <a:ln/>
        </p:spPr>
        <p:txBody>
          <a:bodyPr wrap="square" lIns="0" tIns="0" rIns="0" bIns="0" rtlCol="0" anchor="ctr"/>
          <a:lstStyle/>
          <a:p>
            <a:pPr indent="0" marL="0">
              <a:buNone/>
            </a:pPr>
            <a:r>
              <a:rPr lang="en-US" sz="1500" b="1" dirty="0">
                <a:solidFill>
                  <a:srgbClr val="0F2A44"/>
                </a:solidFill>
                <a:latin typeface="Calibri" pitchFamily="34" charset="0"/>
                <a:ea typeface="Calibri" pitchFamily="34" charset="-122"/>
                <a:cs typeface="Calibri" pitchFamily="34" charset="-120"/>
              </a:rPr>
              <a:t>Limitations</a:t>
            </a:r>
            <a:endParaRPr lang="en-US" sz="1500" dirty="0"/>
          </a:p>
        </p:txBody>
      </p:sp>
      <p:sp>
        <p:nvSpPr>
          <p:cNvPr id="5" name="Shape 3"/>
          <p:cNvSpPr/>
          <p:nvPr/>
        </p:nvSpPr>
        <p:spPr>
          <a:xfrm>
            <a:off x="548640" y="1389888"/>
            <a:ext cx="457200" cy="36576"/>
          </a:xfrm>
          <a:prstGeom prst="rect">
            <a:avLst/>
          </a:prstGeom>
          <a:solidFill>
            <a:srgbClr val="D97706"/>
          </a:solidFill>
          <a:ln w="12700">
            <a:solidFill>
              <a:srgbClr val="D97706"/>
            </a:solidFill>
            <a:prstDash val="solid"/>
          </a:ln>
        </p:spPr>
      </p:sp>
      <p:sp>
        <p:nvSpPr>
          <p:cNvPr id="6" name="Text 4"/>
          <p:cNvSpPr/>
          <p:nvPr/>
        </p:nvSpPr>
        <p:spPr>
          <a:xfrm>
            <a:off x="548640" y="1572768"/>
            <a:ext cx="3840480" cy="3017520"/>
          </a:xfrm>
          <a:prstGeom prst="rect">
            <a:avLst/>
          </a:prstGeom>
          <a:noFill/>
          <a:ln/>
        </p:spPr>
        <p:txBody>
          <a:bodyPr wrap="square" lIns="0" tIns="0" rIns="0" bIns="0" rtlCol="0" anchor="ctr"/>
          <a:lstStyle/>
          <a:p>
            <a:pPr marL="342900" indent="-342900">
              <a:spcAft>
                <a:spcPts val="600"/>
              </a:spcAft>
              <a:buSzPct val="100000"/>
              <a:buChar char="•"/>
            </a:pPr>
            <a:r>
              <a:rPr lang="en-US" sz="1100" dirty="0">
                <a:solidFill>
                  <a:srgbClr val="1E293B"/>
                </a:solidFill>
                <a:latin typeface="Calibri" pitchFamily="34" charset="0"/>
                <a:ea typeface="Calibri" pitchFamily="34" charset="-122"/>
                <a:cs typeface="Calibri" pitchFamily="34" charset="-120"/>
              </a:rPr>
              <a:t>Java / Spring Boot only; polyglot systems not supported</a:t>
            </a:r>
            <a:endParaRPr lang="en-US" sz="1100" dirty="0"/>
          </a:p>
          <a:p>
            <a:pPr marL="342900" indent="-342900">
              <a:spcAft>
                <a:spcPts val="600"/>
              </a:spcAft>
              <a:buSzPct val="100000"/>
              <a:buChar char="•"/>
            </a:pPr>
            <a:r>
              <a:rPr lang="en-US" sz="1100" dirty="0">
                <a:solidFill>
                  <a:srgbClr val="1E293B"/>
                </a:solidFill>
                <a:latin typeface="Calibri" pitchFamily="34" charset="0"/>
                <a:ea typeface="Calibri" pitchFamily="34" charset="-122"/>
                <a:cs typeface="Calibri" pitchFamily="34" charset="-120"/>
              </a:rPr>
              <a:t>Static analysis only; no runtime call frequency data</a:t>
            </a:r>
            <a:endParaRPr lang="en-US" sz="1100" dirty="0"/>
          </a:p>
          <a:p>
            <a:pPr marL="342900" indent="-342900">
              <a:spcAft>
                <a:spcPts val="600"/>
              </a:spcAft>
              <a:buSzPct val="100000"/>
              <a:buChar char="•"/>
            </a:pPr>
            <a:r>
              <a:rPr lang="en-US" sz="1100" dirty="0">
                <a:solidFill>
                  <a:srgbClr val="1E293B"/>
                </a:solidFill>
                <a:latin typeface="Calibri" pitchFamily="34" charset="0"/>
                <a:ea typeface="Calibri" pitchFamily="34" charset="-122"/>
                <a:cs typeface="Calibri" pitchFamily="34" charset="-120"/>
              </a:rPr>
              <a:t>Service detection deployability gate may miss services without framework annotations, Dockerfile, or main method</a:t>
            </a:r>
            <a:endParaRPr lang="en-US" sz="1100" dirty="0"/>
          </a:p>
          <a:p>
            <a:pPr marL="342900" indent="-342900">
              <a:spcAft>
                <a:spcPts val="600"/>
              </a:spcAft>
              <a:buSzPct val="100000"/>
              <a:buChar char="•"/>
            </a:pPr>
            <a:r>
              <a:rPr lang="en-US" sz="1100" dirty="0">
                <a:solidFill>
                  <a:srgbClr val="1E293B"/>
                </a:solidFill>
                <a:latin typeface="Calibri" pitchFamily="34" charset="0"/>
                <a:ea typeface="Calibri" pitchFamily="34" charset="-122"/>
                <a:cs typeface="Calibri" pitchFamily="34" charset="-120"/>
              </a:rPr>
              <a:t>Dynamic URLs (e.g. Spring Cloud Config) are not resolved</a:t>
            </a:r>
            <a:endParaRPr lang="en-US" sz="1100" dirty="0"/>
          </a:p>
          <a:p>
            <a:pPr marL="342900" indent="-342900">
              <a:spcAft>
                <a:spcPts val="600"/>
              </a:spcAft>
              <a:buSzPct val="100000"/>
              <a:buChar char="•"/>
            </a:pPr>
            <a:r>
              <a:rPr lang="en-US" sz="1100" dirty="0">
                <a:solidFill>
                  <a:srgbClr val="1E293B"/>
                </a:solidFill>
                <a:latin typeface="Calibri" pitchFamily="34" charset="0"/>
                <a:ea typeface="Calibri" pitchFamily="34" charset="-122"/>
                <a:cs typeface="Calibri" pitchFamily="34" charset="-120"/>
              </a:rPr>
              <a:t>Health score weights chosen by engineering judgement, not empirically calibrated</a:t>
            </a:r>
            <a:endParaRPr lang="en-US" sz="1100" dirty="0"/>
          </a:p>
          <a:p>
            <a:pPr marL="342900" indent="-342900">
              <a:spcAft>
                <a:spcPts val="600"/>
              </a:spcAft>
              <a:buSzPct val="100000"/>
              <a:buChar char="•"/>
            </a:pPr>
            <a:r>
              <a:rPr lang="en-US" sz="1100" dirty="0">
                <a:solidFill>
                  <a:srgbClr val="1E293B"/>
                </a:solidFill>
                <a:latin typeface="Calibri" pitchFamily="34" charset="0"/>
                <a:ea typeface="Calibri" pitchFamily="34" charset="-122"/>
                <a:cs typeface="Calibri" pitchFamily="34" charset="-120"/>
              </a:rPr>
              <a:t>Evaluation on 11 open-source projects; not a statistical claim</a:t>
            </a:r>
            <a:endParaRPr lang="en-US" sz="1100" dirty="0"/>
          </a:p>
        </p:txBody>
      </p:sp>
      <p:sp>
        <p:nvSpPr>
          <p:cNvPr id="7" name="Text 5"/>
          <p:cNvSpPr/>
          <p:nvPr/>
        </p:nvSpPr>
        <p:spPr>
          <a:xfrm>
            <a:off x="4754880" y="1005840"/>
            <a:ext cx="3840480" cy="347472"/>
          </a:xfrm>
          <a:prstGeom prst="rect">
            <a:avLst/>
          </a:prstGeom>
          <a:noFill/>
          <a:ln/>
        </p:spPr>
        <p:txBody>
          <a:bodyPr wrap="square" lIns="0" tIns="0" rIns="0" bIns="0" rtlCol="0" anchor="ctr"/>
          <a:lstStyle/>
          <a:p>
            <a:pPr indent="0" marL="0">
              <a:buNone/>
            </a:pPr>
            <a:r>
              <a:rPr lang="en-US" sz="1500" b="1" dirty="0">
                <a:solidFill>
                  <a:srgbClr val="0F2A44"/>
                </a:solidFill>
                <a:latin typeface="Calibri" pitchFamily="34" charset="0"/>
                <a:ea typeface="Calibri" pitchFamily="34" charset="-122"/>
                <a:cs typeface="Calibri" pitchFamily="34" charset="-120"/>
              </a:rPr>
              <a:t>Future work</a:t>
            </a:r>
            <a:endParaRPr lang="en-US" sz="1500" dirty="0"/>
          </a:p>
        </p:txBody>
      </p:sp>
      <p:sp>
        <p:nvSpPr>
          <p:cNvPr id="8" name="Shape 6"/>
          <p:cNvSpPr/>
          <p:nvPr/>
        </p:nvSpPr>
        <p:spPr>
          <a:xfrm>
            <a:off x="4754880" y="1389888"/>
            <a:ext cx="457200" cy="36576"/>
          </a:xfrm>
          <a:prstGeom prst="rect">
            <a:avLst/>
          </a:prstGeom>
          <a:solidFill>
            <a:srgbClr val="0D9488"/>
          </a:solidFill>
          <a:ln w="12700">
            <a:solidFill>
              <a:srgbClr val="0D9488"/>
            </a:solidFill>
            <a:prstDash val="solid"/>
          </a:ln>
        </p:spPr>
      </p:sp>
      <p:sp>
        <p:nvSpPr>
          <p:cNvPr id="9" name="Text 7"/>
          <p:cNvSpPr/>
          <p:nvPr/>
        </p:nvSpPr>
        <p:spPr>
          <a:xfrm>
            <a:off x="4754880" y="1572768"/>
            <a:ext cx="3840480" cy="3017520"/>
          </a:xfrm>
          <a:prstGeom prst="rect">
            <a:avLst/>
          </a:prstGeom>
          <a:noFill/>
          <a:ln/>
        </p:spPr>
        <p:txBody>
          <a:bodyPr wrap="square" lIns="0" tIns="0" rIns="0" bIns="0" rtlCol="0" anchor="ctr"/>
          <a:lstStyle/>
          <a:p>
            <a:pPr marL="342900" indent="-342900">
              <a:spcAft>
                <a:spcPts val="600"/>
              </a:spcAft>
              <a:buSzPct val="100000"/>
              <a:buChar char="•"/>
            </a:pPr>
            <a:r>
              <a:rPr lang="en-US" sz="1100" dirty="0">
                <a:solidFill>
                  <a:srgbClr val="1E293B"/>
                </a:solidFill>
                <a:latin typeface="Calibri" pitchFamily="34" charset="0"/>
                <a:ea typeface="Calibri" pitchFamily="34" charset="-122"/>
                <a:cs typeface="Calibri" pitchFamily="34" charset="-120"/>
              </a:rPr>
              <a:t>Multi-language support (Python, Go, .NET, Node.js) via language-agnostic dependency graphs from Docker Compose / Kubernetes manifests</a:t>
            </a:r>
            <a:endParaRPr lang="en-US" sz="1100" dirty="0"/>
          </a:p>
          <a:p>
            <a:pPr marL="342900" indent="-342900">
              <a:spcAft>
                <a:spcPts val="600"/>
              </a:spcAft>
              <a:buSzPct val="100000"/>
              <a:buChar char="•"/>
            </a:pPr>
            <a:r>
              <a:rPr lang="en-US" sz="1100" dirty="0">
                <a:solidFill>
                  <a:srgbClr val="1E293B"/>
                </a:solidFill>
                <a:latin typeface="Calibri" pitchFamily="34" charset="0"/>
                <a:ea typeface="Calibri" pitchFamily="34" charset="-122"/>
                <a:cs typeface="Calibri" pitchFamily="34" charset="-120"/>
              </a:rPr>
              <a:t>Extend anti-pattern catalogue (timeout misconfiguration, missing API gateway)</a:t>
            </a:r>
            <a:endParaRPr lang="en-US" sz="1100" dirty="0"/>
          </a:p>
          <a:p>
            <a:pPr marL="342900" indent="-342900">
              <a:spcAft>
                <a:spcPts val="600"/>
              </a:spcAft>
              <a:buSzPct val="100000"/>
              <a:buChar char="•"/>
            </a:pPr>
            <a:r>
              <a:rPr lang="en-US" sz="1100" dirty="0">
                <a:solidFill>
                  <a:srgbClr val="1E293B"/>
                </a:solidFill>
                <a:latin typeface="Calibri" pitchFamily="34" charset="0"/>
                <a:ea typeface="Calibri" pitchFamily="34" charset="-122"/>
                <a:cs typeface="Calibri" pitchFamily="34" charset="-120"/>
              </a:rPr>
              <a:t>ML-based detection: classifiers on labelled datasets or graph neural networks on the dependency graph</a:t>
            </a:r>
            <a:endParaRPr lang="en-US" sz="1100" dirty="0"/>
          </a:p>
          <a:p>
            <a:pPr marL="342900" indent="-342900">
              <a:spcAft>
                <a:spcPts val="600"/>
              </a:spcAft>
              <a:buSzPct val="100000"/>
              <a:buChar char="•"/>
            </a:pPr>
            <a:r>
              <a:rPr lang="en-US" sz="1100" dirty="0">
                <a:solidFill>
                  <a:srgbClr val="1E293B"/>
                </a:solidFill>
                <a:latin typeface="Calibri" pitchFamily="34" charset="0"/>
                <a:ea typeface="Calibri" pitchFamily="34" charset="-122"/>
                <a:cs typeface="Calibri" pitchFamily="34" charset="-120"/>
              </a:rPr>
              <a:t>Empirical threshold calibration across an industrial corpus</a:t>
            </a:r>
            <a:endParaRPr lang="en-US" sz="1100" dirty="0"/>
          </a:p>
        </p:txBody>
      </p:sp>
      <p:sp>
        <p:nvSpPr>
          <p:cNvPr id="10" name="Text 8"/>
          <p:cNvSpPr/>
          <p:nvPr/>
        </p:nvSpPr>
        <p:spPr>
          <a:xfrm>
            <a:off x="7955280" y="4864608"/>
            <a:ext cx="640080" cy="22860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13 / 15</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F2A44"/>
        </a:solidFill>
      </p:bgPr>
    </p:bg>
    <p:spTree>
      <p:nvGrpSpPr>
        <p:cNvPr id="1" name=""/>
        <p:cNvGrpSpPr/>
        <p:nvPr/>
      </p:nvGrpSpPr>
      <p:grpSpPr>
        <a:xfrm>
          <a:off x="0" y="0"/>
          <a:ext cx="0" cy="0"/>
          <a:chOff x="0" y="0"/>
          <a:chExt cx="0" cy="0"/>
        </a:xfrm>
      </p:grpSpPr>
      <p:sp>
        <p:nvSpPr>
          <p:cNvPr id="2" name="Shape 0"/>
          <p:cNvSpPr/>
          <p:nvPr/>
        </p:nvSpPr>
        <p:spPr>
          <a:xfrm>
            <a:off x="548640" y="914400"/>
            <a:ext cx="640080" cy="41148"/>
          </a:xfrm>
          <a:prstGeom prst="rect">
            <a:avLst/>
          </a:prstGeom>
          <a:solidFill>
            <a:srgbClr val="0D9488"/>
          </a:solidFill>
          <a:ln w="12700">
            <a:solidFill>
              <a:srgbClr val="0D9488"/>
            </a:solidFill>
            <a:prstDash val="solid"/>
          </a:ln>
        </p:spPr>
      </p:sp>
      <p:sp>
        <p:nvSpPr>
          <p:cNvPr id="3" name="Text 1"/>
          <p:cNvSpPr/>
          <p:nvPr/>
        </p:nvSpPr>
        <p:spPr>
          <a:xfrm>
            <a:off x="548640" y="1097280"/>
            <a:ext cx="7863840" cy="731520"/>
          </a:xfrm>
          <a:prstGeom prst="rect">
            <a:avLst/>
          </a:prstGeom>
          <a:noFill/>
          <a:ln/>
        </p:spPr>
        <p:txBody>
          <a:bodyPr wrap="square" lIns="0" tIns="0" rIns="0" bIns="0" rtlCol="0" anchor="ctr"/>
          <a:lstStyle/>
          <a:p>
            <a:pPr indent="0" marL="0">
              <a:buNone/>
            </a:pPr>
            <a:r>
              <a:rPr lang="en-US" sz="4400" b="1" dirty="0">
                <a:solidFill>
                  <a:srgbClr val="FFFFFF"/>
                </a:solidFill>
                <a:latin typeface="Calibri" pitchFamily="34" charset="0"/>
                <a:ea typeface="Calibri" pitchFamily="34" charset="-122"/>
                <a:cs typeface="Calibri" pitchFamily="34" charset="-120"/>
              </a:rPr>
              <a:t>Conclusions</a:t>
            </a:r>
            <a:endParaRPr lang="en-US" sz="4400" dirty="0"/>
          </a:p>
        </p:txBody>
      </p:sp>
      <p:sp>
        <p:nvSpPr>
          <p:cNvPr id="4" name="Text 2"/>
          <p:cNvSpPr/>
          <p:nvPr/>
        </p:nvSpPr>
        <p:spPr>
          <a:xfrm>
            <a:off x="548640" y="1874520"/>
            <a:ext cx="7863840" cy="411480"/>
          </a:xfrm>
          <a:prstGeom prst="rect">
            <a:avLst/>
          </a:prstGeom>
          <a:noFill/>
          <a:ln/>
        </p:spPr>
        <p:txBody>
          <a:bodyPr wrap="square" lIns="0" tIns="0" rIns="0" bIns="0" rtlCol="0" anchor="ctr"/>
          <a:lstStyle/>
          <a:p>
            <a:pPr indent="0" marL="0">
              <a:buNone/>
            </a:pPr>
            <a:r>
              <a:rPr lang="en-US" sz="1800" i="1" dirty="0">
                <a:solidFill>
                  <a:srgbClr val="DBEAFE"/>
                </a:solidFill>
                <a:latin typeface="Calibri" pitchFamily="34" charset="0"/>
                <a:ea typeface="Calibri" pitchFamily="34" charset="-122"/>
                <a:cs typeface="Calibri" pitchFamily="34" charset="-120"/>
              </a:rPr>
              <a:t>Questions &amp; discussion</a:t>
            </a:r>
            <a:endParaRPr lang="en-US" sz="1800" dirty="0"/>
          </a:p>
        </p:txBody>
      </p:sp>
      <p:sp>
        <p:nvSpPr>
          <p:cNvPr id="5" name="Text 3"/>
          <p:cNvSpPr/>
          <p:nvPr/>
        </p:nvSpPr>
        <p:spPr>
          <a:xfrm>
            <a:off x="548640" y="2697480"/>
            <a:ext cx="7863840" cy="274320"/>
          </a:xfrm>
          <a:prstGeom prst="rect">
            <a:avLst/>
          </a:prstGeom>
          <a:noFill/>
          <a:ln/>
        </p:spPr>
        <p:txBody>
          <a:bodyPr wrap="square" lIns="0" tIns="0" rIns="0" bIns="0" rtlCol="0" anchor="ctr"/>
          <a:lstStyle/>
          <a:p>
            <a:pPr indent="0" marL="0">
              <a:buNone/>
            </a:pPr>
            <a:r>
              <a:rPr lang="en-US" sz="1100" b="1" spc="300" kern="0" dirty="0">
                <a:solidFill>
                  <a:srgbClr val="0D9488"/>
                </a:solidFill>
                <a:latin typeface="Calibri" pitchFamily="34" charset="0"/>
                <a:ea typeface="Calibri" pitchFamily="34" charset="-122"/>
                <a:cs typeface="Calibri" pitchFamily="34" charset="-120"/>
              </a:rPr>
              <a:t>FINAL CLAIMS</a:t>
            </a:r>
            <a:endParaRPr lang="en-US" sz="1100" dirty="0"/>
          </a:p>
        </p:txBody>
      </p:sp>
      <p:sp>
        <p:nvSpPr>
          <p:cNvPr id="6" name="Text 4"/>
          <p:cNvSpPr/>
          <p:nvPr/>
        </p:nvSpPr>
        <p:spPr>
          <a:xfrm>
            <a:off x="731520" y="3017520"/>
            <a:ext cx="7680960" cy="1325880"/>
          </a:xfrm>
          <a:prstGeom prst="rect">
            <a:avLst/>
          </a:prstGeom>
          <a:noFill/>
          <a:ln/>
        </p:spPr>
        <p:txBody>
          <a:bodyPr wrap="square" lIns="0" tIns="0" rIns="0" bIns="0" rtlCol="0" anchor="ctr"/>
          <a:lstStyle/>
          <a:p>
            <a:pPr marL="342900" indent="-342900">
              <a:spcAft>
                <a:spcPts val="400"/>
              </a:spcAft>
              <a:buSzPct val="100000"/>
              <a:buChar char="•"/>
            </a:pPr>
            <a:r>
              <a:rPr lang="en-US" sz="1250" dirty="0">
                <a:solidFill>
                  <a:srgbClr val="FFFFFF"/>
                </a:solidFill>
                <a:latin typeface="Calibri" pitchFamily="34" charset="0"/>
                <a:ea typeface="Calibri" pitchFamily="34" charset="-122"/>
                <a:cs typeface="Calibri" pitchFamily="34" charset="-120"/>
              </a:rPr>
              <a:t>Multi-level static analysis combining code smells and architectural metrics</a:t>
            </a:r>
            <a:endParaRPr lang="en-US" sz="1250" dirty="0"/>
          </a:p>
          <a:p>
            <a:pPr marL="342900" indent="-342900">
              <a:spcAft>
                <a:spcPts val="400"/>
              </a:spcAft>
              <a:buSzPct val="100000"/>
              <a:buChar char="•"/>
            </a:pPr>
            <a:r>
              <a:rPr lang="en-US" sz="1250" dirty="0">
                <a:solidFill>
                  <a:srgbClr val="FFFFFF"/>
                </a:solidFill>
                <a:latin typeface="Calibri" pitchFamily="34" charset="0"/>
                <a:ea typeface="Calibri" pitchFamily="34" charset="-122"/>
                <a:cs typeface="Calibri" pitchFamily="34" charset="-120"/>
              </a:rPr>
              <a:t>Ten anti-patterns, configurable thresholds, evidence-based reporting</a:t>
            </a:r>
            <a:endParaRPr lang="en-US" sz="1250" dirty="0"/>
          </a:p>
          <a:p>
            <a:pPr marL="342900" indent="-342900">
              <a:spcAft>
                <a:spcPts val="400"/>
              </a:spcAft>
              <a:buSzPct val="100000"/>
              <a:buChar char="•"/>
            </a:pPr>
            <a:r>
              <a:rPr lang="en-US" sz="1250" dirty="0">
                <a:solidFill>
                  <a:srgbClr val="FFFFFF"/>
                </a:solidFill>
                <a:latin typeface="Calibri" pitchFamily="34" charset="0"/>
                <a:ea typeface="Calibri" pitchFamily="34" charset="-122"/>
                <a:cs typeface="Calibri" pitchFamily="34" charset="-120"/>
              </a:rPr>
              <a:t>Composite health score with four-category decomposition and analysis diff</a:t>
            </a:r>
            <a:endParaRPr lang="en-US" sz="1250" dirty="0"/>
          </a:p>
          <a:p>
            <a:pPr marL="342900" indent="-342900">
              <a:spcAft>
                <a:spcPts val="400"/>
              </a:spcAft>
              <a:buSzPct val="100000"/>
              <a:buChar char="•"/>
            </a:pPr>
            <a:r>
              <a:rPr lang="en-US" sz="1250" dirty="0">
                <a:solidFill>
                  <a:srgbClr val="FFFFFF"/>
                </a:solidFill>
                <a:latin typeface="Calibri" pitchFamily="34" charset="0"/>
                <a:ea typeface="Calibri" pitchFamily="34" charset="-122"/>
                <a:cs typeface="Calibri" pitchFamily="34" charset="-120"/>
              </a:rPr>
              <a:t>Open-source web application, ready for CI/CD integration</a:t>
            </a:r>
            <a:endParaRPr lang="en-US" sz="1250" dirty="0"/>
          </a:p>
        </p:txBody>
      </p:sp>
      <p:sp>
        <p:nvSpPr>
          <p:cNvPr id="7" name="Text 5"/>
          <p:cNvSpPr/>
          <p:nvPr/>
        </p:nvSpPr>
        <p:spPr>
          <a:xfrm>
            <a:off x="548640" y="4617720"/>
            <a:ext cx="7863840" cy="274320"/>
          </a:xfrm>
          <a:prstGeom prst="rect">
            <a:avLst/>
          </a:prstGeom>
          <a:noFill/>
          <a:ln/>
        </p:spPr>
        <p:txBody>
          <a:bodyPr wrap="square" lIns="0" tIns="0" rIns="0" bIns="0" rtlCol="0" anchor="ctr"/>
          <a:lstStyle/>
          <a:p>
            <a:pPr indent="0" marL="0">
              <a:buNone/>
            </a:pPr>
            <a:r>
              <a:rPr lang="en-US" sz="1050" dirty="0">
                <a:solidFill>
                  <a:srgbClr val="DBEAFE"/>
                </a:solidFill>
                <a:latin typeface="Calibri" pitchFamily="34" charset="0"/>
                <a:ea typeface="Calibri" pitchFamily="34" charset="-122"/>
                <a:cs typeface="Calibri" pitchFamily="34" charset="-120"/>
              </a:rPr>
              <a:t>Iacob Andrei  ·  Supervisor: Prof. Dr. Simona Motogna  ·  UBB FMI</a:t>
            </a:r>
            <a:endParaRPr lang="en-US" sz="1050" dirty="0"/>
          </a:p>
        </p:txBody>
      </p:sp>
      <p:sp>
        <p:nvSpPr>
          <p:cNvPr id="8" name="Text 6"/>
          <p:cNvSpPr/>
          <p:nvPr/>
        </p:nvSpPr>
        <p:spPr>
          <a:xfrm>
            <a:off x="7955280" y="4864608"/>
            <a:ext cx="640080" cy="228600"/>
          </a:xfrm>
          <a:prstGeom prst="rect">
            <a:avLst/>
          </a:prstGeom>
          <a:noFill/>
          <a:ln/>
        </p:spPr>
        <p:txBody>
          <a:bodyPr wrap="square" lIns="0" tIns="0" rIns="0" bIns="0" rtlCol="0" anchor="ctr"/>
          <a:lstStyle/>
          <a:p>
            <a:pPr algn="r" indent="0" marL="0">
              <a:buNone/>
            </a:pPr>
            <a:r>
              <a:rPr lang="en-US" sz="900" dirty="0">
                <a:solidFill>
                  <a:srgbClr val="DBEAFE"/>
                </a:solidFill>
                <a:latin typeface="Calibri" pitchFamily="34" charset="0"/>
                <a:ea typeface="Calibri" pitchFamily="34" charset="-122"/>
                <a:cs typeface="Calibri" pitchFamily="34" charset="-120"/>
              </a:rPr>
              <a:t>14 / 15</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56032"/>
            <a:ext cx="8046720" cy="502920"/>
          </a:xfrm>
          <a:prstGeom prst="rect">
            <a:avLst/>
          </a:prstGeom>
          <a:noFill/>
          <a:ln/>
        </p:spPr>
        <p:txBody>
          <a:bodyPr wrap="square" lIns="0" tIns="0" rIns="0" bIns="0" rtlCol="0" anchor="ctr"/>
          <a:lstStyle/>
          <a:p>
            <a:pPr indent="0" marL="0">
              <a:buNone/>
            </a:pPr>
            <a:r>
              <a:rPr lang="en-US" sz="2500" b="1" dirty="0">
                <a:solidFill>
                  <a:srgbClr val="0F2A44"/>
                </a:solidFill>
                <a:latin typeface="Calibri" pitchFamily="34" charset="0"/>
                <a:ea typeface="Calibri" pitchFamily="34" charset="-122"/>
                <a:cs typeface="Calibri" pitchFamily="34" charset="-120"/>
              </a:rPr>
              <a:t>Selected bibliography</a:t>
            </a:r>
            <a:endParaRPr lang="en-US" sz="2500" dirty="0"/>
          </a:p>
        </p:txBody>
      </p:sp>
      <p:sp>
        <p:nvSpPr>
          <p:cNvPr id="3" name="Shape 1"/>
          <p:cNvSpPr/>
          <p:nvPr/>
        </p:nvSpPr>
        <p:spPr>
          <a:xfrm>
            <a:off x="548640" y="841248"/>
            <a:ext cx="8046720" cy="13716"/>
          </a:xfrm>
          <a:prstGeom prst="rect">
            <a:avLst/>
          </a:prstGeom>
          <a:solidFill>
            <a:srgbClr val="D8DEE6"/>
          </a:solidFill>
          <a:ln w="12700">
            <a:solidFill>
              <a:srgbClr val="D8DEE6"/>
            </a:solidFill>
            <a:prstDash val="solid"/>
          </a:ln>
        </p:spPr>
      </p:sp>
      <p:sp>
        <p:nvSpPr>
          <p:cNvPr id="4" name="Text 2"/>
          <p:cNvSpPr/>
          <p:nvPr/>
        </p:nvSpPr>
        <p:spPr>
          <a:xfrm>
            <a:off x="548640" y="1051560"/>
            <a:ext cx="3794760" cy="219456"/>
          </a:xfrm>
          <a:prstGeom prst="rect">
            <a:avLst/>
          </a:prstGeom>
          <a:noFill/>
          <a:ln/>
        </p:spPr>
        <p:txBody>
          <a:bodyPr wrap="square" lIns="0" tIns="0" rIns="0" bIns="0" rtlCol="0" anchor="ctr"/>
          <a:lstStyle/>
          <a:p>
            <a:pPr indent="0" marL="0">
              <a:buNone/>
            </a:pPr>
            <a:r>
              <a:rPr lang="en-US" sz="1050" b="1" dirty="0">
                <a:solidFill>
                  <a:srgbClr val="0F2A44"/>
                </a:solidFill>
                <a:latin typeface="Calibri" pitchFamily="34" charset="0"/>
                <a:ea typeface="Calibri" pitchFamily="34" charset="-122"/>
                <a:cs typeface="Calibri" pitchFamily="34" charset="-120"/>
              </a:rPr>
              <a:t>Lewis &amp; Fowler (2014)</a:t>
            </a:r>
            <a:endParaRPr lang="en-US" sz="1050" dirty="0"/>
          </a:p>
        </p:txBody>
      </p:sp>
      <p:sp>
        <p:nvSpPr>
          <p:cNvPr id="5" name="Text 3"/>
          <p:cNvSpPr/>
          <p:nvPr/>
        </p:nvSpPr>
        <p:spPr>
          <a:xfrm>
            <a:off x="548640" y="1298448"/>
            <a:ext cx="3794760" cy="329184"/>
          </a:xfrm>
          <a:prstGeom prst="rect">
            <a:avLst/>
          </a:prstGeom>
          <a:noFill/>
          <a:ln/>
        </p:spPr>
        <p:txBody>
          <a:bodyPr wrap="square" lIns="0" tIns="0" rIns="0" bIns="0" rtlCol="0" anchor="ctr">
            <a:normAutofit/>
          </a:bodyPr>
          <a:lstStyle/>
          <a:p>
            <a:pPr indent="0" marL="0">
              <a:buNone/>
            </a:pPr>
            <a:r>
              <a:rPr lang="en-US" sz="920" dirty="0">
                <a:solidFill>
                  <a:srgbClr val="1E293B"/>
                </a:solidFill>
                <a:latin typeface="Calibri" pitchFamily="34" charset="0"/>
                <a:ea typeface="Calibri" pitchFamily="34" charset="-122"/>
                <a:cs typeface="Calibri" pitchFamily="34" charset="-120"/>
              </a:rPr>
              <a:t>Microservices: a definition of this new architectural term</a:t>
            </a:r>
            <a:endParaRPr lang="en-US" sz="920" dirty="0"/>
          </a:p>
        </p:txBody>
      </p:sp>
      <p:sp>
        <p:nvSpPr>
          <p:cNvPr id="6" name="Shape 4"/>
          <p:cNvSpPr/>
          <p:nvPr/>
        </p:nvSpPr>
        <p:spPr>
          <a:xfrm>
            <a:off x="548640" y="1664208"/>
            <a:ext cx="3794760" cy="9144"/>
          </a:xfrm>
          <a:prstGeom prst="rect">
            <a:avLst/>
          </a:prstGeom>
          <a:solidFill>
            <a:srgbClr val="D8DEE6"/>
          </a:solidFill>
          <a:ln w="12700">
            <a:solidFill>
              <a:srgbClr val="D8DEE6"/>
            </a:solidFill>
            <a:prstDash val="solid"/>
          </a:ln>
        </p:spPr>
      </p:sp>
      <p:sp>
        <p:nvSpPr>
          <p:cNvPr id="7" name="Text 5"/>
          <p:cNvSpPr/>
          <p:nvPr/>
        </p:nvSpPr>
        <p:spPr>
          <a:xfrm>
            <a:off x="548640" y="1764792"/>
            <a:ext cx="3794760" cy="219456"/>
          </a:xfrm>
          <a:prstGeom prst="rect">
            <a:avLst/>
          </a:prstGeom>
          <a:noFill/>
          <a:ln/>
        </p:spPr>
        <p:txBody>
          <a:bodyPr wrap="square" lIns="0" tIns="0" rIns="0" bIns="0" rtlCol="0" anchor="ctr"/>
          <a:lstStyle/>
          <a:p>
            <a:pPr indent="0" marL="0">
              <a:buNone/>
            </a:pPr>
            <a:r>
              <a:rPr lang="en-US" sz="1050" b="1" dirty="0">
                <a:solidFill>
                  <a:srgbClr val="0F2A44"/>
                </a:solidFill>
                <a:latin typeface="Calibri" pitchFamily="34" charset="0"/>
                <a:ea typeface="Calibri" pitchFamily="34" charset="-122"/>
                <a:cs typeface="Calibri" pitchFamily="34" charset="-120"/>
              </a:rPr>
              <a:t>Newman (2015)</a:t>
            </a:r>
            <a:endParaRPr lang="en-US" sz="1050" dirty="0"/>
          </a:p>
        </p:txBody>
      </p:sp>
      <p:sp>
        <p:nvSpPr>
          <p:cNvPr id="8" name="Text 6"/>
          <p:cNvSpPr/>
          <p:nvPr/>
        </p:nvSpPr>
        <p:spPr>
          <a:xfrm>
            <a:off x="548640" y="2011680"/>
            <a:ext cx="3794760" cy="329184"/>
          </a:xfrm>
          <a:prstGeom prst="rect">
            <a:avLst/>
          </a:prstGeom>
          <a:noFill/>
          <a:ln/>
        </p:spPr>
        <p:txBody>
          <a:bodyPr wrap="square" lIns="0" tIns="0" rIns="0" bIns="0" rtlCol="0" anchor="ctr">
            <a:normAutofit/>
          </a:bodyPr>
          <a:lstStyle/>
          <a:p>
            <a:pPr indent="0" marL="0">
              <a:buNone/>
            </a:pPr>
            <a:r>
              <a:rPr lang="en-US" sz="920" dirty="0">
                <a:solidFill>
                  <a:srgbClr val="1E293B"/>
                </a:solidFill>
                <a:latin typeface="Calibri" pitchFamily="34" charset="0"/>
                <a:ea typeface="Calibri" pitchFamily="34" charset="-122"/>
                <a:cs typeface="Calibri" pitchFamily="34" charset="-120"/>
              </a:rPr>
              <a:t>Building Microservices: Designing Fine-Grained Systems</a:t>
            </a:r>
            <a:endParaRPr lang="en-US" sz="920" dirty="0"/>
          </a:p>
        </p:txBody>
      </p:sp>
      <p:sp>
        <p:nvSpPr>
          <p:cNvPr id="9" name="Shape 7"/>
          <p:cNvSpPr/>
          <p:nvPr/>
        </p:nvSpPr>
        <p:spPr>
          <a:xfrm>
            <a:off x="548640" y="2377440"/>
            <a:ext cx="3794760" cy="9144"/>
          </a:xfrm>
          <a:prstGeom prst="rect">
            <a:avLst/>
          </a:prstGeom>
          <a:solidFill>
            <a:srgbClr val="D8DEE6"/>
          </a:solidFill>
          <a:ln w="12700">
            <a:solidFill>
              <a:srgbClr val="D8DEE6"/>
            </a:solidFill>
            <a:prstDash val="solid"/>
          </a:ln>
        </p:spPr>
      </p:sp>
      <p:sp>
        <p:nvSpPr>
          <p:cNvPr id="10" name="Text 8"/>
          <p:cNvSpPr/>
          <p:nvPr/>
        </p:nvSpPr>
        <p:spPr>
          <a:xfrm>
            <a:off x="548640" y="2478024"/>
            <a:ext cx="3794760" cy="219456"/>
          </a:xfrm>
          <a:prstGeom prst="rect">
            <a:avLst/>
          </a:prstGeom>
          <a:noFill/>
          <a:ln/>
        </p:spPr>
        <p:txBody>
          <a:bodyPr wrap="square" lIns="0" tIns="0" rIns="0" bIns="0" rtlCol="0" anchor="ctr"/>
          <a:lstStyle/>
          <a:p>
            <a:pPr indent="0" marL="0">
              <a:buNone/>
            </a:pPr>
            <a:r>
              <a:rPr lang="en-US" sz="1050" b="1" dirty="0">
                <a:solidFill>
                  <a:srgbClr val="0F2A44"/>
                </a:solidFill>
                <a:latin typeface="Calibri" pitchFamily="34" charset="0"/>
                <a:ea typeface="Calibri" pitchFamily="34" charset="-122"/>
                <a:cs typeface="Calibri" pitchFamily="34" charset="-120"/>
              </a:rPr>
              <a:t>Richardson (2018)</a:t>
            </a:r>
            <a:endParaRPr lang="en-US" sz="1050" dirty="0"/>
          </a:p>
        </p:txBody>
      </p:sp>
      <p:sp>
        <p:nvSpPr>
          <p:cNvPr id="11" name="Text 9"/>
          <p:cNvSpPr/>
          <p:nvPr/>
        </p:nvSpPr>
        <p:spPr>
          <a:xfrm>
            <a:off x="548640" y="2724912"/>
            <a:ext cx="3794760" cy="329184"/>
          </a:xfrm>
          <a:prstGeom prst="rect">
            <a:avLst/>
          </a:prstGeom>
          <a:noFill/>
          <a:ln/>
        </p:spPr>
        <p:txBody>
          <a:bodyPr wrap="square" lIns="0" tIns="0" rIns="0" bIns="0" rtlCol="0" anchor="ctr">
            <a:normAutofit/>
          </a:bodyPr>
          <a:lstStyle/>
          <a:p>
            <a:pPr indent="0" marL="0">
              <a:buNone/>
            </a:pPr>
            <a:r>
              <a:rPr lang="en-US" sz="920" dirty="0">
                <a:solidFill>
                  <a:srgbClr val="1E293B"/>
                </a:solidFill>
                <a:latin typeface="Calibri" pitchFamily="34" charset="0"/>
                <a:ea typeface="Calibri" pitchFamily="34" charset="-122"/>
                <a:cs typeface="Calibri" pitchFamily="34" charset="-120"/>
              </a:rPr>
              <a:t>Microservices Patterns: With Examples in Java</a:t>
            </a:r>
            <a:endParaRPr lang="en-US" sz="920" dirty="0"/>
          </a:p>
        </p:txBody>
      </p:sp>
      <p:sp>
        <p:nvSpPr>
          <p:cNvPr id="12" name="Shape 10"/>
          <p:cNvSpPr/>
          <p:nvPr/>
        </p:nvSpPr>
        <p:spPr>
          <a:xfrm>
            <a:off x="548640" y="3090672"/>
            <a:ext cx="3794760" cy="9144"/>
          </a:xfrm>
          <a:prstGeom prst="rect">
            <a:avLst/>
          </a:prstGeom>
          <a:solidFill>
            <a:srgbClr val="D8DEE6"/>
          </a:solidFill>
          <a:ln w="12700">
            <a:solidFill>
              <a:srgbClr val="D8DEE6"/>
            </a:solidFill>
            <a:prstDash val="solid"/>
          </a:ln>
        </p:spPr>
      </p:sp>
      <p:sp>
        <p:nvSpPr>
          <p:cNvPr id="13" name="Text 11"/>
          <p:cNvSpPr/>
          <p:nvPr/>
        </p:nvSpPr>
        <p:spPr>
          <a:xfrm>
            <a:off x="548640" y="3191256"/>
            <a:ext cx="3794760" cy="219456"/>
          </a:xfrm>
          <a:prstGeom prst="rect">
            <a:avLst/>
          </a:prstGeom>
          <a:noFill/>
          <a:ln/>
        </p:spPr>
        <p:txBody>
          <a:bodyPr wrap="square" lIns="0" tIns="0" rIns="0" bIns="0" rtlCol="0" anchor="ctr"/>
          <a:lstStyle/>
          <a:p>
            <a:pPr indent="0" marL="0">
              <a:buNone/>
            </a:pPr>
            <a:r>
              <a:rPr lang="en-US" sz="1050" b="1" dirty="0">
                <a:solidFill>
                  <a:srgbClr val="0F2A44"/>
                </a:solidFill>
                <a:latin typeface="Calibri" pitchFamily="34" charset="0"/>
                <a:ea typeface="Calibri" pitchFamily="34" charset="-122"/>
                <a:cs typeface="Calibri" pitchFamily="34" charset="-120"/>
              </a:rPr>
              <a:t>Taibi &amp; Lenarduzzi (2018)</a:t>
            </a:r>
            <a:endParaRPr lang="en-US" sz="1050" dirty="0"/>
          </a:p>
        </p:txBody>
      </p:sp>
      <p:sp>
        <p:nvSpPr>
          <p:cNvPr id="14" name="Text 12"/>
          <p:cNvSpPr/>
          <p:nvPr/>
        </p:nvSpPr>
        <p:spPr>
          <a:xfrm>
            <a:off x="548640" y="3438144"/>
            <a:ext cx="3794760" cy="329184"/>
          </a:xfrm>
          <a:prstGeom prst="rect">
            <a:avLst/>
          </a:prstGeom>
          <a:noFill/>
          <a:ln/>
        </p:spPr>
        <p:txBody>
          <a:bodyPr wrap="square" lIns="0" tIns="0" rIns="0" bIns="0" rtlCol="0" anchor="ctr">
            <a:normAutofit/>
          </a:bodyPr>
          <a:lstStyle/>
          <a:p>
            <a:pPr indent="0" marL="0">
              <a:buNone/>
            </a:pPr>
            <a:r>
              <a:rPr lang="en-US" sz="920" dirty="0">
                <a:solidFill>
                  <a:srgbClr val="1E293B"/>
                </a:solidFill>
                <a:latin typeface="Calibri" pitchFamily="34" charset="0"/>
                <a:ea typeface="Calibri" pitchFamily="34" charset="-122"/>
                <a:cs typeface="Calibri" pitchFamily="34" charset="-120"/>
              </a:rPr>
              <a:t>On the Definition of Microservice Bad Smells</a:t>
            </a:r>
            <a:endParaRPr lang="en-US" sz="920" dirty="0"/>
          </a:p>
        </p:txBody>
      </p:sp>
      <p:sp>
        <p:nvSpPr>
          <p:cNvPr id="15" name="Shape 13"/>
          <p:cNvSpPr/>
          <p:nvPr/>
        </p:nvSpPr>
        <p:spPr>
          <a:xfrm>
            <a:off x="548640" y="3803904"/>
            <a:ext cx="3794760" cy="9144"/>
          </a:xfrm>
          <a:prstGeom prst="rect">
            <a:avLst/>
          </a:prstGeom>
          <a:solidFill>
            <a:srgbClr val="D8DEE6"/>
          </a:solidFill>
          <a:ln w="12700">
            <a:solidFill>
              <a:srgbClr val="D8DEE6"/>
            </a:solidFill>
            <a:prstDash val="solid"/>
          </a:ln>
        </p:spPr>
      </p:sp>
      <p:sp>
        <p:nvSpPr>
          <p:cNvPr id="16" name="Text 14"/>
          <p:cNvSpPr/>
          <p:nvPr/>
        </p:nvSpPr>
        <p:spPr>
          <a:xfrm>
            <a:off x="548640" y="3904488"/>
            <a:ext cx="3794760" cy="219456"/>
          </a:xfrm>
          <a:prstGeom prst="rect">
            <a:avLst/>
          </a:prstGeom>
          <a:noFill/>
          <a:ln/>
        </p:spPr>
        <p:txBody>
          <a:bodyPr wrap="square" lIns="0" tIns="0" rIns="0" bIns="0" rtlCol="0" anchor="ctr"/>
          <a:lstStyle/>
          <a:p>
            <a:pPr indent="0" marL="0">
              <a:buNone/>
            </a:pPr>
            <a:r>
              <a:rPr lang="en-US" sz="1050" b="1" dirty="0">
                <a:solidFill>
                  <a:srgbClr val="0F2A44"/>
                </a:solidFill>
                <a:latin typeface="Calibri" pitchFamily="34" charset="0"/>
                <a:ea typeface="Calibri" pitchFamily="34" charset="-122"/>
                <a:cs typeface="Calibri" pitchFamily="34" charset="-120"/>
              </a:rPr>
              <a:t>Soldani, Tamburri &amp; Van Den Heuvel (2018)</a:t>
            </a:r>
            <a:endParaRPr lang="en-US" sz="1050" dirty="0"/>
          </a:p>
        </p:txBody>
      </p:sp>
      <p:sp>
        <p:nvSpPr>
          <p:cNvPr id="17" name="Text 15"/>
          <p:cNvSpPr/>
          <p:nvPr/>
        </p:nvSpPr>
        <p:spPr>
          <a:xfrm>
            <a:off x="548640" y="4151376"/>
            <a:ext cx="3794760" cy="329184"/>
          </a:xfrm>
          <a:prstGeom prst="rect">
            <a:avLst/>
          </a:prstGeom>
          <a:noFill/>
          <a:ln/>
        </p:spPr>
        <p:txBody>
          <a:bodyPr wrap="square" lIns="0" tIns="0" rIns="0" bIns="0" rtlCol="0" anchor="ctr">
            <a:normAutofit/>
          </a:bodyPr>
          <a:lstStyle/>
          <a:p>
            <a:pPr indent="0" marL="0">
              <a:buNone/>
            </a:pPr>
            <a:r>
              <a:rPr lang="en-US" sz="920" dirty="0">
                <a:solidFill>
                  <a:srgbClr val="1E293B"/>
                </a:solidFill>
                <a:latin typeface="Calibri" pitchFamily="34" charset="0"/>
                <a:ea typeface="Calibri" pitchFamily="34" charset="-122"/>
                <a:cs typeface="Calibri" pitchFamily="34" charset="-120"/>
              </a:rPr>
              <a:t>The Pains and Gains of Microservices</a:t>
            </a:r>
            <a:endParaRPr lang="en-US" sz="920" dirty="0"/>
          </a:p>
        </p:txBody>
      </p:sp>
      <p:sp>
        <p:nvSpPr>
          <p:cNvPr id="18" name="Text 16"/>
          <p:cNvSpPr/>
          <p:nvPr/>
        </p:nvSpPr>
        <p:spPr>
          <a:xfrm>
            <a:off x="4617720" y="1051560"/>
            <a:ext cx="3977640" cy="219456"/>
          </a:xfrm>
          <a:prstGeom prst="rect">
            <a:avLst/>
          </a:prstGeom>
          <a:noFill/>
          <a:ln/>
        </p:spPr>
        <p:txBody>
          <a:bodyPr wrap="square" lIns="0" tIns="0" rIns="0" bIns="0" rtlCol="0" anchor="ctr"/>
          <a:lstStyle/>
          <a:p>
            <a:pPr indent="0" marL="0">
              <a:buNone/>
            </a:pPr>
            <a:r>
              <a:rPr lang="en-US" sz="1050" b="1" dirty="0">
                <a:solidFill>
                  <a:srgbClr val="0F2A44"/>
                </a:solidFill>
                <a:latin typeface="Calibri" pitchFamily="34" charset="0"/>
                <a:ea typeface="Calibri" pitchFamily="34" charset="-122"/>
                <a:cs typeface="Calibri" pitchFamily="34" charset="-120"/>
              </a:rPr>
              <a:t>Neri et al. (2020)</a:t>
            </a:r>
            <a:endParaRPr lang="en-US" sz="1050" dirty="0"/>
          </a:p>
        </p:txBody>
      </p:sp>
      <p:sp>
        <p:nvSpPr>
          <p:cNvPr id="19" name="Text 17"/>
          <p:cNvSpPr/>
          <p:nvPr/>
        </p:nvSpPr>
        <p:spPr>
          <a:xfrm>
            <a:off x="4617720" y="1298448"/>
            <a:ext cx="3977640" cy="329184"/>
          </a:xfrm>
          <a:prstGeom prst="rect">
            <a:avLst/>
          </a:prstGeom>
          <a:noFill/>
          <a:ln/>
        </p:spPr>
        <p:txBody>
          <a:bodyPr wrap="square" lIns="0" tIns="0" rIns="0" bIns="0" rtlCol="0" anchor="ctr">
            <a:normAutofit/>
          </a:bodyPr>
          <a:lstStyle/>
          <a:p>
            <a:pPr indent="0" marL="0">
              <a:buNone/>
            </a:pPr>
            <a:r>
              <a:rPr lang="en-US" sz="920" dirty="0">
                <a:solidFill>
                  <a:srgbClr val="1E293B"/>
                </a:solidFill>
                <a:latin typeface="Calibri" pitchFamily="34" charset="0"/>
                <a:ea typeface="Calibri" pitchFamily="34" charset="-122"/>
                <a:cs typeface="Calibri" pitchFamily="34" charset="-120"/>
              </a:rPr>
              <a:t>Design Principles, Architectural Smells and Refactorings for Microservices</a:t>
            </a:r>
            <a:endParaRPr lang="en-US" sz="920" dirty="0"/>
          </a:p>
        </p:txBody>
      </p:sp>
      <p:sp>
        <p:nvSpPr>
          <p:cNvPr id="20" name="Shape 18"/>
          <p:cNvSpPr/>
          <p:nvPr/>
        </p:nvSpPr>
        <p:spPr>
          <a:xfrm>
            <a:off x="4617720" y="1664208"/>
            <a:ext cx="3977640" cy="9144"/>
          </a:xfrm>
          <a:prstGeom prst="rect">
            <a:avLst/>
          </a:prstGeom>
          <a:solidFill>
            <a:srgbClr val="D8DEE6"/>
          </a:solidFill>
          <a:ln w="12700">
            <a:solidFill>
              <a:srgbClr val="D8DEE6"/>
            </a:solidFill>
            <a:prstDash val="solid"/>
          </a:ln>
        </p:spPr>
      </p:sp>
      <p:sp>
        <p:nvSpPr>
          <p:cNvPr id="21" name="Text 19"/>
          <p:cNvSpPr/>
          <p:nvPr/>
        </p:nvSpPr>
        <p:spPr>
          <a:xfrm>
            <a:off x="4617720" y="1764792"/>
            <a:ext cx="3977640" cy="219456"/>
          </a:xfrm>
          <a:prstGeom prst="rect">
            <a:avLst/>
          </a:prstGeom>
          <a:noFill/>
          <a:ln/>
        </p:spPr>
        <p:txBody>
          <a:bodyPr wrap="square" lIns="0" tIns="0" rIns="0" bIns="0" rtlCol="0" anchor="ctr"/>
          <a:lstStyle/>
          <a:p>
            <a:pPr indent="0" marL="0">
              <a:buNone/>
            </a:pPr>
            <a:r>
              <a:rPr lang="en-US" sz="1050" b="1" dirty="0">
                <a:solidFill>
                  <a:srgbClr val="0F2A44"/>
                </a:solidFill>
                <a:latin typeface="Calibri" pitchFamily="34" charset="0"/>
                <a:ea typeface="Calibri" pitchFamily="34" charset="-122"/>
                <a:cs typeface="Calibri" pitchFamily="34" charset="-120"/>
              </a:rPr>
              <a:t>Pawlak et al. (2016)</a:t>
            </a:r>
            <a:endParaRPr lang="en-US" sz="1050" dirty="0"/>
          </a:p>
        </p:txBody>
      </p:sp>
      <p:sp>
        <p:nvSpPr>
          <p:cNvPr id="22" name="Text 20"/>
          <p:cNvSpPr/>
          <p:nvPr/>
        </p:nvSpPr>
        <p:spPr>
          <a:xfrm>
            <a:off x="4617720" y="2011680"/>
            <a:ext cx="3977640" cy="329184"/>
          </a:xfrm>
          <a:prstGeom prst="rect">
            <a:avLst/>
          </a:prstGeom>
          <a:noFill/>
          <a:ln/>
        </p:spPr>
        <p:txBody>
          <a:bodyPr wrap="square" lIns="0" tIns="0" rIns="0" bIns="0" rtlCol="0" anchor="ctr">
            <a:normAutofit/>
          </a:bodyPr>
          <a:lstStyle/>
          <a:p>
            <a:pPr indent="0" marL="0">
              <a:buNone/>
            </a:pPr>
            <a:r>
              <a:rPr lang="en-US" sz="920" dirty="0">
                <a:solidFill>
                  <a:srgbClr val="1E293B"/>
                </a:solidFill>
                <a:latin typeface="Calibri" pitchFamily="34" charset="0"/>
                <a:ea typeface="Calibri" pitchFamily="34" charset="-122"/>
                <a:cs typeface="Calibri" pitchFamily="34" charset="-120"/>
              </a:rPr>
              <a:t>Spoon: A Library for Implementing Analyses and Transformations of Java Source Code</a:t>
            </a:r>
            <a:endParaRPr lang="en-US" sz="920" dirty="0"/>
          </a:p>
        </p:txBody>
      </p:sp>
      <p:sp>
        <p:nvSpPr>
          <p:cNvPr id="23" name="Shape 21"/>
          <p:cNvSpPr/>
          <p:nvPr/>
        </p:nvSpPr>
        <p:spPr>
          <a:xfrm>
            <a:off x="4617720" y="2377440"/>
            <a:ext cx="3977640" cy="9144"/>
          </a:xfrm>
          <a:prstGeom prst="rect">
            <a:avLst/>
          </a:prstGeom>
          <a:solidFill>
            <a:srgbClr val="D8DEE6"/>
          </a:solidFill>
          <a:ln w="12700">
            <a:solidFill>
              <a:srgbClr val="D8DEE6"/>
            </a:solidFill>
            <a:prstDash val="solid"/>
          </a:ln>
        </p:spPr>
      </p:sp>
      <p:sp>
        <p:nvSpPr>
          <p:cNvPr id="24" name="Text 22"/>
          <p:cNvSpPr/>
          <p:nvPr/>
        </p:nvSpPr>
        <p:spPr>
          <a:xfrm>
            <a:off x="4617720" y="2478024"/>
            <a:ext cx="3977640" cy="219456"/>
          </a:xfrm>
          <a:prstGeom prst="rect">
            <a:avLst/>
          </a:prstGeom>
          <a:noFill/>
          <a:ln/>
        </p:spPr>
        <p:txBody>
          <a:bodyPr wrap="square" lIns="0" tIns="0" rIns="0" bIns="0" rtlCol="0" anchor="ctr"/>
          <a:lstStyle/>
          <a:p>
            <a:pPr indent="0" marL="0">
              <a:buNone/>
            </a:pPr>
            <a:r>
              <a:rPr lang="en-US" sz="1050" b="1" dirty="0">
                <a:solidFill>
                  <a:srgbClr val="0F2A44"/>
                </a:solidFill>
                <a:latin typeface="Calibri" pitchFamily="34" charset="0"/>
                <a:ea typeface="Calibri" pitchFamily="34" charset="-122"/>
                <a:cs typeface="Calibri" pitchFamily="34" charset="-120"/>
              </a:rPr>
              <a:t>Sharma &amp; Spinellis (2018)</a:t>
            </a:r>
            <a:endParaRPr lang="en-US" sz="1050" dirty="0"/>
          </a:p>
        </p:txBody>
      </p:sp>
      <p:sp>
        <p:nvSpPr>
          <p:cNvPr id="25" name="Text 23"/>
          <p:cNvSpPr/>
          <p:nvPr/>
        </p:nvSpPr>
        <p:spPr>
          <a:xfrm>
            <a:off x="4617720" y="2724912"/>
            <a:ext cx="3977640" cy="329184"/>
          </a:xfrm>
          <a:prstGeom prst="rect">
            <a:avLst/>
          </a:prstGeom>
          <a:noFill/>
          <a:ln/>
        </p:spPr>
        <p:txBody>
          <a:bodyPr wrap="square" lIns="0" tIns="0" rIns="0" bIns="0" rtlCol="0" anchor="ctr">
            <a:normAutofit/>
          </a:bodyPr>
          <a:lstStyle/>
          <a:p>
            <a:pPr indent="0" marL="0">
              <a:buNone/>
            </a:pPr>
            <a:r>
              <a:rPr lang="en-US" sz="920" dirty="0">
                <a:solidFill>
                  <a:srgbClr val="1E293B"/>
                </a:solidFill>
                <a:latin typeface="Calibri" pitchFamily="34" charset="0"/>
                <a:ea typeface="Calibri" pitchFamily="34" charset="-122"/>
                <a:cs typeface="Calibri" pitchFamily="34" charset="-120"/>
              </a:rPr>
              <a:t>A Survey on Software Smells</a:t>
            </a:r>
            <a:endParaRPr lang="en-US" sz="920" dirty="0"/>
          </a:p>
        </p:txBody>
      </p:sp>
      <p:sp>
        <p:nvSpPr>
          <p:cNvPr id="26" name="Shape 24"/>
          <p:cNvSpPr/>
          <p:nvPr/>
        </p:nvSpPr>
        <p:spPr>
          <a:xfrm>
            <a:off x="4617720" y="3090672"/>
            <a:ext cx="3977640" cy="9144"/>
          </a:xfrm>
          <a:prstGeom prst="rect">
            <a:avLst/>
          </a:prstGeom>
          <a:solidFill>
            <a:srgbClr val="D8DEE6"/>
          </a:solidFill>
          <a:ln w="12700">
            <a:solidFill>
              <a:srgbClr val="D8DEE6"/>
            </a:solidFill>
            <a:prstDash val="solid"/>
          </a:ln>
        </p:spPr>
      </p:sp>
      <p:sp>
        <p:nvSpPr>
          <p:cNvPr id="27" name="Text 25"/>
          <p:cNvSpPr/>
          <p:nvPr/>
        </p:nvSpPr>
        <p:spPr>
          <a:xfrm>
            <a:off x="4617720" y="3191256"/>
            <a:ext cx="3977640" cy="219456"/>
          </a:xfrm>
          <a:prstGeom prst="rect">
            <a:avLst/>
          </a:prstGeom>
          <a:noFill/>
          <a:ln/>
        </p:spPr>
        <p:txBody>
          <a:bodyPr wrap="square" lIns="0" tIns="0" rIns="0" bIns="0" rtlCol="0" anchor="ctr"/>
          <a:lstStyle/>
          <a:p>
            <a:pPr indent="0" marL="0">
              <a:buNone/>
            </a:pPr>
            <a:r>
              <a:rPr lang="en-US" sz="1050" b="1" dirty="0">
                <a:solidFill>
                  <a:srgbClr val="0F2A44"/>
                </a:solidFill>
                <a:latin typeface="Calibri" pitchFamily="34" charset="0"/>
                <a:ea typeface="Calibri" pitchFamily="34" charset="-122"/>
                <a:cs typeface="Calibri" pitchFamily="34" charset="-120"/>
              </a:rPr>
              <a:t>Arcelli Fontana et al. (2017); Granchelli et al. (2017)</a:t>
            </a:r>
            <a:endParaRPr lang="en-US" sz="1050" dirty="0"/>
          </a:p>
        </p:txBody>
      </p:sp>
      <p:sp>
        <p:nvSpPr>
          <p:cNvPr id="28" name="Text 26"/>
          <p:cNvSpPr/>
          <p:nvPr/>
        </p:nvSpPr>
        <p:spPr>
          <a:xfrm>
            <a:off x="4617720" y="3438144"/>
            <a:ext cx="3977640" cy="329184"/>
          </a:xfrm>
          <a:prstGeom prst="rect">
            <a:avLst/>
          </a:prstGeom>
          <a:noFill/>
          <a:ln/>
        </p:spPr>
        <p:txBody>
          <a:bodyPr wrap="square" lIns="0" tIns="0" rIns="0" bIns="0" rtlCol="0" anchor="ctr">
            <a:normAutofit/>
          </a:bodyPr>
          <a:lstStyle/>
          <a:p>
            <a:pPr indent="0" marL="0">
              <a:buNone/>
            </a:pPr>
            <a:r>
              <a:rPr lang="en-US" sz="920" dirty="0">
                <a:solidFill>
                  <a:srgbClr val="1E293B"/>
                </a:solidFill>
                <a:latin typeface="Calibri" pitchFamily="34" charset="0"/>
                <a:ea typeface="Calibri" pitchFamily="34" charset="-122"/>
                <a:cs typeface="Calibri" pitchFamily="34" charset="-120"/>
              </a:rPr>
              <a:t>Arcan and MicroART architectural smell / architecture recovery tools</a:t>
            </a:r>
            <a:endParaRPr lang="en-US" sz="920" dirty="0"/>
          </a:p>
        </p:txBody>
      </p:sp>
      <p:sp>
        <p:nvSpPr>
          <p:cNvPr id="29" name="Shape 27"/>
          <p:cNvSpPr/>
          <p:nvPr/>
        </p:nvSpPr>
        <p:spPr>
          <a:xfrm>
            <a:off x="4617720" y="3803904"/>
            <a:ext cx="3977640" cy="9144"/>
          </a:xfrm>
          <a:prstGeom prst="rect">
            <a:avLst/>
          </a:prstGeom>
          <a:solidFill>
            <a:srgbClr val="D8DEE6"/>
          </a:solidFill>
          <a:ln w="12700">
            <a:solidFill>
              <a:srgbClr val="D8DEE6"/>
            </a:solidFill>
            <a:prstDash val="solid"/>
          </a:ln>
        </p:spPr>
      </p:sp>
      <p:sp>
        <p:nvSpPr>
          <p:cNvPr id="30" name="Text 28"/>
          <p:cNvSpPr/>
          <p:nvPr/>
        </p:nvSpPr>
        <p:spPr>
          <a:xfrm>
            <a:off x="4617720" y="3904488"/>
            <a:ext cx="3977640" cy="219456"/>
          </a:xfrm>
          <a:prstGeom prst="rect">
            <a:avLst/>
          </a:prstGeom>
          <a:noFill/>
          <a:ln/>
        </p:spPr>
        <p:txBody>
          <a:bodyPr wrap="square" lIns="0" tIns="0" rIns="0" bIns="0" rtlCol="0" anchor="ctr"/>
          <a:lstStyle/>
          <a:p>
            <a:pPr indent="0" marL="0">
              <a:buNone/>
            </a:pPr>
            <a:r>
              <a:rPr lang="en-US" sz="1050" b="1" dirty="0">
                <a:solidFill>
                  <a:srgbClr val="0F2A44"/>
                </a:solidFill>
                <a:latin typeface="Calibri" pitchFamily="34" charset="0"/>
                <a:ea typeface="Calibri" pitchFamily="34" charset="-122"/>
                <a:cs typeface="Calibri" pitchFamily="34" charset="-120"/>
              </a:rPr>
              <a:t>Tarjan (1972); Brandes (2001)</a:t>
            </a:r>
            <a:endParaRPr lang="en-US" sz="1050" dirty="0"/>
          </a:p>
        </p:txBody>
      </p:sp>
      <p:sp>
        <p:nvSpPr>
          <p:cNvPr id="31" name="Text 29"/>
          <p:cNvSpPr/>
          <p:nvPr/>
        </p:nvSpPr>
        <p:spPr>
          <a:xfrm>
            <a:off x="4617720" y="4151376"/>
            <a:ext cx="3977640" cy="329184"/>
          </a:xfrm>
          <a:prstGeom prst="rect">
            <a:avLst/>
          </a:prstGeom>
          <a:noFill/>
          <a:ln/>
        </p:spPr>
        <p:txBody>
          <a:bodyPr wrap="square" lIns="0" tIns="0" rIns="0" bIns="0" rtlCol="0" anchor="ctr">
            <a:normAutofit/>
          </a:bodyPr>
          <a:lstStyle/>
          <a:p>
            <a:pPr indent="0" marL="0">
              <a:buNone/>
            </a:pPr>
            <a:r>
              <a:rPr lang="en-US" sz="920" dirty="0">
                <a:solidFill>
                  <a:srgbClr val="1E293B"/>
                </a:solidFill>
                <a:latin typeface="Calibri" pitchFamily="34" charset="0"/>
                <a:ea typeface="Calibri" pitchFamily="34" charset="-122"/>
                <a:cs typeface="Calibri" pitchFamily="34" charset="-120"/>
              </a:rPr>
              <a:t>Strongly connected components and betweenness centrality graph algorithms</a:t>
            </a:r>
            <a:endParaRPr lang="en-US" sz="920" dirty="0"/>
          </a:p>
        </p:txBody>
      </p:sp>
      <p:sp>
        <p:nvSpPr>
          <p:cNvPr id="32" name="Shape 30"/>
          <p:cNvSpPr/>
          <p:nvPr/>
        </p:nvSpPr>
        <p:spPr>
          <a:xfrm>
            <a:off x="548640" y="4572000"/>
            <a:ext cx="457200" cy="36576"/>
          </a:xfrm>
          <a:prstGeom prst="rect">
            <a:avLst/>
          </a:prstGeom>
          <a:solidFill>
            <a:srgbClr val="0D9488"/>
          </a:solidFill>
          <a:ln w="12700">
            <a:solidFill>
              <a:srgbClr val="0D9488"/>
            </a:solidFill>
            <a:prstDash val="solid"/>
          </a:ln>
        </p:spPr>
      </p:sp>
      <p:sp>
        <p:nvSpPr>
          <p:cNvPr id="33" name="Text 31"/>
          <p:cNvSpPr/>
          <p:nvPr/>
        </p:nvSpPr>
        <p:spPr>
          <a:xfrm>
            <a:off x="548640" y="4663440"/>
            <a:ext cx="8046720" cy="237744"/>
          </a:xfrm>
          <a:prstGeom prst="rect">
            <a:avLst/>
          </a:prstGeom>
          <a:noFill/>
          <a:ln/>
        </p:spPr>
        <p:txBody>
          <a:bodyPr wrap="square" lIns="0" tIns="0" rIns="0" bIns="0" rtlCol="0" anchor="ctr"/>
          <a:lstStyle/>
          <a:p>
            <a:pPr indent="0" marL="0">
              <a:buNone/>
            </a:pPr>
            <a:r>
              <a:rPr lang="en-US" sz="950" i="1" dirty="0">
                <a:solidFill>
                  <a:srgbClr val="64748B"/>
                </a:solidFill>
                <a:latin typeface="Calibri" pitchFamily="34" charset="0"/>
                <a:ea typeface="Calibri" pitchFamily="34" charset="-122"/>
                <a:cs typeface="Calibri" pitchFamily="34" charset="-120"/>
              </a:rPr>
              <a:t>Full bibliography is available in the dissertation reference list.</a:t>
            </a:r>
            <a:endParaRPr lang="en-US" sz="950" dirty="0"/>
          </a:p>
        </p:txBody>
      </p:sp>
      <p:sp>
        <p:nvSpPr>
          <p:cNvPr id="34" name="Text 32"/>
          <p:cNvSpPr/>
          <p:nvPr/>
        </p:nvSpPr>
        <p:spPr>
          <a:xfrm>
            <a:off x="7955280" y="4864608"/>
            <a:ext cx="640080" cy="22860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15 / 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56032"/>
            <a:ext cx="8046720" cy="502920"/>
          </a:xfrm>
          <a:prstGeom prst="rect">
            <a:avLst/>
          </a:prstGeom>
          <a:noFill/>
          <a:ln/>
        </p:spPr>
        <p:txBody>
          <a:bodyPr wrap="square" lIns="0" tIns="0" rIns="0" bIns="0" rtlCol="0" anchor="ctr"/>
          <a:lstStyle/>
          <a:p>
            <a:pPr indent="0" marL="0">
              <a:buNone/>
            </a:pPr>
            <a:r>
              <a:rPr lang="en-US" sz="2500" b="1" dirty="0">
                <a:solidFill>
                  <a:srgbClr val="0F2A44"/>
                </a:solidFill>
                <a:latin typeface="Calibri" pitchFamily="34" charset="0"/>
                <a:ea typeface="Calibri" pitchFamily="34" charset="-122"/>
                <a:cs typeface="Calibri" pitchFamily="34" charset="-120"/>
              </a:rPr>
              <a:t>Annex: core definitions</a:t>
            </a:r>
            <a:endParaRPr lang="en-US" sz="2500" dirty="0"/>
          </a:p>
        </p:txBody>
      </p:sp>
      <p:sp>
        <p:nvSpPr>
          <p:cNvPr id="3" name="Shape 1"/>
          <p:cNvSpPr/>
          <p:nvPr/>
        </p:nvSpPr>
        <p:spPr>
          <a:xfrm>
            <a:off x="548640" y="841248"/>
            <a:ext cx="8046720" cy="13716"/>
          </a:xfrm>
          <a:prstGeom prst="rect">
            <a:avLst/>
          </a:prstGeom>
          <a:solidFill>
            <a:srgbClr val="D8DEE6"/>
          </a:solidFill>
          <a:ln w="12700">
            <a:solidFill>
              <a:srgbClr val="D8DEE6"/>
            </a:solidFill>
            <a:prstDash val="solid"/>
          </a:ln>
        </p:spPr>
      </p:sp>
      <p:sp>
        <p:nvSpPr>
          <p:cNvPr id="4" name="Shape 2"/>
          <p:cNvSpPr/>
          <p:nvPr/>
        </p:nvSpPr>
        <p:spPr>
          <a:xfrm>
            <a:off x="548640" y="1024128"/>
            <a:ext cx="411480" cy="36576"/>
          </a:xfrm>
          <a:prstGeom prst="rect">
            <a:avLst/>
          </a:prstGeom>
          <a:solidFill>
            <a:srgbClr val="0D9488"/>
          </a:solidFill>
          <a:ln w="12700">
            <a:solidFill>
              <a:srgbClr val="0D9488"/>
            </a:solidFill>
            <a:prstDash val="solid"/>
          </a:ln>
        </p:spPr>
      </p:sp>
      <p:sp>
        <p:nvSpPr>
          <p:cNvPr id="5" name="Text 3"/>
          <p:cNvSpPr/>
          <p:nvPr/>
        </p:nvSpPr>
        <p:spPr>
          <a:xfrm>
            <a:off x="548640" y="1152144"/>
            <a:ext cx="3703320" cy="256032"/>
          </a:xfrm>
          <a:prstGeom prst="rect">
            <a:avLst/>
          </a:prstGeom>
          <a:noFill/>
          <a:ln/>
        </p:spPr>
        <p:txBody>
          <a:bodyPr wrap="square" lIns="0" tIns="0" rIns="0" bIns="0" rtlCol="0" anchor="ctr"/>
          <a:lstStyle/>
          <a:p>
            <a:pPr indent="0" marL="0">
              <a:buNone/>
            </a:pPr>
            <a:r>
              <a:rPr lang="en-US" sz="1250" b="1" dirty="0">
                <a:solidFill>
                  <a:srgbClr val="0F2A44"/>
                </a:solidFill>
                <a:latin typeface="Calibri" pitchFamily="34" charset="0"/>
                <a:ea typeface="Calibri" pitchFamily="34" charset="-122"/>
                <a:cs typeface="Calibri" pitchFamily="34" charset="-120"/>
              </a:rPr>
              <a:t>Microservice</a:t>
            </a:r>
            <a:endParaRPr lang="en-US" sz="1250" dirty="0"/>
          </a:p>
        </p:txBody>
      </p:sp>
      <p:sp>
        <p:nvSpPr>
          <p:cNvPr id="6" name="Text 4"/>
          <p:cNvSpPr/>
          <p:nvPr/>
        </p:nvSpPr>
        <p:spPr>
          <a:xfrm>
            <a:off x="548640" y="1463040"/>
            <a:ext cx="3703320" cy="502920"/>
          </a:xfrm>
          <a:prstGeom prst="rect">
            <a:avLst/>
          </a:prstGeom>
          <a:noFill/>
          <a:ln/>
        </p:spPr>
        <p:txBody>
          <a:bodyPr wrap="square" lIns="0" tIns="0" rIns="0" bIns="0" rtlCol="0" anchor="ctr"/>
          <a:lstStyle/>
          <a:p>
            <a:pPr indent="0" marL="0">
              <a:buNone/>
            </a:pPr>
            <a:r>
              <a:rPr lang="en-US" sz="1020" dirty="0">
                <a:solidFill>
                  <a:srgbClr val="1E293B"/>
                </a:solidFill>
                <a:latin typeface="Calibri" pitchFamily="34" charset="0"/>
                <a:ea typeface="Calibri" pitchFamily="34" charset="-122"/>
                <a:cs typeface="Calibri" pitchFamily="34" charset="-120"/>
              </a:rPr>
              <a:t>A small, independently deployable service organised around a business capability, communicating with other services through lightweight APIs.</a:t>
            </a:r>
            <a:endParaRPr lang="en-US" sz="1020" dirty="0"/>
          </a:p>
        </p:txBody>
      </p:sp>
      <p:sp>
        <p:nvSpPr>
          <p:cNvPr id="7" name="Shape 5"/>
          <p:cNvSpPr/>
          <p:nvPr/>
        </p:nvSpPr>
        <p:spPr>
          <a:xfrm>
            <a:off x="548640" y="2011680"/>
            <a:ext cx="3703320" cy="9144"/>
          </a:xfrm>
          <a:prstGeom prst="rect">
            <a:avLst/>
          </a:prstGeom>
          <a:solidFill>
            <a:srgbClr val="D8DEE6"/>
          </a:solidFill>
          <a:ln w="12700">
            <a:solidFill>
              <a:srgbClr val="D8DEE6"/>
            </a:solidFill>
            <a:prstDash val="solid"/>
          </a:ln>
        </p:spPr>
      </p:sp>
      <p:sp>
        <p:nvSpPr>
          <p:cNvPr id="8" name="Shape 6"/>
          <p:cNvSpPr/>
          <p:nvPr/>
        </p:nvSpPr>
        <p:spPr>
          <a:xfrm>
            <a:off x="4617720" y="1024128"/>
            <a:ext cx="411480" cy="36576"/>
          </a:xfrm>
          <a:prstGeom prst="rect">
            <a:avLst/>
          </a:prstGeom>
          <a:solidFill>
            <a:srgbClr val="1C4E80"/>
          </a:solidFill>
          <a:ln w="12700">
            <a:solidFill>
              <a:srgbClr val="1C4E80"/>
            </a:solidFill>
            <a:prstDash val="solid"/>
          </a:ln>
        </p:spPr>
      </p:sp>
      <p:sp>
        <p:nvSpPr>
          <p:cNvPr id="9" name="Text 7"/>
          <p:cNvSpPr/>
          <p:nvPr/>
        </p:nvSpPr>
        <p:spPr>
          <a:xfrm>
            <a:off x="4617720" y="1152144"/>
            <a:ext cx="3703320" cy="256032"/>
          </a:xfrm>
          <a:prstGeom prst="rect">
            <a:avLst/>
          </a:prstGeom>
          <a:noFill/>
          <a:ln/>
        </p:spPr>
        <p:txBody>
          <a:bodyPr wrap="square" lIns="0" tIns="0" rIns="0" bIns="0" rtlCol="0" anchor="ctr"/>
          <a:lstStyle/>
          <a:p>
            <a:pPr indent="0" marL="0">
              <a:buNone/>
            </a:pPr>
            <a:r>
              <a:rPr lang="en-US" sz="1250" b="1" dirty="0">
                <a:solidFill>
                  <a:srgbClr val="0F2A44"/>
                </a:solidFill>
                <a:latin typeface="Calibri" pitchFamily="34" charset="0"/>
                <a:ea typeface="Calibri" pitchFamily="34" charset="-122"/>
                <a:cs typeface="Calibri" pitchFamily="34" charset="-120"/>
              </a:rPr>
              <a:t>Architectural anti-pattern</a:t>
            </a:r>
            <a:endParaRPr lang="en-US" sz="1250" dirty="0"/>
          </a:p>
        </p:txBody>
      </p:sp>
      <p:sp>
        <p:nvSpPr>
          <p:cNvPr id="10" name="Text 8"/>
          <p:cNvSpPr/>
          <p:nvPr/>
        </p:nvSpPr>
        <p:spPr>
          <a:xfrm>
            <a:off x="4617720" y="1463040"/>
            <a:ext cx="3703320" cy="502920"/>
          </a:xfrm>
          <a:prstGeom prst="rect">
            <a:avLst/>
          </a:prstGeom>
          <a:noFill/>
          <a:ln/>
        </p:spPr>
        <p:txBody>
          <a:bodyPr wrap="square" lIns="0" tIns="0" rIns="0" bIns="0" rtlCol="0" anchor="ctr"/>
          <a:lstStyle/>
          <a:p>
            <a:pPr indent="0" marL="0">
              <a:buNone/>
            </a:pPr>
            <a:r>
              <a:rPr lang="en-US" sz="1020" dirty="0">
                <a:solidFill>
                  <a:srgbClr val="1E293B"/>
                </a:solidFill>
                <a:latin typeface="Calibri" pitchFamily="34" charset="0"/>
                <a:ea typeface="Calibri" pitchFamily="34" charset="-122"/>
                <a:cs typeface="Calibri" pitchFamily="34" charset="-120"/>
              </a:rPr>
              <a:t>A recurring architectural decision that appears useful locally, but creates long-term coupling, fragility, or operational cost.</a:t>
            </a:r>
            <a:endParaRPr lang="en-US" sz="1020" dirty="0"/>
          </a:p>
        </p:txBody>
      </p:sp>
      <p:sp>
        <p:nvSpPr>
          <p:cNvPr id="11" name="Shape 9"/>
          <p:cNvSpPr/>
          <p:nvPr/>
        </p:nvSpPr>
        <p:spPr>
          <a:xfrm>
            <a:off x="4617720" y="2011680"/>
            <a:ext cx="3703320" cy="9144"/>
          </a:xfrm>
          <a:prstGeom prst="rect">
            <a:avLst/>
          </a:prstGeom>
          <a:solidFill>
            <a:srgbClr val="D8DEE6"/>
          </a:solidFill>
          <a:ln w="12700">
            <a:solidFill>
              <a:srgbClr val="D8DEE6"/>
            </a:solidFill>
            <a:prstDash val="solid"/>
          </a:ln>
        </p:spPr>
      </p:sp>
      <p:sp>
        <p:nvSpPr>
          <p:cNvPr id="12" name="Shape 10"/>
          <p:cNvSpPr/>
          <p:nvPr/>
        </p:nvSpPr>
        <p:spPr>
          <a:xfrm>
            <a:off x="548640" y="2139696"/>
            <a:ext cx="411480" cy="36576"/>
          </a:xfrm>
          <a:prstGeom prst="rect">
            <a:avLst/>
          </a:prstGeom>
          <a:solidFill>
            <a:srgbClr val="0D9488"/>
          </a:solidFill>
          <a:ln w="12700">
            <a:solidFill>
              <a:srgbClr val="0D9488"/>
            </a:solidFill>
            <a:prstDash val="solid"/>
          </a:ln>
        </p:spPr>
      </p:sp>
      <p:sp>
        <p:nvSpPr>
          <p:cNvPr id="13" name="Text 11"/>
          <p:cNvSpPr/>
          <p:nvPr/>
        </p:nvSpPr>
        <p:spPr>
          <a:xfrm>
            <a:off x="548640" y="2267712"/>
            <a:ext cx="3703320" cy="256032"/>
          </a:xfrm>
          <a:prstGeom prst="rect">
            <a:avLst/>
          </a:prstGeom>
          <a:noFill/>
          <a:ln/>
        </p:spPr>
        <p:txBody>
          <a:bodyPr wrap="square" lIns="0" tIns="0" rIns="0" bIns="0" rtlCol="0" anchor="ctr"/>
          <a:lstStyle/>
          <a:p>
            <a:pPr indent="0" marL="0">
              <a:buNone/>
            </a:pPr>
            <a:r>
              <a:rPr lang="en-US" sz="1250" b="1" dirty="0">
                <a:solidFill>
                  <a:srgbClr val="0F2A44"/>
                </a:solidFill>
                <a:latin typeface="Calibri" pitchFamily="34" charset="0"/>
                <a:ea typeface="Calibri" pitchFamily="34" charset="-122"/>
                <a:cs typeface="Calibri" pitchFamily="34" charset="-120"/>
              </a:rPr>
              <a:t>Service boundary</a:t>
            </a:r>
            <a:endParaRPr lang="en-US" sz="1250" dirty="0"/>
          </a:p>
        </p:txBody>
      </p:sp>
      <p:sp>
        <p:nvSpPr>
          <p:cNvPr id="14" name="Text 12"/>
          <p:cNvSpPr/>
          <p:nvPr/>
        </p:nvSpPr>
        <p:spPr>
          <a:xfrm>
            <a:off x="548640" y="2578608"/>
            <a:ext cx="3703320" cy="502920"/>
          </a:xfrm>
          <a:prstGeom prst="rect">
            <a:avLst/>
          </a:prstGeom>
          <a:noFill/>
          <a:ln/>
        </p:spPr>
        <p:txBody>
          <a:bodyPr wrap="square" lIns="0" tIns="0" rIns="0" bIns="0" rtlCol="0" anchor="ctr"/>
          <a:lstStyle/>
          <a:p>
            <a:pPr indent="0" marL="0">
              <a:buNone/>
            </a:pPr>
            <a:r>
              <a:rPr lang="en-US" sz="1020" dirty="0">
                <a:solidFill>
                  <a:srgbClr val="1E293B"/>
                </a:solidFill>
                <a:latin typeface="Calibri" pitchFamily="34" charset="0"/>
                <a:ea typeface="Calibri" pitchFamily="34" charset="-122"/>
                <a:cs typeface="Calibri" pitchFamily="34" charset="-120"/>
              </a:rPr>
              <a:t>The deployable unit recovered from a repository: build module plus framework entry point, Dockerfile, or main method signal.</a:t>
            </a:r>
            <a:endParaRPr lang="en-US" sz="1020" dirty="0"/>
          </a:p>
        </p:txBody>
      </p:sp>
      <p:sp>
        <p:nvSpPr>
          <p:cNvPr id="15" name="Shape 13"/>
          <p:cNvSpPr/>
          <p:nvPr/>
        </p:nvSpPr>
        <p:spPr>
          <a:xfrm>
            <a:off x="548640" y="3127248"/>
            <a:ext cx="3703320" cy="9144"/>
          </a:xfrm>
          <a:prstGeom prst="rect">
            <a:avLst/>
          </a:prstGeom>
          <a:solidFill>
            <a:srgbClr val="D8DEE6"/>
          </a:solidFill>
          <a:ln w="12700">
            <a:solidFill>
              <a:srgbClr val="D8DEE6"/>
            </a:solidFill>
            <a:prstDash val="solid"/>
          </a:ln>
        </p:spPr>
      </p:sp>
      <p:sp>
        <p:nvSpPr>
          <p:cNvPr id="16" name="Shape 14"/>
          <p:cNvSpPr/>
          <p:nvPr/>
        </p:nvSpPr>
        <p:spPr>
          <a:xfrm>
            <a:off x="4617720" y="2139696"/>
            <a:ext cx="411480" cy="36576"/>
          </a:xfrm>
          <a:prstGeom prst="rect">
            <a:avLst/>
          </a:prstGeom>
          <a:solidFill>
            <a:srgbClr val="1C4E80"/>
          </a:solidFill>
          <a:ln w="12700">
            <a:solidFill>
              <a:srgbClr val="1C4E80"/>
            </a:solidFill>
            <a:prstDash val="solid"/>
          </a:ln>
        </p:spPr>
      </p:sp>
      <p:sp>
        <p:nvSpPr>
          <p:cNvPr id="17" name="Text 15"/>
          <p:cNvSpPr/>
          <p:nvPr/>
        </p:nvSpPr>
        <p:spPr>
          <a:xfrm>
            <a:off x="4617720" y="2267712"/>
            <a:ext cx="3703320" cy="256032"/>
          </a:xfrm>
          <a:prstGeom prst="rect">
            <a:avLst/>
          </a:prstGeom>
          <a:noFill/>
          <a:ln/>
        </p:spPr>
        <p:txBody>
          <a:bodyPr wrap="square" lIns="0" tIns="0" rIns="0" bIns="0" rtlCol="0" anchor="ctr"/>
          <a:lstStyle/>
          <a:p>
            <a:pPr indent="0" marL="0">
              <a:buNone/>
            </a:pPr>
            <a:r>
              <a:rPr lang="en-US" sz="1250" b="1" dirty="0">
                <a:solidFill>
                  <a:srgbClr val="0F2A44"/>
                </a:solidFill>
                <a:latin typeface="Calibri" pitchFamily="34" charset="0"/>
                <a:ea typeface="Calibri" pitchFamily="34" charset="-122"/>
                <a:cs typeface="Calibri" pitchFamily="34" charset="-120"/>
              </a:rPr>
              <a:t>Evidence-based finding</a:t>
            </a:r>
            <a:endParaRPr lang="en-US" sz="1250" dirty="0"/>
          </a:p>
        </p:txBody>
      </p:sp>
      <p:sp>
        <p:nvSpPr>
          <p:cNvPr id="18" name="Text 16"/>
          <p:cNvSpPr/>
          <p:nvPr/>
        </p:nvSpPr>
        <p:spPr>
          <a:xfrm>
            <a:off x="4617720" y="2578608"/>
            <a:ext cx="3703320" cy="502920"/>
          </a:xfrm>
          <a:prstGeom prst="rect">
            <a:avLst/>
          </a:prstGeom>
          <a:noFill/>
          <a:ln/>
        </p:spPr>
        <p:txBody>
          <a:bodyPr wrap="square" lIns="0" tIns="0" rIns="0" bIns="0" rtlCol="0" anchor="ctr"/>
          <a:lstStyle/>
          <a:p>
            <a:pPr indent="0" marL="0">
              <a:buNone/>
            </a:pPr>
            <a:r>
              <a:rPr lang="en-US" sz="1020" dirty="0">
                <a:solidFill>
                  <a:srgbClr val="1E293B"/>
                </a:solidFill>
                <a:latin typeface="Calibri" pitchFamily="34" charset="0"/>
                <a:ea typeface="Calibri" pitchFamily="34" charset="-122"/>
                <a:cs typeface="Calibri" pitchFamily="34" charset="-120"/>
              </a:rPr>
              <a:t>A detected issue linked to affected services, source snippets, graph evidence, severity, and remediation guidance.</a:t>
            </a:r>
            <a:endParaRPr lang="en-US" sz="1020" dirty="0"/>
          </a:p>
        </p:txBody>
      </p:sp>
      <p:sp>
        <p:nvSpPr>
          <p:cNvPr id="19" name="Shape 17"/>
          <p:cNvSpPr/>
          <p:nvPr/>
        </p:nvSpPr>
        <p:spPr>
          <a:xfrm>
            <a:off x="4617720" y="3127248"/>
            <a:ext cx="3703320" cy="9144"/>
          </a:xfrm>
          <a:prstGeom prst="rect">
            <a:avLst/>
          </a:prstGeom>
          <a:solidFill>
            <a:srgbClr val="D8DEE6"/>
          </a:solidFill>
          <a:ln w="12700">
            <a:solidFill>
              <a:srgbClr val="D8DEE6"/>
            </a:solidFill>
            <a:prstDash val="solid"/>
          </a:ln>
        </p:spPr>
      </p:sp>
      <p:sp>
        <p:nvSpPr>
          <p:cNvPr id="20" name="Shape 18"/>
          <p:cNvSpPr/>
          <p:nvPr/>
        </p:nvSpPr>
        <p:spPr>
          <a:xfrm>
            <a:off x="548640" y="3255264"/>
            <a:ext cx="411480" cy="36576"/>
          </a:xfrm>
          <a:prstGeom prst="rect">
            <a:avLst/>
          </a:prstGeom>
          <a:solidFill>
            <a:srgbClr val="0D9488"/>
          </a:solidFill>
          <a:ln w="12700">
            <a:solidFill>
              <a:srgbClr val="0D9488"/>
            </a:solidFill>
            <a:prstDash val="solid"/>
          </a:ln>
        </p:spPr>
      </p:sp>
      <p:sp>
        <p:nvSpPr>
          <p:cNvPr id="21" name="Text 19"/>
          <p:cNvSpPr/>
          <p:nvPr/>
        </p:nvSpPr>
        <p:spPr>
          <a:xfrm>
            <a:off x="548640" y="3383280"/>
            <a:ext cx="3703320" cy="256032"/>
          </a:xfrm>
          <a:prstGeom prst="rect">
            <a:avLst/>
          </a:prstGeom>
          <a:noFill/>
          <a:ln/>
        </p:spPr>
        <p:txBody>
          <a:bodyPr wrap="square" lIns="0" tIns="0" rIns="0" bIns="0" rtlCol="0" anchor="ctr"/>
          <a:lstStyle/>
          <a:p>
            <a:pPr indent="0" marL="0">
              <a:buNone/>
            </a:pPr>
            <a:r>
              <a:rPr lang="en-US" sz="1250" b="1" dirty="0">
                <a:solidFill>
                  <a:srgbClr val="0F2A44"/>
                </a:solidFill>
                <a:latin typeface="Calibri" pitchFamily="34" charset="0"/>
                <a:ea typeface="Calibri" pitchFamily="34" charset="-122"/>
                <a:cs typeface="Calibri" pitchFamily="34" charset="-120"/>
              </a:rPr>
              <a:t>Multi-level analysis</a:t>
            </a:r>
            <a:endParaRPr lang="en-US" sz="1250" dirty="0"/>
          </a:p>
        </p:txBody>
      </p:sp>
      <p:sp>
        <p:nvSpPr>
          <p:cNvPr id="22" name="Text 20"/>
          <p:cNvSpPr/>
          <p:nvPr/>
        </p:nvSpPr>
        <p:spPr>
          <a:xfrm>
            <a:off x="548640" y="3694176"/>
            <a:ext cx="3703320" cy="502920"/>
          </a:xfrm>
          <a:prstGeom prst="rect">
            <a:avLst/>
          </a:prstGeom>
          <a:noFill/>
          <a:ln/>
        </p:spPr>
        <p:txBody>
          <a:bodyPr wrap="square" lIns="0" tIns="0" rIns="0" bIns="0" rtlCol="0" anchor="ctr"/>
          <a:lstStyle/>
          <a:p>
            <a:pPr indent="0" marL="0">
              <a:buNone/>
            </a:pPr>
            <a:r>
              <a:rPr lang="en-US" sz="1020" dirty="0">
                <a:solidFill>
                  <a:srgbClr val="1E293B"/>
                </a:solidFill>
                <a:latin typeface="Calibri" pitchFamily="34" charset="0"/>
                <a:ea typeface="Calibri" pitchFamily="34" charset="-122"/>
                <a:cs typeface="Calibri" pitchFamily="34" charset="-120"/>
              </a:rPr>
              <a:t>Combining intra-service code metrics and smells with inter-service dependency graph analysis.</a:t>
            </a:r>
            <a:endParaRPr lang="en-US" sz="1020" dirty="0"/>
          </a:p>
        </p:txBody>
      </p:sp>
      <p:sp>
        <p:nvSpPr>
          <p:cNvPr id="23" name="Shape 21"/>
          <p:cNvSpPr/>
          <p:nvPr/>
        </p:nvSpPr>
        <p:spPr>
          <a:xfrm>
            <a:off x="548640" y="4242816"/>
            <a:ext cx="3703320" cy="9144"/>
          </a:xfrm>
          <a:prstGeom prst="rect">
            <a:avLst/>
          </a:prstGeom>
          <a:solidFill>
            <a:srgbClr val="D8DEE6"/>
          </a:solidFill>
          <a:ln w="12700">
            <a:solidFill>
              <a:srgbClr val="D8DEE6"/>
            </a:solidFill>
            <a:prstDash val="solid"/>
          </a:ln>
        </p:spPr>
      </p:sp>
      <p:sp>
        <p:nvSpPr>
          <p:cNvPr id="24" name="Shape 22"/>
          <p:cNvSpPr/>
          <p:nvPr/>
        </p:nvSpPr>
        <p:spPr>
          <a:xfrm>
            <a:off x="4617720" y="3255264"/>
            <a:ext cx="411480" cy="36576"/>
          </a:xfrm>
          <a:prstGeom prst="rect">
            <a:avLst/>
          </a:prstGeom>
          <a:solidFill>
            <a:srgbClr val="1C4E80"/>
          </a:solidFill>
          <a:ln w="12700">
            <a:solidFill>
              <a:srgbClr val="1C4E80"/>
            </a:solidFill>
            <a:prstDash val="solid"/>
          </a:ln>
        </p:spPr>
      </p:sp>
      <p:sp>
        <p:nvSpPr>
          <p:cNvPr id="25" name="Text 23"/>
          <p:cNvSpPr/>
          <p:nvPr/>
        </p:nvSpPr>
        <p:spPr>
          <a:xfrm>
            <a:off x="4617720" y="3383280"/>
            <a:ext cx="3703320" cy="256032"/>
          </a:xfrm>
          <a:prstGeom prst="rect">
            <a:avLst/>
          </a:prstGeom>
          <a:noFill/>
          <a:ln/>
        </p:spPr>
        <p:txBody>
          <a:bodyPr wrap="square" lIns="0" tIns="0" rIns="0" bIns="0" rtlCol="0" anchor="ctr"/>
          <a:lstStyle/>
          <a:p>
            <a:pPr indent="0" marL="0">
              <a:buNone/>
            </a:pPr>
            <a:r>
              <a:rPr lang="en-US" sz="1250" b="1" dirty="0">
                <a:solidFill>
                  <a:srgbClr val="0F2A44"/>
                </a:solidFill>
                <a:latin typeface="Calibri" pitchFamily="34" charset="0"/>
                <a:ea typeface="Calibri" pitchFamily="34" charset="-122"/>
                <a:cs typeface="Calibri" pitchFamily="34" charset="-120"/>
              </a:rPr>
              <a:t>Health score</a:t>
            </a:r>
            <a:endParaRPr lang="en-US" sz="1250" dirty="0"/>
          </a:p>
        </p:txBody>
      </p:sp>
      <p:sp>
        <p:nvSpPr>
          <p:cNvPr id="26" name="Text 24"/>
          <p:cNvSpPr/>
          <p:nvPr/>
        </p:nvSpPr>
        <p:spPr>
          <a:xfrm>
            <a:off x="4617720" y="3694176"/>
            <a:ext cx="3703320" cy="502920"/>
          </a:xfrm>
          <a:prstGeom prst="rect">
            <a:avLst/>
          </a:prstGeom>
          <a:noFill/>
          <a:ln/>
        </p:spPr>
        <p:txBody>
          <a:bodyPr wrap="square" lIns="0" tIns="0" rIns="0" bIns="0" rtlCol="0" anchor="ctr"/>
          <a:lstStyle/>
          <a:p>
            <a:pPr indent="0" marL="0">
              <a:buNone/>
            </a:pPr>
            <a:r>
              <a:rPr lang="en-US" sz="1020" dirty="0">
                <a:solidFill>
                  <a:srgbClr val="1E293B"/>
                </a:solidFill>
                <a:latin typeface="Calibri" pitchFamily="34" charset="0"/>
                <a:ea typeface="Calibri" pitchFamily="34" charset="-122"/>
                <a:cs typeface="Calibri" pitchFamily="34" charset="-120"/>
              </a:rPr>
              <a:t>A 0-100 composite quality indicator decomposed into Anti-Patterns, Code Quality, Architecture, and Service Sizing.</a:t>
            </a:r>
            <a:endParaRPr lang="en-US" sz="1020" dirty="0"/>
          </a:p>
        </p:txBody>
      </p:sp>
      <p:sp>
        <p:nvSpPr>
          <p:cNvPr id="27" name="Shape 25"/>
          <p:cNvSpPr/>
          <p:nvPr/>
        </p:nvSpPr>
        <p:spPr>
          <a:xfrm>
            <a:off x="4617720" y="4242816"/>
            <a:ext cx="3703320" cy="9144"/>
          </a:xfrm>
          <a:prstGeom prst="rect">
            <a:avLst/>
          </a:prstGeom>
          <a:solidFill>
            <a:srgbClr val="D8DEE6"/>
          </a:solidFill>
          <a:ln w="12700">
            <a:solidFill>
              <a:srgbClr val="D8DEE6"/>
            </a:solidFill>
            <a:prstDash val="solid"/>
          </a:ln>
        </p:spPr>
      </p:sp>
      <p:sp>
        <p:nvSpPr>
          <p:cNvPr id="28" name="Shape 26"/>
          <p:cNvSpPr/>
          <p:nvPr/>
        </p:nvSpPr>
        <p:spPr>
          <a:xfrm>
            <a:off x="548640" y="4498848"/>
            <a:ext cx="457200" cy="36576"/>
          </a:xfrm>
          <a:prstGeom prst="rect">
            <a:avLst/>
          </a:prstGeom>
          <a:solidFill>
            <a:srgbClr val="0D9488"/>
          </a:solidFill>
          <a:ln w="12700">
            <a:solidFill>
              <a:srgbClr val="0D9488"/>
            </a:solidFill>
            <a:prstDash val="solid"/>
          </a:ln>
        </p:spPr>
      </p:sp>
      <p:sp>
        <p:nvSpPr>
          <p:cNvPr id="29" name="Text 27"/>
          <p:cNvSpPr/>
          <p:nvPr/>
        </p:nvSpPr>
        <p:spPr>
          <a:xfrm>
            <a:off x="548640" y="4590288"/>
            <a:ext cx="8046720" cy="237744"/>
          </a:xfrm>
          <a:prstGeom prst="rect">
            <a:avLst/>
          </a:prstGeom>
          <a:noFill/>
          <a:ln/>
        </p:spPr>
        <p:txBody>
          <a:bodyPr wrap="square" lIns="0" tIns="0" rIns="0" bIns="0" rtlCol="0" anchor="ctr"/>
          <a:lstStyle/>
          <a:p>
            <a:pPr indent="0" marL="0">
              <a:buNone/>
            </a:pPr>
            <a:r>
              <a:rPr lang="en-US" sz="950" i="1" dirty="0">
                <a:solidFill>
                  <a:srgbClr val="64748B"/>
                </a:solidFill>
                <a:latin typeface="Calibri" pitchFamily="34" charset="0"/>
                <a:ea typeface="Calibri" pitchFamily="34" charset="-122"/>
                <a:cs typeface="Calibri" pitchFamily="34" charset="-120"/>
              </a:rPr>
              <a:t>Use this slide only if the committee asks for terminology or scope clarification.</a:t>
            </a:r>
            <a:endParaRPr lang="en-US" sz="950" dirty="0"/>
          </a:p>
        </p:txBody>
      </p:sp>
      <p:sp>
        <p:nvSpPr>
          <p:cNvPr id="30" name="Text 28"/>
          <p:cNvSpPr/>
          <p:nvPr/>
        </p:nvSpPr>
        <p:spPr>
          <a:xfrm>
            <a:off x="7452360" y="4864608"/>
            <a:ext cx="1143000" cy="22860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Appendix A</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56032"/>
            <a:ext cx="8046720" cy="502920"/>
          </a:xfrm>
          <a:prstGeom prst="rect">
            <a:avLst/>
          </a:prstGeom>
          <a:noFill/>
          <a:ln/>
        </p:spPr>
        <p:txBody>
          <a:bodyPr wrap="square" lIns="0" tIns="0" rIns="0" bIns="0" rtlCol="0" anchor="ctr"/>
          <a:lstStyle/>
          <a:p>
            <a:pPr indent="0" marL="0">
              <a:buNone/>
            </a:pPr>
            <a:r>
              <a:rPr lang="en-US" sz="2500" b="1" dirty="0">
                <a:solidFill>
                  <a:srgbClr val="0F2A44"/>
                </a:solidFill>
                <a:latin typeface="Calibri" pitchFamily="34" charset="0"/>
                <a:ea typeface="Calibri" pitchFamily="34" charset="-122"/>
                <a:cs typeface="Calibri" pitchFamily="34" charset="-120"/>
              </a:rPr>
              <a:t>Annex: formulas &amp; metrics</a:t>
            </a:r>
            <a:endParaRPr lang="en-US" sz="2500" dirty="0"/>
          </a:p>
        </p:txBody>
      </p:sp>
      <p:sp>
        <p:nvSpPr>
          <p:cNvPr id="3" name="Shape 1"/>
          <p:cNvSpPr/>
          <p:nvPr/>
        </p:nvSpPr>
        <p:spPr>
          <a:xfrm>
            <a:off x="548640" y="841248"/>
            <a:ext cx="8046720" cy="13716"/>
          </a:xfrm>
          <a:prstGeom prst="rect">
            <a:avLst/>
          </a:prstGeom>
          <a:solidFill>
            <a:srgbClr val="D8DEE6"/>
          </a:solidFill>
          <a:ln w="12700">
            <a:solidFill>
              <a:srgbClr val="D8DEE6"/>
            </a:solidFill>
            <a:prstDash val="solid"/>
          </a:ln>
        </p:spPr>
      </p:sp>
      <p:sp>
        <p:nvSpPr>
          <p:cNvPr id="4" name="Text 2"/>
          <p:cNvSpPr/>
          <p:nvPr/>
        </p:nvSpPr>
        <p:spPr>
          <a:xfrm>
            <a:off x="548640" y="1024128"/>
            <a:ext cx="2423160" cy="256032"/>
          </a:xfrm>
          <a:prstGeom prst="rect">
            <a:avLst/>
          </a:prstGeom>
          <a:noFill/>
          <a:ln/>
        </p:spPr>
        <p:txBody>
          <a:bodyPr wrap="square" lIns="0" tIns="0" rIns="0" bIns="0" rtlCol="0" anchor="ctr"/>
          <a:lstStyle/>
          <a:p>
            <a:pPr indent="0" marL="0">
              <a:buNone/>
            </a:pPr>
            <a:r>
              <a:rPr lang="en-US" sz="1120" b="1" dirty="0">
                <a:solidFill>
                  <a:srgbClr val="0F2A44"/>
                </a:solidFill>
                <a:latin typeface="Calibri" pitchFamily="34" charset="0"/>
                <a:ea typeface="Calibri" pitchFamily="34" charset="-122"/>
                <a:cs typeface="Calibri" pitchFamily="34" charset="-120"/>
              </a:rPr>
              <a:t>Tight Class Cohesion</a:t>
            </a:r>
            <a:endParaRPr lang="en-US" sz="1120" dirty="0"/>
          </a:p>
        </p:txBody>
      </p:sp>
      <p:sp>
        <p:nvSpPr>
          <p:cNvPr id="5" name="Text 3"/>
          <p:cNvSpPr/>
          <p:nvPr/>
        </p:nvSpPr>
        <p:spPr>
          <a:xfrm>
            <a:off x="3063240" y="1024128"/>
            <a:ext cx="2468880" cy="256032"/>
          </a:xfrm>
          <a:prstGeom prst="rect">
            <a:avLst/>
          </a:prstGeom>
          <a:noFill/>
          <a:ln/>
        </p:spPr>
        <p:txBody>
          <a:bodyPr wrap="square" lIns="0" tIns="0" rIns="0" bIns="0" rtlCol="0" anchor="ctr">
            <a:normAutofit/>
          </a:bodyPr>
          <a:lstStyle/>
          <a:p>
            <a:pPr indent="0" marL="0">
              <a:buNone/>
            </a:pPr>
            <a:r>
              <a:rPr lang="en-US" sz="1080" b="1" dirty="0">
                <a:solidFill>
                  <a:srgbClr val="0D9488"/>
                </a:solidFill>
                <a:latin typeface="Calibri" pitchFamily="34" charset="0"/>
                <a:ea typeface="Calibri" pitchFamily="34" charset="-122"/>
                <a:cs typeface="Calibri" pitchFamily="34" charset="-120"/>
              </a:rPr>
              <a:t>TCC = NDC / NP</a:t>
            </a:r>
            <a:endParaRPr lang="en-US" sz="1080" dirty="0"/>
          </a:p>
        </p:txBody>
      </p:sp>
      <p:sp>
        <p:nvSpPr>
          <p:cNvPr id="6" name="Text 4"/>
          <p:cNvSpPr/>
          <p:nvPr/>
        </p:nvSpPr>
        <p:spPr>
          <a:xfrm>
            <a:off x="5715000" y="1005840"/>
            <a:ext cx="2880360" cy="384048"/>
          </a:xfrm>
          <a:prstGeom prst="rect">
            <a:avLst/>
          </a:prstGeom>
          <a:noFill/>
          <a:ln/>
        </p:spPr>
        <p:txBody>
          <a:bodyPr wrap="square" lIns="0" tIns="0" rIns="0" bIns="0" rtlCol="0" anchor="ctr">
            <a:normAutofit/>
          </a:bodyPr>
          <a:lstStyle/>
          <a:p>
            <a:pPr indent="0" marL="0">
              <a:buNone/>
            </a:pPr>
            <a:r>
              <a:rPr lang="en-US" sz="880" dirty="0">
                <a:solidFill>
                  <a:srgbClr val="1E293B"/>
                </a:solidFill>
                <a:latin typeface="Calibri" pitchFamily="34" charset="0"/>
                <a:ea typeface="Calibri" pitchFamily="34" charset="-122"/>
                <a:cs typeface="Calibri" pitchFamily="34" charset="-120"/>
              </a:rPr>
              <a:t>NDC = directly connected method pairs; NP = all possible method pairs. Low TCC means methods operate on disjoint state.</a:t>
            </a:r>
            <a:endParaRPr lang="en-US" sz="880" dirty="0"/>
          </a:p>
        </p:txBody>
      </p:sp>
      <p:sp>
        <p:nvSpPr>
          <p:cNvPr id="7" name="Shape 5"/>
          <p:cNvSpPr/>
          <p:nvPr/>
        </p:nvSpPr>
        <p:spPr>
          <a:xfrm>
            <a:off x="548640" y="1499616"/>
            <a:ext cx="8046720" cy="9144"/>
          </a:xfrm>
          <a:prstGeom prst="rect">
            <a:avLst/>
          </a:prstGeom>
          <a:solidFill>
            <a:srgbClr val="D8DEE6"/>
          </a:solidFill>
          <a:ln w="12700">
            <a:solidFill>
              <a:srgbClr val="D8DEE6"/>
            </a:solidFill>
            <a:prstDash val="solid"/>
          </a:ln>
        </p:spPr>
      </p:sp>
      <p:sp>
        <p:nvSpPr>
          <p:cNvPr id="8" name="Text 6"/>
          <p:cNvSpPr/>
          <p:nvPr/>
        </p:nvSpPr>
        <p:spPr>
          <a:xfrm>
            <a:off x="548640" y="1709928"/>
            <a:ext cx="2423160" cy="256032"/>
          </a:xfrm>
          <a:prstGeom prst="rect">
            <a:avLst/>
          </a:prstGeom>
          <a:noFill/>
          <a:ln/>
        </p:spPr>
        <p:txBody>
          <a:bodyPr wrap="square" lIns="0" tIns="0" rIns="0" bIns="0" rtlCol="0" anchor="ctr"/>
          <a:lstStyle/>
          <a:p>
            <a:pPr indent="0" marL="0">
              <a:buNone/>
            </a:pPr>
            <a:r>
              <a:rPr lang="en-US" sz="1120" b="1" dirty="0">
                <a:solidFill>
                  <a:srgbClr val="0F2A44"/>
                </a:solidFill>
                <a:latin typeface="Calibri" pitchFamily="34" charset="0"/>
                <a:ea typeface="Calibri" pitchFamily="34" charset="-122"/>
                <a:cs typeface="Calibri" pitchFamily="34" charset="-120"/>
              </a:rPr>
              <a:t>Code smell density</a:t>
            </a:r>
            <a:endParaRPr lang="en-US" sz="1120" dirty="0"/>
          </a:p>
        </p:txBody>
      </p:sp>
      <p:sp>
        <p:nvSpPr>
          <p:cNvPr id="9" name="Text 7"/>
          <p:cNvSpPr/>
          <p:nvPr/>
        </p:nvSpPr>
        <p:spPr>
          <a:xfrm>
            <a:off x="3063240" y="1709928"/>
            <a:ext cx="2468880" cy="256032"/>
          </a:xfrm>
          <a:prstGeom prst="rect">
            <a:avLst/>
          </a:prstGeom>
          <a:noFill/>
          <a:ln/>
        </p:spPr>
        <p:txBody>
          <a:bodyPr wrap="square" lIns="0" tIns="0" rIns="0" bIns="0" rtlCol="0" anchor="ctr">
            <a:normAutofit/>
          </a:bodyPr>
          <a:lstStyle/>
          <a:p>
            <a:pPr indent="0" marL="0">
              <a:buNone/>
            </a:pPr>
            <a:r>
              <a:rPr lang="en-US" sz="1080" b="1" dirty="0">
                <a:solidFill>
                  <a:srgbClr val="0D9488"/>
                </a:solidFill>
                <a:latin typeface="Calibri" pitchFamily="34" charset="0"/>
                <a:ea typeface="Calibri" pitchFamily="34" charset="-122"/>
                <a:cs typeface="Calibri" pitchFamily="34" charset="-120"/>
              </a:rPr>
              <a:t>smellDensity = smellCount / (LOC / 1000)</a:t>
            </a:r>
            <a:endParaRPr lang="en-US" sz="1080" dirty="0"/>
          </a:p>
        </p:txBody>
      </p:sp>
      <p:sp>
        <p:nvSpPr>
          <p:cNvPr id="10" name="Text 8"/>
          <p:cNvSpPr/>
          <p:nvPr/>
        </p:nvSpPr>
        <p:spPr>
          <a:xfrm>
            <a:off x="5715000" y="1691640"/>
            <a:ext cx="2880360" cy="384048"/>
          </a:xfrm>
          <a:prstGeom prst="rect">
            <a:avLst/>
          </a:prstGeom>
          <a:noFill/>
          <a:ln/>
        </p:spPr>
        <p:txBody>
          <a:bodyPr wrap="square" lIns="0" tIns="0" rIns="0" bIns="0" rtlCol="0" anchor="ctr">
            <a:normAutofit/>
          </a:bodyPr>
          <a:lstStyle/>
          <a:p>
            <a:pPr indent="0" marL="0">
              <a:buNone/>
            </a:pPr>
            <a:r>
              <a:rPr lang="en-US" sz="880" dirty="0">
                <a:solidFill>
                  <a:srgbClr val="1E293B"/>
                </a:solidFill>
                <a:latin typeface="Calibri" pitchFamily="34" charset="0"/>
                <a:ea typeface="Calibri" pitchFamily="34" charset="-122"/>
                <a:cs typeface="Calibri" pitchFamily="34" charset="-120"/>
              </a:rPr>
              <a:t>Normalises DesigniteJava smell count by service size, so larger codebases are not punished only for being larger.</a:t>
            </a:r>
            <a:endParaRPr lang="en-US" sz="880" dirty="0"/>
          </a:p>
        </p:txBody>
      </p:sp>
      <p:sp>
        <p:nvSpPr>
          <p:cNvPr id="11" name="Shape 9"/>
          <p:cNvSpPr/>
          <p:nvPr/>
        </p:nvSpPr>
        <p:spPr>
          <a:xfrm>
            <a:off x="548640" y="2185416"/>
            <a:ext cx="8046720" cy="9144"/>
          </a:xfrm>
          <a:prstGeom prst="rect">
            <a:avLst/>
          </a:prstGeom>
          <a:solidFill>
            <a:srgbClr val="D8DEE6"/>
          </a:solidFill>
          <a:ln w="12700">
            <a:solidFill>
              <a:srgbClr val="D8DEE6"/>
            </a:solidFill>
            <a:prstDash val="solid"/>
          </a:ln>
        </p:spPr>
      </p:sp>
      <p:sp>
        <p:nvSpPr>
          <p:cNvPr id="12" name="Text 10"/>
          <p:cNvSpPr/>
          <p:nvPr/>
        </p:nvSpPr>
        <p:spPr>
          <a:xfrm>
            <a:off x="548640" y="2395728"/>
            <a:ext cx="2423160" cy="256032"/>
          </a:xfrm>
          <a:prstGeom prst="rect">
            <a:avLst/>
          </a:prstGeom>
          <a:noFill/>
          <a:ln/>
        </p:spPr>
        <p:txBody>
          <a:bodyPr wrap="square" lIns="0" tIns="0" rIns="0" bIns="0" rtlCol="0" anchor="ctr"/>
          <a:lstStyle/>
          <a:p>
            <a:pPr indent="0" marL="0">
              <a:buNone/>
            </a:pPr>
            <a:r>
              <a:rPr lang="en-US" sz="1120" b="1" dirty="0">
                <a:solidFill>
                  <a:srgbClr val="0F2A44"/>
                </a:solidFill>
                <a:latin typeface="Calibri" pitchFamily="34" charset="0"/>
                <a:ea typeface="Calibri" pitchFamily="34" charset="-122"/>
                <a:cs typeface="Calibri" pitchFamily="34" charset="-120"/>
              </a:rPr>
              <a:t>Graph coupling coefficient</a:t>
            </a:r>
            <a:endParaRPr lang="en-US" sz="1120" dirty="0"/>
          </a:p>
        </p:txBody>
      </p:sp>
      <p:sp>
        <p:nvSpPr>
          <p:cNvPr id="13" name="Text 11"/>
          <p:cNvSpPr/>
          <p:nvPr/>
        </p:nvSpPr>
        <p:spPr>
          <a:xfrm>
            <a:off x="3063240" y="2395728"/>
            <a:ext cx="2468880" cy="256032"/>
          </a:xfrm>
          <a:prstGeom prst="rect">
            <a:avLst/>
          </a:prstGeom>
          <a:noFill/>
          <a:ln/>
        </p:spPr>
        <p:txBody>
          <a:bodyPr wrap="square" lIns="0" tIns="0" rIns="0" bIns="0" rtlCol="0" anchor="ctr">
            <a:normAutofit/>
          </a:bodyPr>
          <a:lstStyle/>
          <a:p>
            <a:pPr indent="0" marL="0">
              <a:buNone/>
            </a:pPr>
            <a:r>
              <a:rPr lang="en-US" sz="1080" b="1" dirty="0">
                <a:solidFill>
                  <a:srgbClr val="0D9488"/>
                </a:solidFill>
                <a:latin typeface="Calibri" pitchFamily="34" charset="0"/>
                <a:ea typeface="Calibri" pitchFamily="34" charset="-122"/>
                <a:cs typeface="Calibri" pitchFamily="34" charset="-120"/>
              </a:rPr>
              <a:t>coupling = E / (N × (N - 1))</a:t>
            </a:r>
            <a:endParaRPr lang="en-US" sz="1080" dirty="0"/>
          </a:p>
        </p:txBody>
      </p:sp>
      <p:sp>
        <p:nvSpPr>
          <p:cNvPr id="14" name="Text 12"/>
          <p:cNvSpPr/>
          <p:nvPr/>
        </p:nvSpPr>
        <p:spPr>
          <a:xfrm>
            <a:off x="5715000" y="2377440"/>
            <a:ext cx="2880360" cy="384048"/>
          </a:xfrm>
          <a:prstGeom prst="rect">
            <a:avLst/>
          </a:prstGeom>
          <a:noFill/>
          <a:ln/>
        </p:spPr>
        <p:txBody>
          <a:bodyPr wrap="square" lIns="0" tIns="0" rIns="0" bIns="0" rtlCol="0" anchor="ctr">
            <a:normAutofit/>
          </a:bodyPr>
          <a:lstStyle/>
          <a:p>
            <a:pPr indent="0" marL="0">
              <a:buNone/>
            </a:pPr>
            <a:r>
              <a:rPr lang="en-US" sz="880" dirty="0">
                <a:solidFill>
                  <a:srgbClr val="1E293B"/>
                </a:solidFill>
                <a:latin typeface="Calibri" pitchFamily="34" charset="0"/>
                <a:ea typeface="Calibri" pitchFamily="34" charset="-122"/>
                <a:cs typeface="Calibri" pitchFamily="34" charset="-120"/>
              </a:rPr>
              <a:t>E = directed dependency edges; N = detected services. Higher values mean denser inter-service coupling.</a:t>
            </a:r>
            <a:endParaRPr lang="en-US" sz="880" dirty="0"/>
          </a:p>
        </p:txBody>
      </p:sp>
      <p:sp>
        <p:nvSpPr>
          <p:cNvPr id="15" name="Shape 13"/>
          <p:cNvSpPr/>
          <p:nvPr/>
        </p:nvSpPr>
        <p:spPr>
          <a:xfrm>
            <a:off x="548640" y="2871216"/>
            <a:ext cx="8046720" cy="9144"/>
          </a:xfrm>
          <a:prstGeom prst="rect">
            <a:avLst/>
          </a:prstGeom>
          <a:solidFill>
            <a:srgbClr val="D8DEE6"/>
          </a:solidFill>
          <a:ln w="12700">
            <a:solidFill>
              <a:srgbClr val="D8DEE6"/>
            </a:solidFill>
            <a:prstDash val="solid"/>
          </a:ln>
        </p:spPr>
      </p:sp>
      <p:sp>
        <p:nvSpPr>
          <p:cNvPr id="16" name="Text 14"/>
          <p:cNvSpPr/>
          <p:nvPr/>
        </p:nvSpPr>
        <p:spPr>
          <a:xfrm>
            <a:off x="548640" y="3081528"/>
            <a:ext cx="2423160" cy="256032"/>
          </a:xfrm>
          <a:prstGeom prst="rect">
            <a:avLst/>
          </a:prstGeom>
          <a:noFill/>
          <a:ln/>
        </p:spPr>
        <p:txBody>
          <a:bodyPr wrap="square" lIns="0" tIns="0" rIns="0" bIns="0" rtlCol="0" anchor="ctr"/>
          <a:lstStyle/>
          <a:p>
            <a:pPr indent="0" marL="0">
              <a:buNone/>
            </a:pPr>
            <a:r>
              <a:rPr lang="en-US" sz="1120" b="1" dirty="0">
                <a:solidFill>
                  <a:srgbClr val="0F2A44"/>
                </a:solidFill>
                <a:latin typeface="Calibri" pitchFamily="34" charset="0"/>
                <a:ea typeface="Calibri" pitchFamily="34" charset="-122"/>
                <a:cs typeface="Calibri" pitchFamily="34" charset="-120"/>
              </a:rPr>
              <a:t>Dependency edge weight</a:t>
            </a:r>
            <a:endParaRPr lang="en-US" sz="1120" dirty="0"/>
          </a:p>
        </p:txBody>
      </p:sp>
      <p:sp>
        <p:nvSpPr>
          <p:cNvPr id="17" name="Text 15"/>
          <p:cNvSpPr/>
          <p:nvPr/>
        </p:nvSpPr>
        <p:spPr>
          <a:xfrm>
            <a:off x="3063240" y="3081528"/>
            <a:ext cx="2468880" cy="256032"/>
          </a:xfrm>
          <a:prstGeom prst="rect">
            <a:avLst/>
          </a:prstGeom>
          <a:noFill/>
          <a:ln/>
        </p:spPr>
        <p:txBody>
          <a:bodyPr wrap="square" lIns="0" tIns="0" rIns="0" bIns="0" rtlCol="0" anchor="ctr">
            <a:normAutofit/>
          </a:bodyPr>
          <a:lstStyle/>
          <a:p>
            <a:pPr indent="0" marL="0">
              <a:buNone/>
            </a:pPr>
            <a:r>
              <a:rPr lang="en-US" sz="1080" b="1" dirty="0">
                <a:solidFill>
                  <a:srgbClr val="0D9488"/>
                </a:solidFill>
                <a:latin typeface="Calibri" pitchFamily="34" charset="0"/>
                <a:ea typeface="Calibri" pitchFamily="34" charset="-122"/>
                <a:cs typeface="Calibri" pitchFamily="34" charset="-120"/>
              </a:rPr>
              <a:t>weight(A, B) = distinct call sites from A to B</a:t>
            </a:r>
            <a:endParaRPr lang="en-US" sz="1080" dirty="0"/>
          </a:p>
        </p:txBody>
      </p:sp>
      <p:sp>
        <p:nvSpPr>
          <p:cNvPr id="18" name="Text 16"/>
          <p:cNvSpPr/>
          <p:nvPr/>
        </p:nvSpPr>
        <p:spPr>
          <a:xfrm>
            <a:off x="5715000" y="3063240"/>
            <a:ext cx="2880360" cy="384048"/>
          </a:xfrm>
          <a:prstGeom prst="rect">
            <a:avLst/>
          </a:prstGeom>
          <a:noFill/>
          <a:ln/>
        </p:spPr>
        <p:txBody>
          <a:bodyPr wrap="square" lIns="0" tIns="0" rIns="0" bIns="0" rtlCol="0" anchor="ctr">
            <a:normAutofit/>
          </a:bodyPr>
          <a:lstStyle/>
          <a:p>
            <a:pPr indent="0" marL="0">
              <a:buNone/>
            </a:pPr>
            <a:r>
              <a:rPr lang="en-US" sz="880" dirty="0">
                <a:solidFill>
                  <a:srgbClr val="1E293B"/>
                </a:solidFill>
                <a:latin typeface="Calibri" pitchFamily="34" charset="0"/>
                <a:ea typeface="Calibri" pitchFamily="34" charset="-122"/>
                <a:cs typeface="Calibri" pitchFamily="34" charset="-120"/>
              </a:rPr>
              <a:t>Recovered from Feign clients, RestTemplate calls, and WebClient invocations in the Spoon AST.</a:t>
            </a:r>
            <a:endParaRPr lang="en-US" sz="880" dirty="0"/>
          </a:p>
        </p:txBody>
      </p:sp>
      <p:sp>
        <p:nvSpPr>
          <p:cNvPr id="19" name="Shape 17"/>
          <p:cNvSpPr/>
          <p:nvPr/>
        </p:nvSpPr>
        <p:spPr>
          <a:xfrm>
            <a:off x="548640" y="3557016"/>
            <a:ext cx="8046720" cy="9144"/>
          </a:xfrm>
          <a:prstGeom prst="rect">
            <a:avLst/>
          </a:prstGeom>
          <a:solidFill>
            <a:srgbClr val="D8DEE6"/>
          </a:solidFill>
          <a:ln w="12700">
            <a:solidFill>
              <a:srgbClr val="D8DEE6"/>
            </a:solidFill>
            <a:prstDash val="solid"/>
          </a:ln>
        </p:spPr>
      </p:sp>
      <p:sp>
        <p:nvSpPr>
          <p:cNvPr id="20" name="Text 18"/>
          <p:cNvSpPr/>
          <p:nvPr/>
        </p:nvSpPr>
        <p:spPr>
          <a:xfrm>
            <a:off x="548640" y="3767328"/>
            <a:ext cx="2423160" cy="256032"/>
          </a:xfrm>
          <a:prstGeom prst="rect">
            <a:avLst/>
          </a:prstGeom>
          <a:noFill/>
          <a:ln/>
        </p:spPr>
        <p:txBody>
          <a:bodyPr wrap="square" lIns="0" tIns="0" rIns="0" bIns="0" rtlCol="0" anchor="ctr"/>
          <a:lstStyle/>
          <a:p>
            <a:pPr indent="0" marL="0">
              <a:buNone/>
            </a:pPr>
            <a:r>
              <a:rPr lang="en-US" sz="1120" b="1" dirty="0">
                <a:solidFill>
                  <a:srgbClr val="0F2A44"/>
                </a:solidFill>
                <a:latin typeface="Calibri" pitchFamily="34" charset="0"/>
                <a:ea typeface="Calibri" pitchFamily="34" charset="-122"/>
                <a:cs typeface="Calibri" pitchFamily="34" charset="-120"/>
              </a:rPr>
              <a:t>Service size ratio</a:t>
            </a:r>
            <a:endParaRPr lang="en-US" sz="1120" dirty="0"/>
          </a:p>
        </p:txBody>
      </p:sp>
      <p:sp>
        <p:nvSpPr>
          <p:cNvPr id="21" name="Text 19"/>
          <p:cNvSpPr/>
          <p:nvPr/>
        </p:nvSpPr>
        <p:spPr>
          <a:xfrm>
            <a:off x="3063240" y="3767328"/>
            <a:ext cx="2468880" cy="256032"/>
          </a:xfrm>
          <a:prstGeom prst="rect">
            <a:avLst/>
          </a:prstGeom>
          <a:noFill/>
          <a:ln/>
        </p:spPr>
        <p:txBody>
          <a:bodyPr wrap="square" lIns="0" tIns="0" rIns="0" bIns="0" rtlCol="0" anchor="ctr">
            <a:normAutofit/>
          </a:bodyPr>
          <a:lstStyle/>
          <a:p>
            <a:pPr indent="0" marL="0">
              <a:buNone/>
            </a:pPr>
            <a:r>
              <a:rPr lang="en-US" sz="1080" b="1" dirty="0">
                <a:solidFill>
                  <a:srgbClr val="0D9488"/>
                </a:solidFill>
                <a:latin typeface="Calibri" pitchFamily="34" charset="0"/>
                <a:ea typeface="Calibri" pitchFamily="34" charset="-122"/>
                <a:cs typeface="Calibri" pitchFamily="34" charset="-120"/>
              </a:rPr>
              <a:t>sizeRatio = LOC(service) / medianLOC(project)</a:t>
            </a:r>
            <a:endParaRPr lang="en-US" sz="1080" dirty="0"/>
          </a:p>
        </p:txBody>
      </p:sp>
      <p:sp>
        <p:nvSpPr>
          <p:cNvPr id="22" name="Text 20"/>
          <p:cNvSpPr/>
          <p:nvPr/>
        </p:nvSpPr>
        <p:spPr>
          <a:xfrm>
            <a:off x="5715000" y="3749040"/>
            <a:ext cx="2880360" cy="384048"/>
          </a:xfrm>
          <a:prstGeom prst="rect">
            <a:avLst/>
          </a:prstGeom>
          <a:noFill/>
          <a:ln/>
        </p:spPr>
        <p:txBody>
          <a:bodyPr wrap="square" lIns="0" tIns="0" rIns="0" bIns="0" rtlCol="0" anchor="ctr">
            <a:normAutofit/>
          </a:bodyPr>
          <a:lstStyle/>
          <a:p>
            <a:pPr indent="0" marL="0">
              <a:buNone/>
            </a:pPr>
            <a:r>
              <a:rPr lang="en-US" sz="880" dirty="0">
                <a:solidFill>
                  <a:srgbClr val="1E293B"/>
                </a:solidFill>
                <a:latin typeface="Calibri" pitchFamily="34" charset="0"/>
                <a:ea typeface="Calibri" pitchFamily="34" charset="-122"/>
                <a:cs typeface="Calibri" pitchFamily="34" charset="-120"/>
              </a:rPr>
              <a:t>Used as supporting evidence for Nano Service and God Service-style sizing findings.</a:t>
            </a:r>
            <a:endParaRPr lang="en-US" sz="880" dirty="0"/>
          </a:p>
        </p:txBody>
      </p:sp>
      <p:sp>
        <p:nvSpPr>
          <p:cNvPr id="23" name="Shape 21"/>
          <p:cNvSpPr/>
          <p:nvPr/>
        </p:nvSpPr>
        <p:spPr>
          <a:xfrm>
            <a:off x="548640" y="4242816"/>
            <a:ext cx="8046720" cy="9144"/>
          </a:xfrm>
          <a:prstGeom prst="rect">
            <a:avLst/>
          </a:prstGeom>
          <a:solidFill>
            <a:srgbClr val="D8DEE6"/>
          </a:solidFill>
          <a:ln w="12700">
            <a:solidFill>
              <a:srgbClr val="D8DEE6"/>
            </a:solidFill>
            <a:prstDash val="solid"/>
          </a:ln>
        </p:spPr>
      </p:sp>
      <p:sp>
        <p:nvSpPr>
          <p:cNvPr id="24" name="Shape 22"/>
          <p:cNvSpPr/>
          <p:nvPr/>
        </p:nvSpPr>
        <p:spPr>
          <a:xfrm>
            <a:off x="548640" y="4498848"/>
            <a:ext cx="457200" cy="36576"/>
          </a:xfrm>
          <a:prstGeom prst="rect">
            <a:avLst/>
          </a:prstGeom>
          <a:solidFill>
            <a:srgbClr val="0D9488"/>
          </a:solidFill>
          <a:ln w="12700">
            <a:solidFill>
              <a:srgbClr val="0D9488"/>
            </a:solidFill>
            <a:prstDash val="solid"/>
          </a:ln>
        </p:spPr>
      </p:sp>
      <p:sp>
        <p:nvSpPr>
          <p:cNvPr id="25" name="Text 23"/>
          <p:cNvSpPr/>
          <p:nvPr/>
        </p:nvSpPr>
        <p:spPr>
          <a:xfrm>
            <a:off x="548640" y="4590288"/>
            <a:ext cx="8046720" cy="237744"/>
          </a:xfrm>
          <a:prstGeom prst="rect">
            <a:avLst/>
          </a:prstGeom>
          <a:noFill/>
          <a:ln/>
        </p:spPr>
        <p:txBody>
          <a:bodyPr wrap="square" lIns="0" tIns="0" rIns="0" bIns="0" rtlCol="0" anchor="ctr"/>
          <a:lstStyle/>
          <a:p>
            <a:pPr indent="0" marL="0">
              <a:buNone/>
            </a:pPr>
            <a:r>
              <a:rPr lang="en-US" sz="950" i="1" dirty="0">
                <a:solidFill>
                  <a:srgbClr val="64748B"/>
                </a:solidFill>
                <a:latin typeface="Calibri" pitchFamily="34" charset="0"/>
                <a:ea typeface="Calibri" pitchFamily="34" charset="-122"/>
                <a:cs typeface="Calibri" pitchFamily="34" charset="-120"/>
              </a:rPr>
              <a:t>TCC follows Bieman &amp; Kang's cohesion interpretation; graph metrics use the recovered directed service dependency graph.</a:t>
            </a:r>
            <a:endParaRPr lang="en-US" sz="950" dirty="0"/>
          </a:p>
        </p:txBody>
      </p:sp>
      <p:sp>
        <p:nvSpPr>
          <p:cNvPr id="26" name="Text 24"/>
          <p:cNvSpPr/>
          <p:nvPr/>
        </p:nvSpPr>
        <p:spPr>
          <a:xfrm>
            <a:off x="7452360" y="4864608"/>
            <a:ext cx="1143000" cy="22860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Appendix B</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56032"/>
            <a:ext cx="8046720" cy="502920"/>
          </a:xfrm>
          <a:prstGeom prst="rect">
            <a:avLst/>
          </a:prstGeom>
          <a:noFill/>
          <a:ln/>
        </p:spPr>
        <p:txBody>
          <a:bodyPr wrap="square" lIns="0" tIns="0" rIns="0" bIns="0" rtlCol="0" anchor="ctr"/>
          <a:lstStyle/>
          <a:p>
            <a:pPr indent="0" marL="0">
              <a:buNone/>
            </a:pPr>
            <a:r>
              <a:rPr lang="en-US" sz="2500" b="1" dirty="0">
                <a:solidFill>
                  <a:srgbClr val="0F2A44"/>
                </a:solidFill>
                <a:latin typeface="Calibri" pitchFamily="34" charset="0"/>
                <a:ea typeface="Calibri" pitchFamily="34" charset="-122"/>
                <a:cs typeface="Calibri" pitchFamily="34" charset="-120"/>
              </a:rPr>
              <a:t>Annex: health score computation</a:t>
            </a:r>
            <a:endParaRPr lang="en-US" sz="2500" dirty="0"/>
          </a:p>
        </p:txBody>
      </p:sp>
      <p:sp>
        <p:nvSpPr>
          <p:cNvPr id="3" name="Shape 1"/>
          <p:cNvSpPr/>
          <p:nvPr/>
        </p:nvSpPr>
        <p:spPr>
          <a:xfrm>
            <a:off x="548640" y="841248"/>
            <a:ext cx="8046720" cy="13716"/>
          </a:xfrm>
          <a:prstGeom prst="rect">
            <a:avLst/>
          </a:prstGeom>
          <a:solidFill>
            <a:srgbClr val="D8DEE6"/>
          </a:solidFill>
          <a:ln w="12700">
            <a:solidFill>
              <a:srgbClr val="D8DEE6"/>
            </a:solidFill>
            <a:prstDash val="solid"/>
          </a:ln>
        </p:spPr>
      </p:sp>
      <p:sp>
        <p:nvSpPr>
          <p:cNvPr id="4" name="Text 2"/>
          <p:cNvSpPr/>
          <p:nvPr/>
        </p:nvSpPr>
        <p:spPr>
          <a:xfrm>
            <a:off x="548640" y="1005840"/>
            <a:ext cx="8046720" cy="274320"/>
          </a:xfrm>
          <a:prstGeom prst="rect">
            <a:avLst/>
          </a:prstGeom>
          <a:noFill/>
          <a:ln/>
        </p:spPr>
        <p:txBody>
          <a:bodyPr wrap="square" lIns="0" tIns="0" rIns="0" bIns="0" rtlCol="0" anchor="ctr"/>
          <a:lstStyle/>
          <a:p>
            <a:pPr indent="0" marL="0">
              <a:buNone/>
            </a:pPr>
            <a:r>
              <a:rPr lang="en-US" sz="1300" b="1" dirty="0">
                <a:solidFill>
                  <a:srgbClr val="0F2A44"/>
                </a:solidFill>
                <a:latin typeface="Calibri" pitchFamily="34" charset="0"/>
                <a:ea typeface="Calibri" pitchFamily="34" charset="-122"/>
                <a:cs typeface="Calibri" pitchFamily="34" charset="-120"/>
              </a:rPr>
              <a:t>Overall score</a:t>
            </a:r>
            <a:endParaRPr lang="en-US" sz="1300" dirty="0"/>
          </a:p>
        </p:txBody>
      </p:sp>
      <p:sp>
        <p:nvSpPr>
          <p:cNvPr id="5" name="Text 3"/>
          <p:cNvSpPr/>
          <p:nvPr/>
        </p:nvSpPr>
        <p:spPr>
          <a:xfrm>
            <a:off x="548640" y="1353312"/>
            <a:ext cx="8046720" cy="384048"/>
          </a:xfrm>
          <a:prstGeom prst="rect">
            <a:avLst/>
          </a:prstGeom>
          <a:noFill/>
          <a:ln/>
        </p:spPr>
        <p:txBody>
          <a:bodyPr wrap="square" lIns="0" tIns="0" rIns="0" bIns="0" rtlCol="0" anchor="ctr"/>
          <a:lstStyle/>
          <a:p>
            <a:pPr algn="ctr" indent="0" marL="0">
              <a:buNone/>
            </a:pPr>
            <a:r>
              <a:rPr lang="en-US" sz="2000" b="1" dirty="0">
                <a:solidFill>
                  <a:srgbClr val="0D9488"/>
                </a:solidFill>
                <a:latin typeface="Calibri" pitchFamily="34" charset="0"/>
                <a:ea typeface="Calibri" pitchFamily="34" charset="-122"/>
                <a:cs typeface="Calibri" pitchFamily="34" charset="-120"/>
              </a:rPr>
              <a:t>score = AP + CQ + ARCH + SIZE</a:t>
            </a:r>
            <a:endParaRPr lang="en-US" sz="2000" dirty="0"/>
          </a:p>
        </p:txBody>
      </p:sp>
      <p:sp>
        <p:nvSpPr>
          <p:cNvPr id="6" name="Text 4"/>
          <p:cNvSpPr/>
          <p:nvPr/>
        </p:nvSpPr>
        <p:spPr>
          <a:xfrm>
            <a:off x="548640" y="2011680"/>
            <a:ext cx="685800" cy="219456"/>
          </a:xfrm>
          <a:prstGeom prst="rect">
            <a:avLst/>
          </a:prstGeom>
          <a:noFill/>
          <a:ln/>
        </p:spPr>
        <p:txBody>
          <a:bodyPr wrap="square" lIns="0" tIns="0" rIns="0" bIns="0" rtlCol="0" anchor="ctr"/>
          <a:lstStyle/>
          <a:p>
            <a:pPr indent="0" marL="0">
              <a:buNone/>
            </a:pPr>
            <a:r>
              <a:rPr lang="en-US" sz="820" b="1" spc="120" kern="0" dirty="0">
                <a:solidFill>
                  <a:srgbClr val="0F2A44"/>
                </a:solidFill>
                <a:latin typeface="Calibri" pitchFamily="34" charset="0"/>
                <a:ea typeface="Calibri" pitchFamily="34" charset="-122"/>
                <a:cs typeface="Calibri" pitchFamily="34" charset="-120"/>
              </a:rPr>
              <a:t>TERM</a:t>
            </a:r>
            <a:endParaRPr lang="en-US" sz="820" dirty="0"/>
          </a:p>
        </p:txBody>
      </p:sp>
      <p:sp>
        <p:nvSpPr>
          <p:cNvPr id="7" name="Text 5"/>
          <p:cNvSpPr/>
          <p:nvPr/>
        </p:nvSpPr>
        <p:spPr>
          <a:xfrm>
            <a:off x="1325880" y="2011680"/>
            <a:ext cx="1828800" cy="219456"/>
          </a:xfrm>
          <a:prstGeom prst="rect">
            <a:avLst/>
          </a:prstGeom>
          <a:noFill/>
          <a:ln/>
        </p:spPr>
        <p:txBody>
          <a:bodyPr wrap="square" lIns="0" tIns="0" rIns="0" bIns="0" rtlCol="0" anchor="ctr"/>
          <a:lstStyle/>
          <a:p>
            <a:pPr indent="0" marL="0">
              <a:buNone/>
            </a:pPr>
            <a:r>
              <a:rPr lang="en-US" sz="820" b="1" spc="120" kern="0" dirty="0">
                <a:solidFill>
                  <a:srgbClr val="0F2A44"/>
                </a:solidFill>
                <a:latin typeface="Calibri" pitchFamily="34" charset="0"/>
                <a:ea typeface="Calibri" pitchFamily="34" charset="-122"/>
                <a:cs typeface="Calibri" pitchFamily="34" charset="-120"/>
              </a:rPr>
              <a:t>CATEGORY</a:t>
            </a:r>
            <a:endParaRPr lang="en-US" sz="820" dirty="0"/>
          </a:p>
        </p:txBody>
      </p:sp>
      <p:sp>
        <p:nvSpPr>
          <p:cNvPr id="8" name="Text 6"/>
          <p:cNvSpPr/>
          <p:nvPr/>
        </p:nvSpPr>
        <p:spPr>
          <a:xfrm>
            <a:off x="3246120" y="2011680"/>
            <a:ext cx="777240" cy="219456"/>
          </a:xfrm>
          <a:prstGeom prst="rect">
            <a:avLst/>
          </a:prstGeom>
          <a:noFill/>
          <a:ln/>
        </p:spPr>
        <p:txBody>
          <a:bodyPr wrap="square" lIns="0" tIns="0" rIns="0" bIns="0" rtlCol="0" anchor="ctr"/>
          <a:lstStyle/>
          <a:p>
            <a:pPr indent="0" marL="0">
              <a:buNone/>
            </a:pPr>
            <a:r>
              <a:rPr lang="en-US" sz="820" b="1" spc="120" kern="0" dirty="0">
                <a:solidFill>
                  <a:srgbClr val="0F2A44"/>
                </a:solidFill>
                <a:latin typeface="Calibri" pitchFamily="34" charset="0"/>
                <a:ea typeface="Calibri" pitchFamily="34" charset="-122"/>
                <a:cs typeface="Calibri" pitchFamily="34" charset="-120"/>
              </a:rPr>
              <a:t>BUDGET</a:t>
            </a:r>
            <a:endParaRPr lang="en-US" sz="820" dirty="0"/>
          </a:p>
        </p:txBody>
      </p:sp>
      <p:sp>
        <p:nvSpPr>
          <p:cNvPr id="9" name="Text 7"/>
          <p:cNvSpPr/>
          <p:nvPr/>
        </p:nvSpPr>
        <p:spPr>
          <a:xfrm>
            <a:off x="4251960" y="2011680"/>
            <a:ext cx="4343400" cy="219456"/>
          </a:xfrm>
          <a:prstGeom prst="rect">
            <a:avLst/>
          </a:prstGeom>
          <a:noFill/>
          <a:ln/>
        </p:spPr>
        <p:txBody>
          <a:bodyPr wrap="square" lIns="0" tIns="0" rIns="0" bIns="0" rtlCol="0" anchor="ctr"/>
          <a:lstStyle/>
          <a:p>
            <a:pPr indent="0" marL="0">
              <a:buNone/>
            </a:pPr>
            <a:r>
              <a:rPr lang="en-US" sz="820" b="1" spc="120" kern="0" dirty="0">
                <a:solidFill>
                  <a:srgbClr val="0F2A44"/>
                </a:solidFill>
                <a:latin typeface="Calibri" pitchFamily="34" charset="0"/>
                <a:ea typeface="Calibri" pitchFamily="34" charset="-122"/>
                <a:cs typeface="Calibri" pitchFamily="34" charset="-120"/>
              </a:rPr>
              <a:t>COMPUTATION</a:t>
            </a:r>
            <a:endParaRPr lang="en-US" sz="820" dirty="0"/>
          </a:p>
        </p:txBody>
      </p:sp>
      <p:sp>
        <p:nvSpPr>
          <p:cNvPr id="10" name="Shape 8"/>
          <p:cNvSpPr/>
          <p:nvPr/>
        </p:nvSpPr>
        <p:spPr>
          <a:xfrm>
            <a:off x="548640" y="2286000"/>
            <a:ext cx="8046720" cy="13716"/>
          </a:xfrm>
          <a:prstGeom prst="rect">
            <a:avLst/>
          </a:prstGeom>
          <a:solidFill>
            <a:srgbClr val="D8DEE6"/>
          </a:solidFill>
          <a:ln w="12700">
            <a:solidFill>
              <a:srgbClr val="D8DEE6"/>
            </a:solidFill>
            <a:prstDash val="solid"/>
          </a:ln>
        </p:spPr>
      </p:sp>
      <p:sp>
        <p:nvSpPr>
          <p:cNvPr id="11" name="Text 9"/>
          <p:cNvSpPr/>
          <p:nvPr/>
        </p:nvSpPr>
        <p:spPr>
          <a:xfrm>
            <a:off x="548640" y="2441448"/>
            <a:ext cx="685800" cy="256032"/>
          </a:xfrm>
          <a:prstGeom prst="rect">
            <a:avLst/>
          </a:prstGeom>
          <a:noFill/>
          <a:ln/>
        </p:spPr>
        <p:txBody>
          <a:bodyPr wrap="square" lIns="0" tIns="0" rIns="0" bIns="0" rtlCol="0" anchor="ctr">
            <a:normAutofit/>
          </a:bodyPr>
          <a:lstStyle/>
          <a:p>
            <a:pPr indent="0" marL="0">
              <a:buNone/>
            </a:pPr>
            <a:r>
              <a:rPr lang="en-US" sz="1050" b="1" dirty="0">
                <a:solidFill>
                  <a:srgbClr val="0D9488"/>
                </a:solidFill>
                <a:latin typeface="Calibri" pitchFamily="34" charset="0"/>
                <a:ea typeface="Calibri" pitchFamily="34" charset="-122"/>
                <a:cs typeface="Calibri" pitchFamily="34" charset="-120"/>
              </a:rPr>
              <a:t>AP</a:t>
            </a:r>
            <a:endParaRPr lang="en-US" sz="1050" dirty="0"/>
          </a:p>
        </p:txBody>
      </p:sp>
      <p:sp>
        <p:nvSpPr>
          <p:cNvPr id="12" name="Text 10"/>
          <p:cNvSpPr/>
          <p:nvPr/>
        </p:nvSpPr>
        <p:spPr>
          <a:xfrm>
            <a:off x="1325880" y="2441448"/>
            <a:ext cx="1828800" cy="256032"/>
          </a:xfrm>
          <a:prstGeom prst="rect">
            <a:avLst/>
          </a:prstGeom>
          <a:noFill/>
          <a:ln/>
        </p:spPr>
        <p:txBody>
          <a:bodyPr wrap="square" lIns="0" tIns="0" rIns="0" bIns="0" rtlCol="0" anchor="ctr">
            <a:normAutofit/>
          </a:bodyPr>
          <a:lstStyle/>
          <a:p>
            <a:pPr indent="0" marL="0">
              <a:buNone/>
            </a:pPr>
            <a:r>
              <a:rPr lang="en-US" sz="940" b="1" dirty="0">
                <a:solidFill>
                  <a:srgbClr val="1E293B"/>
                </a:solidFill>
                <a:latin typeface="Calibri" pitchFamily="34" charset="0"/>
                <a:ea typeface="Calibri" pitchFamily="34" charset="-122"/>
                <a:cs typeface="Calibri" pitchFamily="34" charset="-120"/>
              </a:rPr>
              <a:t>Anti-Patterns</a:t>
            </a:r>
            <a:endParaRPr lang="en-US" sz="940" dirty="0"/>
          </a:p>
        </p:txBody>
      </p:sp>
      <p:sp>
        <p:nvSpPr>
          <p:cNvPr id="13" name="Text 11"/>
          <p:cNvSpPr/>
          <p:nvPr/>
        </p:nvSpPr>
        <p:spPr>
          <a:xfrm>
            <a:off x="3246120" y="2441448"/>
            <a:ext cx="777240" cy="256032"/>
          </a:xfrm>
          <a:prstGeom prst="rect">
            <a:avLst/>
          </a:prstGeom>
          <a:noFill/>
          <a:ln/>
        </p:spPr>
        <p:txBody>
          <a:bodyPr wrap="square" lIns="0" tIns="0" rIns="0" bIns="0" rtlCol="0" anchor="ctr">
            <a:normAutofit/>
          </a:bodyPr>
          <a:lstStyle/>
          <a:p>
            <a:pPr indent="0" marL="0">
              <a:buNone/>
            </a:pPr>
            <a:r>
              <a:rPr lang="en-US" sz="940" dirty="0">
                <a:solidFill>
                  <a:srgbClr val="1E293B"/>
                </a:solidFill>
                <a:latin typeface="Calibri" pitchFamily="34" charset="0"/>
                <a:ea typeface="Calibri" pitchFamily="34" charset="-122"/>
                <a:cs typeface="Calibri" pitchFamily="34" charset="-120"/>
              </a:rPr>
              <a:t>40</a:t>
            </a:r>
            <a:endParaRPr lang="en-US" sz="940" dirty="0"/>
          </a:p>
        </p:txBody>
      </p:sp>
      <p:sp>
        <p:nvSpPr>
          <p:cNvPr id="14" name="Text 12"/>
          <p:cNvSpPr/>
          <p:nvPr/>
        </p:nvSpPr>
        <p:spPr>
          <a:xfrm>
            <a:off x="4251960" y="2441448"/>
            <a:ext cx="4343400" cy="256032"/>
          </a:xfrm>
          <a:prstGeom prst="rect">
            <a:avLst/>
          </a:prstGeom>
          <a:noFill/>
          <a:ln/>
        </p:spPr>
        <p:txBody>
          <a:bodyPr wrap="square" lIns="0" tIns="0" rIns="0" bIns="0" rtlCol="0" anchor="ctr">
            <a:normAutofit/>
          </a:bodyPr>
          <a:lstStyle/>
          <a:p>
            <a:pPr indent="0" marL="0">
              <a:buNone/>
            </a:pPr>
            <a:r>
              <a:rPr lang="en-US" sz="940" dirty="0">
                <a:solidFill>
                  <a:srgbClr val="1E293B"/>
                </a:solidFill>
                <a:latin typeface="Calibri" pitchFamily="34" charset="0"/>
                <a:ea typeface="Calibri" pitchFamily="34" charset="-122"/>
                <a:cs typeface="Calibri" pitchFamily="34" charset="-120"/>
              </a:rPr>
              <a:t>max(0, 40 - severity penalties)</a:t>
            </a:r>
            <a:endParaRPr lang="en-US" sz="940" dirty="0"/>
          </a:p>
        </p:txBody>
      </p:sp>
      <p:sp>
        <p:nvSpPr>
          <p:cNvPr id="15" name="Shape 13"/>
          <p:cNvSpPr/>
          <p:nvPr/>
        </p:nvSpPr>
        <p:spPr>
          <a:xfrm>
            <a:off x="548640" y="2743200"/>
            <a:ext cx="8046720" cy="9144"/>
          </a:xfrm>
          <a:prstGeom prst="rect">
            <a:avLst/>
          </a:prstGeom>
          <a:solidFill>
            <a:srgbClr val="D8DEE6"/>
          </a:solidFill>
          <a:ln w="12700">
            <a:solidFill>
              <a:srgbClr val="D8DEE6"/>
            </a:solidFill>
            <a:prstDash val="solid"/>
          </a:ln>
        </p:spPr>
      </p:sp>
      <p:sp>
        <p:nvSpPr>
          <p:cNvPr id="16" name="Text 14"/>
          <p:cNvSpPr/>
          <p:nvPr/>
        </p:nvSpPr>
        <p:spPr>
          <a:xfrm>
            <a:off x="548640" y="2834640"/>
            <a:ext cx="685800" cy="256032"/>
          </a:xfrm>
          <a:prstGeom prst="rect">
            <a:avLst/>
          </a:prstGeom>
          <a:noFill/>
          <a:ln/>
        </p:spPr>
        <p:txBody>
          <a:bodyPr wrap="square" lIns="0" tIns="0" rIns="0" bIns="0" rtlCol="0" anchor="ctr">
            <a:normAutofit/>
          </a:bodyPr>
          <a:lstStyle/>
          <a:p>
            <a:pPr indent="0" marL="0">
              <a:buNone/>
            </a:pPr>
            <a:r>
              <a:rPr lang="en-US" sz="1050" b="1" dirty="0">
                <a:solidFill>
                  <a:srgbClr val="0D9488"/>
                </a:solidFill>
                <a:latin typeface="Calibri" pitchFamily="34" charset="0"/>
                <a:ea typeface="Calibri" pitchFamily="34" charset="-122"/>
                <a:cs typeface="Calibri" pitchFamily="34" charset="-120"/>
              </a:rPr>
              <a:t>CQ</a:t>
            </a:r>
            <a:endParaRPr lang="en-US" sz="1050" dirty="0"/>
          </a:p>
        </p:txBody>
      </p:sp>
      <p:sp>
        <p:nvSpPr>
          <p:cNvPr id="17" name="Text 15"/>
          <p:cNvSpPr/>
          <p:nvPr/>
        </p:nvSpPr>
        <p:spPr>
          <a:xfrm>
            <a:off x="1325880" y="2834640"/>
            <a:ext cx="1828800" cy="256032"/>
          </a:xfrm>
          <a:prstGeom prst="rect">
            <a:avLst/>
          </a:prstGeom>
          <a:noFill/>
          <a:ln/>
        </p:spPr>
        <p:txBody>
          <a:bodyPr wrap="square" lIns="0" tIns="0" rIns="0" bIns="0" rtlCol="0" anchor="ctr">
            <a:normAutofit/>
          </a:bodyPr>
          <a:lstStyle/>
          <a:p>
            <a:pPr indent="0" marL="0">
              <a:buNone/>
            </a:pPr>
            <a:r>
              <a:rPr lang="en-US" sz="940" b="1" dirty="0">
                <a:solidFill>
                  <a:srgbClr val="1E293B"/>
                </a:solidFill>
                <a:latin typeface="Calibri" pitchFamily="34" charset="0"/>
                <a:ea typeface="Calibri" pitchFamily="34" charset="-122"/>
                <a:cs typeface="Calibri" pitchFamily="34" charset="-120"/>
              </a:rPr>
              <a:t>Code Quality</a:t>
            </a:r>
            <a:endParaRPr lang="en-US" sz="940" dirty="0"/>
          </a:p>
        </p:txBody>
      </p:sp>
      <p:sp>
        <p:nvSpPr>
          <p:cNvPr id="18" name="Text 16"/>
          <p:cNvSpPr/>
          <p:nvPr/>
        </p:nvSpPr>
        <p:spPr>
          <a:xfrm>
            <a:off x="3246120" y="2834640"/>
            <a:ext cx="777240" cy="256032"/>
          </a:xfrm>
          <a:prstGeom prst="rect">
            <a:avLst/>
          </a:prstGeom>
          <a:noFill/>
          <a:ln/>
        </p:spPr>
        <p:txBody>
          <a:bodyPr wrap="square" lIns="0" tIns="0" rIns="0" bIns="0" rtlCol="0" anchor="ctr">
            <a:normAutofit/>
          </a:bodyPr>
          <a:lstStyle/>
          <a:p>
            <a:pPr indent="0" marL="0">
              <a:buNone/>
            </a:pPr>
            <a:r>
              <a:rPr lang="en-US" sz="940" dirty="0">
                <a:solidFill>
                  <a:srgbClr val="1E293B"/>
                </a:solidFill>
                <a:latin typeface="Calibri" pitchFamily="34" charset="0"/>
                <a:ea typeface="Calibri" pitchFamily="34" charset="-122"/>
                <a:cs typeface="Calibri" pitchFamily="34" charset="-120"/>
              </a:rPr>
              <a:t>20</a:t>
            </a:r>
            <a:endParaRPr lang="en-US" sz="940" dirty="0"/>
          </a:p>
        </p:txBody>
      </p:sp>
      <p:sp>
        <p:nvSpPr>
          <p:cNvPr id="19" name="Text 17"/>
          <p:cNvSpPr/>
          <p:nvPr/>
        </p:nvSpPr>
        <p:spPr>
          <a:xfrm>
            <a:off x="4251960" y="2834640"/>
            <a:ext cx="4343400" cy="256032"/>
          </a:xfrm>
          <a:prstGeom prst="rect">
            <a:avLst/>
          </a:prstGeom>
          <a:noFill/>
          <a:ln/>
        </p:spPr>
        <p:txBody>
          <a:bodyPr wrap="square" lIns="0" tIns="0" rIns="0" bIns="0" rtlCol="0" anchor="ctr">
            <a:normAutofit/>
          </a:bodyPr>
          <a:lstStyle/>
          <a:p>
            <a:pPr indent="0" marL="0">
              <a:buNone/>
            </a:pPr>
            <a:r>
              <a:rPr lang="en-US" sz="940" dirty="0">
                <a:solidFill>
                  <a:srgbClr val="1E293B"/>
                </a:solidFill>
                <a:latin typeface="Calibri" pitchFamily="34" charset="0"/>
                <a:ea typeface="Calibri" pitchFamily="34" charset="-122"/>
                <a:cs typeface="Calibri" pitchFamily="34" charset="-120"/>
              </a:rPr>
              <a:t>max(0, 20 - smell-density penalty)</a:t>
            </a:r>
            <a:endParaRPr lang="en-US" sz="940" dirty="0"/>
          </a:p>
        </p:txBody>
      </p:sp>
      <p:sp>
        <p:nvSpPr>
          <p:cNvPr id="20" name="Shape 18"/>
          <p:cNvSpPr/>
          <p:nvPr/>
        </p:nvSpPr>
        <p:spPr>
          <a:xfrm>
            <a:off x="548640" y="3136392"/>
            <a:ext cx="8046720" cy="9144"/>
          </a:xfrm>
          <a:prstGeom prst="rect">
            <a:avLst/>
          </a:prstGeom>
          <a:solidFill>
            <a:srgbClr val="D8DEE6"/>
          </a:solidFill>
          <a:ln w="12700">
            <a:solidFill>
              <a:srgbClr val="D8DEE6"/>
            </a:solidFill>
            <a:prstDash val="solid"/>
          </a:ln>
        </p:spPr>
      </p:sp>
      <p:sp>
        <p:nvSpPr>
          <p:cNvPr id="21" name="Text 19"/>
          <p:cNvSpPr/>
          <p:nvPr/>
        </p:nvSpPr>
        <p:spPr>
          <a:xfrm>
            <a:off x="548640" y="3227832"/>
            <a:ext cx="685800" cy="256032"/>
          </a:xfrm>
          <a:prstGeom prst="rect">
            <a:avLst/>
          </a:prstGeom>
          <a:noFill/>
          <a:ln/>
        </p:spPr>
        <p:txBody>
          <a:bodyPr wrap="square" lIns="0" tIns="0" rIns="0" bIns="0" rtlCol="0" anchor="ctr">
            <a:normAutofit/>
          </a:bodyPr>
          <a:lstStyle/>
          <a:p>
            <a:pPr indent="0" marL="0">
              <a:buNone/>
            </a:pPr>
            <a:r>
              <a:rPr lang="en-US" sz="1050" b="1" dirty="0">
                <a:solidFill>
                  <a:srgbClr val="0D9488"/>
                </a:solidFill>
                <a:latin typeface="Calibri" pitchFamily="34" charset="0"/>
                <a:ea typeface="Calibri" pitchFamily="34" charset="-122"/>
                <a:cs typeface="Calibri" pitchFamily="34" charset="-120"/>
              </a:rPr>
              <a:t>ARCH</a:t>
            </a:r>
            <a:endParaRPr lang="en-US" sz="1050" dirty="0"/>
          </a:p>
        </p:txBody>
      </p:sp>
      <p:sp>
        <p:nvSpPr>
          <p:cNvPr id="22" name="Text 20"/>
          <p:cNvSpPr/>
          <p:nvPr/>
        </p:nvSpPr>
        <p:spPr>
          <a:xfrm>
            <a:off x="1325880" y="3227832"/>
            <a:ext cx="1828800" cy="256032"/>
          </a:xfrm>
          <a:prstGeom prst="rect">
            <a:avLst/>
          </a:prstGeom>
          <a:noFill/>
          <a:ln/>
        </p:spPr>
        <p:txBody>
          <a:bodyPr wrap="square" lIns="0" tIns="0" rIns="0" bIns="0" rtlCol="0" anchor="ctr">
            <a:normAutofit/>
          </a:bodyPr>
          <a:lstStyle/>
          <a:p>
            <a:pPr indent="0" marL="0">
              <a:buNone/>
            </a:pPr>
            <a:r>
              <a:rPr lang="en-US" sz="940" b="1" dirty="0">
                <a:solidFill>
                  <a:srgbClr val="1E293B"/>
                </a:solidFill>
                <a:latin typeface="Calibri" pitchFamily="34" charset="0"/>
                <a:ea typeface="Calibri" pitchFamily="34" charset="-122"/>
                <a:cs typeface="Calibri" pitchFamily="34" charset="-120"/>
              </a:rPr>
              <a:t>Architecture</a:t>
            </a:r>
            <a:endParaRPr lang="en-US" sz="940" dirty="0"/>
          </a:p>
        </p:txBody>
      </p:sp>
      <p:sp>
        <p:nvSpPr>
          <p:cNvPr id="23" name="Text 21"/>
          <p:cNvSpPr/>
          <p:nvPr/>
        </p:nvSpPr>
        <p:spPr>
          <a:xfrm>
            <a:off x="3246120" y="3227832"/>
            <a:ext cx="777240" cy="256032"/>
          </a:xfrm>
          <a:prstGeom prst="rect">
            <a:avLst/>
          </a:prstGeom>
          <a:noFill/>
          <a:ln/>
        </p:spPr>
        <p:txBody>
          <a:bodyPr wrap="square" lIns="0" tIns="0" rIns="0" bIns="0" rtlCol="0" anchor="ctr">
            <a:normAutofit/>
          </a:bodyPr>
          <a:lstStyle/>
          <a:p>
            <a:pPr indent="0" marL="0">
              <a:buNone/>
            </a:pPr>
            <a:r>
              <a:rPr lang="en-US" sz="940" dirty="0">
                <a:solidFill>
                  <a:srgbClr val="1E293B"/>
                </a:solidFill>
                <a:latin typeface="Calibri" pitchFamily="34" charset="0"/>
                <a:ea typeface="Calibri" pitchFamily="34" charset="-122"/>
                <a:cs typeface="Calibri" pitchFamily="34" charset="-120"/>
              </a:rPr>
              <a:t>25</a:t>
            </a:r>
            <a:endParaRPr lang="en-US" sz="940" dirty="0"/>
          </a:p>
        </p:txBody>
      </p:sp>
      <p:sp>
        <p:nvSpPr>
          <p:cNvPr id="24" name="Text 22"/>
          <p:cNvSpPr/>
          <p:nvPr/>
        </p:nvSpPr>
        <p:spPr>
          <a:xfrm>
            <a:off x="4251960" y="3227832"/>
            <a:ext cx="4343400" cy="256032"/>
          </a:xfrm>
          <a:prstGeom prst="rect">
            <a:avLst/>
          </a:prstGeom>
          <a:noFill/>
          <a:ln/>
        </p:spPr>
        <p:txBody>
          <a:bodyPr wrap="square" lIns="0" tIns="0" rIns="0" bIns="0" rtlCol="0" anchor="ctr">
            <a:normAutofit/>
          </a:bodyPr>
          <a:lstStyle/>
          <a:p>
            <a:pPr indent="0" marL="0">
              <a:buNone/>
            </a:pPr>
            <a:r>
              <a:rPr lang="en-US" sz="940" dirty="0">
                <a:solidFill>
                  <a:srgbClr val="1E293B"/>
                </a:solidFill>
                <a:latin typeface="Calibri" pitchFamily="34" charset="0"/>
                <a:ea typeface="Calibri" pitchFamily="34" charset="-122"/>
                <a:cs typeface="Calibri" pitchFamily="34" charset="-120"/>
              </a:rPr>
              <a:t>max(0, 25 - coupling/cycle penalties)</a:t>
            </a:r>
            <a:endParaRPr lang="en-US" sz="940" dirty="0"/>
          </a:p>
        </p:txBody>
      </p:sp>
      <p:sp>
        <p:nvSpPr>
          <p:cNvPr id="25" name="Shape 23"/>
          <p:cNvSpPr/>
          <p:nvPr/>
        </p:nvSpPr>
        <p:spPr>
          <a:xfrm>
            <a:off x="548640" y="3529584"/>
            <a:ext cx="8046720" cy="9144"/>
          </a:xfrm>
          <a:prstGeom prst="rect">
            <a:avLst/>
          </a:prstGeom>
          <a:solidFill>
            <a:srgbClr val="D8DEE6"/>
          </a:solidFill>
          <a:ln w="12700">
            <a:solidFill>
              <a:srgbClr val="D8DEE6"/>
            </a:solidFill>
            <a:prstDash val="solid"/>
          </a:ln>
        </p:spPr>
      </p:sp>
      <p:sp>
        <p:nvSpPr>
          <p:cNvPr id="26" name="Text 24"/>
          <p:cNvSpPr/>
          <p:nvPr/>
        </p:nvSpPr>
        <p:spPr>
          <a:xfrm>
            <a:off x="548640" y="3621024"/>
            <a:ext cx="685800" cy="256032"/>
          </a:xfrm>
          <a:prstGeom prst="rect">
            <a:avLst/>
          </a:prstGeom>
          <a:noFill/>
          <a:ln/>
        </p:spPr>
        <p:txBody>
          <a:bodyPr wrap="square" lIns="0" tIns="0" rIns="0" bIns="0" rtlCol="0" anchor="ctr">
            <a:normAutofit/>
          </a:bodyPr>
          <a:lstStyle/>
          <a:p>
            <a:pPr indent="0" marL="0">
              <a:buNone/>
            </a:pPr>
            <a:r>
              <a:rPr lang="en-US" sz="1050" b="1" dirty="0">
                <a:solidFill>
                  <a:srgbClr val="0D9488"/>
                </a:solidFill>
                <a:latin typeface="Calibri" pitchFamily="34" charset="0"/>
                <a:ea typeface="Calibri" pitchFamily="34" charset="-122"/>
                <a:cs typeface="Calibri" pitchFamily="34" charset="-120"/>
              </a:rPr>
              <a:t>SIZE</a:t>
            </a:r>
            <a:endParaRPr lang="en-US" sz="1050" dirty="0"/>
          </a:p>
        </p:txBody>
      </p:sp>
      <p:sp>
        <p:nvSpPr>
          <p:cNvPr id="27" name="Text 25"/>
          <p:cNvSpPr/>
          <p:nvPr/>
        </p:nvSpPr>
        <p:spPr>
          <a:xfrm>
            <a:off x="1325880" y="3621024"/>
            <a:ext cx="1828800" cy="256032"/>
          </a:xfrm>
          <a:prstGeom prst="rect">
            <a:avLst/>
          </a:prstGeom>
          <a:noFill/>
          <a:ln/>
        </p:spPr>
        <p:txBody>
          <a:bodyPr wrap="square" lIns="0" tIns="0" rIns="0" bIns="0" rtlCol="0" anchor="ctr">
            <a:normAutofit/>
          </a:bodyPr>
          <a:lstStyle/>
          <a:p>
            <a:pPr indent="0" marL="0">
              <a:buNone/>
            </a:pPr>
            <a:r>
              <a:rPr lang="en-US" sz="940" b="1" dirty="0">
                <a:solidFill>
                  <a:srgbClr val="1E293B"/>
                </a:solidFill>
                <a:latin typeface="Calibri" pitchFamily="34" charset="0"/>
                <a:ea typeface="Calibri" pitchFamily="34" charset="-122"/>
                <a:cs typeface="Calibri" pitchFamily="34" charset="-120"/>
              </a:rPr>
              <a:t>Service Sizing</a:t>
            </a:r>
            <a:endParaRPr lang="en-US" sz="940" dirty="0"/>
          </a:p>
        </p:txBody>
      </p:sp>
      <p:sp>
        <p:nvSpPr>
          <p:cNvPr id="28" name="Text 26"/>
          <p:cNvSpPr/>
          <p:nvPr/>
        </p:nvSpPr>
        <p:spPr>
          <a:xfrm>
            <a:off x="3246120" y="3621024"/>
            <a:ext cx="777240" cy="256032"/>
          </a:xfrm>
          <a:prstGeom prst="rect">
            <a:avLst/>
          </a:prstGeom>
          <a:noFill/>
          <a:ln/>
        </p:spPr>
        <p:txBody>
          <a:bodyPr wrap="square" lIns="0" tIns="0" rIns="0" bIns="0" rtlCol="0" anchor="ctr">
            <a:normAutofit/>
          </a:bodyPr>
          <a:lstStyle/>
          <a:p>
            <a:pPr indent="0" marL="0">
              <a:buNone/>
            </a:pPr>
            <a:r>
              <a:rPr lang="en-US" sz="940" dirty="0">
                <a:solidFill>
                  <a:srgbClr val="1E293B"/>
                </a:solidFill>
                <a:latin typeface="Calibri" pitchFamily="34" charset="0"/>
                <a:ea typeface="Calibri" pitchFamily="34" charset="-122"/>
                <a:cs typeface="Calibri" pitchFamily="34" charset="-120"/>
              </a:rPr>
              <a:t>15</a:t>
            </a:r>
            <a:endParaRPr lang="en-US" sz="940" dirty="0"/>
          </a:p>
        </p:txBody>
      </p:sp>
      <p:sp>
        <p:nvSpPr>
          <p:cNvPr id="29" name="Text 27"/>
          <p:cNvSpPr/>
          <p:nvPr/>
        </p:nvSpPr>
        <p:spPr>
          <a:xfrm>
            <a:off x="4251960" y="3621024"/>
            <a:ext cx="4343400" cy="256032"/>
          </a:xfrm>
          <a:prstGeom prst="rect">
            <a:avLst/>
          </a:prstGeom>
          <a:noFill/>
          <a:ln/>
        </p:spPr>
        <p:txBody>
          <a:bodyPr wrap="square" lIns="0" tIns="0" rIns="0" bIns="0" rtlCol="0" anchor="ctr">
            <a:normAutofit/>
          </a:bodyPr>
          <a:lstStyle/>
          <a:p>
            <a:pPr indent="0" marL="0">
              <a:buNone/>
            </a:pPr>
            <a:r>
              <a:rPr lang="en-US" sz="940" dirty="0">
                <a:solidFill>
                  <a:srgbClr val="1E293B"/>
                </a:solidFill>
                <a:latin typeface="Calibri" pitchFamily="34" charset="0"/>
                <a:ea typeface="Calibri" pitchFamily="34" charset="-122"/>
                <a:cs typeface="Calibri" pitchFamily="34" charset="-120"/>
              </a:rPr>
              <a:t>max(0, 15 - nano/god service penalties)</a:t>
            </a:r>
            <a:endParaRPr lang="en-US" sz="940" dirty="0"/>
          </a:p>
        </p:txBody>
      </p:sp>
      <p:sp>
        <p:nvSpPr>
          <p:cNvPr id="30" name="Shape 28"/>
          <p:cNvSpPr/>
          <p:nvPr/>
        </p:nvSpPr>
        <p:spPr>
          <a:xfrm>
            <a:off x="548640" y="3922776"/>
            <a:ext cx="8046720" cy="9144"/>
          </a:xfrm>
          <a:prstGeom prst="rect">
            <a:avLst/>
          </a:prstGeom>
          <a:solidFill>
            <a:srgbClr val="D8DEE6"/>
          </a:solidFill>
          <a:ln w="12700">
            <a:solidFill>
              <a:srgbClr val="D8DEE6"/>
            </a:solidFill>
            <a:prstDash val="solid"/>
          </a:ln>
        </p:spPr>
      </p:sp>
      <p:sp>
        <p:nvSpPr>
          <p:cNvPr id="31" name="Text 29"/>
          <p:cNvSpPr/>
          <p:nvPr/>
        </p:nvSpPr>
        <p:spPr>
          <a:xfrm>
            <a:off x="548640" y="4160520"/>
            <a:ext cx="1645920" cy="228600"/>
          </a:xfrm>
          <a:prstGeom prst="rect">
            <a:avLst/>
          </a:prstGeom>
          <a:noFill/>
          <a:ln/>
        </p:spPr>
        <p:txBody>
          <a:bodyPr wrap="square" lIns="0" tIns="0" rIns="0" bIns="0" rtlCol="0" anchor="ctr"/>
          <a:lstStyle/>
          <a:p>
            <a:pPr indent="0" marL="0">
              <a:buNone/>
            </a:pPr>
            <a:r>
              <a:rPr lang="en-US" sz="1100" b="1" dirty="0">
                <a:solidFill>
                  <a:srgbClr val="0F2A44"/>
                </a:solidFill>
                <a:latin typeface="Calibri" pitchFamily="34" charset="0"/>
                <a:ea typeface="Calibri" pitchFamily="34" charset="-122"/>
                <a:cs typeface="Calibri" pitchFamily="34" charset="-120"/>
              </a:rPr>
              <a:t>Grade mapping</a:t>
            </a:r>
            <a:endParaRPr lang="en-US" sz="1100" dirty="0"/>
          </a:p>
        </p:txBody>
      </p:sp>
      <p:sp>
        <p:nvSpPr>
          <p:cNvPr id="32" name="Text 30"/>
          <p:cNvSpPr/>
          <p:nvPr/>
        </p:nvSpPr>
        <p:spPr>
          <a:xfrm>
            <a:off x="2011680" y="4114800"/>
            <a:ext cx="320040" cy="256032"/>
          </a:xfrm>
          <a:prstGeom prst="rect">
            <a:avLst/>
          </a:prstGeom>
          <a:noFill/>
          <a:ln/>
        </p:spPr>
        <p:txBody>
          <a:bodyPr wrap="square" lIns="0" tIns="0" rIns="0" bIns="0" rtlCol="0" anchor="ctr"/>
          <a:lstStyle/>
          <a:p>
            <a:pPr indent="0" marL="0">
              <a:buNone/>
            </a:pPr>
            <a:r>
              <a:rPr lang="en-US" sz="1200" b="1" dirty="0">
                <a:solidFill>
                  <a:srgbClr val="0F2A44"/>
                </a:solidFill>
                <a:latin typeface="Calibri" pitchFamily="34" charset="0"/>
                <a:ea typeface="Calibri" pitchFamily="34" charset="-122"/>
                <a:cs typeface="Calibri" pitchFamily="34" charset="-120"/>
              </a:rPr>
              <a:t>A</a:t>
            </a:r>
            <a:endParaRPr lang="en-US" sz="1200" dirty="0"/>
          </a:p>
        </p:txBody>
      </p:sp>
      <p:sp>
        <p:nvSpPr>
          <p:cNvPr id="33" name="Text 31"/>
          <p:cNvSpPr/>
          <p:nvPr/>
        </p:nvSpPr>
        <p:spPr>
          <a:xfrm>
            <a:off x="2359152" y="4142232"/>
            <a:ext cx="685800" cy="219456"/>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90-100</a:t>
            </a:r>
            <a:endParaRPr lang="en-US" sz="900" dirty="0"/>
          </a:p>
        </p:txBody>
      </p:sp>
      <p:sp>
        <p:nvSpPr>
          <p:cNvPr id="34" name="Text 32"/>
          <p:cNvSpPr/>
          <p:nvPr/>
        </p:nvSpPr>
        <p:spPr>
          <a:xfrm>
            <a:off x="3182112" y="4114800"/>
            <a:ext cx="320040" cy="256032"/>
          </a:xfrm>
          <a:prstGeom prst="rect">
            <a:avLst/>
          </a:prstGeom>
          <a:noFill/>
          <a:ln/>
        </p:spPr>
        <p:txBody>
          <a:bodyPr wrap="square" lIns="0" tIns="0" rIns="0" bIns="0" rtlCol="0" anchor="ctr"/>
          <a:lstStyle/>
          <a:p>
            <a:pPr indent="0" marL="0">
              <a:buNone/>
            </a:pPr>
            <a:r>
              <a:rPr lang="en-US" sz="1200" b="1" dirty="0">
                <a:solidFill>
                  <a:srgbClr val="0F2A44"/>
                </a:solidFill>
                <a:latin typeface="Calibri" pitchFamily="34" charset="0"/>
                <a:ea typeface="Calibri" pitchFamily="34" charset="-122"/>
                <a:cs typeface="Calibri" pitchFamily="34" charset="-120"/>
              </a:rPr>
              <a:t>B</a:t>
            </a:r>
            <a:endParaRPr lang="en-US" sz="1200" dirty="0"/>
          </a:p>
        </p:txBody>
      </p:sp>
      <p:sp>
        <p:nvSpPr>
          <p:cNvPr id="35" name="Text 33"/>
          <p:cNvSpPr/>
          <p:nvPr/>
        </p:nvSpPr>
        <p:spPr>
          <a:xfrm>
            <a:off x="3529584" y="4142232"/>
            <a:ext cx="685800" cy="219456"/>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80-89</a:t>
            </a:r>
            <a:endParaRPr lang="en-US" sz="900" dirty="0"/>
          </a:p>
        </p:txBody>
      </p:sp>
      <p:sp>
        <p:nvSpPr>
          <p:cNvPr id="36" name="Text 34"/>
          <p:cNvSpPr/>
          <p:nvPr/>
        </p:nvSpPr>
        <p:spPr>
          <a:xfrm>
            <a:off x="4352544" y="4114800"/>
            <a:ext cx="320040" cy="256032"/>
          </a:xfrm>
          <a:prstGeom prst="rect">
            <a:avLst/>
          </a:prstGeom>
          <a:noFill/>
          <a:ln/>
        </p:spPr>
        <p:txBody>
          <a:bodyPr wrap="square" lIns="0" tIns="0" rIns="0" bIns="0" rtlCol="0" anchor="ctr"/>
          <a:lstStyle/>
          <a:p>
            <a:pPr indent="0" marL="0">
              <a:buNone/>
            </a:pPr>
            <a:r>
              <a:rPr lang="en-US" sz="1200" b="1" dirty="0">
                <a:solidFill>
                  <a:srgbClr val="0F2A44"/>
                </a:solidFill>
                <a:latin typeface="Calibri" pitchFamily="34" charset="0"/>
                <a:ea typeface="Calibri" pitchFamily="34" charset="-122"/>
                <a:cs typeface="Calibri" pitchFamily="34" charset="-120"/>
              </a:rPr>
              <a:t>C</a:t>
            </a:r>
            <a:endParaRPr lang="en-US" sz="1200" dirty="0"/>
          </a:p>
        </p:txBody>
      </p:sp>
      <p:sp>
        <p:nvSpPr>
          <p:cNvPr id="37" name="Text 35"/>
          <p:cNvSpPr/>
          <p:nvPr/>
        </p:nvSpPr>
        <p:spPr>
          <a:xfrm>
            <a:off x="4700016" y="4142232"/>
            <a:ext cx="685800" cy="219456"/>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65-79</a:t>
            </a:r>
            <a:endParaRPr lang="en-US" sz="900" dirty="0"/>
          </a:p>
        </p:txBody>
      </p:sp>
      <p:sp>
        <p:nvSpPr>
          <p:cNvPr id="38" name="Text 36"/>
          <p:cNvSpPr/>
          <p:nvPr/>
        </p:nvSpPr>
        <p:spPr>
          <a:xfrm>
            <a:off x="5522976" y="4114800"/>
            <a:ext cx="320040" cy="256032"/>
          </a:xfrm>
          <a:prstGeom prst="rect">
            <a:avLst/>
          </a:prstGeom>
          <a:noFill/>
          <a:ln/>
        </p:spPr>
        <p:txBody>
          <a:bodyPr wrap="square" lIns="0" tIns="0" rIns="0" bIns="0" rtlCol="0" anchor="ctr"/>
          <a:lstStyle/>
          <a:p>
            <a:pPr indent="0" marL="0">
              <a:buNone/>
            </a:pPr>
            <a:r>
              <a:rPr lang="en-US" sz="1200" b="1" dirty="0">
                <a:solidFill>
                  <a:srgbClr val="0F2A44"/>
                </a:solidFill>
                <a:latin typeface="Calibri" pitchFamily="34" charset="0"/>
                <a:ea typeface="Calibri" pitchFamily="34" charset="-122"/>
                <a:cs typeface="Calibri" pitchFamily="34" charset="-120"/>
              </a:rPr>
              <a:t>D</a:t>
            </a:r>
            <a:endParaRPr lang="en-US" sz="1200" dirty="0"/>
          </a:p>
        </p:txBody>
      </p:sp>
      <p:sp>
        <p:nvSpPr>
          <p:cNvPr id="39" name="Text 37"/>
          <p:cNvSpPr/>
          <p:nvPr/>
        </p:nvSpPr>
        <p:spPr>
          <a:xfrm>
            <a:off x="5870448" y="4142232"/>
            <a:ext cx="685800" cy="219456"/>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50-64</a:t>
            </a:r>
            <a:endParaRPr lang="en-US" sz="900" dirty="0"/>
          </a:p>
        </p:txBody>
      </p:sp>
      <p:sp>
        <p:nvSpPr>
          <p:cNvPr id="40" name="Text 38"/>
          <p:cNvSpPr/>
          <p:nvPr/>
        </p:nvSpPr>
        <p:spPr>
          <a:xfrm>
            <a:off x="6693408" y="4114800"/>
            <a:ext cx="320040" cy="256032"/>
          </a:xfrm>
          <a:prstGeom prst="rect">
            <a:avLst/>
          </a:prstGeom>
          <a:noFill/>
          <a:ln/>
        </p:spPr>
        <p:txBody>
          <a:bodyPr wrap="square" lIns="0" tIns="0" rIns="0" bIns="0" rtlCol="0" anchor="ctr"/>
          <a:lstStyle/>
          <a:p>
            <a:pPr indent="0" marL="0">
              <a:buNone/>
            </a:pPr>
            <a:r>
              <a:rPr lang="en-US" sz="1200" b="1" dirty="0">
                <a:solidFill>
                  <a:srgbClr val="0F2A44"/>
                </a:solidFill>
                <a:latin typeface="Calibri" pitchFamily="34" charset="0"/>
                <a:ea typeface="Calibri" pitchFamily="34" charset="-122"/>
                <a:cs typeface="Calibri" pitchFamily="34" charset="-120"/>
              </a:rPr>
              <a:t>F</a:t>
            </a:r>
            <a:endParaRPr lang="en-US" sz="1200" dirty="0"/>
          </a:p>
        </p:txBody>
      </p:sp>
      <p:sp>
        <p:nvSpPr>
          <p:cNvPr id="41" name="Text 39"/>
          <p:cNvSpPr/>
          <p:nvPr/>
        </p:nvSpPr>
        <p:spPr>
          <a:xfrm>
            <a:off x="7040880" y="4142232"/>
            <a:ext cx="685800" cy="219456"/>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&lt; 50</a:t>
            </a:r>
            <a:endParaRPr lang="en-US" sz="900" dirty="0"/>
          </a:p>
        </p:txBody>
      </p:sp>
      <p:sp>
        <p:nvSpPr>
          <p:cNvPr id="42" name="Text 40"/>
          <p:cNvSpPr/>
          <p:nvPr/>
        </p:nvSpPr>
        <p:spPr>
          <a:xfrm>
            <a:off x="7452360" y="4864608"/>
            <a:ext cx="1143000" cy="22860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Appendix C</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56032"/>
            <a:ext cx="8046720" cy="502920"/>
          </a:xfrm>
          <a:prstGeom prst="rect">
            <a:avLst/>
          </a:prstGeom>
          <a:noFill/>
          <a:ln/>
        </p:spPr>
        <p:txBody>
          <a:bodyPr wrap="square" lIns="0" tIns="0" rIns="0" bIns="0" rtlCol="0" anchor="ctr"/>
          <a:lstStyle/>
          <a:p>
            <a:pPr indent="0" marL="0">
              <a:buNone/>
            </a:pPr>
            <a:r>
              <a:rPr lang="en-US" sz="2500" b="1" dirty="0">
                <a:solidFill>
                  <a:srgbClr val="0F2A44"/>
                </a:solidFill>
                <a:latin typeface="Calibri" pitchFamily="34" charset="0"/>
                <a:ea typeface="Calibri" pitchFamily="34" charset="-122"/>
                <a:cs typeface="Calibri" pitchFamily="34" charset="-120"/>
              </a:rPr>
              <a:t>Annex: anti-pattern definitions</a:t>
            </a:r>
            <a:endParaRPr lang="en-US" sz="2500" dirty="0"/>
          </a:p>
        </p:txBody>
      </p:sp>
      <p:sp>
        <p:nvSpPr>
          <p:cNvPr id="3" name="Shape 1"/>
          <p:cNvSpPr/>
          <p:nvPr/>
        </p:nvSpPr>
        <p:spPr>
          <a:xfrm>
            <a:off x="548640" y="841248"/>
            <a:ext cx="8046720" cy="13716"/>
          </a:xfrm>
          <a:prstGeom prst="rect">
            <a:avLst/>
          </a:prstGeom>
          <a:solidFill>
            <a:srgbClr val="D8DEE6"/>
          </a:solidFill>
          <a:ln w="12700">
            <a:solidFill>
              <a:srgbClr val="D8DEE6"/>
            </a:solidFill>
            <a:prstDash val="solid"/>
          </a:ln>
        </p:spPr>
      </p:sp>
      <p:sp>
        <p:nvSpPr>
          <p:cNvPr id="4" name="Shape 2"/>
          <p:cNvSpPr/>
          <p:nvPr/>
        </p:nvSpPr>
        <p:spPr>
          <a:xfrm>
            <a:off x="548640" y="1005840"/>
            <a:ext cx="301752" cy="32004"/>
          </a:xfrm>
          <a:prstGeom prst="rect">
            <a:avLst/>
          </a:prstGeom>
          <a:solidFill>
            <a:srgbClr val="0D9488"/>
          </a:solidFill>
          <a:ln w="12700">
            <a:solidFill>
              <a:srgbClr val="0D9488"/>
            </a:solidFill>
            <a:prstDash val="solid"/>
          </a:ln>
        </p:spPr>
      </p:sp>
      <p:sp>
        <p:nvSpPr>
          <p:cNvPr id="5" name="Text 3"/>
          <p:cNvSpPr/>
          <p:nvPr/>
        </p:nvSpPr>
        <p:spPr>
          <a:xfrm>
            <a:off x="548640" y="1106424"/>
            <a:ext cx="3703320" cy="210312"/>
          </a:xfrm>
          <a:prstGeom prst="rect">
            <a:avLst/>
          </a:prstGeom>
          <a:noFill/>
          <a:ln/>
        </p:spPr>
        <p:txBody>
          <a:bodyPr wrap="square" lIns="0" tIns="0" rIns="0" bIns="0" rtlCol="0" anchor="ctr"/>
          <a:lstStyle/>
          <a:p>
            <a:pPr indent="0" marL="0">
              <a:buNone/>
            </a:pPr>
            <a:r>
              <a:rPr lang="en-US" sz="1050" b="1" dirty="0">
                <a:solidFill>
                  <a:srgbClr val="0F2A44"/>
                </a:solidFill>
                <a:latin typeface="Calibri" pitchFamily="34" charset="0"/>
                <a:ea typeface="Calibri" pitchFamily="34" charset="-122"/>
                <a:cs typeface="Calibri" pitchFamily="34" charset="-120"/>
              </a:rPr>
              <a:t>Shared Database</a:t>
            </a:r>
            <a:endParaRPr lang="en-US" sz="1050" dirty="0"/>
          </a:p>
        </p:txBody>
      </p:sp>
      <p:sp>
        <p:nvSpPr>
          <p:cNvPr id="6" name="Text 4"/>
          <p:cNvSpPr/>
          <p:nvPr/>
        </p:nvSpPr>
        <p:spPr>
          <a:xfrm>
            <a:off x="548640" y="1335024"/>
            <a:ext cx="3703320" cy="292608"/>
          </a:xfrm>
          <a:prstGeom prst="rect">
            <a:avLst/>
          </a:prstGeom>
          <a:noFill/>
          <a:ln/>
        </p:spPr>
        <p:txBody>
          <a:bodyPr wrap="square" lIns="0" tIns="0" rIns="0" bIns="0" rtlCol="0" anchor="ctr">
            <a:normAutofit/>
          </a:bodyPr>
          <a:lstStyle/>
          <a:p>
            <a:pPr indent="0" marL="0">
              <a:buNone/>
            </a:pPr>
            <a:r>
              <a:rPr lang="en-US" sz="830" dirty="0">
                <a:solidFill>
                  <a:srgbClr val="1E293B"/>
                </a:solidFill>
                <a:latin typeface="Calibri" pitchFamily="34" charset="0"/>
                <a:ea typeface="Calibri" pitchFamily="34" charset="-122"/>
                <a:cs typeface="Calibri" pitchFamily="34" charset="-120"/>
              </a:rPr>
              <a:t>Multiple services read from or write to the same database schema, weakening data ownership and independent deployment.</a:t>
            </a:r>
            <a:endParaRPr lang="en-US" sz="830" dirty="0"/>
          </a:p>
        </p:txBody>
      </p:sp>
      <p:sp>
        <p:nvSpPr>
          <p:cNvPr id="7" name="Shape 5"/>
          <p:cNvSpPr/>
          <p:nvPr/>
        </p:nvSpPr>
        <p:spPr>
          <a:xfrm>
            <a:off x="548640" y="1627632"/>
            <a:ext cx="3703320" cy="7315"/>
          </a:xfrm>
          <a:prstGeom prst="rect">
            <a:avLst/>
          </a:prstGeom>
          <a:solidFill>
            <a:srgbClr val="D8DEE6"/>
          </a:solidFill>
          <a:ln w="12700">
            <a:solidFill>
              <a:srgbClr val="D8DEE6"/>
            </a:solidFill>
            <a:prstDash val="solid"/>
          </a:ln>
        </p:spPr>
      </p:sp>
      <p:sp>
        <p:nvSpPr>
          <p:cNvPr id="8" name="Shape 6"/>
          <p:cNvSpPr/>
          <p:nvPr/>
        </p:nvSpPr>
        <p:spPr>
          <a:xfrm>
            <a:off x="548640" y="1700784"/>
            <a:ext cx="301752" cy="32004"/>
          </a:xfrm>
          <a:prstGeom prst="rect">
            <a:avLst/>
          </a:prstGeom>
          <a:solidFill>
            <a:srgbClr val="0D9488"/>
          </a:solidFill>
          <a:ln w="12700">
            <a:solidFill>
              <a:srgbClr val="0D9488"/>
            </a:solidFill>
            <a:prstDash val="solid"/>
          </a:ln>
        </p:spPr>
      </p:sp>
      <p:sp>
        <p:nvSpPr>
          <p:cNvPr id="9" name="Text 7"/>
          <p:cNvSpPr/>
          <p:nvPr/>
        </p:nvSpPr>
        <p:spPr>
          <a:xfrm>
            <a:off x="548640" y="1801368"/>
            <a:ext cx="3703320" cy="210312"/>
          </a:xfrm>
          <a:prstGeom prst="rect">
            <a:avLst/>
          </a:prstGeom>
          <a:noFill/>
          <a:ln/>
        </p:spPr>
        <p:txBody>
          <a:bodyPr wrap="square" lIns="0" tIns="0" rIns="0" bIns="0" rtlCol="0" anchor="ctr"/>
          <a:lstStyle/>
          <a:p>
            <a:pPr indent="0" marL="0">
              <a:buNone/>
            </a:pPr>
            <a:r>
              <a:rPr lang="en-US" sz="1050" b="1" dirty="0">
                <a:solidFill>
                  <a:srgbClr val="0F2A44"/>
                </a:solidFill>
                <a:latin typeface="Calibri" pitchFamily="34" charset="0"/>
                <a:ea typeface="Calibri" pitchFamily="34" charset="-122"/>
                <a:cs typeface="Calibri" pitchFamily="34" charset="-120"/>
              </a:rPr>
              <a:t>Cyclic Dependency</a:t>
            </a:r>
            <a:endParaRPr lang="en-US" sz="1050" dirty="0"/>
          </a:p>
        </p:txBody>
      </p:sp>
      <p:sp>
        <p:nvSpPr>
          <p:cNvPr id="10" name="Text 8"/>
          <p:cNvSpPr/>
          <p:nvPr/>
        </p:nvSpPr>
        <p:spPr>
          <a:xfrm>
            <a:off x="548640" y="2029968"/>
            <a:ext cx="3703320" cy="292608"/>
          </a:xfrm>
          <a:prstGeom prst="rect">
            <a:avLst/>
          </a:prstGeom>
          <a:noFill/>
          <a:ln/>
        </p:spPr>
        <p:txBody>
          <a:bodyPr wrap="square" lIns="0" tIns="0" rIns="0" bIns="0" rtlCol="0" anchor="ctr">
            <a:normAutofit/>
          </a:bodyPr>
          <a:lstStyle/>
          <a:p>
            <a:pPr indent="0" marL="0">
              <a:buNone/>
            </a:pPr>
            <a:r>
              <a:rPr lang="en-US" sz="830" dirty="0">
                <a:solidFill>
                  <a:srgbClr val="1E293B"/>
                </a:solidFill>
                <a:latin typeface="Calibri" pitchFamily="34" charset="0"/>
                <a:ea typeface="Calibri" pitchFamily="34" charset="-122"/>
                <a:cs typeface="Calibri" pitchFamily="34" charset="-120"/>
              </a:rPr>
              <a:t>Two or more services depend on each other through a directed cycle, making isolated deployment and reasoning harder.</a:t>
            </a:r>
            <a:endParaRPr lang="en-US" sz="830" dirty="0"/>
          </a:p>
        </p:txBody>
      </p:sp>
      <p:sp>
        <p:nvSpPr>
          <p:cNvPr id="11" name="Shape 9"/>
          <p:cNvSpPr/>
          <p:nvPr/>
        </p:nvSpPr>
        <p:spPr>
          <a:xfrm>
            <a:off x="548640" y="2322576"/>
            <a:ext cx="3703320" cy="7315"/>
          </a:xfrm>
          <a:prstGeom prst="rect">
            <a:avLst/>
          </a:prstGeom>
          <a:solidFill>
            <a:srgbClr val="D8DEE6"/>
          </a:solidFill>
          <a:ln w="12700">
            <a:solidFill>
              <a:srgbClr val="D8DEE6"/>
            </a:solidFill>
            <a:prstDash val="solid"/>
          </a:ln>
        </p:spPr>
      </p:sp>
      <p:sp>
        <p:nvSpPr>
          <p:cNvPr id="12" name="Shape 10"/>
          <p:cNvSpPr/>
          <p:nvPr/>
        </p:nvSpPr>
        <p:spPr>
          <a:xfrm>
            <a:off x="548640" y="2395728"/>
            <a:ext cx="301752" cy="32004"/>
          </a:xfrm>
          <a:prstGeom prst="rect">
            <a:avLst/>
          </a:prstGeom>
          <a:solidFill>
            <a:srgbClr val="0D9488"/>
          </a:solidFill>
          <a:ln w="12700">
            <a:solidFill>
              <a:srgbClr val="0D9488"/>
            </a:solidFill>
            <a:prstDash val="solid"/>
          </a:ln>
        </p:spPr>
      </p:sp>
      <p:sp>
        <p:nvSpPr>
          <p:cNvPr id="13" name="Text 11"/>
          <p:cNvSpPr/>
          <p:nvPr/>
        </p:nvSpPr>
        <p:spPr>
          <a:xfrm>
            <a:off x="548640" y="2496312"/>
            <a:ext cx="3703320" cy="210312"/>
          </a:xfrm>
          <a:prstGeom prst="rect">
            <a:avLst/>
          </a:prstGeom>
          <a:noFill/>
          <a:ln/>
        </p:spPr>
        <p:txBody>
          <a:bodyPr wrap="square" lIns="0" tIns="0" rIns="0" bIns="0" rtlCol="0" anchor="ctr"/>
          <a:lstStyle/>
          <a:p>
            <a:pPr indent="0" marL="0">
              <a:buNone/>
            </a:pPr>
            <a:r>
              <a:rPr lang="en-US" sz="1050" b="1" dirty="0">
                <a:solidFill>
                  <a:srgbClr val="0F2A44"/>
                </a:solidFill>
                <a:latin typeface="Calibri" pitchFamily="34" charset="0"/>
                <a:ea typeface="Calibri" pitchFamily="34" charset="-122"/>
                <a:cs typeface="Calibri" pitchFamily="34" charset="-120"/>
              </a:rPr>
              <a:t>Chatty Service</a:t>
            </a:r>
            <a:endParaRPr lang="en-US" sz="1050" dirty="0"/>
          </a:p>
        </p:txBody>
      </p:sp>
      <p:sp>
        <p:nvSpPr>
          <p:cNvPr id="14" name="Text 12"/>
          <p:cNvSpPr/>
          <p:nvPr/>
        </p:nvSpPr>
        <p:spPr>
          <a:xfrm>
            <a:off x="548640" y="2724912"/>
            <a:ext cx="3703320" cy="292608"/>
          </a:xfrm>
          <a:prstGeom prst="rect">
            <a:avLst/>
          </a:prstGeom>
          <a:noFill/>
          <a:ln/>
        </p:spPr>
        <p:txBody>
          <a:bodyPr wrap="square" lIns="0" tIns="0" rIns="0" bIns="0" rtlCol="0" anchor="ctr">
            <a:normAutofit/>
          </a:bodyPr>
          <a:lstStyle/>
          <a:p>
            <a:pPr indent="0" marL="0">
              <a:buNone/>
            </a:pPr>
            <a:r>
              <a:rPr lang="en-US" sz="830" dirty="0">
                <a:solidFill>
                  <a:srgbClr val="1E293B"/>
                </a:solidFill>
                <a:latin typeface="Calibri" pitchFamily="34" charset="0"/>
                <a:ea typeface="Calibri" pitchFamily="34" charset="-122"/>
                <a:cs typeface="Calibri" pitchFamily="34" charset="-120"/>
              </a:rPr>
              <a:t>Services communicate through many fine-grained remote calls, increasing latency, network fragility, and runtime coupling.</a:t>
            </a:r>
            <a:endParaRPr lang="en-US" sz="830" dirty="0"/>
          </a:p>
        </p:txBody>
      </p:sp>
      <p:sp>
        <p:nvSpPr>
          <p:cNvPr id="15" name="Shape 13"/>
          <p:cNvSpPr/>
          <p:nvPr/>
        </p:nvSpPr>
        <p:spPr>
          <a:xfrm>
            <a:off x="548640" y="3017520"/>
            <a:ext cx="3703320" cy="7315"/>
          </a:xfrm>
          <a:prstGeom prst="rect">
            <a:avLst/>
          </a:prstGeom>
          <a:solidFill>
            <a:srgbClr val="D8DEE6"/>
          </a:solidFill>
          <a:ln w="12700">
            <a:solidFill>
              <a:srgbClr val="D8DEE6"/>
            </a:solidFill>
            <a:prstDash val="solid"/>
          </a:ln>
        </p:spPr>
      </p:sp>
      <p:sp>
        <p:nvSpPr>
          <p:cNvPr id="16" name="Shape 14"/>
          <p:cNvSpPr/>
          <p:nvPr/>
        </p:nvSpPr>
        <p:spPr>
          <a:xfrm>
            <a:off x="548640" y="3090672"/>
            <a:ext cx="301752" cy="32004"/>
          </a:xfrm>
          <a:prstGeom prst="rect">
            <a:avLst/>
          </a:prstGeom>
          <a:solidFill>
            <a:srgbClr val="0D9488"/>
          </a:solidFill>
          <a:ln w="12700">
            <a:solidFill>
              <a:srgbClr val="0D9488"/>
            </a:solidFill>
            <a:prstDash val="solid"/>
          </a:ln>
        </p:spPr>
      </p:sp>
      <p:sp>
        <p:nvSpPr>
          <p:cNvPr id="17" name="Text 15"/>
          <p:cNvSpPr/>
          <p:nvPr/>
        </p:nvSpPr>
        <p:spPr>
          <a:xfrm>
            <a:off x="548640" y="3191256"/>
            <a:ext cx="3703320" cy="210312"/>
          </a:xfrm>
          <a:prstGeom prst="rect">
            <a:avLst/>
          </a:prstGeom>
          <a:noFill/>
          <a:ln/>
        </p:spPr>
        <p:txBody>
          <a:bodyPr wrap="square" lIns="0" tIns="0" rIns="0" bIns="0" rtlCol="0" anchor="ctr"/>
          <a:lstStyle/>
          <a:p>
            <a:pPr indent="0" marL="0">
              <a:buNone/>
            </a:pPr>
            <a:r>
              <a:rPr lang="en-US" sz="1050" b="1" dirty="0">
                <a:solidFill>
                  <a:srgbClr val="0F2A44"/>
                </a:solidFill>
                <a:latin typeface="Calibri" pitchFamily="34" charset="0"/>
                <a:ea typeface="Calibri" pitchFamily="34" charset="-122"/>
                <a:cs typeface="Calibri" pitchFamily="34" charset="-120"/>
              </a:rPr>
              <a:t>Hardcoded Endpoints</a:t>
            </a:r>
            <a:endParaRPr lang="en-US" sz="1050" dirty="0"/>
          </a:p>
        </p:txBody>
      </p:sp>
      <p:sp>
        <p:nvSpPr>
          <p:cNvPr id="18" name="Text 16"/>
          <p:cNvSpPr/>
          <p:nvPr/>
        </p:nvSpPr>
        <p:spPr>
          <a:xfrm>
            <a:off x="548640" y="3419856"/>
            <a:ext cx="3703320" cy="292608"/>
          </a:xfrm>
          <a:prstGeom prst="rect">
            <a:avLst/>
          </a:prstGeom>
          <a:noFill/>
          <a:ln/>
        </p:spPr>
        <p:txBody>
          <a:bodyPr wrap="square" lIns="0" tIns="0" rIns="0" bIns="0" rtlCol="0" anchor="ctr">
            <a:normAutofit/>
          </a:bodyPr>
          <a:lstStyle/>
          <a:p>
            <a:pPr indent="0" marL="0">
              <a:buNone/>
            </a:pPr>
            <a:r>
              <a:rPr lang="en-US" sz="830" dirty="0">
                <a:solidFill>
                  <a:srgbClr val="1E293B"/>
                </a:solidFill>
                <a:latin typeface="Calibri" pitchFamily="34" charset="0"/>
                <a:ea typeface="Calibri" pitchFamily="34" charset="-122"/>
                <a:cs typeface="Calibri" pitchFamily="34" charset="-120"/>
              </a:rPr>
              <a:t>Service URLs, IP addresses, ports, or localhost values are embedded in source code instead of external configuration.</a:t>
            </a:r>
            <a:endParaRPr lang="en-US" sz="830" dirty="0"/>
          </a:p>
        </p:txBody>
      </p:sp>
      <p:sp>
        <p:nvSpPr>
          <p:cNvPr id="19" name="Shape 17"/>
          <p:cNvSpPr/>
          <p:nvPr/>
        </p:nvSpPr>
        <p:spPr>
          <a:xfrm>
            <a:off x="548640" y="3712464"/>
            <a:ext cx="3703320" cy="7315"/>
          </a:xfrm>
          <a:prstGeom prst="rect">
            <a:avLst/>
          </a:prstGeom>
          <a:solidFill>
            <a:srgbClr val="D8DEE6"/>
          </a:solidFill>
          <a:ln w="12700">
            <a:solidFill>
              <a:srgbClr val="D8DEE6"/>
            </a:solidFill>
            <a:prstDash val="solid"/>
          </a:ln>
        </p:spPr>
      </p:sp>
      <p:sp>
        <p:nvSpPr>
          <p:cNvPr id="20" name="Shape 18"/>
          <p:cNvSpPr/>
          <p:nvPr/>
        </p:nvSpPr>
        <p:spPr>
          <a:xfrm>
            <a:off x="548640" y="3785616"/>
            <a:ext cx="301752" cy="32004"/>
          </a:xfrm>
          <a:prstGeom prst="rect">
            <a:avLst/>
          </a:prstGeom>
          <a:solidFill>
            <a:srgbClr val="0D9488"/>
          </a:solidFill>
          <a:ln w="12700">
            <a:solidFill>
              <a:srgbClr val="0D9488"/>
            </a:solidFill>
            <a:prstDash val="solid"/>
          </a:ln>
        </p:spPr>
      </p:sp>
      <p:sp>
        <p:nvSpPr>
          <p:cNvPr id="21" name="Text 19"/>
          <p:cNvSpPr/>
          <p:nvPr/>
        </p:nvSpPr>
        <p:spPr>
          <a:xfrm>
            <a:off x="548640" y="3886200"/>
            <a:ext cx="3703320" cy="210312"/>
          </a:xfrm>
          <a:prstGeom prst="rect">
            <a:avLst/>
          </a:prstGeom>
          <a:noFill/>
          <a:ln/>
        </p:spPr>
        <p:txBody>
          <a:bodyPr wrap="square" lIns="0" tIns="0" rIns="0" bIns="0" rtlCol="0" anchor="ctr"/>
          <a:lstStyle/>
          <a:p>
            <a:pPr indent="0" marL="0">
              <a:buNone/>
            </a:pPr>
            <a:r>
              <a:rPr lang="en-US" sz="1050" b="1" dirty="0">
                <a:solidFill>
                  <a:srgbClr val="0F2A44"/>
                </a:solidFill>
                <a:latin typeface="Calibri" pitchFamily="34" charset="0"/>
                <a:ea typeface="Calibri" pitchFamily="34" charset="-122"/>
                <a:cs typeface="Calibri" pitchFamily="34" charset="-120"/>
              </a:rPr>
              <a:t>ESB Misuse</a:t>
            </a:r>
            <a:endParaRPr lang="en-US" sz="1050" dirty="0"/>
          </a:p>
        </p:txBody>
      </p:sp>
      <p:sp>
        <p:nvSpPr>
          <p:cNvPr id="22" name="Text 20"/>
          <p:cNvSpPr/>
          <p:nvPr/>
        </p:nvSpPr>
        <p:spPr>
          <a:xfrm>
            <a:off x="548640" y="4114800"/>
            <a:ext cx="3703320" cy="292608"/>
          </a:xfrm>
          <a:prstGeom prst="rect">
            <a:avLst/>
          </a:prstGeom>
          <a:noFill/>
          <a:ln/>
        </p:spPr>
        <p:txBody>
          <a:bodyPr wrap="square" lIns="0" tIns="0" rIns="0" bIns="0" rtlCol="0" anchor="ctr">
            <a:normAutofit/>
          </a:bodyPr>
          <a:lstStyle/>
          <a:p>
            <a:pPr indent="0" marL="0">
              <a:buNone/>
            </a:pPr>
            <a:r>
              <a:rPr lang="en-US" sz="830" dirty="0">
                <a:solidFill>
                  <a:srgbClr val="1E293B"/>
                </a:solidFill>
                <a:latin typeface="Calibri" pitchFamily="34" charset="0"/>
                <a:ea typeface="Calibri" pitchFamily="34" charset="-122"/>
                <a:cs typeface="Calibri" pitchFamily="34" charset="-120"/>
              </a:rPr>
              <a:t>A service behaves as a central mediator for many calls, recreating an enterprise-service-bus bottleneck inside a microservice system.</a:t>
            </a:r>
            <a:endParaRPr lang="en-US" sz="830" dirty="0"/>
          </a:p>
        </p:txBody>
      </p:sp>
      <p:sp>
        <p:nvSpPr>
          <p:cNvPr id="23" name="Shape 21"/>
          <p:cNvSpPr/>
          <p:nvPr/>
        </p:nvSpPr>
        <p:spPr>
          <a:xfrm>
            <a:off x="548640" y="4407408"/>
            <a:ext cx="3703320" cy="7315"/>
          </a:xfrm>
          <a:prstGeom prst="rect">
            <a:avLst/>
          </a:prstGeom>
          <a:solidFill>
            <a:srgbClr val="D8DEE6"/>
          </a:solidFill>
          <a:ln w="12700">
            <a:solidFill>
              <a:srgbClr val="D8DEE6"/>
            </a:solidFill>
            <a:prstDash val="solid"/>
          </a:ln>
        </p:spPr>
      </p:sp>
      <p:sp>
        <p:nvSpPr>
          <p:cNvPr id="24" name="Shape 22"/>
          <p:cNvSpPr/>
          <p:nvPr/>
        </p:nvSpPr>
        <p:spPr>
          <a:xfrm>
            <a:off x="4617720" y="1005840"/>
            <a:ext cx="301752" cy="32004"/>
          </a:xfrm>
          <a:prstGeom prst="rect">
            <a:avLst/>
          </a:prstGeom>
          <a:solidFill>
            <a:srgbClr val="1C4E80"/>
          </a:solidFill>
          <a:ln w="12700">
            <a:solidFill>
              <a:srgbClr val="1C4E80"/>
            </a:solidFill>
            <a:prstDash val="solid"/>
          </a:ln>
        </p:spPr>
      </p:sp>
      <p:sp>
        <p:nvSpPr>
          <p:cNvPr id="25" name="Text 23"/>
          <p:cNvSpPr/>
          <p:nvPr/>
        </p:nvSpPr>
        <p:spPr>
          <a:xfrm>
            <a:off x="4617720" y="1106424"/>
            <a:ext cx="3703320" cy="210312"/>
          </a:xfrm>
          <a:prstGeom prst="rect">
            <a:avLst/>
          </a:prstGeom>
          <a:noFill/>
          <a:ln/>
        </p:spPr>
        <p:txBody>
          <a:bodyPr wrap="square" lIns="0" tIns="0" rIns="0" bIns="0" rtlCol="0" anchor="ctr"/>
          <a:lstStyle/>
          <a:p>
            <a:pPr indent="0" marL="0">
              <a:buNone/>
            </a:pPr>
            <a:r>
              <a:rPr lang="en-US" sz="1050" b="1" dirty="0">
                <a:solidFill>
                  <a:srgbClr val="0F2A44"/>
                </a:solidFill>
                <a:latin typeface="Calibri" pitchFamily="34" charset="0"/>
                <a:ea typeface="Calibri" pitchFamily="34" charset="-122"/>
                <a:cs typeface="Calibri" pitchFamily="34" charset="-120"/>
              </a:rPr>
              <a:t>Distributed Monolith</a:t>
            </a:r>
            <a:endParaRPr lang="en-US" sz="1050" dirty="0"/>
          </a:p>
        </p:txBody>
      </p:sp>
      <p:sp>
        <p:nvSpPr>
          <p:cNvPr id="26" name="Text 24"/>
          <p:cNvSpPr/>
          <p:nvPr/>
        </p:nvSpPr>
        <p:spPr>
          <a:xfrm>
            <a:off x="4617720" y="1335024"/>
            <a:ext cx="3703320" cy="292608"/>
          </a:xfrm>
          <a:prstGeom prst="rect">
            <a:avLst/>
          </a:prstGeom>
          <a:noFill/>
          <a:ln/>
        </p:spPr>
        <p:txBody>
          <a:bodyPr wrap="square" lIns="0" tIns="0" rIns="0" bIns="0" rtlCol="0" anchor="ctr">
            <a:normAutofit/>
          </a:bodyPr>
          <a:lstStyle/>
          <a:p>
            <a:pPr indent="0" marL="0">
              <a:buNone/>
            </a:pPr>
            <a:r>
              <a:rPr lang="en-US" sz="830" dirty="0">
                <a:solidFill>
                  <a:srgbClr val="1E293B"/>
                </a:solidFill>
                <a:latin typeface="Calibri" pitchFamily="34" charset="0"/>
                <a:ea typeface="Calibri" pitchFamily="34" charset="-122"/>
                <a:cs typeface="Calibri" pitchFamily="34" charset="-120"/>
              </a:rPr>
              <a:t>The system is split into services, but dense coupling, cycles, or shared data force it to change and deploy like one unit.</a:t>
            </a:r>
            <a:endParaRPr lang="en-US" sz="830" dirty="0"/>
          </a:p>
        </p:txBody>
      </p:sp>
      <p:sp>
        <p:nvSpPr>
          <p:cNvPr id="27" name="Shape 25"/>
          <p:cNvSpPr/>
          <p:nvPr/>
        </p:nvSpPr>
        <p:spPr>
          <a:xfrm>
            <a:off x="4617720" y="1627632"/>
            <a:ext cx="3703320" cy="7315"/>
          </a:xfrm>
          <a:prstGeom prst="rect">
            <a:avLst/>
          </a:prstGeom>
          <a:solidFill>
            <a:srgbClr val="D8DEE6"/>
          </a:solidFill>
          <a:ln w="12700">
            <a:solidFill>
              <a:srgbClr val="D8DEE6"/>
            </a:solidFill>
            <a:prstDash val="solid"/>
          </a:ln>
        </p:spPr>
      </p:sp>
      <p:sp>
        <p:nvSpPr>
          <p:cNvPr id="28" name="Shape 26"/>
          <p:cNvSpPr/>
          <p:nvPr/>
        </p:nvSpPr>
        <p:spPr>
          <a:xfrm>
            <a:off x="4617720" y="1700784"/>
            <a:ext cx="301752" cy="32004"/>
          </a:xfrm>
          <a:prstGeom prst="rect">
            <a:avLst/>
          </a:prstGeom>
          <a:solidFill>
            <a:srgbClr val="1C4E80"/>
          </a:solidFill>
          <a:ln w="12700">
            <a:solidFill>
              <a:srgbClr val="1C4E80"/>
            </a:solidFill>
            <a:prstDash val="solid"/>
          </a:ln>
        </p:spPr>
      </p:sp>
      <p:sp>
        <p:nvSpPr>
          <p:cNvPr id="29" name="Text 27"/>
          <p:cNvSpPr/>
          <p:nvPr/>
        </p:nvSpPr>
        <p:spPr>
          <a:xfrm>
            <a:off x="4617720" y="1801368"/>
            <a:ext cx="3703320" cy="210312"/>
          </a:xfrm>
          <a:prstGeom prst="rect">
            <a:avLst/>
          </a:prstGeom>
          <a:noFill/>
          <a:ln/>
        </p:spPr>
        <p:txBody>
          <a:bodyPr wrap="square" lIns="0" tIns="0" rIns="0" bIns="0" rtlCol="0" anchor="ctr"/>
          <a:lstStyle/>
          <a:p>
            <a:pPr indent="0" marL="0">
              <a:buNone/>
            </a:pPr>
            <a:r>
              <a:rPr lang="en-US" sz="1050" b="1" dirty="0">
                <a:solidFill>
                  <a:srgbClr val="0F2A44"/>
                </a:solidFill>
                <a:latin typeface="Calibri" pitchFamily="34" charset="0"/>
                <a:ea typeface="Calibri" pitchFamily="34" charset="-122"/>
                <a:cs typeface="Calibri" pitchFamily="34" charset="-120"/>
              </a:rPr>
              <a:t>API Versioning Absence</a:t>
            </a:r>
            <a:endParaRPr lang="en-US" sz="1050" dirty="0"/>
          </a:p>
        </p:txBody>
      </p:sp>
      <p:sp>
        <p:nvSpPr>
          <p:cNvPr id="30" name="Text 28"/>
          <p:cNvSpPr/>
          <p:nvPr/>
        </p:nvSpPr>
        <p:spPr>
          <a:xfrm>
            <a:off x="4617720" y="2029968"/>
            <a:ext cx="3703320" cy="292608"/>
          </a:xfrm>
          <a:prstGeom prst="rect">
            <a:avLst/>
          </a:prstGeom>
          <a:noFill/>
          <a:ln/>
        </p:spPr>
        <p:txBody>
          <a:bodyPr wrap="square" lIns="0" tIns="0" rIns="0" bIns="0" rtlCol="0" anchor="ctr">
            <a:normAutofit/>
          </a:bodyPr>
          <a:lstStyle/>
          <a:p>
            <a:pPr indent="0" marL="0">
              <a:buNone/>
            </a:pPr>
            <a:r>
              <a:rPr lang="en-US" sz="830" dirty="0">
                <a:solidFill>
                  <a:srgbClr val="1E293B"/>
                </a:solidFill>
                <a:latin typeface="Calibri" pitchFamily="34" charset="0"/>
                <a:ea typeface="Calibri" pitchFamily="34" charset="-122"/>
                <a:cs typeface="Calibri" pitchFamily="34" charset="-120"/>
              </a:rPr>
              <a:t>Public endpoints lack explicit version markers, making incompatible API evolution risky for existing clients.</a:t>
            </a:r>
            <a:endParaRPr lang="en-US" sz="830" dirty="0"/>
          </a:p>
        </p:txBody>
      </p:sp>
      <p:sp>
        <p:nvSpPr>
          <p:cNvPr id="31" name="Shape 29"/>
          <p:cNvSpPr/>
          <p:nvPr/>
        </p:nvSpPr>
        <p:spPr>
          <a:xfrm>
            <a:off x="4617720" y="2322576"/>
            <a:ext cx="3703320" cy="7315"/>
          </a:xfrm>
          <a:prstGeom prst="rect">
            <a:avLst/>
          </a:prstGeom>
          <a:solidFill>
            <a:srgbClr val="D8DEE6"/>
          </a:solidFill>
          <a:ln w="12700">
            <a:solidFill>
              <a:srgbClr val="D8DEE6"/>
            </a:solidFill>
            <a:prstDash val="solid"/>
          </a:ln>
        </p:spPr>
      </p:sp>
      <p:sp>
        <p:nvSpPr>
          <p:cNvPr id="32" name="Shape 30"/>
          <p:cNvSpPr/>
          <p:nvPr/>
        </p:nvSpPr>
        <p:spPr>
          <a:xfrm>
            <a:off x="4617720" y="2395728"/>
            <a:ext cx="301752" cy="32004"/>
          </a:xfrm>
          <a:prstGeom prst="rect">
            <a:avLst/>
          </a:prstGeom>
          <a:solidFill>
            <a:srgbClr val="1C4E80"/>
          </a:solidFill>
          <a:ln w="12700">
            <a:solidFill>
              <a:srgbClr val="1C4E80"/>
            </a:solidFill>
            <a:prstDash val="solid"/>
          </a:ln>
        </p:spPr>
      </p:sp>
      <p:sp>
        <p:nvSpPr>
          <p:cNvPr id="33" name="Text 31"/>
          <p:cNvSpPr/>
          <p:nvPr/>
        </p:nvSpPr>
        <p:spPr>
          <a:xfrm>
            <a:off x="4617720" y="2496312"/>
            <a:ext cx="3703320" cy="210312"/>
          </a:xfrm>
          <a:prstGeom prst="rect">
            <a:avLst/>
          </a:prstGeom>
          <a:noFill/>
          <a:ln/>
        </p:spPr>
        <p:txBody>
          <a:bodyPr wrap="square" lIns="0" tIns="0" rIns="0" bIns="0" rtlCol="0" anchor="ctr"/>
          <a:lstStyle/>
          <a:p>
            <a:pPr indent="0" marL="0">
              <a:buNone/>
            </a:pPr>
            <a:r>
              <a:rPr lang="en-US" sz="1050" b="1" dirty="0">
                <a:solidFill>
                  <a:srgbClr val="0F2A44"/>
                </a:solidFill>
                <a:latin typeface="Calibri" pitchFamily="34" charset="0"/>
                <a:ea typeface="Calibri" pitchFamily="34" charset="-122"/>
                <a:cs typeface="Calibri" pitchFamily="34" charset="-120"/>
              </a:rPr>
              <a:t>Wrong Cuts</a:t>
            </a:r>
            <a:endParaRPr lang="en-US" sz="1050" dirty="0"/>
          </a:p>
        </p:txBody>
      </p:sp>
      <p:sp>
        <p:nvSpPr>
          <p:cNvPr id="34" name="Text 32"/>
          <p:cNvSpPr/>
          <p:nvPr/>
        </p:nvSpPr>
        <p:spPr>
          <a:xfrm>
            <a:off x="4617720" y="2724912"/>
            <a:ext cx="3703320" cy="292608"/>
          </a:xfrm>
          <a:prstGeom prst="rect">
            <a:avLst/>
          </a:prstGeom>
          <a:noFill/>
          <a:ln/>
        </p:spPr>
        <p:txBody>
          <a:bodyPr wrap="square" lIns="0" tIns="0" rIns="0" bIns="0" rtlCol="0" anchor="ctr">
            <a:normAutofit/>
          </a:bodyPr>
          <a:lstStyle/>
          <a:p>
            <a:pPr indent="0" marL="0">
              <a:buNone/>
            </a:pPr>
            <a:r>
              <a:rPr lang="en-US" sz="830" dirty="0">
                <a:solidFill>
                  <a:srgbClr val="1E293B"/>
                </a:solidFill>
                <a:latin typeface="Calibri" pitchFamily="34" charset="0"/>
                <a:ea typeface="Calibri" pitchFamily="34" charset="-122"/>
                <a:cs typeface="Calibri" pitchFamily="34" charset="-120"/>
              </a:rPr>
              <a:t>Service boundaries split responsibilities poorly, visible through bidirectional dependencies or strongly coupled service pairs.</a:t>
            </a:r>
            <a:endParaRPr lang="en-US" sz="830" dirty="0"/>
          </a:p>
        </p:txBody>
      </p:sp>
      <p:sp>
        <p:nvSpPr>
          <p:cNvPr id="35" name="Shape 33"/>
          <p:cNvSpPr/>
          <p:nvPr/>
        </p:nvSpPr>
        <p:spPr>
          <a:xfrm>
            <a:off x="4617720" y="3017520"/>
            <a:ext cx="3703320" cy="7315"/>
          </a:xfrm>
          <a:prstGeom prst="rect">
            <a:avLst/>
          </a:prstGeom>
          <a:solidFill>
            <a:srgbClr val="D8DEE6"/>
          </a:solidFill>
          <a:ln w="12700">
            <a:solidFill>
              <a:srgbClr val="D8DEE6"/>
            </a:solidFill>
            <a:prstDash val="solid"/>
          </a:ln>
        </p:spPr>
      </p:sp>
      <p:sp>
        <p:nvSpPr>
          <p:cNvPr id="36" name="Shape 34"/>
          <p:cNvSpPr/>
          <p:nvPr/>
        </p:nvSpPr>
        <p:spPr>
          <a:xfrm>
            <a:off x="4617720" y="3090672"/>
            <a:ext cx="301752" cy="32004"/>
          </a:xfrm>
          <a:prstGeom prst="rect">
            <a:avLst/>
          </a:prstGeom>
          <a:solidFill>
            <a:srgbClr val="1C4E80"/>
          </a:solidFill>
          <a:ln w="12700">
            <a:solidFill>
              <a:srgbClr val="1C4E80"/>
            </a:solidFill>
            <a:prstDash val="solid"/>
          </a:ln>
        </p:spPr>
      </p:sp>
      <p:sp>
        <p:nvSpPr>
          <p:cNvPr id="37" name="Text 35"/>
          <p:cNvSpPr/>
          <p:nvPr/>
        </p:nvSpPr>
        <p:spPr>
          <a:xfrm>
            <a:off x="4617720" y="3191256"/>
            <a:ext cx="3703320" cy="210312"/>
          </a:xfrm>
          <a:prstGeom prst="rect">
            <a:avLst/>
          </a:prstGeom>
          <a:noFill/>
          <a:ln/>
        </p:spPr>
        <p:txBody>
          <a:bodyPr wrap="square" lIns="0" tIns="0" rIns="0" bIns="0" rtlCol="0" anchor="ctr"/>
          <a:lstStyle/>
          <a:p>
            <a:pPr indent="0" marL="0">
              <a:buNone/>
            </a:pPr>
            <a:r>
              <a:rPr lang="en-US" sz="1050" b="1" dirty="0">
                <a:solidFill>
                  <a:srgbClr val="0F2A44"/>
                </a:solidFill>
                <a:latin typeface="Calibri" pitchFamily="34" charset="0"/>
                <a:ea typeface="Calibri" pitchFamily="34" charset="-122"/>
                <a:cs typeface="Calibri" pitchFamily="34" charset="-120"/>
              </a:rPr>
              <a:t>Nano Service</a:t>
            </a:r>
            <a:endParaRPr lang="en-US" sz="1050" dirty="0"/>
          </a:p>
        </p:txBody>
      </p:sp>
      <p:sp>
        <p:nvSpPr>
          <p:cNvPr id="38" name="Text 36"/>
          <p:cNvSpPr/>
          <p:nvPr/>
        </p:nvSpPr>
        <p:spPr>
          <a:xfrm>
            <a:off x="4617720" y="3419856"/>
            <a:ext cx="3703320" cy="292608"/>
          </a:xfrm>
          <a:prstGeom prst="rect">
            <a:avLst/>
          </a:prstGeom>
          <a:noFill/>
          <a:ln/>
        </p:spPr>
        <p:txBody>
          <a:bodyPr wrap="square" lIns="0" tIns="0" rIns="0" bIns="0" rtlCol="0" anchor="ctr">
            <a:normAutofit/>
          </a:bodyPr>
          <a:lstStyle/>
          <a:p>
            <a:pPr indent="0" marL="0">
              <a:buNone/>
            </a:pPr>
            <a:r>
              <a:rPr lang="en-US" sz="830" dirty="0">
                <a:solidFill>
                  <a:srgbClr val="1E293B"/>
                </a:solidFill>
                <a:latin typeface="Calibri" pitchFamily="34" charset="0"/>
                <a:ea typeface="Calibri" pitchFamily="34" charset="-122"/>
                <a:cs typeface="Calibri" pitchFamily="34" charset="-120"/>
              </a:rPr>
              <a:t>A service is so small that deployment, monitoring, and operational overhead outweigh its autonomy benefits.</a:t>
            </a:r>
            <a:endParaRPr lang="en-US" sz="830" dirty="0"/>
          </a:p>
        </p:txBody>
      </p:sp>
      <p:sp>
        <p:nvSpPr>
          <p:cNvPr id="39" name="Shape 37"/>
          <p:cNvSpPr/>
          <p:nvPr/>
        </p:nvSpPr>
        <p:spPr>
          <a:xfrm>
            <a:off x="4617720" y="3712464"/>
            <a:ext cx="3703320" cy="7315"/>
          </a:xfrm>
          <a:prstGeom prst="rect">
            <a:avLst/>
          </a:prstGeom>
          <a:solidFill>
            <a:srgbClr val="D8DEE6"/>
          </a:solidFill>
          <a:ln w="12700">
            <a:solidFill>
              <a:srgbClr val="D8DEE6"/>
            </a:solidFill>
            <a:prstDash val="solid"/>
          </a:ln>
        </p:spPr>
      </p:sp>
      <p:sp>
        <p:nvSpPr>
          <p:cNvPr id="40" name="Shape 38"/>
          <p:cNvSpPr/>
          <p:nvPr/>
        </p:nvSpPr>
        <p:spPr>
          <a:xfrm>
            <a:off x="4617720" y="3785616"/>
            <a:ext cx="301752" cy="32004"/>
          </a:xfrm>
          <a:prstGeom prst="rect">
            <a:avLst/>
          </a:prstGeom>
          <a:solidFill>
            <a:srgbClr val="1C4E80"/>
          </a:solidFill>
          <a:ln w="12700">
            <a:solidFill>
              <a:srgbClr val="1C4E80"/>
            </a:solidFill>
            <a:prstDash val="solid"/>
          </a:ln>
        </p:spPr>
      </p:sp>
      <p:sp>
        <p:nvSpPr>
          <p:cNvPr id="41" name="Text 39"/>
          <p:cNvSpPr/>
          <p:nvPr/>
        </p:nvSpPr>
        <p:spPr>
          <a:xfrm>
            <a:off x="4617720" y="3886200"/>
            <a:ext cx="3703320" cy="210312"/>
          </a:xfrm>
          <a:prstGeom prst="rect">
            <a:avLst/>
          </a:prstGeom>
          <a:noFill/>
          <a:ln/>
        </p:spPr>
        <p:txBody>
          <a:bodyPr wrap="square" lIns="0" tIns="0" rIns="0" bIns="0" rtlCol="0" anchor="ctr"/>
          <a:lstStyle/>
          <a:p>
            <a:pPr indent="0" marL="0">
              <a:buNone/>
            </a:pPr>
            <a:r>
              <a:rPr lang="en-US" sz="1050" b="1" dirty="0">
                <a:solidFill>
                  <a:srgbClr val="0F2A44"/>
                </a:solidFill>
                <a:latin typeface="Calibri" pitchFamily="34" charset="0"/>
                <a:ea typeface="Calibri" pitchFamily="34" charset="-122"/>
                <a:cs typeface="Calibri" pitchFamily="34" charset="-120"/>
              </a:rPr>
              <a:t>God Service</a:t>
            </a:r>
            <a:endParaRPr lang="en-US" sz="1050" dirty="0"/>
          </a:p>
        </p:txBody>
      </p:sp>
      <p:sp>
        <p:nvSpPr>
          <p:cNvPr id="42" name="Text 40"/>
          <p:cNvSpPr/>
          <p:nvPr/>
        </p:nvSpPr>
        <p:spPr>
          <a:xfrm>
            <a:off x="4617720" y="4114800"/>
            <a:ext cx="3703320" cy="292608"/>
          </a:xfrm>
          <a:prstGeom prst="rect">
            <a:avLst/>
          </a:prstGeom>
          <a:noFill/>
          <a:ln/>
        </p:spPr>
        <p:txBody>
          <a:bodyPr wrap="square" lIns="0" tIns="0" rIns="0" bIns="0" rtlCol="0" anchor="ctr">
            <a:normAutofit/>
          </a:bodyPr>
          <a:lstStyle/>
          <a:p>
            <a:pPr indent="0" marL="0">
              <a:buNone/>
            </a:pPr>
            <a:r>
              <a:rPr lang="en-US" sz="830" dirty="0">
                <a:solidFill>
                  <a:srgbClr val="1E293B"/>
                </a:solidFill>
                <a:latin typeface="Calibri" pitchFamily="34" charset="0"/>
                <a:ea typeface="Calibri" pitchFamily="34" charset="-122"/>
                <a:cs typeface="Calibri" pitchFamily="34" charset="-120"/>
              </a:rPr>
              <a:t>A service concentrates too many responsibilities, often evidenced by very large or low-cohesion classes inside it.</a:t>
            </a:r>
            <a:endParaRPr lang="en-US" sz="830" dirty="0"/>
          </a:p>
        </p:txBody>
      </p:sp>
      <p:sp>
        <p:nvSpPr>
          <p:cNvPr id="43" name="Shape 41"/>
          <p:cNvSpPr/>
          <p:nvPr/>
        </p:nvSpPr>
        <p:spPr>
          <a:xfrm>
            <a:off x="4617720" y="4407408"/>
            <a:ext cx="3703320" cy="7315"/>
          </a:xfrm>
          <a:prstGeom prst="rect">
            <a:avLst/>
          </a:prstGeom>
          <a:solidFill>
            <a:srgbClr val="D8DEE6"/>
          </a:solidFill>
          <a:ln w="12700">
            <a:solidFill>
              <a:srgbClr val="D8DEE6"/>
            </a:solidFill>
            <a:prstDash val="solid"/>
          </a:ln>
        </p:spPr>
      </p:sp>
      <p:sp>
        <p:nvSpPr>
          <p:cNvPr id="44" name="Shape 42"/>
          <p:cNvSpPr/>
          <p:nvPr/>
        </p:nvSpPr>
        <p:spPr>
          <a:xfrm>
            <a:off x="548640" y="4498848"/>
            <a:ext cx="457200" cy="36576"/>
          </a:xfrm>
          <a:prstGeom prst="rect">
            <a:avLst/>
          </a:prstGeom>
          <a:solidFill>
            <a:srgbClr val="0D9488"/>
          </a:solidFill>
          <a:ln w="12700">
            <a:solidFill>
              <a:srgbClr val="0D9488"/>
            </a:solidFill>
            <a:prstDash val="solid"/>
          </a:ln>
        </p:spPr>
      </p:sp>
      <p:sp>
        <p:nvSpPr>
          <p:cNvPr id="45" name="Text 43"/>
          <p:cNvSpPr/>
          <p:nvPr/>
        </p:nvSpPr>
        <p:spPr>
          <a:xfrm>
            <a:off x="548640" y="4590288"/>
            <a:ext cx="8046720" cy="237744"/>
          </a:xfrm>
          <a:prstGeom prst="rect">
            <a:avLst/>
          </a:prstGeom>
          <a:noFill/>
          <a:ln/>
        </p:spPr>
        <p:txBody>
          <a:bodyPr wrap="square" lIns="0" tIns="0" rIns="0" bIns="0" rtlCol="0" anchor="ctr"/>
          <a:lstStyle/>
          <a:p>
            <a:pPr indent="0" marL="0">
              <a:buNone/>
            </a:pPr>
            <a:r>
              <a:rPr lang="en-US" sz="950" i="1" dirty="0">
                <a:solidFill>
                  <a:srgbClr val="64748B"/>
                </a:solidFill>
                <a:latin typeface="Calibri" pitchFamily="34" charset="0"/>
                <a:ea typeface="Calibri" pitchFamily="34" charset="-122"/>
                <a:cs typeface="Calibri" pitchFamily="34" charset="-120"/>
              </a:rPr>
              <a:t>Use this slide when asked what a detector is conceptually; use the next annex when asked how it is detected.</a:t>
            </a:r>
            <a:endParaRPr lang="en-US" sz="950" dirty="0"/>
          </a:p>
        </p:txBody>
      </p:sp>
      <p:sp>
        <p:nvSpPr>
          <p:cNvPr id="46" name="Text 44"/>
          <p:cNvSpPr/>
          <p:nvPr/>
        </p:nvSpPr>
        <p:spPr>
          <a:xfrm>
            <a:off x="7452360" y="4864608"/>
            <a:ext cx="1143000" cy="22860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Appendix D</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56032"/>
            <a:ext cx="8046720" cy="502920"/>
          </a:xfrm>
          <a:prstGeom prst="rect">
            <a:avLst/>
          </a:prstGeom>
          <a:noFill/>
          <a:ln/>
        </p:spPr>
        <p:txBody>
          <a:bodyPr wrap="square" lIns="0" tIns="0" rIns="0" bIns="0" rtlCol="0" anchor="ctr"/>
          <a:lstStyle/>
          <a:p>
            <a:pPr indent="0" marL="0">
              <a:buNone/>
            </a:pPr>
            <a:r>
              <a:rPr lang="en-US" sz="2500" b="1" dirty="0">
                <a:solidFill>
                  <a:srgbClr val="0F2A44"/>
                </a:solidFill>
                <a:latin typeface="Calibri" pitchFamily="34" charset="0"/>
                <a:ea typeface="Calibri" pitchFamily="34" charset="-122"/>
                <a:cs typeface="Calibri" pitchFamily="34" charset="-120"/>
              </a:rPr>
              <a:t>Annex: detector thresholds</a:t>
            </a:r>
            <a:endParaRPr lang="en-US" sz="2500" dirty="0"/>
          </a:p>
        </p:txBody>
      </p:sp>
      <p:sp>
        <p:nvSpPr>
          <p:cNvPr id="3" name="Shape 1"/>
          <p:cNvSpPr/>
          <p:nvPr/>
        </p:nvSpPr>
        <p:spPr>
          <a:xfrm>
            <a:off x="548640" y="841248"/>
            <a:ext cx="8046720" cy="13716"/>
          </a:xfrm>
          <a:prstGeom prst="rect">
            <a:avLst/>
          </a:prstGeom>
          <a:solidFill>
            <a:srgbClr val="D8DEE6"/>
          </a:solidFill>
          <a:ln w="12700">
            <a:solidFill>
              <a:srgbClr val="D8DEE6"/>
            </a:solidFill>
            <a:prstDash val="solid"/>
          </a:ln>
        </p:spPr>
      </p:sp>
      <p:sp>
        <p:nvSpPr>
          <p:cNvPr id="4" name="Text 2"/>
          <p:cNvSpPr/>
          <p:nvPr/>
        </p:nvSpPr>
        <p:spPr>
          <a:xfrm>
            <a:off x="548640" y="1005840"/>
            <a:ext cx="1234440" cy="228600"/>
          </a:xfrm>
          <a:prstGeom prst="rect">
            <a:avLst/>
          </a:prstGeom>
          <a:noFill/>
          <a:ln/>
        </p:spPr>
        <p:txBody>
          <a:bodyPr wrap="square" lIns="0" tIns="0" rIns="0" bIns="0" rtlCol="0" anchor="ctr"/>
          <a:lstStyle/>
          <a:p>
            <a:pPr indent="0" marL="0">
              <a:buNone/>
            </a:pPr>
            <a:r>
              <a:rPr lang="en-US" sz="780" b="1" spc="110" kern="0" dirty="0">
                <a:solidFill>
                  <a:srgbClr val="0F2A44"/>
                </a:solidFill>
                <a:latin typeface="Calibri" pitchFamily="34" charset="0"/>
                <a:ea typeface="Calibri" pitchFamily="34" charset="-122"/>
                <a:cs typeface="Calibri" pitchFamily="34" charset="-120"/>
              </a:rPr>
              <a:t>DETECTOR</a:t>
            </a:r>
            <a:endParaRPr lang="en-US" sz="780" dirty="0"/>
          </a:p>
        </p:txBody>
      </p:sp>
      <p:sp>
        <p:nvSpPr>
          <p:cNvPr id="5" name="Text 3"/>
          <p:cNvSpPr/>
          <p:nvPr/>
        </p:nvSpPr>
        <p:spPr>
          <a:xfrm>
            <a:off x="1691640" y="1005840"/>
            <a:ext cx="2423160" cy="228600"/>
          </a:xfrm>
          <a:prstGeom prst="rect">
            <a:avLst/>
          </a:prstGeom>
          <a:noFill/>
          <a:ln/>
        </p:spPr>
        <p:txBody>
          <a:bodyPr wrap="square" lIns="0" tIns="0" rIns="0" bIns="0" rtlCol="0" anchor="ctr"/>
          <a:lstStyle/>
          <a:p>
            <a:pPr indent="0" marL="0">
              <a:buNone/>
            </a:pPr>
            <a:r>
              <a:rPr lang="en-US" sz="780" b="1" spc="110" kern="0" dirty="0">
                <a:solidFill>
                  <a:srgbClr val="0F2A44"/>
                </a:solidFill>
                <a:latin typeface="Calibri" pitchFamily="34" charset="0"/>
                <a:ea typeface="Calibri" pitchFamily="34" charset="-122"/>
                <a:cs typeface="Calibri" pitchFamily="34" charset="-120"/>
              </a:rPr>
              <a:t>SIGNAL</a:t>
            </a:r>
            <a:endParaRPr lang="en-US" sz="780" dirty="0"/>
          </a:p>
        </p:txBody>
      </p:sp>
      <p:sp>
        <p:nvSpPr>
          <p:cNvPr id="6" name="Text 4"/>
          <p:cNvSpPr/>
          <p:nvPr/>
        </p:nvSpPr>
        <p:spPr>
          <a:xfrm>
            <a:off x="4251960" y="1005840"/>
            <a:ext cx="1325880" cy="228600"/>
          </a:xfrm>
          <a:prstGeom prst="rect">
            <a:avLst/>
          </a:prstGeom>
          <a:noFill/>
          <a:ln/>
        </p:spPr>
        <p:txBody>
          <a:bodyPr wrap="square" lIns="0" tIns="0" rIns="0" bIns="0" rtlCol="0" anchor="ctr"/>
          <a:lstStyle/>
          <a:p>
            <a:pPr indent="0" marL="0">
              <a:buNone/>
            </a:pPr>
            <a:r>
              <a:rPr lang="en-US" sz="780" b="1" spc="110" kern="0" dirty="0">
                <a:solidFill>
                  <a:srgbClr val="0F2A44"/>
                </a:solidFill>
                <a:latin typeface="Calibri" pitchFamily="34" charset="0"/>
                <a:ea typeface="Calibri" pitchFamily="34" charset="-122"/>
                <a:cs typeface="Calibri" pitchFamily="34" charset="-120"/>
              </a:rPr>
              <a:t>THRESHOLD</a:t>
            </a:r>
            <a:endParaRPr lang="en-US" sz="780" dirty="0"/>
          </a:p>
        </p:txBody>
      </p:sp>
      <p:sp>
        <p:nvSpPr>
          <p:cNvPr id="7" name="Text 5"/>
          <p:cNvSpPr/>
          <p:nvPr/>
        </p:nvSpPr>
        <p:spPr>
          <a:xfrm>
            <a:off x="5715000" y="1005840"/>
            <a:ext cx="685800" cy="228600"/>
          </a:xfrm>
          <a:prstGeom prst="rect">
            <a:avLst/>
          </a:prstGeom>
          <a:noFill/>
          <a:ln/>
        </p:spPr>
        <p:txBody>
          <a:bodyPr wrap="square" lIns="0" tIns="0" rIns="0" bIns="0" rtlCol="0" anchor="ctr"/>
          <a:lstStyle/>
          <a:p>
            <a:pPr indent="0" marL="0">
              <a:buNone/>
            </a:pPr>
            <a:r>
              <a:rPr lang="en-US" sz="780" b="1" spc="110" kern="0" dirty="0">
                <a:solidFill>
                  <a:srgbClr val="0F2A44"/>
                </a:solidFill>
                <a:latin typeface="Calibri" pitchFamily="34" charset="0"/>
                <a:ea typeface="Calibri" pitchFamily="34" charset="-122"/>
                <a:cs typeface="Calibri" pitchFamily="34" charset="-120"/>
              </a:rPr>
              <a:t>SEVERITY</a:t>
            </a:r>
            <a:endParaRPr lang="en-US" sz="780" dirty="0"/>
          </a:p>
        </p:txBody>
      </p:sp>
      <p:sp>
        <p:nvSpPr>
          <p:cNvPr id="8" name="Text 6"/>
          <p:cNvSpPr/>
          <p:nvPr/>
        </p:nvSpPr>
        <p:spPr>
          <a:xfrm>
            <a:off x="6537960" y="1005840"/>
            <a:ext cx="2057400" cy="228600"/>
          </a:xfrm>
          <a:prstGeom prst="rect">
            <a:avLst/>
          </a:prstGeom>
          <a:noFill/>
          <a:ln/>
        </p:spPr>
        <p:txBody>
          <a:bodyPr wrap="square" lIns="0" tIns="0" rIns="0" bIns="0" rtlCol="0" anchor="ctr"/>
          <a:lstStyle/>
          <a:p>
            <a:pPr indent="0" marL="0">
              <a:buNone/>
            </a:pPr>
            <a:r>
              <a:rPr lang="en-US" sz="780" b="1" spc="110" kern="0" dirty="0">
                <a:solidFill>
                  <a:srgbClr val="0F2A44"/>
                </a:solidFill>
                <a:latin typeface="Calibri" pitchFamily="34" charset="0"/>
                <a:ea typeface="Calibri" pitchFamily="34" charset="-122"/>
                <a:cs typeface="Calibri" pitchFamily="34" charset="-120"/>
              </a:rPr>
              <a:t>RATIONALE</a:t>
            </a:r>
            <a:endParaRPr lang="en-US" sz="780" dirty="0"/>
          </a:p>
        </p:txBody>
      </p:sp>
      <p:sp>
        <p:nvSpPr>
          <p:cNvPr id="9" name="Shape 7"/>
          <p:cNvSpPr/>
          <p:nvPr/>
        </p:nvSpPr>
        <p:spPr>
          <a:xfrm>
            <a:off x="548640" y="1298448"/>
            <a:ext cx="8046720" cy="13716"/>
          </a:xfrm>
          <a:prstGeom prst="rect">
            <a:avLst/>
          </a:prstGeom>
          <a:solidFill>
            <a:srgbClr val="D8DEE6"/>
          </a:solidFill>
          <a:ln w="12700">
            <a:solidFill>
              <a:srgbClr val="D8DEE6"/>
            </a:solidFill>
            <a:prstDash val="solid"/>
          </a:ln>
        </p:spPr>
      </p:sp>
      <p:sp>
        <p:nvSpPr>
          <p:cNvPr id="10" name="Text 8"/>
          <p:cNvSpPr/>
          <p:nvPr/>
        </p:nvSpPr>
        <p:spPr>
          <a:xfrm>
            <a:off x="548640" y="1408176"/>
            <a:ext cx="1234440" cy="219456"/>
          </a:xfrm>
          <a:prstGeom prst="rect">
            <a:avLst/>
          </a:prstGeom>
          <a:noFill/>
          <a:ln/>
        </p:spPr>
        <p:txBody>
          <a:bodyPr wrap="square" lIns="0" tIns="0" rIns="0" bIns="0" rtlCol="0" anchor="ctr">
            <a:normAutofit/>
          </a:bodyPr>
          <a:lstStyle/>
          <a:p>
            <a:pPr indent="0" marL="0">
              <a:buNone/>
            </a:pPr>
            <a:r>
              <a:rPr lang="en-US" sz="870" b="1" dirty="0">
                <a:solidFill>
                  <a:srgbClr val="1E293B"/>
                </a:solidFill>
                <a:latin typeface="Calibri" pitchFamily="34" charset="0"/>
                <a:ea typeface="Calibri" pitchFamily="34" charset="-122"/>
                <a:cs typeface="Calibri" pitchFamily="34" charset="-120"/>
              </a:rPr>
              <a:t>Shared DB</a:t>
            </a:r>
            <a:endParaRPr lang="en-US" sz="870" dirty="0"/>
          </a:p>
        </p:txBody>
      </p:sp>
      <p:sp>
        <p:nvSpPr>
          <p:cNvPr id="11" name="Text 9"/>
          <p:cNvSpPr/>
          <p:nvPr/>
        </p:nvSpPr>
        <p:spPr>
          <a:xfrm>
            <a:off x="1691640" y="1408176"/>
            <a:ext cx="2423160" cy="219456"/>
          </a:xfrm>
          <a:prstGeom prst="rect">
            <a:avLst/>
          </a:prstGeom>
          <a:noFill/>
          <a:ln/>
        </p:spPr>
        <p:txBody>
          <a:bodyPr wrap="square" lIns="0" tIns="0" rIns="0" bIns="0" rtlCol="0" anchor="ctr">
            <a:normAutofit/>
          </a:bodyPr>
          <a:lstStyle/>
          <a:p>
            <a:pPr indent="0" marL="0">
              <a:buNone/>
            </a:pPr>
            <a:r>
              <a:rPr lang="en-US" sz="770" dirty="0">
                <a:solidFill>
                  <a:srgbClr val="1E293B"/>
                </a:solidFill>
                <a:latin typeface="Calibri" pitchFamily="34" charset="0"/>
                <a:ea typeface="Calibri" pitchFamily="34" charset="-122"/>
                <a:cs typeface="Calibri" pitchFamily="34" charset="-120"/>
              </a:rPr>
              <a:t>same datasource URL in &gt;1 service</a:t>
            </a:r>
            <a:endParaRPr lang="en-US" sz="770" dirty="0"/>
          </a:p>
        </p:txBody>
      </p:sp>
      <p:sp>
        <p:nvSpPr>
          <p:cNvPr id="12" name="Text 10"/>
          <p:cNvSpPr/>
          <p:nvPr/>
        </p:nvSpPr>
        <p:spPr>
          <a:xfrm>
            <a:off x="4251960" y="1408176"/>
            <a:ext cx="1325880" cy="219456"/>
          </a:xfrm>
          <a:prstGeom prst="rect">
            <a:avLst/>
          </a:prstGeom>
          <a:noFill/>
          <a:ln/>
        </p:spPr>
        <p:txBody>
          <a:bodyPr wrap="square" lIns="0" tIns="0" rIns="0" bIns="0" rtlCol="0" anchor="ctr">
            <a:normAutofit/>
          </a:bodyPr>
          <a:lstStyle/>
          <a:p>
            <a:pPr indent="0" marL="0">
              <a:buNone/>
            </a:pPr>
            <a:r>
              <a:rPr lang="en-US" sz="770" dirty="0">
                <a:solidFill>
                  <a:srgbClr val="1E293B"/>
                </a:solidFill>
                <a:latin typeface="Calibri" pitchFamily="34" charset="0"/>
                <a:ea typeface="Calibri" pitchFamily="34" charset="-122"/>
                <a:cs typeface="Calibri" pitchFamily="34" charset="-120"/>
              </a:rPr>
              <a:t>&gt;1 service</a:t>
            </a:r>
            <a:endParaRPr lang="en-US" sz="770" dirty="0"/>
          </a:p>
        </p:txBody>
      </p:sp>
      <p:sp>
        <p:nvSpPr>
          <p:cNvPr id="13" name="Text 11"/>
          <p:cNvSpPr/>
          <p:nvPr/>
        </p:nvSpPr>
        <p:spPr>
          <a:xfrm>
            <a:off x="5715000" y="1408176"/>
            <a:ext cx="685800" cy="219456"/>
          </a:xfrm>
          <a:prstGeom prst="rect">
            <a:avLst/>
          </a:prstGeom>
          <a:noFill/>
          <a:ln/>
        </p:spPr>
        <p:txBody>
          <a:bodyPr wrap="square" lIns="0" tIns="0" rIns="0" bIns="0" rtlCol="0" anchor="ctr">
            <a:normAutofit/>
          </a:bodyPr>
          <a:lstStyle/>
          <a:p>
            <a:pPr indent="0" marL="0">
              <a:buNone/>
            </a:pPr>
            <a:r>
              <a:rPr lang="en-US" sz="770" b="1" dirty="0">
                <a:solidFill>
                  <a:srgbClr val="D97706"/>
                </a:solidFill>
                <a:latin typeface="Calibri" pitchFamily="34" charset="0"/>
                <a:ea typeface="Calibri" pitchFamily="34" charset="-122"/>
                <a:cs typeface="Calibri" pitchFamily="34" charset="-120"/>
              </a:rPr>
              <a:t>High</a:t>
            </a:r>
            <a:endParaRPr lang="en-US" sz="770" dirty="0"/>
          </a:p>
        </p:txBody>
      </p:sp>
      <p:sp>
        <p:nvSpPr>
          <p:cNvPr id="14" name="Text 12"/>
          <p:cNvSpPr/>
          <p:nvPr/>
        </p:nvSpPr>
        <p:spPr>
          <a:xfrm>
            <a:off x="6537960" y="1408176"/>
            <a:ext cx="2057400" cy="219456"/>
          </a:xfrm>
          <a:prstGeom prst="rect">
            <a:avLst/>
          </a:prstGeom>
          <a:noFill/>
          <a:ln/>
        </p:spPr>
        <p:txBody>
          <a:bodyPr wrap="square" lIns="0" tIns="0" rIns="0" bIns="0" rtlCol="0" anchor="ctr">
            <a:normAutofit/>
          </a:bodyPr>
          <a:lstStyle/>
          <a:p>
            <a:pPr indent="0" marL="0">
              <a:buNone/>
            </a:pPr>
            <a:r>
              <a:rPr lang="en-US" sz="770" dirty="0">
                <a:solidFill>
                  <a:srgbClr val="1E293B"/>
                </a:solidFill>
                <a:latin typeface="Calibri" pitchFamily="34" charset="0"/>
                <a:ea typeface="Calibri" pitchFamily="34" charset="-122"/>
                <a:cs typeface="Calibri" pitchFamily="34" charset="-120"/>
              </a:rPr>
              <a:t>lost data ownership</a:t>
            </a:r>
            <a:endParaRPr lang="en-US" sz="770" dirty="0"/>
          </a:p>
        </p:txBody>
      </p:sp>
      <p:sp>
        <p:nvSpPr>
          <p:cNvPr id="15" name="Shape 13"/>
          <p:cNvSpPr/>
          <p:nvPr/>
        </p:nvSpPr>
        <p:spPr>
          <a:xfrm>
            <a:off x="548640" y="1655064"/>
            <a:ext cx="8046720" cy="7315"/>
          </a:xfrm>
          <a:prstGeom prst="rect">
            <a:avLst/>
          </a:prstGeom>
          <a:solidFill>
            <a:srgbClr val="D8DEE6"/>
          </a:solidFill>
          <a:ln w="12700">
            <a:solidFill>
              <a:srgbClr val="D8DEE6"/>
            </a:solidFill>
            <a:prstDash val="solid"/>
          </a:ln>
        </p:spPr>
      </p:sp>
      <p:sp>
        <p:nvSpPr>
          <p:cNvPr id="16" name="Text 14"/>
          <p:cNvSpPr/>
          <p:nvPr/>
        </p:nvSpPr>
        <p:spPr>
          <a:xfrm>
            <a:off x="548640" y="1719072"/>
            <a:ext cx="1234440" cy="219456"/>
          </a:xfrm>
          <a:prstGeom prst="rect">
            <a:avLst/>
          </a:prstGeom>
          <a:noFill/>
          <a:ln/>
        </p:spPr>
        <p:txBody>
          <a:bodyPr wrap="square" lIns="0" tIns="0" rIns="0" bIns="0" rtlCol="0" anchor="ctr">
            <a:normAutofit/>
          </a:bodyPr>
          <a:lstStyle/>
          <a:p>
            <a:pPr indent="0" marL="0">
              <a:buNone/>
            </a:pPr>
            <a:r>
              <a:rPr lang="en-US" sz="870" b="1" dirty="0">
                <a:solidFill>
                  <a:srgbClr val="1E293B"/>
                </a:solidFill>
                <a:latin typeface="Calibri" pitchFamily="34" charset="0"/>
                <a:ea typeface="Calibri" pitchFamily="34" charset="-122"/>
                <a:cs typeface="Calibri" pitchFamily="34" charset="-120"/>
              </a:rPr>
              <a:t>Cyclic Dep.</a:t>
            </a:r>
            <a:endParaRPr lang="en-US" sz="870" dirty="0"/>
          </a:p>
        </p:txBody>
      </p:sp>
      <p:sp>
        <p:nvSpPr>
          <p:cNvPr id="17" name="Text 15"/>
          <p:cNvSpPr/>
          <p:nvPr/>
        </p:nvSpPr>
        <p:spPr>
          <a:xfrm>
            <a:off x="1691640" y="1719072"/>
            <a:ext cx="2423160" cy="219456"/>
          </a:xfrm>
          <a:prstGeom prst="rect">
            <a:avLst/>
          </a:prstGeom>
          <a:noFill/>
          <a:ln/>
        </p:spPr>
        <p:txBody>
          <a:bodyPr wrap="square" lIns="0" tIns="0" rIns="0" bIns="0" rtlCol="0" anchor="ctr">
            <a:normAutofit/>
          </a:bodyPr>
          <a:lstStyle/>
          <a:p>
            <a:pPr indent="0" marL="0">
              <a:buNone/>
            </a:pPr>
            <a:r>
              <a:rPr lang="en-US" sz="770" dirty="0">
                <a:solidFill>
                  <a:srgbClr val="1E293B"/>
                </a:solidFill>
                <a:latin typeface="Calibri" pitchFamily="34" charset="0"/>
                <a:ea typeface="Calibri" pitchFamily="34" charset="-122"/>
                <a:cs typeface="Calibri" pitchFamily="34" charset="-120"/>
              </a:rPr>
              <a:t>Tarjan SCC in service graph</a:t>
            </a:r>
            <a:endParaRPr lang="en-US" sz="770" dirty="0"/>
          </a:p>
        </p:txBody>
      </p:sp>
      <p:sp>
        <p:nvSpPr>
          <p:cNvPr id="18" name="Text 16"/>
          <p:cNvSpPr/>
          <p:nvPr/>
        </p:nvSpPr>
        <p:spPr>
          <a:xfrm>
            <a:off x="4251960" y="1719072"/>
            <a:ext cx="1325880" cy="219456"/>
          </a:xfrm>
          <a:prstGeom prst="rect">
            <a:avLst/>
          </a:prstGeom>
          <a:noFill/>
          <a:ln/>
        </p:spPr>
        <p:txBody>
          <a:bodyPr wrap="square" lIns="0" tIns="0" rIns="0" bIns="0" rtlCol="0" anchor="ctr">
            <a:normAutofit/>
          </a:bodyPr>
          <a:lstStyle/>
          <a:p>
            <a:pPr indent="0" marL="0">
              <a:buNone/>
            </a:pPr>
            <a:r>
              <a:rPr lang="en-US" sz="770" dirty="0">
                <a:solidFill>
                  <a:srgbClr val="1E293B"/>
                </a:solidFill>
                <a:latin typeface="Calibri" pitchFamily="34" charset="0"/>
                <a:ea typeface="Calibri" pitchFamily="34" charset="-122"/>
                <a:cs typeface="Calibri" pitchFamily="34" charset="-120"/>
              </a:rPr>
              <a:t>SCC size &gt;1</a:t>
            </a:r>
            <a:endParaRPr lang="en-US" sz="770" dirty="0"/>
          </a:p>
        </p:txBody>
      </p:sp>
      <p:sp>
        <p:nvSpPr>
          <p:cNvPr id="19" name="Text 17"/>
          <p:cNvSpPr/>
          <p:nvPr/>
        </p:nvSpPr>
        <p:spPr>
          <a:xfrm>
            <a:off x="5715000" y="1719072"/>
            <a:ext cx="685800" cy="219456"/>
          </a:xfrm>
          <a:prstGeom prst="rect">
            <a:avLst/>
          </a:prstGeom>
          <a:noFill/>
          <a:ln/>
        </p:spPr>
        <p:txBody>
          <a:bodyPr wrap="square" lIns="0" tIns="0" rIns="0" bIns="0" rtlCol="0" anchor="ctr">
            <a:normAutofit/>
          </a:bodyPr>
          <a:lstStyle/>
          <a:p>
            <a:pPr indent="0" marL="0">
              <a:buNone/>
            </a:pPr>
            <a:r>
              <a:rPr lang="en-US" sz="770" b="1" dirty="0">
                <a:solidFill>
                  <a:srgbClr val="DC2626"/>
                </a:solidFill>
                <a:latin typeface="Calibri" pitchFamily="34" charset="0"/>
                <a:ea typeface="Calibri" pitchFamily="34" charset="-122"/>
                <a:cs typeface="Calibri" pitchFamily="34" charset="-120"/>
              </a:rPr>
              <a:t>Crit.</a:t>
            </a:r>
            <a:endParaRPr lang="en-US" sz="770" dirty="0"/>
          </a:p>
        </p:txBody>
      </p:sp>
      <p:sp>
        <p:nvSpPr>
          <p:cNvPr id="20" name="Text 18"/>
          <p:cNvSpPr/>
          <p:nvPr/>
        </p:nvSpPr>
        <p:spPr>
          <a:xfrm>
            <a:off x="6537960" y="1719072"/>
            <a:ext cx="2057400" cy="219456"/>
          </a:xfrm>
          <a:prstGeom prst="rect">
            <a:avLst/>
          </a:prstGeom>
          <a:noFill/>
          <a:ln/>
        </p:spPr>
        <p:txBody>
          <a:bodyPr wrap="square" lIns="0" tIns="0" rIns="0" bIns="0" rtlCol="0" anchor="ctr">
            <a:normAutofit/>
          </a:bodyPr>
          <a:lstStyle/>
          <a:p>
            <a:pPr indent="0" marL="0">
              <a:buNone/>
            </a:pPr>
            <a:r>
              <a:rPr lang="en-US" sz="770" dirty="0">
                <a:solidFill>
                  <a:srgbClr val="1E293B"/>
                </a:solidFill>
                <a:latin typeface="Calibri" pitchFamily="34" charset="0"/>
                <a:ea typeface="Calibri" pitchFamily="34" charset="-122"/>
                <a:cs typeface="Calibri" pitchFamily="34" charset="-120"/>
              </a:rPr>
              <a:t>deployability blocked</a:t>
            </a:r>
            <a:endParaRPr lang="en-US" sz="770" dirty="0"/>
          </a:p>
        </p:txBody>
      </p:sp>
      <p:sp>
        <p:nvSpPr>
          <p:cNvPr id="21" name="Shape 19"/>
          <p:cNvSpPr/>
          <p:nvPr/>
        </p:nvSpPr>
        <p:spPr>
          <a:xfrm>
            <a:off x="548640" y="1965960"/>
            <a:ext cx="8046720" cy="7315"/>
          </a:xfrm>
          <a:prstGeom prst="rect">
            <a:avLst/>
          </a:prstGeom>
          <a:solidFill>
            <a:srgbClr val="D8DEE6"/>
          </a:solidFill>
          <a:ln w="12700">
            <a:solidFill>
              <a:srgbClr val="D8DEE6"/>
            </a:solidFill>
            <a:prstDash val="solid"/>
          </a:ln>
        </p:spPr>
      </p:sp>
      <p:sp>
        <p:nvSpPr>
          <p:cNvPr id="22" name="Text 20"/>
          <p:cNvSpPr/>
          <p:nvPr/>
        </p:nvSpPr>
        <p:spPr>
          <a:xfrm>
            <a:off x="548640" y="2029968"/>
            <a:ext cx="1234440" cy="219456"/>
          </a:xfrm>
          <a:prstGeom prst="rect">
            <a:avLst/>
          </a:prstGeom>
          <a:noFill/>
          <a:ln/>
        </p:spPr>
        <p:txBody>
          <a:bodyPr wrap="square" lIns="0" tIns="0" rIns="0" bIns="0" rtlCol="0" anchor="ctr">
            <a:normAutofit/>
          </a:bodyPr>
          <a:lstStyle/>
          <a:p>
            <a:pPr indent="0" marL="0">
              <a:buNone/>
            </a:pPr>
            <a:r>
              <a:rPr lang="en-US" sz="870" b="1" dirty="0">
                <a:solidFill>
                  <a:srgbClr val="1E293B"/>
                </a:solidFill>
                <a:latin typeface="Calibri" pitchFamily="34" charset="0"/>
                <a:ea typeface="Calibri" pitchFamily="34" charset="-122"/>
                <a:cs typeface="Calibri" pitchFamily="34" charset="-120"/>
              </a:rPr>
              <a:t>Chatty Service</a:t>
            </a:r>
            <a:endParaRPr lang="en-US" sz="870" dirty="0"/>
          </a:p>
        </p:txBody>
      </p:sp>
      <p:sp>
        <p:nvSpPr>
          <p:cNvPr id="23" name="Text 21"/>
          <p:cNvSpPr/>
          <p:nvPr/>
        </p:nvSpPr>
        <p:spPr>
          <a:xfrm>
            <a:off x="1691640" y="2029968"/>
            <a:ext cx="2423160" cy="219456"/>
          </a:xfrm>
          <a:prstGeom prst="rect">
            <a:avLst/>
          </a:prstGeom>
          <a:noFill/>
          <a:ln/>
        </p:spPr>
        <p:txBody>
          <a:bodyPr wrap="square" lIns="0" tIns="0" rIns="0" bIns="0" rtlCol="0" anchor="ctr">
            <a:normAutofit/>
          </a:bodyPr>
          <a:lstStyle/>
          <a:p>
            <a:pPr indent="0" marL="0">
              <a:buNone/>
            </a:pPr>
            <a:r>
              <a:rPr lang="en-US" sz="770" dirty="0">
                <a:solidFill>
                  <a:srgbClr val="1E293B"/>
                </a:solidFill>
                <a:latin typeface="Calibri" pitchFamily="34" charset="0"/>
                <a:ea typeface="Calibri" pitchFamily="34" charset="-122"/>
                <a:cs typeface="Calibri" pitchFamily="34" charset="-120"/>
              </a:rPr>
              <a:t>edge call volume or wide Feign client</a:t>
            </a:r>
            <a:endParaRPr lang="en-US" sz="770" dirty="0"/>
          </a:p>
        </p:txBody>
      </p:sp>
      <p:sp>
        <p:nvSpPr>
          <p:cNvPr id="24" name="Text 22"/>
          <p:cNvSpPr/>
          <p:nvPr/>
        </p:nvSpPr>
        <p:spPr>
          <a:xfrm>
            <a:off x="4251960" y="2029968"/>
            <a:ext cx="1325880" cy="219456"/>
          </a:xfrm>
          <a:prstGeom prst="rect">
            <a:avLst/>
          </a:prstGeom>
          <a:noFill/>
          <a:ln/>
        </p:spPr>
        <p:txBody>
          <a:bodyPr wrap="square" lIns="0" tIns="0" rIns="0" bIns="0" rtlCol="0" anchor="ctr">
            <a:normAutofit/>
          </a:bodyPr>
          <a:lstStyle/>
          <a:p>
            <a:pPr indent="0" marL="0">
              <a:buNone/>
            </a:pPr>
            <a:r>
              <a:rPr lang="en-US" sz="770" dirty="0">
                <a:solidFill>
                  <a:srgbClr val="1E293B"/>
                </a:solidFill>
                <a:latin typeface="Calibri" pitchFamily="34" charset="0"/>
                <a:ea typeface="Calibri" pitchFamily="34" charset="-122"/>
                <a:cs typeface="Calibri" pitchFamily="34" charset="-120"/>
              </a:rPr>
              <a:t>&gt;=5 calls/methods</a:t>
            </a:r>
            <a:endParaRPr lang="en-US" sz="770" dirty="0"/>
          </a:p>
        </p:txBody>
      </p:sp>
      <p:sp>
        <p:nvSpPr>
          <p:cNvPr id="25" name="Text 23"/>
          <p:cNvSpPr/>
          <p:nvPr/>
        </p:nvSpPr>
        <p:spPr>
          <a:xfrm>
            <a:off x="5715000" y="2029968"/>
            <a:ext cx="685800" cy="219456"/>
          </a:xfrm>
          <a:prstGeom prst="rect">
            <a:avLst/>
          </a:prstGeom>
          <a:noFill/>
          <a:ln/>
        </p:spPr>
        <p:txBody>
          <a:bodyPr wrap="square" lIns="0" tIns="0" rIns="0" bIns="0" rtlCol="0" anchor="ctr">
            <a:normAutofit/>
          </a:bodyPr>
          <a:lstStyle/>
          <a:p>
            <a:pPr indent="0" marL="0">
              <a:buNone/>
            </a:pPr>
            <a:r>
              <a:rPr lang="en-US" sz="770" b="1" dirty="0">
                <a:solidFill>
                  <a:srgbClr val="D97706"/>
                </a:solidFill>
                <a:latin typeface="Calibri" pitchFamily="34" charset="0"/>
                <a:ea typeface="Calibri" pitchFamily="34" charset="-122"/>
                <a:cs typeface="Calibri" pitchFamily="34" charset="-120"/>
              </a:rPr>
              <a:t>High</a:t>
            </a:r>
            <a:endParaRPr lang="en-US" sz="770" dirty="0"/>
          </a:p>
        </p:txBody>
      </p:sp>
      <p:sp>
        <p:nvSpPr>
          <p:cNvPr id="26" name="Text 24"/>
          <p:cNvSpPr/>
          <p:nvPr/>
        </p:nvSpPr>
        <p:spPr>
          <a:xfrm>
            <a:off x="6537960" y="2029968"/>
            <a:ext cx="2057400" cy="219456"/>
          </a:xfrm>
          <a:prstGeom prst="rect">
            <a:avLst/>
          </a:prstGeom>
          <a:noFill/>
          <a:ln/>
        </p:spPr>
        <p:txBody>
          <a:bodyPr wrap="square" lIns="0" tIns="0" rIns="0" bIns="0" rtlCol="0" anchor="ctr">
            <a:normAutofit/>
          </a:bodyPr>
          <a:lstStyle/>
          <a:p>
            <a:pPr indent="0" marL="0">
              <a:buNone/>
            </a:pPr>
            <a:r>
              <a:rPr lang="en-US" sz="770" dirty="0">
                <a:solidFill>
                  <a:srgbClr val="1E293B"/>
                </a:solidFill>
                <a:latin typeface="Calibri" pitchFamily="34" charset="0"/>
                <a:ea typeface="Calibri" pitchFamily="34" charset="-122"/>
                <a:cs typeface="Calibri" pitchFamily="34" charset="-120"/>
              </a:rPr>
              <a:t>runtime coupling</a:t>
            </a:r>
            <a:endParaRPr lang="en-US" sz="770" dirty="0"/>
          </a:p>
        </p:txBody>
      </p:sp>
      <p:sp>
        <p:nvSpPr>
          <p:cNvPr id="27" name="Shape 25"/>
          <p:cNvSpPr/>
          <p:nvPr/>
        </p:nvSpPr>
        <p:spPr>
          <a:xfrm>
            <a:off x="548640" y="2276856"/>
            <a:ext cx="8046720" cy="7315"/>
          </a:xfrm>
          <a:prstGeom prst="rect">
            <a:avLst/>
          </a:prstGeom>
          <a:solidFill>
            <a:srgbClr val="D8DEE6"/>
          </a:solidFill>
          <a:ln w="12700">
            <a:solidFill>
              <a:srgbClr val="D8DEE6"/>
            </a:solidFill>
            <a:prstDash val="solid"/>
          </a:ln>
        </p:spPr>
      </p:sp>
      <p:sp>
        <p:nvSpPr>
          <p:cNvPr id="28" name="Text 26"/>
          <p:cNvSpPr/>
          <p:nvPr/>
        </p:nvSpPr>
        <p:spPr>
          <a:xfrm>
            <a:off x="548640" y="2340864"/>
            <a:ext cx="1234440" cy="219456"/>
          </a:xfrm>
          <a:prstGeom prst="rect">
            <a:avLst/>
          </a:prstGeom>
          <a:noFill/>
          <a:ln/>
        </p:spPr>
        <p:txBody>
          <a:bodyPr wrap="square" lIns="0" tIns="0" rIns="0" bIns="0" rtlCol="0" anchor="ctr">
            <a:normAutofit/>
          </a:bodyPr>
          <a:lstStyle/>
          <a:p>
            <a:pPr indent="0" marL="0">
              <a:buNone/>
            </a:pPr>
            <a:r>
              <a:rPr lang="en-US" sz="870" b="1" dirty="0">
                <a:solidFill>
                  <a:srgbClr val="1E293B"/>
                </a:solidFill>
                <a:latin typeface="Calibri" pitchFamily="34" charset="0"/>
                <a:ea typeface="Calibri" pitchFamily="34" charset="-122"/>
                <a:cs typeface="Calibri" pitchFamily="34" charset="-120"/>
              </a:rPr>
              <a:t>Hardcoded EP</a:t>
            </a:r>
            <a:endParaRPr lang="en-US" sz="870" dirty="0"/>
          </a:p>
        </p:txBody>
      </p:sp>
      <p:sp>
        <p:nvSpPr>
          <p:cNvPr id="29" name="Text 27"/>
          <p:cNvSpPr/>
          <p:nvPr/>
        </p:nvSpPr>
        <p:spPr>
          <a:xfrm>
            <a:off x="1691640" y="2340864"/>
            <a:ext cx="2423160" cy="219456"/>
          </a:xfrm>
          <a:prstGeom prst="rect">
            <a:avLst/>
          </a:prstGeom>
          <a:noFill/>
          <a:ln/>
        </p:spPr>
        <p:txBody>
          <a:bodyPr wrap="square" lIns="0" tIns="0" rIns="0" bIns="0" rtlCol="0" anchor="ctr">
            <a:normAutofit/>
          </a:bodyPr>
          <a:lstStyle/>
          <a:p>
            <a:pPr indent="0" marL="0">
              <a:buNone/>
            </a:pPr>
            <a:r>
              <a:rPr lang="en-US" sz="770" dirty="0">
                <a:solidFill>
                  <a:srgbClr val="1E293B"/>
                </a:solidFill>
                <a:latin typeface="Calibri" pitchFamily="34" charset="0"/>
                <a:ea typeface="Calibri" pitchFamily="34" charset="-122"/>
                <a:cs typeface="Calibri" pitchFamily="34" charset="-120"/>
              </a:rPr>
              <a:t>literal URL/IP/localhost in Java</a:t>
            </a:r>
            <a:endParaRPr lang="en-US" sz="770" dirty="0"/>
          </a:p>
        </p:txBody>
      </p:sp>
      <p:sp>
        <p:nvSpPr>
          <p:cNvPr id="30" name="Text 28"/>
          <p:cNvSpPr/>
          <p:nvPr/>
        </p:nvSpPr>
        <p:spPr>
          <a:xfrm>
            <a:off x="4251960" y="2340864"/>
            <a:ext cx="1325880" cy="219456"/>
          </a:xfrm>
          <a:prstGeom prst="rect">
            <a:avLst/>
          </a:prstGeom>
          <a:noFill/>
          <a:ln/>
        </p:spPr>
        <p:txBody>
          <a:bodyPr wrap="square" lIns="0" tIns="0" rIns="0" bIns="0" rtlCol="0" anchor="ctr">
            <a:normAutofit/>
          </a:bodyPr>
          <a:lstStyle/>
          <a:p>
            <a:pPr indent="0" marL="0">
              <a:buNone/>
            </a:pPr>
            <a:r>
              <a:rPr lang="en-US" sz="770" dirty="0">
                <a:solidFill>
                  <a:srgbClr val="1E293B"/>
                </a:solidFill>
                <a:latin typeface="Calibri" pitchFamily="34" charset="0"/>
                <a:ea typeface="Calibri" pitchFamily="34" charset="-122"/>
                <a:cs typeface="Calibri" pitchFamily="34" charset="-120"/>
              </a:rPr>
              <a:t>regex match</a:t>
            </a:r>
            <a:endParaRPr lang="en-US" sz="770" dirty="0"/>
          </a:p>
        </p:txBody>
      </p:sp>
      <p:sp>
        <p:nvSpPr>
          <p:cNvPr id="31" name="Text 29"/>
          <p:cNvSpPr/>
          <p:nvPr/>
        </p:nvSpPr>
        <p:spPr>
          <a:xfrm>
            <a:off x="5715000" y="2340864"/>
            <a:ext cx="685800" cy="219456"/>
          </a:xfrm>
          <a:prstGeom prst="rect">
            <a:avLst/>
          </a:prstGeom>
          <a:noFill/>
          <a:ln/>
        </p:spPr>
        <p:txBody>
          <a:bodyPr wrap="square" lIns="0" tIns="0" rIns="0" bIns="0" rtlCol="0" anchor="ctr">
            <a:normAutofit/>
          </a:bodyPr>
          <a:lstStyle/>
          <a:p>
            <a:pPr indent="0" marL="0">
              <a:buNone/>
            </a:pPr>
            <a:r>
              <a:rPr lang="en-US" sz="770" b="1" dirty="0">
                <a:solidFill>
                  <a:srgbClr val="1C4E80"/>
                </a:solidFill>
                <a:latin typeface="Calibri" pitchFamily="34" charset="0"/>
                <a:ea typeface="Calibri" pitchFamily="34" charset="-122"/>
                <a:cs typeface="Calibri" pitchFamily="34" charset="-120"/>
              </a:rPr>
              <a:t>Med.</a:t>
            </a:r>
            <a:endParaRPr lang="en-US" sz="770" dirty="0"/>
          </a:p>
        </p:txBody>
      </p:sp>
      <p:sp>
        <p:nvSpPr>
          <p:cNvPr id="32" name="Text 30"/>
          <p:cNvSpPr/>
          <p:nvPr/>
        </p:nvSpPr>
        <p:spPr>
          <a:xfrm>
            <a:off x="6537960" y="2340864"/>
            <a:ext cx="2057400" cy="219456"/>
          </a:xfrm>
          <a:prstGeom prst="rect">
            <a:avLst/>
          </a:prstGeom>
          <a:noFill/>
          <a:ln/>
        </p:spPr>
        <p:txBody>
          <a:bodyPr wrap="square" lIns="0" tIns="0" rIns="0" bIns="0" rtlCol="0" anchor="ctr">
            <a:normAutofit/>
          </a:bodyPr>
          <a:lstStyle/>
          <a:p>
            <a:pPr indent="0" marL="0">
              <a:buNone/>
            </a:pPr>
            <a:r>
              <a:rPr lang="en-US" sz="770" dirty="0">
                <a:solidFill>
                  <a:srgbClr val="1E293B"/>
                </a:solidFill>
                <a:latin typeface="Calibri" pitchFamily="34" charset="0"/>
                <a:ea typeface="Calibri" pitchFamily="34" charset="-122"/>
                <a:cs typeface="Calibri" pitchFamily="34" charset="-120"/>
              </a:rPr>
              <a:t>environment lock-in</a:t>
            </a:r>
            <a:endParaRPr lang="en-US" sz="770" dirty="0"/>
          </a:p>
        </p:txBody>
      </p:sp>
      <p:sp>
        <p:nvSpPr>
          <p:cNvPr id="33" name="Shape 31"/>
          <p:cNvSpPr/>
          <p:nvPr/>
        </p:nvSpPr>
        <p:spPr>
          <a:xfrm>
            <a:off x="548640" y="2587752"/>
            <a:ext cx="8046720" cy="7315"/>
          </a:xfrm>
          <a:prstGeom prst="rect">
            <a:avLst/>
          </a:prstGeom>
          <a:solidFill>
            <a:srgbClr val="D8DEE6"/>
          </a:solidFill>
          <a:ln w="12700">
            <a:solidFill>
              <a:srgbClr val="D8DEE6"/>
            </a:solidFill>
            <a:prstDash val="solid"/>
          </a:ln>
        </p:spPr>
      </p:sp>
      <p:sp>
        <p:nvSpPr>
          <p:cNvPr id="34" name="Text 32"/>
          <p:cNvSpPr/>
          <p:nvPr/>
        </p:nvSpPr>
        <p:spPr>
          <a:xfrm>
            <a:off x="548640" y="2651760"/>
            <a:ext cx="1234440" cy="219456"/>
          </a:xfrm>
          <a:prstGeom prst="rect">
            <a:avLst/>
          </a:prstGeom>
          <a:noFill/>
          <a:ln/>
        </p:spPr>
        <p:txBody>
          <a:bodyPr wrap="square" lIns="0" tIns="0" rIns="0" bIns="0" rtlCol="0" anchor="ctr">
            <a:normAutofit/>
          </a:bodyPr>
          <a:lstStyle/>
          <a:p>
            <a:pPr indent="0" marL="0">
              <a:buNone/>
            </a:pPr>
            <a:r>
              <a:rPr lang="en-US" sz="870" b="1" dirty="0">
                <a:solidFill>
                  <a:srgbClr val="1E293B"/>
                </a:solidFill>
                <a:latin typeface="Calibri" pitchFamily="34" charset="0"/>
                <a:ea typeface="Calibri" pitchFamily="34" charset="-122"/>
                <a:cs typeface="Calibri" pitchFamily="34" charset="-120"/>
              </a:rPr>
              <a:t>ESB Misuse</a:t>
            </a:r>
            <a:endParaRPr lang="en-US" sz="870" dirty="0"/>
          </a:p>
        </p:txBody>
      </p:sp>
      <p:sp>
        <p:nvSpPr>
          <p:cNvPr id="35" name="Text 33"/>
          <p:cNvSpPr/>
          <p:nvPr/>
        </p:nvSpPr>
        <p:spPr>
          <a:xfrm>
            <a:off x="1691640" y="2651760"/>
            <a:ext cx="2423160" cy="219456"/>
          </a:xfrm>
          <a:prstGeom prst="rect">
            <a:avLst/>
          </a:prstGeom>
          <a:noFill/>
          <a:ln/>
        </p:spPr>
        <p:txBody>
          <a:bodyPr wrap="square" lIns="0" tIns="0" rIns="0" bIns="0" rtlCol="0" anchor="ctr">
            <a:normAutofit/>
          </a:bodyPr>
          <a:lstStyle/>
          <a:p>
            <a:pPr indent="0" marL="0">
              <a:buNone/>
            </a:pPr>
            <a:r>
              <a:rPr lang="en-US" sz="770" dirty="0">
                <a:solidFill>
                  <a:srgbClr val="1E293B"/>
                </a:solidFill>
                <a:latin typeface="Calibri" pitchFamily="34" charset="0"/>
                <a:ea typeface="Calibri" pitchFamily="34" charset="-122"/>
                <a:cs typeface="Calibri" pitchFamily="34" charset="-120"/>
              </a:rPr>
              <a:t>mediator-like caller/callee ratio</a:t>
            </a:r>
            <a:endParaRPr lang="en-US" sz="770" dirty="0"/>
          </a:p>
        </p:txBody>
      </p:sp>
      <p:sp>
        <p:nvSpPr>
          <p:cNvPr id="36" name="Text 34"/>
          <p:cNvSpPr/>
          <p:nvPr/>
        </p:nvSpPr>
        <p:spPr>
          <a:xfrm>
            <a:off x="4251960" y="2651760"/>
            <a:ext cx="1325880" cy="219456"/>
          </a:xfrm>
          <a:prstGeom prst="rect">
            <a:avLst/>
          </a:prstGeom>
          <a:noFill/>
          <a:ln/>
        </p:spPr>
        <p:txBody>
          <a:bodyPr wrap="square" lIns="0" tIns="0" rIns="0" bIns="0" rtlCol="0" anchor="ctr">
            <a:normAutofit/>
          </a:bodyPr>
          <a:lstStyle/>
          <a:p>
            <a:pPr indent="0" marL="0">
              <a:buNone/>
            </a:pPr>
            <a:r>
              <a:rPr lang="en-US" sz="770" dirty="0">
                <a:solidFill>
                  <a:srgbClr val="1E293B"/>
                </a:solidFill>
                <a:latin typeface="Calibri" pitchFamily="34" charset="0"/>
                <a:ea typeface="Calibri" pitchFamily="34" charset="-122"/>
                <a:cs typeface="Calibri" pitchFamily="34" charset="-120"/>
              </a:rPr>
              <a:t>volume ratio rule</a:t>
            </a:r>
            <a:endParaRPr lang="en-US" sz="770" dirty="0"/>
          </a:p>
        </p:txBody>
      </p:sp>
      <p:sp>
        <p:nvSpPr>
          <p:cNvPr id="37" name="Text 35"/>
          <p:cNvSpPr/>
          <p:nvPr/>
        </p:nvSpPr>
        <p:spPr>
          <a:xfrm>
            <a:off x="5715000" y="2651760"/>
            <a:ext cx="685800" cy="219456"/>
          </a:xfrm>
          <a:prstGeom prst="rect">
            <a:avLst/>
          </a:prstGeom>
          <a:noFill/>
          <a:ln/>
        </p:spPr>
        <p:txBody>
          <a:bodyPr wrap="square" lIns="0" tIns="0" rIns="0" bIns="0" rtlCol="0" anchor="ctr">
            <a:normAutofit/>
          </a:bodyPr>
          <a:lstStyle/>
          <a:p>
            <a:pPr indent="0" marL="0">
              <a:buNone/>
            </a:pPr>
            <a:r>
              <a:rPr lang="en-US" sz="770" b="1" dirty="0">
                <a:solidFill>
                  <a:srgbClr val="D97706"/>
                </a:solidFill>
                <a:latin typeface="Calibri" pitchFamily="34" charset="0"/>
                <a:ea typeface="Calibri" pitchFamily="34" charset="-122"/>
                <a:cs typeface="Calibri" pitchFamily="34" charset="-120"/>
              </a:rPr>
              <a:t>High</a:t>
            </a:r>
            <a:endParaRPr lang="en-US" sz="770" dirty="0"/>
          </a:p>
        </p:txBody>
      </p:sp>
      <p:sp>
        <p:nvSpPr>
          <p:cNvPr id="38" name="Text 36"/>
          <p:cNvSpPr/>
          <p:nvPr/>
        </p:nvSpPr>
        <p:spPr>
          <a:xfrm>
            <a:off x="6537960" y="2651760"/>
            <a:ext cx="2057400" cy="219456"/>
          </a:xfrm>
          <a:prstGeom prst="rect">
            <a:avLst/>
          </a:prstGeom>
          <a:noFill/>
          <a:ln/>
        </p:spPr>
        <p:txBody>
          <a:bodyPr wrap="square" lIns="0" tIns="0" rIns="0" bIns="0" rtlCol="0" anchor="ctr">
            <a:normAutofit/>
          </a:bodyPr>
          <a:lstStyle/>
          <a:p>
            <a:pPr indent="0" marL="0">
              <a:buNone/>
            </a:pPr>
            <a:r>
              <a:rPr lang="en-US" sz="770" dirty="0">
                <a:solidFill>
                  <a:srgbClr val="1E293B"/>
                </a:solidFill>
                <a:latin typeface="Calibri" pitchFamily="34" charset="0"/>
                <a:ea typeface="Calibri" pitchFamily="34" charset="-122"/>
                <a:cs typeface="Calibri" pitchFamily="34" charset="-120"/>
              </a:rPr>
              <a:t>central bottleneck</a:t>
            </a:r>
            <a:endParaRPr lang="en-US" sz="770" dirty="0"/>
          </a:p>
        </p:txBody>
      </p:sp>
      <p:sp>
        <p:nvSpPr>
          <p:cNvPr id="39" name="Shape 37"/>
          <p:cNvSpPr/>
          <p:nvPr/>
        </p:nvSpPr>
        <p:spPr>
          <a:xfrm>
            <a:off x="548640" y="2898648"/>
            <a:ext cx="8046720" cy="7315"/>
          </a:xfrm>
          <a:prstGeom prst="rect">
            <a:avLst/>
          </a:prstGeom>
          <a:solidFill>
            <a:srgbClr val="D8DEE6"/>
          </a:solidFill>
          <a:ln w="12700">
            <a:solidFill>
              <a:srgbClr val="D8DEE6"/>
            </a:solidFill>
            <a:prstDash val="solid"/>
          </a:ln>
        </p:spPr>
      </p:sp>
      <p:sp>
        <p:nvSpPr>
          <p:cNvPr id="40" name="Text 38"/>
          <p:cNvSpPr/>
          <p:nvPr/>
        </p:nvSpPr>
        <p:spPr>
          <a:xfrm>
            <a:off x="548640" y="2962656"/>
            <a:ext cx="1234440" cy="219456"/>
          </a:xfrm>
          <a:prstGeom prst="rect">
            <a:avLst/>
          </a:prstGeom>
          <a:noFill/>
          <a:ln/>
        </p:spPr>
        <p:txBody>
          <a:bodyPr wrap="square" lIns="0" tIns="0" rIns="0" bIns="0" rtlCol="0" anchor="ctr">
            <a:normAutofit/>
          </a:bodyPr>
          <a:lstStyle/>
          <a:p>
            <a:pPr indent="0" marL="0">
              <a:buNone/>
            </a:pPr>
            <a:r>
              <a:rPr lang="en-US" sz="870" b="1" dirty="0">
                <a:solidFill>
                  <a:srgbClr val="1E293B"/>
                </a:solidFill>
                <a:latin typeface="Calibri" pitchFamily="34" charset="0"/>
                <a:ea typeface="Calibri" pitchFamily="34" charset="-122"/>
                <a:cs typeface="Calibri" pitchFamily="34" charset="-120"/>
              </a:rPr>
              <a:t>Distributed Mono.</a:t>
            </a:r>
            <a:endParaRPr lang="en-US" sz="870" dirty="0"/>
          </a:p>
        </p:txBody>
      </p:sp>
      <p:sp>
        <p:nvSpPr>
          <p:cNvPr id="41" name="Text 39"/>
          <p:cNvSpPr/>
          <p:nvPr/>
        </p:nvSpPr>
        <p:spPr>
          <a:xfrm>
            <a:off x="1691640" y="2962656"/>
            <a:ext cx="2423160" cy="219456"/>
          </a:xfrm>
          <a:prstGeom prst="rect">
            <a:avLst/>
          </a:prstGeom>
          <a:noFill/>
          <a:ln/>
        </p:spPr>
        <p:txBody>
          <a:bodyPr wrap="square" lIns="0" tIns="0" rIns="0" bIns="0" rtlCol="0" anchor="ctr">
            <a:normAutofit/>
          </a:bodyPr>
          <a:lstStyle/>
          <a:p>
            <a:pPr indent="0" marL="0">
              <a:buNone/>
            </a:pPr>
            <a:r>
              <a:rPr lang="en-US" sz="770" dirty="0">
                <a:solidFill>
                  <a:srgbClr val="1E293B"/>
                </a:solidFill>
                <a:latin typeface="Calibri" pitchFamily="34" charset="0"/>
                <a:ea typeface="Calibri" pitchFamily="34" charset="-122"/>
                <a:cs typeface="Calibri" pitchFamily="34" charset="-120"/>
              </a:rPr>
              <a:t>high graph density + shared data</a:t>
            </a:r>
            <a:endParaRPr lang="en-US" sz="770" dirty="0"/>
          </a:p>
        </p:txBody>
      </p:sp>
      <p:sp>
        <p:nvSpPr>
          <p:cNvPr id="42" name="Text 40"/>
          <p:cNvSpPr/>
          <p:nvPr/>
        </p:nvSpPr>
        <p:spPr>
          <a:xfrm>
            <a:off x="4251960" y="2962656"/>
            <a:ext cx="1325880" cy="219456"/>
          </a:xfrm>
          <a:prstGeom prst="rect">
            <a:avLst/>
          </a:prstGeom>
          <a:noFill/>
          <a:ln/>
        </p:spPr>
        <p:txBody>
          <a:bodyPr wrap="square" lIns="0" tIns="0" rIns="0" bIns="0" rtlCol="0" anchor="ctr">
            <a:normAutofit/>
          </a:bodyPr>
          <a:lstStyle/>
          <a:p>
            <a:pPr indent="0" marL="0">
              <a:buNone/>
            </a:pPr>
            <a:r>
              <a:rPr lang="en-US" sz="770" dirty="0">
                <a:solidFill>
                  <a:srgbClr val="1E293B"/>
                </a:solidFill>
                <a:latin typeface="Calibri" pitchFamily="34" charset="0"/>
                <a:ea typeface="Calibri" pitchFamily="34" charset="-122"/>
                <a:cs typeface="Calibri" pitchFamily="34" charset="-120"/>
              </a:rPr>
              <a:t>composite rule</a:t>
            </a:r>
            <a:endParaRPr lang="en-US" sz="770" dirty="0"/>
          </a:p>
        </p:txBody>
      </p:sp>
      <p:sp>
        <p:nvSpPr>
          <p:cNvPr id="43" name="Text 41"/>
          <p:cNvSpPr/>
          <p:nvPr/>
        </p:nvSpPr>
        <p:spPr>
          <a:xfrm>
            <a:off x="5715000" y="2962656"/>
            <a:ext cx="685800" cy="219456"/>
          </a:xfrm>
          <a:prstGeom prst="rect">
            <a:avLst/>
          </a:prstGeom>
          <a:noFill/>
          <a:ln/>
        </p:spPr>
        <p:txBody>
          <a:bodyPr wrap="square" lIns="0" tIns="0" rIns="0" bIns="0" rtlCol="0" anchor="ctr">
            <a:normAutofit/>
          </a:bodyPr>
          <a:lstStyle/>
          <a:p>
            <a:pPr indent="0" marL="0">
              <a:buNone/>
            </a:pPr>
            <a:r>
              <a:rPr lang="en-US" sz="770" b="1" dirty="0">
                <a:solidFill>
                  <a:srgbClr val="DC2626"/>
                </a:solidFill>
                <a:latin typeface="Calibri" pitchFamily="34" charset="0"/>
                <a:ea typeface="Calibri" pitchFamily="34" charset="-122"/>
                <a:cs typeface="Calibri" pitchFamily="34" charset="-120"/>
              </a:rPr>
              <a:t>Crit.</a:t>
            </a:r>
            <a:endParaRPr lang="en-US" sz="770" dirty="0"/>
          </a:p>
        </p:txBody>
      </p:sp>
      <p:sp>
        <p:nvSpPr>
          <p:cNvPr id="44" name="Text 42"/>
          <p:cNvSpPr/>
          <p:nvPr/>
        </p:nvSpPr>
        <p:spPr>
          <a:xfrm>
            <a:off x="6537960" y="2962656"/>
            <a:ext cx="2057400" cy="219456"/>
          </a:xfrm>
          <a:prstGeom prst="rect">
            <a:avLst/>
          </a:prstGeom>
          <a:noFill/>
          <a:ln/>
        </p:spPr>
        <p:txBody>
          <a:bodyPr wrap="square" lIns="0" tIns="0" rIns="0" bIns="0" rtlCol="0" anchor="ctr">
            <a:normAutofit/>
          </a:bodyPr>
          <a:lstStyle/>
          <a:p>
            <a:pPr indent="0" marL="0">
              <a:buNone/>
            </a:pPr>
            <a:r>
              <a:rPr lang="en-US" sz="770" dirty="0">
                <a:solidFill>
                  <a:srgbClr val="1E293B"/>
                </a:solidFill>
                <a:latin typeface="Calibri" pitchFamily="34" charset="0"/>
                <a:ea typeface="Calibri" pitchFamily="34" charset="-122"/>
                <a:cs typeface="Calibri" pitchFamily="34" charset="-120"/>
              </a:rPr>
              <a:t>system-wide coupling</a:t>
            </a:r>
            <a:endParaRPr lang="en-US" sz="770" dirty="0"/>
          </a:p>
        </p:txBody>
      </p:sp>
      <p:sp>
        <p:nvSpPr>
          <p:cNvPr id="45" name="Shape 43"/>
          <p:cNvSpPr/>
          <p:nvPr/>
        </p:nvSpPr>
        <p:spPr>
          <a:xfrm>
            <a:off x="548640" y="3209544"/>
            <a:ext cx="8046720" cy="7315"/>
          </a:xfrm>
          <a:prstGeom prst="rect">
            <a:avLst/>
          </a:prstGeom>
          <a:solidFill>
            <a:srgbClr val="D8DEE6"/>
          </a:solidFill>
          <a:ln w="12700">
            <a:solidFill>
              <a:srgbClr val="D8DEE6"/>
            </a:solidFill>
            <a:prstDash val="solid"/>
          </a:ln>
        </p:spPr>
      </p:sp>
      <p:sp>
        <p:nvSpPr>
          <p:cNvPr id="46" name="Text 44"/>
          <p:cNvSpPr/>
          <p:nvPr/>
        </p:nvSpPr>
        <p:spPr>
          <a:xfrm>
            <a:off x="548640" y="3273552"/>
            <a:ext cx="1234440" cy="219456"/>
          </a:xfrm>
          <a:prstGeom prst="rect">
            <a:avLst/>
          </a:prstGeom>
          <a:noFill/>
          <a:ln/>
        </p:spPr>
        <p:txBody>
          <a:bodyPr wrap="square" lIns="0" tIns="0" rIns="0" bIns="0" rtlCol="0" anchor="ctr">
            <a:normAutofit/>
          </a:bodyPr>
          <a:lstStyle/>
          <a:p>
            <a:pPr indent="0" marL="0">
              <a:buNone/>
            </a:pPr>
            <a:r>
              <a:rPr lang="en-US" sz="870" b="1" dirty="0">
                <a:solidFill>
                  <a:srgbClr val="1E293B"/>
                </a:solidFill>
                <a:latin typeface="Calibri" pitchFamily="34" charset="0"/>
                <a:ea typeface="Calibri" pitchFamily="34" charset="-122"/>
                <a:cs typeface="Calibri" pitchFamily="34" charset="-120"/>
              </a:rPr>
              <a:t>API Versioning</a:t>
            </a:r>
            <a:endParaRPr lang="en-US" sz="870" dirty="0"/>
          </a:p>
        </p:txBody>
      </p:sp>
      <p:sp>
        <p:nvSpPr>
          <p:cNvPr id="47" name="Text 45"/>
          <p:cNvSpPr/>
          <p:nvPr/>
        </p:nvSpPr>
        <p:spPr>
          <a:xfrm>
            <a:off x="1691640" y="3273552"/>
            <a:ext cx="2423160" cy="219456"/>
          </a:xfrm>
          <a:prstGeom prst="rect">
            <a:avLst/>
          </a:prstGeom>
          <a:noFill/>
          <a:ln/>
        </p:spPr>
        <p:txBody>
          <a:bodyPr wrap="square" lIns="0" tIns="0" rIns="0" bIns="0" rtlCol="0" anchor="ctr">
            <a:normAutofit/>
          </a:bodyPr>
          <a:lstStyle/>
          <a:p>
            <a:pPr indent="0" marL="0">
              <a:buNone/>
            </a:pPr>
            <a:r>
              <a:rPr lang="en-US" sz="770" dirty="0">
                <a:solidFill>
                  <a:srgbClr val="1E293B"/>
                </a:solidFill>
                <a:latin typeface="Calibri" pitchFamily="34" charset="0"/>
                <a:ea typeface="Calibri" pitchFamily="34" charset="-122"/>
                <a:cs typeface="Calibri" pitchFamily="34" charset="-120"/>
              </a:rPr>
              <a:t>endpoint path lacks /vN</a:t>
            </a:r>
            <a:endParaRPr lang="en-US" sz="770" dirty="0"/>
          </a:p>
        </p:txBody>
      </p:sp>
      <p:sp>
        <p:nvSpPr>
          <p:cNvPr id="48" name="Text 46"/>
          <p:cNvSpPr/>
          <p:nvPr/>
        </p:nvSpPr>
        <p:spPr>
          <a:xfrm>
            <a:off x="4251960" y="3273552"/>
            <a:ext cx="1325880" cy="219456"/>
          </a:xfrm>
          <a:prstGeom prst="rect">
            <a:avLst/>
          </a:prstGeom>
          <a:noFill/>
          <a:ln/>
        </p:spPr>
        <p:txBody>
          <a:bodyPr wrap="square" lIns="0" tIns="0" rIns="0" bIns="0" rtlCol="0" anchor="ctr">
            <a:normAutofit/>
          </a:bodyPr>
          <a:lstStyle/>
          <a:p>
            <a:pPr indent="0" marL="0">
              <a:buNone/>
            </a:pPr>
            <a:r>
              <a:rPr lang="en-US" sz="770" dirty="0">
                <a:solidFill>
                  <a:srgbClr val="1E293B"/>
                </a:solidFill>
                <a:latin typeface="Calibri" pitchFamily="34" charset="0"/>
                <a:ea typeface="Calibri" pitchFamily="34" charset="-122"/>
                <a:cs typeface="Calibri" pitchFamily="34" charset="-120"/>
              </a:rPr>
              <a:t>no version token</a:t>
            </a:r>
            <a:endParaRPr lang="en-US" sz="770" dirty="0"/>
          </a:p>
        </p:txBody>
      </p:sp>
      <p:sp>
        <p:nvSpPr>
          <p:cNvPr id="49" name="Text 47"/>
          <p:cNvSpPr/>
          <p:nvPr/>
        </p:nvSpPr>
        <p:spPr>
          <a:xfrm>
            <a:off x="5715000" y="3273552"/>
            <a:ext cx="685800" cy="219456"/>
          </a:xfrm>
          <a:prstGeom prst="rect">
            <a:avLst/>
          </a:prstGeom>
          <a:noFill/>
          <a:ln/>
        </p:spPr>
        <p:txBody>
          <a:bodyPr wrap="square" lIns="0" tIns="0" rIns="0" bIns="0" rtlCol="0" anchor="ctr">
            <a:normAutofit/>
          </a:bodyPr>
          <a:lstStyle/>
          <a:p>
            <a:pPr indent="0" marL="0">
              <a:buNone/>
            </a:pPr>
            <a:r>
              <a:rPr lang="en-US" sz="770" b="1" dirty="0">
                <a:solidFill>
                  <a:srgbClr val="1C4E80"/>
                </a:solidFill>
                <a:latin typeface="Calibri" pitchFamily="34" charset="0"/>
                <a:ea typeface="Calibri" pitchFamily="34" charset="-122"/>
                <a:cs typeface="Calibri" pitchFamily="34" charset="-120"/>
              </a:rPr>
              <a:t>Med.</a:t>
            </a:r>
            <a:endParaRPr lang="en-US" sz="770" dirty="0"/>
          </a:p>
        </p:txBody>
      </p:sp>
      <p:sp>
        <p:nvSpPr>
          <p:cNvPr id="50" name="Text 48"/>
          <p:cNvSpPr/>
          <p:nvPr/>
        </p:nvSpPr>
        <p:spPr>
          <a:xfrm>
            <a:off x="6537960" y="3273552"/>
            <a:ext cx="2057400" cy="219456"/>
          </a:xfrm>
          <a:prstGeom prst="rect">
            <a:avLst/>
          </a:prstGeom>
          <a:noFill/>
          <a:ln/>
        </p:spPr>
        <p:txBody>
          <a:bodyPr wrap="square" lIns="0" tIns="0" rIns="0" bIns="0" rtlCol="0" anchor="ctr">
            <a:normAutofit/>
          </a:bodyPr>
          <a:lstStyle/>
          <a:p>
            <a:pPr indent="0" marL="0">
              <a:buNone/>
            </a:pPr>
            <a:r>
              <a:rPr lang="en-US" sz="770" dirty="0">
                <a:solidFill>
                  <a:srgbClr val="1E293B"/>
                </a:solidFill>
                <a:latin typeface="Calibri" pitchFamily="34" charset="0"/>
                <a:ea typeface="Calibri" pitchFamily="34" charset="-122"/>
                <a:cs typeface="Calibri" pitchFamily="34" charset="-120"/>
              </a:rPr>
              <a:t>client breakage risk</a:t>
            </a:r>
            <a:endParaRPr lang="en-US" sz="770" dirty="0"/>
          </a:p>
        </p:txBody>
      </p:sp>
      <p:sp>
        <p:nvSpPr>
          <p:cNvPr id="51" name="Shape 49"/>
          <p:cNvSpPr/>
          <p:nvPr/>
        </p:nvSpPr>
        <p:spPr>
          <a:xfrm>
            <a:off x="548640" y="3520440"/>
            <a:ext cx="8046720" cy="7315"/>
          </a:xfrm>
          <a:prstGeom prst="rect">
            <a:avLst/>
          </a:prstGeom>
          <a:solidFill>
            <a:srgbClr val="D8DEE6"/>
          </a:solidFill>
          <a:ln w="12700">
            <a:solidFill>
              <a:srgbClr val="D8DEE6"/>
            </a:solidFill>
            <a:prstDash val="solid"/>
          </a:ln>
        </p:spPr>
      </p:sp>
      <p:sp>
        <p:nvSpPr>
          <p:cNvPr id="52" name="Text 50"/>
          <p:cNvSpPr/>
          <p:nvPr/>
        </p:nvSpPr>
        <p:spPr>
          <a:xfrm>
            <a:off x="548640" y="3584448"/>
            <a:ext cx="1234440" cy="219456"/>
          </a:xfrm>
          <a:prstGeom prst="rect">
            <a:avLst/>
          </a:prstGeom>
          <a:noFill/>
          <a:ln/>
        </p:spPr>
        <p:txBody>
          <a:bodyPr wrap="square" lIns="0" tIns="0" rIns="0" bIns="0" rtlCol="0" anchor="ctr">
            <a:normAutofit/>
          </a:bodyPr>
          <a:lstStyle/>
          <a:p>
            <a:pPr indent="0" marL="0">
              <a:buNone/>
            </a:pPr>
            <a:r>
              <a:rPr lang="en-US" sz="870" b="1" dirty="0">
                <a:solidFill>
                  <a:srgbClr val="1E293B"/>
                </a:solidFill>
                <a:latin typeface="Calibri" pitchFamily="34" charset="0"/>
                <a:ea typeface="Calibri" pitchFamily="34" charset="-122"/>
                <a:cs typeface="Calibri" pitchFamily="34" charset="-120"/>
              </a:rPr>
              <a:t>Wrong Cuts</a:t>
            </a:r>
            <a:endParaRPr lang="en-US" sz="870" dirty="0"/>
          </a:p>
        </p:txBody>
      </p:sp>
      <p:sp>
        <p:nvSpPr>
          <p:cNvPr id="53" name="Text 51"/>
          <p:cNvSpPr/>
          <p:nvPr/>
        </p:nvSpPr>
        <p:spPr>
          <a:xfrm>
            <a:off x="1691640" y="3584448"/>
            <a:ext cx="2423160" cy="219456"/>
          </a:xfrm>
          <a:prstGeom prst="rect">
            <a:avLst/>
          </a:prstGeom>
          <a:noFill/>
          <a:ln/>
        </p:spPr>
        <p:txBody>
          <a:bodyPr wrap="square" lIns="0" tIns="0" rIns="0" bIns="0" rtlCol="0" anchor="ctr">
            <a:normAutofit/>
          </a:bodyPr>
          <a:lstStyle/>
          <a:p>
            <a:pPr indent="0" marL="0">
              <a:buNone/>
            </a:pPr>
            <a:r>
              <a:rPr lang="en-US" sz="770" dirty="0">
                <a:solidFill>
                  <a:srgbClr val="1E293B"/>
                </a:solidFill>
                <a:latin typeface="Calibri" pitchFamily="34" charset="0"/>
                <a:ea typeface="Calibri" pitchFamily="34" charset="-122"/>
                <a:cs typeface="Calibri" pitchFamily="34" charset="-120"/>
              </a:rPr>
              <a:t>bidirectional service pair</a:t>
            </a:r>
            <a:endParaRPr lang="en-US" sz="770" dirty="0"/>
          </a:p>
        </p:txBody>
      </p:sp>
      <p:sp>
        <p:nvSpPr>
          <p:cNvPr id="54" name="Text 52"/>
          <p:cNvSpPr/>
          <p:nvPr/>
        </p:nvSpPr>
        <p:spPr>
          <a:xfrm>
            <a:off x="4251960" y="3584448"/>
            <a:ext cx="1325880" cy="219456"/>
          </a:xfrm>
          <a:prstGeom prst="rect">
            <a:avLst/>
          </a:prstGeom>
          <a:noFill/>
          <a:ln/>
        </p:spPr>
        <p:txBody>
          <a:bodyPr wrap="square" lIns="0" tIns="0" rIns="0" bIns="0" rtlCol="0" anchor="ctr">
            <a:normAutofit/>
          </a:bodyPr>
          <a:lstStyle/>
          <a:p>
            <a:pPr indent="0" marL="0">
              <a:buNone/>
            </a:pPr>
            <a:r>
              <a:rPr lang="en-US" sz="770" dirty="0">
                <a:solidFill>
                  <a:srgbClr val="1E293B"/>
                </a:solidFill>
                <a:latin typeface="Calibri" pitchFamily="34" charset="0"/>
                <a:ea typeface="Calibri" pitchFamily="34" charset="-122"/>
                <a:cs typeface="Calibri" pitchFamily="34" charset="-120"/>
              </a:rPr>
              <a:t>A-&gt;B and B-&gt;A</a:t>
            </a:r>
            <a:endParaRPr lang="en-US" sz="770" dirty="0"/>
          </a:p>
        </p:txBody>
      </p:sp>
      <p:sp>
        <p:nvSpPr>
          <p:cNvPr id="55" name="Text 53"/>
          <p:cNvSpPr/>
          <p:nvPr/>
        </p:nvSpPr>
        <p:spPr>
          <a:xfrm>
            <a:off x="5715000" y="3584448"/>
            <a:ext cx="685800" cy="219456"/>
          </a:xfrm>
          <a:prstGeom prst="rect">
            <a:avLst/>
          </a:prstGeom>
          <a:noFill/>
          <a:ln/>
        </p:spPr>
        <p:txBody>
          <a:bodyPr wrap="square" lIns="0" tIns="0" rIns="0" bIns="0" rtlCol="0" anchor="ctr">
            <a:normAutofit/>
          </a:bodyPr>
          <a:lstStyle/>
          <a:p>
            <a:pPr indent="0" marL="0">
              <a:buNone/>
            </a:pPr>
            <a:r>
              <a:rPr lang="en-US" sz="770" b="1" dirty="0">
                <a:solidFill>
                  <a:srgbClr val="D97706"/>
                </a:solidFill>
                <a:latin typeface="Calibri" pitchFamily="34" charset="0"/>
                <a:ea typeface="Calibri" pitchFamily="34" charset="-122"/>
                <a:cs typeface="Calibri" pitchFamily="34" charset="-120"/>
              </a:rPr>
              <a:t>High</a:t>
            </a:r>
            <a:endParaRPr lang="en-US" sz="770" dirty="0"/>
          </a:p>
        </p:txBody>
      </p:sp>
      <p:sp>
        <p:nvSpPr>
          <p:cNvPr id="56" name="Text 54"/>
          <p:cNvSpPr/>
          <p:nvPr/>
        </p:nvSpPr>
        <p:spPr>
          <a:xfrm>
            <a:off x="6537960" y="3584448"/>
            <a:ext cx="2057400" cy="219456"/>
          </a:xfrm>
          <a:prstGeom prst="rect">
            <a:avLst/>
          </a:prstGeom>
          <a:noFill/>
          <a:ln/>
        </p:spPr>
        <p:txBody>
          <a:bodyPr wrap="square" lIns="0" tIns="0" rIns="0" bIns="0" rtlCol="0" anchor="ctr">
            <a:normAutofit/>
          </a:bodyPr>
          <a:lstStyle/>
          <a:p>
            <a:pPr indent="0" marL="0">
              <a:buNone/>
            </a:pPr>
            <a:r>
              <a:rPr lang="en-US" sz="770" dirty="0">
                <a:solidFill>
                  <a:srgbClr val="1E293B"/>
                </a:solidFill>
                <a:latin typeface="Calibri" pitchFamily="34" charset="0"/>
                <a:ea typeface="Calibri" pitchFamily="34" charset="-122"/>
                <a:cs typeface="Calibri" pitchFamily="34" charset="-120"/>
              </a:rPr>
              <a:t>poor boundaries</a:t>
            </a:r>
            <a:endParaRPr lang="en-US" sz="770" dirty="0"/>
          </a:p>
        </p:txBody>
      </p:sp>
      <p:sp>
        <p:nvSpPr>
          <p:cNvPr id="57" name="Shape 55"/>
          <p:cNvSpPr/>
          <p:nvPr/>
        </p:nvSpPr>
        <p:spPr>
          <a:xfrm>
            <a:off x="548640" y="3831336"/>
            <a:ext cx="8046720" cy="7315"/>
          </a:xfrm>
          <a:prstGeom prst="rect">
            <a:avLst/>
          </a:prstGeom>
          <a:solidFill>
            <a:srgbClr val="D8DEE6"/>
          </a:solidFill>
          <a:ln w="12700">
            <a:solidFill>
              <a:srgbClr val="D8DEE6"/>
            </a:solidFill>
            <a:prstDash val="solid"/>
          </a:ln>
        </p:spPr>
      </p:sp>
      <p:sp>
        <p:nvSpPr>
          <p:cNvPr id="58" name="Text 56"/>
          <p:cNvSpPr/>
          <p:nvPr/>
        </p:nvSpPr>
        <p:spPr>
          <a:xfrm>
            <a:off x="548640" y="3895344"/>
            <a:ext cx="1234440" cy="219456"/>
          </a:xfrm>
          <a:prstGeom prst="rect">
            <a:avLst/>
          </a:prstGeom>
          <a:noFill/>
          <a:ln/>
        </p:spPr>
        <p:txBody>
          <a:bodyPr wrap="square" lIns="0" tIns="0" rIns="0" bIns="0" rtlCol="0" anchor="ctr">
            <a:normAutofit/>
          </a:bodyPr>
          <a:lstStyle/>
          <a:p>
            <a:pPr indent="0" marL="0">
              <a:buNone/>
            </a:pPr>
            <a:r>
              <a:rPr lang="en-US" sz="870" b="1" dirty="0">
                <a:solidFill>
                  <a:srgbClr val="1E293B"/>
                </a:solidFill>
                <a:latin typeface="Calibri" pitchFamily="34" charset="0"/>
                <a:ea typeface="Calibri" pitchFamily="34" charset="-122"/>
                <a:cs typeface="Calibri" pitchFamily="34" charset="-120"/>
              </a:rPr>
              <a:t>Nano Service</a:t>
            </a:r>
            <a:endParaRPr lang="en-US" sz="870" dirty="0"/>
          </a:p>
        </p:txBody>
      </p:sp>
      <p:sp>
        <p:nvSpPr>
          <p:cNvPr id="59" name="Text 57"/>
          <p:cNvSpPr/>
          <p:nvPr/>
        </p:nvSpPr>
        <p:spPr>
          <a:xfrm>
            <a:off x="1691640" y="3895344"/>
            <a:ext cx="2423160" cy="219456"/>
          </a:xfrm>
          <a:prstGeom prst="rect">
            <a:avLst/>
          </a:prstGeom>
          <a:noFill/>
          <a:ln/>
        </p:spPr>
        <p:txBody>
          <a:bodyPr wrap="square" lIns="0" tIns="0" rIns="0" bIns="0" rtlCol="0" anchor="ctr">
            <a:normAutofit/>
          </a:bodyPr>
          <a:lstStyle/>
          <a:p>
            <a:pPr indent="0" marL="0">
              <a:buNone/>
            </a:pPr>
            <a:r>
              <a:rPr lang="en-US" sz="770" dirty="0">
                <a:solidFill>
                  <a:srgbClr val="1E293B"/>
                </a:solidFill>
                <a:latin typeface="Calibri" pitchFamily="34" charset="0"/>
                <a:ea typeface="Calibri" pitchFamily="34" charset="-122"/>
                <a:cs typeface="Calibri" pitchFamily="34" charset="-120"/>
              </a:rPr>
              <a:t>very small deployable service</a:t>
            </a:r>
            <a:endParaRPr lang="en-US" sz="770" dirty="0"/>
          </a:p>
        </p:txBody>
      </p:sp>
      <p:sp>
        <p:nvSpPr>
          <p:cNvPr id="60" name="Text 58"/>
          <p:cNvSpPr/>
          <p:nvPr/>
        </p:nvSpPr>
        <p:spPr>
          <a:xfrm>
            <a:off x="4251960" y="3895344"/>
            <a:ext cx="1325880" cy="219456"/>
          </a:xfrm>
          <a:prstGeom prst="rect">
            <a:avLst/>
          </a:prstGeom>
          <a:noFill/>
          <a:ln/>
        </p:spPr>
        <p:txBody>
          <a:bodyPr wrap="square" lIns="0" tIns="0" rIns="0" bIns="0" rtlCol="0" anchor="ctr">
            <a:normAutofit/>
          </a:bodyPr>
          <a:lstStyle/>
          <a:p>
            <a:pPr indent="0" marL="0">
              <a:buNone/>
            </a:pPr>
            <a:r>
              <a:rPr lang="en-US" sz="770" dirty="0">
                <a:solidFill>
                  <a:srgbClr val="1E293B"/>
                </a:solidFill>
                <a:latin typeface="Calibri" pitchFamily="34" charset="0"/>
                <a:ea typeface="Calibri" pitchFamily="34" charset="-122"/>
                <a:cs typeface="Calibri" pitchFamily="34" charset="-120"/>
              </a:rPr>
              <a:t>LOC below floor</a:t>
            </a:r>
            <a:endParaRPr lang="en-US" sz="770" dirty="0"/>
          </a:p>
        </p:txBody>
      </p:sp>
      <p:sp>
        <p:nvSpPr>
          <p:cNvPr id="61" name="Text 59"/>
          <p:cNvSpPr/>
          <p:nvPr/>
        </p:nvSpPr>
        <p:spPr>
          <a:xfrm>
            <a:off x="5715000" y="3895344"/>
            <a:ext cx="685800" cy="219456"/>
          </a:xfrm>
          <a:prstGeom prst="rect">
            <a:avLst/>
          </a:prstGeom>
          <a:noFill/>
          <a:ln/>
        </p:spPr>
        <p:txBody>
          <a:bodyPr wrap="square" lIns="0" tIns="0" rIns="0" bIns="0" rtlCol="0" anchor="ctr">
            <a:normAutofit/>
          </a:bodyPr>
          <a:lstStyle/>
          <a:p>
            <a:pPr indent="0" marL="0">
              <a:buNone/>
            </a:pPr>
            <a:r>
              <a:rPr lang="en-US" sz="770" b="1" dirty="0">
                <a:solidFill>
                  <a:srgbClr val="1C4E80"/>
                </a:solidFill>
                <a:latin typeface="Calibri" pitchFamily="34" charset="0"/>
                <a:ea typeface="Calibri" pitchFamily="34" charset="-122"/>
                <a:cs typeface="Calibri" pitchFamily="34" charset="-120"/>
              </a:rPr>
              <a:t>Med.</a:t>
            </a:r>
            <a:endParaRPr lang="en-US" sz="770" dirty="0"/>
          </a:p>
        </p:txBody>
      </p:sp>
      <p:sp>
        <p:nvSpPr>
          <p:cNvPr id="62" name="Text 60"/>
          <p:cNvSpPr/>
          <p:nvPr/>
        </p:nvSpPr>
        <p:spPr>
          <a:xfrm>
            <a:off x="6537960" y="3895344"/>
            <a:ext cx="2057400" cy="219456"/>
          </a:xfrm>
          <a:prstGeom prst="rect">
            <a:avLst/>
          </a:prstGeom>
          <a:noFill/>
          <a:ln/>
        </p:spPr>
        <p:txBody>
          <a:bodyPr wrap="square" lIns="0" tIns="0" rIns="0" bIns="0" rtlCol="0" anchor="ctr">
            <a:normAutofit/>
          </a:bodyPr>
          <a:lstStyle/>
          <a:p>
            <a:pPr indent="0" marL="0">
              <a:buNone/>
            </a:pPr>
            <a:r>
              <a:rPr lang="en-US" sz="770" dirty="0">
                <a:solidFill>
                  <a:srgbClr val="1E293B"/>
                </a:solidFill>
                <a:latin typeface="Calibri" pitchFamily="34" charset="0"/>
                <a:ea typeface="Calibri" pitchFamily="34" charset="-122"/>
                <a:cs typeface="Calibri" pitchFamily="34" charset="-120"/>
              </a:rPr>
              <a:t>operational overhead</a:t>
            </a:r>
            <a:endParaRPr lang="en-US" sz="770" dirty="0"/>
          </a:p>
        </p:txBody>
      </p:sp>
      <p:sp>
        <p:nvSpPr>
          <p:cNvPr id="63" name="Shape 61"/>
          <p:cNvSpPr/>
          <p:nvPr/>
        </p:nvSpPr>
        <p:spPr>
          <a:xfrm>
            <a:off x="548640" y="4142232"/>
            <a:ext cx="8046720" cy="7315"/>
          </a:xfrm>
          <a:prstGeom prst="rect">
            <a:avLst/>
          </a:prstGeom>
          <a:solidFill>
            <a:srgbClr val="D8DEE6"/>
          </a:solidFill>
          <a:ln w="12700">
            <a:solidFill>
              <a:srgbClr val="D8DEE6"/>
            </a:solidFill>
            <a:prstDash val="solid"/>
          </a:ln>
        </p:spPr>
      </p:sp>
      <p:sp>
        <p:nvSpPr>
          <p:cNvPr id="64" name="Text 62"/>
          <p:cNvSpPr/>
          <p:nvPr/>
        </p:nvSpPr>
        <p:spPr>
          <a:xfrm>
            <a:off x="548640" y="4206240"/>
            <a:ext cx="1234440" cy="219456"/>
          </a:xfrm>
          <a:prstGeom prst="rect">
            <a:avLst/>
          </a:prstGeom>
          <a:noFill/>
          <a:ln/>
        </p:spPr>
        <p:txBody>
          <a:bodyPr wrap="square" lIns="0" tIns="0" rIns="0" bIns="0" rtlCol="0" anchor="ctr">
            <a:normAutofit/>
          </a:bodyPr>
          <a:lstStyle/>
          <a:p>
            <a:pPr indent="0" marL="0">
              <a:buNone/>
            </a:pPr>
            <a:r>
              <a:rPr lang="en-US" sz="870" b="1" dirty="0">
                <a:solidFill>
                  <a:srgbClr val="1E293B"/>
                </a:solidFill>
                <a:latin typeface="Calibri" pitchFamily="34" charset="0"/>
                <a:ea typeface="Calibri" pitchFamily="34" charset="-122"/>
                <a:cs typeface="Calibri" pitchFamily="34" charset="-120"/>
              </a:rPr>
              <a:t>God Service</a:t>
            </a:r>
            <a:endParaRPr lang="en-US" sz="870" dirty="0"/>
          </a:p>
        </p:txBody>
      </p:sp>
      <p:sp>
        <p:nvSpPr>
          <p:cNvPr id="65" name="Text 63"/>
          <p:cNvSpPr/>
          <p:nvPr/>
        </p:nvSpPr>
        <p:spPr>
          <a:xfrm>
            <a:off x="1691640" y="4206240"/>
            <a:ext cx="2423160" cy="219456"/>
          </a:xfrm>
          <a:prstGeom prst="rect">
            <a:avLst/>
          </a:prstGeom>
          <a:noFill/>
          <a:ln/>
        </p:spPr>
        <p:txBody>
          <a:bodyPr wrap="square" lIns="0" tIns="0" rIns="0" bIns="0" rtlCol="0" anchor="ctr">
            <a:normAutofit/>
          </a:bodyPr>
          <a:lstStyle/>
          <a:p>
            <a:pPr indent="0" marL="0">
              <a:buNone/>
            </a:pPr>
            <a:r>
              <a:rPr lang="en-US" sz="770" dirty="0">
                <a:solidFill>
                  <a:srgbClr val="1E293B"/>
                </a:solidFill>
                <a:latin typeface="Calibri" pitchFamily="34" charset="0"/>
                <a:ea typeface="Calibri" pitchFamily="34" charset="-122"/>
                <a:cs typeface="Calibri" pitchFamily="34" charset="-120"/>
              </a:rPr>
              <a:t>contains God Class evidence</a:t>
            </a:r>
            <a:endParaRPr lang="en-US" sz="770" dirty="0"/>
          </a:p>
        </p:txBody>
      </p:sp>
      <p:sp>
        <p:nvSpPr>
          <p:cNvPr id="66" name="Text 64"/>
          <p:cNvSpPr/>
          <p:nvPr/>
        </p:nvSpPr>
        <p:spPr>
          <a:xfrm>
            <a:off x="4251960" y="4206240"/>
            <a:ext cx="1325880" cy="219456"/>
          </a:xfrm>
          <a:prstGeom prst="rect">
            <a:avLst/>
          </a:prstGeom>
          <a:noFill/>
          <a:ln/>
        </p:spPr>
        <p:txBody>
          <a:bodyPr wrap="square" lIns="0" tIns="0" rIns="0" bIns="0" rtlCol="0" anchor="ctr">
            <a:normAutofit/>
          </a:bodyPr>
          <a:lstStyle/>
          <a:p>
            <a:pPr indent="0" marL="0">
              <a:buNone/>
            </a:pPr>
            <a:r>
              <a:rPr lang="en-US" sz="770" dirty="0">
                <a:solidFill>
                  <a:srgbClr val="1E293B"/>
                </a:solidFill>
                <a:latin typeface="Calibri" pitchFamily="34" charset="0"/>
                <a:ea typeface="Calibri" pitchFamily="34" charset="-122"/>
                <a:cs typeface="Calibri" pitchFamily="34" charset="-120"/>
              </a:rPr>
              <a:t>&gt;=3 of 6 metrics</a:t>
            </a:r>
            <a:endParaRPr lang="en-US" sz="770" dirty="0"/>
          </a:p>
        </p:txBody>
      </p:sp>
      <p:sp>
        <p:nvSpPr>
          <p:cNvPr id="67" name="Text 65"/>
          <p:cNvSpPr/>
          <p:nvPr/>
        </p:nvSpPr>
        <p:spPr>
          <a:xfrm>
            <a:off x="5715000" y="4206240"/>
            <a:ext cx="685800" cy="219456"/>
          </a:xfrm>
          <a:prstGeom prst="rect">
            <a:avLst/>
          </a:prstGeom>
          <a:noFill/>
          <a:ln/>
        </p:spPr>
        <p:txBody>
          <a:bodyPr wrap="square" lIns="0" tIns="0" rIns="0" bIns="0" rtlCol="0" anchor="ctr">
            <a:normAutofit/>
          </a:bodyPr>
          <a:lstStyle/>
          <a:p>
            <a:pPr indent="0" marL="0">
              <a:buNone/>
            </a:pPr>
            <a:r>
              <a:rPr lang="en-US" sz="770" b="1" dirty="0">
                <a:solidFill>
                  <a:srgbClr val="D97706"/>
                </a:solidFill>
                <a:latin typeface="Calibri" pitchFamily="34" charset="0"/>
                <a:ea typeface="Calibri" pitchFamily="34" charset="-122"/>
                <a:cs typeface="Calibri" pitchFamily="34" charset="-120"/>
              </a:rPr>
              <a:t>High</a:t>
            </a:r>
            <a:endParaRPr lang="en-US" sz="770" dirty="0"/>
          </a:p>
        </p:txBody>
      </p:sp>
      <p:sp>
        <p:nvSpPr>
          <p:cNvPr id="68" name="Text 66"/>
          <p:cNvSpPr/>
          <p:nvPr/>
        </p:nvSpPr>
        <p:spPr>
          <a:xfrm>
            <a:off x="6537960" y="4206240"/>
            <a:ext cx="2057400" cy="219456"/>
          </a:xfrm>
          <a:prstGeom prst="rect">
            <a:avLst/>
          </a:prstGeom>
          <a:noFill/>
          <a:ln/>
        </p:spPr>
        <p:txBody>
          <a:bodyPr wrap="square" lIns="0" tIns="0" rIns="0" bIns="0" rtlCol="0" anchor="ctr">
            <a:normAutofit/>
          </a:bodyPr>
          <a:lstStyle/>
          <a:p>
            <a:pPr indent="0" marL="0">
              <a:buNone/>
            </a:pPr>
            <a:r>
              <a:rPr lang="en-US" sz="770" dirty="0">
                <a:solidFill>
                  <a:srgbClr val="1E293B"/>
                </a:solidFill>
                <a:latin typeface="Calibri" pitchFamily="34" charset="0"/>
                <a:ea typeface="Calibri" pitchFamily="34" charset="-122"/>
                <a:cs typeface="Calibri" pitchFamily="34" charset="-120"/>
              </a:rPr>
              <a:t>too many responsibilities</a:t>
            </a:r>
            <a:endParaRPr lang="en-US" sz="770" dirty="0"/>
          </a:p>
        </p:txBody>
      </p:sp>
      <p:sp>
        <p:nvSpPr>
          <p:cNvPr id="69" name="Shape 67"/>
          <p:cNvSpPr/>
          <p:nvPr/>
        </p:nvSpPr>
        <p:spPr>
          <a:xfrm>
            <a:off x="548640" y="4453128"/>
            <a:ext cx="8046720" cy="7315"/>
          </a:xfrm>
          <a:prstGeom prst="rect">
            <a:avLst/>
          </a:prstGeom>
          <a:solidFill>
            <a:srgbClr val="D8DEE6"/>
          </a:solidFill>
          <a:ln w="12700">
            <a:solidFill>
              <a:srgbClr val="D8DEE6"/>
            </a:solidFill>
            <a:prstDash val="solid"/>
          </a:ln>
        </p:spPr>
      </p:sp>
      <p:sp>
        <p:nvSpPr>
          <p:cNvPr id="70" name="Shape 68"/>
          <p:cNvSpPr/>
          <p:nvPr/>
        </p:nvSpPr>
        <p:spPr>
          <a:xfrm>
            <a:off x="548640" y="4599432"/>
            <a:ext cx="457200" cy="36576"/>
          </a:xfrm>
          <a:prstGeom prst="rect">
            <a:avLst/>
          </a:prstGeom>
          <a:solidFill>
            <a:srgbClr val="0D9488"/>
          </a:solidFill>
          <a:ln w="12700">
            <a:solidFill>
              <a:srgbClr val="0D9488"/>
            </a:solidFill>
            <a:prstDash val="solid"/>
          </a:ln>
        </p:spPr>
      </p:sp>
      <p:sp>
        <p:nvSpPr>
          <p:cNvPr id="71" name="Text 69"/>
          <p:cNvSpPr/>
          <p:nvPr/>
        </p:nvSpPr>
        <p:spPr>
          <a:xfrm>
            <a:off x="548640" y="4681728"/>
            <a:ext cx="8046720" cy="201168"/>
          </a:xfrm>
          <a:prstGeom prst="rect">
            <a:avLst/>
          </a:prstGeom>
          <a:noFill/>
          <a:ln/>
        </p:spPr>
        <p:txBody>
          <a:bodyPr wrap="square" lIns="0" tIns="0" rIns="0" bIns="0" rtlCol="0" anchor="ctr"/>
          <a:lstStyle/>
          <a:p>
            <a:pPr indent="0" marL="0">
              <a:buNone/>
            </a:pPr>
            <a:r>
              <a:rPr lang="en-US" sz="850" i="1" dirty="0">
                <a:solidFill>
                  <a:srgbClr val="64748B"/>
                </a:solidFill>
                <a:latin typeface="Calibri" pitchFamily="34" charset="0"/>
                <a:ea typeface="Calibri" pitchFamily="34" charset="-122"/>
                <a:cs typeface="Calibri" pitchFamily="34" charset="-120"/>
              </a:rPr>
              <a:t>Thresholds are configurable and intentionally conservative for a dissertation prototype; production use should calibrate them per organisation.</a:t>
            </a:r>
            <a:endParaRPr lang="en-US" sz="850" dirty="0"/>
          </a:p>
        </p:txBody>
      </p:sp>
      <p:sp>
        <p:nvSpPr>
          <p:cNvPr id="72" name="Text 70"/>
          <p:cNvSpPr/>
          <p:nvPr/>
        </p:nvSpPr>
        <p:spPr>
          <a:xfrm>
            <a:off x="7452360" y="4864608"/>
            <a:ext cx="1143000" cy="22860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Appendix E</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56032"/>
            <a:ext cx="8046720" cy="502920"/>
          </a:xfrm>
          <a:prstGeom prst="rect">
            <a:avLst/>
          </a:prstGeom>
          <a:noFill/>
          <a:ln/>
        </p:spPr>
        <p:txBody>
          <a:bodyPr wrap="square" lIns="0" tIns="0" rIns="0" bIns="0" rtlCol="0" anchor="ctr"/>
          <a:lstStyle/>
          <a:p>
            <a:pPr indent="0" marL="0">
              <a:buNone/>
            </a:pPr>
            <a:r>
              <a:rPr lang="en-US" sz="2500" b="1" dirty="0">
                <a:solidFill>
                  <a:srgbClr val="0F2A44"/>
                </a:solidFill>
                <a:latin typeface="Calibri" pitchFamily="34" charset="0"/>
                <a:ea typeface="Calibri" pitchFamily="34" charset="-122"/>
                <a:cs typeface="Calibri" pitchFamily="34" charset="-120"/>
              </a:rPr>
              <a:t>Annex: graph analysis terms</a:t>
            </a:r>
            <a:endParaRPr lang="en-US" sz="2500" dirty="0"/>
          </a:p>
        </p:txBody>
      </p:sp>
      <p:sp>
        <p:nvSpPr>
          <p:cNvPr id="3" name="Shape 1"/>
          <p:cNvSpPr/>
          <p:nvPr/>
        </p:nvSpPr>
        <p:spPr>
          <a:xfrm>
            <a:off x="548640" y="841248"/>
            <a:ext cx="8046720" cy="13716"/>
          </a:xfrm>
          <a:prstGeom prst="rect">
            <a:avLst/>
          </a:prstGeom>
          <a:solidFill>
            <a:srgbClr val="D8DEE6"/>
          </a:solidFill>
          <a:ln w="12700">
            <a:solidFill>
              <a:srgbClr val="D8DEE6"/>
            </a:solidFill>
            <a:prstDash val="solid"/>
          </a:ln>
        </p:spPr>
      </p:sp>
      <p:sp>
        <p:nvSpPr>
          <p:cNvPr id="4" name="Text 2"/>
          <p:cNvSpPr/>
          <p:nvPr/>
        </p:nvSpPr>
        <p:spPr>
          <a:xfrm>
            <a:off x="548640" y="1024128"/>
            <a:ext cx="3703320" cy="228600"/>
          </a:xfrm>
          <a:prstGeom prst="rect">
            <a:avLst/>
          </a:prstGeom>
          <a:noFill/>
          <a:ln/>
        </p:spPr>
        <p:txBody>
          <a:bodyPr wrap="square" lIns="0" tIns="0" rIns="0" bIns="0" rtlCol="0" anchor="ctr"/>
          <a:lstStyle/>
          <a:p>
            <a:pPr indent="0" marL="0">
              <a:buNone/>
            </a:pPr>
            <a:r>
              <a:rPr lang="en-US" sz="1070" b="1" dirty="0">
                <a:solidFill>
                  <a:srgbClr val="0F2A44"/>
                </a:solidFill>
                <a:latin typeface="Calibri" pitchFamily="34" charset="0"/>
                <a:ea typeface="Calibri" pitchFamily="34" charset="-122"/>
                <a:cs typeface="Calibri" pitchFamily="34" charset="-120"/>
              </a:rPr>
              <a:t>Directed dependency graph</a:t>
            </a:r>
            <a:endParaRPr lang="en-US" sz="1070" dirty="0"/>
          </a:p>
        </p:txBody>
      </p:sp>
      <p:sp>
        <p:nvSpPr>
          <p:cNvPr id="5" name="Text 3"/>
          <p:cNvSpPr/>
          <p:nvPr/>
        </p:nvSpPr>
        <p:spPr>
          <a:xfrm>
            <a:off x="548640" y="1280160"/>
            <a:ext cx="3703320" cy="384048"/>
          </a:xfrm>
          <a:prstGeom prst="rect">
            <a:avLst/>
          </a:prstGeom>
          <a:noFill/>
          <a:ln/>
        </p:spPr>
        <p:txBody>
          <a:bodyPr wrap="square" lIns="0" tIns="0" rIns="0" bIns="0" rtlCol="0" anchor="ctr">
            <a:normAutofit/>
          </a:bodyPr>
          <a:lstStyle/>
          <a:p>
            <a:pPr indent="0" marL="0">
              <a:buNone/>
            </a:pPr>
            <a:r>
              <a:rPr lang="en-US" sz="880" dirty="0">
                <a:solidFill>
                  <a:srgbClr val="1E293B"/>
                </a:solidFill>
                <a:latin typeface="Calibri" pitchFamily="34" charset="0"/>
                <a:ea typeface="Calibri" pitchFamily="34" charset="-122"/>
                <a:cs typeface="Calibri" pitchFamily="34" charset="-120"/>
              </a:rPr>
              <a:t>G = (V, E), where V is the set of detected services and E contains directed calls between services.</a:t>
            </a:r>
            <a:endParaRPr lang="en-US" sz="880" dirty="0"/>
          </a:p>
        </p:txBody>
      </p:sp>
      <p:sp>
        <p:nvSpPr>
          <p:cNvPr id="6" name="Shape 4"/>
          <p:cNvSpPr/>
          <p:nvPr/>
        </p:nvSpPr>
        <p:spPr>
          <a:xfrm>
            <a:off x="548640" y="1737360"/>
            <a:ext cx="3703320" cy="9144"/>
          </a:xfrm>
          <a:prstGeom prst="rect">
            <a:avLst/>
          </a:prstGeom>
          <a:solidFill>
            <a:srgbClr val="D8DEE6"/>
          </a:solidFill>
          <a:ln w="12700">
            <a:solidFill>
              <a:srgbClr val="D8DEE6"/>
            </a:solidFill>
            <a:prstDash val="solid"/>
          </a:ln>
        </p:spPr>
      </p:sp>
      <p:sp>
        <p:nvSpPr>
          <p:cNvPr id="7" name="Text 5"/>
          <p:cNvSpPr/>
          <p:nvPr/>
        </p:nvSpPr>
        <p:spPr>
          <a:xfrm>
            <a:off x="548640" y="1865376"/>
            <a:ext cx="3703320" cy="228600"/>
          </a:xfrm>
          <a:prstGeom prst="rect">
            <a:avLst/>
          </a:prstGeom>
          <a:noFill/>
          <a:ln/>
        </p:spPr>
        <p:txBody>
          <a:bodyPr wrap="square" lIns="0" tIns="0" rIns="0" bIns="0" rtlCol="0" anchor="ctr"/>
          <a:lstStyle/>
          <a:p>
            <a:pPr indent="0" marL="0">
              <a:buNone/>
            </a:pPr>
            <a:r>
              <a:rPr lang="en-US" sz="1070" b="1" dirty="0">
                <a:solidFill>
                  <a:srgbClr val="0F2A44"/>
                </a:solidFill>
                <a:latin typeface="Calibri" pitchFamily="34" charset="0"/>
                <a:ea typeface="Calibri" pitchFamily="34" charset="-122"/>
                <a:cs typeface="Calibri" pitchFamily="34" charset="-120"/>
              </a:rPr>
              <a:t>Edge weight</a:t>
            </a:r>
            <a:endParaRPr lang="en-US" sz="1070" dirty="0"/>
          </a:p>
        </p:txBody>
      </p:sp>
      <p:sp>
        <p:nvSpPr>
          <p:cNvPr id="8" name="Text 6"/>
          <p:cNvSpPr/>
          <p:nvPr/>
        </p:nvSpPr>
        <p:spPr>
          <a:xfrm>
            <a:off x="548640" y="2121408"/>
            <a:ext cx="3703320" cy="384048"/>
          </a:xfrm>
          <a:prstGeom prst="rect">
            <a:avLst/>
          </a:prstGeom>
          <a:noFill/>
          <a:ln/>
        </p:spPr>
        <p:txBody>
          <a:bodyPr wrap="square" lIns="0" tIns="0" rIns="0" bIns="0" rtlCol="0" anchor="ctr">
            <a:normAutofit/>
          </a:bodyPr>
          <a:lstStyle/>
          <a:p>
            <a:pPr indent="0" marL="0">
              <a:buNone/>
            </a:pPr>
            <a:r>
              <a:rPr lang="en-US" sz="880" dirty="0">
                <a:solidFill>
                  <a:srgbClr val="1E293B"/>
                </a:solidFill>
                <a:latin typeface="Calibri" pitchFamily="34" charset="0"/>
                <a:ea typeface="Calibri" pitchFamily="34" charset="-122"/>
                <a:cs typeface="Calibri" pitchFamily="34" charset="-120"/>
              </a:rPr>
              <a:t>The number of distinct source-level call sites from one service to another.</a:t>
            </a:r>
            <a:endParaRPr lang="en-US" sz="880" dirty="0"/>
          </a:p>
        </p:txBody>
      </p:sp>
      <p:sp>
        <p:nvSpPr>
          <p:cNvPr id="9" name="Shape 7"/>
          <p:cNvSpPr/>
          <p:nvPr/>
        </p:nvSpPr>
        <p:spPr>
          <a:xfrm>
            <a:off x="548640" y="2578608"/>
            <a:ext cx="3703320" cy="9144"/>
          </a:xfrm>
          <a:prstGeom prst="rect">
            <a:avLst/>
          </a:prstGeom>
          <a:solidFill>
            <a:srgbClr val="D8DEE6"/>
          </a:solidFill>
          <a:ln w="12700">
            <a:solidFill>
              <a:srgbClr val="D8DEE6"/>
            </a:solidFill>
            <a:prstDash val="solid"/>
          </a:ln>
        </p:spPr>
      </p:sp>
      <p:sp>
        <p:nvSpPr>
          <p:cNvPr id="10" name="Text 8"/>
          <p:cNvSpPr/>
          <p:nvPr/>
        </p:nvSpPr>
        <p:spPr>
          <a:xfrm>
            <a:off x="548640" y="2706624"/>
            <a:ext cx="3703320" cy="228600"/>
          </a:xfrm>
          <a:prstGeom prst="rect">
            <a:avLst/>
          </a:prstGeom>
          <a:noFill/>
          <a:ln/>
        </p:spPr>
        <p:txBody>
          <a:bodyPr wrap="square" lIns="0" tIns="0" rIns="0" bIns="0" rtlCol="0" anchor="ctr"/>
          <a:lstStyle/>
          <a:p>
            <a:pPr indent="0" marL="0">
              <a:buNone/>
            </a:pPr>
            <a:r>
              <a:rPr lang="en-US" sz="1070" b="1" dirty="0">
                <a:solidFill>
                  <a:srgbClr val="0F2A44"/>
                </a:solidFill>
                <a:latin typeface="Calibri" pitchFamily="34" charset="0"/>
                <a:ea typeface="Calibri" pitchFamily="34" charset="-122"/>
                <a:cs typeface="Calibri" pitchFamily="34" charset="-120"/>
              </a:rPr>
              <a:t>Strongly connected component</a:t>
            </a:r>
            <a:endParaRPr lang="en-US" sz="1070" dirty="0"/>
          </a:p>
        </p:txBody>
      </p:sp>
      <p:sp>
        <p:nvSpPr>
          <p:cNvPr id="11" name="Text 9"/>
          <p:cNvSpPr/>
          <p:nvPr/>
        </p:nvSpPr>
        <p:spPr>
          <a:xfrm>
            <a:off x="548640" y="2962656"/>
            <a:ext cx="3703320" cy="384048"/>
          </a:xfrm>
          <a:prstGeom prst="rect">
            <a:avLst/>
          </a:prstGeom>
          <a:noFill/>
          <a:ln/>
        </p:spPr>
        <p:txBody>
          <a:bodyPr wrap="square" lIns="0" tIns="0" rIns="0" bIns="0" rtlCol="0" anchor="ctr">
            <a:normAutofit/>
          </a:bodyPr>
          <a:lstStyle/>
          <a:p>
            <a:pPr indent="0" marL="0">
              <a:buNone/>
            </a:pPr>
            <a:r>
              <a:rPr lang="en-US" sz="880" dirty="0">
                <a:solidFill>
                  <a:srgbClr val="1E293B"/>
                </a:solidFill>
                <a:latin typeface="Calibri" pitchFamily="34" charset="0"/>
                <a:ea typeface="Calibri" pitchFamily="34" charset="-122"/>
                <a:cs typeface="Calibri" pitchFamily="34" charset="-120"/>
              </a:rPr>
              <a:t>A maximal service set where each service can reach every other service through directed paths.</a:t>
            </a:r>
            <a:endParaRPr lang="en-US" sz="880" dirty="0"/>
          </a:p>
        </p:txBody>
      </p:sp>
      <p:sp>
        <p:nvSpPr>
          <p:cNvPr id="12" name="Shape 10"/>
          <p:cNvSpPr/>
          <p:nvPr/>
        </p:nvSpPr>
        <p:spPr>
          <a:xfrm>
            <a:off x="548640" y="3419856"/>
            <a:ext cx="3703320" cy="9144"/>
          </a:xfrm>
          <a:prstGeom prst="rect">
            <a:avLst/>
          </a:prstGeom>
          <a:solidFill>
            <a:srgbClr val="D8DEE6"/>
          </a:solidFill>
          <a:ln w="12700">
            <a:solidFill>
              <a:srgbClr val="D8DEE6"/>
            </a:solidFill>
            <a:prstDash val="solid"/>
          </a:ln>
        </p:spPr>
      </p:sp>
      <p:sp>
        <p:nvSpPr>
          <p:cNvPr id="13" name="Text 11"/>
          <p:cNvSpPr/>
          <p:nvPr/>
        </p:nvSpPr>
        <p:spPr>
          <a:xfrm>
            <a:off x="548640" y="3547872"/>
            <a:ext cx="3703320" cy="228600"/>
          </a:xfrm>
          <a:prstGeom prst="rect">
            <a:avLst/>
          </a:prstGeom>
          <a:noFill/>
          <a:ln/>
        </p:spPr>
        <p:txBody>
          <a:bodyPr wrap="square" lIns="0" tIns="0" rIns="0" bIns="0" rtlCol="0" anchor="ctr"/>
          <a:lstStyle/>
          <a:p>
            <a:pPr indent="0" marL="0">
              <a:buNone/>
            </a:pPr>
            <a:r>
              <a:rPr lang="en-US" sz="1070" b="1" dirty="0">
                <a:solidFill>
                  <a:srgbClr val="0F2A44"/>
                </a:solidFill>
                <a:latin typeface="Calibri" pitchFamily="34" charset="0"/>
                <a:ea typeface="Calibri" pitchFamily="34" charset="-122"/>
                <a:cs typeface="Calibri" pitchFamily="34" charset="-120"/>
              </a:rPr>
              <a:t>Cycle</a:t>
            </a:r>
            <a:endParaRPr lang="en-US" sz="1070" dirty="0"/>
          </a:p>
        </p:txBody>
      </p:sp>
      <p:sp>
        <p:nvSpPr>
          <p:cNvPr id="14" name="Text 12"/>
          <p:cNvSpPr/>
          <p:nvPr/>
        </p:nvSpPr>
        <p:spPr>
          <a:xfrm>
            <a:off x="548640" y="3803904"/>
            <a:ext cx="3703320" cy="384048"/>
          </a:xfrm>
          <a:prstGeom prst="rect">
            <a:avLst/>
          </a:prstGeom>
          <a:noFill/>
          <a:ln/>
        </p:spPr>
        <p:txBody>
          <a:bodyPr wrap="square" lIns="0" tIns="0" rIns="0" bIns="0" rtlCol="0" anchor="ctr">
            <a:normAutofit/>
          </a:bodyPr>
          <a:lstStyle/>
          <a:p>
            <a:pPr indent="0" marL="0">
              <a:buNone/>
            </a:pPr>
            <a:r>
              <a:rPr lang="en-US" sz="880" dirty="0">
                <a:solidFill>
                  <a:srgbClr val="1E293B"/>
                </a:solidFill>
                <a:latin typeface="Calibri" pitchFamily="34" charset="0"/>
                <a:ea typeface="Calibri" pitchFamily="34" charset="-122"/>
                <a:cs typeface="Calibri" pitchFamily="34" charset="-120"/>
              </a:rPr>
              <a:t>An SCC with more than one service; used as evidence for Cyclic Dependency.</a:t>
            </a:r>
            <a:endParaRPr lang="en-US" sz="880" dirty="0"/>
          </a:p>
        </p:txBody>
      </p:sp>
      <p:sp>
        <p:nvSpPr>
          <p:cNvPr id="15" name="Shape 13"/>
          <p:cNvSpPr/>
          <p:nvPr/>
        </p:nvSpPr>
        <p:spPr>
          <a:xfrm>
            <a:off x="548640" y="4261104"/>
            <a:ext cx="3703320" cy="9144"/>
          </a:xfrm>
          <a:prstGeom prst="rect">
            <a:avLst/>
          </a:prstGeom>
          <a:solidFill>
            <a:srgbClr val="D8DEE6"/>
          </a:solidFill>
          <a:ln w="12700">
            <a:solidFill>
              <a:srgbClr val="D8DEE6"/>
            </a:solidFill>
            <a:prstDash val="solid"/>
          </a:ln>
        </p:spPr>
      </p:sp>
      <p:sp>
        <p:nvSpPr>
          <p:cNvPr id="16" name="Text 14"/>
          <p:cNvSpPr/>
          <p:nvPr/>
        </p:nvSpPr>
        <p:spPr>
          <a:xfrm>
            <a:off x="4617720" y="1024128"/>
            <a:ext cx="3703320" cy="228600"/>
          </a:xfrm>
          <a:prstGeom prst="rect">
            <a:avLst/>
          </a:prstGeom>
          <a:noFill/>
          <a:ln/>
        </p:spPr>
        <p:txBody>
          <a:bodyPr wrap="square" lIns="0" tIns="0" rIns="0" bIns="0" rtlCol="0" anchor="ctr"/>
          <a:lstStyle/>
          <a:p>
            <a:pPr indent="0" marL="0">
              <a:buNone/>
            </a:pPr>
            <a:r>
              <a:rPr lang="en-US" sz="1070" b="1" dirty="0">
                <a:solidFill>
                  <a:srgbClr val="0F2A44"/>
                </a:solidFill>
                <a:latin typeface="Calibri" pitchFamily="34" charset="0"/>
                <a:ea typeface="Calibri" pitchFamily="34" charset="-122"/>
                <a:cs typeface="Calibri" pitchFamily="34" charset="-120"/>
              </a:rPr>
              <a:t>Fan-in / fan-out</a:t>
            </a:r>
            <a:endParaRPr lang="en-US" sz="1070" dirty="0"/>
          </a:p>
        </p:txBody>
      </p:sp>
      <p:sp>
        <p:nvSpPr>
          <p:cNvPr id="17" name="Text 15"/>
          <p:cNvSpPr/>
          <p:nvPr/>
        </p:nvSpPr>
        <p:spPr>
          <a:xfrm>
            <a:off x="4617720" y="1280160"/>
            <a:ext cx="3703320" cy="384048"/>
          </a:xfrm>
          <a:prstGeom prst="rect">
            <a:avLst/>
          </a:prstGeom>
          <a:noFill/>
          <a:ln/>
        </p:spPr>
        <p:txBody>
          <a:bodyPr wrap="square" lIns="0" tIns="0" rIns="0" bIns="0" rtlCol="0" anchor="ctr">
            <a:normAutofit/>
          </a:bodyPr>
          <a:lstStyle/>
          <a:p>
            <a:pPr indent="0" marL="0">
              <a:buNone/>
            </a:pPr>
            <a:r>
              <a:rPr lang="en-US" sz="880" dirty="0">
                <a:solidFill>
                  <a:srgbClr val="1E293B"/>
                </a:solidFill>
                <a:latin typeface="Calibri" pitchFamily="34" charset="0"/>
                <a:ea typeface="Calibri" pitchFamily="34" charset="-122"/>
                <a:cs typeface="Calibri" pitchFamily="34" charset="-120"/>
              </a:rPr>
              <a:t>Incoming and outgoing service dependency counts; useful for spotting central services and mediator behaviour.</a:t>
            </a:r>
            <a:endParaRPr lang="en-US" sz="880" dirty="0"/>
          </a:p>
        </p:txBody>
      </p:sp>
      <p:sp>
        <p:nvSpPr>
          <p:cNvPr id="18" name="Shape 16"/>
          <p:cNvSpPr/>
          <p:nvPr/>
        </p:nvSpPr>
        <p:spPr>
          <a:xfrm>
            <a:off x="4617720" y="1737360"/>
            <a:ext cx="3703320" cy="9144"/>
          </a:xfrm>
          <a:prstGeom prst="rect">
            <a:avLst/>
          </a:prstGeom>
          <a:solidFill>
            <a:srgbClr val="D8DEE6"/>
          </a:solidFill>
          <a:ln w="12700">
            <a:solidFill>
              <a:srgbClr val="D8DEE6"/>
            </a:solidFill>
            <a:prstDash val="solid"/>
          </a:ln>
        </p:spPr>
      </p:sp>
      <p:sp>
        <p:nvSpPr>
          <p:cNvPr id="19" name="Text 17"/>
          <p:cNvSpPr/>
          <p:nvPr/>
        </p:nvSpPr>
        <p:spPr>
          <a:xfrm>
            <a:off x="4617720" y="1865376"/>
            <a:ext cx="3703320" cy="228600"/>
          </a:xfrm>
          <a:prstGeom prst="rect">
            <a:avLst/>
          </a:prstGeom>
          <a:noFill/>
          <a:ln/>
        </p:spPr>
        <p:txBody>
          <a:bodyPr wrap="square" lIns="0" tIns="0" rIns="0" bIns="0" rtlCol="0" anchor="ctr"/>
          <a:lstStyle/>
          <a:p>
            <a:pPr indent="0" marL="0">
              <a:buNone/>
            </a:pPr>
            <a:r>
              <a:rPr lang="en-US" sz="1070" b="1" dirty="0">
                <a:solidFill>
                  <a:srgbClr val="0F2A44"/>
                </a:solidFill>
                <a:latin typeface="Calibri" pitchFamily="34" charset="0"/>
                <a:ea typeface="Calibri" pitchFamily="34" charset="-122"/>
                <a:cs typeface="Calibri" pitchFamily="34" charset="-120"/>
              </a:rPr>
              <a:t>Bidirectional dependency</a:t>
            </a:r>
            <a:endParaRPr lang="en-US" sz="1070" dirty="0"/>
          </a:p>
        </p:txBody>
      </p:sp>
      <p:sp>
        <p:nvSpPr>
          <p:cNvPr id="20" name="Text 18"/>
          <p:cNvSpPr/>
          <p:nvPr/>
        </p:nvSpPr>
        <p:spPr>
          <a:xfrm>
            <a:off x="4617720" y="2121408"/>
            <a:ext cx="3703320" cy="384048"/>
          </a:xfrm>
          <a:prstGeom prst="rect">
            <a:avLst/>
          </a:prstGeom>
          <a:noFill/>
          <a:ln/>
        </p:spPr>
        <p:txBody>
          <a:bodyPr wrap="square" lIns="0" tIns="0" rIns="0" bIns="0" rtlCol="0" anchor="ctr">
            <a:normAutofit/>
          </a:bodyPr>
          <a:lstStyle/>
          <a:p>
            <a:pPr indent="0" marL="0">
              <a:buNone/>
            </a:pPr>
            <a:r>
              <a:rPr lang="en-US" sz="880" dirty="0">
                <a:solidFill>
                  <a:srgbClr val="1E293B"/>
                </a:solidFill>
                <a:latin typeface="Calibri" pitchFamily="34" charset="0"/>
                <a:ea typeface="Calibri" pitchFamily="34" charset="-122"/>
                <a:cs typeface="Calibri" pitchFamily="34" charset="-120"/>
              </a:rPr>
              <a:t>A pair A-&gt;B and B-&gt;A; used as evidence for Wrong Cuts and poor service boundaries.</a:t>
            </a:r>
            <a:endParaRPr lang="en-US" sz="880" dirty="0"/>
          </a:p>
        </p:txBody>
      </p:sp>
      <p:sp>
        <p:nvSpPr>
          <p:cNvPr id="21" name="Shape 19"/>
          <p:cNvSpPr/>
          <p:nvPr/>
        </p:nvSpPr>
        <p:spPr>
          <a:xfrm>
            <a:off x="4617720" y="2578608"/>
            <a:ext cx="3703320" cy="9144"/>
          </a:xfrm>
          <a:prstGeom prst="rect">
            <a:avLst/>
          </a:prstGeom>
          <a:solidFill>
            <a:srgbClr val="D8DEE6"/>
          </a:solidFill>
          <a:ln w="12700">
            <a:solidFill>
              <a:srgbClr val="D8DEE6"/>
            </a:solidFill>
            <a:prstDash val="solid"/>
          </a:ln>
        </p:spPr>
      </p:sp>
      <p:sp>
        <p:nvSpPr>
          <p:cNvPr id="22" name="Text 20"/>
          <p:cNvSpPr/>
          <p:nvPr/>
        </p:nvSpPr>
        <p:spPr>
          <a:xfrm>
            <a:off x="4617720" y="2706624"/>
            <a:ext cx="3703320" cy="228600"/>
          </a:xfrm>
          <a:prstGeom prst="rect">
            <a:avLst/>
          </a:prstGeom>
          <a:noFill/>
          <a:ln/>
        </p:spPr>
        <p:txBody>
          <a:bodyPr wrap="square" lIns="0" tIns="0" rIns="0" bIns="0" rtlCol="0" anchor="ctr"/>
          <a:lstStyle/>
          <a:p>
            <a:pPr indent="0" marL="0">
              <a:buNone/>
            </a:pPr>
            <a:r>
              <a:rPr lang="en-US" sz="1070" b="1" dirty="0">
                <a:solidFill>
                  <a:srgbClr val="0F2A44"/>
                </a:solidFill>
                <a:latin typeface="Calibri" pitchFamily="34" charset="0"/>
                <a:ea typeface="Calibri" pitchFamily="34" charset="-122"/>
                <a:cs typeface="Calibri" pitchFamily="34" charset="-120"/>
              </a:rPr>
              <a:t>Connected ratio</a:t>
            </a:r>
            <a:endParaRPr lang="en-US" sz="1070" dirty="0"/>
          </a:p>
        </p:txBody>
      </p:sp>
      <p:sp>
        <p:nvSpPr>
          <p:cNvPr id="23" name="Text 21"/>
          <p:cNvSpPr/>
          <p:nvPr/>
        </p:nvSpPr>
        <p:spPr>
          <a:xfrm>
            <a:off x="4617720" y="2962656"/>
            <a:ext cx="3703320" cy="384048"/>
          </a:xfrm>
          <a:prstGeom prst="rect">
            <a:avLst/>
          </a:prstGeom>
          <a:noFill/>
          <a:ln/>
        </p:spPr>
        <p:txBody>
          <a:bodyPr wrap="square" lIns="0" tIns="0" rIns="0" bIns="0" rtlCol="0" anchor="ctr">
            <a:normAutofit/>
          </a:bodyPr>
          <a:lstStyle/>
          <a:p>
            <a:pPr indent="0" marL="0">
              <a:buNone/>
            </a:pPr>
            <a:r>
              <a:rPr lang="en-US" sz="880" dirty="0">
                <a:solidFill>
                  <a:srgbClr val="1E293B"/>
                </a:solidFill>
                <a:latin typeface="Calibri" pitchFamily="34" charset="0"/>
                <a:ea typeface="Calibri" pitchFamily="34" charset="-122"/>
                <a:cs typeface="Calibri" pitchFamily="34" charset="-120"/>
              </a:rPr>
              <a:t>Fraction of services participating in dependencies; used as part of Distributed Monolith evidence.</a:t>
            </a:r>
            <a:endParaRPr lang="en-US" sz="880" dirty="0"/>
          </a:p>
        </p:txBody>
      </p:sp>
      <p:sp>
        <p:nvSpPr>
          <p:cNvPr id="24" name="Shape 22"/>
          <p:cNvSpPr/>
          <p:nvPr/>
        </p:nvSpPr>
        <p:spPr>
          <a:xfrm>
            <a:off x="4617720" y="3419856"/>
            <a:ext cx="3703320" cy="9144"/>
          </a:xfrm>
          <a:prstGeom prst="rect">
            <a:avLst/>
          </a:prstGeom>
          <a:solidFill>
            <a:srgbClr val="D8DEE6"/>
          </a:solidFill>
          <a:ln w="12700">
            <a:solidFill>
              <a:srgbClr val="D8DEE6"/>
            </a:solidFill>
            <a:prstDash val="solid"/>
          </a:ln>
        </p:spPr>
      </p:sp>
      <p:sp>
        <p:nvSpPr>
          <p:cNvPr id="25" name="Text 23"/>
          <p:cNvSpPr/>
          <p:nvPr/>
        </p:nvSpPr>
        <p:spPr>
          <a:xfrm>
            <a:off x="4617720" y="3547872"/>
            <a:ext cx="3703320" cy="228600"/>
          </a:xfrm>
          <a:prstGeom prst="rect">
            <a:avLst/>
          </a:prstGeom>
          <a:noFill/>
          <a:ln/>
        </p:spPr>
        <p:txBody>
          <a:bodyPr wrap="square" lIns="0" tIns="0" rIns="0" bIns="0" rtlCol="0" anchor="ctr"/>
          <a:lstStyle/>
          <a:p>
            <a:pPr indent="0" marL="0">
              <a:buNone/>
            </a:pPr>
            <a:r>
              <a:rPr lang="en-US" sz="1070" b="1" dirty="0">
                <a:solidFill>
                  <a:srgbClr val="0F2A44"/>
                </a:solidFill>
                <a:latin typeface="Calibri" pitchFamily="34" charset="0"/>
                <a:ea typeface="Calibri" pitchFamily="34" charset="-122"/>
                <a:cs typeface="Calibri" pitchFamily="34" charset="-120"/>
              </a:rPr>
              <a:t>Betweenness centrality</a:t>
            </a:r>
            <a:endParaRPr lang="en-US" sz="1070" dirty="0"/>
          </a:p>
        </p:txBody>
      </p:sp>
      <p:sp>
        <p:nvSpPr>
          <p:cNvPr id="26" name="Text 24"/>
          <p:cNvSpPr/>
          <p:nvPr/>
        </p:nvSpPr>
        <p:spPr>
          <a:xfrm>
            <a:off x="4617720" y="3803904"/>
            <a:ext cx="3703320" cy="384048"/>
          </a:xfrm>
          <a:prstGeom prst="rect">
            <a:avLst/>
          </a:prstGeom>
          <a:noFill/>
          <a:ln/>
        </p:spPr>
        <p:txBody>
          <a:bodyPr wrap="square" lIns="0" tIns="0" rIns="0" bIns="0" rtlCol="0" anchor="ctr">
            <a:normAutofit/>
          </a:bodyPr>
          <a:lstStyle/>
          <a:p>
            <a:pPr indent="0" marL="0">
              <a:buNone/>
            </a:pPr>
            <a:r>
              <a:rPr lang="en-US" sz="880" dirty="0">
                <a:solidFill>
                  <a:srgbClr val="1E293B"/>
                </a:solidFill>
                <a:latin typeface="Calibri" pitchFamily="34" charset="0"/>
                <a:ea typeface="Calibri" pitchFamily="34" charset="-122"/>
                <a:cs typeface="Calibri" pitchFamily="34" charset="-120"/>
              </a:rPr>
              <a:t>How often a service lies on shortest paths between other services; useful for identifying broker-like nodes.</a:t>
            </a:r>
            <a:endParaRPr lang="en-US" sz="880" dirty="0"/>
          </a:p>
        </p:txBody>
      </p:sp>
      <p:sp>
        <p:nvSpPr>
          <p:cNvPr id="27" name="Shape 25"/>
          <p:cNvSpPr/>
          <p:nvPr/>
        </p:nvSpPr>
        <p:spPr>
          <a:xfrm>
            <a:off x="4617720" y="4261104"/>
            <a:ext cx="3703320" cy="9144"/>
          </a:xfrm>
          <a:prstGeom prst="rect">
            <a:avLst/>
          </a:prstGeom>
          <a:solidFill>
            <a:srgbClr val="D8DEE6"/>
          </a:solidFill>
          <a:ln w="12700">
            <a:solidFill>
              <a:srgbClr val="D8DEE6"/>
            </a:solidFill>
            <a:prstDash val="solid"/>
          </a:ln>
        </p:spPr>
      </p:sp>
      <p:sp>
        <p:nvSpPr>
          <p:cNvPr id="28" name="Shape 26"/>
          <p:cNvSpPr/>
          <p:nvPr/>
        </p:nvSpPr>
        <p:spPr>
          <a:xfrm>
            <a:off x="548640" y="4498848"/>
            <a:ext cx="457200" cy="36576"/>
          </a:xfrm>
          <a:prstGeom prst="rect">
            <a:avLst/>
          </a:prstGeom>
          <a:solidFill>
            <a:srgbClr val="0D9488"/>
          </a:solidFill>
          <a:ln w="12700">
            <a:solidFill>
              <a:srgbClr val="0D9488"/>
            </a:solidFill>
            <a:prstDash val="solid"/>
          </a:ln>
        </p:spPr>
      </p:sp>
      <p:sp>
        <p:nvSpPr>
          <p:cNvPr id="29" name="Text 27"/>
          <p:cNvSpPr/>
          <p:nvPr/>
        </p:nvSpPr>
        <p:spPr>
          <a:xfrm>
            <a:off x="548640" y="4590288"/>
            <a:ext cx="8046720" cy="237744"/>
          </a:xfrm>
          <a:prstGeom prst="rect">
            <a:avLst/>
          </a:prstGeom>
          <a:noFill/>
          <a:ln/>
        </p:spPr>
        <p:txBody>
          <a:bodyPr wrap="square" lIns="0" tIns="0" rIns="0" bIns="0" rtlCol="0" anchor="ctr"/>
          <a:lstStyle/>
          <a:p>
            <a:pPr indent="0" marL="0">
              <a:buNone/>
            </a:pPr>
            <a:r>
              <a:rPr lang="en-US" sz="950" i="1" dirty="0">
                <a:solidFill>
                  <a:srgbClr val="64748B"/>
                </a:solidFill>
                <a:latin typeface="Calibri" pitchFamily="34" charset="0"/>
                <a:ea typeface="Calibri" pitchFamily="34" charset="-122"/>
                <a:cs typeface="Calibri" pitchFamily="34" charset="-120"/>
              </a:rPr>
              <a:t>Graph algorithms are deterministic over the recovered service dependency graph; uncertainty comes mainly from static call resolution.</a:t>
            </a:r>
            <a:endParaRPr lang="en-US" sz="950" dirty="0"/>
          </a:p>
        </p:txBody>
      </p:sp>
      <p:sp>
        <p:nvSpPr>
          <p:cNvPr id="30" name="Text 28"/>
          <p:cNvSpPr/>
          <p:nvPr/>
        </p:nvSpPr>
        <p:spPr>
          <a:xfrm>
            <a:off x="7452360" y="4864608"/>
            <a:ext cx="1143000" cy="22860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Appendix F</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56032"/>
            <a:ext cx="8046720" cy="502920"/>
          </a:xfrm>
          <a:prstGeom prst="rect">
            <a:avLst/>
          </a:prstGeom>
          <a:noFill/>
          <a:ln/>
        </p:spPr>
        <p:txBody>
          <a:bodyPr wrap="square" lIns="0" tIns="0" rIns="0" bIns="0" rtlCol="0" anchor="ctr"/>
          <a:lstStyle/>
          <a:p>
            <a:pPr indent="0" marL="0">
              <a:buNone/>
            </a:pPr>
            <a:r>
              <a:rPr lang="en-US" sz="2500" b="1" dirty="0">
                <a:solidFill>
                  <a:srgbClr val="0F2A44"/>
                </a:solidFill>
                <a:latin typeface="Calibri" pitchFamily="34" charset="0"/>
                <a:ea typeface="Calibri" pitchFamily="34" charset="-122"/>
                <a:cs typeface="Calibri" pitchFamily="34" charset="-120"/>
              </a:rPr>
              <a:t>Annex: service boundary detection</a:t>
            </a:r>
            <a:endParaRPr lang="en-US" sz="2500" dirty="0"/>
          </a:p>
        </p:txBody>
      </p:sp>
      <p:sp>
        <p:nvSpPr>
          <p:cNvPr id="3" name="Shape 1"/>
          <p:cNvSpPr/>
          <p:nvPr/>
        </p:nvSpPr>
        <p:spPr>
          <a:xfrm>
            <a:off x="548640" y="841248"/>
            <a:ext cx="8046720" cy="13716"/>
          </a:xfrm>
          <a:prstGeom prst="rect">
            <a:avLst/>
          </a:prstGeom>
          <a:solidFill>
            <a:srgbClr val="D8DEE6"/>
          </a:solidFill>
          <a:ln w="12700">
            <a:solidFill>
              <a:srgbClr val="D8DEE6"/>
            </a:solidFill>
            <a:prstDash val="solid"/>
          </a:ln>
        </p:spPr>
      </p:sp>
      <p:sp>
        <p:nvSpPr>
          <p:cNvPr id="4" name="Text 2"/>
          <p:cNvSpPr/>
          <p:nvPr/>
        </p:nvSpPr>
        <p:spPr>
          <a:xfrm>
            <a:off x="548640" y="987552"/>
            <a:ext cx="3749040" cy="274320"/>
          </a:xfrm>
          <a:prstGeom prst="rect">
            <a:avLst/>
          </a:prstGeom>
          <a:noFill/>
          <a:ln/>
        </p:spPr>
        <p:txBody>
          <a:bodyPr wrap="square" lIns="0" tIns="0" rIns="0" bIns="0" rtlCol="0" anchor="ctr"/>
          <a:lstStyle/>
          <a:p>
            <a:pPr indent="0" marL="0">
              <a:buNone/>
            </a:pPr>
            <a:r>
              <a:rPr lang="en-US" sz="1300" b="1" dirty="0">
                <a:solidFill>
                  <a:srgbClr val="0F2A44"/>
                </a:solidFill>
                <a:latin typeface="Calibri" pitchFamily="34" charset="0"/>
                <a:ea typeface="Calibri" pitchFamily="34" charset="-122"/>
                <a:cs typeface="Calibri" pitchFamily="34" charset="-120"/>
              </a:rPr>
              <a:t>Candidate modules</a:t>
            </a:r>
            <a:endParaRPr lang="en-US" sz="1300" dirty="0"/>
          </a:p>
        </p:txBody>
      </p:sp>
      <p:sp>
        <p:nvSpPr>
          <p:cNvPr id="5" name="Text 3"/>
          <p:cNvSpPr/>
          <p:nvPr/>
        </p:nvSpPr>
        <p:spPr>
          <a:xfrm>
            <a:off x="713232" y="1371600"/>
            <a:ext cx="3657600" cy="1051560"/>
          </a:xfrm>
          <a:prstGeom prst="rect">
            <a:avLst/>
          </a:prstGeom>
          <a:noFill/>
          <a:ln/>
        </p:spPr>
        <p:txBody>
          <a:bodyPr wrap="square" lIns="0" tIns="0" rIns="0" bIns="0" rtlCol="0" anchor="ctr"/>
          <a:lstStyle/>
          <a:p>
            <a:pPr marL="342900" indent="-342900">
              <a:spcAft>
                <a:spcPts val="400"/>
              </a:spcAft>
              <a:buSzPct val="100000"/>
              <a:buChar char="•"/>
            </a:pPr>
            <a:r>
              <a:rPr lang="en-US" sz="1050" dirty="0">
                <a:solidFill>
                  <a:srgbClr val="1E293B"/>
                </a:solidFill>
                <a:latin typeface="Calibri" pitchFamily="34" charset="0"/>
                <a:ea typeface="Calibri" pitchFamily="34" charset="-122"/>
                <a:cs typeface="Calibri" pitchFamily="34" charset="-120"/>
              </a:rPr>
              <a:t>Scan repository for Maven/Gradle build files</a:t>
            </a:r>
            <a:endParaRPr lang="en-US" sz="1050" dirty="0"/>
          </a:p>
          <a:p>
            <a:pPr marL="342900" indent="-342900">
              <a:spcAft>
                <a:spcPts val="400"/>
              </a:spcAft>
              <a:buSzPct val="100000"/>
              <a:buChar char="•"/>
            </a:pPr>
            <a:r>
              <a:rPr lang="en-US" sz="1050" dirty="0">
                <a:solidFill>
                  <a:srgbClr val="1E293B"/>
                </a:solidFill>
                <a:latin typeface="Calibri" pitchFamily="34" charset="0"/>
                <a:ea typeface="Calibri" pitchFamily="34" charset="-122"/>
                <a:cs typeface="Calibri" pitchFamily="34" charset="-120"/>
              </a:rPr>
              <a:t>Exclude aggregators, generated modules, examples, docs, and tests</a:t>
            </a:r>
            <a:endParaRPr lang="en-US" sz="1050" dirty="0"/>
          </a:p>
          <a:p>
            <a:pPr marL="342900" indent="-342900">
              <a:spcAft>
                <a:spcPts val="400"/>
              </a:spcAft>
              <a:buSzPct val="100000"/>
              <a:buChar char="•"/>
            </a:pPr>
            <a:r>
              <a:rPr lang="en-US" sz="1050" dirty="0">
                <a:solidFill>
                  <a:srgbClr val="1E293B"/>
                </a:solidFill>
                <a:latin typeface="Calibri" pitchFamily="34" charset="0"/>
                <a:ea typeface="Calibri" pitchFamily="34" charset="-122"/>
                <a:cs typeface="Calibri" pitchFamily="34" charset="-120"/>
              </a:rPr>
              <a:t>Keep modules with at least one deployability signal</a:t>
            </a:r>
            <a:endParaRPr lang="en-US" sz="1050" dirty="0"/>
          </a:p>
        </p:txBody>
      </p:sp>
      <p:sp>
        <p:nvSpPr>
          <p:cNvPr id="6" name="Text 4"/>
          <p:cNvSpPr/>
          <p:nvPr/>
        </p:nvSpPr>
        <p:spPr>
          <a:xfrm>
            <a:off x="4617720" y="987552"/>
            <a:ext cx="3977640" cy="274320"/>
          </a:xfrm>
          <a:prstGeom prst="rect">
            <a:avLst/>
          </a:prstGeom>
          <a:noFill/>
          <a:ln/>
        </p:spPr>
        <p:txBody>
          <a:bodyPr wrap="square" lIns="0" tIns="0" rIns="0" bIns="0" rtlCol="0" anchor="ctr"/>
          <a:lstStyle/>
          <a:p>
            <a:pPr indent="0" marL="0">
              <a:buNone/>
            </a:pPr>
            <a:r>
              <a:rPr lang="en-US" sz="1300" b="1" dirty="0">
                <a:solidFill>
                  <a:srgbClr val="0F2A44"/>
                </a:solidFill>
                <a:latin typeface="Calibri" pitchFamily="34" charset="0"/>
                <a:ea typeface="Calibri" pitchFamily="34" charset="-122"/>
                <a:cs typeface="Calibri" pitchFamily="34" charset="-120"/>
              </a:rPr>
              <a:t>Deployability gate</a:t>
            </a:r>
            <a:endParaRPr lang="en-US" sz="1300" dirty="0"/>
          </a:p>
        </p:txBody>
      </p:sp>
      <p:sp>
        <p:nvSpPr>
          <p:cNvPr id="7" name="Shape 5"/>
          <p:cNvSpPr/>
          <p:nvPr/>
        </p:nvSpPr>
        <p:spPr>
          <a:xfrm>
            <a:off x="4617720" y="1399032"/>
            <a:ext cx="347472" cy="36576"/>
          </a:xfrm>
          <a:prstGeom prst="rect">
            <a:avLst/>
          </a:prstGeom>
          <a:solidFill>
            <a:srgbClr val="059669"/>
          </a:solidFill>
          <a:ln w="12700">
            <a:solidFill>
              <a:srgbClr val="059669"/>
            </a:solidFill>
            <a:prstDash val="solid"/>
          </a:ln>
        </p:spPr>
      </p:sp>
      <p:sp>
        <p:nvSpPr>
          <p:cNvPr id="8" name="Text 6"/>
          <p:cNvSpPr/>
          <p:nvPr/>
        </p:nvSpPr>
        <p:spPr>
          <a:xfrm>
            <a:off x="4617720" y="1517904"/>
            <a:ext cx="731520" cy="219456"/>
          </a:xfrm>
          <a:prstGeom prst="rect">
            <a:avLst/>
          </a:prstGeom>
          <a:noFill/>
          <a:ln/>
        </p:spPr>
        <p:txBody>
          <a:bodyPr wrap="square" lIns="0" tIns="0" rIns="0" bIns="0" rtlCol="0" anchor="ctr"/>
          <a:lstStyle/>
          <a:p>
            <a:pPr indent="0" marL="0">
              <a:buNone/>
            </a:pPr>
            <a:r>
              <a:rPr lang="en-US" sz="880" b="1" dirty="0">
                <a:solidFill>
                  <a:srgbClr val="059669"/>
                </a:solidFill>
                <a:latin typeface="Calibri" pitchFamily="34" charset="0"/>
                <a:ea typeface="Calibri" pitchFamily="34" charset="-122"/>
                <a:cs typeface="Calibri" pitchFamily="34" charset="-120"/>
              </a:rPr>
              <a:t>HIGH</a:t>
            </a:r>
            <a:endParaRPr lang="en-US" sz="880" dirty="0"/>
          </a:p>
        </p:txBody>
      </p:sp>
      <p:sp>
        <p:nvSpPr>
          <p:cNvPr id="9" name="Text 7"/>
          <p:cNvSpPr/>
          <p:nvPr/>
        </p:nvSpPr>
        <p:spPr>
          <a:xfrm>
            <a:off x="5440680" y="1371600"/>
            <a:ext cx="3154680" cy="228600"/>
          </a:xfrm>
          <a:prstGeom prst="rect">
            <a:avLst/>
          </a:prstGeom>
          <a:noFill/>
          <a:ln/>
        </p:spPr>
        <p:txBody>
          <a:bodyPr wrap="square" lIns="0" tIns="0" rIns="0" bIns="0" rtlCol="0" anchor="ctr"/>
          <a:lstStyle/>
          <a:p>
            <a:pPr indent="0" marL="0">
              <a:buNone/>
            </a:pPr>
            <a:r>
              <a:rPr lang="en-US" sz="1050" b="1" dirty="0">
                <a:solidFill>
                  <a:srgbClr val="0F2A44"/>
                </a:solidFill>
                <a:latin typeface="Calibri" pitchFamily="34" charset="0"/>
                <a:ea typeface="Calibri" pitchFamily="34" charset="-122"/>
                <a:cs typeface="Calibri" pitchFamily="34" charset="-120"/>
              </a:rPr>
              <a:t>Spring Boot entry point</a:t>
            </a:r>
            <a:endParaRPr lang="en-US" sz="1050" dirty="0"/>
          </a:p>
        </p:txBody>
      </p:sp>
      <p:sp>
        <p:nvSpPr>
          <p:cNvPr id="10" name="Text 8"/>
          <p:cNvSpPr/>
          <p:nvPr/>
        </p:nvSpPr>
        <p:spPr>
          <a:xfrm>
            <a:off x="5440680" y="1618488"/>
            <a:ext cx="3154680" cy="292608"/>
          </a:xfrm>
          <a:prstGeom prst="rect">
            <a:avLst/>
          </a:prstGeom>
          <a:noFill/>
          <a:ln/>
        </p:spPr>
        <p:txBody>
          <a:bodyPr wrap="square" lIns="0" tIns="0" rIns="0" bIns="0" rtlCol="0" anchor="ctr">
            <a:normAutofit/>
          </a:bodyPr>
          <a:lstStyle/>
          <a:p>
            <a:pPr indent="0" marL="0">
              <a:buNone/>
            </a:pPr>
            <a:r>
              <a:rPr lang="en-US" sz="890" dirty="0">
                <a:solidFill>
                  <a:srgbClr val="1E293B"/>
                </a:solidFill>
                <a:latin typeface="Calibri" pitchFamily="34" charset="0"/>
                <a:ea typeface="Calibri" pitchFamily="34" charset="-122"/>
                <a:cs typeface="Calibri" pitchFamily="34" charset="-120"/>
              </a:rPr>
              <a:t>@SpringBootApplication / framework annotation</a:t>
            </a:r>
            <a:endParaRPr lang="en-US" sz="890" dirty="0"/>
          </a:p>
        </p:txBody>
      </p:sp>
      <p:sp>
        <p:nvSpPr>
          <p:cNvPr id="11" name="Shape 9"/>
          <p:cNvSpPr/>
          <p:nvPr/>
        </p:nvSpPr>
        <p:spPr>
          <a:xfrm>
            <a:off x="4617720" y="1938528"/>
            <a:ext cx="3977640" cy="9144"/>
          </a:xfrm>
          <a:prstGeom prst="rect">
            <a:avLst/>
          </a:prstGeom>
          <a:solidFill>
            <a:srgbClr val="D8DEE6"/>
          </a:solidFill>
          <a:ln w="12700">
            <a:solidFill>
              <a:srgbClr val="D8DEE6"/>
            </a:solidFill>
            <a:prstDash val="solid"/>
          </a:ln>
        </p:spPr>
      </p:sp>
      <p:sp>
        <p:nvSpPr>
          <p:cNvPr id="12" name="Shape 10"/>
          <p:cNvSpPr/>
          <p:nvPr/>
        </p:nvSpPr>
        <p:spPr>
          <a:xfrm>
            <a:off x="4617720" y="2057400"/>
            <a:ext cx="347472" cy="36576"/>
          </a:xfrm>
          <a:prstGeom prst="rect">
            <a:avLst/>
          </a:prstGeom>
          <a:solidFill>
            <a:srgbClr val="0D9488"/>
          </a:solidFill>
          <a:ln w="12700">
            <a:solidFill>
              <a:srgbClr val="0D9488"/>
            </a:solidFill>
            <a:prstDash val="solid"/>
          </a:ln>
        </p:spPr>
      </p:sp>
      <p:sp>
        <p:nvSpPr>
          <p:cNvPr id="13" name="Text 11"/>
          <p:cNvSpPr/>
          <p:nvPr/>
        </p:nvSpPr>
        <p:spPr>
          <a:xfrm>
            <a:off x="4617720" y="2176272"/>
            <a:ext cx="731520" cy="219456"/>
          </a:xfrm>
          <a:prstGeom prst="rect">
            <a:avLst/>
          </a:prstGeom>
          <a:noFill/>
          <a:ln/>
        </p:spPr>
        <p:txBody>
          <a:bodyPr wrap="square" lIns="0" tIns="0" rIns="0" bIns="0" rtlCol="0" anchor="ctr"/>
          <a:lstStyle/>
          <a:p>
            <a:pPr indent="0" marL="0">
              <a:buNone/>
            </a:pPr>
            <a:r>
              <a:rPr lang="en-US" sz="880" b="1" dirty="0">
                <a:solidFill>
                  <a:srgbClr val="0D9488"/>
                </a:solidFill>
                <a:latin typeface="Calibri" pitchFamily="34" charset="0"/>
                <a:ea typeface="Calibri" pitchFamily="34" charset="-122"/>
                <a:cs typeface="Calibri" pitchFamily="34" charset="-120"/>
              </a:rPr>
              <a:t>MEDIUM</a:t>
            </a:r>
            <a:endParaRPr lang="en-US" sz="880" dirty="0"/>
          </a:p>
        </p:txBody>
      </p:sp>
      <p:sp>
        <p:nvSpPr>
          <p:cNvPr id="14" name="Text 12"/>
          <p:cNvSpPr/>
          <p:nvPr/>
        </p:nvSpPr>
        <p:spPr>
          <a:xfrm>
            <a:off x="5440680" y="2029968"/>
            <a:ext cx="3154680" cy="228600"/>
          </a:xfrm>
          <a:prstGeom prst="rect">
            <a:avLst/>
          </a:prstGeom>
          <a:noFill/>
          <a:ln/>
        </p:spPr>
        <p:txBody>
          <a:bodyPr wrap="square" lIns="0" tIns="0" rIns="0" bIns="0" rtlCol="0" anchor="ctr"/>
          <a:lstStyle/>
          <a:p>
            <a:pPr indent="0" marL="0">
              <a:buNone/>
            </a:pPr>
            <a:r>
              <a:rPr lang="en-US" sz="1050" b="1" dirty="0">
                <a:solidFill>
                  <a:srgbClr val="0F2A44"/>
                </a:solidFill>
                <a:latin typeface="Calibri" pitchFamily="34" charset="0"/>
                <a:ea typeface="Calibri" pitchFamily="34" charset="-122"/>
                <a:cs typeface="Calibri" pitchFamily="34" charset="-120"/>
              </a:rPr>
              <a:t>Dockerfile</a:t>
            </a:r>
            <a:endParaRPr lang="en-US" sz="1050" dirty="0"/>
          </a:p>
        </p:txBody>
      </p:sp>
      <p:sp>
        <p:nvSpPr>
          <p:cNvPr id="15" name="Text 13"/>
          <p:cNvSpPr/>
          <p:nvPr/>
        </p:nvSpPr>
        <p:spPr>
          <a:xfrm>
            <a:off x="5440680" y="2276856"/>
            <a:ext cx="3154680" cy="292608"/>
          </a:xfrm>
          <a:prstGeom prst="rect">
            <a:avLst/>
          </a:prstGeom>
          <a:noFill/>
          <a:ln/>
        </p:spPr>
        <p:txBody>
          <a:bodyPr wrap="square" lIns="0" tIns="0" rIns="0" bIns="0" rtlCol="0" anchor="ctr">
            <a:normAutofit/>
          </a:bodyPr>
          <a:lstStyle/>
          <a:p>
            <a:pPr indent="0" marL="0">
              <a:buNone/>
            </a:pPr>
            <a:r>
              <a:rPr lang="en-US" sz="890" dirty="0">
                <a:solidFill>
                  <a:srgbClr val="1E293B"/>
                </a:solidFill>
                <a:latin typeface="Calibri" pitchFamily="34" charset="0"/>
                <a:ea typeface="Calibri" pitchFamily="34" charset="-122"/>
                <a:cs typeface="Calibri" pitchFamily="34" charset="-120"/>
              </a:rPr>
              <a:t>Module has its own deployment container</a:t>
            </a:r>
            <a:endParaRPr lang="en-US" sz="890" dirty="0"/>
          </a:p>
        </p:txBody>
      </p:sp>
      <p:sp>
        <p:nvSpPr>
          <p:cNvPr id="16" name="Shape 14"/>
          <p:cNvSpPr/>
          <p:nvPr/>
        </p:nvSpPr>
        <p:spPr>
          <a:xfrm>
            <a:off x="4617720" y="2596896"/>
            <a:ext cx="3977640" cy="9144"/>
          </a:xfrm>
          <a:prstGeom prst="rect">
            <a:avLst/>
          </a:prstGeom>
          <a:solidFill>
            <a:srgbClr val="D8DEE6"/>
          </a:solidFill>
          <a:ln w="12700">
            <a:solidFill>
              <a:srgbClr val="D8DEE6"/>
            </a:solidFill>
            <a:prstDash val="solid"/>
          </a:ln>
        </p:spPr>
      </p:sp>
      <p:sp>
        <p:nvSpPr>
          <p:cNvPr id="17" name="Shape 15"/>
          <p:cNvSpPr/>
          <p:nvPr/>
        </p:nvSpPr>
        <p:spPr>
          <a:xfrm>
            <a:off x="4617720" y="2715768"/>
            <a:ext cx="347472" cy="36576"/>
          </a:xfrm>
          <a:prstGeom prst="rect">
            <a:avLst/>
          </a:prstGeom>
          <a:solidFill>
            <a:srgbClr val="D97706"/>
          </a:solidFill>
          <a:ln w="12700">
            <a:solidFill>
              <a:srgbClr val="D97706"/>
            </a:solidFill>
            <a:prstDash val="solid"/>
          </a:ln>
        </p:spPr>
      </p:sp>
      <p:sp>
        <p:nvSpPr>
          <p:cNvPr id="18" name="Text 16"/>
          <p:cNvSpPr/>
          <p:nvPr/>
        </p:nvSpPr>
        <p:spPr>
          <a:xfrm>
            <a:off x="4617720" y="2834640"/>
            <a:ext cx="731520" cy="219456"/>
          </a:xfrm>
          <a:prstGeom prst="rect">
            <a:avLst/>
          </a:prstGeom>
          <a:noFill/>
          <a:ln/>
        </p:spPr>
        <p:txBody>
          <a:bodyPr wrap="square" lIns="0" tIns="0" rIns="0" bIns="0" rtlCol="0" anchor="ctr"/>
          <a:lstStyle/>
          <a:p>
            <a:pPr indent="0" marL="0">
              <a:buNone/>
            </a:pPr>
            <a:r>
              <a:rPr lang="en-US" sz="880" b="1" dirty="0">
                <a:solidFill>
                  <a:srgbClr val="D97706"/>
                </a:solidFill>
                <a:latin typeface="Calibri" pitchFamily="34" charset="0"/>
                <a:ea typeface="Calibri" pitchFamily="34" charset="-122"/>
                <a:cs typeface="Calibri" pitchFamily="34" charset="-120"/>
              </a:rPr>
              <a:t>LOW</a:t>
            </a:r>
            <a:endParaRPr lang="en-US" sz="880" dirty="0"/>
          </a:p>
        </p:txBody>
      </p:sp>
      <p:sp>
        <p:nvSpPr>
          <p:cNvPr id="19" name="Text 17"/>
          <p:cNvSpPr/>
          <p:nvPr/>
        </p:nvSpPr>
        <p:spPr>
          <a:xfrm>
            <a:off x="5440680" y="2688336"/>
            <a:ext cx="3154680" cy="228600"/>
          </a:xfrm>
          <a:prstGeom prst="rect">
            <a:avLst/>
          </a:prstGeom>
          <a:noFill/>
          <a:ln/>
        </p:spPr>
        <p:txBody>
          <a:bodyPr wrap="square" lIns="0" tIns="0" rIns="0" bIns="0" rtlCol="0" anchor="ctr"/>
          <a:lstStyle/>
          <a:p>
            <a:pPr indent="0" marL="0">
              <a:buNone/>
            </a:pPr>
            <a:r>
              <a:rPr lang="en-US" sz="1050" b="1" dirty="0">
                <a:solidFill>
                  <a:srgbClr val="0F2A44"/>
                </a:solidFill>
                <a:latin typeface="Calibri" pitchFamily="34" charset="0"/>
                <a:ea typeface="Calibri" pitchFamily="34" charset="-122"/>
                <a:cs typeface="Calibri" pitchFamily="34" charset="-120"/>
              </a:rPr>
              <a:t>main() method</a:t>
            </a:r>
            <a:endParaRPr lang="en-US" sz="1050" dirty="0"/>
          </a:p>
        </p:txBody>
      </p:sp>
      <p:sp>
        <p:nvSpPr>
          <p:cNvPr id="20" name="Text 18"/>
          <p:cNvSpPr/>
          <p:nvPr/>
        </p:nvSpPr>
        <p:spPr>
          <a:xfrm>
            <a:off x="5440680" y="2935224"/>
            <a:ext cx="3154680" cy="292608"/>
          </a:xfrm>
          <a:prstGeom prst="rect">
            <a:avLst/>
          </a:prstGeom>
          <a:noFill/>
          <a:ln/>
        </p:spPr>
        <p:txBody>
          <a:bodyPr wrap="square" lIns="0" tIns="0" rIns="0" bIns="0" rtlCol="0" anchor="ctr">
            <a:normAutofit/>
          </a:bodyPr>
          <a:lstStyle/>
          <a:p>
            <a:pPr indent="0" marL="0">
              <a:buNone/>
            </a:pPr>
            <a:r>
              <a:rPr lang="en-US" sz="890" dirty="0">
                <a:solidFill>
                  <a:srgbClr val="1E293B"/>
                </a:solidFill>
                <a:latin typeface="Calibri" pitchFamily="34" charset="0"/>
                <a:ea typeface="Calibri" pitchFamily="34" charset="-122"/>
                <a:cs typeface="Calibri" pitchFamily="34" charset="-120"/>
              </a:rPr>
              <a:t>Executable Java entry point without stronger framework signal</a:t>
            </a:r>
            <a:endParaRPr lang="en-US" sz="890" dirty="0"/>
          </a:p>
        </p:txBody>
      </p:sp>
      <p:sp>
        <p:nvSpPr>
          <p:cNvPr id="21" name="Shape 19"/>
          <p:cNvSpPr/>
          <p:nvPr/>
        </p:nvSpPr>
        <p:spPr>
          <a:xfrm>
            <a:off x="4617720" y="3255264"/>
            <a:ext cx="3977640" cy="9144"/>
          </a:xfrm>
          <a:prstGeom prst="rect">
            <a:avLst/>
          </a:prstGeom>
          <a:solidFill>
            <a:srgbClr val="D8DEE6"/>
          </a:solidFill>
          <a:ln w="12700">
            <a:solidFill>
              <a:srgbClr val="D8DEE6"/>
            </a:solidFill>
            <a:prstDash val="solid"/>
          </a:ln>
        </p:spPr>
      </p:sp>
      <p:sp>
        <p:nvSpPr>
          <p:cNvPr id="22" name="Shape 20"/>
          <p:cNvSpPr/>
          <p:nvPr/>
        </p:nvSpPr>
        <p:spPr>
          <a:xfrm>
            <a:off x="548640" y="3401568"/>
            <a:ext cx="457200" cy="36576"/>
          </a:xfrm>
          <a:prstGeom prst="rect">
            <a:avLst/>
          </a:prstGeom>
          <a:solidFill>
            <a:srgbClr val="0D9488"/>
          </a:solidFill>
          <a:ln w="12700">
            <a:solidFill>
              <a:srgbClr val="0D9488"/>
            </a:solidFill>
            <a:prstDash val="solid"/>
          </a:ln>
        </p:spPr>
      </p:sp>
      <p:sp>
        <p:nvSpPr>
          <p:cNvPr id="23" name="Text 21"/>
          <p:cNvSpPr/>
          <p:nvPr/>
        </p:nvSpPr>
        <p:spPr>
          <a:xfrm>
            <a:off x="548640" y="3511296"/>
            <a:ext cx="8046720" cy="274320"/>
          </a:xfrm>
          <a:prstGeom prst="rect">
            <a:avLst/>
          </a:prstGeom>
          <a:noFill/>
          <a:ln/>
        </p:spPr>
        <p:txBody>
          <a:bodyPr wrap="square" lIns="0" tIns="0" rIns="0" bIns="0" rtlCol="0" anchor="ctr"/>
          <a:lstStyle/>
          <a:p>
            <a:pPr indent="0" marL="0">
              <a:buNone/>
            </a:pPr>
            <a:r>
              <a:rPr lang="en-US" sz="1250" b="1" dirty="0">
                <a:solidFill>
                  <a:srgbClr val="0F2A44"/>
                </a:solidFill>
                <a:latin typeface="Calibri" pitchFamily="34" charset="0"/>
                <a:ea typeface="Calibri" pitchFamily="34" charset="-122"/>
                <a:cs typeface="Calibri" pitchFamily="34" charset="-120"/>
              </a:rPr>
              <a:t>Why this matters</a:t>
            </a:r>
            <a:endParaRPr lang="en-US" sz="1250" dirty="0"/>
          </a:p>
        </p:txBody>
      </p:sp>
      <p:sp>
        <p:nvSpPr>
          <p:cNvPr id="24" name="Text 22"/>
          <p:cNvSpPr/>
          <p:nvPr/>
        </p:nvSpPr>
        <p:spPr>
          <a:xfrm>
            <a:off x="548640" y="3822192"/>
            <a:ext cx="8046720" cy="566928"/>
          </a:xfrm>
          <a:prstGeom prst="rect">
            <a:avLst/>
          </a:prstGeom>
          <a:noFill/>
          <a:ln/>
        </p:spPr>
        <p:txBody>
          <a:bodyPr wrap="square" lIns="0" tIns="0" rIns="0" bIns="0" rtlCol="0" anchor="ctr"/>
          <a:lstStyle/>
          <a:p>
            <a:pPr indent="0" marL="0">
              <a:buNone/>
            </a:pPr>
            <a:r>
              <a:rPr lang="en-US" sz="1050" dirty="0">
                <a:solidFill>
                  <a:srgbClr val="1E293B"/>
                </a:solidFill>
                <a:latin typeface="Calibri" pitchFamily="34" charset="0"/>
                <a:ea typeface="Calibri" pitchFamily="34" charset="-122"/>
                <a:cs typeface="Calibri" pitchFamily="34" charset="-120"/>
              </a:rPr>
              <a:t>The tool does not require a manually supplied service list. It recovers likely deployable services from source structure, then attaches a confidence level so uncertain boundaries can be inspected instead of hidden.</a:t>
            </a:r>
            <a:endParaRPr lang="en-US" sz="1050" dirty="0"/>
          </a:p>
        </p:txBody>
      </p:sp>
      <p:sp>
        <p:nvSpPr>
          <p:cNvPr id="25" name="Text 23"/>
          <p:cNvSpPr/>
          <p:nvPr/>
        </p:nvSpPr>
        <p:spPr>
          <a:xfrm>
            <a:off x="548640" y="4462272"/>
            <a:ext cx="8046720" cy="237744"/>
          </a:xfrm>
          <a:prstGeom prst="rect">
            <a:avLst/>
          </a:prstGeom>
          <a:noFill/>
          <a:ln/>
        </p:spPr>
        <p:txBody>
          <a:bodyPr wrap="square" lIns="0" tIns="0" rIns="0" bIns="0" rtlCol="0" anchor="ctr"/>
          <a:lstStyle/>
          <a:p>
            <a:pPr indent="0" marL="0">
              <a:buNone/>
            </a:pPr>
            <a:r>
              <a:rPr lang="en-US" sz="950" i="1" dirty="0">
                <a:solidFill>
                  <a:srgbClr val="64748B"/>
                </a:solidFill>
                <a:latin typeface="Calibri" pitchFamily="34" charset="0"/>
                <a:ea typeface="Calibri" pitchFamily="34" charset="-122"/>
                <a:cs typeface="Calibri" pitchFamily="34" charset="-120"/>
              </a:rPr>
              <a:t>Main limitation: unusual build layouts or services hidden behind dynamic runtime configuration can still be missed.</a:t>
            </a:r>
            <a:endParaRPr lang="en-US" sz="950" dirty="0"/>
          </a:p>
        </p:txBody>
      </p:sp>
      <p:sp>
        <p:nvSpPr>
          <p:cNvPr id="26" name="Text 24"/>
          <p:cNvSpPr/>
          <p:nvPr/>
        </p:nvSpPr>
        <p:spPr>
          <a:xfrm>
            <a:off x="7452360" y="4864608"/>
            <a:ext cx="1143000" cy="22860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Appendix G</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56032"/>
            <a:ext cx="8046720" cy="502920"/>
          </a:xfrm>
          <a:prstGeom prst="rect">
            <a:avLst/>
          </a:prstGeom>
          <a:noFill/>
          <a:ln/>
        </p:spPr>
        <p:txBody>
          <a:bodyPr wrap="square" lIns="0" tIns="0" rIns="0" bIns="0" rtlCol="0" anchor="ctr"/>
          <a:lstStyle/>
          <a:p>
            <a:pPr indent="0" marL="0">
              <a:buNone/>
            </a:pPr>
            <a:r>
              <a:rPr lang="en-US" sz="2500" b="1" dirty="0">
                <a:solidFill>
                  <a:srgbClr val="0F2A44"/>
                </a:solidFill>
                <a:latin typeface="Calibri" pitchFamily="34" charset="0"/>
                <a:ea typeface="Calibri" pitchFamily="34" charset="-122"/>
                <a:cs typeface="Calibri" pitchFamily="34" charset="-120"/>
              </a:rPr>
              <a:t>Annex: static vs dynamic analysis</a:t>
            </a:r>
            <a:endParaRPr lang="en-US" sz="2500" dirty="0"/>
          </a:p>
        </p:txBody>
      </p:sp>
      <p:sp>
        <p:nvSpPr>
          <p:cNvPr id="3" name="Shape 1"/>
          <p:cNvSpPr/>
          <p:nvPr/>
        </p:nvSpPr>
        <p:spPr>
          <a:xfrm>
            <a:off x="548640" y="841248"/>
            <a:ext cx="8046720" cy="13716"/>
          </a:xfrm>
          <a:prstGeom prst="rect">
            <a:avLst/>
          </a:prstGeom>
          <a:solidFill>
            <a:srgbClr val="D8DEE6"/>
          </a:solidFill>
          <a:ln w="12700">
            <a:solidFill>
              <a:srgbClr val="D8DEE6"/>
            </a:solidFill>
            <a:prstDash val="solid"/>
          </a:ln>
        </p:spPr>
      </p:sp>
      <p:sp>
        <p:nvSpPr>
          <p:cNvPr id="4" name="Shape 2"/>
          <p:cNvSpPr/>
          <p:nvPr/>
        </p:nvSpPr>
        <p:spPr>
          <a:xfrm>
            <a:off x="548640" y="1024128"/>
            <a:ext cx="457200" cy="36576"/>
          </a:xfrm>
          <a:prstGeom prst="rect">
            <a:avLst/>
          </a:prstGeom>
          <a:solidFill>
            <a:srgbClr val="0D9488"/>
          </a:solidFill>
          <a:ln w="12700">
            <a:solidFill>
              <a:srgbClr val="0D9488"/>
            </a:solidFill>
            <a:prstDash val="solid"/>
          </a:ln>
        </p:spPr>
      </p:sp>
      <p:sp>
        <p:nvSpPr>
          <p:cNvPr id="5" name="Text 3"/>
          <p:cNvSpPr/>
          <p:nvPr/>
        </p:nvSpPr>
        <p:spPr>
          <a:xfrm>
            <a:off x="548640" y="1143000"/>
            <a:ext cx="3749040" cy="292608"/>
          </a:xfrm>
          <a:prstGeom prst="rect">
            <a:avLst/>
          </a:prstGeom>
          <a:noFill/>
          <a:ln/>
        </p:spPr>
        <p:txBody>
          <a:bodyPr wrap="square" lIns="0" tIns="0" rIns="0" bIns="0" rtlCol="0" anchor="ctr"/>
          <a:lstStyle/>
          <a:p>
            <a:pPr indent="0" marL="0">
              <a:buNone/>
            </a:pPr>
            <a:r>
              <a:rPr lang="en-US" sz="1400" b="1" dirty="0">
                <a:solidFill>
                  <a:srgbClr val="0F2A44"/>
                </a:solidFill>
                <a:latin typeface="Calibri" pitchFamily="34" charset="0"/>
                <a:ea typeface="Calibri" pitchFamily="34" charset="-122"/>
                <a:cs typeface="Calibri" pitchFamily="34" charset="-120"/>
              </a:rPr>
              <a:t>Static analysis</a:t>
            </a:r>
            <a:endParaRPr lang="en-US" sz="1400" dirty="0"/>
          </a:p>
        </p:txBody>
      </p:sp>
      <p:sp>
        <p:nvSpPr>
          <p:cNvPr id="6" name="Text 4"/>
          <p:cNvSpPr/>
          <p:nvPr/>
        </p:nvSpPr>
        <p:spPr>
          <a:xfrm>
            <a:off x="713232" y="1600200"/>
            <a:ext cx="3657600" cy="1417320"/>
          </a:xfrm>
          <a:prstGeom prst="rect">
            <a:avLst/>
          </a:prstGeom>
          <a:noFill/>
          <a:ln/>
        </p:spPr>
        <p:txBody>
          <a:bodyPr wrap="square" lIns="0" tIns="0" rIns="0" bIns="0" rtlCol="0" anchor="ctr"/>
          <a:lstStyle/>
          <a:p>
            <a:pPr marL="342900" indent="-342900">
              <a:spcAft>
                <a:spcPts val="500"/>
              </a:spcAft>
              <a:buSzPct val="100000"/>
              <a:buChar char="•"/>
            </a:pPr>
            <a:r>
              <a:rPr lang="en-US" sz="1030" dirty="0">
                <a:solidFill>
                  <a:srgbClr val="1E293B"/>
                </a:solidFill>
                <a:latin typeface="Calibri" pitchFamily="34" charset="0"/>
                <a:ea typeface="Calibri" pitchFamily="34" charset="-122"/>
                <a:cs typeface="Calibri" pitchFamily="34" charset="-120"/>
              </a:rPr>
              <a:t>Runs on a fresh repository checkout</a:t>
            </a:r>
            <a:endParaRPr lang="en-US" sz="1030" dirty="0"/>
          </a:p>
          <a:p>
            <a:pPr marL="342900" indent="-342900">
              <a:spcAft>
                <a:spcPts val="500"/>
              </a:spcAft>
              <a:buSzPct val="100000"/>
              <a:buChar char="•"/>
            </a:pPr>
            <a:r>
              <a:rPr lang="en-US" sz="1030" dirty="0">
                <a:solidFill>
                  <a:srgbClr val="1E293B"/>
                </a:solidFill>
                <a:latin typeface="Calibri" pitchFamily="34" charset="0"/>
                <a:ea typeface="Calibri" pitchFamily="34" charset="-122"/>
                <a:cs typeface="Calibri" pitchFamily="34" charset="-120"/>
              </a:rPr>
              <a:t>No deployment, traffic, credentials, or tracing setup needed</a:t>
            </a:r>
            <a:endParaRPr lang="en-US" sz="1030" dirty="0"/>
          </a:p>
          <a:p>
            <a:pPr marL="342900" indent="-342900">
              <a:spcAft>
                <a:spcPts val="500"/>
              </a:spcAft>
              <a:buSzPct val="100000"/>
              <a:buChar char="•"/>
            </a:pPr>
            <a:r>
              <a:rPr lang="en-US" sz="1030" dirty="0">
                <a:solidFill>
                  <a:srgbClr val="1E293B"/>
                </a:solidFill>
                <a:latin typeface="Calibri" pitchFamily="34" charset="0"/>
                <a:ea typeface="Calibri" pitchFamily="34" charset="-122"/>
                <a:cs typeface="Calibri" pitchFamily="34" charset="-120"/>
              </a:rPr>
              <a:t>Finds source-level evidence and configuration issues</a:t>
            </a:r>
            <a:endParaRPr lang="en-US" sz="1030" dirty="0"/>
          </a:p>
          <a:p>
            <a:pPr marL="342900" indent="-342900">
              <a:spcAft>
                <a:spcPts val="500"/>
              </a:spcAft>
              <a:buSzPct val="100000"/>
              <a:buChar char="•"/>
            </a:pPr>
            <a:r>
              <a:rPr lang="en-US" sz="1030" dirty="0">
                <a:solidFill>
                  <a:srgbClr val="1E293B"/>
                </a:solidFill>
                <a:latin typeface="Calibri" pitchFamily="34" charset="0"/>
                <a:ea typeface="Calibri" pitchFamily="34" charset="-122"/>
                <a:cs typeface="Calibri" pitchFamily="34" charset="-120"/>
              </a:rPr>
              <a:t>Good fit for CI/CD and early design feedback</a:t>
            </a:r>
            <a:endParaRPr lang="en-US" sz="1030" dirty="0"/>
          </a:p>
        </p:txBody>
      </p:sp>
      <p:sp>
        <p:nvSpPr>
          <p:cNvPr id="7" name="Shape 5"/>
          <p:cNvSpPr/>
          <p:nvPr/>
        </p:nvSpPr>
        <p:spPr>
          <a:xfrm>
            <a:off x="4617720" y="1024128"/>
            <a:ext cx="457200" cy="36576"/>
          </a:xfrm>
          <a:prstGeom prst="rect">
            <a:avLst/>
          </a:prstGeom>
          <a:solidFill>
            <a:srgbClr val="1C4E80"/>
          </a:solidFill>
          <a:ln w="12700">
            <a:solidFill>
              <a:srgbClr val="1C4E80"/>
            </a:solidFill>
            <a:prstDash val="solid"/>
          </a:ln>
        </p:spPr>
      </p:sp>
      <p:sp>
        <p:nvSpPr>
          <p:cNvPr id="8" name="Text 6"/>
          <p:cNvSpPr/>
          <p:nvPr/>
        </p:nvSpPr>
        <p:spPr>
          <a:xfrm>
            <a:off x="4617720" y="1143000"/>
            <a:ext cx="3749040" cy="292608"/>
          </a:xfrm>
          <a:prstGeom prst="rect">
            <a:avLst/>
          </a:prstGeom>
          <a:noFill/>
          <a:ln/>
        </p:spPr>
        <p:txBody>
          <a:bodyPr wrap="square" lIns="0" tIns="0" rIns="0" bIns="0" rtlCol="0" anchor="ctr"/>
          <a:lstStyle/>
          <a:p>
            <a:pPr indent="0" marL="0">
              <a:buNone/>
            </a:pPr>
            <a:r>
              <a:rPr lang="en-US" sz="1400" b="1" dirty="0">
                <a:solidFill>
                  <a:srgbClr val="0F2A44"/>
                </a:solidFill>
                <a:latin typeface="Calibri" pitchFamily="34" charset="0"/>
                <a:ea typeface="Calibri" pitchFamily="34" charset="-122"/>
                <a:cs typeface="Calibri" pitchFamily="34" charset="-120"/>
              </a:rPr>
              <a:t>Dynamic analysis</a:t>
            </a:r>
            <a:endParaRPr lang="en-US" sz="1400" dirty="0"/>
          </a:p>
        </p:txBody>
      </p:sp>
      <p:sp>
        <p:nvSpPr>
          <p:cNvPr id="9" name="Text 7"/>
          <p:cNvSpPr/>
          <p:nvPr/>
        </p:nvSpPr>
        <p:spPr>
          <a:xfrm>
            <a:off x="4782312" y="1600200"/>
            <a:ext cx="3657600" cy="1417320"/>
          </a:xfrm>
          <a:prstGeom prst="rect">
            <a:avLst/>
          </a:prstGeom>
          <a:noFill/>
          <a:ln/>
        </p:spPr>
        <p:txBody>
          <a:bodyPr wrap="square" lIns="0" tIns="0" rIns="0" bIns="0" rtlCol="0" anchor="ctr"/>
          <a:lstStyle/>
          <a:p>
            <a:pPr marL="342900" indent="-342900">
              <a:spcAft>
                <a:spcPts val="500"/>
              </a:spcAft>
              <a:buSzPct val="100000"/>
              <a:buChar char="•"/>
            </a:pPr>
            <a:r>
              <a:rPr lang="en-US" sz="1030" dirty="0">
                <a:solidFill>
                  <a:srgbClr val="1E293B"/>
                </a:solidFill>
                <a:latin typeface="Calibri" pitchFamily="34" charset="0"/>
                <a:ea typeface="Calibri" pitchFamily="34" charset="-122"/>
                <a:cs typeface="Calibri" pitchFamily="34" charset="-120"/>
              </a:rPr>
              <a:t>Observes real runtime calls and frequencies</a:t>
            </a:r>
            <a:endParaRPr lang="en-US" sz="1030" dirty="0"/>
          </a:p>
          <a:p>
            <a:pPr marL="342900" indent="-342900">
              <a:spcAft>
                <a:spcPts val="500"/>
              </a:spcAft>
              <a:buSzPct val="100000"/>
              <a:buChar char="•"/>
            </a:pPr>
            <a:r>
              <a:rPr lang="en-US" sz="1030" dirty="0">
                <a:solidFill>
                  <a:srgbClr val="1E293B"/>
                </a:solidFill>
                <a:latin typeface="Calibri" pitchFamily="34" charset="0"/>
                <a:ea typeface="Calibri" pitchFamily="34" charset="-122"/>
                <a:cs typeface="Calibri" pitchFamily="34" charset="-120"/>
              </a:rPr>
              <a:t>Requires deployed system and representative workload</a:t>
            </a:r>
            <a:endParaRPr lang="en-US" sz="1030" dirty="0"/>
          </a:p>
          <a:p>
            <a:pPr marL="342900" indent="-342900">
              <a:spcAft>
                <a:spcPts val="500"/>
              </a:spcAft>
              <a:buSzPct val="100000"/>
              <a:buChar char="•"/>
            </a:pPr>
            <a:r>
              <a:rPr lang="en-US" sz="1030" dirty="0">
                <a:solidFill>
                  <a:srgbClr val="1E293B"/>
                </a:solidFill>
                <a:latin typeface="Calibri" pitchFamily="34" charset="0"/>
                <a:ea typeface="Calibri" pitchFamily="34" charset="-122"/>
                <a:cs typeface="Calibri" pitchFamily="34" charset="-120"/>
              </a:rPr>
              <a:t>Captures dynamic routing and production behaviour</a:t>
            </a:r>
            <a:endParaRPr lang="en-US" sz="1030" dirty="0"/>
          </a:p>
          <a:p>
            <a:pPr marL="342900" indent="-342900">
              <a:spcAft>
                <a:spcPts val="500"/>
              </a:spcAft>
              <a:buSzPct val="100000"/>
              <a:buChar char="•"/>
            </a:pPr>
            <a:r>
              <a:rPr lang="en-US" sz="1030" dirty="0">
                <a:solidFill>
                  <a:srgbClr val="1E293B"/>
                </a:solidFill>
                <a:latin typeface="Calibri" pitchFamily="34" charset="0"/>
                <a:ea typeface="Calibri" pitchFamily="34" charset="-122"/>
                <a:cs typeface="Calibri" pitchFamily="34" charset="-120"/>
              </a:rPr>
              <a:t>Useful for validating or calibrating static findings</a:t>
            </a:r>
            <a:endParaRPr lang="en-US" sz="1030" dirty="0"/>
          </a:p>
        </p:txBody>
      </p:sp>
      <p:sp>
        <p:nvSpPr>
          <p:cNvPr id="10" name="Text 8"/>
          <p:cNvSpPr/>
          <p:nvPr/>
        </p:nvSpPr>
        <p:spPr>
          <a:xfrm>
            <a:off x="548640" y="3429000"/>
            <a:ext cx="8046720" cy="292608"/>
          </a:xfrm>
          <a:prstGeom prst="rect">
            <a:avLst/>
          </a:prstGeom>
          <a:noFill/>
          <a:ln/>
        </p:spPr>
        <p:txBody>
          <a:bodyPr wrap="square" lIns="0" tIns="0" rIns="0" bIns="0" rtlCol="0" anchor="ctr"/>
          <a:lstStyle/>
          <a:p>
            <a:pPr indent="0" marL="0">
              <a:buNone/>
            </a:pPr>
            <a:r>
              <a:rPr lang="en-US" sz="1300" b="1" dirty="0">
                <a:solidFill>
                  <a:srgbClr val="0F2A44"/>
                </a:solidFill>
                <a:latin typeface="Calibri" pitchFamily="34" charset="0"/>
                <a:ea typeface="Calibri" pitchFamily="34" charset="-122"/>
                <a:cs typeface="Calibri" pitchFamily="34" charset="-120"/>
              </a:rPr>
              <a:t>Chosen tradeoff</a:t>
            </a:r>
            <a:endParaRPr lang="en-US" sz="1300" dirty="0"/>
          </a:p>
        </p:txBody>
      </p:sp>
      <p:sp>
        <p:nvSpPr>
          <p:cNvPr id="11" name="Text 9"/>
          <p:cNvSpPr/>
          <p:nvPr/>
        </p:nvSpPr>
        <p:spPr>
          <a:xfrm>
            <a:off x="548640" y="3767328"/>
            <a:ext cx="8046720" cy="658368"/>
          </a:xfrm>
          <a:prstGeom prst="rect">
            <a:avLst/>
          </a:prstGeom>
          <a:noFill/>
          <a:ln/>
        </p:spPr>
        <p:txBody>
          <a:bodyPr wrap="square" lIns="0" tIns="0" rIns="0" bIns="0" rtlCol="0" anchor="ctr"/>
          <a:lstStyle/>
          <a:p>
            <a:pPr indent="0" marL="0">
              <a:buNone/>
            </a:pPr>
            <a:r>
              <a:rPr lang="en-US" sz="1050" dirty="0">
                <a:solidFill>
                  <a:srgbClr val="1E293B"/>
                </a:solidFill>
                <a:latin typeface="Calibri" pitchFamily="34" charset="0"/>
                <a:ea typeface="Calibri" pitchFamily="34" charset="-122"/>
                <a:cs typeface="Calibri" pitchFamily="34" charset="-120"/>
              </a:rPr>
              <a:t>MSA Detector prioritises applicability over runtime precision: it can analyse systems before they are running, making it useful during development, review, and CI. Runtime traces would improve call-frequency accuracy, but would reduce portability and require operational setup.</a:t>
            </a:r>
            <a:endParaRPr lang="en-US" sz="1050" dirty="0"/>
          </a:p>
        </p:txBody>
      </p:sp>
      <p:sp>
        <p:nvSpPr>
          <p:cNvPr id="12" name="Text 10"/>
          <p:cNvSpPr/>
          <p:nvPr/>
        </p:nvSpPr>
        <p:spPr>
          <a:xfrm>
            <a:off x="7452360" y="4864608"/>
            <a:ext cx="1143000" cy="22860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Appendix H</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56032"/>
            <a:ext cx="8046720" cy="502920"/>
          </a:xfrm>
          <a:prstGeom prst="rect">
            <a:avLst/>
          </a:prstGeom>
          <a:noFill/>
          <a:ln/>
        </p:spPr>
        <p:txBody>
          <a:bodyPr wrap="square" lIns="0" tIns="0" rIns="0" bIns="0" rtlCol="0" anchor="ctr"/>
          <a:lstStyle/>
          <a:p>
            <a:pPr indent="0" marL="0">
              <a:buNone/>
            </a:pPr>
            <a:r>
              <a:rPr lang="en-US" sz="2500" b="1" dirty="0">
                <a:solidFill>
                  <a:srgbClr val="0F2A44"/>
                </a:solidFill>
                <a:latin typeface="Calibri" pitchFamily="34" charset="0"/>
                <a:ea typeface="Calibri" pitchFamily="34" charset="-122"/>
                <a:cs typeface="Calibri" pitchFamily="34" charset="-120"/>
              </a:rPr>
              <a:t>Annex: threats to validity</a:t>
            </a:r>
            <a:endParaRPr lang="en-US" sz="2500" dirty="0"/>
          </a:p>
        </p:txBody>
      </p:sp>
      <p:sp>
        <p:nvSpPr>
          <p:cNvPr id="3" name="Shape 1"/>
          <p:cNvSpPr/>
          <p:nvPr/>
        </p:nvSpPr>
        <p:spPr>
          <a:xfrm>
            <a:off x="548640" y="841248"/>
            <a:ext cx="8046720" cy="13716"/>
          </a:xfrm>
          <a:prstGeom prst="rect">
            <a:avLst/>
          </a:prstGeom>
          <a:solidFill>
            <a:srgbClr val="D8DEE6"/>
          </a:solidFill>
          <a:ln w="12700">
            <a:solidFill>
              <a:srgbClr val="D8DEE6"/>
            </a:solidFill>
            <a:prstDash val="solid"/>
          </a:ln>
        </p:spPr>
      </p:sp>
      <p:sp>
        <p:nvSpPr>
          <p:cNvPr id="4" name="Shape 2"/>
          <p:cNvSpPr/>
          <p:nvPr/>
        </p:nvSpPr>
        <p:spPr>
          <a:xfrm>
            <a:off x="548640" y="1005840"/>
            <a:ext cx="384048" cy="36576"/>
          </a:xfrm>
          <a:prstGeom prst="rect">
            <a:avLst/>
          </a:prstGeom>
          <a:solidFill>
            <a:srgbClr val="D97706"/>
          </a:solidFill>
          <a:ln w="12700">
            <a:solidFill>
              <a:srgbClr val="D97706"/>
            </a:solidFill>
            <a:prstDash val="solid"/>
          </a:ln>
        </p:spPr>
      </p:sp>
      <p:sp>
        <p:nvSpPr>
          <p:cNvPr id="5" name="Text 3"/>
          <p:cNvSpPr/>
          <p:nvPr/>
        </p:nvSpPr>
        <p:spPr>
          <a:xfrm>
            <a:off x="548640" y="1115568"/>
            <a:ext cx="2057400" cy="228600"/>
          </a:xfrm>
          <a:prstGeom prst="rect">
            <a:avLst/>
          </a:prstGeom>
          <a:noFill/>
          <a:ln/>
        </p:spPr>
        <p:txBody>
          <a:bodyPr wrap="square" lIns="0" tIns="0" rIns="0" bIns="0" rtlCol="0" anchor="ctr"/>
          <a:lstStyle/>
          <a:p>
            <a:pPr indent="0" marL="0">
              <a:buNone/>
            </a:pPr>
            <a:r>
              <a:rPr lang="en-US" sz="1080" b="1" dirty="0">
                <a:solidFill>
                  <a:srgbClr val="0F2A44"/>
                </a:solidFill>
                <a:latin typeface="Calibri" pitchFamily="34" charset="0"/>
                <a:ea typeface="Calibri" pitchFamily="34" charset="-122"/>
                <a:cs typeface="Calibri" pitchFamily="34" charset="-120"/>
              </a:rPr>
              <a:t>Construct validity</a:t>
            </a:r>
            <a:endParaRPr lang="en-US" sz="1080" dirty="0"/>
          </a:p>
        </p:txBody>
      </p:sp>
      <p:sp>
        <p:nvSpPr>
          <p:cNvPr id="6" name="Text 4"/>
          <p:cNvSpPr/>
          <p:nvPr/>
        </p:nvSpPr>
        <p:spPr>
          <a:xfrm>
            <a:off x="2697480" y="1060704"/>
            <a:ext cx="5897880" cy="402336"/>
          </a:xfrm>
          <a:prstGeom prst="rect">
            <a:avLst/>
          </a:prstGeom>
          <a:noFill/>
          <a:ln/>
        </p:spPr>
        <p:txBody>
          <a:bodyPr wrap="square" lIns="0" tIns="0" rIns="0" bIns="0" rtlCol="0" anchor="ctr">
            <a:normAutofit/>
          </a:bodyPr>
          <a:lstStyle/>
          <a:p>
            <a:pPr indent="0" marL="0">
              <a:buNone/>
            </a:pPr>
            <a:r>
              <a:rPr lang="en-US" sz="920" dirty="0">
                <a:solidFill>
                  <a:srgbClr val="1E293B"/>
                </a:solidFill>
                <a:latin typeface="Calibri" pitchFamily="34" charset="0"/>
                <a:ea typeface="Calibri" pitchFamily="34" charset="-122"/>
                <a:cs typeface="Calibri" pitchFamily="34" charset="-120"/>
              </a:rPr>
              <a:t>The health score approximates architectural quality; it is not a direct measurement of maintainability, reliability, or business impact.</a:t>
            </a:r>
            <a:endParaRPr lang="en-US" sz="920" dirty="0"/>
          </a:p>
        </p:txBody>
      </p:sp>
      <p:sp>
        <p:nvSpPr>
          <p:cNvPr id="7" name="Shape 5"/>
          <p:cNvSpPr/>
          <p:nvPr/>
        </p:nvSpPr>
        <p:spPr>
          <a:xfrm>
            <a:off x="548640" y="1554480"/>
            <a:ext cx="8046720" cy="9144"/>
          </a:xfrm>
          <a:prstGeom prst="rect">
            <a:avLst/>
          </a:prstGeom>
          <a:solidFill>
            <a:srgbClr val="D8DEE6"/>
          </a:solidFill>
          <a:ln w="12700">
            <a:solidFill>
              <a:srgbClr val="D8DEE6"/>
            </a:solidFill>
            <a:prstDash val="solid"/>
          </a:ln>
        </p:spPr>
      </p:sp>
      <p:sp>
        <p:nvSpPr>
          <p:cNvPr id="8" name="Shape 6"/>
          <p:cNvSpPr/>
          <p:nvPr/>
        </p:nvSpPr>
        <p:spPr>
          <a:xfrm>
            <a:off x="548640" y="1719072"/>
            <a:ext cx="384048" cy="36576"/>
          </a:xfrm>
          <a:prstGeom prst="rect">
            <a:avLst/>
          </a:prstGeom>
          <a:solidFill>
            <a:srgbClr val="0D9488"/>
          </a:solidFill>
          <a:ln w="12700">
            <a:solidFill>
              <a:srgbClr val="0D9488"/>
            </a:solidFill>
            <a:prstDash val="solid"/>
          </a:ln>
        </p:spPr>
      </p:sp>
      <p:sp>
        <p:nvSpPr>
          <p:cNvPr id="9" name="Text 7"/>
          <p:cNvSpPr/>
          <p:nvPr/>
        </p:nvSpPr>
        <p:spPr>
          <a:xfrm>
            <a:off x="548640" y="1828800"/>
            <a:ext cx="2057400" cy="228600"/>
          </a:xfrm>
          <a:prstGeom prst="rect">
            <a:avLst/>
          </a:prstGeom>
          <a:noFill/>
          <a:ln/>
        </p:spPr>
        <p:txBody>
          <a:bodyPr wrap="square" lIns="0" tIns="0" rIns="0" bIns="0" rtlCol="0" anchor="ctr"/>
          <a:lstStyle/>
          <a:p>
            <a:pPr indent="0" marL="0">
              <a:buNone/>
            </a:pPr>
            <a:r>
              <a:rPr lang="en-US" sz="1080" b="1" dirty="0">
                <a:solidFill>
                  <a:srgbClr val="0F2A44"/>
                </a:solidFill>
                <a:latin typeface="Calibri" pitchFamily="34" charset="0"/>
                <a:ea typeface="Calibri" pitchFamily="34" charset="-122"/>
                <a:cs typeface="Calibri" pitchFamily="34" charset="-120"/>
              </a:rPr>
              <a:t>Internal validity</a:t>
            </a:r>
            <a:endParaRPr lang="en-US" sz="1080" dirty="0"/>
          </a:p>
        </p:txBody>
      </p:sp>
      <p:sp>
        <p:nvSpPr>
          <p:cNvPr id="10" name="Text 8"/>
          <p:cNvSpPr/>
          <p:nvPr/>
        </p:nvSpPr>
        <p:spPr>
          <a:xfrm>
            <a:off x="2697480" y="1773936"/>
            <a:ext cx="5897880" cy="402336"/>
          </a:xfrm>
          <a:prstGeom prst="rect">
            <a:avLst/>
          </a:prstGeom>
          <a:noFill/>
          <a:ln/>
        </p:spPr>
        <p:txBody>
          <a:bodyPr wrap="square" lIns="0" tIns="0" rIns="0" bIns="0" rtlCol="0" anchor="ctr">
            <a:normAutofit/>
          </a:bodyPr>
          <a:lstStyle/>
          <a:p>
            <a:pPr indent="0" marL="0">
              <a:buNone/>
            </a:pPr>
            <a:r>
              <a:rPr lang="en-US" sz="920" dirty="0">
                <a:solidFill>
                  <a:srgbClr val="1E293B"/>
                </a:solidFill>
                <a:latin typeface="Calibri" pitchFamily="34" charset="0"/>
                <a:ea typeface="Calibri" pitchFamily="34" charset="-122"/>
                <a:cs typeface="Calibri" pitchFamily="34" charset="-120"/>
              </a:rPr>
              <a:t>Static call resolution may miss dynamic URLs, generated clients, reflection, service discovery indirection, or framework-specific routing.</a:t>
            </a:r>
            <a:endParaRPr lang="en-US" sz="920" dirty="0"/>
          </a:p>
        </p:txBody>
      </p:sp>
      <p:sp>
        <p:nvSpPr>
          <p:cNvPr id="11" name="Shape 9"/>
          <p:cNvSpPr/>
          <p:nvPr/>
        </p:nvSpPr>
        <p:spPr>
          <a:xfrm>
            <a:off x="548640" y="2267712"/>
            <a:ext cx="8046720" cy="9144"/>
          </a:xfrm>
          <a:prstGeom prst="rect">
            <a:avLst/>
          </a:prstGeom>
          <a:solidFill>
            <a:srgbClr val="D8DEE6"/>
          </a:solidFill>
          <a:ln w="12700">
            <a:solidFill>
              <a:srgbClr val="D8DEE6"/>
            </a:solidFill>
            <a:prstDash val="solid"/>
          </a:ln>
        </p:spPr>
      </p:sp>
      <p:sp>
        <p:nvSpPr>
          <p:cNvPr id="12" name="Shape 10"/>
          <p:cNvSpPr/>
          <p:nvPr/>
        </p:nvSpPr>
        <p:spPr>
          <a:xfrm>
            <a:off x="548640" y="2432304"/>
            <a:ext cx="384048" cy="36576"/>
          </a:xfrm>
          <a:prstGeom prst="rect">
            <a:avLst/>
          </a:prstGeom>
          <a:solidFill>
            <a:srgbClr val="D97706"/>
          </a:solidFill>
          <a:ln w="12700">
            <a:solidFill>
              <a:srgbClr val="D97706"/>
            </a:solidFill>
            <a:prstDash val="solid"/>
          </a:ln>
        </p:spPr>
      </p:sp>
      <p:sp>
        <p:nvSpPr>
          <p:cNvPr id="13" name="Text 11"/>
          <p:cNvSpPr/>
          <p:nvPr/>
        </p:nvSpPr>
        <p:spPr>
          <a:xfrm>
            <a:off x="548640" y="2542032"/>
            <a:ext cx="2057400" cy="228600"/>
          </a:xfrm>
          <a:prstGeom prst="rect">
            <a:avLst/>
          </a:prstGeom>
          <a:noFill/>
          <a:ln/>
        </p:spPr>
        <p:txBody>
          <a:bodyPr wrap="square" lIns="0" tIns="0" rIns="0" bIns="0" rtlCol="0" anchor="ctr"/>
          <a:lstStyle/>
          <a:p>
            <a:pPr indent="0" marL="0">
              <a:buNone/>
            </a:pPr>
            <a:r>
              <a:rPr lang="en-US" sz="1080" b="1" dirty="0">
                <a:solidFill>
                  <a:srgbClr val="0F2A44"/>
                </a:solidFill>
                <a:latin typeface="Calibri" pitchFamily="34" charset="0"/>
                <a:ea typeface="Calibri" pitchFamily="34" charset="-122"/>
                <a:cs typeface="Calibri" pitchFamily="34" charset="-120"/>
              </a:rPr>
              <a:t>External validity</a:t>
            </a:r>
            <a:endParaRPr lang="en-US" sz="1080" dirty="0"/>
          </a:p>
        </p:txBody>
      </p:sp>
      <p:sp>
        <p:nvSpPr>
          <p:cNvPr id="14" name="Text 12"/>
          <p:cNvSpPr/>
          <p:nvPr/>
        </p:nvSpPr>
        <p:spPr>
          <a:xfrm>
            <a:off x="2697480" y="2487168"/>
            <a:ext cx="5897880" cy="402336"/>
          </a:xfrm>
          <a:prstGeom prst="rect">
            <a:avLst/>
          </a:prstGeom>
          <a:noFill/>
          <a:ln/>
        </p:spPr>
        <p:txBody>
          <a:bodyPr wrap="square" lIns="0" tIns="0" rIns="0" bIns="0" rtlCol="0" anchor="ctr">
            <a:normAutofit/>
          </a:bodyPr>
          <a:lstStyle/>
          <a:p>
            <a:pPr indent="0" marL="0">
              <a:buNone/>
            </a:pPr>
            <a:r>
              <a:rPr lang="en-US" sz="920" dirty="0">
                <a:solidFill>
                  <a:srgbClr val="1E293B"/>
                </a:solidFill>
                <a:latin typeface="Calibri" pitchFamily="34" charset="0"/>
                <a:ea typeface="Calibri" pitchFamily="34" charset="-122"/>
                <a:cs typeface="Calibri" pitchFamily="34" charset="-120"/>
              </a:rPr>
              <a:t>Evaluation covers 11 Java/Spring Boot open-source systems, so results may not generalise to industrial, polyglot, or cloud-native systems.</a:t>
            </a:r>
            <a:endParaRPr lang="en-US" sz="920" dirty="0"/>
          </a:p>
        </p:txBody>
      </p:sp>
      <p:sp>
        <p:nvSpPr>
          <p:cNvPr id="15" name="Shape 13"/>
          <p:cNvSpPr/>
          <p:nvPr/>
        </p:nvSpPr>
        <p:spPr>
          <a:xfrm>
            <a:off x="548640" y="2980944"/>
            <a:ext cx="8046720" cy="9144"/>
          </a:xfrm>
          <a:prstGeom prst="rect">
            <a:avLst/>
          </a:prstGeom>
          <a:solidFill>
            <a:srgbClr val="D8DEE6"/>
          </a:solidFill>
          <a:ln w="12700">
            <a:solidFill>
              <a:srgbClr val="D8DEE6"/>
            </a:solidFill>
            <a:prstDash val="solid"/>
          </a:ln>
        </p:spPr>
      </p:sp>
      <p:sp>
        <p:nvSpPr>
          <p:cNvPr id="16" name="Shape 14"/>
          <p:cNvSpPr/>
          <p:nvPr/>
        </p:nvSpPr>
        <p:spPr>
          <a:xfrm>
            <a:off x="548640" y="3145536"/>
            <a:ext cx="384048" cy="36576"/>
          </a:xfrm>
          <a:prstGeom prst="rect">
            <a:avLst/>
          </a:prstGeom>
          <a:solidFill>
            <a:srgbClr val="0D9488"/>
          </a:solidFill>
          <a:ln w="12700">
            <a:solidFill>
              <a:srgbClr val="0D9488"/>
            </a:solidFill>
            <a:prstDash val="solid"/>
          </a:ln>
        </p:spPr>
      </p:sp>
      <p:sp>
        <p:nvSpPr>
          <p:cNvPr id="17" name="Text 15"/>
          <p:cNvSpPr/>
          <p:nvPr/>
        </p:nvSpPr>
        <p:spPr>
          <a:xfrm>
            <a:off x="548640" y="3255264"/>
            <a:ext cx="2057400" cy="228600"/>
          </a:xfrm>
          <a:prstGeom prst="rect">
            <a:avLst/>
          </a:prstGeom>
          <a:noFill/>
          <a:ln/>
        </p:spPr>
        <p:txBody>
          <a:bodyPr wrap="square" lIns="0" tIns="0" rIns="0" bIns="0" rtlCol="0" anchor="ctr"/>
          <a:lstStyle/>
          <a:p>
            <a:pPr indent="0" marL="0">
              <a:buNone/>
            </a:pPr>
            <a:r>
              <a:rPr lang="en-US" sz="1080" b="1" dirty="0">
                <a:solidFill>
                  <a:srgbClr val="0F2A44"/>
                </a:solidFill>
                <a:latin typeface="Calibri" pitchFamily="34" charset="0"/>
                <a:ea typeface="Calibri" pitchFamily="34" charset="-122"/>
                <a:cs typeface="Calibri" pitchFamily="34" charset="-120"/>
              </a:rPr>
              <a:t>Conclusion validity</a:t>
            </a:r>
            <a:endParaRPr lang="en-US" sz="1080" dirty="0"/>
          </a:p>
        </p:txBody>
      </p:sp>
      <p:sp>
        <p:nvSpPr>
          <p:cNvPr id="18" name="Text 16"/>
          <p:cNvSpPr/>
          <p:nvPr/>
        </p:nvSpPr>
        <p:spPr>
          <a:xfrm>
            <a:off x="2697480" y="3200400"/>
            <a:ext cx="5897880" cy="402336"/>
          </a:xfrm>
          <a:prstGeom prst="rect">
            <a:avLst/>
          </a:prstGeom>
          <a:noFill/>
          <a:ln/>
        </p:spPr>
        <p:txBody>
          <a:bodyPr wrap="square" lIns="0" tIns="0" rIns="0" bIns="0" rtlCol="0" anchor="ctr">
            <a:normAutofit/>
          </a:bodyPr>
          <a:lstStyle/>
          <a:p>
            <a:pPr indent="0" marL="0">
              <a:buNone/>
            </a:pPr>
            <a:r>
              <a:rPr lang="en-US" sz="920" dirty="0">
                <a:solidFill>
                  <a:srgbClr val="1E293B"/>
                </a:solidFill>
                <a:latin typeface="Calibri" pitchFamily="34" charset="0"/>
                <a:ea typeface="Calibri" pitchFamily="34" charset="-122"/>
                <a:cs typeface="Calibri" pitchFamily="34" charset="-120"/>
              </a:rPr>
              <a:t>No labelled benchmark exists for these microservice anti-patterns, so the evaluation demonstrates feasibility rather than precision/recall.</a:t>
            </a:r>
            <a:endParaRPr lang="en-US" sz="920" dirty="0"/>
          </a:p>
        </p:txBody>
      </p:sp>
      <p:sp>
        <p:nvSpPr>
          <p:cNvPr id="19" name="Shape 17"/>
          <p:cNvSpPr/>
          <p:nvPr/>
        </p:nvSpPr>
        <p:spPr>
          <a:xfrm>
            <a:off x="548640" y="3694176"/>
            <a:ext cx="8046720" cy="9144"/>
          </a:xfrm>
          <a:prstGeom prst="rect">
            <a:avLst/>
          </a:prstGeom>
          <a:solidFill>
            <a:srgbClr val="D8DEE6"/>
          </a:solidFill>
          <a:ln w="12700">
            <a:solidFill>
              <a:srgbClr val="D8DEE6"/>
            </a:solidFill>
            <a:prstDash val="solid"/>
          </a:ln>
        </p:spPr>
      </p:sp>
      <p:sp>
        <p:nvSpPr>
          <p:cNvPr id="20" name="Shape 18"/>
          <p:cNvSpPr/>
          <p:nvPr/>
        </p:nvSpPr>
        <p:spPr>
          <a:xfrm>
            <a:off x="548640" y="3858768"/>
            <a:ext cx="384048" cy="36576"/>
          </a:xfrm>
          <a:prstGeom prst="rect">
            <a:avLst/>
          </a:prstGeom>
          <a:solidFill>
            <a:srgbClr val="D97706"/>
          </a:solidFill>
          <a:ln w="12700">
            <a:solidFill>
              <a:srgbClr val="D97706"/>
            </a:solidFill>
            <a:prstDash val="solid"/>
          </a:ln>
        </p:spPr>
      </p:sp>
      <p:sp>
        <p:nvSpPr>
          <p:cNvPr id="21" name="Text 19"/>
          <p:cNvSpPr/>
          <p:nvPr/>
        </p:nvSpPr>
        <p:spPr>
          <a:xfrm>
            <a:off x="548640" y="3968496"/>
            <a:ext cx="2057400" cy="228600"/>
          </a:xfrm>
          <a:prstGeom prst="rect">
            <a:avLst/>
          </a:prstGeom>
          <a:noFill/>
          <a:ln/>
        </p:spPr>
        <p:txBody>
          <a:bodyPr wrap="square" lIns="0" tIns="0" rIns="0" bIns="0" rtlCol="0" anchor="ctr"/>
          <a:lstStyle/>
          <a:p>
            <a:pPr indent="0" marL="0">
              <a:buNone/>
            </a:pPr>
            <a:r>
              <a:rPr lang="en-US" sz="1080" b="1" dirty="0">
                <a:solidFill>
                  <a:srgbClr val="0F2A44"/>
                </a:solidFill>
                <a:latin typeface="Calibri" pitchFamily="34" charset="0"/>
                <a:ea typeface="Calibri" pitchFamily="34" charset="-122"/>
                <a:cs typeface="Calibri" pitchFamily="34" charset="-120"/>
              </a:rPr>
              <a:t>Threshold validity</a:t>
            </a:r>
            <a:endParaRPr lang="en-US" sz="1080" dirty="0"/>
          </a:p>
        </p:txBody>
      </p:sp>
      <p:sp>
        <p:nvSpPr>
          <p:cNvPr id="22" name="Text 20"/>
          <p:cNvSpPr/>
          <p:nvPr/>
        </p:nvSpPr>
        <p:spPr>
          <a:xfrm>
            <a:off x="2697480" y="3913632"/>
            <a:ext cx="5897880" cy="402336"/>
          </a:xfrm>
          <a:prstGeom prst="rect">
            <a:avLst/>
          </a:prstGeom>
          <a:noFill/>
          <a:ln/>
        </p:spPr>
        <p:txBody>
          <a:bodyPr wrap="square" lIns="0" tIns="0" rIns="0" bIns="0" rtlCol="0" anchor="ctr">
            <a:normAutofit/>
          </a:bodyPr>
          <a:lstStyle/>
          <a:p>
            <a:pPr indent="0" marL="0">
              <a:buNone/>
            </a:pPr>
            <a:r>
              <a:rPr lang="en-US" sz="920" dirty="0">
                <a:solidFill>
                  <a:srgbClr val="1E293B"/>
                </a:solidFill>
                <a:latin typeface="Calibri" pitchFamily="34" charset="0"/>
                <a:ea typeface="Calibri" pitchFamily="34" charset="-122"/>
                <a:cs typeface="Calibri" pitchFamily="34" charset="-120"/>
              </a:rPr>
              <a:t>Detector thresholds and score weights are engineering choices informed by literature, but not calibrated on a large industrial corpus.</a:t>
            </a:r>
            <a:endParaRPr lang="en-US" sz="920" dirty="0"/>
          </a:p>
        </p:txBody>
      </p:sp>
      <p:sp>
        <p:nvSpPr>
          <p:cNvPr id="23" name="Shape 21"/>
          <p:cNvSpPr/>
          <p:nvPr/>
        </p:nvSpPr>
        <p:spPr>
          <a:xfrm>
            <a:off x="548640" y="4407408"/>
            <a:ext cx="8046720" cy="9144"/>
          </a:xfrm>
          <a:prstGeom prst="rect">
            <a:avLst/>
          </a:prstGeom>
          <a:solidFill>
            <a:srgbClr val="D8DEE6"/>
          </a:solidFill>
          <a:ln w="12700">
            <a:solidFill>
              <a:srgbClr val="D8DEE6"/>
            </a:solidFill>
            <a:prstDash val="solid"/>
          </a:ln>
        </p:spPr>
      </p:sp>
      <p:sp>
        <p:nvSpPr>
          <p:cNvPr id="24" name="Shape 22"/>
          <p:cNvSpPr/>
          <p:nvPr/>
        </p:nvSpPr>
        <p:spPr>
          <a:xfrm>
            <a:off x="548640" y="4498848"/>
            <a:ext cx="457200" cy="36576"/>
          </a:xfrm>
          <a:prstGeom prst="rect">
            <a:avLst/>
          </a:prstGeom>
          <a:solidFill>
            <a:srgbClr val="0D9488"/>
          </a:solidFill>
          <a:ln w="12700">
            <a:solidFill>
              <a:srgbClr val="0D9488"/>
            </a:solidFill>
            <a:prstDash val="solid"/>
          </a:ln>
        </p:spPr>
      </p:sp>
      <p:sp>
        <p:nvSpPr>
          <p:cNvPr id="25" name="Text 23"/>
          <p:cNvSpPr/>
          <p:nvPr/>
        </p:nvSpPr>
        <p:spPr>
          <a:xfrm>
            <a:off x="548640" y="4590288"/>
            <a:ext cx="8046720" cy="237744"/>
          </a:xfrm>
          <a:prstGeom prst="rect">
            <a:avLst/>
          </a:prstGeom>
          <a:noFill/>
          <a:ln/>
        </p:spPr>
        <p:txBody>
          <a:bodyPr wrap="square" lIns="0" tIns="0" rIns="0" bIns="0" rtlCol="0" anchor="ctr"/>
          <a:lstStyle/>
          <a:p>
            <a:pPr indent="0" marL="0">
              <a:buNone/>
            </a:pPr>
            <a:r>
              <a:rPr lang="en-US" sz="950" i="1" dirty="0">
                <a:solidFill>
                  <a:srgbClr val="64748B"/>
                </a:solidFill>
                <a:latin typeface="Calibri" pitchFamily="34" charset="0"/>
                <a:ea typeface="Calibri" pitchFamily="34" charset="-122"/>
                <a:cs typeface="Calibri" pitchFamily="34" charset="-120"/>
              </a:rPr>
              <a:t>Positioning: the dissertation claims an explainable end-to-end prototype and feasibility study, not a statistically validated detector benchmark.</a:t>
            </a:r>
            <a:endParaRPr lang="en-US" sz="950" dirty="0"/>
          </a:p>
        </p:txBody>
      </p:sp>
      <p:sp>
        <p:nvSpPr>
          <p:cNvPr id="26" name="Text 24"/>
          <p:cNvSpPr/>
          <p:nvPr/>
        </p:nvSpPr>
        <p:spPr>
          <a:xfrm>
            <a:off x="7452360" y="4864608"/>
            <a:ext cx="1143000" cy="22860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Appendix I</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56032"/>
            <a:ext cx="8046720" cy="502920"/>
          </a:xfrm>
          <a:prstGeom prst="rect">
            <a:avLst/>
          </a:prstGeom>
          <a:noFill/>
          <a:ln/>
        </p:spPr>
        <p:txBody>
          <a:bodyPr wrap="square" lIns="0" tIns="0" rIns="0" bIns="0" rtlCol="0" anchor="ctr"/>
          <a:lstStyle/>
          <a:p>
            <a:pPr indent="0" marL="0">
              <a:buNone/>
            </a:pPr>
            <a:r>
              <a:rPr lang="en-US" sz="2500" b="1" dirty="0">
                <a:solidFill>
                  <a:srgbClr val="0F2A44"/>
                </a:solidFill>
                <a:latin typeface="Calibri" pitchFamily="34" charset="0"/>
                <a:ea typeface="Calibri" pitchFamily="34" charset="-122"/>
                <a:cs typeface="Calibri" pitchFamily="34" charset="-120"/>
              </a:rPr>
              <a:t>Annex: tool architecture internals</a:t>
            </a:r>
            <a:endParaRPr lang="en-US" sz="2500" dirty="0"/>
          </a:p>
        </p:txBody>
      </p:sp>
      <p:sp>
        <p:nvSpPr>
          <p:cNvPr id="3" name="Shape 1"/>
          <p:cNvSpPr/>
          <p:nvPr/>
        </p:nvSpPr>
        <p:spPr>
          <a:xfrm>
            <a:off x="548640" y="841248"/>
            <a:ext cx="8046720" cy="13716"/>
          </a:xfrm>
          <a:prstGeom prst="rect">
            <a:avLst/>
          </a:prstGeom>
          <a:solidFill>
            <a:srgbClr val="D8DEE6"/>
          </a:solidFill>
          <a:ln w="12700">
            <a:solidFill>
              <a:srgbClr val="D8DEE6"/>
            </a:solidFill>
            <a:prstDash val="solid"/>
          </a:ln>
        </p:spPr>
      </p:sp>
      <p:sp>
        <p:nvSpPr>
          <p:cNvPr id="4" name="Text 2"/>
          <p:cNvSpPr/>
          <p:nvPr/>
        </p:nvSpPr>
        <p:spPr>
          <a:xfrm>
            <a:off x="548640" y="1005840"/>
            <a:ext cx="310896" cy="274320"/>
          </a:xfrm>
          <a:prstGeom prst="rect">
            <a:avLst/>
          </a:prstGeom>
          <a:noFill/>
          <a:ln/>
        </p:spPr>
        <p:txBody>
          <a:bodyPr wrap="square" lIns="0" tIns="0" rIns="0" bIns="0" rtlCol="0" anchor="ctr"/>
          <a:lstStyle/>
          <a:p>
            <a:pPr indent="0" marL="0">
              <a:buNone/>
            </a:pPr>
            <a:r>
              <a:rPr lang="en-US" sz="1200" b="1" dirty="0">
                <a:solidFill>
                  <a:srgbClr val="0D9488"/>
                </a:solidFill>
                <a:latin typeface="Calibri" pitchFamily="34" charset="0"/>
                <a:ea typeface="Calibri" pitchFamily="34" charset="-122"/>
                <a:cs typeface="Calibri" pitchFamily="34" charset="-120"/>
              </a:rPr>
              <a:t>1</a:t>
            </a:r>
            <a:endParaRPr lang="en-US" sz="1200" dirty="0"/>
          </a:p>
        </p:txBody>
      </p:sp>
      <p:sp>
        <p:nvSpPr>
          <p:cNvPr id="5" name="Text 3"/>
          <p:cNvSpPr/>
          <p:nvPr/>
        </p:nvSpPr>
        <p:spPr>
          <a:xfrm>
            <a:off x="960120" y="987552"/>
            <a:ext cx="3337560" cy="228600"/>
          </a:xfrm>
          <a:prstGeom prst="rect">
            <a:avLst/>
          </a:prstGeom>
          <a:noFill/>
          <a:ln/>
        </p:spPr>
        <p:txBody>
          <a:bodyPr wrap="square" lIns="0" tIns="0" rIns="0" bIns="0" rtlCol="0" anchor="ctr"/>
          <a:lstStyle/>
          <a:p>
            <a:pPr indent="0" marL="0">
              <a:buNone/>
            </a:pPr>
            <a:r>
              <a:rPr lang="en-US" sz="1080" b="1" dirty="0">
                <a:solidFill>
                  <a:srgbClr val="0F2A44"/>
                </a:solidFill>
                <a:latin typeface="Calibri" pitchFamily="34" charset="0"/>
                <a:ea typeface="Calibri" pitchFamily="34" charset="-122"/>
                <a:cs typeface="Calibri" pitchFamily="34" charset="-120"/>
              </a:rPr>
              <a:t>API layer</a:t>
            </a:r>
            <a:endParaRPr lang="en-US" sz="1080" dirty="0"/>
          </a:p>
        </p:txBody>
      </p:sp>
      <p:sp>
        <p:nvSpPr>
          <p:cNvPr id="6" name="Text 4"/>
          <p:cNvSpPr/>
          <p:nvPr/>
        </p:nvSpPr>
        <p:spPr>
          <a:xfrm>
            <a:off x="960120" y="1243584"/>
            <a:ext cx="3337560" cy="347472"/>
          </a:xfrm>
          <a:prstGeom prst="rect">
            <a:avLst/>
          </a:prstGeom>
          <a:noFill/>
          <a:ln/>
        </p:spPr>
        <p:txBody>
          <a:bodyPr wrap="square" lIns="0" tIns="0" rIns="0" bIns="0" rtlCol="0" anchor="ctr">
            <a:normAutofit/>
          </a:bodyPr>
          <a:lstStyle/>
          <a:p>
            <a:pPr indent="0" marL="0">
              <a:buNone/>
            </a:pPr>
            <a:r>
              <a:rPr lang="en-US" sz="840" dirty="0">
                <a:solidFill>
                  <a:srgbClr val="1E293B"/>
                </a:solidFill>
                <a:latin typeface="Calibri" pitchFamily="34" charset="0"/>
                <a:ea typeface="Calibri" pitchFamily="34" charset="-122"/>
                <a:cs typeface="Calibri" pitchFamily="34" charset="-120"/>
              </a:rPr>
              <a:t>Upload ZIP / clone URL, create analysis job, expose polling and results endpoints</a:t>
            </a:r>
            <a:endParaRPr lang="en-US" sz="840" dirty="0"/>
          </a:p>
        </p:txBody>
      </p:sp>
      <p:sp>
        <p:nvSpPr>
          <p:cNvPr id="7" name="Shape 5"/>
          <p:cNvSpPr/>
          <p:nvPr/>
        </p:nvSpPr>
        <p:spPr>
          <a:xfrm>
            <a:off x="548640" y="1645920"/>
            <a:ext cx="3703320" cy="7315"/>
          </a:xfrm>
          <a:prstGeom prst="rect">
            <a:avLst/>
          </a:prstGeom>
          <a:solidFill>
            <a:srgbClr val="D8DEE6"/>
          </a:solidFill>
          <a:ln w="12700">
            <a:solidFill>
              <a:srgbClr val="D8DEE6"/>
            </a:solidFill>
            <a:prstDash val="solid"/>
          </a:ln>
        </p:spPr>
      </p:sp>
      <p:sp>
        <p:nvSpPr>
          <p:cNvPr id="8" name="Text 6"/>
          <p:cNvSpPr/>
          <p:nvPr/>
        </p:nvSpPr>
        <p:spPr>
          <a:xfrm>
            <a:off x="548640" y="1773936"/>
            <a:ext cx="310896" cy="274320"/>
          </a:xfrm>
          <a:prstGeom prst="rect">
            <a:avLst/>
          </a:prstGeom>
          <a:noFill/>
          <a:ln/>
        </p:spPr>
        <p:txBody>
          <a:bodyPr wrap="square" lIns="0" tIns="0" rIns="0" bIns="0" rtlCol="0" anchor="ctr"/>
          <a:lstStyle/>
          <a:p>
            <a:pPr indent="0" marL="0">
              <a:buNone/>
            </a:pPr>
            <a:r>
              <a:rPr lang="en-US" sz="1200" b="1" dirty="0">
                <a:solidFill>
                  <a:srgbClr val="0D9488"/>
                </a:solidFill>
                <a:latin typeface="Calibri" pitchFamily="34" charset="0"/>
                <a:ea typeface="Calibri" pitchFamily="34" charset="-122"/>
                <a:cs typeface="Calibri" pitchFamily="34" charset="-120"/>
              </a:rPr>
              <a:t>2</a:t>
            </a:r>
            <a:endParaRPr lang="en-US" sz="1200" dirty="0"/>
          </a:p>
        </p:txBody>
      </p:sp>
      <p:sp>
        <p:nvSpPr>
          <p:cNvPr id="9" name="Text 7"/>
          <p:cNvSpPr/>
          <p:nvPr/>
        </p:nvSpPr>
        <p:spPr>
          <a:xfrm>
            <a:off x="960120" y="1755648"/>
            <a:ext cx="3337560" cy="228600"/>
          </a:xfrm>
          <a:prstGeom prst="rect">
            <a:avLst/>
          </a:prstGeom>
          <a:noFill/>
          <a:ln/>
        </p:spPr>
        <p:txBody>
          <a:bodyPr wrap="square" lIns="0" tIns="0" rIns="0" bIns="0" rtlCol="0" anchor="ctr"/>
          <a:lstStyle/>
          <a:p>
            <a:pPr indent="0" marL="0">
              <a:buNone/>
            </a:pPr>
            <a:r>
              <a:rPr lang="en-US" sz="1080" b="1" dirty="0">
                <a:solidFill>
                  <a:srgbClr val="0F2A44"/>
                </a:solidFill>
                <a:latin typeface="Calibri" pitchFamily="34" charset="0"/>
                <a:ea typeface="Calibri" pitchFamily="34" charset="-122"/>
                <a:cs typeface="Calibri" pitchFamily="34" charset="-120"/>
              </a:rPr>
              <a:t>Async orchestration</a:t>
            </a:r>
            <a:endParaRPr lang="en-US" sz="1080" dirty="0"/>
          </a:p>
        </p:txBody>
      </p:sp>
      <p:sp>
        <p:nvSpPr>
          <p:cNvPr id="10" name="Text 8"/>
          <p:cNvSpPr/>
          <p:nvPr/>
        </p:nvSpPr>
        <p:spPr>
          <a:xfrm>
            <a:off x="960120" y="2011680"/>
            <a:ext cx="3337560" cy="347472"/>
          </a:xfrm>
          <a:prstGeom prst="rect">
            <a:avLst/>
          </a:prstGeom>
          <a:noFill/>
          <a:ln/>
        </p:spPr>
        <p:txBody>
          <a:bodyPr wrap="square" lIns="0" tIns="0" rIns="0" bIns="0" rtlCol="0" anchor="ctr">
            <a:normAutofit/>
          </a:bodyPr>
          <a:lstStyle/>
          <a:p>
            <a:pPr indent="0" marL="0">
              <a:buNone/>
            </a:pPr>
            <a:r>
              <a:rPr lang="en-US" sz="840" dirty="0">
                <a:solidFill>
                  <a:srgbClr val="1E293B"/>
                </a:solidFill>
                <a:latin typeface="Calibri" pitchFamily="34" charset="0"/>
                <a:ea typeface="Calibri" pitchFamily="34" charset="-122"/>
                <a:cs typeface="Calibri" pitchFamily="34" charset="-120"/>
              </a:rPr>
              <a:t>Spring @Async worker starts after transaction commit and updates job status</a:t>
            </a:r>
            <a:endParaRPr lang="en-US" sz="840" dirty="0"/>
          </a:p>
        </p:txBody>
      </p:sp>
      <p:sp>
        <p:nvSpPr>
          <p:cNvPr id="11" name="Shape 9"/>
          <p:cNvSpPr/>
          <p:nvPr/>
        </p:nvSpPr>
        <p:spPr>
          <a:xfrm>
            <a:off x="548640" y="2414016"/>
            <a:ext cx="3703320" cy="7315"/>
          </a:xfrm>
          <a:prstGeom prst="rect">
            <a:avLst/>
          </a:prstGeom>
          <a:solidFill>
            <a:srgbClr val="D8DEE6"/>
          </a:solidFill>
          <a:ln w="12700">
            <a:solidFill>
              <a:srgbClr val="D8DEE6"/>
            </a:solidFill>
            <a:prstDash val="solid"/>
          </a:ln>
        </p:spPr>
      </p:sp>
      <p:sp>
        <p:nvSpPr>
          <p:cNvPr id="12" name="Text 10"/>
          <p:cNvSpPr/>
          <p:nvPr/>
        </p:nvSpPr>
        <p:spPr>
          <a:xfrm>
            <a:off x="548640" y="2542032"/>
            <a:ext cx="310896" cy="274320"/>
          </a:xfrm>
          <a:prstGeom prst="rect">
            <a:avLst/>
          </a:prstGeom>
          <a:noFill/>
          <a:ln/>
        </p:spPr>
        <p:txBody>
          <a:bodyPr wrap="square" lIns="0" tIns="0" rIns="0" bIns="0" rtlCol="0" anchor="ctr"/>
          <a:lstStyle/>
          <a:p>
            <a:pPr indent="0" marL="0">
              <a:buNone/>
            </a:pPr>
            <a:r>
              <a:rPr lang="en-US" sz="1200" b="1" dirty="0">
                <a:solidFill>
                  <a:srgbClr val="0D9488"/>
                </a:solidFill>
                <a:latin typeface="Calibri" pitchFamily="34" charset="0"/>
                <a:ea typeface="Calibri" pitchFamily="34" charset="-122"/>
                <a:cs typeface="Calibri" pitchFamily="34" charset="-120"/>
              </a:rPr>
              <a:t>3</a:t>
            </a:r>
            <a:endParaRPr lang="en-US" sz="1200" dirty="0"/>
          </a:p>
        </p:txBody>
      </p:sp>
      <p:sp>
        <p:nvSpPr>
          <p:cNvPr id="13" name="Text 11"/>
          <p:cNvSpPr/>
          <p:nvPr/>
        </p:nvSpPr>
        <p:spPr>
          <a:xfrm>
            <a:off x="960120" y="2523744"/>
            <a:ext cx="3337560" cy="228600"/>
          </a:xfrm>
          <a:prstGeom prst="rect">
            <a:avLst/>
          </a:prstGeom>
          <a:noFill/>
          <a:ln/>
        </p:spPr>
        <p:txBody>
          <a:bodyPr wrap="square" lIns="0" tIns="0" rIns="0" bIns="0" rtlCol="0" anchor="ctr"/>
          <a:lstStyle/>
          <a:p>
            <a:pPr indent="0" marL="0">
              <a:buNone/>
            </a:pPr>
            <a:r>
              <a:rPr lang="en-US" sz="1080" b="1" dirty="0">
                <a:solidFill>
                  <a:srgbClr val="0F2A44"/>
                </a:solidFill>
                <a:latin typeface="Calibri" pitchFamily="34" charset="0"/>
                <a:ea typeface="Calibri" pitchFamily="34" charset="-122"/>
                <a:cs typeface="Calibri" pitchFamily="34" charset="-120"/>
              </a:rPr>
              <a:t>Repository workspace</a:t>
            </a:r>
            <a:endParaRPr lang="en-US" sz="1080" dirty="0"/>
          </a:p>
        </p:txBody>
      </p:sp>
      <p:sp>
        <p:nvSpPr>
          <p:cNvPr id="14" name="Text 12"/>
          <p:cNvSpPr/>
          <p:nvPr/>
        </p:nvSpPr>
        <p:spPr>
          <a:xfrm>
            <a:off x="960120" y="2779776"/>
            <a:ext cx="3337560" cy="347472"/>
          </a:xfrm>
          <a:prstGeom prst="rect">
            <a:avLst/>
          </a:prstGeom>
          <a:noFill/>
          <a:ln/>
        </p:spPr>
        <p:txBody>
          <a:bodyPr wrap="square" lIns="0" tIns="0" rIns="0" bIns="0" rtlCol="0" anchor="ctr">
            <a:normAutofit/>
          </a:bodyPr>
          <a:lstStyle/>
          <a:p>
            <a:pPr indent="0" marL="0">
              <a:buNone/>
            </a:pPr>
            <a:r>
              <a:rPr lang="en-US" sz="840" dirty="0">
                <a:solidFill>
                  <a:srgbClr val="1E293B"/>
                </a:solidFill>
                <a:latin typeface="Calibri" pitchFamily="34" charset="0"/>
                <a:ea typeface="Calibri" pitchFamily="34" charset="-122"/>
                <a:cs typeface="Calibri" pitchFamily="34" charset="-120"/>
              </a:rPr>
              <a:t>Extracts or clones project into temporary analysis workspace</a:t>
            </a:r>
            <a:endParaRPr lang="en-US" sz="840" dirty="0"/>
          </a:p>
        </p:txBody>
      </p:sp>
      <p:sp>
        <p:nvSpPr>
          <p:cNvPr id="15" name="Shape 13"/>
          <p:cNvSpPr/>
          <p:nvPr/>
        </p:nvSpPr>
        <p:spPr>
          <a:xfrm>
            <a:off x="548640" y="3182112"/>
            <a:ext cx="3703320" cy="7315"/>
          </a:xfrm>
          <a:prstGeom prst="rect">
            <a:avLst/>
          </a:prstGeom>
          <a:solidFill>
            <a:srgbClr val="D8DEE6"/>
          </a:solidFill>
          <a:ln w="12700">
            <a:solidFill>
              <a:srgbClr val="D8DEE6"/>
            </a:solidFill>
            <a:prstDash val="solid"/>
          </a:ln>
        </p:spPr>
      </p:sp>
      <p:sp>
        <p:nvSpPr>
          <p:cNvPr id="16" name="Text 14"/>
          <p:cNvSpPr/>
          <p:nvPr/>
        </p:nvSpPr>
        <p:spPr>
          <a:xfrm>
            <a:off x="548640" y="3310128"/>
            <a:ext cx="310896" cy="274320"/>
          </a:xfrm>
          <a:prstGeom prst="rect">
            <a:avLst/>
          </a:prstGeom>
          <a:noFill/>
          <a:ln/>
        </p:spPr>
        <p:txBody>
          <a:bodyPr wrap="square" lIns="0" tIns="0" rIns="0" bIns="0" rtlCol="0" anchor="ctr"/>
          <a:lstStyle/>
          <a:p>
            <a:pPr indent="0" marL="0">
              <a:buNone/>
            </a:pPr>
            <a:r>
              <a:rPr lang="en-US" sz="1200" b="1" dirty="0">
                <a:solidFill>
                  <a:srgbClr val="0D9488"/>
                </a:solidFill>
                <a:latin typeface="Calibri" pitchFamily="34" charset="0"/>
                <a:ea typeface="Calibri" pitchFamily="34" charset="-122"/>
                <a:cs typeface="Calibri" pitchFamily="34" charset="-120"/>
              </a:rPr>
              <a:t>4</a:t>
            </a:r>
            <a:endParaRPr lang="en-US" sz="1200" dirty="0"/>
          </a:p>
        </p:txBody>
      </p:sp>
      <p:sp>
        <p:nvSpPr>
          <p:cNvPr id="17" name="Text 15"/>
          <p:cNvSpPr/>
          <p:nvPr/>
        </p:nvSpPr>
        <p:spPr>
          <a:xfrm>
            <a:off x="960120" y="3291840"/>
            <a:ext cx="3337560" cy="228600"/>
          </a:xfrm>
          <a:prstGeom prst="rect">
            <a:avLst/>
          </a:prstGeom>
          <a:noFill/>
          <a:ln/>
        </p:spPr>
        <p:txBody>
          <a:bodyPr wrap="square" lIns="0" tIns="0" rIns="0" bIns="0" rtlCol="0" anchor="ctr"/>
          <a:lstStyle/>
          <a:p>
            <a:pPr indent="0" marL="0">
              <a:buNone/>
            </a:pPr>
            <a:r>
              <a:rPr lang="en-US" sz="1080" b="1" dirty="0">
                <a:solidFill>
                  <a:srgbClr val="0F2A44"/>
                </a:solidFill>
                <a:latin typeface="Calibri" pitchFamily="34" charset="0"/>
                <a:ea typeface="Calibri" pitchFamily="34" charset="-122"/>
                <a:cs typeface="Calibri" pitchFamily="34" charset="-120"/>
              </a:rPr>
              <a:t>Service discovery</a:t>
            </a:r>
            <a:endParaRPr lang="en-US" sz="1080" dirty="0"/>
          </a:p>
        </p:txBody>
      </p:sp>
      <p:sp>
        <p:nvSpPr>
          <p:cNvPr id="18" name="Text 16"/>
          <p:cNvSpPr/>
          <p:nvPr/>
        </p:nvSpPr>
        <p:spPr>
          <a:xfrm>
            <a:off x="960120" y="3547872"/>
            <a:ext cx="3337560" cy="347472"/>
          </a:xfrm>
          <a:prstGeom prst="rect">
            <a:avLst/>
          </a:prstGeom>
          <a:noFill/>
          <a:ln/>
        </p:spPr>
        <p:txBody>
          <a:bodyPr wrap="square" lIns="0" tIns="0" rIns="0" bIns="0" rtlCol="0" anchor="ctr">
            <a:normAutofit/>
          </a:bodyPr>
          <a:lstStyle/>
          <a:p>
            <a:pPr indent="0" marL="0">
              <a:buNone/>
            </a:pPr>
            <a:r>
              <a:rPr lang="en-US" sz="840" dirty="0">
                <a:solidFill>
                  <a:srgbClr val="1E293B"/>
                </a:solidFill>
                <a:latin typeface="Calibri" pitchFamily="34" charset="0"/>
                <a:ea typeface="Calibri" pitchFamily="34" charset="-122"/>
                <a:cs typeface="Calibri" pitchFamily="34" charset="-120"/>
              </a:rPr>
              <a:t>Build-file scan plus deployability gate with confidence levels</a:t>
            </a:r>
            <a:endParaRPr lang="en-US" sz="840" dirty="0"/>
          </a:p>
        </p:txBody>
      </p:sp>
      <p:sp>
        <p:nvSpPr>
          <p:cNvPr id="19" name="Shape 17"/>
          <p:cNvSpPr/>
          <p:nvPr/>
        </p:nvSpPr>
        <p:spPr>
          <a:xfrm>
            <a:off x="548640" y="3950208"/>
            <a:ext cx="3703320" cy="7315"/>
          </a:xfrm>
          <a:prstGeom prst="rect">
            <a:avLst/>
          </a:prstGeom>
          <a:solidFill>
            <a:srgbClr val="D8DEE6"/>
          </a:solidFill>
          <a:ln w="12700">
            <a:solidFill>
              <a:srgbClr val="D8DEE6"/>
            </a:solidFill>
            <a:prstDash val="solid"/>
          </a:ln>
        </p:spPr>
      </p:sp>
      <p:sp>
        <p:nvSpPr>
          <p:cNvPr id="20" name="Text 18"/>
          <p:cNvSpPr/>
          <p:nvPr/>
        </p:nvSpPr>
        <p:spPr>
          <a:xfrm>
            <a:off x="4617720" y="1005840"/>
            <a:ext cx="310896" cy="274320"/>
          </a:xfrm>
          <a:prstGeom prst="rect">
            <a:avLst/>
          </a:prstGeom>
          <a:noFill/>
          <a:ln/>
        </p:spPr>
        <p:txBody>
          <a:bodyPr wrap="square" lIns="0" tIns="0" rIns="0" bIns="0" rtlCol="0" anchor="ctr"/>
          <a:lstStyle/>
          <a:p>
            <a:pPr indent="0" marL="0">
              <a:buNone/>
            </a:pPr>
            <a:r>
              <a:rPr lang="en-US" sz="1200" b="1" dirty="0">
                <a:solidFill>
                  <a:srgbClr val="0D9488"/>
                </a:solidFill>
                <a:latin typeface="Calibri" pitchFamily="34" charset="0"/>
                <a:ea typeface="Calibri" pitchFamily="34" charset="-122"/>
                <a:cs typeface="Calibri" pitchFamily="34" charset="-120"/>
              </a:rPr>
              <a:t>5</a:t>
            </a:r>
            <a:endParaRPr lang="en-US" sz="1200" dirty="0"/>
          </a:p>
        </p:txBody>
      </p:sp>
      <p:sp>
        <p:nvSpPr>
          <p:cNvPr id="21" name="Text 19"/>
          <p:cNvSpPr/>
          <p:nvPr/>
        </p:nvSpPr>
        <p:spPr>
          <a:xfrm>
            <a:off x="5029200" y="987552"/>
            <a:ext cx="3337560" cy="228600"/>
          </a:xfrm>
          <a:prstGeom prst="rect">
            <a:avLst/>
          </a:prstGeom>
          <a:noFill/>
          <a:ln/>
        </p:spPr>
        <p:txBody>
          <a:bodyPr wrap="square" lIns="0" tIns="0" rIns="0" bIns="0" rtlCol="0" anchor="ctr"/>
          <a:lstStyle/>
          <a:p>
            <a:pPr indent="0" marL="0">
              <a:buNone/>
            </a:pPr>
            <a:r>
              <a:rPr lang="en-US" sz="1080" b="1" dirty="0">
                <a:solidFill>
                  <a:srgbClr val="0F2A44"/>
                </a:solidFill>
                <a:latin typeface="Calibri" pitchFamily="34" charset="0"/>
                <a:ea typeface="Calibri" pitchFamily="34" charset="-122"/>
                <a:cs typeface="Calibri" pitchFamily="34" charset="-120"/>
              </a:rPr>
              <a:t>Analysis engines</a:t>
            </a:r>
            <a:endParaRPr lang="en-US" sz="1080" dirty="0"/>
          </a:p>
        </p:txBody>
      </p:sp>
      <p:sp>
        <p:nvSpPr>
          <p:cNvPr id="22" name="Text 20"/>
          <p:cNvSpPr/>
          <p:nvPr/>
        </p:nvSpPr>
        <p:spPr>
          <a:xfrm>
            <a:off x="5029200" y="1243584"/>
            <a:ext cx="3337560" cy="347472"/>
          </a:xfrm>
          <a:prstGeom prst="rect">
            <a:avLst/>
          </a:prstGeom>
          <a:noFill/>
          <a:ln/>
        </p:spPr>
        <p:txBody>
          <a:bodyPr wrap="square" lIns="0" tIns="0" rIns="0" bIns="0" rtlCol="0" anchor="ctr">
            <a:normAutofit/>
          </a:bodyPr>
          <a:lstStyle/>
          <a:p>
            <a:pPr indent="0" marL="0">
              <a:buNone/>
            </a:pPr>
            <a:r>
              <a:rPr lang="en-US" sz="840" dirty="0">
                <a:solidFill>
                  <a:srgbClr val="1E293B"/>
                </a:solidFill>
                <a:latin typeface="Calibri" pitchFamily="34" charset="0"/>
                <a:ea typeface="Calibri" pitchFamily="34" charset="-122"/>
                <a:cs typeface="Calibri" pitchFamily="34" charset="-120"/>
              </a:rPr>
              <a:t>DesigniteJava subprocess for smells; Spoon AST for structural and dependency analysis</a:t>
            </a:r>
            <a:endParaRPr lang="en-US" sz="840" dirty="0"/>
          </a:p>
        </p:txBody>
      </p:sp>
      <p:sp>
        <p:nvSpPr>
          <p:cNvPr id="23" name="Shape 21"/>
          <p:cNvSpPr/>
          <p:nvPr/>
        </p:nvSpPr>
        <p:spPr>
          <a:xfrm>
            <a:off x="4617720" y="1645920"/>
            <a:ext cx="3703320" cy="7315"/>
          </a:xfrm>
          <a:prstGeom prst="rect">
            <a:avLst/>
          </a:prstGeom>
          <a:solidFill>
            <a:srgbClr val="D8DEE6"/>
          </a:solidFill>
          <a:ln w="12700">
            <a:solidFill>
              <a:srgbClr val="D8DEE6"/>
            </a:solidFill>
            <a:prstDash val="solid"/>
          </a:ln>
        </p:spPr>
      </p:sp>
      <p:sp>
        <p:nvSpPr>
          <p:cNvPr id="24" name="Text 22"/>
          <p:cNvSpPr/>
          <p:nvPr/>
        </p:nvSpPr>
        <p:spPr>
          <a:xfrm>
            <a:off x="4617720" y="1773936"/>
            <a:ext cx="310896" cy="274320"/>
          </a:xfrm>
          <a:prstGeom prst="rect">
            <a:avLst/>
          </a:prstGeom>
          <a:noFill/>
          <a:ln/>
        </p:spPr>
        <p:txBody>
          <a:bodyPr wrap="square" lIns="0" tIns="0" rIns="0" bIns="0" rtlCol="0" anchor="ctr"/>
          <a:lstStyle/>
          <a:p>
            <a:pPr indent="0" marL="0">
              <a:buNone/>
            </a:pPr>
            <a:r>
              <a:rPr lang="en-US" sz="1200" b="1" dirty="0">
                <a:solidFill>
                  <a:srgbClr val="0D9488"/>
                </a:solidFill>
                <a:latin typeface="Calibri" pitchFamily="34" charset="0"/>
                <a:ea typeface="Calibri" pitchFamily="34" charset="-122"/>
                <a:cs typeface="Calibri" pitchFamily="34" charset="-120"/>
              </a:rPr>
              <a:t>6</a:t>
            </a:r>
            <a:endParaRPr lang="en-US" sz="1200" dirty="0"/>
          </a:p>
        </p:txBody>
      </p:sp>
      <p:sp>
        <p:nvSpPr>
          <p:cNvPr id="25" name="Text 23"/>
          <p:cNvSpPr/>
          <p:nvPr/>
        </p:nvSpPr>
        <p:spPr>
          <a:xfrm>
            <a:off x="5029200" y="1755648"/>
            <a:ext cx="3337560" cy="228600"/>
          </a:xfrm>
          <a:prstGeom prst="rect">
            <a:avLst/>
          </a:prstGeom>
          <a:noFill/>
          <a:ln/>
        </p:spPr>
        <p:txBody>
          <a:bodyPr wrap="square" lIns="0" tIns="0" rIns="0" bIns="0" rtlCol="0" anchor="ctr"/>
          <a:lstStyle/>
          <a:p>
            <a:pPr indent="0" marL="0">
              <a:buNone/>
            </a:pPr>
            <a:r>
              <a:rPr lang="en-US" sz="1080" b="1" dirty="0">
                <a:solidFill>
                  <a:srgbClr val="0F2A44"/>
                </a:solidFill>
                <a:latin typeface="Calibri" pitchFamily="34" charset="0"/>
                <a:ea typeface="Calibri" pitchFamily="34" charset="-122"/>
                <a:cs typeface="Calibri" pitchFamily="34" charset="-120"/>
              </a:rPr>
              <a:t>Detector layer</a:t>
            </a:r>
            <a:endParaRPr lang="en-US" sz="1080" dirty="0"/>
          </a:p>
        </p:txBody>
      </p:sp>
      <p:sp>
        <p:nvSpPr>
          <p:cNvPr id="26" name="Text 24"/>
          <p:cNvSpPr/>
          <p:nvPr/>
        </p:nvSpPr>
        <p:spPr>
          <a:xfrm>
            <a:off x="5029200" y="2011680"/>
            <a:ext cx="3337560" cy="347472"/>
          </a:xfrm>
          <a:prstGeom prst="rect">
            <a:avLst/>
          </a:prstGeom>
          <a:noFill/>
          <a:ln/>
        </p:spPr>
        <p:txBody>
          <a:bodyPr wrap="square" lIns="0" tIns="0" rIns="0" bIns="0" rtlCol="0" anchor="ctr">
            <a:normAutofit/>
          </a:bodyPr>
          <a:lstStyle/>
          <a:p>
            <a:pPr indent="0" marL="0">
              <a:buNone/>
            </a:pPr>
            <a:r>
              <a:rPr lang="en-US" sz="840" dirty="0">
                <a:solidFill>
                  <a:srgbClr val="1E293B"/>
                </a:solidFill>
                <a:latin typeface="Calibri" pitchFamily="34" charset="0"/>
                <a:ea typeface="Calibri" pitchFamily="34" charset="-122"/>
                <a:cs typeface="Calibri" pitchFamily="34" charset="-120"/>
              </a:rPr>
              <a:t>AntiPatternDetector Strategy components run over services, metrics, and graph</a:t>
            </a:r>
            <a:endParaRPr lang="en-US" sz="840" dirty="0"/>
          </a:p>
        </p:txBody>
      </p:sp>
      <p:sp>
        <p:nvSpPr>
          <p:cNvPr id="27" name="Shape 25"/>
          <p:cNvSpPr/>
          <p:nvPr/>
        </p:nvSpPr>
        <p:spPr>
          <a:xfrm>
            <a:off x="4617720" y="2414016"/>
            <a:ext cx="3703320" cy="7315"/>
          </a:xfrm>
          <a:prstGeom prst="rect">
            <a:avLst/>
          </a:prstGeom>
          <a:solidFill>
            <a:srgbClr val="D8DEE6"/>
          </a:solidFill>
          <a:ln w="12700">
            <a:solidFill>
              <a:srgbClr val="D8DEE6"/>
            </a:solidFill>
            <a:prstDash val="solid"/>
          </a:ln>
        </p:spPr>
      </p:sp>
      <p:sp>
        <p:nvSpPr>
          <p:cNvPr id="28" name="Text 26"/>
          <p:cNvSpPr/>
          <p:nvPr/>
        </p:nvSpPr>
        <p:spPr>
          <a:xfrm>
            <a:off x="4617720" y="2542032"/>
            <a:ext cx="310896" cy="274320"/>
          </a:xfrm>
          <a:prstGeom prst="rect">
            <a:avLst/>
          </a:prstGeom>
          <a:noFill/>
          <a:ln/>
        </p:spPr>
        <p:txBody>
          <a:bodyPr wrap="square" lIns="0" tIns="0" rIns="0" bIns="0" rtlCol="0" anchor="ctr"/>
          <a:lstStyle/>
          <a:p>
            <a:pPr indent="0" marL="0">
              <a:buNone/>
            </a:pPr>
            <a:r>
              <a:rPr lang="en-US" sz="1200" b="1" dirty="0">
                <a:solidFill>
                  <a:srgbClr val="0D9488"/>
                </a:solidFill>
                <a:latin typeface="Calibri" pitchFamily="34" charset="0"/>
                <a:ea typeface="Calibri" pitchFamily="34" charset="-122"/>
                <a:cs typeface="Calibri" pitchFamily="34" charset="-120"/>
              </a:rPr>
              <a:t>7</a:t>
            </a:r>
            <a:endParaRPr lang="en-US" sz="1200" dirty="0"/>
          </a:p>
        </p:txBody>
      </p:sp>
      <p:sp>
        <p:nvSpPr>
          <p:cNvPr id="29" name="Text 27"/>
          <p:cNvSpPr/>
          <p:nvPr/>
        </p:nvSpPr>
        <p:spPr>
          <a:xfrm>
            <a:off x="5029200" y="2523744"/>
            <a:ext cx="3337560" cy="228600"/>
          </a:xfrm>
          <a:prstGeom prst="rect">
            <a:avLst/>
          </a:prstGeom>
          <a:noFill/>
          <a:ln/>
        </p:spPr>
        <p:txBody>
          <a:bodyPr wrap="square" lIns="0" tIns="0" rIns="0" bIns="0" rtlCol="0" anchor="ctr"/>
          <a:lstStyle/>
          <a:p>
            <a:pPr indent="0" marL="0">
              <a:buNone/>
            </a:pPr>
            <a:r>
              <a:rPr lang="en-US" sz="1080" b="1" dirty="0">
                <a:solidFill>
                  <a:srgbClr val="0F2A44"/>
                </a:solidFill>
                <a:latin typeface="Calibri" pitchFamily="34" charset="0"/>
                <a:ea typeface="Calibri" pitchFamily="34" charset="-122"/>
                <a:cs typeface="Calibri" pitchFamily="34" charset="-120"/>
              </a:rPr>
              <a:t>Scoring/reporting</a:t>
            </a:r>
            <a:endParaRPr lang="en-US" sz="1080" dirty="0"/>
          </a:p>
        </p:txBody>
      </p:sp>
      <p:sp>
        <p:nvSpPr>
          <p:cNvPr id="30" name="Text 28"/>
          <p:cNvSpPr/>
          <p:nvPr/>
        </p:nvSpPr>
        <p:spPr>
          <a:xfrm>
            <a:off x="5029200" y="2779776"/>
            <a:ext cx="3337560" cy="347472"/>
          </a:xfrm>
          <a:prstGeom prst="rect">
            <a:avLst/>
          </a:prstGeom>
          <a:noFill/>
          <a:ln/>
        </p:spPr>
        <p:txBody>
          <a:bodyPr wrap="square" lIns="0" tIns="0" rIns="0" bIns="0" rtlCol="0" anchor="ctr">
            <a:normAutofit/>
          </a:bodyPr>
          <a:lstStyle/>
          <a:p>
            <a:pPr indent="0" marL="0">
              <a:buNone/>
            </a:pPr>
            <a:r>
              <a:rPr lang="en-US" sz="840" dirty="0">
                <a:solidFill>
                  <a:srgbClr val="1E293B"/>
                </a:solidFill>
                <a:latin typeface="Calibri" pitchFamily="34" charset="0"/>
                <a:ea typeface="Calibri" pitchFamily="34" charset="-122"/>
                <a:cs typeface="Calibri" pitchFamily="34" charset="-120"/>
              </a:rPr>
              <a:t>Health score, category breakdown, evidence snippets, remediation, graph JSON</a:t>
            </a:r>
            <a:endParaRPr lang="en-US" sz="840" dirty="0"/>
          </a:p>
        </p:txBody>
      </p:sp>
      <p:sp>
        <p:nvSpPr>
          <p:cNvPr id="31" name="Shape 29"/>
          <p:cNvSpPr/>
          <p:nvPr/>
        </p:nvSpPr>
        <p:spPr>
          <a:xfrm>
            <a:off x="4617720" y="3182112"/>
            <a:ext cx="3703320" cy="7315"/>
          </a:xfrm>
          <a:prstGeom prst="rect">
            <a:avLst/>
          </a:prstGeom>
          <a:solidFill>
            <a:srgbClr val="D8DEE6"/>
          </a:solidFill>
          <a:ln w="12700">
            <a:solidFill>
              <a:srgbClr val="D8DEE6"/>
            </a:solidFill>
            <a:prstDash val="solid"/>
          </a:ln>
        </p:spPr>
      </p:sp>
      <p:sp>
        <p:nvSpPr>
          <p:cNvPr id="32" name="Text 30"/>
          <p:cNvSpPr/>
          <p:nvPr/>
        </p:nvSpPr>
        <p:spPr>
          <a:xfrm>
            <a:off x="4617720" y="3310128"/>
            <a:ext cx="310896" cy="274320"/>
          </a:xfrm>
          <a:prstGeom prst="rect">
            <a:avLst/>
          </a:prstGeom>
          <a:noFill/>
          <a:ln/>
        </p:spPr>
        <p:txBody>
          <a:bodyPr wrap="square" lIns="0" tIns="0" rIns="0" bIns="0" rtlCol="0" anchor="ctr"/>
          <a:lstStyle/>
          <a:p>
            <a:pPr indent="0" marL="0">
              <a:buNone/>
            </a:pPr>
            <a:r>
              <a:rPr lang="en-US" sz="1200" b="1" dirty="0">
                <a:solidFill>
                  <a:srgbClr val="0D9488"/>
                </a:solidFill>
                <a:latin typeface="Calibri" pitchFamily="34" charset="0"/>
                <a:ea typeface="Calibri" pitchFamily="34" charset="-122"/>
                <a:cs typeface="Calibri" pitchFamily="34" charset="-120"/>
              </a:rPr>
              <a:t>8</a:t>
            </a:r>
            <a:endParaRPr lang="en-US" sz="1200" dirty="0"/>
          </a:p>
        </p:txBody>
      </p:sp>
      <p:sp>
        <p:nvSpPr>
          <p:cNvPr id="33" name="Text 31"/>
          <p:cNvSpPr/>
          <p:nvPr/>
        </p:nvSpPr>
        <p:spPr>
          <a:xfrm>
            <a:off x="5029200" y="3291840"/>
            <a:ext cx="3337560" cy="228600"/>
          </a:xfrm>
          <a:prstGeom prst="rect">
            <a:avLst/>
          </a:prstGeom>
          <a:noFill/>
          <a:ln/>
        </p:spPr>
        <p:txBody>
          <a:bodyPr wrap="square" lIns="0" tIns="0" rIns="0" bIns="0" rtlCol="0" anchor="ctr"/>
          <a:lstStyle/>
          <a:p>
            <a:pPr indent="0" marL="0">
              <a:buNone/>
            </a:pPr>
            <a:r>
              <a:rPr lang="en-US" sz="1080" b="1" dirty="0">
                <a:solidFill>
                  <a:srgbClr val="0F2A44"/>
                </a:solidFill>
                <a:latin typeface="Calibri" pitchFamily="34" charset="0"/>
                <a:ea typeface="Calibri" pitchFamily="34" charset="-122"/>
                <a:cs typeface="Calibri" pitchFamily="34" charset="-120"/>
              </a:rPr>
              <a:t>Persistence/UI</a:t>
            </a:r>
            <a:endParaRPr lang="en-US" sz="1080" dirty="0"/>
          </a:p>
        </p:txBody>
      </p:sp>
      <p:sp>
        <p:nvSpPr>
          <p:cNvPr id="34" name="Text 32"/>
          <p:cNvSpPr/>
          <p:nvPr/>
        </p:nvSpPr>
        <p:spPr>
          <a:xfrm>
            <a:off x="5029200" y="3547872"/>
            <a:ext cx="3337560" cy="347472"/>
          </a:xfrm>
          <a:prstGeom prst="rect">
            <a:avLst/>
          </a:prstGeom>
          <a:noFill/>
          <a:ln/>
        </p:spPr>
        <p:txBody>
          <a:bodyPr wrap="square" lIns="0" tIns="0" rIns="0" bIns="0" rtlCol="0" anchor="ctr">
            <a:normAutofit/>
          </a:bodyPr>
          <a:lstStyle/>
          <a:p>
            <a:pPr indent="0" marL="0">
              <a:buNone/>
            </a:pPr>
            <a:r>
              <a:rPr lang="en-US" sz="840" dirty="0">
                <a:solidFill>
                  <a:srgbClr val="1E293B"/>
                </a:solidFill>
                <a:latin typeface="Calibri" pitchFamily="34" charset="0"/>
                <a:ea typeface="Calibri" pitchFamily="34" charset="-122"/>
                <a:cs typeface="Calibri" pitchFamily="34" charset="-120"/>
              </a:rPr>
              <a:t>Results stored in database and rendered in dashboard, finding cards, diff view, graph view</a:t>
            </a:r>
            <a:endParaRPr lang="en-US" sz="840" dirty="0"/>
          </a:p>
        </p:txBody>
      </p:sp>
      <p:sp>
        <p:nvSpPr>
          <p:cNvPr id="35" name="Shape 33"/>
          <p:cNvSpPr/>
          <p:nvPr/>
        </p:nvSpPr>
        <p:spPr>
          <a:xfrm>
            <a:off x="4617720" y="3950208"/>
            <a:ext cx="3703320" cy="7315"/>
          </a:xfrm>
          <a:prstGeom prst="rect">
            <a:avLst/>
          </a:prstGeom>
          <a:solidFill>
            <a:srgbClr val="D8DEE6"/>
          </a:solidFill>
          <a:ln w="12700">
            <a:solidFill>
              <a:srgbClr val="D8DEE6"/>
            </a:solidFill>
            <a:prstDash val="solid"/>
          </a:ln>
        </p:spPr>
      </p:sp>
      <p:sp>
        <p:nvSpPr>
          <p:cNvPr id="36" name="Shape 34"/>
          <p:cNvSpPr/>
          <p:nvPr/>
        </p:nvSpPr>
        <p:spPr>
          <a:xfrm>
            <a:off x="548640" y="4498848"/>
            <a:ext cx="457200" cy="36576"/>
          </a:xfrm>
          <a:prstGeom prst="rect">
            <a:avLst/>
          </a:prstGeom>
          <a:solidFill>
            <a:srgbClr val="0D9488"/>
          </a:solidFill>
          <a:ln w="12700">
            <a:solidFill>
              <a:srgbClr val="0D9488"/>
            </a:solidFill>
            <a:prstDash val="solid"/>
          </a:ln>
        </p:spPr>
      </p:sp>
      <p:sp>
        <p:nvSpPr>
          <p:cNvPr id="37" name="Text 35"/>
          <p:cNvSpPr/>
          <p:nvPr/>
        </p:nvSpPr>
        <p:spPr>
          <a:xfrm>
            <a:off x="548640" y="4590288"/>
            <a:ext cx="8046720" cy="237744"/>
          </a:xfrm>
          <a:prstGeom prst="rect">
            <a:avLst/>
          </a:prstGeom>
          <a:noFill/>
          <a:ln/>
        </p:spPr>
        <p:txBody>
          <a:bodyPr wrap="square" lIns="0" tIns="0" rIns="0" bIns="0" rtlCol="0" anchor="ctr"/>
          <a:lstStyle/>
          <a:p>
            <a:pPr indent="0" marL="0">
              <a:buNone/>
            </a:pPr>
            <a:r>
              <a:rPr lang="en-US" sz="950" i="1" dirty="0">
                <a:solidFill>
                  <a:srgbClr val="64748B"/>
                </a:solidFill>
                <a:latin typeface="Calibri" pitchFamily="34" charset="0"/>
                <a:ea typeface="Calibri" pitchFamily="34" charset="-122"/>
                <a:cs typeface="Calibri" pitchFamily="34" charset="-120"/>
              </a:rPr>
              <a:t>Design principle: detectors are pluggable Strategy components, so extending the catalogue does not require rewriting the pipeline orchestrator.</a:t>
            </a:r>
            <a:endParaRPr lang="en-US" sz="950" dirty="0"/>
          </a:p>
        </p:txBody>
      </p:sp>
      <p:sp>
        <p:nvSpPr>
          <p:cNvPr id="38" name="Text 36"/>
          <p:cNvSpPr/>
          <p:nvPr/>
        </p:nvSpPr>
        <p:spPr>
          <a:xfrm>
            <a:off x="7452360" y="4864608"/>
            <a:ext cx="1143000" cy="22860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Appendix J</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56032"/>
            <a:ext cx="8046720" cy="502920"/>
          </a:xfrm>
          <a:prstGeom prst="rect">
            <a:avLst/>
          </a:prstGeom>
          <a:noFill/>
          <a:ln/>
        </p:spPr>
        <p:txBody>
          <a:bodyPr wrap="square" lIns="0" tIns="0" rIns="0" bIns="0" rtlCol="0" anchor="ctr"/>
          <a:lstStyle/>
          <a:p>
            <a:pPr indent="0" marL="0">
              <a:buNone/>
            </a:pPr>
            <a:r>
              <a:rPr lang="en-US" sz="2500" b="1" dirty="0">
                <a:solidFill>
                  <a:srgbClr val="0F2A44"/>
                </a:solidFill>
                <a:latin typeface="Calibri" pitchFamily="34" charset="0"/>
                <a:ea typeface="Calibri" pitchFamily="34" charset="-122"/>
                <a:cs typeface="Calibri" pitchFamily="34" charset="-120"/>
              </a:rPr>
              <a:t>Annex: comparison with existing tools</a:t>
            </a:r>
            <a:endParaRPr lang="en-US" sz="2500" dirty="0"/>
          </a:p>
        </p:txBody>
      </p:sp>
      <p:sp>
        <p:nvSpPr>
          <p:cNvPr id="3" name="Shape 1"/>
          <p:cNvSpPr/>
          <p:nvPr/>
        </p:nvSpPr>
        <p:spPr>
          <a:xfrm>
            <a:off x="548640" y="841248"/>
            <a:ext cx="8046720" cy="13716"/>
          </a:xfrm>
          <a:prstGeom prst="rect">
            <a:avLst/>
          </a:prstGeom>
          <a:solidFill>
            <a:srgbClr val="D8DEE6"/>
          </a:solidFill>
          <a:ln w="12700">
            <a:solidFill>
              <a:srgbClr val="D8DEE6"/>
            </a:solidFill>
            <a:prstDash val="solid"/>
          </a:ln>
        </p:spPr>
      </p:sp>
      <p:sp>
        <p:nvSpPr>
          <p:cNvPr id="4" name="Text 2"/>
          <p:cNvSpPr/>
          <p:nvPr/>
        </p:nvSpPr>
        <p:spPr>
          <a:xfrm>
            <a:off x="548640" y="1024128"/>
            <a:ext cx="1143000" cy="219456"/>
          </a:xfrm>
          <a:prstGeom prst="rect">
            <a:avLst/>
          </a:prstGeom>
          <a:noFill/>
          <a:ln/>
        </p:spPr>
        <p:txBody>
          <a:bodyPr wrap="square" lIns="0" tIns="0" rIns="0" bIns="0" rtlCol="0" anchor="ctr"/>
          <a:lstStyle/>
          <a:p>
            <a:pPr indent="0" marL="0">
              <a:buNone/>
            </a:pPr>
            <a:r>
              <a:rPr lang="en-US" sz="780" b="1" spc="110" kern="0" dirty="0">
                <a:solidFill>
                  <a:srgbClr val="0F2A44"/>
                </a:solidFill>
                <a:latin typeface="Calibri" pitchFamily="34" charset="0"/>
                <a:ea typeface="Calibri" pitchFamily="34" charset="-122"/>
                <a:cs typeface="Calibri" pitchFamily="34" charset="-120"/>
              </a:rPr>
              <a:t>TOOL</a:t>
            </a:r>
            <a:endParaRPr lang="en-US" sz="780" dirty="0"/>
          </a:p>
        </p:txBody>
      </p:sp>
      <p:sp>
        <p:nvSpPr>
          <p:cNvPr id="5" name="Text 3"/>
          <p:cNvSpPr/>
          <p:nvPr/>
        </p:nvSpPr>
        <p:spPr>
          <a:xfrm>
            <a:off x="1645920" y="1024128"/>
            <a:ext cx="1645920" cy="219456"/>
          </a:xfrm>
          <a:prstGeom prst="rect">
            <a:avLst/>
          </a:prstGeom>
          <a:noFill/>
          <a:ln/>
        </p:spPr>
        <p:txBody>
          <a:bodyPr wrap="square" lIns="0" tIns="0" rIns="0" bIns="0" rtlCol="0" anchor="ctr"/>
          <a:lstStyle/>
          <a:p>
            <a:pPr indent="0" marL="0">
              <a:buNone/>
            </a:pPr>
            <a:r>
              <a:rPr lang="en-US" sz="780" b="1" spc="110" kern="0" dirty="0">
                <a:solidFill>
                  <a:srgbClr val="0F2A44"/>
                </a:solidFill>
                <a:latin typeface="Calibri" pitchFamily="34" charset="0"/>
                <a:ea typeface="Calibri" pitchFamily="34" charset="-122"/>
                <a:cs typeface="Calibri" pitchFamily="34" charset="-120"/>
              </a:rPr>
              <a:t>FOCUS</a:t>
            </a:r>
            <a:endParaRPr lang="en-US" sz="780" dirty="0"/>
          </a:p>
        </p:txBody>
      </p:sp>
      <p:sp>
        <p:nvSpPr>
          <p:cNvPr id="6" name="Text 4"/>
          <p:cNvSpPr/>
          <p:nvPr/>
        </p:nvSpPr>
        <p:spPr>
          <a:xfrm>
            <a:off x="3429000" y="1024128"/>
            <a:ext cx="2423160" cy="219456"/>
          </a:xfrm>
          <a:prstGeom prst="rect">
            <a:avLst/>
          </a:prstGeom>
          <a:noFill/>
          <a:ln/>
        </p:spPr>
        <p:txBody>
          <a:bodyPr wrap="square" lIns="0" tIns="0" rIns="0" bIns="0" rtlCol="0" anchor="ctr"/>
          <a:lstStyle/>
          <a:p>
            <a:pPr indent="0" marL="0">
              <a:buNone/>
            </a:pPr>
            <a:r>
              <a:rPr lang="en-US" sz="780" b="1" spc="110" kern="0" dirty="0">
                <a:solidFill>
                  <a:srgbClr val="0F2A44"/>
                </a:solidFill>
                <a:latin typeface="Calibri" pitchFamily="34" charset="0"/>
                <a:ea typeface="Calibri" pitchFamily="34" charset="-122"/>
                <a:cs typeface="Calibri" pitchFamily="34" charset="-120"/>
              </a:rPr>
              <a:t>STRENGTH</a:t>
            </a:r>
            <a:endParaRPr lang="en-US" sz="780" dirty="0"/>
          </a:p>
        </p:txBody>
      </p:sp>
      <p:sp>
        <p:nvSpPr>
          <p:cNvPr id="7" name="Text 5"/>
          <p:cNvSpPr/>
          <p:nvPr/>
        </p:nvSpPr>
        <p:spPr>
          <a:xfrm>
            <a:off x="5989320" y="1024128"/>
            <a:ext cx="2606040" cy="219456"/>
          </a:xfrm>
          <a:prstGeom prst="rect">
            <a:avLst/>
          </a:prstGeom>
          <a:noFill/>
          <a:ln/>
        </p:spPr>
        <p:txBody>
          <a:bodyPr wrap="square" lIns="0" tIns="0" rIns="0" bIns="0" rtlCol="0" anchor="ctr"/>
          <a:lstStyle/>
          <a:p>
            <a:pPr indent="0" marL="0">
              <a:buNone/>
            </a:pPr>
            <a:r>
              <a:rPr lang="en-US" sz="780" b="1" spc="110" kern="0" dirty="0">
                <a:solidFill>
                  <a:srgbClr val="0F2A44"/>
                </a:solidFill>
                <a:latin typeface="Calibri" pitchFamily="34" charset="0"/>
                <a:ea typeface="Calibri" pitchFamily="34" charset="-122"/>
                <a:cs typeface="Calibri" pitchFamily="34" charset="-120"/>
              </a:rPr>
              <a:t>DIFFERENCE / LIMITATION</a:t>
            </a:r>
            <a:endParaRPr lang="en-US" sz="780" dirty="0"/>
          </a:p>
        </p:txBody>
      </p:sp>
      <p:sp>
        <p:nvSpPr>
          <p:cNvPr id="8" name="Shape 6"/>
          <p:cNvSpPr/>
          <p:nvPr/>
        </p:nvSpPr>
        <p:spPr>
          <a:xfrm>
            <a:off x="548640" y="1298448"/>
            <a:ext cx="8046720" cy="13716"/>
          </a:xfrm>
          <a:prstGeom prst="rect">
            <a:avLst/>
          </a:prstGeom>
          <a:solidFill>
            <a:srgbClr val="D8DEE6"/>
          </a:solidFill>
          <a:ln w="12700">
            <a:solidFill>
              <a:srgbClr val="D8DEE6"/>
            </a:solidFill>
            <a:prstDash val="solid"/>
          </a:ln>
        </p:spPr>
      </p:sp>
      <p:sp>
        <p:nvSpPr>
          <p:cNvPr id="9" name="Text 7"/>
          <p:cNvSpPr/>
          <p:nvPr/>
        </p:nvSpPr>
        <p:spPr>
          <a:xfrm>
            <a:off x="548640" y="1463040"/>
            <a:ext cx="1143000" cy="384048"/>
          </a:xfrm>
          <a:prstGeom prst="rect">
            <a:avLst/>
          </a:prstGeom>
          <a:noFill/>
          <a:ln/>
        </p:spPr>
        <p:txBody>
          <a:bodyPr wrap="square" lIns="0" tIns="0" rIns="0" bIns="0" rtlCol="0" anchor="ctr">
            <a:normAutofit/>
          </a:bodyPr>
          <a:lstStyle/>
          <a:p>
            <a:pPr indent="0" marL="0">
              <a:buNone/>
            </a:pPr>
            <a:r>
              <a:rPr lang="en-US" sz="950" b="1" dirty="0">
                <a:solidFill>
                  <a:srgbClr val="1E293B"/>
                </a:solidFill>
                <a:latin typeface="Calibri" pitchFamily="34" charset="0"/>
                <a:ea typeface="Calibri" pitchFamily="34" charset="-122"/>
                <a:cs typeface="Calibri" pitchFamily="34" charset="-120"/>
              </a:rPr>
              <a:t>Arcan</a:t>
            </a:r>
            <a:endParaRPr lang="en-US" sz="950" dirty="0"/>
          </a:p>
        </p:txBody>
      </p:sp>
      <p:sp>
        <p:nvSpPr>
          <p:cNvPr id="10" name="Text 8"/>
          <p:cNvSpPr/>
          <p:nvPr/>
        </p:nvSpPr>
        <p:spPr>
          <a:xfrm>
            <a:off x="1645920" y="1463040"/>
            <a:ext cx="1645920" cy="384048"/>
          </a:xfrm>
          <a:prstGeom prst="rect">
            <a:avLst/>
          </a:prstGeom>
          <a:noFill/>
          <a:ln/>
        </p:spPr>
        <p:txBody>
          <a:bodyPr wrap="square" lIns="0" tIns="0" rIns="0" bIns="0" rtlCol="0" anchor="ctr">
            <a:normAutofit/>
          </a:bodyPr>
          <a:lstStyle/>
          <a:p>
            <a:pPr indent="0" marL="0">
              <a:buNone/>
            </a:pPr>
            <a:r>
              <a:rPr lang="en-US" sz="820" dirty="0">
                <a:solidFill>
                  <a:srgbClr val="1E293B"/>
                </a:solidFill>
                <a:latin typeface="Calibri" pitchFamily="34" charset="0"/>
                <a:ea typeface="Calibri" pitchFamily="34" charset="-122"/>
                <a:cs typeface="Calibri" pitchFamily="34" charset="-120"/>
              </a:rPr>
              <a:t>Architectural smells</a:t>
            </a:r>
            <a:endParaRPr lang="en-US" sz="820" dirty="0"/>
          </a:p>
        </p:txBody>
      </p:sp>
      <p:sp>
        <p:nvSpPr>
          <p:cNvPr id="11" name="Text 9"/>
          <p:cNvSpPr/>
          <p:nvPr/>
        </p:nvSpPr>
        <p:spPr>
          <a:xfrm>
            <a:off x="3429000" y="1463040"/>
            <a:ext cx="2423160" cy="384048"/>
          </a:xfrm>
          <a:prstGeom prst="rect">
            <a:avLst/>
          </a:prstGeom>
          <a:noFill/>
          <a:ln/>
        </p:spPr>
        <p:txBody>
          <a:bodyPr wrap="square" lIns="0" tIns="0" rIns="0" bIns="0" rtlCol="0" anchor="ctr">
            <a:normAutofit/>
          </a:bodyPr>
          <a:lstStyle/>
          <a:p>
            <a:pPr indent="0" marL="0">
              <a:buNone/>
            </a:pPr>
            <a:r>
              <a:rPr lang="en-US" sz="820" dirty="0">
                <a:solidFill>
                  <a:srgbClr val="1E293B"/>
                </a:solidFill>
                <a:latin typeface="Calibri" pitchFamily="34" charset="0"/>
                <a:ea typeface="Calibri" pitchFamily="34" charset="-122"/>
                <a:cs typeface="Calibri" pitchFamily="34" charset="-120"/>
              </a:rPr>
              <a:t>Strong smell detection</a:t>
            </a:r>
            <a:endParaRPr lang="en-US" sz="820" dirty="0"/>
          </a:p>
        </p:txBody>
      </p:sp>
      <p:sp>
        <p:nvSpPr>
          <p:cNvPr id="12" name="Text 10"/>
          <p:cNvSpPr/>
          <p:nvPr/>
        </p:nvSpPr>
        <p:spPr>
          <a:xfrm>
            <a:off x="5989320" y="1463040"/>
            <a:ext cx="2606040" cy="384048"/>
          </a:xfrm>
          <a:prstGeom prst="rect">
            <a:avLst/>
          </a:prstGeom>
          <a:noFill/>
          <a:ln/>
        </p:spPr>
        <p:txBody>
          <a:bodyPr wrap="square" lIns="0" tIns="0" rIns="0" bIns="0" rtlCol="0" anchor="ctr">
            <a:normAutofit/>
          </a:bodyPr>
          <a:lstStyle/>
          <a:p>
            <a:pPr indent="0" marL="0">
              <a:buNone/>
            </a:pPr>
            <a:r>
              <a:rPr lang="en-US" sz="820" dirty="0">
                <a:solidFill>
                  <a:srgbClr val="1E293B"/>
                </a:solidFill>
                <a:latin typeface="Calibri" pitchFamily="34" charset="0"/>
                <a:ea typeface="Calibri" pitchFamily="34" charset="-122"/>
                <a:cs typeface="Calibri" pitchFamily="34" charset="-120"/>
              </a:rPr>
              <a:t>Not focused on evidence-based microservice workflow</a:t>
            </a:r>
            <a:endParaRPr lang="en-US" sz="820" dirty="0"/>
          </a:p>
        </p:txBody>
      </p:sp>
      <p:sp>
        <p:nvSpPr>
          <p:cNvPr id="13" name="Shape 11"/>
          <p:cNvSpPr/>
          <p:nvPr/>
        </p:nvSpPr>
        <p:spPr>
          <a:xfrm>
            <a:off x="548640" y="1920240"/>
            <a:ext cx="8046720" cy="7315"/>
          </a:xfrm>
          <a:prstGeom prst="rect">
            <a:avLst/>
          </a:prstGeom>
          <a:solidFill>
            <a:srgbClr val="D8DEE6"/>
          </a:solidFill>
          <a:ln w="12700">
            <a:solidFill>
              <a:srgbClr val="D8DEE6"/>
            </a:solidFill>
            <a:prstDash val="solid"/>
          </a:ln>
        </p:spPr>
      </p:sp>
      <p:sp>
        <p:nvSpPr>
          <p:cNvPr id="14" name="Text 12"/>
          <p:cNvSpPr/>
          <p:nvPr/>
        </p:nvSpPr>
        <p:spPr>
          <a:xfrm>
            <a:off x="548640" y="2057400"/>
            <a:ext cx="1143000" cy="384048"/>
          </a:xfrm>
          <a:prstGeom prst="rect">
            <a:avLst/>
          </a:prstGeom>
          <a:noFill/>
          <a:ln/>
        </p:spPr>
        <p:txBody>
          <a:bodyPr wrap="square" lIns="0" tIns="0" rIns="0" bIns="0" rtlCol="0" anchor="ctr">
            <a:normAutofit/>
          </a:bodyPr>
          <a:lstStyle/>
          <a:p>
            <a:pPr indent="0" marL="0">
              <a:buNone/>
            </a:pPr>
            <a:r>
              <a:rPr lang="en-US" sz="950" b="1" dirty="0">
                <a:solidFill>
                  <a:srgbClr val="1E293B"/>
                </a:solidFill>
                <a:latin typeface="Calibri" pitchFamily="34" charset="0"/>
                <a:ea typeface="Calibri" pitchFamily="34" charset="-122"/>
                <a:cs typeface="Calibri" pitchFamily="34" charset="-120"/>
              </a:rPr>
              <a:t>MicroART</a:t>
            </a:r>
            <a:endParaRPr lang="en-US" sz="950" dirty="0"/>
          </a:p>
        </p:txBody>
      </p:sp>
      <p:sp>
        <p:nvSpPr>
          <p:cNvPr id="15" name="Text 13"/>
          <p:cNvSpPr/>
          <p:nvPr/>
        </p:nvSpPr>
        <p:spPr>
          <a:xfrm>
            <a:off x="1645920" y="2057400"/>
            <a:ext cx="1645920" cy="384048"/>
          </a:xfrm>
          <a:prstGeom prst="rect">
            <a:avLst/>
          </a:prstGeom>
          <a:noFill/>
          <a:ln/>
        </p:spPr>
        <p:txBody>
          <a:bodyPr wrap="square" lIns="0" tIns="0" rIns="0" bIns="0" rtlCol="0" anchor="ctr">
            <a:normAutofit/>
          </a:bodyPr>
          <a:lstStyle/>
          <a:p>
            <a:pPr indent="0" marL="0">
              <a:buNone/>
            </a:pPr>
            <a:r>
              <a:rPr lang="en-US" sz="820" dirty="0">
                <a:solidFill>
                  <a:srgbClr val="1E293B"/>
                </a:solidFill>
                <a:latin typeface="Calibri" pitchFamily="34" charset="0"/>
                <a:ea typeface="Calibri" pitchFamily="34" charset="-122"/>
                <a:cs typeface="Calibri" pitchFamily="34" charset="-120"/>
              </a:rPr>
              <a:t>Architecture recovery</a:t>
            </a:r>
            <a:endParaRPr lang="en-US" sz="820" dirty="0"/>
          </a:p>
        </p:txBody>
      </p:sp>
      <p:sp>
        <p:nvSpPr>
          <p:cNvPr id="16" name="Text 14"/>
          <p:cNvSpPr/>
          <p:nvPr/>
        </p:nvSpPr>
        <p:spPr>
          <a:xfrm>
            <a:off x="3429000" y="2057400"/>
            <a:ext cx="2423160" cy="384048"/>
          </a:xfrm>
          <a:prstGeom prst="rect">
            <a:avLst/>
          </a:prstGeom>
          <a:noFill/>
          <a:ln/>
        </p:spPr>
        <p:txBody>
          <a:bodyPr wrap="square" lIns="0" tIns="0" rIns="0" bIns="0" rtlCol="0" anchor="ctr">
            <a:normAutofit/>
          </a:bodyPr>
          <a:lstStyle/>
          <a:p>
            <a:pPr indent="0" marL="0">
              <a:buNone/>
            </a:pPr>
            <a:r>
              <a:rPr lang="en-US" sz="820" dirty="0">
                <a:solidFill>
                  <a:srgbClr val="1E293B"/>
                </a:solidFill>
                <a:latin typeface="Calibri" pitchFamily="34" charset="0"/>
                <a:ea typeface="Calibri" pitchFamily="34" charset="-122"/>
                <a:cs typeface="Calibri" pitchFamily="34" charset="-120"/>
              </a:rPr>
              <a:t>Useful system visualisation</a:t>
            </a:r>
            <a:endParaRPr lang="en-US" sz="820" dirty="0"/>
          </a:p>
        </p:txBody>
      </p:sp>
      <p:sp>
        <p:nvSpPr>
          <p:cNvPr id="17" name="Text 15"/>
          <p:cNvSpPr/>
          <p:nvPr/>
        </p:nvSpPr>
        <p:spPr>
          <a:xfrm>
            <a:off x="5989320" y="2057400"/>
            <a:ext cx="2606040" cy="384048"/>
          </a:xfrm>
          <a:prstGeom prst="rect">
            <a:avLst/>
          </a:prstGeom>
          <a:noFill/>
          <a:ln/>
        </p:spPr>
        <p:txBody>
          <a:bodyPr wrap="square" lIns="0" tIns="0" rIns="0" bIns="0" rtlCol="0" anchor="ctr">
            <a:normAutofit/>
          </a:bodyPr>
          <a:lstStyle/>
          <a:p>
            <a:pPr indent="0" marL="0">
              <a:buNone/>
            </a:pPr>
            <a:r>
              <a:rPr lang="en-US" sz="820" dirty="0">
                <a:solidFill>
                  <a:srgbClr val="1E293B"/>
                </a:solidFill>
                <a:latin typeface="Calibri" pitchFamily="34" charset="0"/>
                <a:ea typeface="Calibri" pitchFamily="34" charset="-122"/>
                <a:cs typeface="Calibri" pitchFamily="34" charset="-120"/>
              </a:rPr>
              <a:t>Requires project metadata; not a detector/reporting workflow</a:t>
            </a:r>
            <a:endParaRPr lang="en-US" sz="820" dirty="0"/>
          </a:p>
        </p:txBody>
      </p:sp>
      <p:sp>
        <p:nvSpPr>
          <p:cNvPr id="18" name="Shape 16"/>
          <p:cNvSpPr/>
          <p:nvPr/>
        </p:nvSpPr>
        <p:spPr>
          <a:xfrm>
            <a:off x="548640" y="2514600"/>
            <a:ext cx="8046720" cy="7315"/>
          </a:xfrm>
          <a:prstGeom prst="rect">
            <a:avLst/>
          </a:prstGeom>
          <a:solidFill>
            <a:srgbClr val="D8DEE6"/>
          </a:solidFill>
          <a:ln w="12700">
            <a:solidFill>
              <a:srgbClr val="D8DEE6"/>
            </a:solidFill>
            <a:prstDash val="solid"/>
          </a:ln>
        </p:spPr>
      </p:sp>
      <p:sp>
        <p:nvSpPr>
          <p:cNvPr id="19" name="Text 17"/>
          <p:cNvSpPr/>
          <p:nvPr/>
        </p:nvSpPr>
        <p:spPr>
          <a:xfrm>
            <a:off x="548640" y="2651760"/>
            <a:ext cx="1143000" cy="384048"/>
          </a:xfrm>
          <a:prstGeom prst="rect">
            <a:avLst/>
          </a:prstGeom>
          <a:noFill/>
          <a:ln/>
        </p:spPr>
        <p:txBody>
          <a:bodyPr wrap="square" lIns="0" tIns="0" rIns="0" bIns="0" rtlCol="0" anchor="ctr">
            <a:normAutofit/>
          </a:bodyPr>
          <a:lstStyle/>
          <a:p>
            <a:pPr indent="0" marL="0">
              <a:buNone/>
            </a:pPr>
            <a:r>
              <a:rPr lang="en-US" sz="950" b="1" dirty="0">
                <a:solidFill>
                  <a:srgbClr val="1E293B"/>
                </a:solidFill>
                <a:latin typeface="Calibri" pitchFamily="34" charset="0"/>
                <a:ea typeface="Calibri" pitchFamily="34" charset="-122"/>
                <a:cs typeface="Calibri" pitchFamily="34" charset="-120"/>
              </a:rPr>
              <a:t>MSANose</a:t>
            </a:r>
            <a:endParaRPr lang="en-US" sz="950" dirty="0"/>
          </a:p>
        </p:txBody>
      </p:sp>
      <p:sp>
        <p:nvSpPr>
          <p:cNvPr id="20" name="Text 18"/>
          <p:cNvSpPr/>
          <p:nvPr/>
        </p:nvSpPr>
        <p:spPr>
          <a:xfrm>
            <a:off x="1645920" y="2651760"/>
            <a:ext cx="1645920" cy="384048"/>
          </a:xfrm>
          <a:prstGeom prst="rect">
            <a:avLst/>
          </a:prstGeom>
          <a:noFill/>
          <a:ln/>
        </p:spPr>
        <p:txBody>
          <a:bodyPr wrap="square" lIns="0" tIns="0" rIns="0" bIns="0" rtlCol="0" anchor="ctr">
            <a:normAutofit/>
          </a:bodyPr>
          <a:lstStyle/>
          <a:p>
            <a:pPr indent="0" marL="0">
              <a:buNone/>
            </a:pPr>
            <a:r>
              <a:rPr lang="en-US" sz="820" dirty="0">
                <a:solidFill>
                  <a:srgbClr val="1E293B"/>
                </a:solidFill>
                <a:latin typeface="Calibri" pitchFamily="34" charset="0"/>
                <a:ea typeface="Calibri" pitchFamily="34" charset="-122"/>
                <a:cs typeface="Calibri" pitchFamily="34" charset="-120"/>
              </a:rPr>
              <a:t>Microservice smells</a:t>
            </a:r>
            <a:endParaRPr lang="en-US" sz="820" dirty="0"/>
          </a:p>
        </p:txBody>
      </p:sp>
      <p:sp>
        <p:nvSpPr>
          <p:cNvPr id="21" name="Text 19"/>
          <p:cNvSpPr/>
          <p:nvPr/>
        </p:nvSpPr>
        <p:spPr>
          <a:xfrm>
            <a:off x="3429000" y="2651760"/>
            <a:ext cx="2423160" cy="384048"/>
          </a:xfrm>
          <a:prstGeom prst="rect">
            <a:avLst/>
          </a:prstGeom>
          <a:noFill/>
          <a:ln/>
        </p:spPr>
        <p:txBody>
          <a:bodyPr wrap="square" lIns="0" tIns="0" rIns="0" bIns="0" rtlCol="0" anchor="ctr">
            <a:normAutofit/>
          </a:bodyPr>
          <a:lstStyle/>
          <a:p>
            <a:pPr indent="0" marL="0">
              <a:buNone/>
            </a:pPr>
            <a:r>
              <a:rPr lang="en-US" sz="820" dirty="0">
                <a:solidFill>
                  <a:srgbClr val="1E293B"/>
                </a:solidFill>
                <a:latin typeface="Calibri" pitchFamily="34" charset="0"/>
                <a:ea typeface="Calibri" pitchFamily="34" charset="-122"/>
                <a:cs typeface="Calibri" pitchFamily="34" charset="-120"/>
              </a:rPr>
              <a:t>Microservice-specific catalogue</a:t>
            </a:r>
            <a:endParaRPr lang="en-US" sz="820" dirty="0"/>
          </a:p>
        </p:txBody>
      </p:sp>
      <p:sp>
        <p:nvSpPr>
          <p:cNvPr id="22" name="Text 20"/>
          <p:cNvSpPr/>
          <p:nvPr/>
        </p:nvSpPr>
        <p:spPr>
          <a:xfrm>
            <a:off x="5989320" y="2651760"/>
            <a:ext cx="2606040" cy="384048"/>
          </a:xfrm>
          <a:prstGeom prst="rect">
            <a:avLst/>
          </a:prstGeom>
          <a:noFill/>
          <a:ln/>
        </p:spPr>
        <p:txBody>
          <a:bodyPr wrap="square" lIns="0" tIns="0" rIns="0" bIns="0" rtlCol="0" anchor="ctr">
            <a:normAutofit/>
          </a:bodyPr>
          <a:lstStyle/>
          <a:p>
            <a:pPr indent="0" marL="0">
              <a:buNone/>
            </a:pPr>
            <a:r>
              <a:rPr lang="en-US" sz="820" dirty="0">
                <a:solidFill>
                  <a:srgbClr val="1E293B"/>
                </a:solidFill>
                <a:latin typeface="Calibri" pitchFamily="34" charset="0"/>
                <a:ea typeface="Calibri" pitchFamily="34" charset="-122"/>
                <a:cs typeface="Calibri" pitchFamily="34" charset="-120"/>
              </a:rPr>
              <a:t>Less emphasis on source snippets and composite scoring</a:t>
            </a:r>
            <a:endParaRPr lang="en-US" sz="820" dirty="0"/>
          </a:p>
        </p:txBody>
      </p:sp>
      <p:sp>
        <p:nvSpPr>
          <p:cNvPr id="23" name="Shape 21"/>
          <p:cNvSpPr/>
          <p:nvPr/>
        </p:nvSpPr>
        <p:spPr>
          <a:xfrm>
            <a:off x="548640" y="3108960"/>
            <a:ext cx="8046720" cy="7315"/>
          </a:xfrm>
          <a:prstGeom prst="rect">
            <a:avLst/>
          </a:prstGeom>
          <a:solidFill>
            <a:srgbClr val="D8DEE6"/>
          </a:solidFill>
          <a:ln w="12700">
            <a:solidFill>
              <a:srgbClr val="D8DEE6"/>
            </a:solidFill>
            <a:prstDash val="solid"/>
          </a:ln>
        </p:spPr>
      </p:sp>
      <p:sp>
        <p:nvSpPr>
          <p:cNvPr id="24" name="Text 22"/>
          <p:cNvSpPr/>
          <p:nvPr/>
        </p:nvSpPr>
        <p:spPr>
          <a:xfrm>
            <a:off x="548640" y="3246120"/>
            <a:ext cx="1143000" cy="384048"/>
          </a:xfrm>
          <a:prstGeom prst="rect">
            <a:avLst/>
          </a:prstGeom>
          <a:noFill/>
          <a:ln/>
        </p:spPr>
        <p:txBody>
          <a:bodyPr wrap="square" lIns="0" tIns="0" rIns="0" bIns="0" rtlCol="0" anchor="ctr">
            <a:normAutofit/>
          </a:bodyPr>
          <a:lstStyle/>
          <a:p>
            <a:pPr indent="0" marL="0">
              <a:buNone/>
            </a:pPr>
            <a:r>
              <a:rPr lang="en-US" sz="950" b="1" dirty="0">
                <a:solidFill>
                  <a:srgbClr val="1E293B"/>
                </a:solidFill>
                <a:latin typeface="Calibri" pitchFamily="34" charset="0"/>
                <a:ea typeface="Calibri" pitchFamily="34" charset="-122"/>
                <a:cs typeface="Calibri" pitchFamily="34" charset="-120"/>
              </a:rPr>
              <a:t>MARS</a:t>
            </a:r>
            <a:endParaRPr lang="en-US" sz="950" dirty="0"/>
          </a:p>
        </p:txBody>
      </p:sp>
      <p:sp>
        <p:nvSpPr>
          <p:cNvPr id="25" name="Text 23"/>
          <p:cNvSpPr/>
          <p:nvPr/>
        </p:nvSpPr>
        <p:spPr>
          <a:xfrm>
            <a:off x="1645920" y="3246120"/>
            <a:ext cx="1645920" cy="384048"/>
          </a:xfrm>
          <a:prstGeom prst="rect">
            <a:avLst/>
          </a:prstGeom>
          <a:noFill/>
          <a:ln/>
        </p:spPr>
        <p:txBody>
          <a:bodyPr wrap="square" lIns="0" tIns="0" rIns="0" bIns="0" rtlCol="0" anchor="ctr">
            <a:normAutofit/>
          </a:bodyPr>
          <a:lstStyle/>
          <a:p>
            <a:pPr indent="0" marL="0">
              <a:buNone/>
            </a:pPr>
            <a:r>
              <a:rPr lang="en-US" sz="820" dirty="0">
                <a:solidFill>
                  <a:srgbClr val="1E293B"/>
                </a:solidFill>
                <a:latin typeface="Calibri" pitchFamily="34" charset="0"/>
                <a:ea typeface="Calibri" pitchFamily="34" charset="-122"/>
                <a:cs typeface="Calibri" pitchFamily="34" charset="-120"/>
              </a:rPr>
              <a:t>Anti-pattern catalogue</a:t>
            </a:r>
            <a:endParaRPr lang="en-US" sz="820" dirty="0"/>
          </a:p>
        </p:txBody>
      </p:sp>
      <p:sp>
        <p:nvSpPr>
          <p:cNvPr id="26" name="Text 24"/>
          <p:cNvSpPr/>
          <p:nvPr/>
        </p:nvSpPr>
        <p:spPr>
          <a:xfrm>
            <a:off x="3429000" y="3246120"/>
            <a:ext cx="2423160" cy="384048"/>
          </a:xfrm>
          <a:prstGeom prst="rect">
            <a:avLst/>
          </a:prstGeom>
          <a:noFill/>
          <a:ln/>
        </p:spPr>
        <p:txBody>
          <a:bodyPr wrap="square" lIns="0" tIns="0" rIns="0" bIns="0" rtlCol="0" anchor="ctr">
            <a:normAutofit/>
          </a:bodyPr>
          <a:lstStyle/>
          <a:p>
            <a:pPr indent="0" marL="0">
              <a:buNone/>
            </a:pPr>
            <a:r>
              <a:rPr lang="en-US" sz="820" dirty="0">
                <a:solidFill>
                  <a:srgbClr val="1E293B"/>
                </a:solidFill>
                <a:latin typeface="Calibri" pitchFamily="34" charset="0"/>
                <a:ea typeface="Calibri" pitchFamily="34" charset="-122"/>
                <a:cs typeface="Calibri" pitchFamily="34" charset="-120"/>
              </a:rPr>
              <a:t>Broad microservice anti-pattern coverage</a:t>
            </a:r>
            <a:endParaRPr lang="en-US" sz="820" dirty="0"/>
          </a:p>
        </p:txBody>
      </p:sp>
      <p:sp>
        <p:nvSpPr>
          <p:cNvPr id="27" name="Text 25"/>
          <p:cNvSpPr/>
          <p:nvPr/>
        </p:nvSpPr>
        <p:spPr>
          <a:xfrm>
            <a:off x="5989320" y="3246120"/>
            <a:ext cx="2606040" cy="384048"/>
          </a:xfrm>
          <a:prstGeom prst="rect">
            <a:avLst/>
          </a:prstGeom>
          <a:noFill/>
          <a:ln/>
        </p:spPr>
        <p:txBody>
          <a:bodyPr wrap="square" lIns="0" tIns="0" rIns="0" bIns="0" rtlCol="0" anchor="ctr">
            <a:normAutofit/>
          </a:bodyPr>
          <a:lstStyle/>
          <a:p>
            <a:pPr indent="0" marL="0">
              <a:buNone/>
            </a:pPr>
            <a:r>
              <a:rPr lang="en-US" sz="820" dirty="0">
                <a:solidFill>
                  <a:srgbClr val="1E293B"/>
                </a:solidFill>
                <a:latin typeface="Calibri" pitchFamily="34" charset="0"/>
                <a:ea typeface="Calibri" pitchFamily="34" charset="-122"/>
                <a:cs typeface="Calibri" pitchFamily="34" charset="-120"/>
              </a:rPr>
              <a:t>Different scope; not the same integrated repository-to-report pipeline</a:t>
            </a:r>
            <a:endParaRPr lang="en-US" sz="820" dirty="0"/>
          </a:p>
        </p:txBody>
      </p:sp>
      <p:sp>
        <p:nvSpPr>
          <p:cNvPr id="28" name="Shape 26"/>
          <p:cNvSpPr/>
          <p:nvPr/>
        </p:nvSpPr>
        <p:spPr>
          <a:xfrm>
            <a:off x="548640" y="3703320"/>
            <a:ext cx="8046720" cy="7315"/>
          </a:xfrm>
          <a:prstGeom prst="rect">
            <a:avLst/>
          </a:prstGeom>
          <a:solidFill>
            <a:srgbClr val="D8DEE6"/>
          </a:solidFill>
          <a:ln w="12700">
            <a:solidFill>
              <a:srgbClr val="D8DEE6"/>
            </a:solidFill>
            <a:prstDash val="solid"/>
          </a:ln>
        </p:spPr>
      </p:sp>
      <p:sp>
        <p:nvSpPr>
          <p:cNvPr id="29" name="Shape 27"/>
          <p:cNvSpPr/>
          <p:nvPr/>
        </p:nvSpPr>
        <p:spPr>
          <a:xfrm>
            <a:off x="548640" y="3749040"/>
            <a:ext cx="8046720" cy="32004"/>
          </a:xfrm>
          <a:prstGeom prst="rect">
            <a:avLst/>
          </a:prstGeom>
          <a:solidFill>
            <a:srgbClr val="0D9488"/>
          </a:solidFill>
          <a:ln w="12700">
            <a:solidFill>
              <a:srgbClr val="0D9488"/>
            </a:solidFill>
            <a:prstDash val="solid"/>
          </a:ln>
        </p:spPr>
      </p:sp>
      <p:sp>
        <p:nvSpPr>
          <p:cNvPr id="30" name="Text 28"/>
          <p:cNvSpPr/>
          <p:nvPr/>
        </p:nvSpPr>
        <p:spPr>
          <a:xfrm>
            <a:off x="548640" y="3840480"/>
            <a:ext cx="1143000" cy="384048"/>
          </a:xfrm>
          <a:prstGeom prst="rect">
            <a:avLst/>
          </a:prstGeom>
          <a:noFill/>
          <a:ln/>
        </p:spPr>
        <p:txBody>
          <a:bodyPr wrap="square" lIns="0" tIns="0" rIns="0" bIns="0" rtlCol="0" anchor="ctr">
            <a:normAutofit/>
          </a:bodyPr>
          <a:lstStyle/>
          <a:p>
            <a:pPr indent="0" marL="0">
              <a:buNone/>
            </a:pPr>
            <a:r>
              <a:rPr lang="en-US" sz="950" b="1" dirty="0">
                <a:solidFill>
                  <a:srgbClr val="0D9488"/>
                </a:solidFill>
                <a:latin typeface="Calibri" pitchFamily="34" charset="0"/>
                <a:ea typeface="Calibri" pitchFamily="34" charset="-122"/>
                <a:cs typeface="Calibri" pitchFamily="34" charset="-120"/>
              </a:rPr>
              <a:t>MSA Detector</a:t>
            </a:r>
            <a:endParaRPr lang="en-US" sz="950" dirty="0"/>
          </a:p>
        </p:txBody>
      </p:sp>
      <p:sp>
        <p:nvSpPr>
          <p:cNvPr id="31" name="Text 29"/>
          <p:cNvSpPr/>
          <p:nvPr/>
        </p:nvSpPr>
        <p:spPr>
          <a:xfrm>
            <a:off x="1645920" y="3840480"/>
            <a:ext cx="1645920" cy="384048"/>
          </a:xfrm>
          <a:prstGeom prst="rect">
            <a:avLst/>
          </a:prstGeom>
          <a:noFill/>
          <a:ln/>
        </p:spPr>
        <p:txBody>
          <a:bodyPr wrap="square" lIns="0" tIns="0" rIns="0" bIns="0" rtlCol="0" anchor="ctr">
            <a:normAutofit/>
          </a:bodyPr>
          <a:lstStyle/>
          <a:p>
            <a:pPr indent="0" marL="0">
              <a:buNone/>
            </a:pPr>
            <a:r>
              <a:rPr lang="en-US" sz="820" b="1" dirty="0">
                <a:solidFill>
                  <a:srgbClr val="1E293B"/>
                </a:solidFill>
                <a:latin typeface="Calibri" pitchFamily="34" charset="0"/>
                <a:ea typeface="Calibri" pitchFamily="34" charset="-122"/>
                <a:cs typeface="Calibri" pitchFamily="34" charset="-120"/>
              </a:rPr>
              <a:t>Multi-level diagnosis</a:t>
            </a:r>
            <a:endParaRPr lang="en-US" sz="820" dirty="0"/>
          </a:p>
        </p:txBody>
      </p:sp>
      <p:sp>
        <p:nvSpPr>
          <p:cNvPr id="32" name="Text 30"/>
          <p:cNvSpPr/>
          <p:nvPr/>
        </p:nvSpPr>
        <p:spPr>
          <a:xfrm>
            <a:off x="3429000" y="3840480"/>
            <a:ext cx="2423160" cy="384048"/>
          </a:xfrm>
          <a:prstGeom prst="rect">
            <a:avLst/>
          </a:prstGeom>
          <a:noFill/>
          <a:ln/>
        </p:spPr>
        <p:txBody>
          <a:bodyPr wrap="square" lIns="0" tIns="0" rIns="0" bIns="0" rtlCol="0" anchor="ctr">
            <a:normAutofit/>
          </a:bodyPr>
          <a:lstStyle/>
          <a:p>
            <a:pPr indent="0" marL="0">
              <a:buNone/>
            </a:pPr>
            <a:r>
              <a:rPr lang="en-US" sz="820" b="1" dirty="0">
                <a:solidFill>
                  <a:srgbClr val="1E293B"/>
                </a:solidFill>
                <a:latin typeface="Calibri" pitchFamily="34" charset="0"/>
                <a:ea typeface="Calibri" pitchFamily="34" charset="-122"/>
                <a:cs typeface="Calibri" pitchFamily="34" charset="-120"/>
              </a:rPr>
              <a:t>Automated boundaries, snippets, graph evidence, health score, remediation</a:t>
            </a:r>
            <a:endParaRPr lang="en-US" sz="820" dirty="0"/>
          </a:p>
        </p:txBody>
      </p:sp>
      <p:sp>
        <p:nvSpPr>
          <p:cNvPr id="33" name="Text 31"/>
          <p:cNvSpPr/>
          <p:nvPr/>
        </p:nvSpPr>
        <p:spPr>
          <a:xfrm>
            <a:off x="5989320" y="3840480"/>
            <a:ext cx="2606040" cy="384048"/>
          </a:xfrm>
          <a:prstGeom prst="rect">
            <a:avLst/>
          </a:prstGeom>
          <a:noFill/>
          <a:ln/>
        </p:spPr>
        <p:txBody>
          <a:bodyPr wrap="square" lIns="0" tIns="0" rIns="0" bIns="0" rtlCol="0" anchor="ctr">
            <a:normAutofit/>
          </a:bodyPr>
          <a:lstStyle/>
          <a:p>
            <a:pPr indent="0" marL="0">
              <a:buNone/>
            </a:pPr>
            <a:r>
              <a:rPr lang="en-US" sz="820" b="1" dirty="0">
                <a:solidFill>
                  <a:srgbClr val="1E293B"/>
                </a:solidFill>
                <a:latin typeface="Calibri" pitchFamily="34" charset="0"/>
                <a:ea typeface="Calibri" pitchFamily="34" charset="-122"/>
                <a:cs typeface="Calibri" pitchFamily="34" charset="-120"/>
              </a:rPr>
              <a:t>Prototype scope: Java/Spring Boot only</a:t>
            </a:r>
            <a:endParaRPr lang="en-US" sz="820" dirty="0"/>
          </a:p>
        </p:txBody>
      </p:sp>
      <p:sp>
        <p:nvSpPr>
          <p:cNvPr id="34" name="Shape 32"/>
          <p:cNvSpPr/>
          <p:nvPr/>
        </p:nvSpPr>
        <p:spPr>
          <a:xfrm>
            <a:off x="548640" y="4297680"/>
            <a:ext cx="8046720" cy="7315"/>
          </a:xfrm>
          <a:prstGeom prst="rect">
            <a:avLst/>
          </a:prstGeom>
          <a:solidFill>
            <a:srgbClr val="D8DEE6"/>
          </a:solidFill>
          <a:ln w="12700">
            <a:solidFill>
              <a:srgbClr val="D8DEE6"/>
            </a:solidFill>
            <a:prstDash val="solid"/>
          </a:ln>
        </p:spPr>
      </p:sp>
      <p:sp>
        <p:nvSpPr>
          <p:cNvPr id="35" name="Shape 33"/>
          <p:cNvSpPr/>
          <p:nvPr/>
        </p:nvSpPr>
        <p:spPr>
          <a:xfrm>
            <a:off x="548640" y="4572000"/>
            <a:ext cx="457200" cy="36576"/>
          </a:xfrm>
          <a:prstGeom prst="rect">
            <a:avLst/>
          </a:prstGeom>
          <a:solidFill>
            <a:srgbClr val="0D9488"/>
          </a:solidFill>
          <a:ln w="12700">
            <a:solidFill>
              <a:srgbClr val="0D9488"/>
            </a:solidFill>
            <a:prstDash val="solid"/>
          </a:ln>
        </p:spPr>
      </p:sp>
      <p:sp>
        <p:nvSpPr>
          <p:cNvPr id="36" name="Text 34"/>
          <p:cNvSpPr/>
          <p:nvPr/>
        </p:nvSpPr>
        <p:spPr>
          <a:xfrm>
            <a:off x="548640" y="4663440"/>
            <a:ext cx="8046720" cy="219456"/>
          </a:xfrm>
          <a:prstGeom prst="rect">
            <a:avLst/>
          </a:prstGeom>
          <a:noFill/>
          <a:ln/>
        </p:spPr>
        <p:txBody>
          <a:bodyPr wrap="square" lIns="0" tIns="0" rIns="0" bIns="0" rtlCol="0" anchor="ctr"/>
          <a:lstStyle/>
          <a:p>
            <a:pPr indent="0" marL="0">
              <a:buNone/>
            </a:pPr>
            <a:r>
              <a:rPr lang="en-US" sz="900" i="1" dirty="0">
                <a:solidFill>
                  <a:srgbClr val="64748B"/>
                </a:solidFill>
                <a:latin typeface="Calibri" pitchFamily="34" charset="0"/>
                <a:ea typeface="Calibri" pitchFamily="34" charset="-122"/>
                <a:cs typeface="Calibri" pitchFamily="34" charset="-120"/>
              </a:rPr>
              <a:t>Positioning: the contribution is integration and actionable reporting, not claiming that every individual detector is novel.</a:t>
            </a:r>
            <a:endParaRPr lang="en-US" sz="900" dirty="0"/>
          </a:p>
        </p:txBody>
      </p:sp>
      <p:sp>
        <p:nvSpPr>
          <p:cNvPr id="37" name="Text 35"/>
          <p:cNvSpPr/>
          <p:nvPr/>
        </p:nvSpPr>
        <p:spPr>
          <a:xfrm>
            <a:off x="7452360" y="4864608"/>
            <a:ext cx="1143000" cy="22860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Appendix K</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26</Slides>
  <Notes>26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26</vt:i4>
      </vt:variant>
    </vt:vector>
  </HeadingPairs>
  <TitlesOfParts>
    <vt:vector size="2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MSA Detector — Master's Dissertation Defense</dc:title>
  <dc:subject>PptxGenJS Presentation</dc:subject>
  <dc:creator>Iacob Andrei</dc:creator>
  <cp:lastModifiedBy>Iacob Andrei</cp:lastModifiedBy>
  <cp:revision>1</cp:revision>
  <dcterms:created xsi:type="dcterms:W3CDTF">2026-06-22T11:16:13Z</dcterms:created>
  <dcterms:modified xsi:type="dcterms:W3CDTF">2026-06-22T11:16:13Z</dcterms:modified>
</cp:coreProperties>
</file>