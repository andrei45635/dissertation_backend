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2A44"/>
                </a:solidFill>
                <a:latin typeface="Calibri"/>
              </a:defRPr>
            </a:pPr>
            <a:r>
              <a:rPr sz="1200" b="0" i="0" u="none" strike="noStrike">
                <a:solidFill>
                  <a:srgbClr val="0F2A44"/>
                </a:solidFill>
                <a:latin typeface="Calibri"/>
              </a:rPr>
              <a:t>Health scores by project (0–100)</a:t>
            </a:r>
          </a:p>
        </c:rich>
      </c:tx>
      <c:layout/>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cat>
            <c:multiLvlStrRef>
              <c:f>Sheet1!$A$2:$A$12</c:f>
              <c:multiLvlStrCache>
                <c:ptCount val="11"/>
                <c:lvl>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lvl>
              </c:multiLvlStrCache>
            </c:multiLvl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ser>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You can add: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Keep this short — about 30 seconds. Don't introduce content yet; that's the next slide.
Breathe, slow down. The committee already knows your name from the schedule, so this is just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address important parts of the problem: Arcan detects architectural smells, MicroART visualises recovered architectures, MSANose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You can mention a concrete example: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Pivot to next slide: 'So the goal of this work was a tool that bridges both levels and outputs actionable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 about 45 seconds if included in the main talk.
Talking points:
• 'The related work is valuable, but each tool emphasises a different slice: architecture smells, recovery, or microservice smell catalogues.'
• 'The gap I target is the combination: automatically detecting service boundaries from a source checkout, recovering dependencies, linking findings to source-level evidence, and producing a health score with remediation guidance.'
• 'So the contribution is not simply another detector list. It is an integrated workflow from repository input to actionable architectural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
Don't dwell on each one. They'll see the details later. This slide sets expectations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
Worth saying aloud: 'The severity levels aren't arbitrary — they reflect how much damage the anti-pattern can cause. Cyclic Dependency and Distributed Monolith are critical because they undermine independent deployability entirely. Hardcoded Endpoints and API Versioning are medium because they're easier to fix and their impact is more localised.'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
You can also add: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
If time allows, mention: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~45 seconds if included in the main flow.
Talking points:
• 'The evaluation is designed as a feasibility study across heterogeneous open-source systems.'
• 'For each project I measured service count, LOC, anti-pattern findings, dependency graph metrics, smell density, and the resulting health score.'
• 'I am not claiming statistical precision or recall because that would require a labelled benchmark of microservice anti-patterns. Such a corpus is not generally available, so the claim here is that the pipeline works end to end and produces explainable outputs across varied systems.'
Bridge: 'With that framing, here are the actual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37 API versioning absences, 23 nano services, 15 hardcoded endpoints. Cyclic Dependency and Wrong Cuts were detected in microservice-recruit. Adding PiggyMetrics and piomin broadened ESB Misuse and Nano Service coverage.'
• '98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13.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conclude: the MSA Detector is a multi-level static analysis tool for Java/Spring Boot microservices, with ten anti-pattern detectors, a composite health score, and evidence-based reporting. The main contribution is the bridge between source-code evidence and architectural findings: the tool does not only flag that a microservice architecture has a problem, it shows where the evidence comes from and how the issue affects the system. I'm ready for your questions.'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only — do not spend presentation time here unless the committee asks about sources.
If asked, say: 'These are the selected works that shaped the microservice definition, anti-pattern catalogue, static analysis approach, related tools, and graph algorithms used in the implementation. The complete bibliography is in the dissertation.'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sp>
      <p:sp>
        <p:nvSpPr>
          <p:cNvPr id="3" name="Text 1"/>
          <p:cNvSpPr/>
          <p:nvPr/>
        </p:nvSpPr>
        <p:spPr>
          <a:xfrm>
            <a:off x="548640" y="1371600"/>
            <a:ext cx="7863840" cy="1417320"/>
          </a:xfrm>
          <a:prstGeom prst="rect">
            <a:avLst/>
          </a:prstGeom>
          <a:noFill/>
          <a:ln/>
        </p:spPr>
        <p:txBody>
          <a:bodyPr wrap="square" lIns="0" tIns="0" rIns="0" bIns="0" rtlCol="0" anchor="ctr"/>
          <a:lstStyle/>
          <a:p>
            <a:pPr indent="0" marL="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indent="0" marL="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indent="0" marL="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indent="0" marL="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indent="0" marL="0">
              <a:spcAft>
                <a:spcPts val="200"/>
              </a:spcAft>
              <a:buNone/>
            </a:pPr>
            <a:r>
              <a:rPr lang="en-US" sz="1150" dirty="0">
                <a:solidFill>
                  <a:srgbClr val="DBEAFE"/>
                </a:solidFill>
                <a:latin typeface="Calibri" pitchFamily="34" charset="0"/>
                <a:ea typeface="Calibri" pitchFamily="34" charset="-122"/>
                <a:cs typeface="Calibri" pitchFamily="34" charset="-120"/>
              </a:rPr>
              <a:t>Master's Dissertation Defense</a:t>
            </a:r>
            <a:endParaRPr lang="en-US" sz="1500" dirty="0"/>
          </a:p>
          <a:p>
            <a:pPr indent="0" marL="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Motogna</a:t>
            </a:r>
            <a:endParaRPr lang="en-US" sz="1500" dirty="0"/>
          </a:p>
          <a:p>
            <a:pPr indent="0" marL="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804672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sp>
      <p:sp>
        <p:nvSpPr>
          <p:cNvPr id="15" name="Text 13"/>
          <p:cNvSpPr/>
          <p:nvPr/>
        </p:nvSpPr>
        <p:spPr>
          <a:xfrm>
            <a:off x="548640" y="4315968"/>
            <a:ext cx="8046720" cy="365760"/>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 / 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Related work positioning</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The gap is not detection alone; it is actionable, evidence-based architectural diagnosis</a:t>
            </a:r>
            <a:endParaRPr lang="en-US" sz="1250" dirty="0"/>
          </a:p>
        </p:txBody>
      </p:sp>
      <p:sp>
        <p:nvSpPr>
          <p:cNvPr id="5" name="Text 3"/>
          <p:cNvSpPr/>
          <p:nvPr/>
        </p:nvSpPr>
        <p:spPr>
          <a:xfrm>
            <a:off x="548640" y="1536192"/>
            <a:ext cx="123444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TOOL</a:t>
            </a:r>
            <a:endParaRPr lang="en-US" sz="850" dirty="0"/>
          </a:p>
        </p:txBody>
      </p:sp>
      <p:sp>
        <p:nvSpPr>
          <p:cNvPr id="6" name="Text 4"/>
          <p:cNvSpPr/>
          <p:nvPr/>
        </p:nvSpPr>
        <p:spPr>
          <a:xfrm>
            <a:off x="1783080" y="1536192"/>
            <a:ext cx="182880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PRIMARY FOCUS</a:t>
            </a:r>
            <a:endParaRPr lang="en-US" sz="850" dirty="0"/>
          </a:p>
        </p:txBody>
      </p:sp>
      <p:sp>
        <p:nvSpPr>
          <p:cNvPr id="7" name="Text 5"/>
          <p:cNvSpPr/>
          <p:nvPr/>
        </p:nvSpPr>
        <p:spPr>
          <a:xfrm>
            <a:off x="3703320" y="1536192"/>
            <a:ext cx="160020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SERVICE BOUNDARY</a:t>
            </a:r>
            <a:endParaRPr lang="en-US" sz="850" dirty="0"/>
          </a:p>
        </p:txBody>
      </p:sp>
      <p:sp>
        <p:nvSpPr>
          <p:cNvPr id="8" name="Text 6"/>
          <p:cNvSpPr/>
          <p:nvPr/>
        </p:nvSpPr>
        <p:spPr>
          <a:xfrm>
            <a:off x="5440680" y="1536192"/>
            <a:ext cx="123444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CODE EVIDENCE</a:t>
            </a:r>
            <a:endParaRPr lang="en-US" sz="850" dirty="0"/>
          </a:p>
        </p:txBody>
      </p:sp>
      <p:sp>
        <p:nvSpPr>
          <p:cNvPr id="9" name="Text 7"/>
          <p:cNvSpPr/>
          <p:nvPr/>
        </p:nvSpPr>
        <p:spPr>
          <a:xfrm>
            <a:off x="6720840" y="1536192"/>
            <a:ext cx="1874520" cy="256032"/>
          </a:xfrm>
          <a:prstGeom prst="rect">
            <a:avLst/>
          </a:prstGeom>
          <a:noFill/>
          <a:ln/>
        </p:spPr>
        <p:txBody>
          <a:bodyPr wrap="square" lIns="0" tIns="0" rIns="0" bIns="0" rtlCol="0" anchor="ctr"/>
          <a:lstStyle/>
          <a:p>
            <a:pPr indent="0" marL="0">
              <a:buNone/>
            </a:pPr>
            <a:r>
              <a:rPr lang="en-US" sz="850" b="1" spc="150" kern="0" dirty="0">
                <a:solidFill>
                  <a:srgbClr val="0F2A44"/>
                </a:solidFill>
                <a:latin typeface="Calibri" pitchFamily="34" charset="0"/>
                <a:ea typeface="Calibri" pitchFamily="34" charset="-122"/>
                <a:cs typeface="Calibri" pitchFamily="34" charset="-120"/>
              </a:rPr>
              <a:t>DEVELOPER OUTPUT</a:t>
            </a:r>
            <a:endParaRPr lang="en-US" sz="850" dirty="0"/>
          </a:p>
        </p:txBody>
      </p:sp>
      <p:sp>
        <p:nvSpPr>
          <p:cNvPr id="10" name="Shape 8"/>
          <p:cNvSpPr/>
          <p:nvPr/>
        </p:nvSpPr>
        <p:spPr>
          <a:xfrm>
            <a:off x="548640" y="1847088"/>
            <a:ext cx="8046720" cy="13716"/>
          </a:xfrm>
          <a:prstGeom prst="rect">
            <a:avLst/>
          </a:prstGeom>
          <a:solidFill>
            <a:srgbClr val="D8DEE6"/>
          </a:solidFill>
          <a:ln w="12700">
            <a:solidFill>
              <a:srgbClr val="D8DEE6"/>
            </a:solidFill>
            <a:prstDash val="solid"/>
          </a:ln>
        </p:spPr>
      </p:sp>
      <p:sp>
        <p:nvSpPr>
          <p:cNvPr id="11" name="Text 9"/>
          <p:cNvSpPr/>
          <p:nvPr/>
        </p:nvSpPr>
        <p:spPr>
          <a:xfrm>
            <a:off x="548640" y="1993392"/>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Arcan</a:t>
            </a:r>
            <a:endParaRPr lang="en-US" sz="1050" dirty="0"/>
          </a:p>
        </p:txBody>
      </p:sp>
      <p:sp>
        <p:nvSpPr>
          <p:cNvPr id="12" name="Text 10"/>
          <p:cNvSpPr/>
          <p:nvPr/>
        </p:nvSpPr>
        <p:spPr>
          <a:xfrm>
            <a:off x="1783080" y="1993392"/>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Architectural smells</a:t>
            </a:r>
            <a:endParaRPr lang="en-US" sz="950" dirty="0"/>
          </a:p>
        </p:txBody>
      </p:sp>
      <p:sp>
        <p:nvSpPr>
          <p:cNvPr id="13" name="Text 11"/>
          <p:cNvSpPr/>
          <p:nvPr/>
        </p:nvSpPr>
        <p:spPr>
          <a:xfrm>
            <a:off x="3703320" y="1993392"/>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Manual/system model</a:t>
            </a:r>
            <a:endParaRPr lang="en-US" sz="950" dirty="0"/>
          </a:p>
        </p:txBody>
      </p:sp>
      <p:sp>
        <p:nvSpPr>
          <p:cNvPr id="14" name="Text 12"/>
          <p:cNvSpPr/>
          <p:nvPr/>
        </p:nvSpPr>
        <p:spPr>
          <a:xfrm>
            <a:off x="5440680" y="1993392"/>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Limited</a:t>
            </a:r>
            <a:endParaRPr lang="en-US" sz="950" dirty="0"/>
          </a:p>
        </p:txBody>
      </p:sp>
      <p:sp>
        <p:nvSpPr>
          <p:cNvPr id="15" name="Text 13"/>
          <p:cNvSpPr/>
          <p:nvPr/>
        </p:nvSpPr>
        <p:spPr>
          <a:xfrm>
            <a:off x="6720840" y="1993392"/>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Tool output</a:t>
            </a:r>
            <a:endParaRPr lang="en-US" sz="950" dirty="0"/>
          </a:p>
        </p:txBody>
      </p:sp>
      <p:sp>
        <p:nvSpPr>
          <p:cNvPr id="16" name="Shape 14"/>
          <p:cNvSpPr/>
          <p:nvPr/>
        </p:nvSpPr>
        <p:spPr>
          <a:xfrm>
            <a:off x="548640" y="2432304"/>
            <a:ext cx="8046720" cy="9144"/>
          </a:xfrm>
          <a:prstGeom prst="rect">
            <a:avLst/>
          </a:prstGeom>
          <a:solidFill>
            <a:srgbClr val="D8DEE6"/>
          </a:solidFill>
          <a:ln w="12700">
            <a:solidFill>
              <a:srgbClr val="D8DEE6"/>
            </a:solidFill>
            <a:prstDash val="solid"/>
          </a:ln>
        </p:spPr>
      </p:sp>
      <p:sp>
        <p:nvSpPr>
          <p:cNvPr id="17" name="Text 15"/>
          <p:cNvSpPr/>
          <p:nvPr/>
        </p:nvSpPr>
        <p:spPr>
          <a:xfrm>
            <a:off x="548640" y="2523744"/>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MicroART</a:t>
            </a:r>
            <a:endParaRPr lang="en-US" sz="1050" dirty="0"/>
          </a:p>
        </p:txBody>
      </p:sp>
      <p:sp>
        <p:nvSpPr>
          <p:cNvPr id="18" name="Text 16"/>
          <p:cNvSpPr/>
          <p:nvPr/>
        </p:nvSpPr>
        <p:spPr>
          <a:xfrm>
            <a:off x="1783080" y="2523744"/>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Architecture recovery</a:t>
            </a:r>
            <a:endParaRPr lang="en-US" sz="950" dirty="0"/>
          </a:p>
        </p:txBody>
      </p:sp>
      <p:sp>
        <p:nvSpPr>
          <p:cNvPr id="19" name="Text 17"/>
          <p:cNvSpPr/>
          <p:nvPr/>
        </p:nvSpPr>
        <p:spPr>
          <a:xfrm>
            <a:off x="3703320" y="2523744"/>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Manual/project metadata</a:t>
            </a:r>
            <a:endParaRPr lang="en-US" sz="950" dirty="0"/>
          </a:p>
        </p:txBody>
      </p:sp>
      <p:sp>
        <p:nvSpPr>
          <p:cNvPr id="20" name="Text 18"/>
          <p:cNvSpPr/>
          <p:nvPr/>
        </p:nvSpPr>
        <p:spPr>
          <a:xfrm>
            <a:off x="5440680" y="2523744"/>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No</a:t>
            </a:r>
            <a:endParaRPr lang="en-US" sz="950" dirty="0"/>
          </a:p>
        </p:txBody>
      </p:sp>
      <p:sp>
        <p:nvSpPr>
          <p:cNvPr id="21" name="Text 19"/>
          <p:cNvSpPr/>
          <p:nvPr/>
        </p:nvSpPr>
        <p:spPr>
          <a:xfrm>
            <a:off x="6720840" y="2523744"/>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Visual recovery</a:t>
            </a:r>
            <a:endParaRPr lang="en-US" sz="950" dirty="0"/>
          </a:p>
        </p:txBody>
      </p:sp>
      <p:sp>
        <p:nvSpPr>
          <p:cNvPr id="22" name="Shape 20"/>
          <p:cNvSpPr/>
          <p:nvPr/>
        </p:nvSpPr>
        <p:spPr>
          <a:xfrm>
            <a:off x="548640" y="2962656"/>
            <a:ext cx="8046720" cy="9144"/>
          </a:xfrm>
          <a:prstGeom prst="rect">
            <a:avLst/>
          </a:prstGeom>
          <a:solidFill>
            <a:srgbClr val="D8DEE6"/>
          </a:solidFill>
          <a:ln w="12700">
            <a:solidFill>
              <a:srgbClr val="D8DEE6"/>
            </a:solidFill>
            <a:prstDash val="solid"/>
          </a:ln>
        </p:spPr>
      </p:sp>
      <p:sp>
        <p:nvSpPr>
          <p:cNvPr id="23" name="Text 21"/>
          <p:cNvSpPr/>
          <p:nvPr/>
        </p:nvSpPr>
        <p:spPr>
          <a:xfrm>
            <a:off x="548640" y="3054096"/>
            <a:ext cx="1234440" cy="384048"/>
          </a:xfrm>
          <a:prstGeom prst="rect">
            <a:avLst/>
          </a:prstGeom>
          <a:noFill/>
          <a:ln/>
        </p:spPr>
        <p:txBody>
          <a:bodyPr wrap="square" lIns="0" tIns="0" rIns="0" bIns="0" rtlCol="0" anchor="ctr">
            <a:normAutofit/>
          </a:bodyPr>
          <a:lstStyle/>
          <a:p>
            <a:pPr indent="0" marL="0">
              <a:buNone/>
            </a:pPr>
            <a:r>
              <a:rPr lang="en-US" sz="1050" b="1" dirty="0">
                <a:solidFill>
                  <a:srgbClr val="1E293B"/>
                </a:solidFill>
                <a:latin typeface="Calibri" pitchFamily="34" charset="0"/>
                <a:ea typeface="Calibri" pitchFamily="34" charset="-122"/>
                <a:cs typeface="Calibri" pitchFamily="34" charset="-120"/>
              </a:rPr>
              <a:t>MSANose / MARS</a:t>
            </a:r>
            <a:endParaRPr lang="en-US" sz="1050" dirty="0"/>
          </a:p>
        </p:txBody>
      </p:sp>
      <p:sp>
        <p:nvSpPr>
          <p:cNvPr id="24" name="Text 22"/>
          <p:cNvSpPr/>
          <p:nvPr/>
        </p:nvSpPr>
        <p:spPr>
          <a:xfrm>
            <a:off x="1783080" y="3054096"/>
            <a:ext cx="18288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Microservice smells</a:t>
            </a:r>
            <a:endParaRPr lang="en-US" sz="950" dirty="0"/>
          </a:p>
        </p:txBody>
      </p:sp>
      <p:sp>
        <p:nvSpPr>
          <p:cNvPr id="25" name="Text 23"/>
          <p:cNvSpPr/>
          <p:nvPr/>
        </p:nvSpPr>
        <p:spPr>
          <a:xfrm>
            <a:off x="3703320" y="3054096"/>
            <a:ext cx="160020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Varies by tool</a:t>
            </a:r>
            <a:endParaRPr lang="en-US" sz="950" dirty="0"/>
          </a:p>
        </p:txBody>
      </p:sp>
      <p:sp>
        <p:nvSpPr>
          <p:cNvPr id="26" name="Text 24"/>
          <p:cNvSpPr/>
          <p:nvPr/>
        </p:nvSpPr>
        <p:spPr>
          <a:xfrm>
            <a:off x="5440680" y="3054096"/>
            <a:ext cx="123444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Partial</a:t>
            </a:r>
            <a:endParaRPr lang="en-US" sz="950" dirty="0"/>
          </a:p>
        </p:txBody>
      </p:sp>
      <p:sp>
        <p:nvSpPr>
          <p:cNvPr id="27" name="Text 25"/>
          <p:cNvSpPr/>
          <p:nvPr/>
        </p:nvSpPr>
        <p:spPr>
          <a:xfrm>
            <a:off x="6720840" y="3054096"/>
            <a:ext cx="1874520" cy="384048"/>
          </a:xfrm>
          <a:prstGeom prst="rect">
            <a:avLst/>
          </a:prstGeom>
          <a:noFill/>
          <a:ln/>
        </p:spPr>
        <p:txBody>
          <a:bodyPr wrap="square" lIns="0" tIns="0" rIns="0" bIns="0" rtlCol="0" anchor="ctr">
            <a:normAutofit/>
          </a:bodyPr>
          <a:lstStyle/>
          <a:p>
            <a:pPr indent="0" marL="0">
              <a:buNone/>
            </a:pPr>
            <a:r>
              <a:rPr lang="en-US" sz="950" dirty="0">
                <a:solidFill>
                  <a:srgbClr val="1E293B"/>
                </a:solidFill>
                <a:latin typeface="Calibri" pitchFamily="34" charset="0"/>
                <a:ea typeface="Calibri" pitchFamily="34" charset="-122"/>
                <a:cs typeface="Calibri" pitchFamily="34" charset="-120"/>
              </a:rPr>
              <a:t>Catalogue-driven</a:t>
            </a:r>
            <a:endParaRPr lang="en-US" sz="950" dirty="0"/>
          </a:p>
        </p:txBody>
      </p:sp>
      <p:sp>
        <p:nvSpPr>
          <p:cNvPr id="28" name="Shape 26"/>
          <p:cNvSpPr/>
          <p:nvPr/>
        </p:nvSpPr>
        <p:spPr>
          <a:xfrm>
            <a:off x="548640" y="3493008"/>
            <a:ext cx="8046720" cy="9144"/>
          </a:xfrm>
          <a:prstGeom prst="rect">
            <a:avLst/>
          </a:prstGeom>
          <a:solidFill>
            <a:srgbClr val="D8DEE6"/>
          </a:solidFill>
          <a:ln w="12700">
            <a:solidFill>
              <a:srgbClr val="D8DEE6"/>
            </a:solidFill>
            <a:prstDash val="solid"/>
          </a:ln>
        </p:spPr>
      </p:sp>
      <p:sp>
        <p:nvSpPr>
          <p:cNvPr id="29" name="Shape 27"/>
          <p:cNvSpPr/>
          <p:nvPr/>
        </p:nvSpPr>
        <p:spPr>
          <a:xfrm>
            <a:off x="548640" y="3474720"/>
            <a:ext cx="8046720" cy="32004"/>
          </a:xfrm>
          <a:prstGeom prst="rect">
            <a:avLst/>
          </a:prstGeom>
          <a:solidFill>
            <a:srgbClr val="0D9488"/>
          </a:solidFill>
          <a:ln w="12700">
            <a:solidFill>
              <a:srgbClr val="0D9488"/>
            </a:solidFill>
            <a:prstDash val="solid"/>
          </a:ln>
        </p:spPr>
      </p:sp>
      <p:sp>
        <p:nvSpPr>
          <p:cNvPr id="30" name="Text 28"/>
          <p:cNvSpPr/>
          <p:nvPr/>
        </p:nvSpPr>
        <p:spPr>
          <a:xfrm>
            <a:off x="548640" y="3584448"/>
            <a:ext cx="1234440" cy="384048"/>
          </a:xfrm>
          <a:prstGeom prst="rect">
            <a:avLst/>
          </a:prstGeom>
          <a:noFill/>
          <a:ln/>
        </p:spPr>
        <p:txBody>
          <a:bodyPr wrap="square" lIns="0" tIns="0" rIns="0" bIns="0" rtlCol="0" anchor="ctr">
            <a:normAutofit/>
          </a:bodyPr>
          <a:lstStyle/>
          <a:p>
            <a:pPr indent="0" marL="0">
              <a:buNone/>
            </a:pPr>
            <a:r>
              <a:rPr lang="en-US" sz="1050" b="1" dirty="0">
                <a:solidFill>
                  <a:srgbClr val="0D9488"/>
                </a:solidFill>
                <a:latin typeface="Calibri" pitchFamily="34" charset="0"/>
                <a:ea typeface="Calibri" pitchFamily="34" charset="-122"/>
                <a:cs typeface="Calibri" pitchFamily="34" charset="-120"/>
              </a:rPr>
              <a:t>MSA Detector</a:t>
            </a:r>
            <a:endParaRPr lang="en-US" sz="1050" dirty="0"/>
          </a:p>
        </p:txBody>
      </p:sp>
      <p:sp>
        <p:nvSpPr>
          <p:cNvPr id="31" name="Text 29"/>
          <p:cNvSpPr/>
          <p:nvPr/>
        </p:nvSpPr>
        <p:spPr>
          <a:xfrm>
            <a:off x="1783080" y="3584448"/>
            <a:ext cx="18288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Multi-level anti-patterns</a:t>
            </a:r>
            <a:endParaRPr lang="en-US" sz="950" dirty="0"/>
          </a:p>
        </p:txBody>
      </p:sp>
      <p:sp>
        <p:nvSpPr>
          <p:cNvPr id="32" name="Text 30"/>
          <p:cNvSpPr/>
          <p:nvPr/>
        </p:nvSpPr>
        <p:spPr>
          <a:xfrm>
            <a:off x="3703320" y="3584448"/>
            <a:ext cx="160020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Automated deployability gate</a:t>
            </a:r>
            <a:endParaRPr lang="en-US" sz="950" dirty="0"/>
          </a:p>
        </p:txBody>
      </p:sp>
      <p:sp>
        <p:nvSpPr>
          <p:cNvPr id="33" name="Text 31"/>
          <p:cNvSpPr/>
          <p:nvPr/>
        </p:nvSpPr>
        <p:spPr>
          <a:xfrm>
            <a:off x="5440680" y="3584448"/>
            <a:ext cx="123444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Source snippets</a:t>
            </a:r>
            <a:endParaRPr lang="en-US" sz="950" dirty="0"/>
          </a:p>
        </p:txBody>
      </p:sp>
      <p:sp>
        <p:nvSpPr>
          <p:cNvPr id="34" name="Text 32"/>
          <p:cNvSpPr/>
          <p:nvPr/>
        </p:nvSpPr>
        <p:spPr>
          <a:xfrm>
            <a:off x="6720840" y="3584448"/>
            <a:ext cx="1874520" cy="384048"/>
          </a:xfrm>
          <a:prstGeom prst="rect">
            <a:avLst/>
          </a:prstGeom>
          <a:noFill/>
          <a:ln/>
        </p:spPr>
        <p:txBody>
          <a:bodyPr wrap="square" lIns="0" tIns="0" rIns="0" bIns="0" rtlCol="0" anchor="ctr">
            <a:normAutofit/>
          </a:bodyPr>
          <a:lstStyle/>
          <a:p>
            <a:pPr indent="0" marL="0">
              <a:buNone/>
            </a:pPr>
            <a:r>
              <a:rPr lang="en-US" sz="950" b="1" dirty="0">
                <a:solidFill>
                  <a:srgbClr val="1E293B"/>
                </a:solidFill>
                <a:latin typeface="Calibri" pitchFamily="34" charset="0"/>
                <a:ea typeface="Calibri" pitchFamily="34" charset="-122"/>
                <a:cs typeface="Calibri" pitchFamily="34" charset="-120"/>
              </a:rPr>
              <a:t>Health score + remediation</a:t>
            </a:r>
            <a:endParaRPr lang="en-US" sz="950" dirty="0"/>
          </a:p>
        </p:txBody>
      </p:sp>
      <p:sp>
        <p:nvSpPr>
          <p:cNvPr id="35" name="Shape 33"/>
          <p:cNvSpPr/>
          <p:nvPr/>
        </p:nvSpPr>
        <p:spPr>
          <a:xfrm>
            <a:off x="548640" y="4023360"/>
            <a:ext cx="8046720" cy="9144"/>
          </a:xfrm>
          <a:prstGeom prst="rect">
            <a:avLst/>
          </a:prstGeom>
          <a:solidFill>
            <a:srgbClr val="D8DEE6"/>
          </a:solidFill>
          <a:ln w="12700">
            <a:solidFill>
              <a:srgbClr val="D8DEE6"/>
            </a:solidFill>
            <a:prstDash val="solid"/>
          </a:ln>
        </p:spPr>
      </p:sp>
      <p:sp>
        <p:nvSpPr>
          <p:cNvPr id="36" name="Shape 34"/>
          <p:cNvSpPr/>
          <p:nvPr/>
        </p:nvSpPr>
        <p:spPr>
          <a:xfrm>
            <a:off x="548640" y="4343400"/>
            <a:ext cx="457200" cy="36576"/>
          </a:xfrm>
          <a:prstGeom prst="rect">
            <a:avLst/>
          </a:prstGeom>
          <a:solidFill>
            <a:srgbClr val="0D9488"/>
          </a:solidFill>
          <a:ln w="12700">
            <a:solidFill>
              <a:srgbClr val="0D9488"/>
            </a:solidFill>
            <a:prstDash val="solid"/>
          </a:ln>
        </p:spPr>
      </p:sp>
      <p:sp>
        <p:nvSpPr>
          <p:cNvPr id="37" name="Text 35"/>
          <p:cNvSpPr/>
          <p:nvPr/>
        </p:nvSpPr>
        <p:spPr>
          <a:xfrm>
            <a:off x="548640" y="4462272"/>
            <a:ext cx="8046720" cy="310896"/>
          </a:xfrm>
          <a:prstGeom prst="rect">
            <a:avLst/>
          </a:prstGeom>
          <a:noFill/>
          <a:ln/>
        </p:spPr>
        <p:txBody>
          <a:bodyPr wrap="square" lIns="0" tIns="0" rIns="0" bIns="0" rtlCol="0" anchor="ctr"/>
          <a:lstStyle/>
          <a:p>
            <a:pPr indent="0" marL="0">
              <a:buNone/>
            </a:pPr>
            <a:r>
              <a:rPr lang="en-US" sz="1100" b="1" dirty="0">
                <a:solidFill>
                  <a:srgbClr val="0F2A44"/>
                </a:solidFill>
                <a:latin typeface="Calibri" pitchFamily="34" charset="0"/>
                <a:ea typeface="Calibri" pitchFamily="34" charset="-122"/>
                <a:cs typeface="Calibri" pitchFamily="34" charset="-120"/>
              </a:rPr>
              <a:t>Positioning: combine static code analysis, recovered service dependencies, scoring, and source-level evidence in one workflow.</a:t>
            </a:r>
            <a:endParaRPr lang="en-US" sz="1100" dirty="0"/>
          </a:p>
        </p:txBody>
      </p:sp>
      <p:sp>
        <p:nvSpPr>
          <p:cNvPr id="38" name="Text 36"/>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Objectives &amp; 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sp>
      <p:sp>
        <p:nvSpPr>
          <p:cNvPr id="6" name="Text 4"/>
          <p:cNvSpPr/>
          <p:nvPr/>
        </p:nvSpPr>
        <p:spPr>
          <a:xfrm>
            <a:off x="65836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sp>
      <p:sp>
        <p:nvSpPr>
          <p:cNvPr id="12" name="Text 10"/>
          <p:cNvSpPr/>
          <p:nvPr/>
        </p:nvSpPr>
        <p:spPr>
          <a:xfrm>
            <a:off x="230428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30428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sp>
      <p:sp>
        <p:nvSpPr>
          <p:cNvPr id="18" name="Text 16"/>
          <p:cNvSpPr/>
          <p:nvPr/>
        </p:nvSpPr>
        <p:spPr>
          <a:xfrm>
            <a:off x="395020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sp>
      <p:sp>
        <p:nvSpPr>
          <p:cNvPr id="24" name="Text 22"/>
          <p:cNvSpPr/>
          <p:nvPr/>
        </p:nvSpPr>
        <p:spPr>
          <a:xfrm>
            <a:off x="559612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sp>
      <p:sp>
        <p:nvSpPr>
          <p:cNvPr id="30" name="Text 28"/>
          <p:cNvSpPr/>
          <p:nvPr/>
        </p:nvSpPr>
        <p:spPr>
          <a:xfrm>
            <a:off x="724204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sp>
      <p:sp>
        <p:nvSpPr>
          <p:cNvPr id="34" name="Text 32"/>
          <p:cNvSpPr/>
          <p:nvPr/>
        </p:nvSpPr>
        <p:spPr>
          <a:xfrm>
            <a:off x="548640" y="2852928"/>
            <a:ext cx="80467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731520" y="3200400"/>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6576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sp>
      <p:sp>
        <p:nvSpPr>
          <p:cNvPr id="7" name="Text 5"/>
          <p:cNvSpPr/>
          <p:nvPr/>
        </p:nvSpPr>
        <p:spPr>
          <a:xfrm>
            <a:off x="713232" y="1463040"/>
            <a:ext cx="3383280" cy="219456"/>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sp>
      <p:sp>
        <p:nvSpPr>
          <p:cNvPr id="13" name="Text 11"/>
          <p:cNvSpPr/>
          <p:nvPr/>
        </p:nvSpPr>
        <p:spPr>
          <a:xfrm>
            <a:off x="713232" y="2816352"/>
            <a:ext cx="3383280" cy="219456"/>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sp>
      <p:sp>
        <p:nvSpPr>
          <p:cNvPr id="21" name="Text 19"/>
          <p:cNvSpPr/>
          <p:nvPr/>
        </p:nvSpPr>
        <p:spPr>
          <a:xfrm>
            <a:off x="4754880" y="3886200"/>
            <a:ext cx="3840480" cy="457200"/>
          </a:xfrm>
          <a:prstGeom prst="rect">
            <a:avLst/>
          </a:prstGeom>
          <a:noFill/>
          <a:ln/>
        </p:spPr>
        <p:txBody>
          <a:bodyPr wrap="square" lIns="0" tIns="0" rIns="0" bIns="0" rtlCol="0" anchor="ctr"/>
          <a:lstStyle/>
          <a:p>
            <a:pPr indent="0" marL="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274320"/>
          </a:xfrm>
          <a:prstGeom prst="rect">
            <a:avLst/>
          </a:prstGeom>
          <a:noFill/>
          <a:ln/>
        </p:spPr>
        <p:txBody>
          <a:bodyPr wrap="square" lIns="0" tIns="0" rIns="0" bIns="0" rtlCol="0" anchor="ctr"/>
          <a:lstStyle/>
          <a:p>
            <a:pPr indent="0" marL="0">
              <a:buNone/>
            </a:pPr>
            <a:r>
              <a:rPr lang="en-US" sz="1000" dirty="0">
                <a:solidFill>
                  <a:srgbClr val="DC2626"/>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critical (−8 pts)      </a:t>
            </a:r>
            <a:pPr indent="0" marL="0">
              <a:buNone/>
            </a:pPr>
            <a:r>
              <a:rPr lang="en-US" sz="1000" dirty="0">
                <a:solidFill>
                  <a:srgbClr val="D97706"/>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high (−5 pts)      </a:t>
            </a:r>
            <a:pPr indent="0" marL="0">
              <a:buNone/>
            </a:pPr>
            <a:r>
              <a:rPr lang="en-US" sz="1000" dirty="0">
                <a:solidFill>
                  <a:srgbClr val="1C4E80"/>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sp>
      <p:sp>
        <p:nvSpPr>
          <p:cNvPr id="8" name="Text 6"/>
          <p:cNvSpPr/>
          <p:nvPr/>
        </p:nvSpPr>
        <p:spPr>
          <a:xfrm>
            <a:off x="822960" y="1673352"/>
            <a:ext cx="103327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sp>
      <p:sp>
        <p:nvSpPr>
          <p:cNvPr id="11" name="Text 9"/>
          <p:cNvSpPr/>
          <p:nvPr/>
        </p:nvSpPr>
        <p:spPr>
          <a:xfrm>
            <a:off x="2286000" y="1673352"/>
            <a:ext cx="98755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sp>
      <p:sp>
        <p:nvSpPr>
          <p:cNvPr id="15" name="Text 13"/>
          <p:cNvSpPr/>
          <p:nvPr/>
        </p:nvSpPr>
        <p:spPr>
          <a:xfrm>
            <a:off x="5029200" y="1673352"/>
            <a:ext cx="126187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sp>
      <p:sp>
        <p:nvSpPr>
          <p:cNvPr id="19" name="Text 17"/>
          <p:cNvSpPr/>
          <p:nvPr/>
        </p:nvSpPr>
        <p:spPr>
          <a:xfrm>
            <a:off x="822960" y="2770632"/>
            <a:ext cx="117043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sp>
      <p:sp>
        <p:nvSpPr>
          <p:cNvPr id="22" name="Text 20"/>
          <p:cNvSpPr/>
          <p:nvPr/>
        </p:nvSpPr>
        <p:spPr>
          <a:xfrm>
            <a:off x="2423160" y="2770632"/>
            <a:ext cx="139903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sp>
      <p:sp>
        <p:nvSpPr>
          <p:cNvPr id="25" name="Text 23"/>
          <p:cNvSpPr/>
          <p:nvPr/>
        </p:nvSpPr>
        <p:spPr>
          <a:xfrm>
            <a:off x="4251960" y="2770632"/>
            <a:ext cx="15361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sp>
      <p:sp>
        <p:nvSpPr>
          <p:cNvPr id="28" name="Text 26"/>
          <p:cNvSpPr/>
          <p:nvPr/>
        </p:nvSpPr>
        <p:spPr>
          <a:xfrm>
            <a:off x="6217920" y="2770632"/>
            <a:ext cx="89611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sp>
      <p:sp>
        <p:nvSpPr>
          <p:cNvPr id="32" name="Text 30"/>
          <p:cNvSpPr/>
          <p:nvPr/>
        </p:nvSpPr>
        <p:spPr>
          <a:xfrm>
            <a:off x="822960" y="3867912"/>
            <a:ext cx="15361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sp>
      <p:sp>
        <p:nvSpPr>
          <p:cNvPr id="35" name="Text 33"/>
          <p:cNvSpPr/>
          <p:nvPr/>
        </p:nvSpPr>
        <p:spPr>
          <a:xfrm>
            <a:off x="2788920" y="3867912"/>
            <a:ext cx="17647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sp>
      <p:sp>
        <p:nvSpPr>
          <p:cNvPr id="38" name="Text 36"/>
          <p:cNvSpPr/>
          <p:nvPr/>
        </p:nvSpPr>
        <p:spPr>
          <a:xfrm>
            <a:off x="4983480" y="3867912"/>
            <a:ext cx="89611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sp>
      <p:sp>
        <p:nvSpPr>
          <p:cNvPr id="40" name="Text 38"/>
          <p:cNvSpPr/>
          <p:nvPr/>
        </p:nvSpPr>
        <p:spPr>
          <a:xfrm>
            <a:off x="548640" y="4526280"/>
            <a:ext cx="8046720" cy="292608"/>
          </a:xfrm>
          <a:prstGeom prst="rect">
            <a:avLst/>
          </a:prstGeom>
          <a:noFill/>
          <a:ln/>
        </p:spPr>
        <p:txBody>
          <a:bodyPr wrap="square" lIns="0" tIns="0" rIns="0" bIns="0" rtlCol="0" anchor="ctr"/>
          <a:lstStyle/>
          <a:p>
            <a:pPr indent="0" marL="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sp>
      <p:sp>
        <p:nvSpPr>
          <p:cNvPr id="5" name="Text 3"/>
          <p:cNvSpPr/>
          <p:nvPr/>
        </p:nvSpPr>
        <p:spPr>
          <a:xfrm>
            <a:off x="5486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7" name="Text 5"/>
          <p:cNvSpPr/>
          <p:nvPr/>
        </p:nvSpPr>
        <p:spPr>
          <a:xfrm>
            <a:off x="5486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sp>
      <p:sp>
        <p:nvSpPr>
          <p:cNvPr id="9" name="Text 7"/>
          <p:cNvSpPr/>
          <p:nvPr/>
        </p:nvSpPr>
        <p:spPr>
          <a:xfrm>
            <a:off x="26060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1" name="Text 9"/>
          <p:cNvSpPr/>
          <p:nvPr/>
        </p:nvSpPr>
        <p:spPr>
          <a:xfrm>
            <a:off x="26060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sp>
      <p:sp>
        <p:nvSpPr>
          <p:cNvPr id="13" name="Text 11"/>
          <p:cNvSpPr/>
          <p:nvPr/>
        </p:nvSpPr>
        <p:spPr>
          <a:xfrm>
            <a:off x="46634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5" name="Text 13"/>
          <p:cNvSpPr/>
          <p:nvPr/>
        </p:nvSpPr>
        <p:spPr>
          <a:xfrm>
            <a:off x="46634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sp>
      <p:sp>
        <p:nvSpPr>
          <p:cNvPr id="17" name="Text 15"/>
          <p:cNvSpPr/>
          <p:nvPr/>
        </p:nvSpPr>
        <p:spPr>
          <a:xfrm>
            <a:off x="67208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19" name="Text 17"/>
          <p:cNvSpPr/>
          <p:nvPr/>
        </p:nvSpPr>
        <p:spPr>
          <a:xfrm>
            <a:off x="67208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0" name="Text 18"/>
          <p:cNvSpPr/>
          <p:nvPr/>
        </p:nvSpPr>
        <p:spPr>
          <a:xfrm>
            <a:off x="548640" y="2724912"/>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Letter grade scale</a:t>
            </a:r>
            <a:endParaRPr lang="en-US" sz="1250" dirty="0"/>
          </a:p>
        </p:txBody>
      </p:sp>
      <p:sp>
        <p:nvSpPr>
          <p:cNvPr id="21" name="Shape 19"/>
          <p:cNvSpPr/>
          <p:nvPr/>
        </p:nvSpPr>
        <p:spPr>
          <a:xfrm>
            <a:off x="548640" y="3035808"/>
            <a:ext cx="1572768" cy="457200"/>
          </a:xfrm>
          <a:prstGeom prst="rect">
            <a:avLst/>
          </a:prstGeom>
          <a:solidFill>
            <a:srgbClr val="059669"/>
          </a:solidFill>
          <a:ln w="12700">
            <a:solidFill>
              <a:srgbClr val="059669"/>
            </a:solidFill>
            <a:prstDash val="solid"/>
          </a:ln>
        </p:spPr>
      </p:sp>
      <p:sp>
        <p:nvSpPr>
          <p:cNvPr id="22" name="Text 20"/>
          <p:cNvSpPr/>
          <p:nvPr/>
        </p:nvSpPr>
        <p:spPr>
          <a:xfrm>
            <a:off x="685800"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a:t>
            </a:r>
            <a:pPr indent="0" marL="0">
              <a:buNone/>
            </a:pP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3035808"/>
            <a:ext cx="1572768" cy="457200"/>
          </a:xfrm>
          <a:prstGeom prst="rect">
            <a:avLst/>
          </a:prstGeom>
          <a:solidFill>
            <a:srgbClr val="0D9488"/>
          </a:solidFill>
          <a:ln w="12700">
            <a:solidFill>
              <a:srgbClr val="0D9488"/>
            </a:solidFill>
            <a:prstDash val="solid"/>
          </a:ln>
        </p:spPr>
      </p:sp>
      <p:sp>
        <p:nvSpPr>
          <p:cNvPr id="24" name="Text 22"/>
          <p:cNvSpPr/>
          <p:nvPr/>
        </p:nvSpPr>
        <p:spPr>
          <a:xfrm>
            <a:off x="2295144"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  </a:t>
            </a:r>
            <a:pPr indent="0" marL="0">
              <a:buNone/>
            </a:pP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3035808"/>
            <a:ext cx="1572768" cy="457200"/>
          </a:xfrm>
          <a:prstGeom prst="rect">
            <a:avLst/>
          </a:prstGeom>
          <a:solidFill>
            <a:srgbClr val="1C4E80"/>
          </a:solidFill>
          <a:ln w="12700">
            <a:solidFill>
              <a:srgbClr val="1C4E80"/>
            </a:solidFill>
            <a:prstDash val="solid"/>
          </a:ln>
        </p:spPr>
      </p:sp>
      <p:sp>
        <p:nvSpPr>
          <p:cNvPr id="26" name="Text 24"/>
          <p:cNvSpPr/>
          <p:nvPr/>
        </p:nvSpPr>
        <p:spPr>
          <a:xfrm>
            <a:off x="3904488"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  </a:t>
            </a:r>
            <a:pPr indent="0" marL="0">
              <a:buNone/>
            </a:pP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3035808"/>
            <a:ext cx="1572768" cy="457200"/>
          </a:xfrm>
          <a:prstGeom prst="rect">
            <a:avLst/>
          </a:prstGeom>
          <a:solidFill>
            <a:srgbClr val="D97706"/>
          </a:solidFill>
          <a:ln w="12700">
            <a:solidFill>
              <a:srgbClr val="D97706"/>
            </a:solidFill>
            <a:prstDash val="solid"/>
          </a:ln>
        </p:spPr>
      </p:sp>
      <p:sp>
        <p:nvSpPr>
          <p:cNvPr id="28" name="Text 26"/>
          <p:cNvSpPr/>
          <p:nvPr/>
        </p:nvSpPr>
        <p:spPr>
          <a:xfrm>
            <a:off x="5513832"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  </a:t>
            </a:r>
            <a:pPr indent="0" marL="0">
              <a:buNone/>
            </a:pP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3035808"/>
            <a:ext cx="1572768" cy="457200"/>
          </a:xfrm>
          <a:prstGeom prst="rect">
            <a:avLst/>
          </a:prstGeom>
          <a:solidFill>
            <a:srgbClr val="DC2626"/>
          </a:solidFill>
          <a:ln w="12700">
            <a:solidFill>
              <a:srgbClr val="DC2626"/>
            </a:solidFill>
            <a:prstDash val="solid"/>
          </a:ln>
        </p:spPr>
      </p:sp>
      <p:sp>
        <p:nvSpPr>
          <p:cNvPr id="30" name="Text 28"/>
          <p:cNvSpPr/>
          <p:nvPr/>
        </p:nvSpPr>
        <p:spPr>
          <a:xfrm>
            <a:off x="7123176"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  </a:t>
            </a:r>
            <a:pPr indent="0" marL="0">
              <a:buNone/>
            </a:pP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822192"/>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4114800"/>
            <a:ext cx="8046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 single number tells teams whether quality is improving; the per-category breakdown tells them which dimension needs attention. 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 / 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9319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sp>
      <p:sp>
        <p:nvSpPr>
          <p:cNvPr id="9" name="Text 7"/>
          <p:cNvSpPr/>
          <p:nvPr/>
        </p:nvSpPr>
        <p:spPr>
          <a:xfrm>
            <a:off x="548640" y="1655064"/>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sp>
      <p:sp>
        <p:nvSpPr>
          <p:cNvPr id="13" name="Text 11"/>
          <p:cNvSpPr/>
          <p:nvPr/>
        </p:nvSpPr>
        <p:spPr>
          <a:xfrm>
            <a:off x="548640" y="1956816"/>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sp>
      <p:sp>
        <p:nvSpPr>
          <p:cNvPr id="17" name="Text 15"/>
          <p:cNvSpPr/>
          <p:nvPr/>
        </p:nvSpPr>
        <p:spPr>
          <a:xfrm>
            <a:off x="548640" y="2258568"/>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sp>
      <p:sp>
        <p:nvSpPr>
          <p:cNvPr id="21" name="Text 19"/>
          <p:cNvSpPr/>
          <p:nvPr/>
        </p:nvSpPr>
        <p:spPr>
          <a:xfrm>
            <a:off x="548640" y="2560320"/>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sp>
      <p:sp>
        <p:nvSpPr>
          <p:cNvPr id="25" name="Text 23"/>
          <p:cNvSpPr/>
          <p:nvPr/>
        </p:nvSpPr>
        <p:spPr>
          <a:xfrm>
            <a:off x="548640" y="2944368"/>
            <a:ext cx="3931920" cy="292608"/>
          </a:xfrm>
          <a:prstGeom prst="rect">
            <a:avLst/>
          </a:prstGeom>
          <a:noFill/>
          <a:ln/>
        </p:spPr>
        <p:txBody>
          <a:bodyPr wrap="square" lIns="0" tIns="0" rIns="0" bIns="0" rtlCol="0" anchor="ctr"/>
          <a:lstStyle/>
          <a:p>
            <a:pPr indent="0" marL="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Deductions spread across all four categories: the anti-pattern load clamps AP to 0; Architecture loses 9 to dependency-graph coupling; Code Quality 8 to smell density; 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sp>
      <p:sp>
        <p:nvSpPr>
          <p:cNvPr id="30" name="Text 28"/>
          <p:cNvSpPr/>
          <p:nvPr/>
        </p:nvSpPr>
        <p:spPr>
          <a:xfrm>
            <a:off x="8028432" y="13533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sp>
      <p:sp>
        <p:nvSpPr>
          <p:cNvPr id="34" name="Text 32"/>
          <p:cNvSpPr/>
          <p:nvPr/>
        </p:nvSpPr>
        <p:spPr>
          <a:xfrm>
            <a:off x="8028432" y="18105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sp>
      <p:sp>
        <p:nvSpPr>
          <p:cNvPr id="38" name="Text 36"/>
          <p:cNvSpPr/>
          <p:nvPr/>
        </p:nvSpPr>
        <p:spPr>
          <a:xfrm>
            <a:off x="8028432" y="22677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sp>
      <p:sp>
        <p:nvSpPr>
          <p:cNvPr id="42" name="Text 40"/>
          <p:cNvSpPr/>
          <p:nvPr/>
        </p:nvSpPr>
        <p:spPr>
          <a:xfrm>
            <a:off x="8028432" y="27249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40</a:t>
            </a:r>
            <a:pPr indent="0" marL="0">
              <a:buNone/>
            </a:pP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4" name="Text 42"/>
          <p:cNvSpPr/>
          <p:nvPr/>
        </p:nvSpPr>
        <p:spPr>
          <a:xfrm>
            <a:off x="4937760" y="4206240"/>
            <a:ext cx="36576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0 + 12 + 16 + 12</a:t>
            </a:r>
            <a:endParaRPr lang="en-US" sz="11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Evaluation methodology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Goal: demonstrate feasibility across heterogeneous real-world repositories</a:t>
            </a:r>
            <a:endParaRPr lang="en-US" sz="1250" dirty="0"/>
          </a:p>
        </p:txBody>
      </p:sp>
      <p:sp>
        <p:nvSpPr>
          <p:cNvPr id="5" name="Shape 3"/>
          <p:cNvSpPr/>
          <p:nvPr/>
        </p:nvSpPr>
        <p:spPr>
          <a:xfrm>
            <a:off x="548640" y="1481328"/>
            <a:ext cx="2331720" cy="41148"/>
          </a:xfrm>
          <a:prstGeom prst="rect">
            <a:avLst/>
          </a:prstGeom>
          <a:solidFill>
            <a:srgbClr val="0D9488"/>
          </a:solidFill>
          <a:ln w="12700">
            <a:solidFill>
              <a:srgbClr val="0D9488"/>
            </a:solidFill>
            <a:prstDash val="solid"/>
          </a:ln>
        </p:spPr>
      </p:sp>
      <p:sp>
        <p:nvSpPr>
          <p:cNvPr id="6" name="Text 4"/>
          <p:cNvSpPr/>
          <p:nvPr/>
        </p:nvSpPr>
        <p:spPr>
          <a:xfrm>
            <a:off x="5486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11</a:t>
            </a:r>
            <a:endParaRPr lang="en-US" sz="2900" dirty="0"/>
          </a:p>
        </p:txBody>
      </p:sp>
      <p:sp>
        <p:nvSpPr>
          <p:cNvPr id="7" name="Text 5"/>
          <p:cNvSpPr/>
          <p:nvPr/>
        </p:nvSpPr>
        <p:spPr>
          <a:xfrm>
            <a:off x="5486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a:t>
            </a:r>
            <a:endParaRPr lang="en-US" sz="1200" dirty="0"/>
          </a:p>
        </p:txBody>
      </p:sp>
      <p:sp>
        <p:nvSpPr>
          <p:cNvPr id="8" name="Text 6"/>
          <p:cNvSpPr/>
          <p:nvPr/>
        </p:nvSpPr>
        <p:spPr>
          <a:xfrm>
            <a:off x="5486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Open-source Java/Spring Boot microservice systems</a:t>
            </a:r>
            <a:endParaRPr lang="en-US" sz="950" dirty="0"/>
          </a:p>
        </p:txBody>
      </p:sp>
      <p:sp>
        <p:nvSpPr>
          <p:cNvPr id="9" name="Shape 7"/>
          <p:cNvSpPr/>
          <p:nvPr/>
        </p:nvSpPr>
        <p:spPr>
          <a:xfrm>
            <a:off x="3291840" y="1481328"/>
            <a:ext cx="2331720" cy="41148"/>
          </a:xfrm>
          <a:prstGeom prst="rect">
            <a:avLst/>
          </a:prstGeom>
          <a:solidFill>
            <a:srgbClr val="1C4E80"/>
          </a:solidFill>
          <a:ln w="12700">
            <a:solidFill>
              <a:srgbClr val="1C4E80"/>
            </a:solidFill>
            <a:prstDash val="solid"/>
          </a:ln>
        </p:spPr>
      </p:sp>
      <p:sp>
        <p:nvSpPr>
          <p:cNvPr id="10" name="Text 8"/>
          <p:cNvSpPr/>
          <p:nvPr/>
        </p:nvSpPr>
        <p:spPr>
          <a:xfrm>
            <a:off x="32918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130</a:t>
            </a:r>
            <a:endParaRPr lang="en-US" sz="2900" dirty="0"/>
          </a:p>
        </p:txBody>
      </p:sp>
      <p:sp>
        <p:nvSpPr>
          <p:cNvPr id="11" name="Text 9"/>
          <p:cNvSpPr/>
          <p:nvPr/>
        </p:nvSpPr>
        <p:spPr>
          <a:xfrm>
            <a:off x="32918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Detected services</a:t>
            </a:r>
            <a:endParaRPr lang="en-US" sz="1200" dirty="0"/>
          </a:p>
        </p:txBody>
      </p:sp>
      <p:sp>
        <p:nvSpPr>
          <p:cNvPr id="12" name="Text 10"/>
          <p:cNvSpPr/>
          <p:nvPr/>
        </p:nvSpPr>
        <p:spPr>
          <a:xfrm>
            <a:off x="32918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Service modules identified by the deployability gate</a:t>
            </a:r>
            <a:endParaRPr lang="en-US" sz="950" dirty="0"/>
          </a:p>
        </p:txBody>
      </p:sp>
      <p:sp>
        <p:nvSpPr>
          <p:cNvPr id="13" name="Shape 11"/>
          <p:cNvSpPr/>
          <p:nvPr/>
        </p:nvSpPr>
        <p:spPr>
          <a:xfrm>
            <a:off x="6035040" y="1481328"/>
            <a:ext cx="2331720" cy="41148"/>
          </a:xfrm>
          <a:prstGeom prst="rect">
            <a:avLst/>
          </a:prstGeom>
          <a:solidFill>
            <a:srgbClr val="D97706"/>
          </a:solidFill>
          <a:ln w="12700">
            <a:solidFill>
              <a:srgbClr val="D97706"/>
            </a:solidFill>
            <a:prstDash val="solid"/>
          </a:ln>
        </p:spPr>
      </p:sp>
      <p:sp>
        <p:nvSpPr>
          <p:cNvPr id="14" name="Text 12"/>
          <p:cNvSpPr/>
          <p:nvPr/>
        </p:nvSpPr>
        <p:spPr>
          <a:xfrm>
            <a:off x="6035040" y="1627632"/>
            <a:ext cx="2331720" cy="502920"/>
          </a:xfrm>
          <a:prstGeom prst="rect">
            <a:avLst/>
          </a:prstGeom>
          <a:noFill/>
          <a:ln/>
        </p:spPr>
        <p:txBody>
          <a:bodyPr wrap="square" lIns="0" tIns="0" rIns="0" bIns="0" rtlCol="0" anchor="ctr"/>
          <a:lstStyle/>
          <a:p>
            <a:pPr indent="0" marL="0">
              <a:buNone/>
            </a:pPr>
            <a:r>
              <a:rPr lang="en-US" sz="2900" b="1" dirty="0">
                <a:solidFill>
                  <a:srgbClr val="0F2A44"/>
                </a:solidFill>
                <a:latin typeface="Calibri" pitchFamily="34" charset="0"/>
                <a:ea typeface="Calibri" pitchFamily="34" charset="-122"/>
                <a:cs typeface="Calibri" pitchFamily="34" charset="-120"/>
              </a:rPr>
              <a:t>~274k</a:t>
            </a:r>
            <a:endParaRPr lang="en-US" sz="2900" dirty="0"/>
          </a:p>
        </p:txBody>
      </p:sp>
      <p:sp>
        <p:nvSpPr>
          <p:cNvPr id="15" name="Text 13"/>
          <p:cNvSpPr/>
          <p:nvPr/>
        </p:nvSpPr>
        <p:spPr>
          <a:xfrm>
            <a:off x="6035040" y="2139696"/>
            <a:ext cx="233172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Code volume</a:t>
            </a:r>
            <a:endParaRPr lang="en-US" sz="1200" dirty="0"/>
          </a:p>
        </p:txBody>
      </p:sp>
      <p:sp>
        <p:nvSpPr>
          <p:cNvPr id="16" name="Text 14"/>
          <p:cNvSpPr/>
          <p:nvPr/>
        </p:nvSpPr>
        <p:spPr>
          <a:xfrm>
            <a:off x="6035040" y="2432304"/>
            <a:ext cx="2331720" cy="530352"/>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Lines of Java code analysed across all projects</a:t>
            </a:r>
            <a:endParaRPr lang="en-US" sz="950" dirty="0"/>
          </a:p>
        </p:txBody>
      </p:sp>
      <p:sp>
        <p:nvSpPr>
          <p:cNvPr id="17" name="Text 15"/>
          <p:cNvSpPr/>
          <p:nvPr/>
        </p:nvSpPr>
        <p:spPr>
          <a:xfrm>
            <a:off x="548640" y="3218688"/>
            <a:ext cx="356616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What was measured</a:t>
            </a:r>
            <a:endParaRPr lang="en-US" sz="1300" dirty="0"/>
          </a:p>
        </p:txBody>
      </p:sp>
      <p:sp>
        <p:nvSpPr>
          <p:cNvPr id="18" name="Text 16"/>
          <p:cNvSpPr/>
          <p:nvPr/>
        </p:nvSpPr>
        <p:spPr>
          <a:xfrm>
            <a:off x="749808" y="3566160"/>
            <a:ext cx="3566160" cy="91440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service count and Java LOC</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anti-pattern instances and severity</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dependency graph metrics and cycle count</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code-smell density and final health score</a:t>
            </a:r>
            <a:endParaRPr lang="en-US" sz="1050" dirty="0"/>
          </a:p>
        </p:txBody>
      </p:sp>
      <p:sp>
        <p:nvSpPr>
          <p:cNvPr id="19" name="Text 17"/>
          <p:cNvSpPr/>
          <p:nvPr/>
        </p:nvSpPr>
        <p:spPr>
          <a:xfrm>
            <a:off x="4754880" y="3218688"/>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Interpretation</a:t>
            </a:r>
            <a:endParaRPr lang="en-US" sz="1300" dirty="0"/>
          </a:p>
        </p:txBody>
      </p:sp>
      <p:sp>
        <p:nvSpPr>
          <p:cNvPr id="20" name="Text 18"/>
          <p:cNvSpPr/>
          <p:nvPr/>
        </p:nvSpPr>
        <p:spPr>
          <a:xfrm>
            <a:off x="4754880" y="3547872"/>
            <a:ext cx="3840480" cy="9601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This is a feasibility study, not a statistical precision/recall claim. A labelled benchmark for microservice anti-patterns is not yet widely available, so the evaluation focuses on whether the full pipeline can process real systems and produce explainable, comparable outputs.</a:t>
            </a:r>
            <a:endParaRPr lang="en-US" sz="1050" dirty="0"/>
          </a:p>
        </p:txBody>
      </p:sp>
      <p:sp>
        <p:nvSpPr>
          <p:cNvPr id="21" name="Text 19"/>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Evaluation: eleven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graphicFrame>
        <p:nvGraphicFramePr>
          <p:cNvPr id="4" name="Chart 0" descr=""/>
          <p:cNvGraphicFramePr/>
          <p:nvPr/>
        </p:nvGraphicFramePr>
        <p:xfrm>
          <a:off x="502920" y="960120"/>
          <a:ext cx="5029200" cy="2697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sp>
      <p:sp>
        <p:nvSpPr>
          <p:cNvPr id="7" name="Text 4"/>
          <p:cNvSpPr/>
          <p:nvPr/>
        </p:nvSpPr>
        <p:spPr>
          <a:xfrm>
            <a:off x="5943600" y="133502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sp>
      <p:sp>
        <p:nvSpPr>
          <p:cNvPr id="41" name="Text 38"/>
          <p:cNvSpPr/>
          <p:nvPr/>
        </p:nvSpPr>
        <p:spPr>
          <a:xfrm>
            <a:off x="5943600" y="3584448"/>
            <a:ext cx="1417320" cy="201168"/>
          </a:xfrm>
          <a:prstGeom prst="rect">
            <a:avLst/>
          </a:prstGeom>
          <a:noFill/>
          <a:ln/>
        </p:spPr>
        <p:txBody>
          <a:bodyPr wrap="square" lIns="0" tIns="0" rIns="0" bIns="0" rtlCol="0" anchor="ctr"/>
          <a:lstStyle/>
          <a:p>
            <a:pPr indent="0" marL="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algn="ctr" indent="0" marL="0">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algn="r" indent="0" marL="0">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 API Versioning Absence (37) and Nano Service (23) dominate</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PiggyMetrics and piomin broadened ESB Misuse and Nano Service coverage; Cyclic Dependency and Wrong Cuts detected in microservice-recruit</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sp>
      <p:sp>
        <p:nvSpPr>
          <p:cNvPr id="3" name="Text 1"/>
          <p:cNvSpPr/>
          <p:nvPr/>
        </p:nvSpPr>
        <p:spPr>
          <a:xfrm>
            <a:off x="548640" y="1051560"/>
            <a:ext cx="7863840" cy="77724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indent="0" marL="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3840480" cy="347472"/>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Evaluation on 11 open-source projects; not a statistical claim</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sp>
      <p:sp>
        <p:nvSpPr>
          <p:cNvPr id="3" name="Text 1"/>
          <p:cNvSpPr/>
          <p:nvPr/>
        </p:nvSpPr>
        <p:spPr>
          <a:xfrm>
            <a:off x="548640" y="1097280"/>
            <a:ext cx="786384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Conclusions</a:t>
            </a:r>
            <a:endParaRPr lang="en-US" sz="4400" dirty="0"/>
          </a:p>
        </p:txBody>
      </p:sp>
      <p:sp>
        <p:nvSpPr>
          <p:cNvPr id="4" name="Text 2"/>
          <p:cNvSpPr/>
          <p:nvPr/>
        </p:nvSpPr>
        <p:spPr>
          <a:xfrm>
            <a:off x="548640" y="1874520"/>
            <a:ext cx="7863840" cy="411480"/>
          </a:xfrm>
          <a:prstGeom prst="rect">
            <a:avLst/>
          </a:prstGeom>
          <a:noFill/>
          <a:ln/>
        </p:spPr>
        <p:txBody>
          <a:bodyPr wrap="square" lIns="0" tIns="0" rIns="0" bIns="0" rtlCol="0" anchor="ctr"/>
          <a:lstStyle/>
          <a:p>
            <a:pPr indent="0" marL="0">
              <a:buNone/>
            </a:pPr>
            <a:r>
              <a:rPr lang="en-US" sz="1800" i="1" dirty="0">
                <a:solidFill>
                  <a:srgbClr val="DBEAFE"/>
                </a:solidFill>
                <a:latin typeface="Calibri" pitchFamily="34" charset="0"/>
                <a:ea typeface="Calibri" pitchFamily="34" charset="-122"/>
                <a:cs typeface="Calibri" pitchFamily="34" charset="-120"/>
              </a:rPr>
              <a:t>Questions &amp; discussion</a:t>
            </a:r>
            <a:endParaRPr lang="en-US" sz="1800" dirty="0"/>
          </a:p>
        </p:txBody>
      </p:sp>
      <p:sp>
        <p:nvSpPr>
          <p:cNvPr id="5" name="Text 3"/>
          <p:cNvSpPr/>
          <p:nvPr/>
        </p:nvSpPr>
        <p:spPr>
          <a:xfrm>
            <a:off x="548640" y="2697480"/>
            <a:ext cx="7863840" cy="274320"/>
          </a:xfrm>
          <a:prstGeom prst="rect">
            <a:avLst/>
          </a:prstGeom>
          <a:noFill/>
          <a:ln/>
        </p:spPr>
        <p:txBody>
          <a:bodyPr wrap="square" lIns="0" tIns="0" rIns="0" bIns="0" rtlCol="0" anchor="ctr"/>
          <a:lstStyle/>
          <a:p>
            <a:pPr indent="0" marL="0">
              <a:buNone/>
            </a:pPr>
            <a:r>
              <a:rPr lang="en-US" sz="1100" b="1" spc="300" kern="0" dirty="0">
                <a:solidFill>
                  <a:srgbClr val="0D9488"/>
                </a:solidFill>
                <a:latin typeface="Calibri" pitchFamily="34" charset="0"/>
                <a:ea typeface="Calibri" pitchFamily="34" charset="-122"/>
                <a:cs typeface="Calibri" pitchFamily="34" charset="-120"/>
              </a:rPr>
              <a:t>FINAL CLAIMS</a:t>
            </a:r>
            <a:endParaRPr lang="en-US" sz="1100" dirty="0"/>
          </a:p>
        </p:txBody>
      </p:sp>
      <p:sp>
        <p:nvSpPr>
          <p:cNvPr id="6" name="Text 4"/>
          <p:cNvSpPr/>
          <p:nvPr/>
        </p:nvSpPr>
        <p:spPr>
          <a:xfrm>
            <a:off x="731520" y="301752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Open-source web application, ready for CI/CD integration</a:t>
            </a:r>
            <a:endParaRPr lang="en-US" sz="1250" dirty="0"/>
          </a:p>
        </p:txBody>
      </p:sp>
      <p:sp>
        <p:nvSpPr>
          <p:cNvPr id="7" name="Text 5"/>
          <p:cNvSpPr/>
          <p:nvPr/>
        </p:nvSpPr>
        <p:spPr>
          <a:xfrm>
            <a:off x="548640" y="4617720"/>
            <a:ext cx="7863840" cy="274320"/>
          </a:xfrm>
          <a:prstGeom prst="rect">
            <a:avLst/>
          </a:prstGeom>
          <a:noFill/>
          <a:ln/>
        </p:spPr>
        <p:txBody>
          <a:bodyPr wrap="square" lIns="0" tIns="0" rIns="0" bIns="0" rtlCol="0" anchor="ctr"/>
          <a:lstStyle/>
          <a:p>
            <a:pPr indent="0" marL="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
        <p:nvSpPr>
          <p:cNvPr id="8" name="Text 6"/>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14 / 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Selected bibliography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51560"/>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Lewis &amp; Fowler (2014)</a:t>
            </a:r>
            <a:endParaRPr lang="en-US" sz="1050" dirty="0"/>
          </a:p>
        </p:txBody>
      </p:sp>
      <p:sp>
        <p:nvSpPr>
          <p:cNvPr id="5" name="Text 3"/>
          <p:cNvSpPr/>
          <p:nvPr/>
        </p:nvSpPr>
        <p:spPr>
          <a:xfrm>
            <a:off x="548640" y="1298448"/>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Microservices: a definition of this new architectural term</a:t>
            </a:r>
            <a:endParaRPr lang="en-US" sz="920" dirty="0"/>
          </a:p>
        </p:txBody>
      </p:sp>
      <p:sp>
        <p:nvSpPr>
          <p:cNvPr id="6" name="Shape 4"/>
          <p:cNvSpPr/>
          <p:nvPr/>
        </p:nvSpPr>
        <p:spPr>
          <a:xfrm>
            <a:off x="548640" y="1664208"/>
            <a:ext cx="3794760" cy="9144"/>
          </a:xfrm>
          <a:prstGeom prst="rect">
            <a:avLst/>
          </a:prstGeom>
          <a:solidFill>
            <a:srgbClr val="D8DEE6"/>
          </a:solidFill>
          <a:ln w="12700">
            <a:solidFill>
              <a:srgbClr val="D8DEE6"/>
            </a:solidFill>
            <a:prstDash val="solid"/>
          </a:ln>
        </p:spPr>
      </p:sp>
      <p:sp>
        <p:nvSpPr>
          <p:cNvPr id="7" name="Text 5"/>
          <p:cNvSpPr/>
          <p:nvPr/>
        </p:nvSpPr>
        <p:spPr>
          <a:xfrm>
            <a:off x="548640" y="1764792"/>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Newman (2015)</a:t>
            </a:r>
            <a:endParaRPr lang="en-US" sz="1050" dirty="0"/>
          </a:p>
        </p:txBody>
      </p:sp>
      <p:sp>
        <p:nvSpPr>
          <p:cNvPr id="8" name="Text 6"/>
          <p:cNvSpPr/>
          <p:nvPr/>
        </p:nvSpPr>
        <p:spPr>
          <a:xfrm>
            <a:off x="548640" y="2011680"/>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Building Microservices: Designing Fine-Grained Systems</a:t>
            </a:r>
            <a:endParaRPr lang="en-US" sz="920" dirty="0"/>
          </a:p>
        </p:txBody>
      </p:sp>
      <p:sp>
        <p:nvSpPr>
          <p:cNvPr id="9" name="Shape 7"/>
          <p:cNvSpPr/>
          <p:nvPr/>
        </p:nvSpPr>
        <p:spPr>
          <a:xfrm>
            <a:off x="548640" y="2377440"/>
            <a:ext cx="3794760" cy="9144"/>
          </a:xfrm>
          <a:prstGeom prst="rect">
            <a:avLst/>
          </a:prstGeom>
          <a:solidFill>
            <a:srgbClr val="D8DEE6"/>
          </a:solidFill>
          <a:ln w="12700">
            <a:solidFill>
              <a:srgbClr val="D8DEE6"/>
            </a:solidFill>
            <a:prstDash val="solid"/>
          </a:ln>
        </p:spPr>
      </p:sp>
      <p:sp>
        <p:nvSpPr>
          <p:cNvPr id="10" name="Text 8"/>
          <p:cNvSpPr/>
          <p:nvPr/>
        </p:nvSpPr>
        <p:spPr>
          <a:xfrm>
            <a:off x="548640" y="2478024"/>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Richardson (2018)</a:t>
            </a:r>
            <a:endParaRPr lang="en-US" sz="1050" dirty="0"/>
          </a:p>
        </p:txBody>
      </p:sp>
      <p:sp>
        <p:nvSpPr>
          <p:cNvPr id="11" name="Text 9"/>
          <p:cNvSpPr/>
          <p:nvPr/>
        </p:nvSpPr>
        <p:spPr>
          <a:xfrm>
            <a:off x="548640" y="2724912"/>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Microservices Patterns: With Examples in Java</a:t>
            </a:r>
            <a:endParaRPr lang="en-US" sz="920" dirty="0"/>
          </a:p>
        </p:txBody>
      </p:sp>
      <p:sp>
        <p:nvSpPr>
          <p:cNvPr id="12" name="Shape 10"/>
          <p:cNvSpPr/>
          <p:nvPr/>
        </p:nvSpPr>
        <p:spPr>
          <a:xfrm>
            <a:off x="548640" y="3090672"/>
            <a:ext cx="3794760" cy="9144"/>
          </a:xfrm>
          <a:prstGeom prst="rect">
            <a:avLst/>
          </a:prstGeom>
          <a:solidFill>
            <a:srgbClr val="D8DEE6"/>
          </a:solidFill>
          <a:ln w="12700">
            <a:solidFill>
              <a:srgbClr val="D8DEE6"/>
            </a:solidFill>
            <a:prstDash val="solid"/>
          </a:ln>
        </p:spPr>
      </p:sp>
      <p:sp>
        <p:nvSpPr>
          <p:cNvPr id="13" name="Text 11"/>
          <p:cNvSpPr/>
          <p:nvPr/>
        </p:nvSpPr>
        <p:spPr>
          <a:xfrm>
            <a:off x="548640" y="3191256"/>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Taibi &amp; Lenarduzzi (2018)</a:t>
            </a:r>
            <a:endParaRPr lang="en-US" sz="1050" dirty="0"/>
          </a:p>
        </p:txBody>
      </p:sp>
      <p:sp>
        <p:nvSpPr>
          <p:cNvPr id="14" name="Text 12"/>
          <p:cNvSpPr/>
          <p:nvPr/>
        </p:nvSpPr>
        <p:spPr>
          <a:xfrm>
            <a:off x="548640" y="3438144"/>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On the Definition of Microservice Bad Smells</a:t>
            </a:r>
            <a:endParaRPr lang="en-US" sz="920" dirty="0"/>
          </a:p>
        </p:txBody>
      </p:sp>
      <p:sp>
        <p:nvSpPr>
          <p:cNvPr id="15" name="Shape 13"/>
          <p:cNvSpPr/>
          <p:nvPr/>
        </p:nvSpPr>
        <p:spPr>
          <a:xfrm>
            <a:off x="548640" y="3803904"/>
            <a:ext cx="3794760" cy="9144"/>
          </a:xfrm>
          <a:prstGeom prst="rect">
            <a:avLst/>
          </a:prstGeom>
          <a:solidFill>
            <a:srgbClr val="D8DEE6"/>
          </a:solidFill>
          <a:ln w="12700">
            <a:solidFill>
              <a:srgbClr val="D8DEE6"/>
            </a:solidFill>
            <a:prstDash val="solid"/>
          </a:ln>
        </p:spPr>
      </p:sp>
      <p:sp>
        <p:nvSpPr>
          <p:cNvPr id="16" name="Text 14"/>
          <p:cNvSpPr/>
          <p:nvPr/>
        </p:nvSpPr>
        <p:spPr>
          <a:xfrm>
            <a:off x="548640" y="3904488"/>
            <a:ext cx="379476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Soldani, Tamburri &amp; Van Den Heuvel (2018)</a:t>
            </a:r>
            <a:endParaRPr lang="en-US" sz="1050" dirty="0"/>
          </a:p>
        </p:txBody>
      </p:sp>
      <p:sp>
        <p:nvSpPr>
          <p:cNvPr id="17" name="Text 15"/>
          <p:cNvSpPr/>
          <p:nvPr/>
        </p:nvSpPr>
        <p:spPr>
          <a:xfrm>
            <a:off x="548640" y="4151376"/>
            <a:ext cx="379476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The Pains and Gains of Microservices</a:t>
            </a:r>
            <a:endParaRPr lang="en-US" sz="920" dirty="0"/>
          </a:p>
        </p:txBody>
      </p:sp>
      <p:sp>
        <p:nvSpPr>
          <p:cNvPr id="18" name="Text 16"/>
          <p:cNvSpPr/>
          <p:nvPr/>
        </p:nvSpPr>
        <p:spPr>
          <a:xfrm>
            <a:off x="4617720" y="1051560"/>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Neri et al. (2020)</a:t>
            </a:r>
            <a:endParaRPr lang="en-US" sz="1050" dirty="0"/>
          </a:p>
        </p:txBody>
      </p:sp>
      <p:sp>
        <p:nvSpPr>
          <p:cNvPr id="19" name="Text 17"/>
          <p:cNvSpPr/>
          <p:nvPr/>
        </p:nvSpPr>
        <p:spPr>
          <a:xfrm>
            <a:off x="4617720" y="1298448"/>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Design Principles, Architectural Smells and Refactorings for Microservices</a:t>
            </a:r>
            <a:endParaRPr lang="en-US" sz="920" dirty="0"/>
          </a:p>
        </p:txBody>
      </p:sp>
      <p:sp>
        <p:nvSpPr>
          <p:cNvPr id="20" name="Shape 18"/>
          <p:cNvSpPr/>
          <p:nvPr/>
        </p:nvSpPr>
        <p:spPr>
          <a:xfrm>
            <a:off x="4617720" y="1664208"/>
            <a:ext cx="3977640" cy="9144"/>
          </a:xfrm>
          <a:prstGeom prst="rect">
            <a:avLst/>
          </a:prstGeom>
          <a:solidFill>
            <a:srgbClr val="D8DEE6"/>
          </a:solidFill>
          <a:ln w="12700">
            <a:solidFill>
              <a:srgbClr val="D8DEE6"/>
            </a:solidFill>
            <a:prstDash val="solid"/>
          </a:ln>
        </p:spPr>
      </p:sp>
      <p:sp>
        <p:nvSpPr>
          <p:cNvPr id="21" name="Text 19"/>
          <p:cNvSpPr/>
          <p:nvPr/>
        </p:nvSpPr>
        <p:spPr>
          <a:xfrm>
            <a:off x="4617720" y="1764792"/>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Pawlak et al. (2016)</a:t>
            </a:r>
            <a:endParaRPr lang="en-US" sz="1050" dirty="0"/>
          </a:p>
        </p:txBody>
      </p:sp>
      <p:sp>
        <p:nvSpPr>
          <p:cNvPr id="22" name="Text 20"/>
          <p:cNvSpPr/>
          <p:nvPr/>
        </p:nvSpPr>
        <p:spPr>
          <a:xfrm>
            <a:off x="4617720" y="2011680"/>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Spoon: A Library for Implementing Analyses and Transformations of Java Source Code</a:t>
            </a:r>
            <a:endParaRPr lang="en-US" sz="920" dirty="0"/>
          </a:p>
        </p:txBody>
      </p:sp>
      <p:sp>
        <p:nvSpPr>
          <p:cNvPr id="23" name="Shape 21"/>
          <p:cNvSpPr/>
          <p:nvPr/>
        </p:nvSpPr>
        <p:spPr>
          <a:xfrm>
            <a:off x="4617720" y="2377440"/>
            <a:ext cx="3977640" cy="9144"/>
          </a:xfrm>
          <a:prstGeom prst="rect">
            <a:avLst/>
          </a:prstGeom>
          <a:solidFill>
            <a:srgbClr val="D8DEE6"/>
          </a:solidFill>
          <a:ln w="12700">
            <a:solidFill>
              <a:srgbClr val="D8DEE6"/>
            </a:solidFill>
            <a:prstDash val="solid"/>
          </a:ln>
        </p:spPr>
      </p:sp>
      <p:sp>
        <p:nvSpPr>
          <p:cNvPr id="24" name="Text 22"/>
          <p:cNvSpPr/>
          <p:nvPr/>
        </p:nvSpPr>
        <p:spPr>
          <a:xfrm>
            <a:off x="4617720" y="2478024"/>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Sharma &amp; Spinellis (2018)</a:t>
            </a:r>
            <a:endParaRPr lang="en-US" sz="1050" dirty="0"/>
          </a:p>
        </p:txBody>
      </p:sp>
      <p:sp>
        <p:nvSpPr>
          <p:cNvPr id="25" name="Text 23"/>
          <p:cNvSpPr/>
          <p:nvPr/>
        </p:nvSpPr>
        <p:spPr>
          <a:xfrm>
            <a:off x="4617720" y="2724912"/>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A Survey on Software Smells</a:t>
            </a:r>
            <a:endParaRPr lang="en-US" sz="920" dirty="0"/>
          </a:p>
        </p:txBody>
      </p:sp>
      <p:sp>
        <p:nvSpPr>
          <p:cNvPr id="26" name="Shape 24"/>
          <p:cNvSpPr/>
          <p:nvPr/>
        </p:nvSpPr>
        <p:spPr>
          <a:xfrm>
            <a:off x="4617720" y="3090672"/>
            <a:ext cx="3977640" cy="9144"/>
          </a:xfrm>
          <a:prstGeom prst="rect">
            <a:avLst/>
          </a:prstGeom>
          <a:solidFill>
            <a:srgbClr val="D8DEE6"/>
          </a:solidFill>
          <a:ln w="12700">
            <a:solidFill>
              <a:srgbClr val="D8DEE6"/>
            </a:solidFill>
            <a:prstDash val="solid"/>
          </a:ln>
        </p:spPr>
      </p:sp>
      <p:sp>
        <p:nvSpPr>
          <p:cNvPr id="27" name="Text 25"/>
          <p:cNvSpPr/>
          <p:nvPr/>
        </p:nvSpPr>
        <p:spPr>
          <a:xfrm>
            <a:off x="4617720" y="3191256"/>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Arcelli Fontana et al. (2017); Granchelli et al. (2017)</a:t>
            </a:r>
            <a:endParaRPr lang="en-US" sz="1050" dirty="0"/>
          </a:p>
        </p:txBody>
      </p:sp>
      <p:sp>
        <p:nvSpPr>
          <p:cNvPr id="28" name="Text 26"/>
          <p:cNvSpPr/>
          <p:nvPr/>
        </p:nvSpPr>
        <p:spPr>
          <a:xfrm>
            <a:off x="4617720" y="3438144"/>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Arcan and MicroART architectural smell / architecture recovery tools</a:t>
            </a:r>
            <a:endParaRPr lang="en-US" sz="920" dirty="0"/>
          </a:p>
        </p:txBody>
      </p:sp>
      <p:sp>
        <p:nvSpPr>
          <p:cNvPr id="29" name="Shape 27"/>
          <p:cNvSpPr/>
          <p:nvPr/>
        </p:nvSpPr>
        <p:spPr>
          <a:xfrm>
            <a:off x="4617720" y="3803904"/>
            <a:ext cx="3977640" cy="9144"/>
          </a:xfrm>
          <a:prstGeom prst="rect">
            <a:avLst/>
          </a:prstGeom>
          <a:solidFill>
            <a:srgbClr val="D8DEE6"/>
          </a:solidFill>
          <a:ln w="12700">
            <a:solidFill>
              <a:srgbClr val="D8DEE6"/>
            </a:solidFill>
            <a:prstDash val="solid"/>
          </a:ln>
        </p:spPr>
      </p:sp>
      <p:sp>
        <p:nvSpPr>
          <p:cNvPr id="30" name="Text 28"/>
          <p:cNvSpPr/>
          <p:nvPr/>
        </p:nvSpPr>
        <p:spPr>
          <a:xfrm>
            <a:off x="4617720" y="3904488"/>
            <a:ext cx="3977640" cy="219456"/>
          </a:xfrm>
          <a:prstGeom prst="rect">
            <a:avLst/>
          </a:prstGeom>
          <a:noFill/>
          <a:ln/>
        </p:spPr>
        <p:txBody>
          <a:bodyPr wrap="square" lIns="0" tIns="0" rIns="0" bIns="0" rtlCol="0" anchor="ctr"/>
          <a:lstStyle/>
          <a:p>
            <a:pPr indent="0" marL="0">
              <a:buNone/>
            </a:pPr>
            <a:r>
              <a:rPr lang="en-US" sz="1050" b="1" dirty="0">
                <a:solidFill>
                  <a:srgbClr val="0F2A44"/>
                </a:solidFill>
                <a:latin typeface="Calibri" pitchFamily="34" charset="0"/>
                <a:ea typeface="Calibri" pitchFamily="34" charset="-122"/>
                <a:cs typeface="Calibri" pitchFamily="34" charset="-120"/>
              </a:rPr>
              <a:t>Tarjan (1972); Brandes (2001)</a:t>
            </a:r>
            <a:endParaRPr lang="en-US" sz="1050" dirty="0"/>
          </a:p>
        </p:txBody>
      </p:sp>
      <p:sp>
        <p:nvSpPr>
          <p:cNvPr id="31" name="Text 29"/>
          <p:cNvSpPr/>
          <p:nvPr/>
        </p:nvSpPr>
        <p:spPr>
          <a:xfrm>
            <a:off x="4617720" y="4151376"/>
            <a:ext cx="3977640" cy="329184"/>
          </a:xfrm>
          <a:prstGeom prst="rect">
            <a:avLst/>
          </a:prstGeom>
          <a:noFill/>
          <a:ln/>
        </p:spPr>
        <p:txBody>
          <a:bodyPr wrap="square" lIns="0" tIns="0" rIns="0" bIns="0" rtlCol="0" anchor="ctr">
            <a:normAutofit/>
          </a:bodyPr>
          <a:lstStyle/>
          <a:p>
            <a:pPr indent="0" marL="0">
              <a:buNone/>
            </a:pPr>
            <a:r>
              <a:rPr lang="en-US" sz="920" dirty="0">
                <a:solidFill>
                  <a:srgbClr val="1E293B"/>
                </a:solidFill>
                <a:latin typeface="Calibri" pitchFamily="34" charset="0"/>
                <a:ea typeface="Calibri" pitchFamily="34" charset="-122"/>
                <a:cs typeface="Calibri" pitchFamily="34" charset="-120"/>
              </a:rPr>
              <a:t>Strongly connected components and betweenness centrality graph algorithms</a:t>
            </a:r>
            <a:endParaRPr lang="en-US" sz="920" dirty="0"/>
          </a:p>
        </p:txBody>
      </p:sp>
      <p:sp>
        <p:nvSpPr>
          <p:cNvPr id="32" name="Shape 30"/>
          <p:cNvSpPr/>
          <p:nvPr/>
        </p:nvSpPr>
        <p:spPr>
          <a:xfrm>
            <a:off x="548640" y="4572000"/>
            <a:ext cx="457200" cy="36576"/>
          </a:xfrm>
          <a:prstGeom prst="rect">
            <a:avLst/>
          </a:prstGeom>
          <a:solidFill>
            <a:srgbClr val="0D9488"/>
          </a:solidFill>
          <a:ln w="12700">
            <a:solidFill>
              <a:srgbClr val="0D9488"/>
            </a:solidFill>
            <a:prstDash val="solid"/>
          </a:ln>
        </p:spPr>
      </p:sp>
      <p:sp>
        <p:nvSpPr>
          <p:cNvPr id="33" name="Text 31"/>
          <p:cNvSpPr/>
          <p:nvPr/>
        </p:nvSpPr>
        <p:spPr>
          <a:xfrm>
            <a:off x="548640" y="4663440"/>
            <a:ext cx="8046720" cy="237744"/>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Full bibliography is available in the dissertation reference list.</a:t>
            </a:r>
            <a:endParaRPr lang="en-US" sz="950" dirty="0"/>
          </a:p>
        </p:txBody>
      </p:sp>
      <p:sp>
        <p:nvSpPr>
          <p:cNvPr id="34" name="Text 32"/>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1</cp:revision>
  <dcterms:created xsi:type="dcterms:W3CDTF">2026-06-19T16:15:55Z</dcterms:created>
  <dcterms:modified xsi:type="dcterms:W3CDTF">2026-06-19T16:15:55Z</dcterms:modified>
</cp:coreProperties>
</file>