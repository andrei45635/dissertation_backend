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2A44"/>
                </a:solidFill>
                <a:latin typeface="Calibri"/>
              </a:defRPr>
            </a:pPr>
            <a:r>
              <a:rPr sz="1200" b="0" i="0" u="none" strike="noStrike">
                <a:solidFill>
                  <a:srgbClr val="0F2A44"/>
                </a:solidFill>
                <a:latin typeface="Calibri"/>
              </a:rPr>
              <a:t>Health scores by project (0–100)</a:t>
            </a:r>
          </a:p>
        </c:rich>
      </c:tx>
      <c:layout/>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cat>
            <c:multiLvlStrRef>
              <c:f>Sheet1!$A$2:$A$12</c:f>
              <c:multiLvlStrCache>
                <c:ptCount val="11"/>
                <c:lvl>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lvl>
              </c:multiLvlStrCache>
            </c:multiLvl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ser>
        <c:dLbls>
          <c:numFmt formatCode="#,##0" sourceLinked="0"/>
          <c:txPr>
            <a:bodyPr/>
            <a:lstStyle/>
            <a:p>
              <a:pPr>
                <a:defRPr b="0" i="0" strike="noStrike" sz="900" u="none">
                  <a:solidFill>
                    <a:srgbClr val="1E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8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You can add: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
Keep this short — about 30 seconds. Don't introduce content yet; that's the next slide.
Breathe, slow down. The committee already knows your name from the schedule, so this is just orientation.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address important parts of the problem: Arcan detects architectural smells, MicroART visualises recovered architectures, MSANose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You can mention a concrete example: 'For instance, a shared database between two services looks harmless at first — both teams just point at the same Postgres instance. But over time, schema changes in one service silently break the other, and you've lost independent deployability — arguably the single biggest reason to use microservices in the first place.'
Pivot to next slide: 'So the goal of this work was a tool that bridges both levels and outputs actionable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Bridge to next slide: 'To give you a clearer picture of how these pieces fit together, let me walk you through the analysis pipeline — from the moment a project is uploaded to the final report.'
Don't dwell on each one. They'll see the details later. This slide sets expectations for the rest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Right side: 'A class is flagged as a God Class when it exceeds at least three of the six metrics. Pure data holders such as entities and DTOs are excluded first, since they naturally have many fields and low cohesion without being an anti-pattern.'
• On TCC: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DesigniteJava fits: 'DesigniteJava runs per service for code smells, but its catalogue is abstraction and modularization smells rather than a literal God Class. So God Service detection is driven by the Spoon structural metrics, and DesigniteJava smell density feeds the code-quality category of the health score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
Worth saying aloud: 'The severity levels aren't arbitrary — they reflect how much damage the anti-pattern can cause. Cyclic Dependency and Distributed Monolith are critical because they undermine independent deployability entirely. Hardcoded Endpoints and API Versioning are medium because they're easier to fix and their impact is more localised.'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
You can also add: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slide makes the scoring reproducible.
Walk through it:
•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This demonstrates that the scoring is transparent and that the breakdown shows exactly what's wrong.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
If time allows, mention: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37 API versioning absences, 23 nano services, 15 hardcoded endpoints. Cyclic Dependency and Wrong Cuts were detected in microservice-recruit. Adding PiggyMetrics and piomin broadened ESB Misuse and Nano Service coverage.'
• '98 total anti-pattern instances across 9 distinct types. Only Distributed Monolith was not detected — plausible given these projects' topologies.'
You can add: 'The score range — 40 to 83 — shows that the metric has useful discriminating power. Projects known to be well-structured like MicroSocial score highest; projects known to have issues like Train-Ticket and microservice-recruit score lowest. If every project scored 70, the metric wouldn't be telling us much.'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1170432"/>
            <a:ext cx="640080" cy="41148"/>
          </a:xfrm>
          <a:prstGeom prst="rect">
            <a:avLst/>
          </a:prstGeom>
          <a:solidFill>
            <a:srgbClr val="0D9488"/>
          </a:solidFill>
          <a:ln w="12700">
            <a:solidFill>
              <a:srgbClr val="0D9488"/>
            </a:solidFill>
            <a:prstDash val="solid"/>
          </a:ln>
        </p:spPr>
      </p:sp>
      <p:sp>
        <p:nvSpPr>
          <p:cNvPr id="3" name="Text 1"/>
          <p:cNvSpPr/>
          <p:nvPr/>
        </p:nvSpPr>
        <p:spPr>
          <a:xfrm>
            <a:off x="548640" y="1371600"/>
            <a:ext cx="7863840" cy="1417320"/>
          </a:xfrm>
          <a:prstGeom prst="rect">
            <a:avLst/>
          </a:prstGeom>
          <a:noFill/>
          <a:ln/>
        </p:spPr>
        <p:txBody>
          <a:bodyPr wrap="square" lIns="0" tIns="0" rIns="0" bIns="0" rtlCol="0" anchor="ctr"/>
          <a:lstStyle/>
          <a:p>
            <a:pPr indent="0" marL="0">
              <a:spcAft>
                <a:spcPts val="400"/>
              </a:spcAft>
              <a:buNone/>
            </a:pPr>
            <a:r>
              <a:rPr lang="en-US" sz="3200" b="1" dirty="0">
                <a:solidFill>
                  <a:srgbClr val="FFFFFF"/>
                </a:solidFill>
                <a:latin typeface="Calibri" pitchFamily="34" charset="0"/>
                <a:ea typeface="Calibri" pitchFamily="34" charset="-122"/>
                <a:cs typeface="Calibri" pitchFamily="34" charset="-120"/>
              </a:rPr>
              <a:t>Detecting Architectural</a:t>
            </a:r>
            <a:endParaRPr lang="en-US" sz="3200" dirty="0"/>
          </a:p>
          <a:p>
            <a:pPr indent="0" marL="0">
              <a:spcAft>
                <a:spcPts val="400"/>
              </a:spcAft>
              <a:buNone/>
            </a:pPr>
            <a:r>
              <a:rPr lang="en-US" sz="3200" b="1" dirty="0">
                <a:solidFill>
                  <a:srgbClr val="FFFFFF"/>
                </a:solidFill>
                <a:latin typeface="Calibri" pitchFamily="34" charset="0"/>
                <a:ea typeface="Calibri" pitchFamily="34" charset="-122"/>
                <a:cs typeface="Calibri" pitchFamily="34" charset="-120"/>
              </a:rPr>
              <a:t>Anti-Patterns in Microservices</a:t>
            </a:r>
            <a:endParaRPr lang="en-US" sz="3200" dirty="0"/>
          </a:p>
        </p:txBody>
      </p:sp>
      <p:sp>
        <p:nvSpPr>
          <p:cNvPr id="4" name="Text 2"/>
          <p:cNvSpPr/>
          <p:nvPr/>
        </p:nvSpPr>
        <p:spPr>
          <a:xfrm>
            <a:off x="548640" y="2834640"/>
            <a:ext cx="7863840" cy="365760"/>
          </a:xfrm>
          <a:prstGeom prst="rect">
            <a:avLst/>
          </a:prstGeom>
          <a:noFill/>
          <a:ln/>
        </p:spPr>
        <p:txBody>
          <a:bodyPr wrap="square" lIns="0" tIns="0" rIns="0" bIns="0" rtlCol="0" anchor="ctr"/>
          <a:lstStyle/>
          <a:p>
            <a:pPr indent="0" marL="0">
              <a:buNone/>
            </a:pPr>
            <a:r>
              <a:rPr lang="en-US" sz="15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500" dirty="0"/>
          </a:p>
        </p:txBody>
      </p:sp>
      <p:sp>
        <p:nvSpPr>
          <p:cNvPr id="5" name="Text 3"/>
          <p:cNvSpPr/>
          <p:nvPr/>
        </p:nvSpPr>
        <p:spPr>
          <a:xfrm>
            <a:off x="548640" y="3794760"/>
            <a:ext cx="7863840" cy="1051560"/>
          </a:xfrm>
          <a:prstGeom prst="rect">
            <a:avLst/>
          </a:prstGeom>
          <a:noFill/>
          <a:ln/>
        </p:spPr>
        <p:txBody>
          <a:bodyPr wrap="square" lIns="0" tIns="0" rIns="0" bIns="0" rtlCol="0" anchor="ctr"/>
          <a:lstStyle/>
          <a:p>
            <a:pPr indent="0" marL="0">
              <a:spcAft>
                <a:spcPts val="200"/>
              </a:spcAft>
              <a:buNone/>
            </a:pPr>
            <a:r>
              <a:rPr lang="en-US" sz="1500" b="1" dirty="0">
                <a:solidFill>
                  <a:srgbClr val="FFFFFF"/>
                </a:solidFill>
                <a:latin typeface="Calibri" pitchFamily="34" charset="0"/>
                <a:ea typeface="Calibri" pitchFamily="34" charset="-122"/>
                <a:cs typeface="Calibri" pitchFamily="34" charset="-120"/>
              </a:rPr>
              <a:t>Iacob Andrei</a:t>
            </a:r>
            <a:endParaRPr lang="en-US" sz="1500" dirty="0"/>
          </a:p>
          <a:p>
            <a:pPr indent="0" marL="0">
              <a:spcAft>
                <a:spcPts val="200"/>
              </a:spcAft>
              <a:buNone/>
            </a:pPr>
            <a:r>
              <a:rPr lang="en-US" sz="1150" dirty="0">
                <a:solidFill>
                  <a:srgbClr val="DBEAFE"/>
                </a:solidFill>
                <a:latin typeface="Calibri" pitchFamily="34" charset="0"/>
                <a:ea typeface="Calibri" pitchFamily="34" charset="-122"/>
                <a:cs typeface="Calibri" pitchFamily="34" charset="-120"/>
              </a:rPr>
              <a:t>Master's Dissertation Defense</a:t>
            </a:r>
            <a:endParaRPr lang="en-US" sz="1500" dirty="0"/>
          </a:p>
          <a:p>
            <a:pPr indent="0" marL="0">
              <a:spcAft>
                <a:spcPts val="200"/>
              </a:spcAft>
              <a:buNone/>
            </a:pPr>
            <a:r>
              <a:rPr lang="en-US" sz="1150" dirty="0">
                <a:solidFill>
                  <a:srgbClr val="DBEAFE"/>
                </a:solidFill>
                <a:latin typeface="Calibri" pitchFamily="34" charset="0"/>
                <a:ea typeface="Calibri" pitchFamily="34" charset="-122"/>
                <a:cs typeface="Calibri" pitchFamily="34" charset="-120"/>
              </a:rPr>
              <a:t>Supervisor: Prof. Dr. Simona Motogna</a:t>
            </a:r>
            <a:endParaRPr lang="en-US" sz="1500" dirty="0"/>
          </a:p>
          <a:p>
            <a:pPr indent="0" marL="0">
              <a:spcAft>
                <a:spcPts val="200"/>
              </a:spcAft>
              <a:buNone/>
            </a:pPr>
            <a:r>
              <a:rPr lang="en-US" sz="1100" i="1" dirty="0">
                <a:solidFill>
                  <a:srgbClr val="DBEAFE"/>
                </a:solidFill>
                <a:latin typeface="Calibri" pitchFamily="34" charset="0"/>
                <a:ea typeface="Calibri" pitchFamily="34" charset="-122"/>
                <a:cs typeface="Calibri" pitchFamily="34" charset="-120"/>
              </a:rPr>
              <a:t>Faculty of Mathematics and Computer Science, Babeş-Bolyai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Why this matters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804672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Microservices adoption has outpaced tooling</a:t>
            </a:r>
            <a:endParaRPr lang="en-US" sz="1500" dirty="0"/>
          </a:p>
        </p:txBody>
      </p:sp>
      <p:sp>
        <p:nvSpPr>
          <p:cNvPr id="5" name="Text 3"/>
          <p:cNvSpPr/>
          <p:nvPr/>
        </p:nvSpPr>
        <p:spPr>
          <a:xfrm>
            <a:off x="548640" y="1481328"/>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1</a:t>
            </a:r>
            <a:endParaRPr lang="en-US" sz="2600" dirty="0"/>
          </a:p>
        </p:txBody>
      </p:sp>
      <p:sp>
        <p:nvSpPr>
          <p:cNvPr id="6" name="Text 4"/>
          <p:cNvSpPr/>
          <p:nvPr/>
        </p:nvSpPr>
        <p:spPr>
          <a:xfrm>
            <a:off x="1188720" y="1536192"/>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7" name="Text 5"/>
          <p:cNvSpPr/>
          <p:nvPr/>
        </p:nvSpPr>
        <p:spPr>
          <a:xfrm>
            <a:off x="1188720" y="1837944"/>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50" dirty="0"/>
          </a:p>
        </p:txBody>
      </p:sp>
      <p:sp>
        <p:nvSpPr>
          <p:cNvPr id="8" name="Text 6"/>
          <p:cNvSpPr/>
          <p:nvPr/>
        </p:nvSpPr>
        <p:spPr>
          <a:xfrm>
            <a:off x="548640" y="2322576"/>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2</a:t>
            </a:r>
            <a:endParaRPr lang="en-US" sz="2600" dirty="0"/>
          </a:p>
        </p:txBody>
      </p:sp>
      <p:sp>
        <p:nvSpPr>
          <p:cNvPr id="9" name="Text 7"/>
          <p:cNvSpPr/>
          <p:nvPr/>
        </p:nvSpPr>
        <p:spPr>
          <a:xfrm>
            <a:off x="1188720" y="2377440"/>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0" name="Text 8"/>
          <p:cNvSpPr/>
          <p:nvPr/>
        </p:nvSpPr>
        <p:spPr>
          <a:xfrm>
            <a:off x="1188720" y="2679192"/>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50" dirty="0"/>
          </a:p>
        </p:txBody>
      </p:sp>
      <p:sp>
        <p:nvSpPr>
          <p:cNvPr id="11" name="Text 9"/>
          <p:cNvSpPr/>
          <p:nvPr/>
        </p:nvSpPr>
        <p:spPr>
          <a:xfrm>
            <a:off x="548640" y="3163824"/>
            <a:ext cx="457200" cy="502920"/>
          </a:xfrm>
          <a:prstGeom prst="rect">
            <a:avLst/>
          </a:prstGeom>
          <a:noFill/>
          <a:ln/>
        </p:spPr>
        <p:txBody>
          <a:bodyPr wrap="square" lIns="0" tIns="0" rIns="0" bIns="0" rtlCol="0" anchor="ctr"/>
          <a:lstStyle/>
          <a:p>
            <a:pPr indent="0" marL="0">
              <a:buNone/>
            </a:pPr>
            <a:r>
              <a:rPr lang="en-US" sz="2600" b="1" dirty="0">
                <a:solidFill>
                  <a:srgbClr val="C2CCD6"/>
                </a:solidFill>
                <a:latin typeface="Calibri" pitchFamily="34" charset="0"/>
                <a:ea typeface="Calibri" pitchFamily="34" charset="-122"/>
                <a:cs typeface="Calibri" pitchFamily="34" charset="-120"/>
              </a:rPr>
              <a:t>3</a:t>
            </a:r>
            <a:endParaRPr lang="en-US" sz="2600" dirty="0"/>
          </a:p>
        </p:txBody>
      </p:sp>
      <p:sp>
        <p:nvSpPr>
          <p:cNvPr id="12" name="Text 10"/>
          <p:cNvSpPr/>
          <p:nvPr/>
        </p:nvSpPr>
        <p:spPr>
          <a:xfrm>
            <a:off x="1188720" y="3218688"/>
            <a:ext cx="740664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13" name="Text 11"/>
          <p:cNvSpPr/>
          <p:nvPr/>
        </p:nvSpPr>
        <p:spPr>
          <a:xfrm>
            <a:off x="1188720" y="3520440"/>
            <a:ext cx="7406640" cy="457200"/>
          </a:xfrm>
          <a:prstGeom prst="rect">
            <a:avLst/>
          </a:prstGeom>
          <a:noFill/>
          <a:ln/>
        </p:spPr>
        <p:txBody>
          <a:bodyPr wrap="square" lIns="0" tIns="0" rIns="0" bIns="0" rtlCol="0" anchor="ctr"/>
          <a:lstStyle/>
          <a:p>
            <a:pPr indent="0" marL="0">
              <a:buNone/>
            </a:pPr>
            <a:r>
              <a:rPr lang="en-US" sz="115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50" dirty="0"/>
          </a:p>
        </p:txBody>
      </p:sp>
      <p:sp>
        <p:nvSpPr>
          <p:cNvPr id="14" name="Shape 12"/>
          <p:cNvSpPr/>
          <p:nvPr/>
        </p:nvSpPr>
        <p:spPr>
          <a:xfrm>
            <a:off x="548640" y="4206240"/>
            <a:ext cx="457200" cy="36576"/>
          </a:xfrm>
          <a:prstGeom prst="rect">
            <a:avLst/>
          </a:prstGeom>
          <a:solidFill>
            <a:srgbClr val="0D9488"/>
          </a:solidFill>
          <a:ln w="12700">
            <a:solidFill>
              <a:srgbClr val="0D9488"/>
            </a:solidFill>
            <a:prstDash val="solid"/>
          </a:ln>
        </p:spPr>
      </p:sp>
      <p:sp>
        <p:nvSpPr>
          <p:cNvPr id="15" name="Text 13"/>
          <p:cNvSpPr/>
          <p:nvPr/>
        </p:nvSpPr>
        <p:spPr>
          <a:xfrm>
            <a:off x="548640" y="4315968"/>
            <a:ext cx="8046720" cy="365760"/>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Goal: actionable, evidence-based detection that bridges code and architecture levels</a:t>
            </a:r>
            <a:endParaRPr lang="en-US" sz="1300" dirty="0"/>
          </a:p>
        </p:txBody>
      </p:sp>
      <p:sp>
        <p:nvSpPr>
          <p:cNvPr id="16" name="Text 14"/>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Objectives &amp; contributions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097280" y="1024128"/>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Multi-level analysis</a:t>
            </a:r>
            <a:endParaRPr lang="en-US" sz="1400" dirty="0"/>
          </a:p>
        </p:txBody>
      </p:sp>
      <p:sp>
        <p:nvSpPr>
          <p:cNvPr id="6" name="Text 4"/>
          <p:cNvSpPr/>
          <p:nvPr/>
        </p:nvSpPr>
        <p:spPr>
          <a:xfrm>
            <a:off x="1097280" y="1316736"/>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00" dirty="0"/>
          </a:p>
        </p:txBody>
      </p:sp>
      <p:sp>
        <p:nvSpPr>
          <p:cNvPr id="7" name="Text 5"/>
          <p:cNvSpPr/>
          <p:nvPr/>
        </p:nvSpPr>
        <p:spPr>
          <a:xfrm>
            <a:off x="548640" y="1700784"/>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2</a:t>
            </a:r>
            <a:endParaRPr lang="en-US" sz="1700" dirty="0"/>
          </a:p>
        </p:txBody>
      </p:sp>
      <p:sp>
        <p:nvSpPr>
          <p:cNvPr id="8" name="Text 6"/>
          <p:cNvSpPr/>
          <p:nvPr/>
        </p:nvSpPr>
        <p:spPr>
          <a:xfrm>
            <a:off x="1097280" y="1719072"/>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Ten anti-patterns detected</a:t>
            </a:r>
            <a:endParaRPr lang="en-US" sz="1400" dirty="0"/>
          </a:p>
        </p:txBody>
      </p:sp>
      <p:sp>
        <p:nvSpPr>
          <p:cNvPr id="9" name="Text 7"/>
          <p:cNvSpPr/>
          <p:nvPr/>
        </p:nvSpPr>
        <p:spPr>
          <a:xfrm>
            <a:off x="1097280" y="2011680"/>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00" dirty="0"/>
          </a:p>
        </p:txBody>
      </p:sp>
      <p:sp>
        <p:nvSpPr>
          <p:cNvPr id="10" name="Text 8"/>
          <p:cNvSpPr/>
          <p:nvPr/>
        </p:nvSpPr>
        <p:spPr>
          <a:xfrm>
            <a:off x="548640" y="2395728"/>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3</a:t>
            </a:r>
            <a:endParaRPr lang="en-US" sz="1700" dirty="0"/>
          </a:p>
        </p:txBody>
      </p:sp>
      <p:sp>
        <p:nvSpPr>
          <p:cNvPr id="11" name="Text 9"/>
          <p:cNvSpPr/>
          <p:nvPr/>
        </p:nvSpPr>
        <p:spPr>
          <a:xfrm>
            <a:off x="1097280" y="2414016"/>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Automated boundary detection</a:t>
            </a:r>
            <a:endParaRPr lang="en-US" sz="1400" dirty="0"/>
          </a:p>
        </p:txBody>
      </p:sp>
      <p:sp>
        <p:nvSpPr>
          <p:cNvPr id="12" name="Text 10"/>
          <p:cNvSpPr/>
          <p:nvPr/>
        </p:nvSpPr>
        <p:spPr>
          <a:xfrm>
            <a:off x="1097280" y="2706624"/>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00" dirty="0"/>
          </a:p>
        </p:txBody>
      </p:sp>
      <p:sp>
        <p:nvSpPr>
          <p:cNvPr id="13" name="Text 11"/>
          <p:cNvSpPr/>
          <p:nvPr/>
        </p:nvSpPr>
        <p:spPr>
          <a:xfrm>
            <a:off x="548640" y="3090672"/>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4</a:t>
            </a:r>
            <a:endParaRPr lang="en-US" sz="1700" dirty="0"/>
          </a:p>
        </p:txBody>
      </p:sp>
      <p:sp>
        <p:nvSpPr>
          <p:cNvPr id="14" name="Text 12"/>
          <p:cNvSpPr/>
          <p:nvPr/>
        </p:nvSpPr>
        <p:spPr>
          <a:xfrm>
            <a:off x="1097280" y="3108960"/>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Composite health score</a:t>
            </a:r>
            <a:endParaRPr lang="en-US" sz="1400" dirty="0"/>
          </a:p>
        </p:txBody>
      </p:sp>
      <p:sp>
        <p:nvSpPr>
          <p:cNvPr id="15" name="Text 13"/>
          <p:cNvSpPr/>
          <p:nvPr/>
        </p:nvSpPr>
        <p:spPr>
          <a:xfrm>
            <a:off x="1097280" y="3401568"/>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00" dirty="0"/>
          </a:p>
        </p:txBody>
      </p:sp>
      <p:sp>
        <p:nvSpPr>
          <p:cNvPr id="16" name="Text 14"/>
          <p:cNvSpPr/>
          <p:nvPr/>
        </p:nvSpPr>
        <p:spPr>
          <a:xfrm>
            <a:off x="548640" y="3785616"/>
            <a:ext cx="411480" cy="365760"/>
          </a:xfrm>
          <a:prstGeom prst="rect">
            <a:avLst/>
          </a:prstGeom>
          <a:noFill/>
          <a:ln/>
        </p:spPr>
        <p:txBody>
          <a:bodyPr wrap="square" lIns="0" tIns="0" rIns="0" bIns="0" rtlCol="0" anchor="ctr"/>
          <a:lstStyle/>
          <a:p>
            <a:pPr indent="0" marL="0">
              <a:buNone/>
            </a:pPr>
            <a:r>
              <a:rPr lang="en-US" sz="1700" b="1" dirty="0">
                <a:solidFill>
                  <a:srgbClr val="0D9488"/>
                </a:solidFill>
                <a:latin typeface="Calibri" pitchFamily="34" charset="0"/>
                <a:ea typeface="Calibri" pitchFamily="34" charset="-122"/>
                <a:cs typeface="Calibri" pitchFamily="34" charset="-120"/>
              </a:rPr>
              <a:t>5</a:t>
            </a:r>
            <a:endParaRPr lang="en-US" sz="1700" dirty="0"/>
          </a:p>
        </p:txBody>
      </p:sp>
      <p:sp>
        <p:nvSpPr>
          <p:cNvPr id="17" name="Text 15"/>
          <p:cNvSpPr/>
          <p:nvPr/>
        </p:nvSpPr>
        <p:spPr>
          <a:xfrm>
            <a:off x="1097280" y="3803904"/>
            <a:ext cx="7498080" cy="292608"/>
          </a:xfrm>
          <a:prstGeom prst="rect">
            <a:avLst/>
          </a:prstGeom>
          <a:noFill/>
          <a:ln/>
        </p:spPr>
        <p:txBody>
          <a:bodyPr wrap="square" lIns="0" tIns="0" rIns="0" bIns="0" rtlCol="0" anchor="ctr"/>
          <a:lstStyle/>
          <a:p>
            <a:pPr indent="0" marL="0">
              <a:buNone/>
            </a:pPr>
            <a:r>
              <a:rPr lang="en-US" sz="1400" b="1" dirty="0">
                <a:solidFill>
                  <a:srgbClr val="0F2A44"/>
                </a:solidFill>
                <a:latin typeface="Calibri" pitchFamily="34" charset="0"/>
                <a:ea typeface="Calibri" pitchFamily="34" charset="-122"/>
                <a:cs typeface="Calibri" pitchFamily="34" charset="-120"/>
              </a:rPr>
              <a:t>Evidence-based reporting</a:t>
            </a:r>
            <a:endParaRPr lang="en-US" sz="1400" dirty="0"/>
          </a:p>
        </p:txBody>
      </p:sp>
      <p:sp>
        <p:nvSpPr>
          <p:cNvPr id="18" name="Text 16"/>
          <p:cNvSpPr/>
          <p:nvPr/>
        </p:nvSpPr>
        <p:spPr>
          <a:xfrm>
            <a:off x="1097280" y="4096512"/>
            <a:ext cx="7498080" cy="38404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00" dirty="0"/>
          </a:p>
        </p:txBody>
      </p:sp>
      <p:sp>
        <p:nvSpPr>
          <p:cNvPr id="19" name="Text 17"/>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The analysis pipeline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51560"/>
            <a:ext cx="1463040" cy="1325880"/>
          </a:xfrm>
          <a:prstGeom prst="rect">
            <a:avLst/>
          </a:prstGeom>
          <a:solidFill>
            <a:srgbClr val="FFFFFF"/>
          </a:solidFill>
          <a:ln w="12700">
            <a:solidFill>
              <a:srgbClr val="D8DEE6"/>
            </a:solidFill>
            <a:prstDash val="solid"/>
          </a:ln>
        </p:spPr>
      </p:sp>
      <p:sp>
        <p:nvSpPr>
          <p:cNvPr id="5" name="Shape 3"/>
          <p:cNvSpPr/>
          <p:nvPr/>
        </p:nvSpPr>
        <p:spPr>
          <a:xfrm>
            <a:off x="548640" y="1051560"/>
            <a:ext cx="1463040" cy="41148"/>
          </a:xfrm>
          <a:prstGeom prst="rect">
            <a:avLst/>
          </a:prstGeom>
          <a:solidFill>
            <a:srgbClr val="0D9488"/>
          </a:solidFill>
          <a:ln w="12700">
            <a:solidFill>
              <a:srgbClr val="0D9488"/>
            </a:solidFill>
            <a:prstDash val="solid"/>
          </a:ln>
        </p:spPr>
      </p:sp>
      <p:sp>
        <p:nvSpPr>
          <p:cNvPr id="6" name="Text 4"/>
          <p:cNvSpPr/>
          <p:nvPr/>
        </p:nvSpPr>
        <p:spPr>
          <a:xfrm>
            <a:off x="65836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65836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Ingest</a:t>
            </a:r>
            <a:endParaRPr lang="en-US" sz="1250" dirty="0"/>
          </a:p>
        </p:txBody>
      </p:sp>
      <p:sp>
        <p:nvSpPr>
          <p:cNvPr id="8" name="Text 6"/>
          <p:cNvSpPr/>
          <p:nvPr/>
        </p:nvSpPr>
        <p:spPr>
          <a:xfrm>
            <a:off x="65836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sp>
        <p:nvSpPr>
          <p:cNvPr id="9" name="Text 7"/>
          <p:cNvSpPr/>
          <p:nvPr/>
        </p:nvSpPr>
        <p:spPr>
          <a:xfrm>
            <a:off x="201168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194560" y="1051560"/>
            <a:ext cx="1463040" cy="1325880"/>
          </a:xfrm>
          <a:prstGeom prst="rect">
            <a:avLst/>
          </a:prstGeom>
          <a:solidFill>
            <a:srgbClr val="FFFFFF"/>
          </a:solidFill>
          <a:ln w="12700">
            <a:solidFill>
              <a:srgbClr val="D8DEE6"/>
            </a:solidFill>
            <a:prstDash val="solid"/>
          </a:ln>
        </p:spPr>
      </p:sp>
      <p:sp>
        <p:nvSpPr>
          <p:cNvPr id="11" name="Shape 9"/>
          <p:cNvSpPr/>
          <p:nvPr/>
        </p:nvSpPr>
        <p:spPr>
          <a:xfrm>
            <a:off x="2194560" y="1051560"/>
            <a:ext cx="1463040" cy="41148"/>
          </a:xfrm>
          <a:prstGeom prst="rect">
            <a:avLst/>
          </a:prstGeom>
          <a:solidFill>
            <a:srgbClr val="0D9488"/>
          </a:solidFill>
          <a:ln w="12700">
            <a:solidFill>
              <a:srgbClr val="0D9488"/>
            </a:solidFill>
            <a:prstDash val="solid"/>
          </a:ln>
        </p:spPr>
      </p:sp>
      <p:sp>
        <p:nvSpPr>
          <p:cNvPr id="12" name="Text 10"/>
          <p:cNvSpPr/>
          <p:nvPr/>
        </p:nvSpPr>
        <p:spPr>
          <a:xfrm>
            <a:off x="230428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30428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Detect services</a:t>
            </a:r>
            <a:endParaRPr lang="en-US" sz="1250" dirty="0"/>
          </a:p>
        </p:txBody>
      </p:sp>
      <p:sp>
        <p:nvSpPr>
          <p:cNvPr id="14" name="Text 12"/>
          <p:cNvSpPr/>
          <p:nvPr/>
        </p:nvSpPr>
        <p:spPr>
          <a:xfrm>
            <a:off x="230428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sp>
        <p:nvSpPr>
          <p:cNvPr id="15" name="Text 13"/>
          <p:cNvSpPr/>
          <p:nvPr/>
        </p:nvSpPr>
        <p:spPr>
          <a:xfrm>
            <a:off x="365760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840480" y="1051560"/>
            <a:ext cx="1463040" cy="1325880"/>
          </a:xfrm>
          <a:prstGeom prst="rect">
            <a:avLst/>
          </a:prstGeom>
          <a:solidFill>
            <a:srgbClr val="FFFFFF"/>
          </a:solidFill>
          <a:ln w="12700">
            <a:solidFill>
              <a:srgbClr val="D8DEE6"/>
            </a:solidFill>
            <a:prstDash val="solid"/>
          </a:ln>
        </p:spPr>
      </p:sp>
      <p:sp>
        <p:nvSpPr>
          <p:cNvPr id="17" name="Shape 15"/>
          <p:cNvSpPr/>
          <p:nvPr/>
        </p:nvSpPr>
        <p:spPr>
          <a:xfrm>
            <a:off x="3840480" y="1051560"/>
            <a:ext cx="1463040" cy="41148"/>
          </a:xfrm>
          <a:prstGeom prst="rect">
            <a:avLst/>
          </a:prstGeom>
          <a:solidFill>
            <a:srgbClr val="0D9488"/>
          </a:solidFill>
          <a:ln w="12700">
            <a:solidFill>
              <a:srgbClr val="0D9488"/>
            </a:solidFill>
            <a:prstDash val="solid"/>
          </a:ln>
        </p:spPr>
      </p:sp>
      <p:sp>
        <p:nvSpPr>
          <p:cNvPr id="18" name="Text 16"/>
          <p:cNvSpPr/>
          <p:nvPr/>
        </p:nvSpPr>
        <p:spPr>
          <a:xfrm>
            <a:off x="395020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395020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Intra + inter</a:t>
            </a:r>
            <a:endParaRPr lang="en-US" sz="1250" dirty="0"/>
          </a:p>
        </p:txBody>
      </p:sp>
      <p:sp>
        <p:nvSpPr>
          <p:cNvPr id="20" name="Text 18"/>
          <p:cNvSpPr/>
          <p:nvPr/>
        </p:nvSpPr>
        <p:spPr>
          <a:xfrm>
            <a:off x="395020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sp>
        <p:nvSpPr>
          <p:cNvPr id="21" name="Text 19"/>
          <p:cNvSpPr/>
          <p:nvPr/>
        </p:nvSpPr>
        <p:spPr>
          <a:xfrm>
            <a:off x="530352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86400" y="1051560"/>
            <a:ext cx="1463040" cy="1325880"/>
          </a:xfrm>
          <a:prstGeom prst="rect">
            <a:avLst/>
          </a:prstGeom>
          <a:solidFill>
            <a:srgbClr val="FFFFFF"/>
          </a:solidFill>
          <a:ln w="12700">
            <a:solidFill>
              <a:srgbClr val="D8DEE6"/>
            </a:solidFill>
            <a:prstDash val="solid"/>
          </a:ln>
        </p:spPr>
      </p:sp>
      <p:sp>
        <p:nvSpPr>
          <p:cNvPr id="23" name="Shape 21"/>
          <p:cNvSpPr/>
          <p:nvPr/>
        </p:nvSpPr>
        <p:spPr>
          <a:xfrm>
            <a:off x="5486400" y="1051560"/>
            <a:ext cx="1463040" cy="41148"/>
          </a:xfrm>
          <a:prstGeom prst="rect">
            <a:avLst/>
          </a:prstGeom>
          <a:solidFill>
            <a:srgbClr val="0D9488"/>
          </a:solidFill>
          <a:ln w="12700">
            <a:solidFill>
              <a:srgbClr val="0D9488"/>
            </a:solidFill>
            <a:prstDash val="solid"/>
          </a:ln>
        </p:spPr>
      </p:sp>
      <p:sp>
        <p:nvSpPr>
          <p:cNvPr id="24" name="Text 22"/>
          <p:cNvSpPr/>
          <p:nvPr/>
        </p:nvSpPr>
        <p:spPr>
          <a:xfrm>
            <a:off x="559612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559612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Detect patterns</a:t>
            </a:r>
            <a:endParaRPr lang="en-US" sz="1250" dirty="0"/>
          </a:p>
        </p:txBody>
      </p:sp>
      <p:sp>
        <p:nvSpPr>
          <p:cNvPr id="26" name="Text 24"/>
          <p:cNvSpPr/>
          <p:nvPr/>
        </p:nvSpPr>
        <p:spPr>
          <a:xfrm>
            <a:off x="559612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sp>
        <p:nvSpPr>
          <p:cNvPr id="27" name="Text 25"/>
          <p:cNvSpPr/>
          <p:nvPr/>
        </p:nvSpPr>
        <p:spPr>
          <a:xfrm>
            <a:off x="6949440" y="1508760"/>
            <a:ext cx="182880" cy="365760"/>
          </a:xfrm>
          <a:prstGeom prst="rect">
            <a:avLst/>
          </a:prstGeom>
          <a:noFill/>
          <a:ln/>
        </p:spPr>
        <p:txBody>
          <a:bodyPr wrap="square" lIns="0" tIns="0" rIns="0" bIns="0" rtlCol="0" anchor="ctr"/>
          <a:lstStyle/>
          <a:p>
            <a:pPr algn="ctr" indent="0" marL="0">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32320" y="1051560"/>
            <a:ext cx="1463040" cy="1325880"/>
          </a:xfrm>
          <a:prstGeom prst="rect">
            <a:avLst/>
          </a:prstGeom>
          <a:solidFill>
            <a:srgbClr val="FFFFFF"/>
          </a:solidFill>
          <a:ln w="12700">
            <a:solidFill>
              <a:srgbClr val="D8DEE6"/>
            </a:solidFill>
            <a:prstDash val="solid"/>
          </a:ln>
        </p:spPr>
      </p:sp>
      <p:sp>
        <p:nvSpPr>
          <p:cNvPr id="29" name="Shape 27"/>
          <p:cNvSpPr/>
          <p:nvPr/>
        </p:nvSpPr>
        <p:spPr>
          <a:xfrm>
            <a:off x="7132320" y="1051560"/>
            <a:ext cx="1463040" cy="41148"/>
          </a:xfrm>
          <a:prstGeom prst="rect">
            <a:avLst/>
          </a:prstGeom>
          <a:solidFill>
            <a:srgbClr val="0D9488"/>
          </a:solidFill>
          <a:ln w="12700">
            <a:solidFill>
              <a:srgbClr val="0D9488"/>
            </a:solidFill>
            <a:prstDash val="solid"/>
          </a:ln>
        </p:spPr>
      </p:sp>
      <p:sp>
        <p:nvSpPr>
          <p:cNvPr id="30" name="Text 28"/>
          <p:cNvSpPr/>
          <p:nvPr/>
        </p:nvSpPr>
        <p:spPr>
          <a:xfrm>
            <a:off x="7242048" y="1161288"/>
            <a:ext cx="457200" cy="228600"/>
          </a:xfrm>
          <a:prstGeom prst="rect">
            <a:avLst/>
          </a:prstGeom>
          <a:noFill/>
          <a:ln/>
        </p:spPr>
        <p:txBody>
          <a:bodyPr wrap="square" lIns="0" tIns="0" rIns="0" bIns="0" rtlCol="0" anchor="ctr"/>
          <a:lstStyle/>
          <a:p>
            <a:pPr indent="0" marL="0">
              <a:buNone/>
            </a:pPr>
            <a:r>
              <a:rPr lang="en-US" sz="1100" b="1" dirty="0">
                <a:solidFill>
                  <a:srgbClr val="0D9488"/>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7242048" y="1399032"/>
            <a:ext cx="1243584" cy="45720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Score &amp; report</a:t>
            </a:r>
            <a:endParaRPr lang="en-US" sz="1250" dirty="0"/>
          </a:p>
        </p:txBody>
      </p:sp>
      <p:sp>
        <p:nvSpPr>
          <p:cNvPr id="32" name="Text 30"/>
          <p:cNvSpPr/>
          <p:nvPr/>
        </p:nvSpPr>
        <p:spPr>
          <a:xfrm>
            <a:off x="7242048" y="1856232"/>
            <a:ext cx="1243584" cy="45720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3" name="Shape 31"/>
          <p:cNvSpPr/>
          <p:nvPr/>
        </p:nvSpPr>
        <p:spPr>
          <a:xfrm>
            <a:off x="548640" y="2743200"/>
            <a:ext cx="457200" cy="36576"/>
          </a:xfrm>
          <a:prstGeom prst="rect">
            <a:avLst/>
          </a:prstGeom>
          <a:solidFill>
            <a:srgbClr val="0D9488"/>
          </a:solidFill>
          <a:ln w="12700">
            <a:solidFill>
              <a:srgbClr val="0D9488"/>
            </a:solidFill>
            <a:prstDash val="solid"/>
          </a:ln>
        </p:spPr>
      </p:sp>
      <p:sp>
        <p:nvSpPr>
          <p:cNvPr id="34" name="Text 32"/>
          <p:cNvSpPr/>
          <p:nvPr/>
        </p:nvSpPr>
        <p:spPr>
          <a:xfrm>
            <a:off x="548640" y="2852928"/>
            <a:ext cx="804672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Key design choices</a:t>
            </a:r>
            <a:endParaRPr lang="en-US" sz="1300" dirty="0"/>
          </a:p>
        </p:txBody>
      </p:sp>
      <p:sp>
        <p:nvSpPr>
          <p:cNvPr id="35" name="Text 33"/>
          <p:cNvSpPr/>
          <p:nvPr/>
        </p:nvSpPr>
        <p:spPr>
          <a:xfrm>
            <a:off x="731520" y="3200400"/>
            <a:ext cx="786384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36" name="Text 34"/>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Spotlight: God Service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365760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Multi-level bridge in action</a:t>
            </a:r>
            <a:endParaRPr lang="en-US" sz="1300" dirty="0"/>
          </a:p>
        </p:txBody>
      </p:sp>
      <p:sp>
        <p:nvSpPr>
          <p:cNvPr id="5" name="Shape 3"/>
          <p:cNvSpPr/>
          <p:nvPr/>
        </p:nvSpPr>
        <p:spPr>
          <a:xfrm>
            <a:off x="548640" y="1371600"/>
            <a:ext cx="3657600" cy="914400"/>
          </a:xfrm>
          <a:prstGeom prst="rect">
            <a:avLst/>
          </a:prstGeom>
          <a:solidFill>
            <a:srgbClr val="FFFFFF"/>
          </a:solidFill>
          <a:ln w="12700">
            <a:solidFill>
              <a:srgbClr val="D8DEE6"/>
            </a:solidFill>
            <a:prstDash val="solid"/>
          </a:ln>
        </p:spPr>
      </p:sp>
      <p:sp>
        <p:nvSpPr>
          <p:cNvPr id="6" name="Shape 4"/>
          <p:cNvSpPr/>
          <p:nvPr/>
        </p:nvSpPr>
        <p:spPr>
          <a:xfrm>
            <a:off x="548640" y="1371600"/>
            <a:ext cx="41148" cy="914400"/>
          </a:xfrm>
          <a:prstGeom prst="rect">
            <a:avLst/>
          </a:prstGeom>
          <a:solidFill>
            <a:srgbClr val="0F2A44"/>
          </a:solidFill>
          <a:ln w="12700">
            <a:solidFill>
              <a:srgbClr val="0F2A44"/>
            </a:solidFill>
            <a:prstDash val="solid"/>
          </a:ln>
        </p:spPr>
      </p:sp>
      <p:sp>
        <p:nvSpPr>
          <p:cNvPr id="7" name="Text 5"/>
          <p:cNvSpPr/>
          <p:nvPr/>
        </p:nvSpPr>
        <p:spPr>
          <a:xfrm>
            <a:off x="713232" y="1463040"/>
            <a:ext cx="3383280" cy="219456"/>
          </a:xfrm>
          <a:prstGeom prst="rect">
            <a:avLst/>
          </a:prstGeom>
          <a:noFill/>
          <a:ln/>
        </p:spPr>
        <p:txBody>
          <a:bodyPr wrap="square" lIns="0" tIns="0" rIns="0" bIns="0" rtlCol="0" anchor="ctr"/>
          <a:lstStyle/>
          <a:p>
            <a:pPr indent="0" marL="0">
              <a:buNone/>
            </a:pPr>
            <a:r>
              <a:rPr lang="en-US" sz="900" b="1" spc="200" kern="0" dirty="0">
                <a:solidFill>
                  <a:srgbClr val="64748B"/>
                </a:solidFill>
                <a:latin typeface="Calibri" pitchFamily="34" charset="0"/>
                <a:ea typeface="Calibri" pitchFamily="34" charset="-122"/>
                <a:cs typeface="Calibri" pitchFamily="34" charset="-120"/>
              </a:rPr>
              <a:t>CODE LEVEL</a:t>
            </a:r>
            <a:endParaRPr lang="en-US" sz="900" dirty="0"/>
          </a:p>
        </p:txBody>
      </p:sp>
      <p:sp>
        <p:nvSpPr>
          <p:cNvPr id="8" name="Text 6"/>
          <p:cNvSpPr/>
          <p:nvPr/>
        </p:nvSpPr>
        <p:spPr>
          <a:xfrm>
            <a:off x="713232" y="1691640"/>
            <a:ext cx="3383280"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Structural class metrics (per class)</a:t>
            </a:r>
            <a:endParaRPr lang="en-US" sz="1250" dirty="0"/>
          </a:p>
        </p:txBody>
      </p:sp>
      <p:sp>
        <p:nvSpPr>
          <p:cNvPr id="9" name="Text 7"/>
          <p:cNvSpPr/>
          <p:nvPr/>
        </p:nvSpPr>
        <p:spPr>
          <a:xfrm>
            <a:off x="713232" y="1965960"/>
            <a:ext cx="3383280" cy="27432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10" name="Shape 8"/>
          <p:cNvSpPr/>
          <p:nvPr/>
        </p:nvSpPr>
        <p:spPr>
          <a:xfrm>
            <a:off x="2377440" y="2359152"/>
            <a:ext cx="0" cy="292608"/>
          </a:xfrm>
          <a:prstGeom prst="line">
            <a:avLst/>
          </a:prstGeom>
          <a:noFill/>
          <a:ln w="28575">
            <a:solidFill>
              <a:srgbClr val="0D9488"/>
            </a:solidFill>
            <a:prstDash val="solid"/>
            <a:tailEnd type="triangle"/>
          </a:ln>
        </p:spPr>
      </p:sp>
      <p:sp>
        <p:nvSpPr>
          <p:cNvPr id="11" name="Shape 9"/>
          <p:cNvSpPr/>
          <p:nvPr/>
        </p:nvSpPr>
        <p:spPr>
          <a:xfrm>
            <a:off x="548640" y="2724912"/>
            <a:ext cx="3657600" cy="914400"/>
          </a:xfrm>
          <a:prstGeom prst="rect">
            <a:avLst/>
          </a:prstGeom>
          <a:solidFill>
            <a:srgbClr val="FFFFFF"/>
          </a:solidFill>
          <a:ln w="12700">
            <a:solidFill>
              <a:srgbClr val="D8DEE6"/>
            </a:solidFill>
            <a:prstDash val="solid"/>
          </a:ln>
        </p:spPr>
      </p:sp>
      <p:sp>
        <p:nvSpPr>
          <p:cNvPr id="12" name="Shape 10"/>
          <p:cNvSpPr/>
          <p:nvPr/>
        </p:nvSpPr>
        <p:spPr>
          <a:xfrm>
            <a:off x="548640" y="2724912"/>
            <a:ext cx="41148" cy="914400"/>
          </a:xfrm>
          <a:prstGeom prst="rect">
            <a:avLst/>
          </a:prstGeom>
          <a:solidFill>
            <a:srgbClr val="0D9488"/>
          </a:solidFill>
          <a:ln w="12700">
            <a:solidFill>
              <a:srgbClr val="0D9488"/>
            </a:solidFill>
            <a:prstDash val="solid"/>
          </a:ln>
        </p:spPr>
      </p:sp>
      <p:sp>
        <p:nvSpPr>
          <p:cNvPr id="13" name="Text 11"/>
          <p:cNvSpPr/>
          <p:nvPr/>
        </p:nvSpPr>
        <p:spPr>
          <a:xfrm>
            <a:off x="713232" y="2816352"/>
            <a:ext cx="3383280" cy="219456"/>
          </a:xfrm>
          <a:prstGeom prst="rect">
            <a:avLst/>
          </a:prstGeom>
          <a:noFill/>
          <a:ln/>
        </p:spPr>
        <p:txBody>
          <a:bodyPr wrap="square" lIns="0" tIns="0" rIns="0" bIns="0" rtlCol="0" anchor="ctr"/>
          <a:lstStyle/>
          <a:p>
            <a:pPr indent="0" marL="0">
              <a:buNone/>
            </a:pPr>
            <a:r>
              <a:rPr lang="en-US" sz="900" b="1" spc="200" kern="0" dirty="0">
                <a:solidFill>
                  <a:srgbClr val="64748B"/>
                </a:solidFill>
                <a:latin typeface="Calibri" pitchFamily="34" charset="0"/>
                <a:ea typeface="Calibri" pitchFamily="34" charset="-122"/>
                <a:cs typeface="Calibri" pitchFamily="34" charset="-120"/>
              </a:rPr>
              <a:t>ARCHITECTURAL LEVEL</a:t>
            </a:r>
            <a:endParaRPr lang="en-US" sz="900" dirty="0"/>
          </a:p>
        </p:txBody>
      </p:sp>
      <p:sp>
        <p:nvSpPr>
          <p:cNvPr id="14" name="Text 12"/>
          <p:cNvSpPr/>
          <p:nvPr/>
        </p:nvSpPr>
        <p:spPr>
          <a:xfrm>
            <a:off x="713232" y="3044952"/>
            <a:ext cx="3383280" cy="27432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God Service (per microservice)</a:t>
            </a:r>
            <a:endParaRPr lang="en-US" sz="1250" dirty="0"/>
          </a:p>
        </p:txBody>
      </p:sp>
      <p:sp>
        <p:nvSpPr>
          <p:cNvPr id="15" name="Text 13"/>
          <p:cNvSpPr/>
          <p:nvPr/>
        </p:nvSpPr>
        <p:spPr>
          <a:xfrm>
            <a:off x="713232" y="3319272"/>
            <a:ext cx="3383280" cy="27432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6" name="Text 14"/>
          <p:cNvSpPr/>
          <p:nvPr/>
        </p:nvSpPr>
        <p:spPr>
          <a:xfrm>
            <a:off x="548640" y="3886200"/>
            <a:ext cx="3657600" cy="32004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Code-level evidence → architectural-level finding</a:t>
            </a:r>
            <a:endParaRPr lang="en-US" sz="1050" dirty="0"/>
          </a:p>
        </p:txBody>
      </p:sp>
      <p:sp>
        <p:nvSpPr>
          <p:cNvPr id="17" name="Text 15"/>
          <p:cNvSpPr/>
          <p:nvPr/>
        </p:nvSpPr>
        <p:spPr>
          <a:xfrm>
            <a:off x="4754880" y="987552"/>
            <a:ext cx="384048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Six structural metrics</a:t>
            </a:r>
            <a:endParaRPr lang="en-US" sz="1300" dirty="0"/>
          </a:p>
        </p:txBody>
      </p:sp>
      <p:sp>
        <p:nvSpPr>
          <p:cNvPr id="18" name="Text 16"/>
          <p:cNvSpPr/>
          <p:nvPr/>
        </p:nvSpPr>
        <p:spPr>
          <a:xfrm>
            <a:off x="4754880" y="1316736"/>
            <a:ext cx="3840480" cy="475488"/>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Each non-data class is evaluated against six thresholds computed from its AST:</a:t>
            </a:r>
            <a:endParaRPr lang="en-US" sz="1100" dirty="0"/>
          </a:p>
        </p:txBody>
      </p:sp>
      <p:sp>
        <p:nvSpPr>
          <p:cNvPr id="19" name="Text 17"/>
          <p:cNvSpPr/>
          <p:nvPr/>
        </p:nvSpPr>
        <p:spPr>
          <a:xfrm>
            <a:off x="4846320" y="1828800"/>
            <a:ext cx="3749040" cy="178308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20" name="Shape 18"/>
          <p:cNvSpPr/>
          <p:nvPr/>
        </p:nvSpPr>
        <p:spPr>
          <a:xfrm>
            <a:off x="4754880" y="3767328"/>
            <a:ext cx="457200" cy="36576"/>
          </a:xfrm>
          <a:prstGeom prst="rect">
            <a:avLst/>
          </a:prstGeom>
          <a:solidFill>
            <a:srgbClr val="0D9488"/>
          </a:solidFill>
          <a:ln w="12700">
            <a:solidFill>
              <a:srgbClr val="0D9488"/>
            </a:solidFill>
            <a:prstDash val="solid"/>
          </a:ln>
        </p:spPr>
      </p:sp>
      <p:sp>
        <p:nvSpPr>
          <p:cNvPr id="21" name="Text 19"/>
          <p:cNvSpPr/>
          <p:nvPr/>
        </p:nvSpPr>
        <p:spPr>
          <a:xfrm>
            <a:off x="4754880" y="3886200"/>
            <a:ext cx="3840480" cy="457200"/>
          </a:xfrm>
          <a:prstGeom prst="rect">
            <a:avLst/>
          </a:prstGeom>
          <a:noFill/>
          <a:ln/>
        </p:spPr>
        <p:txBody>
          <a:bodyPr wrap="square" lIns="0" tIns="0" rIns="0" bIns="0" rtlCol="0" anchor="ctr"/>
          <a:lstStyle/>
          <a:p>
            <a:pPr indent="0" marL="0">
              <a:buNone/>
            </a:pPr>
            <a:r>
              <a:rPr lang="en-US" sz="1150" b="1" dirty="0">
                <a:solidFill>
                  <a:srgbClr val="0F2A44"/>
                </a:solidFill>
                <a:latin typeface="Calibri" pitchFamily="34" charset="0"/>
                <a:ea typeface="Calibri" pitchFamily="34" charset="-122"/>
                <a:cs typeface="Calibri" pitchFamily="34" charset="-120"/>
              </a:rPr>
              <a:t>Flag class as God Class if ≥ 3 of 6 thresholds are exceeded</a:t>
            </a:r>
            <a:endParaRPr lang="en-US" sz="1150" dirty="0"/>
          </a:p>
        </p:txBody>
      </p:sp>
      <p:sp>
        <p:nvSpPr>
          <p:cNvPr id="22" name="Text 20"/>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Ten detectors across four dimensions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274320"/>
          </a:xfrm>
          <a:prstGeom prst="rect">
            <a:avLst/>
          </a:prstGeom>
          <a:noFill/>
          <a:ln/>
        </p:spPr>
        <p:txBody>
          <a:bodyPr wrap="square" lIns="0" tIns="0" rIns="0" bIns="0" rtlCol="0" anchor="ctr"/>
          <a:lstStyle/>
          <a:p>
            <a:pPr indent="0" marL="0">
              <a:buNone/>
            </a:pPr>
            <a:r>
              <a:rPr lang="en-US" sz="1000" dirty="0">
                <a:solidFill>
                  <a:srgbClr val="DC2626"/>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critical (−8 pts)      </a:t>
            </a:r>
            <a:pPr indent="0" marL="0">
              <a:buNone/>
            </a:pPr>
            <a:r>
              <a:rPr lang="en-US" sz="1000" dirty="0">
                <a:solidFill>
                  <a:srgbClr val="D97706"/>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high (−5 pts)      </a:t>
            </a:r>
            <a:pPr indent="0" marL="0">
              <a:buNone/>
            </a:pPr>
            <a:r>
              <a:rPr lang="en-US" sz="1000" dirty="0">
                <a:solidFill>
                  <a:srgbClr val="1C4E80"/>
                </a:solidFill>
                <a:latin typeface="Calibri" pitchFamily="34" charset="0"/>
                <a:ea typeface="Calibri" pitchFamily="34" charset="-122"/>
                <a:cs typeface="Calibri" pitchFamily="34" charset="-120"/>
              </a:rPr>
              <a:t>● </a:t>
            </a:r>
            <a:pPr indent="0" marL="0">
              <a:buNone/>
            </a:pPr>
            <a:r>
              <a:rPr lang="en-US" sz="1000" dirty="0">
                <a:solidFill>
                  <a:srgbClr val="64748B"/>
                </a:solidFill>
                <a:latin typeface="Calibri" pitchFamily="34" charset="0"/>
                <a:ea typeface="Calibri" pitchFamily="34" charset="-122"/>
                <a:cs typeface="Calibri" pitchFamily="34" charset="-120"/>
              </a:rPr>
              <a:t>medium (−3 pts)</a:t>
            </a:r>
            <a:endParaRPr lang="en-US" sz="1000" dirty="0"/>
          </a:p>
        </p:txBody>
      </p:sp>
      <p:sp>
        <p:nvSpPr>
          <p:cNvPr id="5" name="Text 3"/>
          <p:cNvSpPr/>
          <p:nvPr/>
        </p:nvSpPr>
        <p:spPr>
          <a:xfrm>
            <a:off x="548640" y="137160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SERVICE DESIGN</a:t>
            </a:r>
            <a:endParaRPr lang="en-US" sz="1050" dirty="0"/>
          </a:p>
        </p:txBody>
      </p:sp>
      <p:sp>
        <p:nvSpPr>
          <p:cNvPr id="6" name="Shape 4"/>
          <p:cNvSpPr/>
          <p:nvPr/>
        </p:nvSpPr>
        <p:spPr>
          <a:xfrm>
            <a:off x="548640" y="1673352"/>
            <a:ext cx="1325880" cy="402336"/>
          </a:xfrm>
          <a:prstGeom prst="roundRect">
            <a:avLst>
              <a:gd name="adj" fmla="val 22727"/>
            </a:avLst>
          </a:prstGeom>
          <a:solidFill>
            <a:srgbClr val="DBEAFE"/>
          </a:solidFill>
          <a:ln w="12700">
            <a:solidFill>
              <a:srgbClr val="DBEAFE"/>
            </a:solidFill>
            <a:prstDash val="solid"/>
          </a:ln>
        </p:spPr>
      </p:sp>
      <p:sp>
        <p:nvSpPr>
          <p:cNvPr id="7" name="Shape 5"/>
          <p:cNvSpPr/>
          <p:nvPr/>
        </p:nvSpPr>
        <p:spPr>
          <a:xfrm>
            <a:off x="685800" y="1833372"/>
            <a:ext cx="82296" cy="82296"/>
          </a:xfrm>
          <a:prstGeom prst="ellipse">
            <a:avLst/>
          </a:prstGeom>
          <a:solidFill>
            <a:srgbClr val="1C4E80"/>
          </a:solidFill>
          <a:ln w="12700">
            <a:solidFill>
              <a:srgbClr val="1C4E80"/>
            </a:solidFill>
            <a:prstDash val="solid"/>
          </a:ln>
        </p:spPr>
      </p:sp>
      <p:sp>
        <p:nvSpPr>
          <p:cNvPr id="8" name="Text 6"/>
          <p:cNvSpPr/>
          <p:nvPr/>
        </p:nvSpPr>
        <p:spPr>
          <a:xfrm>
            <a:off x="822960" y="1673352"/>
            <a:ext cx="103327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Nano Service</a:t>
            </a:r>
            <a:endParaRPr lang="en-US" sz="1050" dirty="0"/>
          </a:p>
        </p:txBody>
      </p:sp>
      <p:sp>
        <p:nvSpPr>
          <p:cNvPr id="9" name="Shape 7"/>
          <p:cNvSpPr/>
          <p:nvPr/>
        </p:nvSpPr>
        <p:spPr>
          <a:xfrm>
            <a:off x="2011680" y="1673352"/>
            <a:ext cx="1280160" cy="402336"/>
          </a:xfrm>
          <a:prstGeom prst="roundRect">
            <a:avLst>
              <a:gd name="adj" fmla="val 22727"/>
            </a:avLst>
          </a:prstGeom>
          <a:solidFill>
            <a:srgbClr val="FEF3C7"/>
          </a:solidFill>
          <a:ln w="12700">
            <a:solidFill>
              <a:srgbClr val="FEF3C7"/>
            </a:solidFill>
            <a:prstDash val="solid"/>
          </a:ln>
        </p:spPr>
      </p:sp>
      <p:sp>
        <p:nvSpPr>
          <p:cNvPr id="10" name="Shape 8"/>
          <p:cNvSpPr/>
          <p:nvPr/>
        </p:nvSpPr>
        <p:spPr>
          <a:xfrm>
            <a:off x="2148840" y="1833372"/>
            <a:ext cx="82296" cy="82296"/>
          </a:xfrm>
          <a:prstGeom prst="ellipse">
            <a:avLst/>
          </a:prstGeom>
          <a:solidFill>
            <a:srgbClr val="D97706"/>
          </a:solidFill>
          <a:ln w="12700">
            <a:solidFill>
              <a:srgbClr val="D97706"/>
            </a:solidFill>
            <a:prstDash val="solid"/>
          </a:ln>
        </p:spPr>
      </p:sp>
      <p:sp>
        <p:nvSpPr>
          <p:cNvPr id="11" name="Text 9"/>
          <p:cNvSpPr/>
          <p:nvPr/>
        </p:nvSpPr>
        <p:spPr>
          <a:xfrm>
            <a:off x="2286000" y="1673352"/>
            <a:ext cx="98755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God Service</a:t>
            </a:r>
            <a:endParaRPr lang="en-US" sz="1050" dirty="0"/>
          </a:p>
        </p:txBody>
      </p:sp>
      <p:sp>
        <p:nvSpPr>
          <p:cNvPr id="12" name="Text 10"/>
          <p:cNvSpPr/>
          <p:nvPr/>
        </p:nvSpPr>
        <p:spPr>
          <a:xfrm>
            <a:off x="4754880" y="137160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DATA MANAGEMENT</a:t>
            </a:r>
            <a:endParaRPr lang="en-US" sz="1050" dirty="0"/>
          </a:p>
        </p:txBody>
      </p:sp>
      <p:sp>
        <p:nvSpPr>
          <p:cNvPr id="13" name="Shape 11"/>
          <p:cNvSpPr/>
          <p:nvPr/>
        </p:nvSpPr>
        <p:spPr>
          <a:xfrm>
            <a:off x="4754880" y="1673352"/>
            <a:ext cx="1554480" cy="402336"/>
          </a:xfrm>
          <a:prstGeom prst="roundRect">
            <a:avLst>
              <a:gd name="adj" fmla="val 22727"/>
            </a:avLst>
          </a:prstGeom>
          <a:solidFill>
            <a:srgbClr val="FEF3C7"/>
          </a:solidFill>
          <a:ln w="12700">
            <a:solidFill>
              <a:srgbClr val="FEF3C7"/>
            </a:solidFill>
            <a:prstDash val="solid"/>
          </a:ln>
        </p:spPr>
      </p:sp>
      <p:sp>
        <p:nvSpPr>
          <p:cNvPr id="14" name="Shape 12"/>
          <p:cNvSpPr/>
          <p:nvPr/>
        </p:nvSpPr>
        <p:spPr>
          <a:xfrm>
            <a:off x="4892040" y="1833372"/>
            <a:ext cx="82296" cy="82296"/>
          </a:xfrm>
          <a:prstGeom prst="ellipse">
            <a:avLst/>
          </a:prstGeom>
          <a:solidFill>
            <a:srgbClr val="D97706"/>
          </a:solidFill>
          <a:ln w="12700">
            <a:solidFill>
              <a:srgbClr val="D97706"/>
            </a:solidFill>
            <a:prstDash val="solid"/>
          </a:ln>
        </p:spPr>
      </p:sp>
      <p:sp>
        <p:nvSpPr>
          <p:cNvPr id="15" name="Text 13"/>
          <p:cNvSpPr/>
          <p:nvPr/>
        </p:nvSpPr>
        <p:spPr>
          <a:xfrm>
            <a:off x="5029200" y="1673352"/>
            <a:ext cx="126187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Shared Database</a:t>
            </a:r>
            <a:endParaRPr lang="en-US" sz="1050" dirty="0"/>
          </a:p>
        </p:txBody>
      </p:sp>
      <p:sp>
        <p:nvSpPr>
          <p:cNvPr id="16" name="Text 14"/>
          <p:cNvSpPr/>
          <p:nvPr/>
        </p:nvSpPr>
        <p:spPr>
          <a:xfrm>
            <a:off x="548640" y="246888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COMMUNICATION</a:t>
            </a:r>
            <a:endParaRPr lang="en-US" sz="1050" dirty="0"/>
          </a:p>
        </p:txBody>
      </p:sp>
      <p:sp>
        <p:nvSpPr>
          <p:cNvPr id="17" name="Shape 15"/>
          <p:cNvSpPr/>
          <p:nvPr/>
        </p:nvSpPr>
        <p:spPr>
          <a:xfrm>
            <a:off x="548640" y="2770632"/>
            <a:ext cx="1463040" cy="402336"/>
          </a:xfrm>
          <a:prstGeom prst="roundRect">
            <a:avLst>
              <a:gd name="adj" fmla="val 22727"/>
            </a:avLst>
          </a:prstGeom>
          <a:solidFill>
            <a:srgbClr val="FEF3C7"/>
          </a:solidFill>
          <a:ln w="12700">
            <a:solidFill>
              <a:srgbClr val="FEF3C7"/>
            </a:solidFill>
            <a:prstDash val="solid"/>
          </a:ln>
        </p:spPr>
      </p:sp>
      <p:sp>
        <p:nvSpPr>
          <p:cNvPr id="18" name="Shape 16"/>
          <p:cNvSpPr/>
          <p:nvPr/>
        </p:nvSpPr>
        <p:spPr>
          <a:xfrm>
            <a:off x="685800" y="2930652"/>
            <a:ext cx="82296" cy="82296"/>
          </a:xfrm>
          <a:prstGeom prst="ellipse">
            <a:avLst/>
          </a:prstGeom>
          <a:solidFill>
            <a:srgbClr val="D97706"/>
          </a:solidFill>
          <a:ln w="12700">
            <a:solidFill>
              <a:srgbClr val="D97706"/>
            </a:solidFill>
            <a:prstDash val="solid"/>
          </a:ln>
        </p:spPr>
      </p:sp>
      <p:sp>
        <p:nvSpPr>
          <p:cNvPr id="19" name="Text 17"/>
          <p:cNvSpPr/>
          <p:nvPr/>
        </p:nvSpPr>
        <p:spPr>
          <a:xfrm>
            <a:off x="822960" y="2770632"/>
            <a:ext cx="117043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Chatty Service</a:t>
            </a:r>
            <a:endParaRPr lang="en-US" sz="1050" dirty="0"/>
          </a:p>
        </p:txBody>
      </p:sp>
      <p:sp>
        <p:nvSpPr>
          <p:cNvPr id="20" name="Shape 18"/>
          <p:cNvSpPr/>
          <p:nvPr/>
        </p:nvSpPr>
        <p:spPr>
          <a:xfrm>
            <a:off x="2148840" y="2770632"/>
            <a:ext cx="1691640" cy="402336"/>
          </a:xfrm>
          <a:prstGeom prst="roundRect">
            <a:avLst>
              <a:gd name="adj" fmla="val 22727"/>
            </a:avLst>
          </a:prstGeom>
          <a:solidFill>
            <a:srgbClr val="FEE2E2"/>
          </a:solidFill>
          <a:ln w="12700">
            <a:solidFill>
              <a:srgbClr val="FEE2E2"/>
            </a:solidFill>
            <a:prstDash val="solid"/>
          </a:ln>
        </p:spPr>
      </p:sp>
      <p:sp>
        <p:nvSpPr>
          <p:cNvPr id="21" name="Shape 19"/>
          <p:cNvSpPr/>
          <p:nvPr/>
        </p:nvSpPr>
        <p:spPr>
          <a:xfrm>
            <a:off x="2286000" y="2930652"/>
            <a:ext cx="82296" cy="82296"/>
          </a:xfrm>
          <a:prstGeom prst="ellipse">
            <a:avLst/>
          </a:prstGeom>
          <a:solidFill>
            <a:srgbClr val="DC2626"/>
          </a:solidFill>
          <a:ln w="12700">
            <a:solidFill>
              <a:srgbClr val="DC2626"/>
            </a:solidFill>
            <a:prstDash val="solid"/>
          </a:ln>
        </p:spPr>
      </p:sp>
      <p:sp>
        <p:nvSpPr>
          <p:cNvPr id="22" name="Text 20"/>
          <p:cNvSpPr/>
          <p:nvPr/>
        </p:nvSpPr>
        <p:spPr>
          <a:xfrm>
            <a:off x="2423160" y="2770632"/>
            <a:ext cx="139903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Cyclic Dependency</a:t>
            </a:r>
            <a:endParaRPr lang="en-US" sz="1050" dirty="0"/>
          </a:p>
        </p:txBody>
      </p:sp>
      <p:sp>
        <p:nvSpPr>
          <p:cNvPr id="23" name="Shape 21"/>
          <p:cNvSpPr/>
          <p:nvPr/>
        </p:nvSpPr>
        <p:spPr>
          <a:xfrm>
            <a:off x="3977640" y="2770632"/>
            <a:ext cx="1828800" cy="402336"/>
          </a:xfrm>
          <a:prstGeom prst="roundRect">
            <a:avLst>
              <a:gd name="adj" fmla="val 22727"/>
            </a:avLst>
          </a:prstGeom>
          <a:solidFill>
            <a:srgbClr val="DBEAFE"/>
          </a:solidFill>
          <a:ln w="12700">
            <a:solidFill>
              <a:srgbClr val="DBEAFE"/>
            </a:solidFill>
            <a:prstDash val="solid"/>
          </a:ln>
        </p:spPr>
      </p:sp>
      <p:sp>
        <p:nvSpPr>
          <p:cNvPr id="24" name="Shape 22"/>
          <p:cNvSpPr/>
          <p:nvPr/>
        </p:nvSpPr>
        <p:spPr>
          <a:xfrm>
            <a:off x="4114800" y="2930652"/>
            <a:ext cx="82296" cy="82296"/>
          </a:xfrm>
          <a:prstGeom prst="ellipse">
            <a:avLst/>
          </a:prstGeom>
          <a:solidFill>
            <a:srgbClr val="1C4E80"/>
          </a:solidFill>
          <a:ln w="12700">
            <a:solidFill>
              <a:srgbClr val="1C4E80"/>
            </a:solidFill>
            <a:prstDash val="solid"/>
          </a:ln>
        </p:spPr>
      </p:sp>
      <p:sp>
        <p:nvSpPr>
          <p:cNvPr id="25" name="Text 23"/>
          <p:cNvSpPr/>
          <p:nvPr/>
        </p:nvSpPr>
        <p:spPr>
          <a:xfrm>
            <a:off x="4251960" y="2770632"/>
            <a:ext cx="15361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Hardcoded Endpoints</a:t>
            </a:r>
            <a:endParaRPr lang="en-US" sz="1050" dirty="0"/>
          </a:p>
        </p:txBody>
      </p:sp>
      <p:sp>
        <p:nvSpPr>
          <p:cNvPr id="26" name="Shape 24"/>
          <p:cNvSpPr/>
          <p:nvPr/>
        </p:nvSpPr>
        <p:spPr>
          <a:xfrm>
            <a:off x="5943600" y="2770632"/>
            <a:ext cx="1188720" cy="402336"/>
          </a:xfrm>
          <a:prstGeom prst="roundRect">
            <a:avLst>
              <a:gd name="adj" fmla="val 22727"/>
            </a:avLst>
          </a:prstGeom>
          <a:solidFill>
            <a:srgbClr val="FEF3C7"/>
          </a:solidFill>
          <a:ln w="12700">
            <a:solidFill>
              <a:srgbClr val="FEF3C7"/>
            </a:solidFill>
            <a:prstDash val="solid"/>
          </a:ln>
        </p:spPr>
      </p:sp>
      <p:sp>
        <p:nvSpPr>
          <p:cNvPr id="27" name="Shape 25"/>
          <p:cNvSpPr/>
          <p:nvPr/>
        </p:nvSpPr>
        <p:spPr>
          <a:xfrm>
            <a:off x="6080760" y="2930652"/>
            <a:ext cx="82296" cy="82296"/>
          </a:xfrm>
          <a:prstGeom prst="ellipse">
            <a:avLst/>
          </a:prstGeom>
          <a:solidFill>
            <a:srgbClr val="D97706"/>
          </a:solidFill>
          <a:ln w="12700">
            <a:solidFill>
              <a:srgbClr val="D97706"/>
            </a:solidFill>
            <a:prstDash val="solid"/>
          </a:ln>
        </p:spPr>
      </p:sp>
      <p:sp>
        <p:nvSpPr>
          <p:cNvPr id="28" name="Text 26"/>
          <p:cNvSpPr/>
          <p:nvPr/>
        </p:nvSpPr>
        <p:spPr>
          <a:xfrm>
            <a:off x="6217920" y="2770632"/>
            <a:ext cx="89611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ESB Misuse</a:t>
            </a:r>
            <a:endParaRPr lang="en-US" sz="1050" dirty="0"/>
          </a:p>
        </p:txBody>
      </p:sp>
      <p:sp>
        <p:nvSpPr>
          <p:cNvPr id="29" name="Text 27"/>
          <p:cNvSpPr/>
          <p:nvPr/>
        </p:nvSpPr>
        <p:spPr>
          <a:xfrm>
            <a:off x="548640" y="3566160"/>
            <a:ext cx="4023360" cy="256032"/>
          </a:xfrm>
          <a:prstGeom prst="rect">
            <a:avLst/>
          </a:prstGeom>
          <a:noFill/>
          <a:ln/>
        </p:spPr>
        <p:txBody>
          <a:bodyPr wrap="square" lIns="0" tIns="0" rIns="0" bIns="0" rtlCol="0" anchor="ctr"/>
          <a:lstStyle/>
          <a:p>
            <a:pPr indent="0" marL="0">
              <a:buNone/>
            </a:pPr>
            <a:r>
              <a:rPr lang="en-US" sz="1050" b="1" spc="200" kern="0" dirty="0">
                <a:solidFill>
                  <a:srgbClr val="0F2A44"/>
                </a:solidFill>
                <a:latin typeface="Calibri" pitchFamily="34" charset="0"/>
                <a:ea typeface="Calibri" pitchFamily="34" charset="-122"/>
                <a:cs typeface="Calibri" pitchFamily="34" charset="-120"/>
              </a:rPr>
              <a:t>DEPLOYMENT &amp; COUPLING</a:t>
            </a:r>
            <a:endParaRPr lang="en-US" sz="1050" dirty="0"/>
          </a:p>
        </p:txBody>
      </p:sp>
      <p:sp>
        <p:nvSpPr>
          <p:cNvPr id="30" name="Shape 28"/>
          <p:cNvSpPr/>
          <p:nvPr/>
        </p:nvSpPr>
        <p:spPr>
          <a:xfrm>
            <a:off x="548640" y="3867912"/>
            <a:ext cx="1828800" cy="402336"/>
          </a:xfrm>
          <a:prstGeom prst="roundRect">
            <a:avLst>
              <a:gd name="adj" fmla="val 22727"/>
            </a:avLst>
          </a:prstGeom>
          <a:solidFill>
            <a:srgbClr val="FEE2E2"/>
          </a:solidFill>
          <a:ln w="12700">
            <a:solidFill>
              <a:srgbClr val="FEE2E2"/>
            </a:solidFill>
            <a:prstDash val="solid"/>
          </a:ln>
        </p:spPr>
      </p:sp>
      <p:sp>
        <p:nvSpPr>
          <p:cNvPr id="31" name="Shape 29"/>
          <p:cNvSpPr/>
          <p:nvPr/>
        </p:nvSpPr>
        <p:spPr>
          <a:xfrm>
            <a:off x="685800" y="4027932"/>
            <a:ext cx="82296" cy="82296"/>
          </a:xfrm>
          <a:prstGeom prst="ellipse">
            <a:avLst/>
          </a:prstGeom>
          <a:solidFill>
            <a:srgbClr val="DC2626"/>
          </a:solidFill>
          <a:ln w="12700">
            <a:solidFill>
              <a:srgbClr val="DC2626"/>
            </a:solidFill>
            <a:prstDash val="solid"/>
          </a:ln>
        </p:spPr>
      </p:sp>
      <p:sp>
        <p:nvSpPr>
          <p:cNvPr id="32" name="Text 30"/>
          <p:cNvSpPr/>
          <p:nvPr/>
        </p:nvSpPr>
        <p:spPr>
          <a:xfrm>
            <a:off x="822960" y="3867912"/>
            <a:ext cx="15361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Distributed Monolith</a:t>
            </a:r>
            <a:endParaRPr lang="en-US" sz="1050" dirty="0"/>
          </a:p>
        </p:txBody>
      </p:sp>
      <p:sp>
        <p:nvSpPr>
          <p:cNvPr id="33" name="Shape 31"/>
          <p:cNvSpPr/>
          <p:nvPr/>
        </p:nvSpPr>
        <p:spPr>
          <a:xfrm>
            <a:off x="2514600" y="3867912"/>
            <a:ext cx="2057400" cy="402336"/>
          </a:xfrm>
          <a:prstGeom prst="roundRect">
            <a:avLst>
              <a:gd name="adj" fmla="val 22727"/>
            </a:avLst>
          </a:prstGeom>
          <a:solidFill>
            <a:srgbClr val="DBEAFE"/>
          </a:solidFill>
          <a:ln w="12700">
            <a:solidFill>
              <a:srgbClr val="DBEAFE"/>
            </a:solidFill>
            <a:prstDash val="solid"/>
          </a:ln>
        </p:spPr>
      </p:sp>
      <p:sp>
        <p:nvSpPr>
          <p:cNvPr id="34" name="Shape 32"/>
          <p:cNvSpPr/>
          <p:nvPr/>
        </p:nvSpPr>
        <p:spPr>
          <a:xfrm>
            <a:off x="2651760" y="4027932"/>
            <a:ext cx="82296" cy="82296"/>
          </a:xfrm>
          <a:prstGeom prst="ellipse">
            <a:avLst/>
          </a:prstGeom>
          <a:solidFill>
            <a:srgbClr val="1C4E80"/>
          </a:solidFill>
          <a:ln w="12700">
            <a:solidFill>
              <a:srgbClr val="1C4E80"/>
            </a:solidFill>
            <a:prstDash val="solid"/>
          </a:ln>
        </p:spPr>
      </p:sp>
      <p:sp>
        <p:nvSpPr>
          <p:cNvPr id="35" name="Text 33"/>
          <p:cNvSpPr/>
          <p:nvPr/>
        </p:nvSpPr>
        <p:spPr>
          <a:xfrm>
            <a:off x="2788920" y="3867912"/>
            <a:ext cx="176479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API Versioning Absence</a:t>
            </a:r>
            <a:endParaRPr lang="en-US" sz="1050" dirty="0"/>
          </a:p>
        </p:txBody>
      </p:sp>
      <p:sp>
        <p:nvSpPr>
          <p:cNvPr id="36" name="Shape 34"/>
          <p:cNvSpPr/>
          <p:nvPr/>
        </p:nvSpPr>
        <p:spPr>
          <a:xfrm>
            <a:off x="4709160" y="3867912"/>
            <a:ext cx="1188720" cy="402336"/>
          </a:xfrm>
          <a:prstGeom prst="roundRect">
            <a:avLst>
              <a:gd name="adj" fmla="val 22727"/>
            </a:avLst>
          </a:prstGeom>
          <a:solidFill>
            <a:srgbClr val="FEF3C7"/>
          </a:solidFill>
          <a:ln w="12700">
            <a:solidFill>
              <a:srgbClr val="FEF3C7"/>
            </a:solidFill>
            <a:prstDash val="solid"/>
          </a:ln>
        </p:spPr>
      </p:sp>
      <p:sp>
        <p:nvSpPr>
          <p:cNvPr id="37" name="Shape 35"/>
          <p:cNvSpPr/>
          <p:nvPr/>
        </p:nvSpPr>
        <p:spPr>
          <a:xfrm>
            <a:off x="4846320" y="4027932"/>
            <a:ext cx="82296" cy="82296"/>
          </a:xfrm>
          <a:prstGeom prst="ellipse">
            <a:avLst/>
          </a:prstGeom>
          <a:solidFill>
            <a:srgbClr val="D97706"/>
          </a:solidFill>
          <a:ln w="12700">
            <a:solidFill>
              <a:srgbClr val="D97706"/>
            </a:solidFill>
            <a:prstDash val="solid"/>
          </a:ln>
        </p:spPr>
      </p:sp>
      <p:sp>
        <p:nvSpPr>
          <p:cNvPr id="38" name="Text 36"/>
          <p:cNvSpPr/>
          <p:nvPr/>
        </p:nvSpPr>
        <p:spPr>
          <a:xfrm>
            <a:off x="4983480" y="3867912"/>
            <a:ext cx="896112" cy="402336"/>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Wrong Cuts</a:t>
            </a:r>
            <a:endParaRPr lang="en-US" sz="1050" dirty="0"/>
          </a:p>
        </p:txBody>
      </p:sp>
      <p:sp>
        <p:nvSpPr>
          <p:cNvPr id="39" name="Shape 37"/>
          <p:cNvSpPr/>
          <p:nvPr/>
        </p:nvSpPr>
        <p:spPr>
          <a:xfrm>
            <a:off x="548640" y="4434840"/>
            <a:ext cx="457200" cy="36576"/>
          </a:xfrm>
          <a:prstGeom prst="rect">
            <a:avLst/>
          </a:prstGeom>
          <a:solidFill>
            <a:srgbClr val="0D9488"/>
          </a:solidFill>
          <a:ln w="12700">
            <a:solidFill>
              <a:srgbClr val="0D9488"/>
            </a:solidFill>
            <a:prstDash val="solid"/>
          </a:ln>
        </p:spPr>
      </p:sp>
      <p:sp>
        <p:nvSpPr>
          <p:cNvPr id="40" name="Text 38"/>
          <p:cNvSpPr/>
          <p:nvPr/>
        </p:nvSpPr>
        <p:spPr>
          <a:xfrm>
            <a:off x="548640" y="4526280"/>
            <a:ext cx="8046720" cy="292608"/>
          </a:xfrm>
          <a:prstGeom prst="rect">
            <a:avLst/>
          </a:prstGeom>
          <a:noFill/>
          <a:ln/>
        </p:spPr>
        <p:txBody>
          <a:bodyPr wrap="square" lIns="0" tIns="0" rIns="0" bIns="0" rtlCol="0" anchor="ctr"/>
          <a:lstStyle/>
          <a:p>
            <a:pPr indent="0" marL="0">
              <a:buNone/>
            </a:pPr>
            <a:r>
              <a:rPr lang="en-US" sz="1150" dirty="0">
                <a:solidFill>
                  <a:srgbClr val="0F2A44"/>
                </a:solidFill>
                <a:latin typeface="Calibri" pitchFamily="34" charset="0"/>
                <a:ea typeface="Calibri" pitchFamily="34" charset="-122"/>
                <a:cs typeface="Calibri" pitchFamily="34" charset="-120"/>
              </a:rPr>
              <a:t>All detectors are pluggable Strategy components with configurable thresholds</a:t>
            </a:r>
            <a:endParaRPr lang="en-US" sz="1150" dirty="0"/>
          </a:p>
        </p:txBody>
      </p:sp>
      <p:sp>
        <p:nvSpPr>
          <p:cNvPr id="41" name="Text 39"/>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Composite health score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Shape 2"/>
          <p:cNvSpPr/>
          <p:nvPr/>
        </p:nvSpPr>
        <p:spPr>
          <a:xfrm>
            <a:off x="548640" y="1051560"/>
            <a:ext cx="1874520" cy="41148"/>
          </a:xfrm>
          <a:prstGeom prst="rect">
            <a:avLst/>
          </a:prstGeom>
          <a:solidFill>
            <a:srgbClr val="DC2626"/>
          </a:solidFill>
          <a:ln w="12700">
            <a:solidFill>
              <a:srgbClr val="DC2626"/>
            </a:solidFill>
            <a:prstDash val="solid"/>
          </a:ln>
        </p:spPr>
      </p:sp>
      <p:sp>
        <p:nvSpPr>
          <p:cNvPr id="5" name="Text 3"/>
          <p:cNvSpPr/>
          <p:nvPr/>
        </p:nvSpPr>
        <p:spPr>
          <a:xfrm>
            <a:off x="5486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40</a:t>
            </a:r>
            <a:endParaRPr lang="en-US" sz="3000" dirty="0"/>
          </a:p>
        </p:txBody>
      </p:sp>
      <p:sp>
        <p:nvSpPr>
          <p:cNvPr id="6" name="Text 4"/>
          <p:cNvSpPr/>
          <p:nvPr/>
        </p:nvSpPr>
        <p:spPr>
          <a:xfrm>
            <a:off x="5486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Anti-Patterns</a:t>
            </a:r>
            <a:endParaRPr lang="en-US" sz="1250" dirty="0"/>
          </a:p>
        </p:txBody>
      </p:sp>
      <p:sp>
        <p:nvSpPr>
          <p:cNvPr id="7" name="Text 5"/>
          <p:cNvSpPr/>
          <p:nvPr/>
        </p:nvSpPr>
        <p:spPr>
          <a:xfrm>
            <a:off x="5486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1051560"/>
            <a:ext cx="1874520" cy="41148"/>
          </a:xfrm>
          <a:prstGeom prst="rect">
            <a:avLst/>
          </a:prstGeom>
          <a:solidFill>
            <a:srgbClr val="D97706"/>
          </a:solidFill>
          <a:ln w="12700">
            <a:solidFill>
              <a:srgbClr val="D97706"/>
            </a:solidFill>
            <a:prstDash val="solid"/>
          </a:ln>
        </p:spPr>
      </p:sp>
      <p:sp>
        <p:nvSpPr>
          <p:cNvPr id="9" name="Text 7"/>
          <p:cNvSpPr/>
          <p:nvPr/>
        </p:nvSpPr>
        <p:spPr>
          <a:xfrm>
            <a:off x="26060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20</a:t>
            </a:r>
            <a:endParaRPr lang="en-US" sz="3000" dirty="0"/>
          </a:p>
        </p:txBody>
      </p:sp>
      <p:sp>
        <p:nvSpPr>
          <p:cNvPr id="10" name="Text 8"/>
          <p:cNvSpPr/>
          <p:nvPr/>
        </p:nvSpPr>
        <p:spPr>
          <a:xfrm>
            <a:off x="26060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Code Quality</a:t>
            </a:r>
            <a:endParaRPr lang="en-US" sz="1250" dirty="0"/>
          </a:p>
        </p:txBody>
      </p:sp>
      <p:sp>
        <p:nvSpPr>
          <p:cNvPr id="11" name="Text 9"/>
          <p:cNvSpPr/>
          <p:nvPr/>
        </p:nvSpPr>
        <p:spPr>
          <a:xfrm>
            <a:off x="26060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2" name="Shape 10"/>
          <p:cNvSpPr/>
          <p:nvPr/>
        </p:nvSpPr>
        <p:spPr>
          <a:xfrm>
            <a:off x="4663440" y="1051560"/>
            <a:ext cx="1874520" cy="41148"/>
          </a:xfrm>
          <a:prstGeom prst="rect">
            <a:avLst/>
          </a:prstGeom>
          <a:solidFill>
            <a:srgbClr val="1C4E80"/>
          </a:solidFill>
          <a:ln w="12700">
            <a:solidFill>
              <a:srgbClr val="1C4E80"/>
            </a:solidFill>
            <a:prstDash val="solid"/>
          </a:ln>
        </p:spPr>
      </p:sp>
      <p:sp>
        <p:nvSpPr>
          <p:cNvPr id="13" name="Text 11"/>
          <p:cNvSpPr/>
          <p:nvPr/>
        </p:nvSpPr>
        <p:spPr>
          <a:xfrm>
            <a:off x="46634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25</a:t>
            </a:r>
            <a:endParaRPr lang="en-US" sz="3000" dirty="0"/>
          </a:p>
        </p:txBody>
      </p:sp>
      <p:sp>
        <p:nvSpPr>
          <p:cNvPr id="14" name="Text 12"/>
          <p:cNvSpPr/>
          <p:nvPr/>
        </p:nvSpPr>
        <p:spPr>
          <a:xfrm>
            <a:off x="46634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Architecture</a:t>
            </a:r>
            <a:endParaRPr lang="en-US" sz="1250" dirty="0"/>
          </a:p>
        </p:txBody>
      </p:sp>
      <p:sp>
        <p:nvSpPr>
          <p:cNvPr id="15" name="Text 13"/>
          <p:cNvSpPr/>
          <p:nvPr/>
        </p:nvSpPr>
        <p:spPr>
          <a:xfrm>
            <a:off x="46634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6" name="Shape 14"/>
          <p:cNvSpPr/>
          <p:nvPr/>
        </p:nvSpPr>
        <p:spPr>
          <a:xfrm>
            <a:off x="6720840" y="1051560"/>
            <a:ext cx="1874520" cy="41148"/>
          </a:xfrm>
          <a:prstGeom prst="rect">
            <a:avLst/>
          </a:prstGeom>
          <a:solidFill>
            <a:srgbClr val="0D9488"/>
          </a:solidFill>
          <a:ln w="12700">
            <a:solidFill>
              <a:srgbClr val="0D9488"/>
            </a:solidFill>
            <a:prstDash val="solid"/>
          </a:ln>
        </p:spPr>
      </p:sp>
      <p:sp>
        <p:nvSpPr>
          <p:cNvPr id="17" name="Text 15"/>
          <p:cNvSpPr/>
          <p:nvPr/>
        </p:nvSpPr>
        <p:spPr>
          <a:xfrm>
            <a:off x="6720840" y="1170432"/>
            <a:ext cx="1874520" cy="502920"/>
          </a:xfrm>
          <a:prstGeom prst="rect">
            <a:avLst/>
          </a:prstGeom>
          <a:noFill/>
          <a:ln/>
        </p:spPr>
        <p:txBody>
          <a:bodyPr wrap="square" lIns="0" tIns="0" rIns="0" bIns="0" rtlCol="0" anchor="ctr"/>
          <a:lstStyle/>
          <a:p>
            <a:pPr indent="0" marL="0">
              <a:buNone/>
            </a:pPr>
            <a:r>
              <a:rPr lang="en-US" sz="3000" b="1" dirty="0">
                <a:solidFill>
                  <a:srgbClr val="0F2A44"/>
                </a:solidFill>
                <a:latin typeface="Calibri" pitchFamily="34" charset="0"/>
                <a:ea typeface="Calibri" pitchFamily="34" charset="-122"/>
                <a:cs typeface="Calibri" pitchFamily="34" charset="-120"/>
              </a:rPr>
              <a:t>15</a:t>
            </a:r>
            <a:endParaRPr lang="en-US" sz="3000" dirty="0"/>
          </a:p>
        </p:txBody>
      </p:sp>
      <p:sp>
        <p:nvSpPr>
          <p:cNvPr id="18" name="Text 16"/>
          <p:cNvSpPr/>
          <p:nvPr/>
        </p:nvSpPr>
        <p:spPr>
          <a:xfrm>
            <a:off x="6720840" y="1700784"/>
            <a:ext cx="18745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Service Sizing</a:t>
            </a:r>
            <a:endParaRPr lang="en-US" sz="1250" dirty="0"/>
          </a:p>
        </p:txBody>
      </p:sp>
      <p:sp>
        <p:nvSpPr>
          <p:cNvPr id="19" name="Text 17"/>
          <p:cNvSpPr/>
          <p:nvPr/>
        </p:nvSpPr>
        <p:spPr>
          <a:xfrm>
            <a:off x="6720840" y="1993392"/>
            <a:ext cx="1874520" cy="548640"/>
          </a:xfrm>
          <a:prstGeom prst="rect">
            <a:avLst/>
          </a:prstGeom>
          <a:noFill/>
          <a:ln/>
        </p:spPr>
        <p:txBody>
          <a:bodyPr wrap="square" lIns="0" tIns="0" rIns="0" bIns="0" rtlCol="0" anchor="ctr"/>
          <a:lstStyle/>
          <a:p>
            <a:pPr indent="0" marL="0">
              <a:buNone/>
            </a:pPr>
            <a:r>
              <a:rPr lang="en-US" sz="950"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0" name="Text 18"/>
          <p:cNvSpPr/>
          <p:nvPr/>
        </p:nvSpPr>
        <p:spPr>
          <a:xfrm>
            <a:off x="548640" y="2724912"/>
            <a:ext cx="80467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Letter grade scale</a:t>
            </a:r>
            <a:endParaRPr lang="en-US" sz="1250" dirty="0"/>
          </a:p>
        </p:txBody>
      </p:sp>
      <p:sp>
        <p:nvSpPr>
          <p:cNvPr id="21" name="Shape 19"/>
          <p:cNvSpPr/>
          <p:nvPr/>
        </p:nvSpPr>
        <p:spPr>
          <a:xfrm>
            <a:off x="548640" y="3035808"/>
            <a:ext cx="1572768" cy="457200"/>
          </a:xfrm>
          <a:prstGeom prst="rect">
            <a:avLst/>
          </a:prstGeom>
          <a:solidFill>
            <a:srgbClr val="059669"/>
          </a:solidFill>
          <a:ln w="12700">
            <a:solidFill>
              <a:srgbClr val="059669"/>
            </a:solidFill>
            <a:prstDash val="solid"/>
          </a:ln>
        </p:spPr>
      </p:sp>
      <p:sp>
        <p:nvSpPr>
          <p:cNvPr id="22" name="Text 20"/>
          <p:cNvSpPr/>
          <p:nvPr/>
        </p:nvSpPr>
        <p:spPr>
          <a:xfrm>
            <a:off x="685800"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a:t>
            </a:r>
            <a:pPr indent="0" marL="0">
              <a:buNone/>
            </a:pPr>
            <a:r>
              <a:rPr lang="en-US" sz="1100" dirty="0">
                <a:solidFill>
                  <a:srgbClr val="FFFFFF"/>
                </a:solidFill>
                <a:latin typeface="Calibri" pitchFamily="34" charset="0"/>
                <a:ea typeface="Calibri" pitchFamily="34" charset="-122"/>
                <a:cs typeface="Calibri" pitchFamily="34" charset="-120"/>
              </a:rPr>
              <a:t>≥ 90</a:t>
            </a:r>
            <a:endParaRPr lang="en-US" sz="1400" dirty="0"/>
          </a:p>
        </p:txBody>
      </p:sp>
      <p:sp>
        <p:nvSpPr>
          <p:cNvPr id="23" name="Shape 21"/>
          <p:cNvSpPr/>
          <p:nvPr/>
        </p:nvSpPr>
        <p:spPr>
          <a:xfrm>
            <a:off x="2157984" y="3035808"/>
            <a:ext cx="1572768" cy="457200"/>
          </a:xfrm>
          <a:prstGeom prst="rect">
            <a:avLst/>
          </a:prstGeom>
          <a:solidFill>
            <a:srgbClr val="0D9488"/>
          </a:solidFill>
          <a:ln w="12700">
            <a:solidFill>
              <a:srgbClr val="0D9488"/>
            </a:solidFill>
            <a:prstDash val="solid"/>
          </a:ln>
        </p:spPr>
      </p:sp>
      <p:sp>
        <p:nvSpPr>
          <p:cNvPr id="24" name="Text 22"/>
          <p:cNvSpPr/>
          <p:nvPr/>
        </p:nvSpPr>
        <p:spPr>
          <a:xfrm>
            <a:off x="2295144"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  </a:t>
            </a:r>
            <a:pPr indent="0" marL="0">
              <a:buNone/>
            </a:pPr>
            <a:r>
              <a:rPr lang="en-US" sz="1100" dirty="0">
                <a:solidFill>
                  <a:srgbClr val="FFFFFF"/>
                </a:solidFill>
                <a:latin typeface="Calibri" pitchFamily="34" charset="0"/>
                <a:ea typeface="Calibri" pitchFamily="34" charset="-122"/>
                <a:cs typeface="Calibri" pitchFamily="34" charset="-120"/>
              </a:rPr>
              <a:t>≥ 80</a:t>
            </a:r>
            <a:endParaRPr lang="en-US" sz="1400" dirty="0"/>
          </a:p>
        </p:txBody>
      </p:sp>
      <p:sp>
        <p:nvSpPr>
          <p:cNvPr id="25" name="Shape 23"/>
          <p:cNvSpPr/>
          <p:nvPr/>
        </p:nvSpPr>
        <p:spPr>
          <a:xfrm>
            <a:off x="3767328" y="3035808"/>
            <a:ext cx="1572768" cy="457200"/>
          </a:xfrm>
          <a:prstGeom prst="rect">
            <a:avLst/>
          </a:prstGeom>
          <a:solidFill>
            <a:srgbClr val="1C4E80"/>
          </a:solidFill>
          <a:ln w="12700">
            <a:solidFill>
              <a:srgbClr val="1C4E80"/>
            </a:solidFill>
            <a:prstDash val="solid"/>
          </a:ln>
        </p:spPr>
      </p:sp>
      <p:sp>
        <p:nvSpPr>
          <p:cNvPr id="26" name="Text 24"/>
          <p:cNvSpPr/>
          <p:nvPr/>
        </p:nvSpPr>
        <p:spPr>
          <a:xfrm>
            <a:off x="3904488"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  </a:t>
            </a:r>
            <a:pPr indent="0" marL="0">
              <a:buNone/>
            </a:pPr>
            <a:r>
              <a:rPr lang="en-US" sz="1100" dirty="0">
                <a:solidFill>
                  <a:srgbClr val="FFFFFF"/>
                </a:solidFill>
                <a:latin typeface="Calibri" pitchFamily="34" charset="0"/>
                <a:ea typeface="Calibri" pitchFamily="34" charset="-122"/>
                <a:cs typeface="Calibri" pitchFamily="34" charset="-120"/>
              </a:rPr>
              <a:t>≥ 65</a:t>
            </a:r>
            <a:endParaRPr lang="en-US" sz="1400" dirty="0"/>
          </a:p>
        </p:txBody>
      </p:sp>
      <p:sp>
        <p:nvSpPr>
          <p:cNvPr id="27" name="Shape 25"/>
          <p:cNvSpPr/>
          <p:nvPr/>
        </p:nvSpPr>
        <p:spPr>
          <a:xfrm>
            <a:off x="5376672" y="3035808"/>
            <a:ext cx="1572768" cy="457200"/>
          </a:xfrm>
          <a:prstGeom prst="rect">
            <a:avLst/>
          </a:prstGeom>
          <a:solidFill>
            <a:srgbClr val="D97706"/>
          </a:solidFill>
          <a:ln w="12700">
            <a:solidFill>
              <a:srgbClr val="D97706"/>
            </a:solidFill>
            <a:prstDash val="solid"/>
          </a:ln>
        </p:spPr>
      </p:sp>
      <p:sp>
        <p:nvSpPr>
          <p:cNvPr id="28" name="Text 26"/>
          <p:cNvSpPr/>
          <p:nvPr/>
        </p:nvSpPr>
        <p:spPr>
          <a:xfrm>
            <a:off x="5513832"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  </a:t>
            </a:r>
            <a:pPr indent="0" marL="0">
              <a:buNone/>
            </a:pPr>
            <a:r>
              <a:rPr lang="en-US" sz="1100" dirty="0">
                <a:solidFill>
                  <a:srgbClr val="FFFFFF"/>
                </a:solidFill>
                <a:latin typeface="Calibri" pitchFamily="34" charset="0"/>
                <a:ea typeface="Calibri" pitchFamily="34" charset="-122"/>
                <a:cs typeface="Calibri" pitchFamily="34" charset="-120"/>
              </a:rPr>
              <a:t>≥ 50</a:t>
            </a:r>
            <a:endParaRPr lang="en-US" sz="1400" dirty="0"/>
          </a:p>
        </p:txBody>
      </p:sp>
      <p:sp>
        <p:nvSpPr>
          <p:cNvPr id="29" name="Shape 27"/>
          <p:cNvSpPr/>
          <p:nvPr/>
        </p:nvSpPr>
        <p:spPr>
          <a:xfrm>
            <a:off x="6986016" y="3035808"/>
            <a:ext cx="1572768" cy="457200"/>
          </a:xfrm>
          <a:prstGeom prst="rect">
            <a:avLst/>
          </a:prstGeom>
          <a:solidFill>
            <a:srgbClr val="DC2626"/>
          </a:solidFill>
          <a:ln w="12700">
            <a:solidFill>
              <a:srgbClr val="DC2626"/>
            </a:solidFill>
            <a:prstDash val="solid"/>
          </a:ln>
        </p:spPr>
      </p:sp>
      <p:sp>
        <p:nvSpPr>
          <p:cNvPr id="30" name="Text 28"/>
          <p:cNvSpPr/>
          <p:nvPr/>
        </p:nvSpPr>
        <p:spPr>
          <a:xfrm>
            <a:off x="7123176" y="3035808"/>
            <a:ext cx="1426464"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  </a:t>
            </a:r>
            <a:pPr indent="0" marL="0">
              <a:buNone/>
            </a:pPr>
            <a:r>
              <a:rPr lang="en-US" sz="1100" dirty="0">
                <a:solidFill>
                  <a:srgbClr val="FFFFFF"/>
                </a:solidFill>
                <a:latin typeface="Calibri" pitchFamily="34" charset="0"/>
                <a:ea typeface="Calibri" pitchFamily="34" charset="-122"/>
                <a:cs typeface="Calibri" pitchFamily="34" charset="-120"/>
              </a:rPr>
              <a:t>&lt; 50</a:t>
            </a:r>
            <a:endParaRPr lang="en-US" sz="1400" dirty="0"/>
          </a:p>
        </p:txBody>
      </p:sp>
      <p:sp>
        <p:nvSpPr>
          <p:cNvPr id="31" name="Text 29"/>
          <p:cNvSpPr/>
          <p:nvPr/>
        </p:nvSpPr>
        <p:spPr>
          <a:xfrm>
            <a:off x="548640" y="3822192"/>
            <a:ext cx="8046720" cy="274320"/>
          </a:xfrm>
          <a:prstGeom prst="rect">
            <a:avLst/>
          </a:prstGeom>
          <a:noFill/>
          <a:ln/>
        </p:spPr>
        <p:txBody>
          <a:bodyPr wrap="square" lIns="0" tIns="0" rIns="0" bIns="0" rtlCol="0" anchor="ctr"/>
          <a:lstStyle/>
          <a:p>
            <a:pPr indent="0" marL="0">
              <a:buNone/>
            </a:pPr>
            <a:r>
              <a:rPr lang="en-US" sz="1250" b="1" dirty="0">
                <a:solidFill>
                  <a:srgbClr val="0F2A44"/>
                </a:solidFill>
                <a:latin typeface="Calibri" pitchFamily="34" charset="0"/>
                <a:ea typeface="Calibri" pitchFamily="34" charset="-122"/>
                <a:cs typeface="Calibri" pitchFamily="34" charset="-120"/>
              </a:rPr>
              <a:t>Why decompose?</a:t>
            </a:r>
            <a:endParaRPr lang="en-US" sz="1250" dirty="0"/>
          </a:p>
        </p:txBody>
      </p:sp>
      <p:sp>
        <p:nvSpPr>
          <p:cNvPr id="32" name="Text 30"/>
          <p:cNvSpPr/>
          <p:nvPr/>
        </p:nvSpPr>
        <p:spPr>
          <a:xfrm>
            <a:off x="548640" y="4114800"/>
            <a:ext cx="8046720" cy="54864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 single number tells teams whether quality is improving; the per-category breakdown tells them which dimension needs attention. Both views are exposed via the analysis-diff feature for tracking over time.</a:t>
            </a:r>
            <a:endParaRPr lang="en-US" sz="1100" dirty="0"/>
          </a:p>
        </p:txBody>
      </p:sp>
      <p:sp>
        <p:nvSpPr>
          <p:cNvPr id="33" name="Text 31"/>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Worked example: microservice-recruit</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87552"/>
            <a:ext cx="393192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5" name="Text 3"/>
          <p:cNvSpPr/>
          <p:nvPr/>
        </p:nvSpPr>
        <p:spPr>
          <a:xfrm>
            <a:off x="548640" y="1353312"/>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1005840" y="1353312"/>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46120" y="1353312"/>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548640" y="1618488"/>
            <a:ext cx="3931920" cy="10973"/>
          </a:xfrm>
          <a:prstGeom prst="rect">
            <a:avLst/>
          </a:prstGeom>
          <a:solidFill>
            <a:srgbClr val="D8DEE6"/>
          </a:solidFill>
          <a:ln w="12700">
            <a:solidFill>
              <a:srgbClr val="D8DEE6"/>
            </a:solidFill>
            <a:prstDash val="solid"/>
          </a:ln>
        </p:spPr>
      </p:sp>
      <p:sp>
        <p:nvSpPr>
          <p:cNvPr id="9" name="Text 7"/>
          <p:cNvSpPr/>
          <p:nvPr/>
        </p:nvSpPr>
        <p:spPr>
          <a:xfrm>
            <a:off x="548640" y="1655064"/>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005840" y="1655064"/>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46120" y="1655064"/>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548640" y="1920240"/>
            <a:ext cx="3931920" cy="10973"/>
          </a:xfrm>
          <a:prstGeom prst="rect">
            <a:avLst/>
          </a:prstGeom>
          <a:solidFill>
            <a:srgbClr val="D8DEE6"/>
          </a:solidFill>
          <a:ln w="12700">
            <a:solidFill>
              <a:srgbClr val="D8DEE6"/>
            </a:solidFill>
            <a:prstDash val="solid"/>
          </a:ln>
        </p:spPr>
      </p:sp>
      <p:sp>
        <p:nvSpPr>
          <p:cNvPr id="13" name="Text 11"/>
          <p:cNvSpPr/>
          <p:nvPr/>
        </p:nvSpPr>
        <p:spPr>
          <a:xfrm>
            <a:off x="548640" y="1956816"/>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1005840" y="1956816"/>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46120" y="1956816"/>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548640" y="2221992"/>
            <a:ext cx="3931920" cy="10973"/>
          </a:xfrm>
          <a:prstGeom prst="rect">
            <a:avLst/>
          </a:prstGeom>
          <a:solidFill>
            <a:srgbClr val="D8DEE6"/>
          </a:solidFill>
          <a:ln w="12700">
            <a:solidFill>
              <a:srgbClr val="D8DEE6"/>
            </a:solidFill>
            <a:prstDash val="solid"/>
          </a:ln>
        </p:spPr>
      </p:sp>
      <p:sp>
        <p:nvSpPr>
          <p:cNvPr id="17" name="Text 15"/>
          <p:cNvSpPr/>
          <p:nvPr/>
        </p:nvSpPr>
        <p:spPr>
          <a:xfrm>
            <a:off x="548640" y="2258568"/>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1005840" y="2258568"/>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46120" y="2258568"/>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20" name="Shape 18"/>
          <p:cNvSpPr/>
          <p:nvPr/>
        </p:nvSpPr>
        <p:spPr>
          <a:xfrm>
            <a:off x="548640" y="2523744"/>
            <a:ext cx="3931920" cy="10973"/>
          </a:xfrm>
          <a:prstGeom prst="rect">
            <a:avLst/>
          </a:prstGeom>
          <a:solidFill>
            <a:srgbClr val="D8DEE6"/>
          </a:solidFill>
          <a:ln w="12700">
            <a:solidFill>
              <a:srgbClr val="D8DEE6"/>
            </a:solidFill>
            <a:prstDash val="solid"/>
          </a:ln>
        </p:spPr>
      </p:sp>
      <p:sp>
        <p:nvSpPr>
          <p:cNvPr id="21" name="Text 19"/>
          <p:cNvSpPr/>
          <p:nvPr/>
        </p:nvSpPr>
        <p:spPr>
          <a:xfrm>
            <a:off x="548640" y="2560320"/>
            <a:ext cx="411480" cy="274320"/>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005840" y="2560320"/>
            <a:ext cx="2240280" cy="27432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46120" y="2560320"/>
            <a:ext cx="123444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Shape 22"/>
          <p:cNvSpPr/>
          <p:nvPr/>
        </p:nvSpPr>
        <p:spPr>
          <a:xfrm>
            <a:off x="548640" y="2825496"/>
            <a:ext cx="3931920" cy="10973"/>
          </a:xfrm>
          <a:prstGeom prst="rect">
            <a:avLst/>
          </a:prstGeom>
          <a:solidFill>
            <a:srgbClr val="D8DEE6"/>
          </a:solidFill>
          <a:ln w="12700">
            <a:solidFill>
              <a:srgbClr val="D8DEE6"/>
            </a:solidFill>
            <a:prstDash val="solid"/>
          </a:ln>
        </p:spPr>
      </p:sp>
      <p:sp>
        <p:nvSpPr>
          <p:cNvPr id="25" name="Text 23"/>
          <p:cNvSpPr/>
          <p:nvPr/>
        </p:nvSpPr>
        <p:spPr>
          <a:xfrm>
            <a:off x="548640" y="2944368"/>
            <a:ext cx="3931920" cy="292608"/>
          </a:xfrm>
          <a:prstGeom prst="rect">
            <a:avLst/>
          </a:prstGeom>
          <a:noFill/>
          <a:ln/>
        </p:spPr>
        <p:txBody>
          <a:bodyPr wrap="square" lIns="0" tIns="0" rIns="0" bIns="0" rtlCol="0" anchor="ctr"/>
          <a:lstStyle/>
          <a:p>
            <a:pPr indent="0" marL="0">
              <a:buNone/>
            </a:pPr>
            <a:r>
              <a:rPr lang="en-US" sz="1150" b="1" dirty="0">
                <a:solidFill>
                  <a:srgbClr val="0F2A44"/>
                </a:solidFill>
                <a:latin typeface="Calibri" pitchFamily="34" charset="0"/>
                <a:ea typeface="Calibri" pitchFamily="34" charset="-122"/>
                <a:cs typeface="Calibri" pitchFamily="34" charset="-120"/>
              </a:rPr>
              <a:t>Total penalty 49  →  category clamps at 0 / 40</a:t>
            </a:r>
            <a:endParaRPr lang="en-US" sz="1150" dirty="0"/>
          </a:p>
        </p:txBody>
      </p:sp>
      <p:sp>
        <p:nvSpPr>
          <p:cNvPr id="26" name="Text 24"/>
          <p:cNvSpPr/>
          <p:nvPr/>
        </p:nvSpPr>
        <p:spPr>
          <a:xfrm>
            <a:off x="548640" y="3429000"/>
            <a:ext cx="3931920" cy="1097280"/>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Deductions spread across all four categories: the anti-pattern load clamps AP to 0; Architecture loses 9 to dependency-graph coupling; Code Quality 8 to smell density; Service Sizing 3 to one nano service.</a:t>
            </a:r>
            <a:endParaRPr lang="en-US" sz="1000" dirty="0"/>
          </a:p>
        </p:txBody>
      </p:sp>
      <p:sp>
        <p:nvSpPr>
          <p:cNvPr id="27" name="Text 25"/>
          <p:cNvSpPr/>
          <p:nvPr/>
        </p:nvSpPr>
        <p:spPr>
          <a:xfrm>
            <a:off x="4937760" y="987552"/>
            <a:ext cx="3657600" cy="292608"/>
          </a:xfrm>
          <a:prstGeom prst="rect">
            <a:avLst/>
          </a:prstGeom>
          <a:noFill/>
          <a:ln/>
        </p:spPr>
        <p:txBody>
          <a:bodyPr wrap="square" lIns="0" tIns="0" rIns="0" bIns="0" rtlCol="0" anchor="ctr"/>
          <a:lstStyle/>
          <a:p>
            <a:pPr indent="0" marL="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8" name="Text 26"/>
          <p:cNvSpPr/>
          <p:nvPr/>
        </p:nvSpPr>
        <p:spPr>
          <a:xfrm>
            <a:off x="4937760" y="13533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9" name="Shape 27"/>
          <p:cNvSpPr/>
          <p:nvPr/>
        </p:nvSpPr>
        <p:spPr>
          <a:xfrm>
            <a:off x="6263640" y="1389888"/>
            <a:ext cx="1691640" cy="219456"/>
          </a:xfrm>
          <a:prstGeom prst="rect">
            <a:avLst/>
          </a:prstGeom>
          <a:solidFill>
            <a:srgbClr val="D8DEE6"/>
          </a:solidFill>
          <a:ln w="12700">
            <a:solidFill>
              <a:srgbClr val="D8DEE6"/>
            </a:solidFill>
            <a:prstDash val="solid"/>
          </a:ln>
        </p:spPr>
      </p:sp>
      <p:sp>
        <p:nvSpPr>
          <p:cNvPr id="30" name="Text 28"/>
          <p:cNvSpPr/>
          <p:nvPr/>
        </p:nvSpPr>
        <p:spPr>
          <a:xfrm>
            <a:off x="8028432" y="13533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0 / 40</a:t>
            </a:r>
            <a:endParaRPr lang="en-US" sz="1000" dirty="0"/>
          </a:p>
        </p:txBody>
      </p:sp>
      <p:sp>
        <p:nvSpPr>
          <p:cNvPr id="31" name="Text 29"/>
          <p:cNvSpPr/>
          <p:nvPr/>
        </p:nvSpPr>
        <p:spPr>
          <a:xfrm>
            <a:off x="4937760" y="18105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2" name="Shape 30"/>
          <p:cNvSpPr/>
          <p:nvPr/>
        </p:nvSpPr>
        <p:spPr>
          <a:xfrm>
            <a:off x="6263640" y="1847088"/>
            <a:ext cx="1691640" cy="219456"/>
          </a:xfrm>
          <a:prstGeom prst="rect">
            <a:avLst/>
          </a:prstGeom>
          <a:solidFill>
            <a:srgbClr val="D8DEE6"/>
          </a:solidFill>
          <a:ln w="12700">
            <a:solidFill>
              <a:srgbClr val="D8DEE6"/>
            </a:solidFill>
            <a:prstDash val="solid"/>
          </a:ln>
        </p:spPr>
      </p:sp>
      <p:sp>
        <p:nvSpPr>
          <p:cNvPr id="33" name="Shape 31"/>
          <p:cNvSpPr/>
          <p:nvPr/>
        </p:nvSpPr>
        <p:spPr>
          <a:xfrm>
            <a:off x="6263640" y="1847088"/>
            <a:ext cx="1014984" cy="219456"/>
          </a:xfrm>
          <a:prstGeom prst="rect">
            <a:avLst/>
          </a:prstGeom>
          <a:solidFill>
            <a:srgbClr val="D97706"/>
          </a:solidFill>
          <a:ln w="12700">
            <a:solidFill>
              <a:srgbClr val="D97706"/>
            </a:solidFill>
            <a:prstDash val="solid"/>
          </a:ln>
        </p:spPr>
      </p:sp>
      <p:sp>
        <p:nvSpPr>
          <p:cNvPr id="34" name="Text 32"/>
          <p:cNvSpPr/>
          <p:nvPr/>
        </p:nvSpPr>
        <p:spPr>
          <a:xfrm>
            <a:off x="8028432" y="18105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12 / 20</a:t>
            </a:r>
            <a:endParaRPr lang="en-US" sz="1000" dirty="0"/>
          </a:p>
        </p:txBody>
      </p:sp>
      <p:sp>
        <p:nvSpPr>
          <p:cNvPr id="35" name="Text 33"/>
          <p:cNvSpPr/>
          <p:nvPr/>
        </p:nvSpPr>
        <p:spPr>
          <a:xfrm>
            <a:off x="4937760" y="22677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6" name="Shape 34"/>
          <p:cNvSpPr/>
          <p:nvPr/>
        </p:nvSpPr>
        <p:spPr>
          <a:xfrm>
            <a:off x="6263640" y="2304288"/>
            <a:ext cx="1691640" cy="219456"/>
          </a:xfrm>
          <a:prstGeom prst="rect">
            <a:avLst/>
          </a:prstGeom>
          <a:solidFill>
            <a:srgbClr val="D8DEE6"/>
          </a:solidFill>
          <a:ln w="12700">
            <a:solidFill>
              <a:srgbClr val="D8DEE6"/>
            </a:solidFill>
            <a:prstDash val="solid"/>
          </a:ln>
        </p:spPr>
      </p:sp>
      <p:sp>
        <p:nvSpPr>
          <p:cNvPr id="37" name="Shape 35"/>
          <p:cNvSpPr/>
          <p:nvPr/>
        </p:nvSpPr>
        <p:spPr>
          <a:xfrm>
            <a:off x="6263640" y="2304288"/>
            <a:ext cx="1082650" cy="219456"/>
          </a:xfrm>
          <a:prstGeom prst="rect">
            <a:avLst/>
          </a:prstGeom>
          <a:solidFill>
            <a:srgbClr val="1C4E80"/>
          </a:solidFill>
          <a:ln w="12700">
            <a:solidFill>
              <a:srgbClr val="1C4E80"/>
            </a:solidFill>
            <a:prstDash val="solid"/>
          </a:ln>
        </p:spPr>
      </p:sp>
      <p:sp>
        <p:nvSpPr>
          <p:cNvPr id="38" name="Text 36"/>
          <p:cNvSpPr/>
          <p:nvPr/>
        </p:nvSpPr>
        <p:spPr>
          <a:xfrm>
            <a:off x="8028432" y="22677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16 / 25</a:t>
            </a:r>
            <a:endParaRPr lang="en-US" sz="1000" dirty="0"/>
          </a:p>
        </p:txBody>
      </p:sp>
      <p:sp>
        <p:nvSpPr>
          <p:cNvPr id="39" name="Text 37"/>
          <p:cNvSpPr/>
          <p:nvPr/>
        </p:nvSpPr>
        <p:spPr>
          <a:xfrm>
            <a:off x="4937760" y="2724912"/>
            <a:ext cx="1280160" cy="292608"/>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40" name="Shape 38"/>
          <p:cNvSpPr/>
          <p:nvPr/>
        </p:nvSpPr>
        <p:spPr>
          <a:xfrm>
            <a:off x="6263640" y="2761488"/>
            <a:ext cx="1691640" cy="219456"/>
          </a:xfrm>
          <a:prstGeom prst="rect">
            <a:avLst/>
          </a:prstGeom>
          <a:solidFill>
            <a:srgbClr val="D8DEE6"/>
          </a:solidFill>
          <a:ln w="12700">
            <a:solidFill>
              <a:srgbClr val="D8DEE6"/>
            </a:solidFill>
            <a:prstDash val="solid"/>
          </a:ln>
        </p:spPr>
      </p:sp>
      <p:sp>
        <p:nvSpPr>
          <p:cNvPr id="41" name="Shape 39"/>
          <p:cNvSpPr/>
          <p:nvPr/>
        </p:nvSpPr>
        <p:spPr>
          <a:xfrm>
            <a:off x="6263640" y="2761488"/>
            <a:ext cx="1353312" cy="219456"/>
          </a:xfrm>
          <a:prstGeom prst="rect">
            <a:avLst/>
          </a:prstGeom>
          <a:solidFill>
            <a:srgbClr val="0D9488"/>
          </a:solidFill>
          <a:ln w="12700">
            <a:solidFill>
              <a:srgbClr val="0D9488"/>
            </a:solidFill>
            <a:prstDash val="solid"/>
          </a:ln>
        </p:spPr>
      </p:sp>
      <p:sp>
        <p:nvSpPr>
          <p:cNvPr id="42" name="Text 40"/>
          <p:cNvSpPr/>
          <p:nvPr/>
        </p:nvSpPr>
        <p:spPr>
          <a:xfrm>
            <a:off x="8028432" y="2724912"/>
            <a:ext cx="566928" cy="292608"/>
          </a:xfrm>
          <a:prstGeom prst="rect">
            <a:avLst/>
          </a:prstGeom>
          <a:noFill/>
          <a:ln/>
        </p:spPr>
        <p:txBody>
          <a:bodyPr wrap="square" lIns="0" tIns="0" rIns="0" bIns="0" rtlCol="0" anchor="ctr"/>
          <a:lstStyle/>
          <a:p>
            <a:pPr indent="0" marL="0">
              <a:buNone/>
            </a:pPr>
            <a:r>
              <a:rPr lang="en-US" sz="1000" dirty="0">
                <a:solidFill>
                  <a:srgbClr val="64748B"/>
                </a:solidFill>
                <a:latin typeface="Calibri" pitchFamily="34" charset="0"/>
                <a:ea typeface="Calibri" pitchFamily="34" charset="-122"/>
                <a:cs typeface="Calibri" pitchFamily="34" charset="-120"/>
              </a:rPr>
              <a:t>12 / 15</a:t>
            </a:r>
            <a:endParaRPr lang="en-US" sz="1000" dirty="0"/>
          </a:p>
        </p:txBody>
      </p:sp>
      <p:sp>
        <p:nvSpPr>
          <p:cNvPr id="43" name="Text 41"/>
          <p:cNvSpPr/>
          <p:nvPr/>
        </p:nvSpPr>
        <p:spPr>
          <a:xfrm>
            <a:off x="4937760" y="3429000"/>
            <a:ext cx="3657600" cy="777240"/>
          </a:xfrm>
          <a:prstGeom prst="rect">
            <a:avLst/>
          </a:prstGeom>
          <a:noFill/>
          <a:ln/>
        </p:spPr>
        <p:txBody>
          <a:bodyPr wrap="square" lIns="0" tIns="0" rIns="0" bIns="0" rtlCol="0" anchor="ctr"/>
          <a:lstStyle/>
          <a:p>
            <a:pPr indent="0" marL="0">
              <a:buNone/>
            </a:pPr>
            <a:r>
              <a:rPr lang="en-US" sz="4000" b="1" dirty="0">
                <a:solidFill>
                  <a:srgbClr val="DC2626"/>
                </a:solidFill>
                <a:latin typeface="Calibri" pitchFamily="34" charset="0"/>
                <a:ea typeface="Calibri" pitchFamily="34" charset="-122"/>
                <a:cs typeface="Calibri" pitchFamily="34" charset="-120"/>
              </a:rPr>
              <a:t>40</a:t>
            </a:r>
            <a:pPr indent="0" marL="0">
              <a:buNone/>
            </a:pPr>
            <a:r>
              <a:rPr lang="en-US" sz="1400" b="1" dirty="0">
                <a:solidFill>
                  <a:srgbClr val="0F2A44"/>
                </a:solidFill>
                <a:latin typeface="Calibri" pitchFamily="34" charset="0"/>
                <a:ea typeface="Calibri" pitchFamily="34" charset="-122"/>
                <a:cs typeface="Calibri" pitchFamily="34" charset="-120"/>
              </a:rPr>
              <a:t>  / 100  ·  Grade F</a:t>
            </a:r>
            <a:endParaRPr lang="en-US" sz="4000" dirty="0"/>
          </a:p>
        </p:txBody>
      </p:sp>
      <p:sp>
        <p:nvSpPr>
          <p:cNvPr id="44" name="Text 42"/>
          <p:cNvSpPr/>
          <p:nvPr/>
        </p:nvSpPr>
        <p:spPr>
          <a:xfrm>
            <a:off x="4937760" y="4206240"/>
            <a:ext cx="36576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0 + 12 + 16 + 12</a:t>
            </a:r>
            <a:endParaRPr lang="en-US" sz="1100" dirty="0"/>
          </a:p>
        </p:txBody>
      </p:sp>
      <p:sp>
        <p:nvSpPr>
          <p:cNvPr id="45" name="Text 43"/>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Evaluation: eleven open-source projects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graphicFrame>
        <p:nvGraphicFramePr>
          <p:cNvPr id="4" name="Chart 0" descr=""/>
          <p:cNvGraphicFramePr/>
          <p:nvPr/>
        </p:nvGraphicFramePr>
        <p:xfrm>
          <a:off x="502920" y="960120"/>
          <a:ext cx="5029200" cy="2697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5943600" y="960120"/>
            <a:ext cx="2651760" cy="274320"/>
          </a:xfrm>
          <a:prstGeom prst="rect">
            <a:avLst/>
          </a:prstGeom>
          <a:noFill/>
          <a:ln/>
        </p:spPr>
        <p:txBody>
          <a:bodyPr wrap="square" lIns="0" tIns="0" rIns="0" bIns="0" rtlCol="0" anchor="ctr"/>
          <a:lstStyle/>
          <a:p>
            <a:pPr indent="0" marL="0">
              <a:buNone/>
            </a:pPr>
            <a:r>
              <a:rPr lang="en-US" sz="1200" b="1" dirty="0">
                <a:solidFill>
                  <a:srgbClr val="0F2A44"/>
                </a:solidFill>
                <a:latin typeface="Calibri" pitchFamily="34" charset="0"/>
                <a:ea typeface="Calibri" pitchFamily="34" charset="-122"/>
                <a:cs typeface="Calibri" pitchFamily="34" charset="-120"/>
              </a:rPr>
              <a:t>Dataset (services · LOC)</a:t>
            </a:r>
            <a:endParaRPr lang="en-US" sz="1200" dirty="0"/>
          </a:p>
        </p:txBody>
      </p:sp>
      <p:sp>
        <p:nvSpPr>
          <p:cNvPr id="6" name="Shape 3"/>
          <p:cNvSpPr/>
          <p:nvPr/>
        </p:nvSpPr>
        <p:spPr>
          <a:xfrm>
            <a:off x="5943600" y="1261872"/>
            <a:ext cx="2651760" cy="13716"/>
          </a:xfrm>
          <a:prstGeom prst="rect">
            <a:avLst/>
          </a:prstGeom>
          <a:solidFill>
            <a:srgbClr val="D8DEE6"/>
          </a:solidFill>
          <a:ln w="12700">
            <a:solidFill>
              <a:srgbClr val="D8DEE6"/>
            </a:solidFill>
            <a:prstDash val="solid"/>
          </a:ln>
        </p:spPr>
      </p:sp>
      <p:sp>
        <p:nvSpPr>
          <p:cNvPr id="7" name="Text 4"/>
          <p:cNvSpPr/>
          <p:nvPr/>
        </p:nvSpPr>
        <p:spPr>
          <a:xfrm>
            <a:off x="5943600" y="133502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MicroSocial</a:t>
            </a:r>
            <a:endParaRPr lang="en-US" sz="900" dirty="0"/>
          </a:p>
        </p:txBody>
      </p:sp>
      <p:sp>
        <p:nvSpPr>
          <p:cNvPr id="8" name="Text 5"/>
          <p:cNvSpPr/>
          <p:nvPr/>
        </p:nvSpPr>
        <p:spPr>
          <a:xfrm>
            <a:off x="7360920" y="133502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4</a:t>
            </a:r>
            <a:endParaRPr lang="en-US" sz="900" dirty="0"/>
          </a:p>
        </p:txBody>
      </p:sp>
      <p:sp>
        <p:nvSpPr>
          <p:cNvPr id="9" name="Text 6"/>
          <p:cNvSpPr/>
          <p:nvPr/>
        </p:nvSpPr>
        <p:spPr>
          <a:xfrm>
            <a:off x="7818120" y="133502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2k</a:t>
            </a:r>
            <a:endParaRPr lang="en-US" sz="900" dirty="0"/>
          </a:p>
        </p:txBody>
      </p:sp>
      <p:sp>
        <p:nvSpPr>
          <p:cNvPr id="10" name="Text 7"/>
          <p:cNvSpPr/>
          <p:nvPr/>
        </p:nvSpPr>
        <p:spPr>
          <a:xfrm>
            <a:off x="5943600" y="1531620"/>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design-pat.</a:t>
            </a:r>
            <a:endParaRPr lang="en-US" sz="900" dirty="0"/>
          </a:p>
        </p:txBody>
      </p:sp>
      <p:sp>
        <p:nvSpPr>
          <p:cNvPr id="11" name="Text 8"/>
          <p:cNvSpPr/>
          <p:nvPr/>
        </p:nvSpPr>
        <p:spPr>
          <a:xfrm>
            <a:off x="7360920" y="1531620"/>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16</a:t>
            </a:r>
            <a:endParaRPr lang="en-US" sz="900" dirty="0"/>
          </a:p>
        </p:txBody>
      </p:sp>
      <p:sp>
        <p:nvSpPr>
          <p:cNvPr id="12" name="Text 9"/>
          <p:cNvSpPr/>
          <p:nvPr/>
        </p:nvSpPr>
        <p:spPr>
          <a:xfrm>
            <a:off x="7818120" y="1531620"/>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19k</a:t>
            </a:r>
            <a:endParaRPr lang="en-US" sz="900" dirty="0"/>
          </a:p>
        </p:txBody>
      </p:sp>
      <p:sp>
        <p:nvSpPr>
          <p:cNvPr id="13" name="Text 10"/>
          <p:cNvSpPr/>
          <p:nvPr/>
        </p:nvSpPr>
        <p:spPr>
          <a:xfrm>
            <a:off x="5943600" y="1728216"/>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Site-Where</a:t>
            </a:r>
            <a:endParaRPr lang="en-US" sz="900" dirty="0"/>
          </a:p>
        </p:txBody>
      </p:sp>
      <p:sp>
        <p:nvSpPr>
          <p:cNvPr id="14" name="Text 11"/>
          <p:cNvSpPr/>
          <p:nvPr/>
        </p:nvSpPr>
        <p:spPr>
          <a:xfrm>
            <a:off x="7360920" y="1728216"/>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15</a:t>
            </a:r>
            <a:endParaRPr lang="en-US" sz="900" dirty="0"/>
          </a:p>
        </p:txBody>
      </p:sp>
      <p:sp>
        <p:nvSpPr>
          <p:cNvPr id="15" name="Text 12"/>
          <p:cNvSpPr/>
          <p:nvPr/>
        </p:nvSpPr>
        <p:spPr>
          <a:xfrm>
            <a:off x="7818120" y="1728216"/>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74k</a:t>
            </a:r>
            <a:endParaRPr lang="en-US" sz="900" dirty="0"/>
          </a:p>
        </p:txBody>
      </p:sp>
      <p:sp>
        <p:nvSpPr>
          <p:cNvPr id="16" name="Text 13"/>
          <p:cNvSpPr/>
          <p:nvPr/>
        </p:nvSpPr>
        <p:spPr>
          <a:xfrm>
            <a:off x="5943600" y="1924812"/>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Train-Ticket</a:t>
            </a:r>
            <a:endParaRPr lang="en-US" sz="900" dirty="0"/>
          </a:p>
        </p:txBody>
      </p:sp>
      <p:sp>
        <p:nvSpPr>
          <p:cNvPr id="17" name="Text 14"/>
          <p:cNvSpPr/>
          <p:nvPr/>
        </p:nvSpPr>
        <p:spPr>
          <a:xfrm>
            <a:off x="7360920" y="1924812"/>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41</a:t>
            </a:r>
            <a:endParaRPr lang="en-US" sz="900" dirty="0"/>
          </a:p>
        </p:txBody>
      </p:sp>
      <p:sp>
        <p:nvSpPr>
          <p:cNvPr id="18" name="Text 15"/>
          <p:cNvSpPr/>
          <p:nvPr/>
        </p:nvSpPr>
        <p:spPr>
          <a:xfrm>
            <a:off x="7818120" y="1924812"/>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36k</a:t>
            </a:r>
            <a:endParaRPr lang="en-US" sz="900" dirty="0"/>
          </a:p>
        </p:txBody>
      </p:sp>
      <p:sp>
        <p:nvSpPr>
          <p:cNvPr id="19" name="Text 16"/>
          <p:cNvSpPr/>
          <p:nvPr/>
        </p:nvSpPr>
        <p:spPr>
          <a:xfrm>
            <a:off x="5943600" y="2121408"/>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NetworkDisk</a:t>
            </a:r>
            <a:endParaRPr lang="en-US" sz="900" dirty="0"/>
          </a:p>
        </p:txBody>
      </p:sp>
      <p:sp>
        <p:nvSpPr>
          <p:cNvPr id="20" name="Text 17"/>
          <p:cNvSpPr/>
          <p:nvPr/>
        </p:nvSpPr>
        <p:spPr>
          <a:xfrm>
            <a:off x="7360920" y="2121408"/>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10</a:t>
            </a:r>
            <a:endParaRPr lang="en-US" sz="900" dirty="0"/>
          </a:p>
        </p:txBody>
      </p:sp>
      <p:sp>
        <p:nvSpPr>
          <p:cNvPr id="21" name="Text 18"/>
          <p:cNvSpPr/>
          <p:nvPr/>
        </p:nvSpPr>
        <p:spPr>
          <a:xfrm>
            <a:off x="7818120" y="2121408"/>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7k</a:t>
            </a:r>
            <a:endParaRPr lang="en-US" sz="900" dirty="0"/>
          </a:p>
        </p:txBody>
      </p:sp>
      <p:sp>
        <p:nvSpPr>
          <p:cNvPr id="22" name="Text 19"/>
          <p:cNvSpPr/>
          <p:nvPr/>
        </p:nvSpPr>
        <p:spPr>
          <a:xfrm>
            <a:off x="5943600" y="231800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recruit</a:t>
            </a:r>
            <a:endParaRPr lang="en-US" sz="900" dirty="0"/>
          </a:p>
        </p:txBody>
      </p:sp>
      <p:sp>
        <p:nvSpPr>
          <p:cNvPr id="23" name="Text 20"/>
          <p:cNvSpPr/>
          <p:nvPr/>
        </p:nvSpPr>
        <p:spPr>
          <a:xfrm>
            <a:off x="7360920" y="231800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24" name="Text 21"/>
          <p:cNvSpPr/>
          <p:nvPr/>
        </p:nvSpPr>
        <p:spPr>
          <a:xfrm>
            <a:off x="7818120" y="231800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8k</a:t>
            </a:r>
            <a:endParaRPr lang="en-US" sz="900" dirty="0"/>
          </a:p>
        </p:txBody>
      </p:sp>
      <p:sp>
        <p:nvSpPr>
          <p:cNvPr id="25" name="Text 22"/>
          <p:cNvSpPr/>
          <p:nvPr/>
        </p:nvSpPr>
        <p:spPr>
          <a:xfrm>
            <a:off x="5943600" y="2514600"/>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ftgo</a:t>
            </a:r>
            <a:endParaRPr lang="en-US" sz="900" dirty="0"/>
          </a:p>
        </p:txBody>
      </p:sp>
      <p:sp>
        <p:nvSpPr>
          <p:cNvPr id="26" name="Text 23"/>
          <p:cNvSpPr/>
          <p:nvPr/>
        </p:nvSpPr>
        <p:spPr>
          <a:xfrm>
            <a:off x="7360920" y="2514600"/>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27" name="Text 24"/>
          <p:cNvSpPr/>
          <p:nvPr/>
        </p:nvSpPr>
        <p:spPr>
          <a:xfrm>
            <a:off x="7818120" y="2514600"/>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11k</a:t>
            </a:r>
            <a:endParaRPr lang="en-US" sz="900" dirty="0"/>
          </a:p>
        </p:txBody>
      </p:sp>
      <p:sp>
        <p:nvSpPr>
          <p:cNvPr id="28" name="Text 25"/>
          <p:cNvSpPr/>
          <p:nvPr/>
        </p:nvSpPr>
        <p:spPr>
          <a:xfrm>
            <a:off x="5943600" y="2711196"/>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mall-swarm</a:t>
            </a:r>
            <a:endParaRPr lang="en-US" sz="900" dirty="0"/>
          </a:p>
        </p:txBody>
      </p:sp>
      <p:sp>
        <p:nvSpPr>
          <p:cNvPr id="29" name="Text 26"/>
          <p:cNvSpPr/>
          <p:nvPr/>
        </p:nvSpPr>
        <p:spPr>
          <a:xfrm>
            <a:off x="7360920" y="2711196"/>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30" name="Text 27"/>
          <p:cNvSpPr/>
          <p:nvPr/>
        </p:nvSpPr>
        <p:spPr>
          <a:xfrm>
            <a:off x="7818120" y="2711196"/>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86k</a:t>
            </a:r>
            <a:endParaRPr lang="en-US" sz="900" dirty="0"/>
          </a:p>
        </p:txBody>
      </p:sp>
      <p:sp>
        <p:nvSpPr>
          <p:cNvPr id="31" name="Text 28"/>
          <p:cNvSpPr/>
          <p:nvPr/>
        </p:nvSpPr>
        <p:spPr>
          <a:xfrm>
            <a:off x="5943600" y="2907792"/>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RuoYi</a:t>
            </a:r>
            <a:endParaRPr lang="en-US" sz="900" dirty="0"/>
          </a:p>
        </p:txBody>
      </p:sp>
      <p:sp>
        <p:nvSpPr>
          <p:cNvPr id="32" name="Text 29"/>
          <p:cNvSpPr/>
          <p:nvPr/>
        </p:nvSpPr>
        <p:spPr>
          <a:xfrm>
            <a:off x="7360920" y="2907792"/>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3" name="Text 30"/>
          <p:cNvSpPr/>
          <p:nvPr/>
        </p:nvSpPr>
        <p:spPr>
          <a:xfrm>
            <a:off x="7818120" y="2907792"/>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27k</a:t>
            </a:r>
            <a:endParaRPr lang="en-US" sz="900" dirty="0"/>
          </a:p>
        </p:txBody>
      </p:sp>
      <p:sp>
        <p:nvSpPr>
          <p:cNvPr id="34" name="Text 31"/>
          <p:cNvSpPr/>
          <p:nvPr/>
        </p:nvSpPr>
        <p:spPr>
          <a:xfrm>
            <a:off x="5943600" y="3104388"/>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PiggyMetrics</a:t>
            </a:r>
            <a:endParaRPr lang="en-US" sz="900" dirty="0"/>
          </a:p>
        </p:txBody>
      </p:sp>
      <p:sp>
        <p:nvSpPr>
          <p:cNvPr id="35" name="Text 32"/>
          <p:cNvSpPr/>
          <p:nvPr/>
        </p:nvSpPr>
        <p:spPr>
          <a:xfrm>
            <a:off x="7360920" y="3104388"/>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6" name="Text 33"/>
          <p:cNvSpPr/>
          <p:nvPr/>
        </p:nvSpPr>
        <p:spPr>
          <a:xfrm>
            <a:off x="7818120" y="3104388"/>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4.5k</a:t>
            </a:r>
            <a:endParaRPr lang="en-US" sz="900" dirty="0"/>
          </a:p>
        </p:txBody>
      </p:sp>
      <p:sp>
        <p:nvSpPr>
          <p:cNvPr id="37" name="Text 34"/>
          <p:cNvSpPr/>
          <p:nvPr/>
        </p:nvSpPr>
        <p:spPr>
          <a:xfrm>
            <a:off x="5943600" y="3300984"/>
            <a:ext cx="1417320" cy="192024"/>
          </a:xfrm>
          <a:prstGeom prst="rect">
            <a:avLst/>
          </a:prstGeom>
          <a:noFill/>
          <a:ln/>
        </p:spPr>
        <p:txBody>
          <a:bodyPr wrap="square" lIns="0" tIns="0" rIns="0" bIns="0" rtlCol="0" anchor="ctr"/>
          <a:lstStyle/>
          <a:p>
            <a:pPr indent="0" marL="0">
              <a:buNone/>
            </a:pPr>
            <a:r>
              <a:rPr lang="en-US" sz="900" dirty="0">
                <a:solidFill>
                  <a:srgbClr val="1E293B"/>
                </a:solidFill>
                <a:latin typeface="Calibri" pitchFamily="34" charset="0"/>
                <a:ea typeface="Calibri" pitchFamily="34" charset="-122"/>
                <a:cs typeface="Calibri" pitchFamily="34" charset="-120"/>
              </a:rPr>
              <a:t>piomin</a:t>
            </a:r>
            <a:endParaRPr lang="en-US" sz="900" dirty="0"/>
          </a:p>
        </p:txBody>
      </p:sp>
      <p:sp>
        <p:nvSpPr>
          <p:cNvPr id="38" name="Text 35"/>
          <p:cNvSpPr/>
          <p:nvPr/>
        </p:nvSpPr>
        <p:spPr>
          <a:xfrm>
            <a:off x="7360920" y="3300984"/>
            <a:ext cx="457200" cy="192024"/>
          </a:xfrm>
          <a:prstGeom prst="rect">
            <a:avLst/>
          </a:prstGeom>
          <a:noFill/>
          <a:ln/>
        </p:spPr>
        <p:txBody>
          <a:bodyPr wrap="square" lIns="0" tIns="0" rIns="0" bIns="0" rtlCol="0" anchor="ctr"/>
          <a:lstStyle/>
          <a:p>
            <a:pPr algn="ctr" indent="0" marL="0">
              <a:buNone/>
            </a:pPr>
            <a:r>
              <a:rPr lang="en-US" sz="900" dirty="0">
                <a:solidFill>
                  <a:srgbClr val="1E293B"/>
                </a:solidFill>
                <a:latin typeface="Calibri" pitchFamily="34" charset="0"/>
                <a:ea typeface="Calibri" pitchFamily="34" charset="-122"/>
                <a:cs typeface="Calibri" pitchFamily="34" charset="-120"/>
              </a:rPr>
              <a:t>6</a:t>
            </a:r>
            <a:endParaRPr lang="en-US" sz="900" dirty="0"/>
          </a:p>
        </p:txBody>
      </p:sp>
      <p:sp>
        <p:nvSpPr>
          <p:cNvPr id="39" name="Text 36"/>
          <p:cNvSpPr/>
          <p:nvPr/>
        </p:nvSpPr>
        <p:spPr>
          <a:xfrm>
            <a:off x="7818120" y="3300984"/>
            <a:ext cx="777240" cy="192024"/>
          </a:xfrm>
          <a:prstGeom prst="rect">
            <a:avLst/>
          </a:prstGeom>
          <a:noFill/>
          <a:ln/>
        </p:spPr>
        <p:txBody>
          <a:bodyPr wrap="square" lIns="0" tIns="0" rIns="0" bIns="0" rtlCol="0" anchor="ctr"/>
          <a:lstStyle/>
          <a:p>
            <a:pPr algn="r" indent="0" marL="0">
              <a:buNone/>
            </a:pPr>
            <a:r>
              <a:rPr lang="en-US" sz="900" dirty="0">
                <a:solidFill>
                  <a:srgbClr val="1E293B"/>
                </a:solidFill>
                <a:latin typeface="Calibri" pitchFamily="34" charset="0"/>
                <a:ea typeface="Calibri" pitchFamily="34" charset="-122"/>
                <a:cs typeface="Calibri" pitchFamily="34" charset="-120"/>
              </a:rPr>
              <a:t>1.3k</a:t>
            </a:r>
            <a:endParaRPr lang="en-US" sz="900" dirty="0"/>
          </a:p>
        </p:txBody>
      </p:sp>
      <p:sp>
        <p:nvSpPr>
          <p:cNvPr id="40" name="Shape 37"/>
          <p:cNvSpPr/>
          <p:nvPr/>
        </p:nvSpPr>
        <p:spPr>
          <a:xfrm>
            <a:off x="5943600" y="3529584"/>
            <a:ext cx="2651760" cy="18288"/>
          </a:xfrm>
          <a:prstGeom prst="rect">
            <a:avLst/>
          </a:prstGeom>
          <a:solidFill>
            <a:srgbClr val="0F2A44"/>
          </a:solidFill>
          <a:ln w="12700">
            <a:solidFill>
              <a:srgbClr val="0F2A44"/>
            </a:solidFill>
            <a:prstDash val="solid"/>
          </a:ln>
        </p:spPr>
      </p:sp>
      <p:sp>
        <p:nvSpPr>
          <p:cNvPr id="41" name="Text 38"/>
          <p:cNvSpPr/>
          <p:nvPr/>
        </p:nvSpPr>
        <p:spPr>
          <a:xfrm>
            <a:off x="5943600" y="3584448"/>
            <a:ext cx="1417320" cy="201168"/>
          </a:xfrm>
          <a:prstGeom prst="rect">
            <a:avLst/>
          </a:prstGeom>
          <a:noFill/>
          <a:ln/>
        </p:spPr>
        <p:txBody>
          <a:bodyPr wrap="square" lIns="0" tIns="0" rIns="0" bIns="0" rtlCol="0" anchor="ctr"/>
          <a:lstStyle/>
          <a:p>
            <a:pPr indent="0" marL="0">
              <a:buNone/>
            </a:pPr>
            <a:r>
              <a:rPr lang="en-US" sz="900" b="1" dirty="0">
                <a:solidFill>
                  <a:srgbClr val="0F2A44"/>
                </a:solidFill>
                <a:latin typeface="Calibri" pitchFamily="34" charset="0"/>
                <a:ea typeface="Calibri" pitchFamily="34" charset="-122"/>
                <a:cs typeface="Calibri" pitchFamily="34" charset="-120"/>
              </a:rPr>
              <a:t>Total</a:t>
            </a:r>
            <a:endParaRPr lang="en-US" sz="900" dirty="0"/>
          </a:p>
        </p:txBody>
      </p:sp>
      <p:sp>
        <p:nvSpPr>
          <p:cNvPr id="42" name="Text 39"/>
          <p:cNvSpPr/>
          <p:nvPr/>
        </p:nvSpPr>
        <p:spPr>
          <a:xfrm>
            <a:off x="7360920" y="3584448"/>
            <a:ext cx="457200" cy="201168"/>
          </a:xfrm>
          <a:prstGeom prst="rect">
            <a:avLst/>
          </a:prstGeom>
          <a:noFill/>
          <a:ln/>
        </p:spPr>
        <p:txBody>
          <a:bodyPr wrap="square" lIns="0" tIns="0" rIns="0" bIns="0" rtlCol="0" anchor="ctr"/>
          <a:lstStyle/>
          <a:p>
            <a:pPr algn="ctr" indent="0" marL="0">
              <a:buNone/>
            </a:pPr>
            <a:r>
              <a:rPr lang="en-US" sz="900" b="1" dirty="0">
                <a:solidFill>
                  <a:srgbClr val="0F2A44"/>
                </a:solidFill>
                <a:latin typeface="Calibri" pitchFamily="34" charset="0"/>
                <a:ea typeface="Calibri" pitchFamily="34" charset="-122"/>
                <a:cs typeface="Calibri" pitchFamily="34" charset="-120"/>
              </a:rPr>
              <a:t>130</a:t>
            </a:r>
            <a:endParaRPr lang="en-US" sz="900" dirty="0"/>
          </a:p>
        </p:txBody>
      </p:sp>
      <p:sp>
        <p:nvSpPr>
          <p:cNvPr id="43" name="Text 40"/>
          <p:cNvSpPr/>
          <p:nvPr/>
        </p:nvSpPr>
        <p:spPr>
          <a:xfrm>
            <a:off x="7818120" y="3584448"/>
            <a:ext cx="777240" cy="201168"/>
          </a:xfrm>
          <a:prstGeom prst="rect">
            <a:avLst/>
          </a:prstGeom>
          <a:noFill/>
          <a:ln/>
        </p:spPr>
        <p:txBody>
          <a:bodyPr wrap="square" lIns="0" tIns="0" rIns="0" bIns="0" rtlCol="0" anchor="ctr"/>
          <a:lstStyle/>
          <a:p>
            <a:pPr algn="r" indent="0" marL="0">
              <a:buNone/>
            </a:pPr>
            <a:r>
              <a:rPr lang="en-US" sz="900" b="1" dirty="0">
                <a:solidFill>
                  <a:srgbClr val="0F2A44"/>
                </a:solidFill>
                <a:latin typeface="Calibri" pitchFamily="34" charset="0"/>
                <a:ea typeface="Calibri" pitchFamily="34" charset="-122"/>
                <a:cs typeface="Calibri" pitchFamily="34" charset="-120"/>
              </a:rPr>
              <a:t>274k</a:t>
            </a:r>
            <a:endParaRPr lang="en-US" sz="900" dirty="0"/>
          </a:p>
        </p:txBody>
      </p:sp>
      <p:sp>
        <p:nvSpPr>
          <p:cNvPr id="44" name="Shape 41"/>
          <p:cNvSpPr/>
          <p:nvPr/>
        </p:nvSpPr>
        <p:spPr>
          <a:xfrm>
            <a:off x="548640" y="3950208"/>
            <a:ext cx="457200" cy="36576"/>
          </a:xfrm>
          <a:prstGeom prst="rect">
            <a:avLst/>
          </a:prstGeom>
          <a:solidFill>
            <a:srgbClr val="0D9488"/>
          </a:solidFill>
          <a:ln w="12700">
            <a:solidFill>
              <a:srgbClr val="0D9488"/>
            </a:solidFill>
            <a:prstDash val="solid"/>
          </a:ln>
        </p:spPr>
      </p:sp>
      <p:sp>
        <p:nvSpPr>
          <p:cNvPr id="45" name="Text 42"/>
          <p:cNvSpPr/>
          <p:nvPr/>
        </p:nvSpPr>
        <p:spPr>
          <a:xfrm>
            <a:off x="731520" y="4059936"/>
            <a:ext cx="7863840" cy="64008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98 anti-pattern instances across 9 types; API Versioning Absence (37) and Nano Service (23) dominate</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PiggyMetrics and piomin broadened ESB Misuse and Nano Service coverage; Cyclic Dependency and Wrong Cuts detected in microservice-recruit</a:t>
            </a:r>
            <a:endParaRPr lang="en-US" sz="1050" dirty="0"/>
          </a:p>
        </p:txBody>
      </p:sp>
      <p:sp>
        <p:nvSpPr>
          <p:cNvPr id="46" name="Text 43"/>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868680"/>
            <a:ext cx="640080" cy="41148"/>
          </a:xfrm>
          <a:prstGeom prst="rect">
            <a:avLst/>
          </a:prstGeom>
          <a:solidFill>
            <a:srgbClr val="0D9488"/>
          </a:solidFill>
          <a:ln w="12700">
            <a:solidFill>
              <a:srgbClr val="0D9488"/>
            </a:solidFill>
            <a:prstDash val="solid"/>
          </a:ln>
        </p:spPr>
      </p:sp>
      <p:sp>
        <p:nvSpPr>
          <p:cNvPr id="3" name="Text 1"/>
          <p:cNvSpPr/>
          <p:nvPr/>
        </p:nvSpPr>
        <p:spPr>
          <a:xfrm>
            <a:off x="548640" y="1051560"/>
            <a:ext cx="7863840" cy="77724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Live demo</a:t>
            </a:r>
            <a:endParaRPr lang="en-US" sz="4400" dirty="0"/>
          </a:p>
        </p:txBody>
      </p:sp>
      <p:sp>
        <p:nvSpPr>
          <p:cNvPr id="4" name="Text 2"/>
          <p:cNvSpPr/>
          <p:nvPr/>
        </p:nvSpPr>
        <p:spPr>
          <a:xfrm>
            <a:off x="548640" y="1874520"/>
            <a:ext cx="7863840" cy="365760"/>
          </a:xfrm>
          <a:prstGeom prst="rect">
            <a:avLst/>
          </a:prstGeom>
          <a:noFill/>
          <a:ln/>
        </p:spPr>
        <p:txBody>
          <a:bodyPr wrap="square" lIns="0" tIns="0" rIns="0" bIns="0" rtlCol="0" anchor="ctr"/>
          <a:lstStyle/>
          <a:p>
            <a:pPr indent="0" marL="0">
              <a:buNone/>
            </a:pPr>
            <a:r>
              <a:rPr lang="en-US" sz="16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600" dirty="0"/>
          </a:p>
        </p:txBody>
      </p:sp>
      <p:sp>
        <p:nvSpPr>
          <p:cNvPr id="5" name="Text 3"/>
          <p:cNvSpPr/>
          <p:nvPr/>
        </p:nvSpPr>
        <p:spPr>
          <a:xfrm>
            <a:off x="548640" y="256032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51560" y="256946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7" name="Text 5"/>
          <p:cNvSpPr/>
          <p:nvPr/>
        </p:nvSpPr>
        <p:spPr>
          <a:xfrm>
            <a:off x="1051560" y="282549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8" name="Text 6"/>
          <p:cNvSpPr/>
          <p:nvPr/>
        </p:nvSpPr>
        <p:spPr>
          <a:xfrm>
            <a:off x="548640" y="310896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051560" y="311810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0" name="Text 8"/>
          <p:cNvSpPr/>
          <p:nvPr/>
        </p:nvSpPr>
        <p:spPr>
          <a:xfrm>
            <a:off x="1051560" y="337413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1" name="Text 9"/>
          <p:cNvSpPr/>
          <p:nvPr/>
        </p:nvSpPr>
        <p:spPr>
          <a:xfrm>
            <a:off x="548640" y="365760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051560" y="366674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3" name="Text 11"/>
          <p:cNvSpPr/>
          <p:nvPr/>
        </p:nvSpPr>
        <p:spPr>
          <a:xfrm>
            <a:off x="1051560" y="392277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4" name="Text 12"/>
          <p:cNvSpPr/>
          <p:nvPr/>
        </p:nvSpPr>
        <p:spPr>
          <a:xfrm>
            <a:off x="548640" y="4206240"/>
            <a:ext cx="365760" cy="292608"/>
          </a:xfrm>
          <a:prstGeom prst="rect">
            <a:avLst/>
          </a:prstGeom>
          <a:noFill/>
          <a:ln/>
        </p:spPr>
        <p:txBody>
          <a:bodyPr wrap="square" lIns="0" tIns="0" rIns="0" bIns="0" rtlCol="0" anchor="ctr"/>
          <a:lstStyle/>
          <a:p>
            <a:pPr indent="0" marL="0">
              <a:buNone/>
            </a:pPr>
            <a:r>
              <a:rPr lang="en-US" sz="1600" b="1" dirty="0">
                <a:solidFill>
                  <a:srgbClr val="0D9488"/>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051560" y="4215384"/>
            <a:ext cx="7498080"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16" name="Text 14"/>
          <p:cNvSpPr/>
          <p:nvPr/>
        </p:nvSpPr>
        <p:spPr>
          <a:xfrm>
            <a:off x="1051560" y="4471416"/>
            <a:ext cx="7498080" cy="237744"/>
          </a:xfrm>
          <a:prstGeom prst="rect">
            <a:avLst/>
          </a:prstGeom>
          <a:noFill/>
          <a:ln/>
        </p:spPr>
        <p:txBody>
          <a:bodyPr wrap="square" lIns="0" tIns="0" rIns="0" bIns="0" rtlCol="0" anchor="ctr"/>
          <a:lstStyle/>
          <a:p>
            <a:pPr indent="0" marL="0">
              <a:buNone/>
            </a:pPr>
            <a:r>
              <a:rPr lang="en-US" sz="1100"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17" name="Text 15"/>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indent="0" marL="0">
              <a:buNone/>
            </a:pPr>
            <a:r>
              <a:rPr lang="en-US" sz="2500" b="1" dirty="0">
                <a:solidFill>
                  <a:srgbClr val="0F2A44"/>
                </a:solidFill>
                <a:latin typeface="Calibri" pitchFamily="34" charset="0"/>
                <a:ea typeface="Calibri" pitchFamily="34" charset="-122"/>
                <a:cs typeface="Calibri" pitchFamily="34" charset="-120"/>
              </a:rPr>
              <a:t>Limitations &amp; future work</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05840"/>
            <a:ext cx="3840480" cy="347472"/>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Limitations</a:t>
            </a:r>
            <a:endParaRPr lang="en-US" sz="1500" dirty="0"/>
          </a:p>
        </p:txBody>
      </p:sp>
      <p:sp>
        <p:nvSpPr>
          <p:cNvPr id="5" name="Shape 3"/>
          <p:cNvSpPr/>
          <p:nvPr/>
        </p:nvSpPr>
        <p:spPr>
          <a:xfrm>
            <a:off x="548640" y="1389888"/>
            <a:ext cx="457200" cy="36576"/>
          </a:xfrm>
          <a:prstGeom prst="rect">
            <a:avLst/>
          </a:prstGeom>
          <a:solidFill>
            <a:srgbClr val="D97706"/>
          </a:solidFill>
          <a:ln w="12700">
            <a:solidFill>
              <a:srgbClr val="D97706"/>
            </a:solidFill>
            <a:prstDash val="solid"/>
          </a:ln>
        </p:spPr>
      </p:sp>
      <p:sp>
        <p:nvSpPr>
          <p:cNvPr id="6" name="Text 4"/>
          <p:cNvSpPr/>
          <p:nvPr/>
        </p:nvSpPr>
        <p:spPr>
          <a:xfrm>
            <a:off x="54864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Java / Spring Boot only; polyglot systems not supported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Static analysis only; no runtime call frequency data</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Dynamic URLs (e.g. Spring Cloud Config) are not resolved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Evaluation on 11 open-source projects; not a statistical claim</a:t>
            </a:r>
            <a:endParaRPr lang="en-US" sz="1100" dirty="0"/>
          </a:p>
        </p:txBody>
      </p:sp>
      <p:sp>
        <p:nvSpPr>
          <p:cNvPr id="7" name="Text 5"/>
          <p:cNvSpPr/>
          <p:nvPr/>
        </p:nvSpPr>
        <p:spPr>
          <a:xfrm>
            <a:off x="4754880" y="1005840"/>
            <a:ext cx="3840480" cy="347472"/>
          </a:xfrm>
          <a:prstGeom prst="rect">
            <a:avLst/>
          </a:prstGeom>
          <a:noFill/>
          <a:ln/>
        </p:spPr>
        <p:txBody>
          <a:bodyPr wrap="square" lIns="0" tIns="0" rIns="0" bIns="0" rtlCol="0" anchor="ctr"/>
          <a:lstStyle/>
          <a:p>
            <a:pPr indent="0" marL="0">
              <a:buNone/>
            </a:pPr>
            <a:r>
              <a:rPr lang="en-US" sz="1500" b="1" dirty="0">
                <a:solidFill>
                  <a:srgbClr val="0F2A44"/>
                </a:solidFill>
                <a:latin typeface="Calibri" pitchFamily="34" charset="0"/>
                <a:ea typeface="Calibri" pitchFamily="34" charset="-122"/>
                <a:cs typeface="Calibri" pitchFamily="34" charset="-120"/>
              </a:rPr>
              <a:t>Future work</a:t>
            </a:r>
            <a:endParaRPr lang="en-US" sz="1500" dirty="0"/>
          </a:p>
        </p:txBody>
      </p:sp>
      <p:sp>
        <p:nvSpPr>
          <p:cNvPr id="8" name="Shape 6"/>
          <p:cNvSpPr/>
          <p:nvPr/>
        </p:nvSpPr>
        <p:spPr>
          <a:xfrm>
            <a:off x="4754880" y="1389888"/>
            <a:ext cx="457200" cy="36576"/>
          </a:xfrm>
          <a:prstGeom prst="rect">
            <a:avLst/>
          </a:prstGeom>
          <a:solidFill>
            <a:srgbClr val="0D9488"/>
          </a:solidFill>
          <a:ln w="12700">
            <a:solidFill>
              <a:srgbClr val="0D9488"/>
            </a:solidFill>
            <a:prstDash val="solid"/>
          </a:ln>
        </p:spPr>
      </p:sp>
      <p:sp>
        <p:nvSpPr>
          <p:cNvPr id="9" name="Text 7"/>
          <p:cNvSpPr/>
          <p:nvPr/>
        </p:nvSpPr>
        <p:spPr>
          <a:xfrm>
            <a:off x="475488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00" dirty="0"/>
          </a:p>
        </p:txBody>
      </p:sp>
      <p:sp>
        <p:nvSpPr>
          <p:cNvPr id="10" name="Text 8"/>
          <p:cNvSpPr/>
          <p:nvPr/>
        </p:nvSpPr>
        <p:spPr>
          <a:xfrm>
            <a:off x="7955280" y="4864608"/>
            <a:ext cx="640080" cy="228600"/>
          </a:xfrm>
          <a:prstGeom prst="rect">
            <a:avLst/>
          </a:prstGeom>
          <a:noFill/>
          <a:ln/>
        </p:spPr>
        <p:txBody>
          <a:bodyPr wrap="square" lIns="0" tIns="0" rIns="0" bIns="0" rtlCol="0" anchor="ctr"/>
          <a:lstStyle/>
          <a:p>
            <a:pPr algn="r" indent="0" marL="0">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p:bgPr>
    </p:bg>
    <p:spTree>
      <p:nvGrpSpPr>
        <p:cNvPr id="1" name=""/>
        <p:cNvGrpSpPr/>
        <p:nvPr/>
      </p:nvGrpSpPr>
      <p:grpSpPr>
        <a:xfrm>
          <a:off x="0" y="0"/>
          <a:ext cx="0" cy="0"/>
          <a:chOff x="0" y="0"/>
          <a:chExt cx="0" cy="0"/>
        </a:xfrm>
      </p:grpSpPr>
      <p:sp>
        <p:nvSpPr>
          <p:cNvPr id="2" name="Shape 0"/>
          <p:cNvSpPr/>
          <p:nvPr/>
        </p:nvSpPr>
        <p:spPr>
          <a:xfrm>
            <a:off x="548640" y="914400"/>
            <a:ext cx="640080" cy="41148"/>
          </a:xfrm>
          <a:prstGeom prst="rect">
            <a:avLst/>
          </a:prstGeom>
          <a:solidFill>
            <a:srgbClr val="0D9488"/>
          </a:solidFill>
          <a:ln w="12700">
            <a:solidFill>
              <a:srgbClr val="0D9488"/>
            </a:solidFill>
            <a:prstDash val="solid"/>
          </a:ln>
        </p:spPr>
      </p:sp>
      <p:sp>
        <p:nvSpPr>
          <p:cNvPr id="3" name="Text 1"/>
          <p:cNvSpPr/>
          <p:nvPr/>
        </p:nvSpPr>
        <p:spPr>
          <a:xfrm>
            <a:off x="548640" y="1097280"/>
            <a:ext cx="7863840" cy="73152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Thank you</a:t>
            </a:r>
            <a:endParaRPr lang="en-US" sz="4400" dirty="0"/>
          </a:p>
        </p:txBody>
      </p:sp>
      <p:sp>
        <p:nvSpPr>
          <p:cNvPr id="4" name="Text 2"/>
          <p:cNvSpPr/>
          <p:nvPr/>
        </p:nvSpPr>
        <p:spPr>
          <a:xfrm>
            <a:off x="548640" y="1874520"/>
            <a:ext cx="7863840" cy="411480"/>
          </a:xfrm>
          <a:prstGeom prst="rect">
            <a:avLst/>
          </a:prstGeom>
          <a:noFill/>
          <a:ln/>
        </p:spPr>
        <p:txBody>
          <a:bodyPr wrap="square" lIns="0" tIns="0" rIns="0" bIns="0" rtlCol="0" anchor="ctr"/>
          <a:lstStyle/>
          <a:p>
            <a:pPr indent="0" marL="0">
              <a:buNone/>
            </a:pPr>
            <a:r>
              <a:rPr lang="en-US" sz="1800" i="1" dirty="0">
                <a:solidFill>
                  <a:srgbClr val="DBEAFE"/>
                </a:solidFill>
                <a:latin typeface="Calibri" pitchFamily="34" charset="0"/>
                <a:ea typeface="Calibri" pitchFamily="34" charset="-122"/>
                <a:cs typeface="Calibri" pitchFamily="34" charset="-120"/>
              </a:rPr>
              <a:t>Questions &amp; discussion</a:t>
            </a:r>
            <a:endParaRPr lang="en-US" sz="1800" dirty="0"/>
          </a:p>
        </p:txBody>
      </p:sp>
      <p:sp>
        <p:nvSpPr>
          <p:cNvPr id="5" name="Text 3"/>
          <p:cNvSpPr/>
          <p:nvPr/>
        </p:nvSpPr>
        <p:spPr>
          <a:xfrm>
            <a:off x="548640" y="2697480"/>
            <a:ext cx="7863840" cy="274320"/>
          </a:xfrm>
          <a:prstGeom prst="rect">
            <a:avLst/>
          </a:prstGeom>
          <a:noFill/>
          <a:ln/>
        </p:spPr>
        <p:txBody>
          <a:bodyPr wrap="square" lIns="0" tIns="0" rIns="0" bIns="0" rtlCol="0" anchor="ctr"/>
          <a:lstStyle/>
          <a:p>
            <a:pPr indent="0" marL="0">
              <a:buNone/>
            </a:pPr>
            <a:r>
              <a:rPr lang="en-US" sz="1100" b="1" spc="300" kern="0" dirty="0">
                <a:solidFill>
                  <a:srgbClr val="0D9488"/>
                </a:solidFill>
                <a:latin typeface="Calibri" pitchFamily="34" charset="0"/>
                <a:ea typeface="Calibri" pitchFamily="34" charset="-122"/>
                <a:cs typeface="Calibri" pitchFamily="34" charset="-120"/>
              </a:rPr>
              <a:t>RECAP</a:t>
            </a:r>
            <a:endParaRPr lang="en-US" sz="1100" dirty="0"/>
          </a:p>
        </p:txBody>
      </p:sp>
      <p:sp>
        <p:nvSpPr>
          <p:cNvPr id="6" name="Text 4"/>
          <p:cNvSpPr/>
          <p:nvPr/>
        </p:nvSpPr>
        <p:spPr>
          <a:xfrm>
            <a:off x="731520" y="3017520"/>
            <a:ext cx="7680960" cy="132588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250" dirty="0"/>
          </a:p>
          <a:p>
            <a:pPr marL="342900" indent="-342900">
              <a:spcAft>
                <a:spcPts val="400"/>
              </a:spcAft>
              <a:buSzPct val="100000"/>
              <a:buChar char="•"/>
            </a:pPr>
            <a:r>
              <a:rPr lang="en-US" sz="1250" dirty="0">
                <a:solidFill>
                  <a:srgbClr val="FFFFFF"/>
                </a:solidFill>
                <a:latin typeface="Calibri" pitchFamily="34" charset="0"/>
                <a:ea typeface="Calibri" pitchFamily="34" charset="-122"/>
                <a:cs typeface="Calibri" pitchFamily="34" charset="-120"/>
              </a:rPr>
              <a:t>Open-source web application, ready for CI/CD integration</a:t>
            </a:r>
            <a:endParaRPr lang="en-US" sz="1250" dirty="0"/>
          </a:p>
        </p:txBody>
      </p:sp>
      <p:sp>
        <p:nvSpPr>
          <p:cNvPr id="7" name="Text 5"/>
          <p:cNvSpPr/>
          <p:nvPr/>
        </p:nvSpPr>
        <p:spPr>
          <a:xfrm>
            <a:off x="548640" y="4617720"/>
            <a:ext cx="7863840" cy="274320"/>
          </a:xfrm>
          <a:prstGeom prst="rect">
            <a:avLst/>
          </a:prstGeom>
          <a:noFill/>
          <a:ln/>
        </p:spPr>
        <p:txBody>
          <a:bodyPr wrap="square" lIns="0" tIns="0" rIns="0" bIns="0" rtlCol="0" anchor="ctr"/>
          <a:lstStyle/>
          <a:p>
            <a:pPr indent="0" marL="0">
              <a:buNone/>
            </a:pPr>
            <a:r>
              <a:rPr lang="en-US" sz="1050" dirty="0">
                <a:solidFill>
                  <a:srgbClr val="DBEAFE"/>
                </a:solidFill>
                <a:latin typeface="Calibri" pitchFamily="34" charset="0"/>
                <a:ea typeface="Calibri" pitchFamily="34" charset="-122"/>
                <a:cs typeface="Calibri" pitchFamily="34" charset="-120"/>
              </a:rPr>
              <a:t>Iacob Andrei  ·  Supervisor: Prof. Dr. Simona Motogna  ·  UBB FMI</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1</cp:revision>
  <dcterms:created xsi:type="dcterms:W3CDTF">2026-06-11T05:49:34Z</dcterms:created>
  <dcterms:modified xsi:type="dcterms:W3CDTF">2026-06-11T05:49:34Z</dcterms:modified>
</cp:coreProperties>
</file>