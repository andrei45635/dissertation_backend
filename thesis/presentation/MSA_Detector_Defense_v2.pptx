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0" r:id="rId7"/>
    <p:sldId id="262" r:id="rId8"/>
    <p:sldId id="264" r:id="rId9"/>
    <p:sldId id="263"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64706"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F2A44"/>
                </a:solidFill>
                <a:latin typeface="Calibri"/>
              </a:defRPr>
            </a:pPr>
            <a:r>
              <a:rPr lang="en-US" sz="1200" b="0" i="0" u="none" strike="noStrike">
                <a:solidFill>
                  <a:srgbClr val="0F2A44"/>
                </a:solidFill>
                <a:latin typeface="Calibri"/>
              </a:rPr>
              <a:t>Health scores by project (0–100)</a:t>
            </a:r>
          </a:p>
        </c:rich>
      </c:tx>
      <c:overlay val="0"/>
    </c:title>
    <c:autoTitleDeleted val="0"/>
    <c:plotArea>
      <c:layout/>
      <c:barChart>
        <c:barDir val="col"/>
        <c:grouping val="clustered"/>
        <c:varyColors val="0"/>
        <c:ser>
          <c:idx val="0"/>
          <c:order val="0"/>
          <c:tx>
            <c:strRef>
              <c:f>Sheet1!$B$1</c:f>
              <c:strCache>
                <c:ptCount val="1"/>
                <c:pt idx="0">
                  <c:v>Health score</c:v>
                </c:pt>
              </c:strCache>
            </c:strRef>
          </c:tx>
          <c:spPr>
            <a:solidFill>
              <a:srgbClr val="0D948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MicroSocial</c:v>
                </c:pt>
                <c:pt idx="1">
                  <c:v>ftgo</c:v>
                </c:pt>
                <c:pt idx="2">
                  <c:v>PiggyMetrics</c:v>
                </c:pt>
                <c:pt idx="3">
                  <c:v>RuoYi</c:v>
                </c:pt>
                <c:pt idx="4">
                  <c:v>Site-Where</c:v>
                </c:pt>
                <c:pt idx="5">
                  <c:v>design-pat.</c:v>
                </c:pt>
                <c:pt idx="6">
                  <c:v>NetworkDisk</c:v>
                </c:pt>
                <c:pt idx="7">
                  <c:v>piomin</c:v>
                </c:pt>
                <c:pt idx="8">
                  <c:v>Train-Ticket</c:v>
                </c:pt>
                <c:pt idx="9">
                  <c:v>mall-swarm</c:v>
                </c:pt>
                <c:pt idx="10">
                  <c:v>recruit</c:v>
                </c:pt>
              </c:strCache>
            </c:strRef>
          </c:cat>
          <c:val>
            <c:numRef>
              <c:f>Sheet1!$B$2:$B$12</c:f>
              <c:numCache>
                <c:formatCode>General</c:formatCode>
                <c:ptCount val="11"/>
                <c:pt idx="0">
                  <c:v>83</c:v>
                </c:pt>
                <c:pt idx="1">
                  <c:v>75</c:v>
                </c:pt>
                <c:pt idx="2">
                  <c:v>71</c:v>
                </c:pt>
                <c:pt idx="3">
                  <c:v>71</c:v>
                </c:pt>
                <c:pt idx="4">
                  <c:v>69</c:v>
                </c:pt>
                <c:pt idx="5">
                  <c:v>60</c:v>
                </c:pt>
                <c:pt idx="6">
                  <c:v>59</c:v>
                </c:pt>
                <c:pt idx="7">
                  <c:v>55</c:v>
                </c:pt>
                <c:pt idx="8">
                  <c:v>54</c:v>
                </c:pt>
                <c:pt idx="9">
                  <c:v>53</c:v>
                </c:pt>
                <c:pt idx="10">
                  <c:v>40</c:v>
                </c:pt>
              </c:numCache>
            </c:numRef>
          </c:val>
          <c:extLst>
            <c:ext xmlns:c16="http://schemas.microsoft.com/office/drawing/2014/chart" uri="{C3380CC4-5D6E-409C-BE32-E72D297353CC}">
              <c16:uniqueId val="{00000000-E88F-4B16-8627-297042B241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8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392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Andrei Iacob, and today I'll be defending my dissertation: MSA Detector — a tool for detecting architectural anti-patterns in Java-based microservice systems. My supervisor is Professor Simona </a:t>
            </a:r>
            <a:r>
              <a:rPr lang="en-US" dirty="0" err="1"/>
              <a:t>Motogna</a:t>
            </a:r>
            <a:r>
              <a:rPr lang="en-US" dirty="0"/>
              <a:t>
The core idea is straightforward — as </a:t>
            </a:r>
            <a:r>
              <a:rPr lang="en-US" dirty="0" err="1"/>
              <a:t>organisations</a:t>
            </a:r>
            <a:r>
              <a:rPr lang="en-US" dirty="0"/>
              <a:t> adopt microservices, they often unknowingly introduce structural problems that erode the very benefits they were after. This tool helps catch those problems early, from a source code checkout, before they become production incidents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200" b="0" i="0" kern="1200" dirty="0">
                <a:solidFill>
                  <a:schemeClr val="tx1"/>
                </a:solidFill>
                <a:effectLst/>
                <a:latin typeface="+mn-lt"/>
                <a:ea typeface="+mn-ea"/>
                <a:cs typeface="+mn-cs"/>
              </a:rPr>
              <a:t>While microservices are widely adopted for new large systems, tooling specifically designed to support architectural quality assurance in these environments remains limited, which leads to developers shipping anti-patterns, unknowingly </a:t>
            </a:r>
            <a:r>
              <a:rPr lang="en-US" dirty="0"/>
              <a:t>— shared DBs, cycles, services that are either too small or too big — and they only find out when deployment friction or cascading failures appear in production. For instance, a shared database between two services looks harmless at first — both teams just point at the same Postgres instance. But over time, schema changes in one service silently break the other, and you've lost independent </a:t>
            </a:r>
            <a:r>
              <a:rPr lang="en-US" dirty="0" err="1"/>
              <a:t>deployability</a:t>
            </a:r>
            <a:r>
              <a:rPr lang="en-US" dirty="0"/>
              <a:t> — arguably the single biggest reason to use microservices in the first place
• Existing academic tools address important parts of the problem: Arcan detects architectural smells, </a:t>
            </a:r>
            <a:r>
              <a:rPr lang="en-US" dirty="0" err="1"/>
              <a:t>MicroART</a:t>
            </a:r>
            <a:r>
              <a:rPr lang="en-US" dirty="0"/>
              <a:t> </a:t>
            </a:r>
            <a:r>
              <a:rPr lang="en-US" dirty="0" err="1"/>
              <a:t>visualises</a:t>
            </a:r>
            <a:r>
              <a:rPr lang="en-US" dirty="0"/>
              <a:t> recovered architectures, </a:t>
            </a:r>
            <a:r>
              <a:rPr lang="en-US" dirty="0" err="1"/>
              <a:t>MSANose</a:t>
            </a:r>
            <a:r>
              <a:rPr lang="en-US" dirty="0"/>
              <a:t> detects microservice smells, and MARS covers a broader anti-pattern catalogue. They differ in the anti-patterns they cover and in how much developer-facing evidence, scoring, and workflow support they provide.
• Even when something IS detected, the output is usually an abstract warning. Developers don't act on warnings without code evidence and remediation guidance.
So the goal of this work was a tool that bridges both levels and outputs relevant findings for developers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work has five contributions. The first is the multi-level analysis itself — using code-level structural metrics like class cohesion to flag architectural problems like God Service. That bridge between abstraction levels is the central novelty.'
• 'Second, ten selected anti-patterns across four dimensions — not the largest catalogue, since MARS covers more, but integrated with code-level smell density, evidence snippets, remediation guidance, and a health score.'
• 'Third, automated microservice boundary detection via a three-signal </a:t>
            </a:r>
            <a:r>
              <a:rPr lang="en-US" dirty="0" err="1"/>
              <a:t>deployability</a:t>
            </a:r>
            <a:r>
              <a:rPr lang="en-US" dirty="0"/>
              <a:t> gate — framework entry points, </a:t>
            </a:r>
            <a:r>
              <a:rPr lang="en-US" dirty="0" err="1"/>
              <a:t>Dockerfiles</a:t>
            </a:r>
            <a:r>
              <a:rPr lang="en-US" dirty="0"/>
              <a:t>, and main methods — with confidence levels. Most existing tools require manual configuration.'
• 'Fourth, a composite health score on 0–100, decomposed into four categories so you can see which dimension is dragging the score down.'
• 'Fifth, evidence-based reporting — every finding includes the actual code that triggered it.'
'To give you a clearer picture of how these pieces fit together, let me walk you through the analysis pipeline — from the moment a project is uploaded to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Ingest: user uploads a ZIP or pastes a Git URL. The system extracts/clones and creates an analysis job.
• Service detection: scan for build files — pom.xml, </a:t>
            </a:r>
            <a:r>
              <a:rPr lang="en-US" dirty="0" err="1"/>
              <a:t>build.gradle</a:t>
            </a:r>
            <a:r>
              <a:rPr lang="en-US" dirty="0"/>
              <a:t>, </a:t>
            </a:r>
            <a:r>
              <a:rPr lang="en-US" dirty="0" err="1"/>
              <a:t>build.gradle.kts</a:t>
            </a:r>
            <a:r>
              <a:rPr lang="en-US" dirty="0"/>
              <a:t>. Filter out non-service modules using exclusion keywords and aggregator checks. Then apply a three-signal </a:t>
            </a:r>
            <a:r>
              <a:rPr lang="en-US" dirty="0" err="1"/>
              <a:t>deployability</a:t>
            </a:r>
            <a:r>
              <a:rPr lang="en-US" dirty="0"/>
              <a:t> gate: framework entry point (HIGH) (e.g. @SpringBootApplication etc.), </a:t>
            </a:r>
            <a:r>
              <a:rPr lang="en-US" dirty="0" err="1"/>
              <a:t>Dockerfile</a:t>
            </a:r>
            <a:r>
              <a:rPr lang="en-US" dirty="0"/>
              <a:t> (MEDIUM), main() method (LOW). Only candidates passing at least one signal are kept.
• Intra-service analysis runs </a:t>
            </a:r>
            <a:r>
              <a:rPr lang="en-US" dirty="0" err="1"/>
              <a:t>DesigniteJava</a:t>
            </a:r>
            <a:r>
              <a:rPr lang="en-US" dirty="0"/>
              <a:t> as a subprocess for code smells. Inter-service uses Spoon AST to find @FeignClient, </a:t>
            </a:r>
            <a:r>
              <a:rPr lang="en-US" dirty="0" err="1"/>
              <a:t>RestTemplate</a:t>
            </a:r>
            <a:r>
              <a:rPr lang="en-US" dirty="0"/>
              <a:t>, </a:t>
            </a:r>
            <a:r>
              <a:rPr lang="en-US" dirty="0" err="1"/>
              <a:t>WebClient</a:t>
            </a:r>
            <a:r>
              <a:rPr lang="en-US" dirty="0"/>
              <a:t> calls and build the dependency graph.
• Then ten detectors run over that graph + the smells. Each is a Spring component implementing a common interface — Strategy pattern.
• Finally results are assembled, the health score is computed, the dependency graph is </a:t>
            </a:r>
            <a:r>
              <a:rPr lang="en-US" dirty="0" err="1"/>
              <a:t>serialised</a:t>
            </a:r>
            <a:r>
              <a:rPr lang="en-US" dirty="0"/>
              <a:t> to JSON, and everything is persisted.
If asked about why async: 'Analyses on large projects like Activiti take several minutes. Blocking the HTTP request would time out. The frontend polls for status.'
Worth mentioning: 'The dependency graph construction is the most technically interesting part of this stage. Spoon parses the AST of every Java file and looks for inter-service communication annotations — @FeignClient declarations, </a:t>
            </a:r>
            <a:r>
              <a:rPr lang="en-US" dirty="0" err="1"/>
              <a:t>RestTemplate.exchange</a:t>
            </a:r>
            <a:r>
              <a:rPr lang="en-US" dirty="0"/>
              <a:t> calls, </a:t>
            </a:r>
            <a:r>
              <a:rPr lang="en-US" dirty="0" err="1"/>
              <a:t>WebClient</a:t>
            </a:r>
            <a:r>
              <a:rPr lang="en-US" dirty="0"/>
              <a:t> invocations — then resolves each target to a known service. The result is a directed weighted graph where edge weight represents the number of distinct call sites.'
Don't read the design-choices panel verbatim — mention one or two if you have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the ten detectors, </a:t>
            </a:r>
            <a:r>
              <a:rPr lang="en-US" dirty="0" err="1"/>
              <a:t>organised</a:t>
            </a:r>
            <a:r>
              <a:rPr lang="en-US" dirty="0"/>
              <a:t> by architectural dimension. Each is a Spring component implementing a common interface, so adding a new detector means writing one class — no orchestrator changes.'
• 'Severities feed directly into the health score: critical issues cost 8 points, high cost 5, medium cost 3.'
• 'The severity levels aren't arbitrary — they reflect how much damage the anti-pattern can cause. Cyclic Dependency and Distributed Monolith are critical because they undermine independent </a:t>
            </a:r>
            <a:r>
              <a:rPr lang="en-US" dirty="0" err="1"/>
              <a:t>deployability</a:t>
            </a:r>
            <a:r>
              <a:rPr lang="en-US" dirty="0"/>
              <a:t> entirely. Hardcoded Endpoints and API Versioning are medium because they're easier to fix and their impact is more </a:t>
            </a:r>
            <a:r>
              <a:rPr lang="en-US" dirty="0" err="1"/>
              <a:t>localised</a:t>
            </a:r>
            <a:r>
              <a:rPr lang="en-US" dirty="0"/>
              <a:t>.'
If a committee member asks about a specific detector:
• Shared DB — group services by spring.datasource.url, flag groups of size &gt; 1
• Cyclic Dependency — Tarjan's SCC on the dep graph, any SCC &gt; 1 vertex is a cycle
• Chatty Service — call count per edge ≥ 5 OR a Feign interface with ≥ 5 methods
• Hardcoded Endpoints — regex scan of .java for http://, localhost:, IP literals (with comment/test exclusions)
• Distributed Monolith — composite rule on coupling coefficient, connected ratio, shared DB count
• API Versioning — regex /v\d+[/.] on endpoint paths
• ESB Misuse — caller/callee ratios + volume-based mediator ratio
• Wrong Cuts — bidirectional edges between a service pair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picked God Service as the example because it's the cleanest illustration of how code-level signals feed an architectural-level finding.'
• 'For each service, a Spoon-based analysis parses every class and computes structural metrics — field count, public method count, lines of code, import domains, constructor parameters, and class cohesion. The God Service detector flags any microservice containing at least one class identified as a God Class.'
• 'A class is flagged as a God Class when it exceeds at least three of the six metrics. Pure data holders such as entities and DTOs are excluded first, since they naturally have many fields and low cohesion without being an anti-pattern.'
• 'Tight Class Cohesion measures the fraction of method pairs that share an instance field access. Low TCC means the methods operate on disjoint state — a sign of unrelated responsibilities packed into one class.'
EXPECT THIS QUESTION: 'Why does one God Class flag a service?'
Answer: 'The default is intentionally sensitive. False positives are cheap to dismiss. False negatives — architectural debt growing undetected — are expensive. The threshold is configurable; teams in production would calibrate it. Even one class concentrating that many responsibilities is worth a look.'
If asked where </a:t>
            </a:r>
            <a:r>
              <a:rPr lang="en-US" dirty="0" err="1"/>
              <a:t>DesigniteJava</a:t>
            </a:r>
            <a:r>
              <a:rPr lang="en-US" dirty="0"/>
              <a:t> fits: '</a:t>
            </a:r>
            <a:r>
              <a:rPr lang="en-US" dirty="0" err="1"/>
              <a:t>DesigniteJava</a:t>
            </a:r>
            <a:r>
              <a:rPr lang="en-US" dirty="0"/>
              <a:t> runs per service for code smells, but its catalogue is abstraction and modularization smells rather than a literal God Class. So God Service detection is driven by the Spoon structural metrics, and </a:t>
            </a:r>
            <a:r>
              <a:rPr lang="en-US" dirty="0" err="1"/>
              <a:t>DesigniteJava</a:t>
            </a:r>
            <a:r>
              <a:rPr lang="en-US" dirty="0"/>
              <a:t> smell density feeds the code-quality category of the health score instead.'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composite score is a sum of four independent categories. Each has its own budget — Anti-Patterns is 40 points, Code Quality 20, Architecture 25, Service Sizing 15. Total: 100. The weights were informed by how other composite metrics work in the literature — SonarQube's maintainability rating, SQALE, and the ISO 25010 quality model. Anti-patterns get the largest budget because they represent architectural-level issues that are expensive to fix after deployment
• 'Each category clamps at zero, so penalties can't bleed across categories. That's intentional: a code-quality-heavy project shouldn't have its architectural score dragged down.'
• 'Importantly, the breakdown is preserved in the UI. A developer doesn't just see 45/100 — they see WHICH category is dragging the score down, with </a:t>
            </a:r>
            <a:r>
              <a:rPr lang="en-US" dirty="0" err="1"/>
              <a:t>itemised</a:t>
            </a:r>
            <a:r>
              <a:rPr lang="en-US" dirty="0"/>
              <a:t> deductions.'
• 'The diff feature compares successive analyses, so a team that fixes a shared DB anti-pattern can see exactly how many points that bought them.’
EXPECT THIS QUESTION: 'Doesn't clamping at zero mean you lose discrimination between moderately bad and very bad projects?'
Answer: 'Yes — that's a known limitation of the category-cap approach, which I note in the threats to validity. A team with 13 nano services and one with 50 would both see Anti-Patterns at zero. The Service Sizing breakdown still preserves the per-issue counts, so the full picture is still visible to the user. A scaled, density-style penalty in the AP category — similar to the Code Quality category — would address this in future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evaluated on eleven open-source Spring Boot projects, spanning from </a:t>
            </a:r>
            <a:r>
              <a:rPr lang="en-US" dirty="0" err="1"/>
              <a:t>piomin</a:t>
            </a:r>
            <a:r>
              <a:rPr lang="en-US" dirty="0"/>
              <a:t> at 1.3k LOC to mall-swarm at 86k LOC. 130 microservices, about 274k LOC total.'
• 'The score range — 40 to 83 — shows that the metric has useful discriminating power. Projects known to be well-structured like </a:t>
            </a:r>
            <a:r>
              <a:rPr lang="en-US" dirty="0" err="1"/>
              <a:t>MicroSocial</a:t>
            </a:r>
            <a:r>
              <a:rPr lang="en-US" dirty="0"/>
              <a:t> score highest; projects known to have issues like Train-Ticket and microservice-recruit score lowest. If every project scored 70, the metric wouldn't be telling us much.'
• 'The dominant findings are configuration and sizing issues: 37 API versioning absences, 23 nano services, 15 hardcoded endpoints. 
• '98 total anti-pattern instances across 9 distinct types. Only Distributed Monolith was not detected — plausible given these projects' topologies.’
EXPECT: 'Only eleven projects, is that enough?'
Answer: 'Not for a statistical claim. This evaluation is a feasibility demonstration across heterogeneous codebases. A full precision/recall study would need a labelled corpus, which doesn't exist for microservice anti-patterns — that's an open problem in the field. I note this in Threats to Validity.'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could just be “presented’ during the live demo, and just shown briefly</a:t>
            </a:r>
          </a:p>
          <a:p>
            <a:endParaRPr lang="en-US" dirty="0"/>
          </a:p>
          <a:p>
            <a:r>
              <a:rPr lang="en-US" dirty="0"/>
              <a:t>• 'Take microservice-recruit — a Spring Cloud recruitment platform. In the anti-pattern category it has 6 API versioning absences, 2 ESB misuse and 2 wrong-cuts findings, 1 cyclic dependency, and 1 hardcoded endpoint — total penalty 49, but the category caps at 40, so it clamps to zero.'
• 'Its single nano service is scored under Service Sizing instead of the anti-pattern category, to avoid double counting — costing 3 points there, leaving 12 of 15.'
• 'Architecture loses 9 points for the structural coupling of its dependency graph — leaving 16 of 25.'
• 'Code Quality is scored by smell density: 260 smells over 8.3K LOC is 31.4 per KLOC, an 8-point deduction, leaving 12 of 20.'
• 'The final composite is 0 + 12 + 16 + 12 = 40 — grade F. Unlike a project whose problems sit in one place, this one loses points in every dimension, which is exactly what the multi-level scoring is meant to surface.'
'What makes this example interesting is that the problems are spread across all four categories — it's not a project with one catastrophic issue, it's a project with consistent low-level neglect across every dimension. That's exactly the kind of systemic debt the multi-category decomposition is designed to surface.’</a:t>
            </a:r>
          </a:p>
          <a:p>
            <a:r>
              <a:rPr lang="en-US" dirty="0"/>
              <a:t>
EXPECT QUESTION: 'Only 8 points lost on Code Quality with 260 smells — why so little?'
Answer: 'Code Quality is scored on smell density per 1000 LOC, not raw count, so a codebase isn't punished just for its size. The category is deliberately bounded so that architectural anti-patterns remain the dominant signal in the overall score.'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 switch to the browser/tool after this title comes up. Aim for ~2 minutes total.
Before you start:
• Have the app already running on localhost. Don't start the server live.
• Be logged in already. Don't waste demo time on the login form.
• Have a small known-working repo URL ready in your clipboard. MicroservicesSocial is the safest choice — small, fast, and produces a varied set of findings (Shared DB, Nano Service, Hardcoded Endpoint, API Versioning).
• Have a second browser tab open with a PREVIOUSLY COMPLETED analysis loaded, as a fallback. If the live clone fails or runs slow, switch to that tab and say 'here's a previous run on the same project.'
Demo script (~2 min):
1. CLONE (~30 s): 'I'll paste a GitHub URL of a small microservice project and submit it.' Paste, click submit. While it runs: 'the pipeline is now detecting microservices, running DesigniteJava per service, building the dependency graph, and running the ten detectors.'
2. DASHBOARD (~30 s): When the results page loads, point at the health score gauge. 'Score 83, grade B. The four-category breakdown shows where the deductions came from — mostly Anti-Patterns category.'
3. DRILL-DOWN (~45 s): Click on the Shared Database finding to expand it. 'You can see the affected services, the actual datasource URL that's being shared, the code snippet from the application.yml file, and remediation guidance.' This is the slide's strongest moment — the committee sees the evidence-based reporting in action.
4. DEPENDENCY GRAPH (~15 s): Scroll down or switch to the dep-graph view. 'Interactive force-directed graph. Each node is a service, edges show inter-service calls, node size scales with LOC.'
Then say: 'I'll switch back to the slides.' Click back to slide 11.
If the demo BREAKS at any point:
• Don't panic. Say 'looks like the network is being slow — let me switch to a pre-computed run.'
• Switch to your backup tab.
• If even the backup fails: 'the deployment is on my laptop and I'd be happy to demo it after the defense — meanwhile, the screenshots in Chapter 4 of the thesis show the same flow.'
• Move on quickly. Don't burn 90 seconds debugging in front of the committee. The thesis stands on its own.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tool has limitations. The biggest is the Java/Spring Boot restriction — real-world systems are polyglot, and the current tool can't </a:t>
            </a:r>
            <a:r>
              <a:rPr lang="en-US" dirty="0" err="1"/>
              <a:t>analyse</a:t>
            </a:r>
            <a:r>
              <a:rPr lang="en-US" dirty="0"/>
              <a:t> non-Java services.'
• 'Static analysis trades precision for applicability. A distributed tracing approach would give exact runtime call counts but requires the system to be deployed and instrumented — which prevents the tool from running on a fresh checkout.'
• 'The health score weights aren't empirically validated. They're engineering judgement informed by the literature. Different teams might want different weightings.'
• 'Future work in priority order: multi-language support, then ML-based detection, then empirical calibration of thresholds.'
You can add: 'The multi-language extension is actually partially designed already — Chapter 5 describes a roadmap where Docker Compose and Kubernetes manifests provide a language-agnostic dependency graph, and only the intra-service analysis needs per-language adapters. So the architecture is ready for it, even though the implementation is Java-only today.'
Don't get defensive about limitations. Acknowledging them is more impressive than glossing over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close — about 20 seconds.
Suggested wording:
'To recap: the MSA Detector is a multi-level static analysis tool for Java/Spring Boot microservices, with ten anti-pattern detectors, a composite health score, and evidence-based reporting. The full implementation, evaluation data, and dissertation are available. Thank you — I'm happy to take questions.'
You can also say before 'thank you': 'If there's one thing I'd like you to take away, it's that the bridge between code-level evidence and architectural-level findings is what makes this tool different — it doesn't just say something is wrong, it shows you exactly where in the code the problem lives.'
Then SHUT UP. Don't fill the silence. Let the committee speak.
When the first question comes:
1. Listen to the whole question — don't start composing the answer mid-question.
2. If unclear, ask for clarification: 'Just to make sure I understand — are you asking about X or about Y?'
3. Pause for 2 seconds before answering. Looks thoughtful, not nervous.
4. Answer concisely. If you don't know, say 'I didn't investigate that — my best guess is X but I'd want to verify.'
Common questions to prepare for:
• 'Why God Service threshold = 1?' → false positives cheap, false negatives expensive; configurable.
• 'Why only eleven projects?' → feasibility demo not statistical claim; no labelled corpus exists.
• 'Score compression at the bottom?' → known limitation, a scaled AP penalty would fix.
• 'Why static instead of dynamic?' → applicability over precision; no deployed system required.
• 'Why Spring Boot only?' → biggest Java microservice ecosystem; other frameworks future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548640" y="1170432"/>
            <a:ext cx="640080" cy="4114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548640" y="1371600"/>
            <a:ext cx="7863840" cy="1417320"/>
          </a:xfrm>
          <a:prstGeom prst="rect">
            <a:avLst/>
          </a:prstGeom>
          <a:noFill/>
          <a:ln/>
        </p:spPr>
        <p:txBody>
          <a:bodyPr wrap="square" lIns="0" tIns="0" rIns="0" bIns="0" rtlCol="0" anchor="ctr"/>
          <a:lstStyle/>
          <a:p>
            <a:pPr marL="0" indent="0">
              <a:spcAft>
                <a:spcPts val="400"/>
              </a:spcAft>
              <a:buNone/>
            </a:pPr>
            <a:r>
              <a:rPr lang="en-US" sz="3200" b="1" dirty="0">
                <a:solidFill>
                  <a:srgbClr val="FFFFFF"/>
                </a:solidFill>
                <a:latin typeface="Calibri" pitchFamily="34" charset="0"/>
                <a:ea typeface="Calibri" pitchFamily="34" charset="-122"/>
                <a:cs typeface="Calibri" pitchFamily="34" charset="-120"/>
              </a:rPr>
              <a:t>Detecting Architectural</a:t>
            </a:r>
            <a:endParaRPr lang="en-US" sz="3200" dirty="0"/>
          </a:p>
          <a:p>
            <a:pPr marL="0" indent="0">
              <a:spcAft>
                <a:spcPts val="400"/>
              </a:spcAft>
              <a:buNone/>
            </a:pPr>
            <a:r>
              <a:rPr lang="en-US" sz="3200" b="1" dirty="0">
                <a:solidFill>
                  <a:srgbClr val="FFFFFF"/>
                </a:solidFill>
                <a:latin typeface="Calibri" pitchFamily="34" charset="0"/>
                <a:ea typeface="Calibri" pitchFamily="34" charset="-122"/>
                <a:cs typeface="Calibri" pitchFamily="34" charset="-120"/>
              </a:rPr>
              <a:t>Anti-Patterns in Microservices</a:t>
            </a:r>
            <a:endParaRPr lang="en-US" sz="3200" dirty="0"/>
          </a:p>
        </p:txBody>
      </p:sp>
      <p:sp>
        <p:nvSpPr>
          <p:cNvPr id="4" name="Text 2"/>
          <p:cNvSpPr/>
          <p:nvPr/>
        </p:nvSpPr>
        <p:spPr>
          <a:xfrm>
            <a:off x="548640" y="2834640"/>
            <a:ext cx="7863840" cy="365760"/>
          </a:xfrm>
          <a:prstGeom prst="rect">
            <a:avLst/>
          </a:prstGeom>
          <a:noFill/>
          <a:ln/>
        </p:spPr>
        <p:txBody>
          <a:bodyPr wrap="square" lIns="0" tIns="0" rIns="0" bIns="0" rtlCol="0" anchor="ctr"/>
          <a:lstStyle/>
          <a:p>
            <a:pPr marL="0" indent="0">
              <a:buNone/>
            </a:pPr>
            <a:r>
              <a:rPr lang="en-US" sz="1500" i="1" dirty="0">
                <a:solidFill>
                  <a:srgbClr val="DBEAFE"/>
                </a:solidFill>
                <a:latin typeface="Calibri" pitchFamily="34" charset="0"/>
                <a:ea typeface="Calibri" pitchFamily="34" charset="-122"/>
                <a:cs typeface="Calibri" pitchFamily="34" charset="-120"/>
              </a:rPr>
              <a:t>A multi-level static analysis tool for Java/Spring Boot systems</a:t>
            </a:r>
            <a:endParaRPr lang="en-US" sz="1500" dirty="0"/>
          </a:p>
        </p:txBody>
      </p:sp>
      <p:sp>
        <p:nvSpPr>
          <p:cNvPr id="5" name="Text 3"/>
          <p:cNvSpPr/>
          <p:nvPr/>
        </p:nvSpPr>
        <p:spPr>
          <a:xfrm>
            <a:off x="548640" y="3794760"/>
            <a:ext cx="7863840" cy="1051560"/>
          </a:xfrm>
          <a:prstGeom prst="rect">
            <a:avLst/>
          </a:prstGeom>
          <a:noFill/>
          <a:ln/>
        </p:spPr>
        <p:txBody>
          <a:bodyPr wrap="square" lIns="0" tIns="0" rIns="0" bIns="0" rtlCol="0" anchor="ctr"/>
          <a:lstStyle/>
          <a:p>
            <a:pPr marL="0" indent="0">
              <a:spcAft>
                <a:spcPts val="200"/>
              </a:spcAft>
              <a:buNone/>
            </a:pPr>
            <a:r>
              <a:rPr lang="en-US" sz="1500" b="1" dirty="0">
                <a:solidFill>
                  <a:srgbClr val="FFFFFF"/>
                </a:solidFill>
                <a:latin typeface="Calibri" pitchFamily="34" charset="0"/>
                <a:ea typeface="Calibri" pitchFamily="34" charset="-122"/>
                <a:cs typeface="Calibri" pitchFamily="34" charset="-120"/>
              </a:rPr>
              <a:t>Iacob Andrei</a:t>
            </a:r>
            <a:endParaRPr lang="en-US" sz="1500" dirty="0"/>
          </a:p>
          <a:p>
            <a:pPr>
              <a:spcAft>
                <a:spcPts val="200"/>
              </a:spcAft>
            </a:pPr>
            <a:r>
              <a:rPr lang="en-US" sz="1150" dirty="0">
                <a:solidFill>
                  <a:srgbClr val="DBEAFE"/>
                </a:solidFill>
                <a:latin typeface="Calibri" pitchFamily="34" charset="0"/>
                <a:ea typeface="Calibri" pitchFamily="34" charset="-122"/>
                <a:cs typeface="Calibri" pitchFamily="34" charset="-120"/>
              </a:rPr>
              <a:t>Diagnosing the Distributed: A Static Analysis Approach to Microservice Anti-Pattern Detection</a:t>
            </a:r>
          </a:p>
          <a:p>
            <a:pPr marL="0" indent="0">
              <a:spcAft>
                <a:spcPts val="200"/>
              </a:spcAft>
              <a:buNone/>
            </a:pPr>
            <a:r>
              <a:rPr lang="en-US" sz="1150" dirty="0">
                <a:solidFill>
                  <a:srgbClr val="DBEAFE"/>
                </a:solidFill>
                <a:latin typeface="Calibri" pitchFamily="34" charset="0"/>
                <a:ea typeface="Calibri" pitchFamily="34" charset="-122"/>
                <a:cs typeface="Calibri" pitchFamily="34" charset="-120"/>
              </a:rPr>
              <a:t>Supervisor: Prof. Dr. Simona </a:t>
            </a:r>
            <a:r>
              <a:rPr lang="en-US" sz="1150" dirty="0" err="1">
                <a:solidFill>
                  <a:srgbClr val="DBEAFE"/>
                </a:solidFill>
                <a:latin typeface="Calibri" pitchFamily="34" charset="0"/>
                <a:ea typeface="Calibri" pitchFamily="34" charset="-122"/>
                <a:cs typeface="Calibri" pitchFamily="34" charset="-120"/>
              </a:rPr>
              <a:t>Motogna</a:t>
            </a:r>
            <a:endParaRPr lang="en-US" sz="1500" dirty="0"/>
          </a:p>
          <a:p>
            <a:pPr marL="0" indent="0">
              <a:spcAft>
                <a:spcPts val="200"/>
              </a:spcAft>
              <a:buNone/>
            </a:pPr>
            <a:r>
              <a:rPr lang="en-US" sz="1100" i="1" dirty="0">
                <a:solidFill>
                  <a:srgbClr val="DBEAFE"/>
                </a:solidFill>
                <a:latin typeface="Calibri" pitchFamily="34" charset="0"/>
                <a:ea typeface="Calibri" pitchFamily="34" charset="-122"/>
                <a:cs typeface="Calibri" pitchFamily="34" charset="-120"/>
              </a:rPr>
              <a:t>Faculty of Mathematics and Computer Science, Babeş-Bolyai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Why this matters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987552"/>
            <a:ext cx="8046720" cy="365760"/>
          </a:xfrm>
          <a:prstGeom prst="rect">
            <a:avLst/>
          </a:prstGeom>
          <a:noFill/>
          <a:ln/>
        </p:spPr>
        <p:txBody>
          <a:bodyPr wrap="square" lIns="0" tIns="0" rIns="0" bIns="0"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Microservices adoption has outpaced tooling</a:t>
            </a:r>
            <a:endParaRPr lang="en-US" sz="1500" dirty="0"/>
          </a:p>
        </p:txBody>
      </p:sp>
      <p:sp>
        <p:nvSpPr>
          <p:cNvPr id="5" name="Text 3"/>
          <p:cNvSpPr/>
          <p:nvPr/>
        </p:nvSpPr>
        <p:spPr>
          <a:xfrm>
            <a:off x="548640" y="1481328"/>
            <a:ext cx="457200" cy="502920"/>
          </a:xfrm>
          <a:prstGeom prst="rect">
            <a:avLst/>
          </a:prstGeom>
          <a:noFill/>
          <a:ln/>
        </p:spPr>
        <p:txBody>
          <a:bodyPr wrap="square" lIns="0" tIns="0" rIns="0" bIns="0" rtlCol="0" anchor="ctr"/>
          <a:lstStyle/>
          <a:p>
            <a:pPr marL="0" indent="0">
              <a:buNone/>
            </a:pPr>
            <a:r>
              <a:rPr lang="en-US" sz="2600" b="1" dirty="0">
                <a:solidFill>
                  <a:srgbClr val="C2CCD6"/>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1188720" y="1536192"/>
            <a:ext cx="740664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Architectural debt accumulates silently</a:t>
            </a:r>
            <a:endParaRPr lang="en-US" sz="1400" dirty="0"/>
          </a:p>
        </p:txBody>
      </p:sp>
      <p:sp>
        <p:nvSpPr>
          <p:cNvPr id="7" name="Text 5"/>
          <p:cNvSpPr/>
          <p:nvPr/>
        </p:nvSpPr>
        <p:spPr>
          <a:xfrm>
            <a:off x="1188720" y="1837944"/>
            <a:ext cx="7406640" cy="45720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Shared databases, cyclic dependencies, and ill-sized services erode the benefits microservices promise.</a:t>
            </a:r>
            <a:endParaRPr lang="en-US" sz="1150" dirty="0"/>
          </a:p>
        </p:txBody>
      </p:sp>
      <p:sp>
        <p:nvSpPr>
          <p:cNvPr id="8" name="Text 6"/>
          <p:cNvSpPr/>
          <p:nvPr/>
        </p:nvSpPr>
        <p:spPr>
          <a:xfrm>
            <a:off x="548640" y="2322576"/>
            <a:ext cx="457200" cy="502920"/>
          </a:xfrm>
          <a:prstGeom prst="rect">
            <a:avLst/>
          </a:prstGeom>
          <a:noFill/>
          <a:ln/>
        </p:spPr>
        <p:txBody>
          <a:bodyPr wrap="square" lIns="0" tIns="0" rIns="0" bIns="0" rtlCol="0" anchor="ctr"/>
          <a:lstStyle/>
          <a:p>
            <a:pPr marL="0" indent="0">
              <a:buNone/>
            </a:pPr>
            <a:r>
              <a:rPr lang="en-US" sz="2600" b="1" dirty="0">
                <a:solidFill>
                  <a:srgbClr val="C2CCD6"/>
                </a:solidFill>
                <a:latin typeface="Calibri" pitchFamily="34" charset="0"/>
                <a:ea typeface="Calibri" pitchFamily="34" charset="-122"/>
                <a:cs typeface="Calibri" pitchFamily="34" charset="-120"/>
              </a:rPr>
              <a:t>2</a:t>
            </a:r>
            <a:endParaRPr lang="en-US" sz="2600" dirty="0"/>
          </a:p>
        </p:txBody>
      </p:sp>
      <p:sp>
        <p:nvSpPr>
          <p:cNvPr id="9" name="Text 7"/>
          <p:cNvSpPr/>
          <p:nvPr/>
        </p:nvSpPr>
        <p:spPr>
          <a:xfrm>
            <a:off x="1188720" y="2377440"/>
            <a:ext cx="740664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Related tools vary in scope</a:t>
            </a:r>
            <a:endParaRPr lang="en-US" sz="1400" dirty="0"/>
          </a:p>
        </p:txBody>
      </p:sp>
      <p:sp>
        <p:nvSpPr>
          <p:cNvPr id="10" name="Text 8"/>
          <p:cNvSpPr/>
          <p:nvPr/>
        </p:nvSpPr>
        <p:spPr>
          <a:xfrm>
            <a:off x="1188720" y="2679192"/>
            <a:ext cx="7406640" cy="45720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Prior tools such as Arcan, MicroART, MSANose, and MARS address important slices of the problem, but differ in scope and output.</a:t>
            </a:r>
            <a:endParaRPr lang="en-US" sz="1150" dirty="0"/>
          </a:p>
        </p:txBody>
      </p:sp>
      <p:sp>
        <p:nvSpPr>
          <p:cNvPr id="11" name="Text 9"/>
          <p:cNvSpPr/>
          <p:nvPr/>
        </p:nvSpPr>
        <p:spPr>
          <a:xfrm>
            <a:off x="548640" y="3163824"/>
            <a:ext cx="457200" cy="502920"/>
          </a:xfrm>
          <a:prstGeom prst="rect">
            <a:avLst/>
          </a:prstGeom>
          <a:noFill/>
          <a:ln/>
        </p:spPr>
        <p:txBody>
          <a:bodyPr wrap="square" lIns="0" tIns="0" rIns="0" bIns="0" rtlCol="0" anchor="ctr"/>
          <a:lstStyle/>
          <a:p>
            <a:pPr marL="0" indent="0">
              <a:buNone/>
            </a:pPr>
            <a:r>
              <a:rPr lang="en-US" sz="2600" b="1" dirty="0">
                <a:solidFill>
                  <a:srgbClr val="C2CCD6"/>
                </a:solidFill>
                <a:latin typeface="Calibri" pitchFamily="34" charset="0"/>
                <a:ea typeface="Calibri" pitchFamily="34" charset="-122"/>
                <a:cs typeface="Calibri" pitchFamily="34" charset="-120"/>
              </a:rPr>
              <a:t>3</a:t>
            </a:r>
            <a:endParaRPr lang="en-US" sz="2600" dirty="0"/>
          </a:p>
        </p:txBody>
      </p:sp>
      <p:sp>
        <p:nvSpPr>
          <p:cNvPr id="12" name="Text 10"/>
          <p:cNvSpPr/>
          <p:nvPr/>
        </p:nvSpPr>
        <p:spPr>
          <a:xfrm>
            <a:off x="1188720" y="3218688"/>
            <a:ext cx="740664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Findings without evidence don't help</a:t>
            </a:r>
            <a:endParaRPr lang="en-US" sz="1400" dirty="0"/>
          </a:p>
        </p:txBody>
      </p:sp>
      <p:sp>
        <p:nvSpPr>
          <p:cNvPr id="13" name="Text 11"/>
          <p:cNvSpPr/>
          <p:nvPr/>
        </p:nvSpPr>
        <p:spPr>
          <a:xfrm>
            <a:off x="1188720" y="3520440"/>
            <a:ext cx="7406640" cy="45720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Warnings without source snippets, affected services, or remediation guidance get ignored.</a:t>
            </a:r>
            <a:endParaRPr lang="en-US" sz="1150" dirty="0"/>
          </a:p>
        </p:txBody>
      </p:sp>
      <p:sp>
        <p:nvSpPr>
          <p:cNvPr id="14" name="Shape 12"/>
          <p:cNvSpPr/>
          <p:nvPr/>
        </p:nvSpPr>
        <p:spPr>
          <a:xfrm>
            <a:off x="548640" y="4206240"/>
            <a:ext cx="457200" cy="36576"/>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548640" y="4315968"/>
            <a:ext cx="8046720" cy="365760"/>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Goal: actionable, evidence-based detection that bridges code and architecture levels</a:t>
            </a:r>
            <a:endParaRPr lang="en-US" sz="1300" dirty="0"/>
          </a:p>
        </p:txBody>
      </p:sp>
      <p:sp>
        <p:nvSpPr>
          <p:cNvPr id="16" name="Text 14"/>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Contributions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1005840"/>
            <a:ext cx="411480" cy="365760"/>
          </a:xfrm>
          <a:prstGeom prst="rect">
            <a:avLst/>
          </a:prstGeom>
          <a:noFill/>
          <a:ln/>
        </p:spPr>
        <p:txBody>
          <a:bodyPr wrap="square" lIns="0" tIns="0" rIns="0" bIns="0" rtlCol="0" anchor="ctr"/>
          <a:lstStyle/>
          <a:p>
            <a:pPr marL="0" indent="0">
              <a:buNone/>
            </a:pPr>
            <a:r>
              <a:rPr lang="en-US" sz="1700" b="1" dirty="0">
                <a:solidFill>
                  <a:srgbClr val="0D9488"/>
                </a:solidFill>
                <a:latin typeface="Calibri" pitchFamily="34" charset="0"/>
                <a:ea typeface="Calibri" pitchFamily="34" charset="-122"/>
                <a:cs typeface="Calibri" pitchFamily="34" charset="-120"/>
              </a:rPr>
              <a:t>1</a:t>
            </a:r>
            <a:endParaRPr lang="en-US" sz="1700" dirty="0"/>
          </a:p>
        </p:txBody>
      </p:sp>
      <p:sp>
        <p:nvSpPr>
          <p:cNvPr id="5" name="Text 3"/>
          <p:cNvSpPr/>
          <p:nvPr/>
        </p:nvSpPr>
        <p:spPr>
          <a:xfrm>
            <a:off x="1097280" y="1024128"/>
            <a:ext cx="749808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Multi-level analysis</a:t>
            </a:r>
            <a:endParaRPr lang="en-US" sz="1400" dirty="0"/>
          </a:p>
        </p:txBody>
      </p:sp>
      <p:sp>
        <p:nvSpPr>
          <p:cNvPr id="6" name="Text 4"/>
          <p:cNvSpPr/>
          <p:nvPr/>
        </p:nvSpPr>
        <p:spPr>
          <a:xfrm>
            <a:off x="1097280" y="1316736"/>
            <a:ext cx="7498080" cy="38404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Combines intra-service code analysis (DesigniteJava smells + Spoon structural metrics) with inter-service dependency analysis (graph algorithms)</a:t>
            </a:r>
            <a:endParaRPr lang="en-US" sz="1100" dirty="0"/>
          </a:p>
        </p:txBody>
      </p:sp>
      <p:sp>
        <p:nvSpPr>
          <p:cNvPr id="7" name="Text 5"/>
          <p:cNvSpPr/>
          <p:nvPr/>
        </p:nvSpPr>
        <p:spPr>
          <a:xfrm>
            <a:off x="548640" y="1700784"/>
            <a:ext cx="411480" cy="365760"/>
          </a:xfrm>
          <a:prstGeom prst="rect">
            <a:avLst/>
          </a:prstGeom>
          <a:noFill/>
          <a:ln/>
        </p:spPr>
        <p:txBody>
          <a:bodyPr wrap="square" lIns="0" tIns="0" rIns="0" bIns="0" rtlCol="0" anchor="ctr"/>
          <a:lstStyle/>
          <a:p>
            <a:pPr marL="0" indent="0">
              <a:buNone/>
            </a:pPr>
            <a:r>
              <a:rPr lang="en-US" sz="1700" b="1" dirty="0">
                <a:solidFill>
                  <a:srgbClr val="0D9488"/>
                </a:solidFill>
                <a:latin typeface="Calibri" pitchFamily="34" charset="0"/>
                <a:ea typeface="Calibri" pitchFamily="34" charset="-122"/>
                <a:cs typeface="Calibri" pitchFamily="34" charset="-120"/>
              </a:rPr>
              <a:t>2</a:t>
            </a:r>
            <a:endParaRPr lang="en-US" sz="1700" dirty="0"/>
          </a:p>
        </p:txBody>
      </p:sp>
      <p:sp>
        <p:nvSpPr>
          <p:cNvPr id="8" name="Text 6"/>
          <p:cNvSpPr/>
          <p:nvPr/>
        </p:nvSpPr>
        <p:spPr>
          <a:xfrm>
            <a:off x="1097280" y="1719072"/>
            <a:ext cx="749808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Ten anti-patterns detected</a:t>
            </a:r>
            <a:endParaRPr lang="en-US" sz="1400" dirty="0"/>
          </a:p>
        </p:txBody>
      </p:sp>
      <p:sp>
        <p:nvSpPr>
          <p:cNvPr id="9" name="Text 7"/>
          <p:cNvSpPr/>
          <p:nvPr/>
        </p:nvSpPr>
        <p:spPr>
          <a:xfrm>
            <a:off x="1097280" y="2011680"/>
            <a:ext cx="7498080" cy="38404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Across four dimensions: service design, communication, data management, deployment &amp; coupling</a:t>
            </a:r>
            <a:endParaRPr lang="en-US" sz="1100" dirty="0"/>
          </a:p>
        </p:txBody>
      </p:sp>
      <p:sp>
        <p:nvSpPr>
          <p:cNvPr id="10" name="Text 8"/>
          <p:cNvSpPr/>
          <p:nvPr/>
        </p:nvSpPr>
        <p:spPr>
          <a:xfrm>
            <a:off x="548640" y="2395728"/>
            <a:ext cx="411480" cy="365760"/>
          </a:xfrm>
          <a:prstGeom prst="rect">
            <a:avLst/>
          </a:prstGeom>
          <a:noFill/>
          <a:ln/>
        </p:spPr>
        <p:txBody>
          <a:bodyPr wrap="square" lIns="0" tIns="0" rIns="0" bIns="0" rtlCol="0" anchor="ctr"/>
          <a:lstStyle/>
          <a:p>
            <a:pPr marL="0" indent="0">
              <a:buNone/>
            </a:pPr>
            <a:r>
              <a:rPr lang="en-US" sz="1700" b="1" dirty="0">
                <a:solidFill>
                  <a:srgbClr val="0D9488"/>
                </a:solidFill>
                <a:latin typeface="Calibri" pitchFamily="34" charset="0"/>
                <a:ea typeface="Calibri" pitchFamily="34" charset="-122"/>
                <a:cs typeface="Calibri" pitchFamily="34" charset="-120"/>
              </a:rPr>
              <a:t>3</a:t>
            </a:r>
            <a:endParaRPr lang="en-US" sz="1700" dirty="0"/>
          </a:p>
        </p:txBody>
      </p:sp>
      <p:sp>
        <p:nvSpPr>
          <p:cNvPr id="11" name="Text 9"/>
          <p:cNvSpPr/>
          <p:nvPr/>
        </p:nvSpPr>
        <p:spPr>
          <a:xfrm>
            <a:off x="1097280" y="2414016"/>
            <a:ext cx="749808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Automated boundary detection</a:t>
            </a:r>
            <a:endParaRPr lang="en-US" sz="1400" dirty="0"/>
          </a:p>
        </p:txBody>
      </p:sp>
      <p:sp>
        <p:nvSpPr>
          <p:cNvPr id="12" name="Text 10"/>
          <p:cNvSpPr/>
          <p:nvPr/>
        </p:nvSpPr>
        <p:spPr>
          <a:xfrm>
            <a:off x="1097280" y="2706624"/>
            <a:ext cx="7498080" cy="38404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Three-signal deployability gate (framework entry point, Dockerfile, main method) with confidence levels</a:t>
            </a:r>
            <a:endParaRPr lang="en-US" sz="1100" dirty="0"/>
          </a:p>
        </p:txBody>
      </p:sp>
      <p:sp>
        <p:nvSpPr>
          <p:cNvPr id="13" name="Text 11"/>
          <p:cNvSpPr/>
          <p:nvPr/>
        </p:nvSpPr>
        <p:spPr>
          <a:xfrm>
            <a:off x="548640" y="3090672"/>
            <a:ext cx="411480" cy="365760"/>
          </a:xfrm>
          <a:prstGeom prst="rect">
            <a:avLst/>
          </a:prstGeom>
          <a:noFill/>
          <a:ln/>
        </p:spPr>
        <p:txBody>
          <a:bodyPr wrap="square" lIns="0" tIns="0" rIns="0" bIns="0" rtlCol="0" anchor="ctr"/>
          <a:lstStyle/>
          <a:p>
            <a:pPr marL="0" indent="0">
              <a:buNone/>
            </a:pPr>
            <a:r>
              <a:rPr lang="en-US" sz="1700" b="1" dirty="0">
                <a:solidFill>
                  <a:srgbClr val="0D9488"/>
                </a:solidFill>
                <a:latin typeface="Calibri" pitchFamily="34" charset="0"/>
                <a:ea typeface="Calibri" pitchFamily="34" charset="-122"/>
                <a:cs typeface="Calibri" pitchFamily="34" charset="-120"/>
              </a:rPr>
              <a:t>4</a:t>
            </a:r>
            <a:endParaRPr lang="en-US" sz="1700" dirty="0"/>
          </a:p>
        </p:txBody>
      </p:sp>
      <p:sp>
        <p:nvSpPr>
          <p:cNvPr id="14" name="Text 12"/>
          <p:cNvSpPr/>
          <p:nvPr/>
        </p:nvSpPr>
        <p:spPr>
          <a:xfrm>
            <a:off x="1097280" y="3108960"/>
            <a:ext cx="749808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Composite health score</a:t>
            </a:r>
            <a:endParaRPr lang="en-US" sz="1400" dirty="0"/>
          </a:p>
        </p:txBody>
      </p:sp>
      <p:sp>
        <p:nvSpPr>
          <p:cNvPr id="15" name="Text 13"/>
          <p:cNvSpPr/>
          <p:nvPr/>
        </p:nvSpPr>
        <p:spPr>
          <a:xfrm>
            <a:off x="1097280" y="3401568"/>
            <a:ext cx="7498080" cy="38404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0–100 with letter grading; decomposes into four interpretable categories; tracks change over time</a:t>
            </a:r>
            <a:endParaRPr lang="en-US" sz="1100" dirty="0"/>
          </a:p>
        </p:txBody>
      </p:sp>
      <p:sp>
        <p:nvSpPr>
          <p:cNvPr id="16" name="Text 14"/>
          <p:cNvSpPr/>
          <p:nvPr/>
        </p:nvSpPr>
        <p:spPr>
          <a:xfrm>
            <a:off x="548640" y="3785616"/>
            <a:ext cx="411480" cy="365760"/>
          </a:xfrm>
          <a:prstGeom prst="rect">
            <a:avLst/>
          </a:prstGeom>
          <a:noFill/>
          <a:ln/>
        </p:spPr>
        <p:txBody>
          <a:bodyPr wrap="square" lIns="0" tIns="0" rIns="0" bIns="0" rtlCol="0" anchor="ctr"/>
          <a:lstStyle/>
          <a:p>
            <a:pPr marL="0" indent="0">
              <a:buNone/>
            </a:pPr>
            <a:r>
              <a:rPr lang="en-US" sz="1700" b="1" dirty="0">
                <a:solidFill>
                  <a:srgbClr val="0D9488"/>
                </a:solidFill>
                <a:latin typeface="Calibri" pitchFamily="34" charset="0"/>
                <a:ea typeface="Calibri" pitchFamily="34" charset="-122"/>
                <a:cs typeface="Calibri" pitchFamily="34" charset="-120"/>
              </a:rPr>
              <a:t>5</a:t>
            </a:r>
            <a:endParaRPr lang="en-US" sz="1700" dirty="0"/>
          </a:p>
        </p:txBody>
      </p:sp>
      <p:sp>
        <p:nvSpPr>
          <p:cNvPr id="17" name="Text 15"/>
          <p:cNvSpPr/>
          <p:nvPr/>
        </p:nvSpPr>
        <p:spPr>
          <a:xfrm>
            <a:off x="1097280" y="3803904"/>
            <a:ext cx="7498080" cy="292608"/>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Evidence-based reporting</a:t>
            </a:r>
            <a:endParaRPr lang="en-US" sz="1400" dirty="0"/>
          </a:p>
        </p:txBody>
      </p:sp>
      <p:sp>
        <p:nvSpPr>
          <p:cNvPr id="18" name="Text 16"/>
          <p:cNvSpPr/>
          <p:nvPr/>
        </p:nvSpPr>
        <p:spPr>
          <a:xfrm>
            <a:off x="1097280" y="4096512"/>
            <a:ext cx="7498080" cy="38404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Every finding includes source snippets, affected services, and remediation guidance</a:t>
            </a:r>
            <a:endParaRPr lang="en-US" sz="1100" dirty="0"/>
          </a:p>
        </p:txBody>
      </p:sp>
      <p:sp>
        <p:nvSpPr>
          <p:cNvPr id="19" name="Text 17"/>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The analysis pipeline</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Shape 2"/>
          <p:cNvSpPr/>
          <p:nvPr/>
        </p:nvSpPr>
        <p:spPr>
          <a:xfrm>
            <a:off x="548640" y="1051560"/>
            <a:ext cx="1463040" cy="1325880"/>
          </a:xfrm>
          <a:prstGeom prst="rect">
            <a:avLst/>
          </a:prstGeom>
          <a:solidFill>
            <a:srgbClr val="FFFFFF"/>
          </a:solidFill>
          <a:ln w="12700">
            <a:solidFill>
              <a:srgbClr val="D8DEE6"/>
            </a:solidFill>
            <a:prstDash val="solid"/>
          </a:ln>
        </p:spPr>
        <p:txBody>
          <a:bodyPr/>
          <a:lstStyle/>
          <a:p>
            <a:endParaRPr lang="en-US"/>
          </a:p>
        </p:txBody>
      </p:sp>
      <p:sp>
        <p:nvSpPr>
          <p:cNvPr id="5" name="Shape 3"/>
          <p:cNvSpPr/>
          <p:nvPr/>
        </p:nvSpPr>
        <p:spPr>
          <a:xfrm>
            <a:off x="548640" y="1051560"/>
            <a:ext cx="1463040" cy="41148"/>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658368" y="1161288"/>
            <a:ext cx="4572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658368" y="1399032"/>
            <a:ext cx="1243584" cy="45720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Ingest</a:t>
            </a:r>
            <a:endParaRPr lang="en-US" sz="1250" dirty="0"/>
          </a:p>
        </p:txBody>
      </p:sp>
      <p:sp>
        <p:nvSpPr>
          <p:cNvPr id="8" name="Text 6"/>
          <p:cNvSpPr/>
          <p:nvPr/>
        </p:nvSpPr>
        <p:spPr>
          <a:xfrm>
            <a:off x="658368" y="1856232"/>
            <a:ext cx="1243584" cy="457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ZIP upload / Git clone</a:t>
            </a:r>
            <a:endParaRPr lang="en-US" sz="950" dirty="0"/>
          </a:p>
        </p:txBody>
      </p:sp>
      <p:sp>
        <p:nvSpPr>
          <p:cNvPr id="9" name="Text 7"/>
          <p:cNvSpPr/>
          <p:nvPr/>
        </p:nvSpPr>
        <p:spPr>
          <a:xfrm>
            <a:off x="2011680" y="1508760"/>
            <a:ext cx="182880" cy="365760"/>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194560" y="1051560"/>
            <a:ext cx="1463040" cy="1325880"/>
          </a:xfrm>
          <a:prstGeom prst="rect">
            <a:avLst/>
          </a:prstGeom>
          <a:solidFill>
            <a:srgbClr val="FFFFFF"/>
          </a:solidFill>
          <a:ln w="12700">
            <a:solidFill>
              <a:srgbClr val="D8DEE6"/>
            </a:solidFill>
            <a:prstDash val="solid"/>
          </a:ln>
        </p:spPr>
        <p:txBody>
          <a:bodyPr/>
          <a:lstStyle/>
          <a:p>
            <a:endParaRPr lang="en-US"/>
          </a:p>
        </p:txBody>
      </p:sp>
      <p:sp>
        <p:nvSpPr>
          <p:cNvPr id="11" name="Shape 9"/>
          <p:cNvSpPr/>
          <p:nvPr/>
        </p:nvSpPr>
        <p:spPr>
          <a:xfrm>
            <a:off x="2194560" y="1051560"/>
            <a:ext cx="1463040" cy="41148"/>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2304288" y="1161288"/>
            <a:ext cx="4572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2304288" y="1399032"/>
            <a:ext cx="1243584" cy="45720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Detect services</a:t>
            </a:r>
            <a:endParaRPr lang="en-US" sz="1250" dirty="0"/>
          </a:p>
        </p:txBody>
      </p:sp>
      <p:sp>
        <p:nvSpPr>
          <p:cNvPr id="14" name="Text 12"/>
          <p:cNvSpPr/>
          <p:nvPr/>
        </p:nvSpPr>
        <p:spPr>
          <a:xfrm>
            <a:off x="2304288" y="1856232"/>
            <a:ext cx="1243584" cy="457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Deployability gate (3 signals)</a:t>
            </a:r>
            <a:endParaRPr lang="en-US" sz="950" dirty="0"/>
          </a:p>
        </p:txBody>
      </p:sp>
      <p:sp>
        <p:nvSpPr>
          <p:cNvPr id="15" name="Text 13"/>
          <p:cNvSpPr/>
          <p:nvPr/>
        </p:nvSpPr>
        <p:spPr>
          <a:xfrm>
            <a:off x="3657600" y="1508760"/>
            <a:ext cx="182880" cy="365760"/>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840480" y="1051560"/>
            <a:ext cx="1463040" cy="1325880"/>
          </a:xfrm>
          <a:prstGeom prst="rect">
            <a:avLst/>
          </a:prstGeom>
          <a:solidFill>
            <a:srgbClr val="FFFFFF"/>
          </a:solidFill>
          <a:ln w="12700">
            <a:solidFill>
              <a:srgbClr val="D8DEE6"/>
            </a:solidFill>
            <a:prstDash val="solid"/>
          </a:ln>
        </p:spPr>
        <p:txBody>
          <a:bodyPr/>
          <a:lstStyle/>
          <a:p>
            <a:endParaRPr lang="en-US"/>
          </a:p>
        </p:txBody>
      </p:sp>
      <p:sp>
        <p:nvSpPr>
          <p:cNvPr id="17" name="Shape 15"/>
          <p:cNvSpPr/>
          <p:nvPr/>
        </p:nvSpPr>
        <p:spPr>
          <a:xfrm>
            <a:off x="3840480" y="1051560"/>
            <a:ext cx="1463040" cy="41148"/>
          </a:xfrm>
          <a:prstGeom prst="rect">
            <a:avLst/>
          </a:prstGeom>
          <a:solidFill>
            <a:srgbClr val="0D9488"/>
          </a:solidFill>
          <a:ln w="12700">
            <a:solidFill>
              <a:srgbClr val="0D9488"/>
            </a:solidFill>
            <a:prstDash val="solid"/>
          </a:ln>
        </p:spPr>
        <p:txBody>
          <a:bodyPr/>
          <a:lstStyle/>
          <a:p>
            <a:endParaRPr lang="en-US"/>
          </a:p>
        </p:txBody>
      </p:sp>
      <p:sp>
        <p:nvSpPr>
          <p:cNvPr id="18" name="Text 16"/>
          <p:cNvSpPr/>
          <p:nvPr/>
        </p:nvSpPr>
        <p:spPr>
          <a:xfrm>
            <a:off x="3950208" y="1161288"/>
            <a:ext cx="4572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3950208" y="1399032"/>
            <a:ext cx="1243584" cy="45720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Intra + inter</a:t>
            </a:r>
            <a:endParaRPr lang="en-US" sz="1250" dirty="0"/>
          </a:p>
        </p:txBody>
      </p:sp>
      <p:sp>
        <p:nvSpPr>
          <p:cNvPr id="20" name="Text 18"/>
          <p:cNvSpPr/>
          <p:nvPr/>
        </p:nvSpPr>
        <p:spPr>
          <a:xfrm>
            <a:off x="3950208" y="1856232"/>
            <a:ext cx="1243584" cy="457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DesigniteJava + Spoon</a:t>
            </a:r>
            <a:endParaRPr lang="en-US" sz="950" dirty="0"/>
          </a:p>
        </p:txBody>
      </p:sp>
      <p:sp>
        <p:nvSpPr>
          <p:cNvPr id="21" name="Text 19"/>
          <p:cNvSpPr/>
          <p:nvPr/>
        </p:nvSpPr>
        <p:spPr>
          <a:xfrm>
            <a:off x="5303520" y="1508760"/>
            <a:ext cx="182880" cy="365760"/>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0" y="1051560"/>
            <a:ext cx="1463040" cy="1325880"/>
          </a:xfrm>
          <a:prstGeom prst="rect">
            <a:avLst/>
          </a:prstGeom>
          <a:solidFill>
            <a:srgbClr val="FFFFFF"/>
          </a:solidFill>
          <a:ln w="12700">
            <a:solidFill>
              <a:srgbClr val="D8DEE6"/>
            </a:solidFill>
            <a:prstDash val="solid"/>
          </a:ln>
        </p:spPr>
        <p:txBody>
          <a:bodyPr/>
          <a:lstStyle/>
          <a:p>
            <a:endParaRPr lang="en-US"/>
          </a:p>
        </p:txBody>
      </p:sp>
      <p:sp>
        <p:nvSpPr>
          <p:cNvPr id="23" name="Shape 21"/>
          <p:cNvSpPr/>
          <p:nvPr/>
        </p:nvSpPr>
        <p:spPr>
          <a:xfrm>
            <a:off x="5486400" y="1051560"/>
            <a:ext cx="1463040" cy="41148"/>
          </a:xfrm>
          <a:prstGeom prst="rect">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5596128" y="1161288"/>
            <a:ext cx="4572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5596128" y="1399032"/>
            <a:ext cx="1243584" cy="45720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Detect patterns</a:t>
            </a:r>
            <a:endParaRPr lang="en-US" sz="1250" dirty="0"/>
          </a:p>
        </p:txBody>
      </p:sp>
      <p:sp>
        <p:nvSpPr>
          <p:cNvPr id="26" name="Text 24"/>
          <p:cNvSpPr/>
          <p:nvPr/>
        </p:nvSpPr>
        <p:spPr>
          <a:xfrm>
            <a:off x="5596128" y="1856232"/>
            <a:ext cx="1243584" cy="457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10 detectors (Strategy)</a:t>
            </a:r>
            <a:endParaRPr lang="en-US" sz="950" dirty="0"/>
          </a:p>
        </p:txBody>
      </p:sp>
      <p:sp>
        <p:nvSpPr>
          <p:cNvPr id="27" name="Text 25"/>
          <p:cNvSpPr/>
          <p:nvPr/>
        </p:nvSpPr>
        <p:spPr>
          <a:xfrm>
            <a:off x="6949440" y="1508760"/>
            <a:ext cx="182880" cy="365760"/>
          </a:xfrm>
          <a:prstGeom prst="rect">
            <a:avLst/>
          </a:prstGeom>
          <a:noFill/>
          <a:ln/>
        </p:spPr>
        <p:txBody>
          <a:bodyPr wrap="square" lIns="0" tIns="0" rIns="0" bIns="0" rtlCol="0" anchor="ctr"/>
          <a:lstStyle/>
          <a:p>
            <a:pPr marL="0" indent="0" algn="ctr">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132320" y="1051560"/>
            <a:ext cx="1463040" cy="1325880"/>
          </a:xfrm>
          <a:prstGeom prst="rect">
            <a:avLst/>
          </a:prstGeom>
          <a:solidFill>
            <a:srgbClr val="FFFFFF"/>
          </a:solidFill>
          <a:ln w="12700">
            <a:solidFill>
              <a:srgbClr val="D8DEE6"/>
            </a:solidFill>
            <a:prstDash val="solid"/>
          </a:ln>
        </p:spPr>
        <p:txBody>
          <a:bodyPr/>
          <a:lstStyle/>
          <a:p>
            <a:endParaRPr lang="en-US"/>
          </a:p>
        </p:txBody>
      </p:sp>
      <p:sp>
        <p:nvSpPr>
          <p:cNvPr id="29" name="Shape 27"/>
          <p:cNvSpPr/>
          <p:nvPr/>
        </p:nvSpPr>
        <p:spPr>
          <a:xfrm>
            <a:off x="7132320" y="1051560"/>
            <a:ext cx="1463040" cy="41148"/>
          </a:xfrm>
          <a:prstGeom prst="rect">
            <a:avLst/>
          </a:prstGeom>
          <a:solidFill>
            <a:srgbClr val="0D9488"/>
          </a:solidFill>
          <a:ln w="12700">
            <a:solidFill>
              <a:srgbClr val="0D9488"/>
            </a:solidFill>
            <a:prstDash val="solid"/>
          </a:ln>
        </p:spPr>
        <p:txBody>
          <a:bodyPr/>
          <a:lstStyle/>
          <a:p>
            <a:endParaRPr lang="en-US"/>
          </a:p>
        </p:txBody>
      </p:sp>
      <p:sp>
        <p:nvSpPr>
          <p:cNvPr id="30" name="Text 28"/>
          <p:cNvSpPr/>
          <p:nvPr/>
        </p:nvSpPr>
        <p:spPr>
          <a:xfrm>
            <a:off x="7242048" y="1161288"/>
            <a:ext cx="4572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7242048" y="1399032"/>
            <a:ext cx="1243584" cy="45720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Score &amp; report</a:t>
            </a:r>
            <a:endParaRPr lang="en-US" sz="1250" dirty="0"/>
          </a:p>
        </p:txBody>
      </p:sp>
      <p:sp>
        <p:nvSpPr>
          <p:cNvPr id="32" name="Text 30"/>
          <p:cNvSpPr/>
          <p:nvPr/>
        </p:nvSpPr>
        <p:spPr>
          <a:xfrm>
            <a:off x="7242048" y="1856232"/>
            <a:ext cx="1243584" cy="457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Health score + evidence</a:t>
            </a:r>
            <a:endParaRPr lang="en-US" sz="950" dirty="0"/>
          </a:p>
        </p:txBody>
      </p:sp>
      <p:sp>
        <p:nvSpPr>
          <p:cNvPr id="33" name="Shape 31"/>
          <p:cNvSpPr/>
          <p:nvPr/>
        </p:nvSpPr>
        <p:spPr>
          <a:xfrm>
            <a:off x="548640" y="2743200"/>
            <a:ext cx="457200" cy="36576"/>
          </a:xfrm>
          <a:prstGeom prst="rect">
            <a:avLst/>
          </a:prstGeom>
          <a:solidFill>
            <a:srgbClr val="0D9488"/>
          </a:solidFill>
          <a:ln w="12700">
            <a:solidFill>
              <a:srgbClr val="0D9488"/>
            </a:solidFill>
            <a:prstDash val="solid"/>
          </a:ln>
        </p:spPr>
        <p:txBody>
          <a:bodyPr/>
          <a:lstStyle/>
          <a:p>
            <a:endParaRPr lang="en-US"/>
          </a:p>
        </p:txBody>
      </p:sp>
      <p:sp>
        <p:nvSpPr>
          <p:cNvPr id="34" name="Text 32"/>
          <p:cNvSpPr/>
          <p:nvPr/>
        </p:nvSpPr>
        <p:spPr>
          <a:xfrm>
            <a:off x="548640" y="2852928"/>
            <a:ext cx="804672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Key design choices</a:t>
            </a:r>
            <a:endParaRPr lang="en-US" sz="1300" dirty="0"/>
          </a:p>
        </p:txBody>
      </p:sp>
      <p:sp>
        <p:nvSpPr>
          <p:cNvPr id="35" name="Text 33"/>
          <p:cNvSpPr/>
          <p:nvPr/>
        </p:nvSpPr>
        <p:spPr>
          <a:xfrm>
            <a:off x="731520" y="3200400"/>
            <a:ext cx="7863840" cy="12801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Async pipeline: long analyses don't block the API =&gt; Spring @Async with TransactionSynchronization.afterCommit() ensures consistency</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Each detector is a Spring @Component implementing </a:t>
            </a:r>
            <a:r>
              <a:rPr lang="en-US" sz="1100" dirty="0" err="1">
                <a:solidFill>
                  <a:srgbClr val="1E293B"/>
                </a:solidFill>
                <a:latin typeface="Calibri" pitchFamily="34" charset="0"/>
                <a:ea typeface="Calibri" pitchFamily="34" charset="-122"/>
                <a:cs typeface="Calibri" pitchFamily="34" charset="-120"/>
              </a:rPr>
              <a:t>AntiPatternDetector</a:t>
            </a:r>
            <a:r>
              <a:rPr lang="en-US" sz="1100" dirty="0">
                <a:solidFill>
                  <a:srgbClr val="1E293B"/>
                </a:solidFill>
                <a:latin typeface="Calibri" pitchFamily="34" charset="0"/>
                <a:ea typeface="Calibri" pitchFamily="34" charset="-122"/>
                <a:cs typeface="Calibri" pitchFamily="34" charset="-120"/>
              </a:rPr>
              <a:t> =&gt; adding a new detector means no orchestrator changes</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Snippets are extracted and persisted as JSON during analysis, so results survive workspace cleanup</a:t>
            </a:r>
            <a:endParaRPr lang="en-US" sz="1100" dirty="0"/>
          </a:p>
        </p:txBody>
      </p:sp>
      <p:sp>
        <p:nvSpPr>
          <p:cNvPr id="36" name="Text 34"/>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Ten detectors across four dimensions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969264"/>
            <a:ext cx="8046720" cy="274320"/>
          </a:xfrm>
          <a:prstGeom prst="rect">
            <a:avLst/>
          </a:prstGeom>
          <a:noFill/>
          <a:ln/>
        </p:spPr>
        <p:txBody>
          <a:bodyPr wrap="square" lIns="0" tIns="0" rIns="0" bIns="0" rtlCol="0" anchor="ctr"/>
          <a:lstStyle/>
          <a:p>
            <a:pPr marL="0" indent="0">
              <a:buNone/>
            </a:pPr>
            <a:r>
              <a:rPr lang="en-US" sz="1000" dirty="0">
                <a:solidFill>
                  <a:srgbClr val="DC2626"/>
                </a:solidFill>
                <a:latin typeface="Calibri" pitchFamily="34" charset="0"/>
                <a:ea typeface="Calibri" pitchFamily="34" charset="-122"/>
                <a:cs typeface="Calibri" pitchFamily="34" charset="-120"/>
              </a:rPr>
              <a:t>● </a:t>
            </a:r>
            <a:r>
              <a:rPr lang="en-US" sz="1000" dirty="0">
                <a:solidFill>
                  <a:srgbClr val="64748B"/>
                </a:solidFill>
                <a:latin typeface="Calibri" pitchFamily="34" charset="0"/>
                <a:ea typeface="Calibri" pitchFamily="34" charset="-122"/>
                <a:cs typeface="Calibri" pitchFamily="34" charset="-120"/>
              </a:rPr>
              <a:t>critical (−8 pts)      </a:t>
            </a:r>
            <a:r>
              <a:rPr lang="en-US" sz="1000" dirty="0">
                <a:solidFill>
                  <a:srgbClr val="D97706"/>
                </a:solidFill>
                <a:latin typeface="Calibri" pitchFamily="34" charset="0"/>
                <a:ea typeface="Calibri" pitchFamily="34" charset="-122"/>
                <a:cs typeface="Calibri" pitchFamily="34" charset="-120"/>
              </a:rPr>
              <a:t>● </a:t>
            </a:r>
            <a:r>
              <a:rPr lang="en-US" sz="1000" dirty="0">
                <a:solidFill>
                  <a:srgbClr val="64748B"/>
                </a:solidFill>
                <a:latin typeface="Calibri" pitchFamily="34" charset="0"/>
                <a:ea typeface="Calibri" pitchFamily="34" charset="-122"/>
                <a:cs typeface="Calibri" pitchFamily="34" charset="-120"/>
              </a:rPr>
              <a:t>high (−5 pts)      </a:t>
            </a:r>
            <a:r>
              <a:rPr lang="en-US" sz="1000" dirty="0">
                <a:solidFill>
                  <a:srgbClr val="1C4E80"/>
                </a:solidFill>
                <a:latin typeface="Calibri" pitchFamily="34" charset="0"/>
                <a:ea typeface="Calibri" pitchFamily="34" charset="-122"/>
                <a:cs typeface="Calibri" pitchFamily="34" charset="-120"/>
              </a:rPr>
              <a:t>● </a:t>
            </a:r>
            <a:r>
              <a:rPr lang="en-US" sz="1000" dirty="0">
                <a:solidFill>
                  <a:srgbClr val="64748B"/>
                </a:solidFill>
                <a:latin typeface="Calibri" pitchFamily="34" charset="0"/>
                <a:ea typeface="Calibri" pitchFamily="34" charset="-122"/>
                <a:cs typeface="Calibri" pitchFamily="34" charset="-120"/>
              </a:rPr>
              <a:t>medium (−3 pts)</a:t>
            </a:r>
            <a:endParaRPr lang="en-US" sz="1000" dirty="0"/>
          </a:p>
        </p:txBody>
      </p:sp>
      <p:sp>
        <p:nvSpPr>
          <p:cNvPr id="5" name="Text 3"/>
          <p:cNvSpPr/>
          <p:nvPr/>
        </p:nvSpPr>
        <p:spPr>
          <a:xfrm>
            <a:off x="548640" y="1371600"/>
            <a:ext cx="4023360" cy="256032"/>
          </a:xfrm>
          <a:prstGeom prst="rect">
            <a:avLst/>
          </a:prstGeom>
          <a:noFill/>
          <a:ln/>
        </p:spPr>
        <p:txBody>
          <a:bodyPr wrap="square" lIns="0" tIns="0" rIns="0" bIns="0" rtlCol="0" anchor="ctr"/>
          <a:lstStyle/>
          <a:p>
            <a:pPr marL="0" indent="0">
              <a:buNone/>
            </a:pPr>
            <a:r>
              <a:rPr lang="en-US" sz="1050" b="1" kern="0" spc="200" dirty="0">
                <a:solidFill>
                  <a:srgbClr val="0F2A44"/>
                </a:solidFill>
                <a:latin typeface="Calibri" pitchFamily="34" charset="0"/>
                <a:ea typeface="Calibri" pitchFamily="34" charset="-122"/>
                <a:cs typeface="Calibri" pitchFamily="34" charset="-120"/>
              </a:rPr>
              <a:t>SERVICE DESIGN</a:t>
            </a:r>
            <a:endParaRPr lang="en-US" sz="1050" dirty="0"/>
          </a:p>
        </p:txBody>
      </p:sp>
      <p:sp>
        <p:nvSpPr>
          <p:cNvPr id="6" name="Shape 4"/>
          <p:cNvSpPr/>
          <p:nvPr/>
        </p:nvSpPr>
        <p:spPr>
          <a:xfrm>
            <a:off x="548640" y="1673352"/>
            <a:ext cx="1325880" cy="402336"/>
          </a:xfrm>
          <a:prstGeom prst="roundRect">
            <a:avLst>
              <a:gd name="adj" fmla="val 22727"/>
            </a:avLst>
          </a:prstGeom>
          <a:solidFill>
            <a:srgbClr val="DBEAFE"/>
          </a:solidFill>
          <a:ln w="12700">
            <a:solidFill>
              <a:srgbClr val="DBEAFE"/>
            </a:solidFill>
            <a:prstDash val="solid"/>
          </a:ln>
        </p:spPr>
        <p:txBody>
          <a:bodyPr/>
          <a:lstStyle/>
          <a:p>
            <a:endParaRPr lang="en-US"/>
          </a:p>
        </p:txBody>
      </p:sp>
      <p:sp>
        <p:nvSpPr>
          <p:cNvPr id="7" name="Shape 5"/>
          <p:cNvSpPr/>
          <p:nvPr/>
        </p:nvSpPr>
        <p:spPr>
          <a:xfrm>
            <a:off x="685800" y="1833372"/>
            <a:ext cx="82296" cy="82296"/>
          </a:xfrm>
          <a:prstGeom prst="ellipse">
            <a:avLst/>
          </a:prstGeom>
          <a:solidFill>
            <a:srgbClr val="1C4E80"/>
          </a:solidFill>
          <a:ln w="12700">
            <a:solidFill>
              <a:srgbClr val="1C4E80"/>
            </a:solidFill>
            <a:prstDash val="solid"/>
          </a:ln>
        </p:spPr>
        <p:txBody>
          <a:bodyPr/>
          <a:lstStyle/>
          <a:p>
            <a:endParaRPr lang="en-US"/>
          </a:p>
        </p:txBody>
      </p:sp>
      <p:sp>
        <p:nvSpPr>
          <p:cNvPr id="8" name="Text 6"/>
          <p:cNvSpPr/>
          <p:nvPr/>
        </p:nvSpPr>
        <p:spPr>
          <a:xfrm>
            <a:off x="822960" y="1673352"/>
            <a:ext cx="103327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Nano Service</a:t>
            </a:r>
            <a:endParaRPr lang="en-US" sz="1050" dirty="0"/>
          </a:p>
        </p:txBody>
      </p:sp>
      <p:sp>
        <p:nvSpPr>
          <p:cNvPr id="9" name="Shape 7"/>
          <p:cNvSpPr/>
          <p:nvPr/>
        </p:nvSpPr>
        <p:spPr>
          <a:xfrm>
            <a:off x="2011680" y="1673352"/>
            <a:ext cx="1280160" cy="402336"/>
          </a:xfrm>
          <a:prstGeom prst="roundRect">
            <a:avLst>
              <a:gd name="adj" fmla="val 22727"/>
            </a:avLst>
          </a:prstGeom>
          <a:solidFill>
            <a:srgbClr val="FEF3C7"/>
          </a:solidFill>
          <a:ln w="12700">
            <a:solidFill>
              <a:srgbClr val="FEF3C7"/>
            </a:solidFill>
            <a:prstDash val="solid"/>
          </a:ln>
        </p:spPr>
        <p:txBody>
          <a:bodyPr/>
          <a:lstStyle/>
          <a:p>
            <a:endParaRPr lang="en-US"/>
          </a:p>
        </p:txBody>
      </p:sp>
      <p:sp>
        <p:nvSpPr>
          <p:cNvPr id="10" name="Shape 8"/>
          <p:cNvSpPr/>
          <p:nvPr/>
        </p:nvSpPr>
        <p:spPr>
          <a:xfrm>
            <a:off x="2148840" y="1833372"/>
            <a:ext cx="82296" cy="82296"/>
          </a:xfrm>
          <a:prstGeom prst="ellipse">
            <a:avLst/>
          </a:prstGeom>
          <a:solidFill>
            <a:srgbClr val="D97706"/>
          </a:solidFill>
          <a:ln w="12700">
            <a:solidFill>
              <a:srgbClr val="D97706"/>
            </a:solidFill>
            <a:prstDash val="solid"/>
          </a:ln>
        </p:spPr>
        <p:txBody>
          <a:bodyPr/>
          <a:lstStyle/>
          <a:p>
            <a:endParaRPr lang="en-US"/>
          </a:p>
        </p:txBody>
      </p:sp>
      <p:sp>
        <p:nvSpPr>
          <p:cNvPr id="11" name="Text 9"/>
          <p:cNvSpPr/>
          <p:nvPr/>
        </p:nvSpPr>
        <p:spPr>
          <a:xfrm>
            <a:off x="2286000" y="1673352"/>
            <a:ext cx="98755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God Service</a:t>
            </a:r>
            <a:endParaRPr lang="en-US" sz="1050" dirty="0"/>
          </a:p>
        </p:txBody>
      </p:sp>
      <p:sp>
        <p:nvSpPr>
          <p:cNvPr id="12" name="Text 10"/>
          <p:cNvSpPr/>
          <p:nvPr/>
        </p:nvSpPr>
        <p:spPr>
          <a:xfrm>
            <a:off x="4754880" y="1371600"/>
            <a:ext cx="4023360" cy="256032"/>
          </a:xfrm>
          <a:prstGeom prst="rect">
            <a:avLst/>
          </a:prstGeom>
          <a:noFill/>
          <a:ln/>
        </p:spPr>
        <p:txBody>
          <a:bodyPr wrap="square" lIns="0" tIns="0" rIns="0" bIns="0" rtlCol="0" anchor="ctr"/>
          <a:lstStyle/>
          <a:p>
            <a:pPr marL="0" indent="0">
              <a:buNone/>
            </a:pPr>
            <a:r>
              <a:rPr lang="en-US" sz="1050" b="1" kern="0" spc="200" dirty="0">
                <a:solidFill>
                  <a:srgbClr val="0F2A44"/>
                </a:solidFill>
                <a:latin typeface="Calibri" pitchFamily="34" charset="0"/>
                <a:ea typeface="Calibri" pitchFamily="34" charset="-122"/>
                <a:cs typeface="Calibri" pitchFamily="34" charset="-120"/>
              </a:rPr>
              <a:t>DATA MANAGEMENT</a:t>
            </a:r>
            <a:endParaRPr lang="en-US" sz="1050" dirty="0"/>
          </a:p>
        </p:txBody>
      </p:sp>
      <p:sp>
        <p:nvSpPr>
          <p:cNvPr id="13" name="Shape 11"/>
          <p:cNvSpPr/>
          <p:nvPr/>
        </p:nvSpPr>
        <p:spPr>
          <a:xfrm>
            <a:off x="4754880" y="1673352"/>
            <a:ext cx="1554480" cy="402336"/>
          </a:xfrm>
          <a:prstGeom prst="roundRect">
            <a:avLst>
              <a:gd name="adj" fmla="val 22727"/>
            </a:avLst>
          </a:prstGeom>
          <a:solidFill>
            <a:srgbClr val="FEF3C7"/>
          </a:solidFill>
          <a:ln w="12700">
            <a:solidFill>
              <a:srgbClr val="FEF3C7"/>
            </a:solidFill>
            <a:prstDash val="solid"/>
          </a:ln>
        </p:spPr>
        <p:txBody>
          <a:bodyPr/>
          <a:lstStyle/>
          <a:p>
            <a:endParaRPr lang="en-US"/>
          </a:p>
        </p:txBody>
      </p:sp>
      <p:sp>
        <p:nvSpPr>
          <p:cNvPr id="14" name="Shape 12"/>
          <p:cNvSpPr/>
          <p:nvPr/>
        </p:nvSpPr>
        <p:spPr>
          <a:xfrm>
            <a:off x="4892040" y="1833372"/>
            <a:ext cx="82296" cy="82296"/>
          </a:xfrm>
          <a:prstGeom prst="ellipse">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5029200" y="1673352"/>
            <a:ext cx="126187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Shared Database</a:t>
            </a:r>
            <a:endParaRPr lang="en-US" sz="1050" dirty="0"/>
          </a:p>
        </p:txBody>
      </p:sp>
      <p:sp>
        <p:nvSpPr>
          <p:cNvPr id="16" name="Text 14"/>
          <p:cNvSpPr/>
          <p:nvPr/>
        </p:nvSpPr>
        <p:spPr>
          <a:xfrm>
            <a:off x="548640" y="2468880"/>
            <a:ext cx="4023360" cy="256032"/>
          </a:xfrm>
          <a:prstGeom prst="rect">
            <a:avLst/>
          </a:prstGeom>
          <a:noFill/>
          <a:ln/>
        </p:spPr>
        <p:txBody>
          <a:bodyPr wrap="square" lIns="0" tIns="0" rIns="0" bIns="0" rtlCol="0" anchor="ctr"/>
          <a:lstStyle/>
          <a:p>
            <a:pPr marL="0" indent="0">
              <a:buNone/>
            </a:pPr>
            <a:r>
              <a:rPr lang="en-US" sz="1050" b="1" kern="0" spc="200" dirty="0">
                <a:solidFill>
                  <a:srgbClr val="0F2A44"/>
                </a:solidFill>
                <a:latin typeface="Calibri" pitchFamily="34" charset="0"/>
                <a:ea typeface="Calibri" pitchFamily="34" charset="-122"/>
                <a:cs typeface="Calibri" pitchFamily="34" charset="-120"/>
              </a:rPr>
              <a:t>COMMUNICATION</a:t>
            </a:r>
            <a:endParaRPr lang="en-US" sz="1050" dirty="0"/>
          </a:p>
        </p:txBody>
      </p:sp>
      <p:sp>
        <p:nvSpPr>
          <p:cNvPr id="17" name="Shape 15"/>
          <p:cNvSpPr/>
          <p:nvPr/>
        </p:nvSpPr>
        <p:spPr>
          <a:xfrm>
            <a:off x="548640" y="2770632"/>
            <a:ext cx="1463040" cy="402336"/>
          </a:xfrm>
          <a:prstGeom prst="roundRect">
            <a:avLst>
              <a:gd name="adj" fmla="val 22727"/>
            </a:avLst>
          </a:prstGeom>
          <a:solidFill>
            <a:srgbClr val="FEF3C7"/>
          </a:solidFill>
          <a:ln w="12700">
            <a:solidFill>
              <a:srgbClr val="FEF3C7"/>
            </a:solidFill>
            <a:prstDash val="solid"/>
          </a:ln>
        </p:spPr>
        <p:txBody>
          <a:bodyPr/>
          <a:lstStyle/>
          <a:p>
            <a:endParaRPr lang="en-US"/>
          </a:p>
        </p:txBody>
      </p:sp>
      <p:sp>
        <p:nvSpPr>
          <p:cNvPr id="18" name="Shape 16"/>
          <p:cNvSpPr/>
          <p:nvPr/>
        </p:nvSpPr>
        <p:spPr>
          <a:xfrm>
            <a:off x="685800" y="2930652"/>
            <a:ext cx="82296" cy="82296"/>
          </a:xfrm>
          <a:prstGeom prst="ellipse">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822960" y="2770632"/>
            <a:ext cx="117043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Chatty Service</a:t>
            </a:r>
            <a:endParaRPr lang="en-US" sz="1050" dirty="0"/>
          </a:p>
        </p:txBody>
      </p:sp>
      <p:sp>
        <p:nvSpPr>
          <p:cNvPr id="20" name="Shape 18"/>
          <p:cNvSpPr/>
          <p:nvPr/>
        </p:nvSpPr>
        <p:spPr>
          <a:xfrm>
            <a:off x="2148840" y="2770632"/>
            <a:ext cx="1691640" cy="402336"/>
          </a:xfrm>
          <a:prstGeom prst="roundRect">
            <a:avLst>
              <a:gd name="adj" fmla="val 22727"/>
            </a:avLst>
          </a:prstGeom>
          <a:solidFill>
            <a:srgbClr val="FEE2E2"/>
          </a:solidFill>
          <a:ln w="12700">
            <a:solidFill>
              <a:srgbClr val="FEE2E2"/>
            </a:solidFill>
            <a:prstDash val="solid"/>
          </a:ln>
        </p:spPr>
        <p:txBody>
          <a:bodyPr/>
          <a:lstStyle/>
          <a:p>
            <a:endParaRPr lang="en-US"/>
          </a:p>
        </p:txBody>
      </p:sp>
      <p:sp>
        <p:nvSpPr>
          <p:cNvPr id="21" name="Shape 19"/>
          <p:cNvSpPr/>
          <p:nvPr/>
        </p:nvSpPr>
        <p:spPr>
          <a:xfrm>
            <a:off x="2286000" y="2930652"/>
            <a:ext cx="82296" cy="82296"/>
          </a:xfrm>
          <a:prstGeom prst="ellipse">
            <a:avLst/>
          </a:prstGeom>
          <a:solidFill>
            <a:srgbClr val="DC2626"/>
          </a:solidFill>
          <a:ln w="12700">
            <a:solidFill>
              <a:srgbClr val="DC2626"/>
            </a:solidFill>
            <a:prstDash val="solid"/>
          </a:ln>
        </p:spPr>
        <p:txBody>
          <a:bodyPr/>
          <a:lstStyle/>
          <a:p>
            <a:endParaRPr lang="en-US"/>
          </a:p>
        </p:txBody>
      </p:sp>
      <p:sp>
        <p:nvSpPr>
          <p:cNvPr id="22" name="Text 20"/>
          <p:cNvSpPr/>
          <p:nvPr/>
        </p:nvSpPr>
        <p:spPr>
          <a:xfrm>
            <a:off x="2423160" y="2770632"/>
            <a:ext cx="139903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Cyclic Dependency</a:t>
            </a:r>
            <a:endParaRPr lang="en-US" sz="1050" dirty="0"/>
          </a:p>
        </p:txBody>
      </p:sp>
      <p:sp>
        <p:nvSpPr>
          <p:cNvPr id="23" name="Shape 21"/>
          <p:cNvSpPr/>
          <p:nvPr/>
        </p:nvSpPr>
        <p:spPr>
          <a:xfrm>
            <a:off x="3977640" y="2770632"/>
            <a:ext cx="1828800" cy="402336"/>
          </a:xfrm>
          <a:prstGeom prst="roundRect">
            <a:avLst>
              <a:gd name="adj" fmla="val 22727"/>
            </a:avLst>
          </a:prstGeom>
          <a:solidFill>
            <a:srgbClr val="DBEAFE"/>
          </a:solidFill>
          <a:ln w="12700">
            <a:solidFill>
              <a:srgbClr val="DBEAFE"/>
            </a:solidFill>
            <a:prstDash val="solid"/>
          </a:ln>
        </p:spPr>
        <p:txBody>
          <a:bodyPr/>
          <a:lstStyle/>
          <a:p>
            <a:endParaRPr lang="en-US"/>
          </a:p>
        </p:txBody>
      </p:sp>
      <p:sp>
        <p:nvSpPr>
          <p:cNvPr id="24" name="Shape 22"/>
          <p:cNvSpPr/>
          <p:nvPr/>
        </p:nvSpPr>
        <p:spPr>
          <a:xfrm>
            <a:off x="4114800" y="2930652"/>
            <a:ext cx="82296" cy="82296"/>
          </a:xfrm>
          <a:prstGeom prst="ellipse">
            <a:avLst/>
          </a:prstGeom>
          <a:solidFill>
            <a:srgbClr val="1C4E80"/>
          </a:solidFill>
          <a:ln w="12700">
            <a:solidFill>
              <a:srgbClr val="1C4E80"/>
            </a:solidFill>
            <a:prstDash val="solid"/>
          </a:ln>
        </p:spPr>
        <p:txBody>
          <a:bodyPr/>
          <a:lstStyle/>
          <a:p>
            <a:endParaRPr lang="en-US"/>
          </a:p>
        </p:txBody>
      </p:sp>
      <p:sp>
        <p:nvSpPr>
          <p:cNvPr id="25" name="Text 23"/>
          <p:cNvSpPr/>
          <p:nvPr/>
        </p:nvSpPr>
        <p:spPr>
          <a:xfrm>
            <a:off x="4251960" y="2770632"/>
            <a:ext cx="153619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Hardcoded Endpoints</a:t>
            </a:r>
            <a:endParaRPr lang="en-US" sz="1050" dirty="0"/>
          </a:p>
        </p:txBody>
      </p:sp>
      <p:sp>
        <p:nvSpPr>
          <p:cNvPr id="26" name="Shape 24"/>
          <p:cNvSpPr/>
          <p:nvPr/>
        </p:nvSpPr>
        <p:spPr>
          <a:xfrm>
            <a:off x="5943600" y="2770632"/>
            <a:ext cx="1188720" cy="402336"/>
          </a:xfrm>
          <a:prstGeom prst="roundRect">
            <a:avLst>
              <a:gd name="adj" fmla="val 22727"/>
            </a:avLst>
          </a:prstGeom>
          <a:solidFill>
            <a:srgbClr val="FEF3C7"/>
          </a:solidFill>
          <a:ln w="12700">
            <a:solidFill>
              <a:srgbClr val="FEF3C7"/>
            </a:solidFill>
            <a:prstDash val="solid"/>
          </a:ln>
        </p:spPr>
        <p:txBody>
          <a:bodyPr/>
          <a:lstStyle/>
          <a:p>
            <a:endParaRPr lang="en-US"/>
          </a:p>
        </p:txBody>
      </p:sp>
      <p:sp>
        <p:nvSpPr>
          <p:cNvPr id="27" name="Shape 25"/>
          <p:cNvSpPr/>
          <p:nvPr/>
        </p:nvSpPr>
        <p:spPr>
          <a:xfrm>
            <a:off x="6080760" y="2930652"/>
            <a:ext cx="82296" cy="82296"/>
          </a:xfrm>
          <a:prstGeom prst="ellipse">
            <a:avLst/>
          </a:prstGeom>
          <a:solidFill>
            <a:srgbClr val="D97706"/>
          </a:solidFill>
          <a:ln w="12700">
            <a:solidFill>
              <a:srgbClr val="D97706"/>
            </a:solidFill>
            <a:prstDash val="solid"/>
          </a:ln>
        </p:spPr>
        <p:txBody>
          <a:bodyPr/>
          <a:lstStyle/>
          <a:p>
            <a:endParaRPr lang="en-US"/>
          </a:p>
        </p:txBody>
      </p:sp>
      <p:sp>
        <p:nvSpPr>
          <p:cNvPr id="28" name="Text 26"/>
          <p:cNvSpPr/>
          <p:nvPr/>
        </p:nvSpPr>
        <p:spPr>
          <a:xfrm>
            <a:off x="6217920" y="2770632"/>
            <a:ext cx="89611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ESB Misuse</a:t>
            </a:r>
            <a:endParaRPr lang="en-US" sz="1050" dirty="0"/>
          </a:p>
        </p:txBody>
      </p:sp>
      <p:sp>
        <p:nvSpPr>
          <p:cNvPr id="29" name="Text 27"/>
          <p:cNvSpPr/>
          <p:nvPr/>
        </p:nvSpPr>
        <p:spPr>
          <a:xfrm>
            <a:off x="548640" y="3566160"/>
            <a:ext cx="4023360" cy="256032"/>
          </a:xfrm>
          <a:prstGeom prst="rect">
            <a:avLst/>
          </a:prstGeom>
          <a:noFill/>
          <a:ln/>
        </p:spPr>
        <p:txBody>
          <a:bodyPr wrap="square" lIns="0" tIns="0" rIns="0" bIns="0" rtlCol="0" anchor="ctr"/>
          <a:lstStyle/>
          <a:p>
            <a:pPr marL="0" indent="0">
              <a:buNone/>
            </a:pPr>
            <a:r>
              <a:rPr lang="en-US" sz="1050" b="1" kern="0" spc="200" dirty="0">
                <a:solidFill>
                  <a:srgbClr val="0F2A44"/>
                </a:solidFill>
                <a:latin typeface="Calibri" pitchFamily="34" charset="0"/>
                <a:ea typeface="Calibri" pitchFamily="34" charset="-122"/>
                <a:cs typeface="Calibri" pitchFamily="34" charset="-120"/>
              </a:rPr>
              <a:t>DEPLOYMENT &amp; COUPLING</a:t>
            </a:r>
            <a:endParaRPr lang="en-US" sz="1050" dirty="0"/>
          </a:p>
        </p:txBody>
      </p:sp>
      <p:sp>
        <p:nvSpPr>
          <p:cNvPr id="30" name="Shape 28"/>
          <p:cNvSpPr/>
          <p:nvPr/>
        </p:nvSpPr>
        <p:spPr>
          <a:xfrm>
            <a:off x="548640" y="3867912"/>
            <a:ext cx="1828800" cy="402336"/>
          </a:xfrm>
          <a:prstGeom prst="roundRect">
            <a:avLst>
              <a:gd name="adj" fmla="val 22727"/>
            </a:avLst>
          </a:prstGeom>
          <a:solidFill>
            <a:srgbClr val="FEE2E2"/>
          </a:solidFill>
          <a:ln w="12700">
            <a:solidFill>
              <a:srgbClr val="FEE2E2"/>
            </a:solidFill>
            <a:prstDash val="solid"/>
          </a:ln>
        </p:spPr>
        <p:txBody>
          <a:bodyPr/>
          <a:lstStyle/>
          <a:p>
            <a:endParaRPr lang="en-US"/>
          </a:p>
        </p:txBody>
      </p:sp>
      <p:sp>
        <p:nvSpPr>
          <p:cNvPr id="31" name="Shape 29"/>
          <p:cNvSpPr/>
          <p:nvPr/>
        </p:nvSpPr>
        <p:spPr>
          <a:xfrm>
            <a:off x="685800" y="4027932"/>
            <a:ext cx="82296" cy="82296"/>
          </a:xfrm>
          <a:prstGeom prst="ellipse">
            <a:avLst/>
          </a:prstGeom>
          <a:solidFill>
            <a:srgbClr val="DC2626"/>
          </a:solidFill>
          <a:ln w="12700">
            <a:solidFill>
              <a:srgbClr val="DC2626"/>
            </a:solidFill>
            <a:prstDash val="solid"/>
          </a:ln>
        </p:spPr>
        <p:txBody>
          <a:bodyPr/>
          <a:lstStyle/>
          <a:p>
            <a:endParaRPr lang="en-US"/>
          </a:p>
        </p:txBody>
      </p:sp>
      <p:sp>
        <p:nvSpPr>
          <p:cNvPr id="32" name="Text 30"/>
          <p:cNvSpPr/>
          <p:nvPr/>
        </p:nvSpPr>
        <p:spPr>
          <a:xfrm>
            <a:off x="822960" y="3867912"/>
            <a:ext cx="153619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Distributed Monolith</a:t>
            </a:r>
            <a:endParaRPr lang="en-US" sz="1050" dirty="0"/>
          </a:p>
        </p:txBody>
      </p:sp>
      <p:sp>
        <p:nvSpPr>
          <p:cNvPr id="33" name="Shape 31"/>
          <p:cNvSpPr/>
          <p:nvPr/>
        </p:nvSpPr>
        <p:spPr>
          <a:xfrm>
            <a:off x="2514600" y="3867912"/>
            <a:ext cx="2057400" cy="402336"/>
          </a:xfrm>
          <a:prstGeom prst="roundRect">
            <a:avLst>
              <a:gd name="adj" fmla="val 22727"/>
            </a:avLst>
          </a:prstGeom>
          <a:solidFill>
            <a:srgbClr val="DBEAFE"/>
          </a:solidFill>
          <a:ln w="12700">
            <a:solidFill>
              <a:srgbClr val="DBEAFE"/>
            </a:solidFill>
            <a:prstDash val="solid"/>
          </a:ln>
        </p:spPr>
        <p:txBody>
          <a:bodyPr/>
          <a:lstStyle/>
          <a:p>
            <a:endParaRPr lang="en-US"/>
          </a:p>
        </p:txBody>
      </p:sp>
      <p:sp>
        <p:nvSpPr>
          <p:cNvPr id="34" name="Shape 32"/>
          <p:cNvSpPr/>
          <p:nvPr/>
        </p:nvSpPr>
        <p:spPr>
          <a:xfrm>
            <a:off x="2651760" y="4027932"/>
            <a:ext cx="82296" cy="82296"/>
          </a:xfrm>
          <a:prstGeom prst="ellipse">
            <a:avLst/>
          </a:prstGeom>
          <a:solidFill>
            <a:srgbClr val="1C4E80"/>
          </a:solidFill>
          <a:ln w="12700">
            <a:solidFill>
              <a:srgbClr val="1C4E80"/>
            </a:solidFill>
            <a:prstDash val="solid"/>
          </a:ln>
        </p:spPr>
        <p:txBody>
          <a:bodyPr/>
          <a:lstStyle/>
          <a:p>
            <a:endParaRPr lang="en-US"/>
          </a:p>
        </p:txBody>
      </p:sp>
      <p:sp>
        <p:nvSpPr>
          <p:cNvPr id="35" name="Text 33"/>
          <p:cNvSpPr/>
          <p:nvPr/>
        </p:nvSpPr>
        <p:spPr>
          <a:xfrm>
            <a:off x="2788920" y="3867912"/>
            <a:ext cx="176479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API Versioning Absence</a:t>
            </a:r>
            <a:endParaRPr lang="en-US" sz="1050" dirty="0"/>
          </a:p>
        </p:txBody>
      </p:sp>
      <p:sp>
        <p:nvSpPr>
          <p:cNvPr id="36" name="Shape 34"/>
          <p:cNvSpPr/>
          <p:nvPr/>
        </p:nvSpPr>
        <p:spPr>
          <a:xfrm>
            <a:off x="4709160" y="3867912"/>
            <a:ext cx="1188720" cy="402336"/>
          </a:xfrm>
          <a:prstGeom prst="roundRect">
            <a:avLst>
              <a:gd name="adj" fmla="val 22727"/>
            </a:avLst>
          </a:prstGeom>
          <a:solidFill>
            <a:srgbClr val="FEF3C7"/>
          </a:solidFill>
          <a:ln w="12700">
            <a:solidFill>
              <a:srgbClr val="FEF3C7"/>
            </a:solidFill>
            <a:prstDash val="solid"/>
          </a:ln>
        </p:spPr>
        <p:txBody>
          <a:bodyPr/>
          <a:lstStyle/>
          <a:p>
            <a:endParaRPr lang="en-US"/>
          </a:p>
        </p:txBody>
      </p:sp>
      <p:sp>
        <p:nvSpPr>
          <p:cNvPr id="37" name="Shape 35"/>
          <p:cNvSpPr/>
          <p:nvPr/>
        </p:nvSpPr>
        <p:spPr>
          <a:xfrm>
            <a:off x="4846320" y="4027932"/>
            <a:ext cx="82296" cy="82296"/>
          </a:xfrm>
          <a:prstGeom prst="ellipse">
            <a:avLst/>
          </a:prstGeom>
          <a:solidFill>
            <a:srgbClr val="D97706"/>
          </a:solidFill>
          <a:ln w="12700">
            <a:solidFill>
              <a:srgbClr val="D97706"/>
            </a:solidFill>
            <a:prstDash val="solid"/>
          </a:ln>
        </p:spPr>
        <p:txBody>
          <a:bodyPr/>
          <a:lstStyle/>
          <a:p>
            <a:endParaRPr lang="en-US"/>
          </a:p>
        </p:txBody>
      </p:sp>
      <p:sp>
        <p:nvSpPr>
          <p:cNvPr id="38" name="Text 36"/>
          <p:cNvSpPr/>
          <p:nvPr/>
        </p:nvSpPr>
        <p:spPr>
          <a:xfrm>
            <a:off x="4983480" y="3867912"/>
            <a:ext cx="896112" cy="402336"/>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Wrong Cuts</a:t>
            </a:r>
            <a:endParaRPr lang="en-US" sz="1050" dirty="0"/>
          </a:p>
        </p:txBody>
      </p:sp>
      <p:sp>
        <p:nvSpPr>
          <p:cNvPr id="39" name="Shape 37"/>
          <p:cNvSpPr/>
          <p:nvPr/>
        </p:nvSpPr>
        <p:spPr>
          <a:xfrm>
            <a:off x="548640" y="4434840"/>
            <a:ext cx="457200" cy="36576"/>
          </a:xfrm>
          <a:prstGeom prst="rect">
            <a:avLst/>
          </a:prstGeom>
          <a:solidFill>
            <a:srgbClr val="0D9488"/>
          </a:solidFill>
          <a:ln w="12700">
            <a:solidFill>
              <a:srgbClr val="0D9488"/>
            </a:solidFill>
            <a:prstDash val="solid"/>
          </a:ln>
        </p:spPr>
        <p:txBody>
          <a:bodyPr/>
          <a:lstStyle/>
          <a:p>
            <a:endParaRPr lang="en-US"/>
          </a:p>
        </p:txBody>
      </p:sp>
      <p:sp>
        <p:nvSpPr>
          <p:cNvPr id="40" name="Text 38"/>
          <p:cNvSpPr/>
          <p:nvPr/>
        </p:nvSpPr>
        <p:spPr>
          <a:xfrm>
            <a:off x="548640" y="4526280"/>
            <a:ext cx="8046720" cy="292608"/>
          </a:xfrm>
          <a:prstGeom prst="rect">
            <a:avLst/>
          </a:prstGeom>
          <a:noFill/>
          <a:ln/>
        </p:spPr>
        <p:txBody>
          <a:bodyPr wrap="square" lIns="0" tIns="0" rIns="0" bIns="0" rtlCol="0" anchor="ctr"/>
          <a:lstStyle/>
          <a:p>
            <a:pPr marL="0" indent="0">
              <a:buNone/>
            </a:pPr>
            <a:r>
              <a:rPr lang="en-US" sz="1150" dirty="0">
                <a:solidFill>
                  <a:srgbClr val="0F2A44"/>
                </a:solidFill>
                <a:latin typeface="Calibri" pitchFamily="34" charset="0"/>
                <a:ea typeface="Calibri" pitchFamily="34" charset="-122"/>
                <a:cs typeface="Calibri" pitchFamily="34" charset="-120"/>
              </a:rPr>
              <a:t>All detectors are pluggable Strategy components with configurable thresholds</a:t>
            </a:r>
            <a:endParaRPr lang="en-US" sz="1150" dirty="0"/>
          </a:p>
        </p:txBody>
      </p:sp>
      <p:sp>
        <p:nvSpPr>
          <p:cNvPr id="41" name="Text 39"/>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Spotlight: God Service detection</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987552"/>
            <a:ext cx="365760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Multi-level bridge in action</a:t>
            </a:r>
            <a:endParaRPr lang="en-US" sz="1300" dirty="0"/>
          </a:p>
        </p:txBody>
      </p:sp>
      <p:sp>
        <p:nvSpPr>
          <p:cNvPr id="5" name="Shape 3"/>
          <p:cNvSpPr/>
          <p:nvPr/>
        </p:nvSpPr>
        <p:spPr>
          <a:xfrm>
            <a:off x="548640" y="1371600"/>
            <a:ext cx="3657600" cy="914400"/>
          </a:xfrm>
          <a:prstGeom prst="rect">
            <a:avLst/>
          </a:prstGeom>
          <a:solidFill>
            <a:srgbClr val="FFFFFF"/>
          </a:solidFill>
          <a:ln w="12700">
            <a:solidFill>
              <a:srgbClr val="D8DEE6"/>
            </a:solidFill>
            <a:prstDash val="solid"/>
          </a:ln>
        </p:spPr>
        <p:txBody>
          <a:bodyPr/>
          <a:lstStyle/>
          <a:p>
            <a:endParaRPr lang="en-US"/>
          </a:p>
        </p:txBody>
      </p:sp>
      <p:sp>
        <p:nvSpPr>
          <p:cNvPr id="6" name="Shape 4"/>
          <p:cNvSpPr/>
          <p:nvPr/>
        </p:nvSpPr>
        <p:spPr>
          <a:xfrm>
            <a:off x="548640" y="1371600"/>
            <a:ext cx="41148" cy="914400"/>
          </a:xfrm>
          <a:prstGeom prst="rect">
            <a:avLst/>
          </a:prstGeom>
          <a:solidFill>
            <a:srgbClr val="0F2A44"/>
          </a:solidFill>
          <a:ln w="12700">
            <a:solidFill>
              <a:srgbClr val="0F2A44"/>
            </a:solidFill>
            <a:prstDash val="solid"/>
          </a:ln>
        </p:spPr>
        <p:txBody>
          <a:bodyPr/>
          <a:lstStyle/>
          <a:p>
            <a:endParaRPr lang="en-US"/>
          </a:p>
        </p:txBody>
      </p:sp>
      <p:sp>
        <p:nvSpPr>
          <p:cNvPr id="7" name="Text 5"/>
          <p:cNvSpPr/>
          <p:nvPr/>
        </p:nvSpPr>
        <p:spPr>
          <a:xfrm>
            <a:off x="713232" y="1463040"/>
            <a:ext cx="3383280" cy="219456"/>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CODE LEVEL</a:t>
            </a:r>
            <a:endParaRPr lang="en-US" sz="900" dirty="0"/>
          </a:p>
        </p:txBody>
      </p:sp>
      <p:sp>
        <p:nvSpPr>
          <p:cNvPr id="8" name="Text 6"/>
          <p:cNvSpPr/>
          <p:nvPr/>
        </p:nvSpPr>
        <p:spPr>
          <a:xfrm>
            <a:off x="713232" y="1691640"/>
            <a:ext cx="338328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Structural class metrics (per class)</a:t>
            </a:r>
            <a:endParaRPr lang="en-US" sz="1250" dirty="0"/>
          </a:p>
        </p:txBody>
      </p:sp>
      <p:sp>
        <p:nvSpPr>
          <p:cNvPr id="9" name="Text 7"/>
          <p:cNvSpPr/>
          <p:nvPr/>
        </p:nvSpPr>
        <p:spPr>
          <a:xfrm>
            <a:off x="713232" y="1965960"/>
            <a:ext cx="33832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Computed from the Spoon AST: fields, methods, LOC, cohesion</a:t>
            </a:r>
            <a:endParaRPr lang="en-US" sz="1000" dirty="0"/>
          </a:p>
        </p:txBody>
      </p:sp>
      <p:sp>
        <p:nvSpPr>
          <p:cNvPr id="10" name="Shape 8"/>
          <p:cNvSpPr/>
          <p:nvPr/>
        </p:nvSpPr>
        <p:spPr>
          <a:xfrm>
            <a:off x="2377440" y="2359152"/>
            <a:ext cx="0" cy="292608"/>
          </a:xfrm>
          <a:prstGeom prst="line">
            <a:avLst/>
          </a:prstGeom>
          <a:noFill/>
          <a:ln w="28575">
            <a:solidFill>
              <a:srgbClr val="0D9488"/>
            </a:solidFill>
            <a:prstDash val="solid"/>
            <a:tailEnd type="triangle"/>
          </a:ln>
        </p:spPr>
        <p:txBody>
          <a:bodyPr/>
          <a:lstStyle/>
          <a:p>
            <a:endParaRPr lang="en-US"/>
          </a:p>
        </p:txBody>
      </p:sp>
      <p:sp>
        <p:nvSpPr>
          <p:cNvPr id="11" name="Shape 9"/>
          <p:cNvSpPr/>
          <p:nvPr/>
        </p:nvSpPr>
        <p:spPr>
          <a:xfrm>
            <a:off x="548640" y="2724912"/>
            <a:ext cx="3657600" cy="914400"/>
          </a:xfrm>
          <a:prstGeom prst="rect">
            <a:avLst/>
          </a:prstGeom>
          <a:solidFill>
            <a:srgbClr val="FFFFFF"/>
          </a:solidFill>
          <a:ln w="12700">
            <a:solidFill>
              <a:srgbClr val="D8DEE6"/>
            </a:solidFill>
            <a:prstDash val="solid"/>
          </a:ln>
        </p:spPr>
        <p:txBody>
          <a:bodyPr/>
          <a:lstStyle/>
          <a:p>
            <a:endParaRPr lang="en-US"/>
          </a:p>
        </p:txBody>
      </p:sp>
      <p:sp>
        <p:nvSpPr>
          <p:cNvPr id="12" name="Shape 10"/>
          <p:cNvSpPr/>
          <p:nvPr/>
        </p:nvSpPr>
        <p:spPr>
          <a:xfrm>
            <a:off x="548640" y="2724912"/>
            <a:ext cx="41148" cy="914400"/>
          </a:xfrm>
          <a:prstGeom prst="rect">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713232" y="2816352"/>
            <a:ext cx="3383280" cy="219456"/>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ARCHITECTURAL LEVEL</a:t>
            </a:r>
            <a:endParaRPr lang="en-US" sz="900" dirty="0"/>
          </a:p>
        </p:txBody>
      </p:sp>
      <p:sp>
        <p:nvSpPr>
          <p:cNvPr id="14" name="Text 12"/>
          <p:cNvSpPr/>
          <p:nvPr/>
        </p:nvSpPr>
        <p:spPr>
          <a:xfrm>
            <a:off x="713232" y="3044952"/>
            <a:ext cx="338328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God Service (per microservice)</a:t>
            </a:r>
            <a:endParaRPr lang="en-US" sz="1250" dirty="0"/>
          </a:p>
        </p:txBody>
      </p:sp>
      <p:sp>
        <p:nvSpPr>
          <p:cNvPr id="15" name="Text 13"/>
          <p:cNvSpPr/>
          <p:nvPr/>
        </p:nvSpPr>
        <p:spPr>
          <a:xfrm>
            <a:off x="713232" y="3319272"/>
            <a:ext cx="33832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Flag service if it contains at least one God Class</a:t>
            </a:r>
            <a:endParaRPr lang="en-US" sz="1000" dirty="0"/>
          </a:p>
        </p:txBody>
      </p:sp>
      <p:sp>
        <p:nvSpPr>
          <p:cNvPr id="16" name="Text 14"/>
          <p:cNvSpPr/>
          <p:nvPr/>
        </p:nvSpPr>
        <p:spPr>
          <a:xfrm>
            <a:off x="548640" y="3886200"/>
            <a:ext cx="3657600" cy="32004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Code-level evidence → architectural-level finding</a:t>
            </a:r>
            <a:endParaRPr lang="en-US" sz="1050" dirty="0"/>
          </a:p>
        </p:txBody>
      </p:sp>
      <p:sp>
        <p:nvSpPr>
          <p:cNvPr id="17" name="Text 15"/>
          <p:cNvSpPr/>
          <p:nvPr/>
        </p:nvSpPr>
        <p:spPr>
          <a:xfrm>
            <a:off x="4754880" y="987552"/>
            <a:ext cx="384048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Six structural metrics</a:t>
            </a:r>
            <a:endParaRPr lang="en-US" sz="1300" dirty="0"/>
          </a:p>
        </p:txBody>
      </p:sp>
      <p:sp>
        <p:nvSpPr>
          <p:cNvPr id="18" name="Text 16"/>
          <p:cNvSpPr/>
          <p:nvPr/>
        </p:nvSpPr>
        <p:spPr>
          <a:xfrm>
            <a:off x="4754880" y="1316736"/>
            <a:ext cx="384048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Each non-data class is evaluated against six thresholds computed from its AST:</a:t>
            </a:r>
            <a:endParaRPr lang="en-US" sz="1100" dirty="0"/>
          </a:p>
        </p:txBody>
      </p:sp>
      <p:sp>
        <p:nvSpPr>
          <p:cNvPr id="19" name="Text 17"/>
          <p:cNvSpPr/>
          <p:nvPr/>
        </p:nvSpPr>
        <p:spPr>
          <a:xfrm>
            <a:off x="4846320" y="1828800"/>
            <a:ext cx="3749040" cy="178308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25 fields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30 public methods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1000 lines of code</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20 distinct import domains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12 constructor parameters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TCC &lt; 0.5  (Bieman &amp; Kang, 1995)</a:t>
            </a:r>
            <a:endParaRPr lang="en-US" sz="1100" dirty="0"/>
          </a:p>
        </p:txBody>
      </p:sp>
      <p:sp>
        <p:nvSpPr>
          <p:cNvPr id="20" name="Shape 18"/>
          <p:cNvSpPr/>
          <p:nvPr/>
        </p:nvSpPr>
        <p:spPr>
          <a:xfrm>
            <a:off x="4754880" y="3767328"/>
            <a:ext cx="457200" cy="36576"/>
          </a:xfrm>
          <a:prstGeom prst="rect">
            <a:avLst/>
          </a:prstGeom>
          <a:solidFill>
            <a:srgbClr val="0D9488"/>
          </a:solidFill>
          <a:ln w="12700">
            <a:solidFill>
              <a:srgbClr val="0D9488"/>
            </a:solidFill>
            <a:prstDash val="solid"/>
          </a:ln>
        </p:spPr>
        <p:txBody>
          <a:bodyPr/>
          <a:lstStyle/>
          <a:p>
            <a:endParaRPr lang="en-US"/>
          </a:p>
        </p:txBody>
      </p:sp>
      <p:sp>
        <p:nvSpPr>
          <p:cNvPr id="21" name="Text 19"/>
          <p:cNvSpPr/>
          <p:nvPr/>
        </p:nvSpPr>
        <p:spPr>
          <a:xfrm>
            <a:off x="4754880" y="3886200"/>
            <a:ext cx="3840480" cy="457200"/>
          </a:xfrm>
          <a:prstGeom prst="rect">
            <a:avLst/>
          </a:prstGeom>
          <a:noFill/>
          <a:ln/>
        </p:spPr>
        <p:txBody>
          <a:bodyPr wrap="square" lIns="0" tIns="0" rIns="0" bIns="0" rtlCol="0" anchor="ctr"/>
          <a:lstStyle/>
          <a:p>
            <a:pPr marL="0" indent="0">
              <a:buNone/>
            </a:pPr>
            <a:r>
              <a:rPr lang="en-US" sz="1150" b="1" dirty="0">
                <a:solidFill>
                  <a:srgbClr val="0F2A44"/>
                </a:solidFill>
                <a:latin typeface="Calibri" pitchFamily="34" charset="0"/>
                <a:ea typeface="Calibri" pitchFamily="34" charset="-122"/>
                <a:cs typeface="Calibri" pitchFamily="34" charset="-120"/>
              </a:rPr>
              <a:t>Flag class as God Class if ≥ 3 of 6 thresholds are exceeded</a:t>
            </a:r>
            <a:endParaRPr lang="en-US" sz="1150" dirty="0"/>
          </a:p>
        </p:txBody>
      </p:sp>
      <p:sp>
        <p:nvSpPr>
          <p:cNvPr id="22" name="Text 20"/>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Composite health score</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Shape 2"/>
          <p:cNvSpPr/>
          <p:nvPr/>
        </p:nvSpPr>
        <p:spPr>
          <a:xfrm>
            <a:off x="548640" y="1051560"/>
            <a:ext cx="1874520" cy="41148"/>
          </a:xfrm>
          <a:prstGeom prst="rect">
            <a:avLst/>
          </a:prstGeom>
          <a:solidFill>
            <a:srgbClr val="DC2626"/>
          </a:solidFill>
          <a:ln w="12700">
            <a:solidFill>
              <a:srgbClr val="DC2626"/>
            </a:solidFill>
            <a:prstDash val="solid"/>
          </a:ln>
        </p:spPr>
        <p:txBody>
          <a:bodyPr/>
          <a:lstStyle/>
          <a:p>
            <a:endParaRPr lang="en-US"/>
          </a:p>
        </p:txBody>
      </p:sp>
      <p:sp>
        <p:nvSpPr>
          <p:cNvPr id="5" name="Text 3"/>
          <p:cNvSpPr/>
          <p:nvPr/>
        </p:nvSpPr>
        <p:spPr>
          <a:xfrm>
            <a:off x="548640" y="1170432"/>
            <a:ext cx="1874520" cy="502920"/>
          </a:xfrm>
          <a:prstGeom prst="rect">
            <a:avLst/>
          </a:prstGeom>
          <a:noFill/>
          <a:ln/>
        </p:spPr>
        <p:txBody>
          <a:bodyPr wrap="square" lIns="0" tIns="0" rIns="0" bIns="0" rtlCol="0" anchor="ctr"/>
          <a:lstStyle/>
          <a:p>
            <a:pPr marL="0" indent="0">
              <a:buNone/>
            </a:pPr>
            <a:r>
              <a:rPr lang="en-US" sz="3000" b="1" dirty="0">
                <a:solidFill>
                  <a:srgbClr val="0F2A44"/>
                </a:solidFill>
                <a:latin typeface="Calibri" pitchFamily="34" charset="0"/>
                <a:ea typeface="Calibri" pitchFamily="34" charset="-122"/>
                <a:cs typeface="Calibri" pitchFamily="34" charset="-120"/>
              </a:rPr>
              <a:t>40</a:t>
            </a:r>
            <a:endParaRPr lang="en-US" sz="3000" dirty="0"/>
          </a:p>
        </p:txBody>
      </p:sp>
      <p:sp>
        <p:nvSpPr>
          <p:cNvPr id="6" name="Text 4"/>
          <p:cNvSpPr/>
          <p:nvPr/>
        </p:nvSpPr>
        <p:spPr>
          <a:xfrm>
            <a:off x="548640" y="1700784"/>
            <a:ext cx="18745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Anti-Patterns</a:t>
            </a:r>
            <a:endParaRPr lang="en-US" sz="1250" dirty="0"/>
          </a:p>
        </p:txBody>
      </p:sp>
      <p:sp>
        <p:nvSpPr>
          <p:cNvPr id="7" name="Text 5"/>
          <p:cNvSpPr/>
          <p:nvPr/>
        </p:nvSpPr>
        <p:spPr>
          <a:xfrm>
            <a:off x="548640" y="1993392"/>
            <a:ext cx="1874520" cy="5486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−8/−5/−3/−1 per issue (crit/high/med/low)</a:t>
            </a:r>
            <a:endParaRPr lang="en-US" sz="950" dirty="0"/>
          </a:p>
        </p:txBody>
      </p:sp>
      <p:sp>
        <p:nvSpPr>
          <p:cNvPr id="8" name="Shape 6"/>
          <p:cNvSpPr/>
          <p:nvPr/>
        </p:nvSpPr>
        <p:spPr>
          <a:xfrm>
            <a:off x="2606040" y="1051560"/>
            <a:ext cx="1874520" cy="41148"/>
          </a:xfrm>
          <a:prstGeom prst="rect">
            <a:avLst/>
          </a:prstGeom>
          <a:solidFill>
            <a:srgbClr val="D97706"/>
          </a:solidFill>
          <a:ln w="12700">
            <a:solidFill>
              <a:srgbClr val="D97706"/>
            </a:solidFill>
            <a:prstDash val="solid"/>
          </a:ln>
        </p:spPr>
        <p:txBody>
          <a:bodyPr/>
          <a:lstStyle/>
          <a:p>
            <a:endParaRPr lang="en-US"/>
          </a:p>
        </p:txBody>
      </p:sp>
      <p:sp>
        <p:nvSpPr>
          <p:cNvPr id="9" name="Text 7"/>
          <p:cNvSpPr/>
          <p:nvPr/>
        </p:nvSpPr>
        <p:spPr>
          <a:xfrm>
            <a:off x="2606040" y="1170432"/>
            <a:ext cx="1874520" cy="502920"/>
          </a:xfrm>
          <a:prstGeom prst="rect">
            <a:avLst/>
          </a:prstGeom>
          <a:noFill/>
          <a:ln/>
        </p:spPr>
        <p:txBody>
          <a:bodyPr wrap="square" lIns="0" tIns="0" rIns="0" bIns="0" rtlCol="0" anchor="ctr"/>
          <a:lstStyle/>
          <a:p>
            <a:pPr marL="0" indent="0">
              <a:buNone/>
            </a:pPr>
            <a:r>
              <a:rPr lang="en-US" sz="3000" b="1" dirty="0">
                <a:solidFill>
                  <a:srgbClr val="0F2A44"/>
                </a:solidFill>
                <a:latin typeface="Calibri" pitchFamily="34" charset="0"/>
                <a:ea typeface="Calibri" pitchFamily="34" charset="-122"/>
                <a:cs typeface="Calibri" pitchFamily="34" charset="-120"/>
              </a:rPr>
              <a:t>20</a:t>
            </a:r>
            <a:endParaRPr lang="en-US" sz="3000" dirty="0"/>
          </a:p>
        </p:txBody>
      </p:sp>
      <p:sp>
        <p:nvSpPr>
          <p:cNvPr id="10" name="Text 8"/>
          <p:cNvSpPr/>
          <p:nvPr/>
        </p:nvSpPr>
        <p:spPr>
          <a:xfrm>
            <a:off x="2606040" y="1700784"/>
            <a:ext cx="18745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Code Quality</a:t>
            </a:r>
            <a:endParaRPr lang="en-US" sz="1250" dirty="0"/>
          </a:p>
        </p:txBody>
      </p:sp>
      <p:sp>
        <p:nvSpPr>
          <p:cNvPr id="11" name="Text 9"/>
          <p:cNvSpPr/>
          <p:nvPr/>
        </p:nvSpPr>
        <p:spPr>
          <a:xfrm>
            <a:off x="2606040" y="1993392"/>
            <a:ext cx="1874520" cy="5486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Density-based penalty (smells / KLOC)</a:t>
            </a:r>
            <a:endParaRPr lang="en-US" sz="950" dirty="0"/>
          </a:p>
        </p:txBody>
      </p:sp>
      <p:sp>
        <p:nvSpPr>
          <p:cNvPr id="12" name="Shape 10"/>
          <p:cNvSpPr/>
          <p:nvPr/>
        </p:nvSpPr>
        <p:spPr>
          <a:xfrm>
            <a:off x="4663440" y="1051560"/>
            <a:ext cx="1874520" cy="41148"/>
          </a:xfrm>
          <a:prstGeom prst="rect">
            <a:avLst/>
          </a:prstGeom>
          <a:solidFill>
            <a:srgbClr val="1C4E80"/>
          </a:solidFill>
          <a:ln w="12700">
            <a:solidFill>
              <a:srgbClr val="1C4E80"/>
            </a:solidFill>
            <a:prstDash val="solid"/>
          </a:ln>
        </p:spPr>
        <p:txBody>
          <a:bodyPr/>
          <a:lstStyle/>
          <a:p>
            <a:endParaRPr lang="en-US"/>
          </a:p>
        </p:txBody>
      </p:sp>
      <p:sp>
        <p:nvSpPr>
          <p:cNvPr id="13" name="Text 11"/>
          <p:cNvSpPr/>
          <p:nvPr/>
        </p:nvSpPr>
        <p:spPr>
          <a:xfrm>
            <a:off x="4663440" y="1170432"/>
            <a:ext cx="1874520" cy="502920"/>
          </a:xfrm>
          <a:prstGeom prst="rect">
            <a:avLst/>
          </a:prstGeom>
          <a:noFill/>
          <a:ln/>
        </p:spPr>
        <p:txBody>
          <a:bodyPr wrap="square" lIns="0" tIns="0" rIns="0" bIns="0" rtlCol="0" anchor="ctr"/>
          <a:lstStyle/>
          <a:p>
            <a:pPr marL="0" indent="0">
              <a:buNone/>
            </a:pPr>
            <a:r>
              <a:rPr lang="en-US" sz="3000" b="1" dirty="0">
                <a:solidFill>
                  <a:srgbClr val="0F2A44"/>
                </a:solidFill>
                <a:latin typeface="Calibri" pitchFamily="34" charset="0"/>
                <a:ea typeface="Calibri" pitchFamily="34" charset="-122"/>
                <a:cs typeface="Calibri" pitchFamily="34" charset="-120"/>
              </a:rPr>
              <a:t>25</a:t>
            </a:r>
            <a:endParaRPr lang="en-US" sz="3000" dirty="0"/>
          </a:p>
        </p:txBody>
      </p:sp>
      <p:sp>
        <p:nvSpPr>
          <p:cNvPr id="14" name="Text 12"/>
          <p:cNvSpPr/>
          <p:nvPr/>
        </p:nvSpPr>
        <p:spPr>
          <a:xfrm>
            <a:off x="4663440" y="1700784"/>
            <a:ext cx="18745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Architecture</a:t>
            </a:r>
            <a:endParaRPr lang="en-US" sz="1250" dirty="0"/>
          </a:p>
        </p:txBody>
      </p:sp>
      <p:sp>
        <p:nvSpPr>
          <p:cNvPr id="15" name="Text 13"/>
          <p:cNvSpPr/>
          <p:nvPr/>
        </p:nvSpPr>
        <p:spPr>
          <a:xfrm>
            <a:off x="4663440" y="1993392"/>
            <a:ext cx="1874520" cy="5486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Coupling coefficient + cycle count</a:t>
            </a:r>
            <a:endParaRPr lang="en-US" sz="950" dirty="0"/>
          </a:p>
        </p:txBody>
      </p:sp>
      <p:sp>
        <p:nvSpPr>
          <p:cNvPr id="16" name="Shape 14"/>
          <p:cNvSpPr/>
          <p:nvPr/>
        </p:nvSpPr>
        <p:spPr>
          <a:xfrm>
            <a:off x="6720840" y="1051560"/>
            <a:ext cx="1874520" cy="41148"/>
          </a:xfrm>
          <a:prstGeom prst="rect">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6720840" y="1170432"/>
            <a:ext cx="1874520" cy="502920"/>
          </a:xfrm>
          <a:prstGeom prst="rect">
            <a:avLst/>
          </a:prstGeom>
          <a:noFill/>
          <a:ln/>
        </p:spPr>
        <p:txBody>
          <a:bodyPr wrap="square" lIns="0" tIns="0" rIns="0" bIns="0" rtlCol="0" anchor="ctr"/>
          <a:lstStyle/>
          <a:p>
            <a:pPr marL="0" indent="0">
              <a:buNone/>
            </a:pPr>
            <a:r>
              <a:rPr lang="en-US" sz="3000" b="1" dirty="0">
                <a:solidFill>
                  <a:srgbClr val="0F2A44"/>
                </a:solidFill>
                <a:latin typeface="Calibri" pitchFamily="34" charset="0"/>
                <a:ea typeface="Calibri" pitchFamily="34" charset="-122"/>
                <a:cs typeface="Calibri" pitchFamily="34" charset="-120"/>
              </a:rPr>
              <a:t>15</a:t>
            </a:r>
            <a:endParaRPr lang="en-US" sz="3000" dirty="0"/>
          </a:p>
        </p:txBody>
      </p:sp>
      <p:sp>
        <p:nvSpPr>
          <p:cNvPr id="18" name="Text 16"/>
          <p:cNvSpPr/>
          <p:nvPr/>
        </p:nvSpPr>
        <p:spPr>
          <a:xfrm>
            <a:off x="6720840" y="1700784"/>
            <a:ext cx="18745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Service Sizing</a:t>
            </a:r>
            <a:endParaRPr lang="en-US" sz="1250" dirty="0"/>
          </a:p>
        </p:txBody>
      </p:sp>
      <p:sp>
        <p:nvSpPr>
          <p:cNvPr id="19" name="Text 17"/>
          <p:cNvSpPr/>
          <p:nvPr/>
        </p:nvSpPr>
        <p:spPr>
          <a:xfrm>
            <a:off x="6720840" y="1993392"/>
            <a:ext cx="1874520" cy="5486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Nano (cap 8) + god (cap 10) penalties</a:t>
            </a:r>
            <a:endParaRPr lang="en-US" sz="950" dirty="0"/>
          </a:p>
        </p:txBody>
      </p:sp>
      <p:sp>
        <p:nvSpPr>
          <p:cNvPr id="20" name="Text 18"/>
          <p:cNvSpPr/>
          <p:nvPr/>
        </p:nvSpPr>
        <p:spPr>
          <a:xfrm>
            <a:off x="548640" y="2724912"/>
            <a:ext cx="80467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Grade scale</a:t>
            </a:r>
            <a:endParaRPr lang="en-US" sz="1250" dirty="0"/>
          </a:p>
        </p:txBody>
      </p:sp>
      <p:sp>
        <p:nvSpPr>
          <p:cNvPr id="21" name="Shape 19"/>
          <p:cNvSpPr/>
          <p:nvPr/>
        </p:nvSpPr>
        <p:spPr>
          <a:xfrm>
            <a:off x="548640" y="3035808"/>
            <a:ext cx="1572768" cy="457200"/>
          </a:xfrm>
          <a:prstGeom prst="rect">
            <a:avLst/>
          </a:prstGeom>
          <a:solidFill>
            <a:srgbClr val="059669"/>
          </a:solidFill>
          <a:ln w="12700">
            <a:solidFill>
              <a:srgbClr val="059669"/>
            </a:solidFill>
            <a:prstDash val="solid"/>
          </a:ln>
        </p:spPr>
        <p:txBody>
          <a:bodyPr/>
          <a:lstStyle/>
          <a:p>
            <a:endParaRPr lang="en-US"/>
          </a:p>
        </p:txBody>
      </p:sp>
      <p:sp>
        <p:nvSpPr>
          <p:cNvPr id="22" name="Text 20"/>
          <p:cNvSpPr/>
          <p:nvPr/>
        </p:nvSpPr>
        <p:spPr>
          <a:xfrm>
            <a:off x="685800" y="3035808"/>
            <a:ext cx="142646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a:t>
            </a:r>
            <a:r>
              <a:rPr lang="en-US" sz="1100" dirty="0">
                <a:solidFill>
                  <a:srgbClr val="FFFFFF"/>
                </a:solidFill>
                <a:latin typeface="Calibri" pitchFamily="34" charset="0"/>
                <a:ea typeface="Calibri" pitchFamily="34" charset="-122"/>
                <a:cs typeface="Calibri" pitchFamily="34" charset="-120"/>
              </a:rPr>
              <a:t>≥ 90</a:t>
            </a:r>
            <a:endParaRPr lang="en-US" sz="1400" dirty="0"/>
          </a:p>
        </p:txBody>
      </p:sp>
      <p:sp>
        <p:nvSpPr>
          <p:cNvPr id="23" name="Shape 21"/>
          <p:cNvSpPr/>
          <p:nvPr/>
        </p:nvSpPr>
        <p:spPr>
          <a:xfrm>
            <a:off x="2157984" y="3035808"/>
            <a:ext cx="1572768" cy="457200"/>
          </a:xfrm>
          <a:prstGeom prst="rect">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2295144" y="3035808"/>
            <a:ext cx="142646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  </a:t>
            </a:r>
            <a:r>
              <a:rPr lang="en-US" sz="1100" dirty="0">
                <a:solidFill>
                  <a:srgbClr val="FFFFFF"/>
                </a:solidFill>
                <a:latin typeface="Calibri" pitchFamily="34" charset="0"/>
                <a:ea typeface="Calibri" pitchFamily="34" charset="-122"/>
                <a:cs typeface="Calibri" pitchFamily="34" charset="-120"/>
              </a:rPr>
              <a:t>≥ 80</a:t>
            </a:r>
            <a:endParaRPr lang="en-US" sz="1400" dirty="0"/>
          </a:p>
        </p:txBody>
      </p:sp>
      <p:sp>
        <p:nvSpPr>
          <p:cNvPr id="25" name="Shape 23"/>
          <p:cNvSpPr/>
          <p:nvPr/>
        </p:nvSpPr>
        <p:spPr>
          <a:xfrm>
            <a:off x="3767328" y="3035808"/>
            <a:ext cx="1572768" cy="457200"/>
          </a:xfrm>
          <a:prstGeom prst="rect">
            <a:avLst/>
          </a:prstGeom>
          <a:solidFill>
            <a:srgbClr val="1C4E80"/>
          </a:solidFill>
          <a:ln w="12700">
            <a:solidFill>
              <a:srgbClr val="1C4E80"/>
            </a:solidFill>
            <a:prstDash val="solid"/>
          </a:ln>
        </p:spPr>
        <p:txBody>
          <a:bodyPr/>
          <a:lstStyle/>
          <a:p>
            <a:endParaRPr lang="en-US"/>
          </a:p>
        </p:txBody>
      </p:sp>
      <p:sp>
        <p:nvSpPr>
          <p:cNvPr id="26" name="Text 24"/>
          <p:cNvSpPr/>
          <p:nvPr/>
        </p:nvSpPr>
        <p:spPr>
          <a:xfrm>
            <a:off x="3904488" y="3035808"/>
            <a:ext cx="142646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  </a:t>
            </a:r>
            <a:r>
              <a:rPr lang="en-US" sz="1100" dirty="0">
                <a:solidFill>
                  <a:srgbClr val="FFFFFF"/>
                </a:solidFill>
                <a:latin typeface="Calibri" pitchFamily="34" charset="0"/>
                <a:ea typeface="Calibri" pitchFamily="34" charset="-122"/>
                <a:cs typeface="Calibri" pitchFamily="34" charset="-120"/>
              </a:rPr>
              <a:t>≥ 65</a:t>
            </a:r>
            <a:endParaRPr lang="en-US" sz="1400" dirty="0"/>
          </a:p>
        </p:txBody>
      </p:sp>
      <p:sp>
        <p:nvSpPr>
          <p:cNvPr id="27" name="Shape 25"/>
          <p:cNvSpPr/>
          <p:nvPr/>
        </p:nvSpPr>
        <p:spPr>
          <a:xfrm>
            <a:off x="5376672" y="3035808"/>
            <a:ext cx="1572768" cy="457200"/>
          </a:xfrm>
          <a:prstGeom prst="rect">
            <a:avLst/>
          </a:prstGeom>
          <a:solidFill>
            <a:srgbClr val="D97706"/>
          </a:solidFill>
          <a:ln w="12700">
            <a:solidFill>
              <a:srgbClr val="D97706"/>
            </a:solidFill>
            <a:prstDash val="solid"/>
          </a:ln>
        </p:spPr>
        <p:txBody>
          <a:bodyPr/>
          <a:lstStyle/>
          <a:p>
            <a:endParaRPr lang="en-US"/>
          </a:p>
        </p:txBody>
      </p:sp>
      <p:sp>
        <p:nvSpPr>
          <p:cNvPr id="28" name="Text 26"/>
          <p:cNvSpPr/>
          <p:nvPr/>
        </p:nvSpPr>
        <p:spPr>
          <a:xfrm>
            <a:off x="5513832" y="3035808"/>
            <a:ext cx="142646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  </a:t>
            </a:r>
            <a:r>
              <a:rPr lang="en-US" sz="1100" dirty="0">
                <a:solidFill>
                  <a:srgbClr val="FFFFFF"/>
                </a:solidFill>
                <a:latin typeface="Calibri" pitchFamily="34" charset="0"/>
                <a:ea typeface="Calibri" pitchFamily="34" charset="-122"/>
                <a:cs typeface="Calibri" pitchFamily="34" charset="-120"/>
              </a:rPr>
              <a:t>≥ 50</a:t>
            </a:r>
            <a:endParaRPr lang="en-US" sz="1400" dirty="0"/>
          </a:p>
        </p:txBody>
      </p:sp>
      <p:sp>
        <p:nvSpPr>
          <p:cNvPr id="29" name="Shape 27"/>
          <p:cNvSpPr/>
          <p:nvPr/>
        </p:nvSpPr>
        <p:spPr>
          <a:xfrm>
            <a:off x="6986016" y="3035808"/>
            <a:ext cx="1572768" cy="457200"/>
          </a:xfrm>
          <a:prstGeom prst="rect">
            <a:avLst/>
          </a:prstGeom>
          <a:solidFill>
            <a:srgbClr val="DC2626"/>
          </a:solidFill>
          <a:ln w="12700">
            <a:solidFill>
              <a:srgbClr val="DC2626"/>
            </a:solidFill>
            <a:prstDash val="solid"/>
          </a:ln>
        </p:spPr>
        <p:txBody>
          <a:bodyPr/>
          <a:lstStyle/>
          <a:p>
            <a:endParaRPr lang="en-US"/>
          </a:p>
        </p:txBody>
      </p:sp>
      <p:sp>
        <p:nvSpPr>
          <p:cNvPr id="30" name="Text 28"/>
          <p:cNvSpPr/>
          <p:nvPr/>
        </p:nvSpPr>
        <p:spPr>
          <a:xfrm>
            <a:off x="7123176" y="3035808"/>
            <a:ext cx="1426464"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  </a:t>
            </a:r>
            <a:r>
              <a:rPr lang="en-US" sz="1100" dirty="0">
                <a:solidFill>
                  <a:srgbClr val="FFFFFF"/>
                </a:solidFill>
                <a:latin typeface="Calibri" pitchFamily="34" charset="0"/>
                <a:ea typeface="Calibri" pitchFamily="34" charset="-122"/>
                <a:cs typeface="Calibri" pitchFamily="34" charset="-120"/>
              </a:rPr>
              <a:t>&lt; 50</a:t>
            </a:r>
            <a:endParaRPr lang="en-US" sz="1400" dirty="0"/>
          </a:p>
        </p:txBody>
      </p:sp>
      <p:sp>
        <p:nvSpPr>
          <p:cNvPr id="31" name="Text 29"/>
          <p:cNvSpPr/>
          <p:nvPr/>
        </p:nvSpPr>
        <p:spPr>
          <a:xfrm>
            <a:off x="548640" y="3822192"/>
            <a:ext cx="8046720" cy="274320"/>
          </a:xfrm>
          <a:prstGeom prst="rect">
            <a:avLst/>
          </a:prstGeom>
          <a:noFill/>
          <a:ln/>
        </p:spPr>
        <p:txBody>
          <a:bodyPr wrap="square" lIns="0" tIns="0" rIns="0" bIns="0" rtlCol="0" anchor="ctr"/>
          <a:lstStyle/>
          <a:p>
            <a:pPr marL="0" indent="0">
              <a:buNone/>
            </a:pPr>
            <a:r>
              <a:rPr lang="en-US" sz="1250" b="1" dirty="0">
                <a:solidFill>
                  <a:srgbClr val="0F2A44"/>
                </a:solidFill>
                <a:latin typeface="Calibri" pitchFamily="34" charset="0"/>
                <a:ea typeface="Calibri" pitchFamily="34" charset="-122"/>
                <a:cs typeface="Calibri" pitchFamily="34" charset="-120"/>
              </a:rPr>
              <a:t>Why decompose?</a:t>
            </a:r>
            <a:endParaRPr lang="en-US" sz="1250" dirty="0"/>
          </a:p>
        </p:txBody>
      </p:sp>
      <p:sp>
        <p:nvSpPr>
          <p:cNvPr id="32" name="Text 30"/>
          <p:cNvSpPr/>
          <p:nvPr/>
        </p:nvSpPr>
        <p:spPr>
          <a:xfrm>
            <a:off x="548640" y="4114800"/>
            <a:ext cx="8046720" cy="54864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solidFill>
                  <a:srgbClr val="1E293B"/>
                </a:solidFill>
                <a:latin typeface="Calibri" pitchFamily="34" charset="0"/>
                <a:ea typeface="Calibri" pitchFamily="34" charset="-122"/>
                <a:cs typeface="Calibri" pitchFamily="34" charset="-120"/>
              </a:rPr>
              <a:t>A single number tells teams whether quality is improving = &gt; the per-category breakdown tells them which dimension needs attention</a:t>
            </a:r>
          </a:p>
          <a:p>
            <a:pPr marL="171450" indent="-171450">
              <a:buFont typeface="Arial" panose="020B0604020202020204" pitchFamily="34" charset="0"/>
              <a:buChar char="•"/>
            </a:pPr>
            <a:r>
              <a:rPr lang="en-US" sz="1100" dirty="0">
                <a:solidFill>
                  <a:srgbClr val="1E293B"/>
                </a:solidFill>
                <a:latin typeface="Calibri" pitchFamily="34" charset="0"/>
                <a:ea typeface="Calibri" pitchFamily="34" charset="-122"/>
                <a:cs typeface="Calibri" pitchFamily="34" charset="-120"/>
              </a:rPr>
              <a:t>Both views are exposed via the analysis-diff feature for tracking over time</a:t>
            </a:r>
            <a:endParaRPr lang="en-US" sz="1100" dirty="0"/>
          </a:p>
        </p:txBody>
      </p:sp>
      <p:sp>
        <p:nvSpPr>
          <p:cNvPr id="33" name="Text 31"/>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Evaluation: 11 open-source projects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graphicFrame>
        <p:nvGraphicFramePr>
          <p:cNvPr id="4" name="Chart 0"/>
          <p:cNvGraphicFramePr/>
          <p:nvPr/>
        </p:nvGraphicFramePr>
        <p:xfrm>
          <a:off x="502920" y="960120"/>
          <a:ext cx="502920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943600" y="960120"/>
            <a:ext cx="2651760" cy="274320"/>
          </a:xfrm>
          <a:prstGeom prst="rect">
            <a:avLst/>
          </a:prstGeom>
          <a:noFill/>
          <a:ln/>
        </p:spPr>
        <p:txBody>
          <a:bodyPr wrap="square" lIns="0" tIns="0" rIns="0" bIns="0" rtlCol="0" anchor="ctr"/>
          <a:lstStyle/>
          <a:p>
            <a:pPr marL="0" indent="0">
              <a:buNone/>
            </a:pPr>
            <a:r>
              <a:rPr lang="en-US" sz="1200" b="1" dirty="0">
                <a:solidFill>
                  <a:srgbClr val="0F2A44"/>
                </a:solidFill>
                <a:latin typeface="Calibri" pitchFamily="34" charset="0"/>
                <a:ea typeface="Calibri" pitchFamily="34" charset="-122"/>
                <a:cs typeface="Calibri" pitchFamily="34" charset="-120"/>
              </a:rPr>
              <a:t>Dataset (services · LOC)</a:t>
            </a:r>
            <a:endParaRPr lang="en-US" sz="1200" dirty="0"/>
          </a:p>
        </p:txBody>
      </p:sp>
      <p:sp>
        <p:nvSpPr>
          <p:cNvPr id="6" name="Shape 3"/>
          <p:cNvSpPr/>
          <p:nvPr/>
        </p:nvSpPr>
        <p:spPr>
          <a:xfrm>
            <a:off x="5943600" y="1261872"/>
            <a:ext cx="2651760" cy="13716"/>
          </a:xfrm>
          <a:prstGeom prst="rect">
            <a:avLst/>
          </a:prstGeom>
          <a:solidFill>
            <a:srgbClr val="D8DEE6"/>
          </a:solidFill>
          <a:ln w="12700">
            <a:solidFill>
              <a:srgbClr val="D8DEE6"/>
            </a:solidFill>
            <a:prstDash val="solid"/>
          </a:ln>
        </p:spPr>
        <p:txBody>
          <a:bodyPr/>
          <a:lstStyle/>
          <a:p>
            <a:endParaRPr lang="en-US"/>
          </a:p>
        </p:txBody>
      </p:sp>
      <p:sp>
        <p:nvSpPr>
          <p:cNvPr id="7" name="Text 4"/>
          <p:cNvSpPr/>
          <p:nvPr/>
        </p:nvSpPr>
        <p:spPr>
          <a:xfrm>
            <a:off x="5943600" y="1335024"/>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MicroSocial</a:t>
            </a:r>
            <a:endParaRPr lang="en-US" sz="900" dirty="0"/>
          </a:p>
        </p:txBody>
      </p:sp>
      <p:sp>
        <p:nvSpPr>
          <p:cNvPr id="8" name="Text 5"/>
          <p:cNvSpPr/>
          <p:nvPr/>
        </p:nvSpPr>
        <p:spPr>
          <a:xfrm>
            <a:off x="7360920" y="1335024"/>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4</a:t>
            </a:r>
            <a:endParaRPr lang="en-US" sz="900" dirty="0"/>
          </a:p>
        </p:txBody>
      </p:sp>
      <p:sp>
        <p:nvSpPr>
          <p:cNvPr id="9" name="Text 6"/>
          <p:cNvSpPr/>
          <p:nvPr/>
        </p:nvSpPr>
        <p:spPr>
          <a:xfrm>
            <a:off x="7818120" y="1335024"/>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2k</a:t>
            </a:r>
            <a:endParaRPr lang="en-US" sz="900" dirty="0"/>
          </a:p>
        </p:txBody>
      </p:sp>
      <p:sp>
        <p:nvSpPr>
          <p:cNvPr id="10" name="Text 7"/>
          <p:cNvSpPr/>
          <p:nvPr/>
        </p:nvSpPr>
        <p:spPr>
          <a:xfrm>
            <a:off x="5943600" y="1531620"/>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design-pat.</a:t>
            </a:r>
            <a:endParaRPr lang="en-US" sz="900" dirty="0"/>
          </a:p>
        </p:txBody>
      </p:sp>
      <p:sp>
        <p:nvSpPr>
          <p:cNvPr id="11" name="Text 8"/>
          <p:cNvSpPr/>
          <p:nvPr/>
        </p:nvSpPr>
        <p:spPr>
          <a:xfrm>
            <a:off x="7360920" y="1531620"/>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16</a:t>
            </a:r>
            <a:endParaRPr lang="en-US" sz="900" dirty="0"/>
          </a:p>
        </p:txBody>
      </p:sp>
      <p:sp>
        <p:nvSpPr>
          <p:cNvPr id="12" name="Text 9"/>
          <p:cNvSpPr/>
          <p:nvPr/>
        </p:nvSpPr>
        <p:spPr>
          <a:xfrm>
            <a:off x="7818120" y="1531620"/>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19k</a:t>
            </a:r>
            <a:endParaRPr lang="en-US" sz="900" dirty="0"/>
          </a:p>
        </p:txBody>
      </p:sp>
      <p:sp>
        <p:nvSpPr>
          <p:cNvPr id="13" name="Text 10"/>
          <p:cNvSpPr/>
          <p:nvPr/>
        </p:nvSpPr>
        <p:spPr>
          <a:xfrm>
            <a:off x="5943600" y="1728216"/>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Site-Where</a:t>
            </a:r>
            <a:endParaRPr lang="en-US" sz="900" dirty="0"/>
          </a:p>
        </p:txBody>
      </p:sp>
      <p:sp>
        <p:nvSpPr>
          <p:cNvPr id="14" name="Text 11"/>
          <p:cNvSpPr/>
          <p:nvPr/>
        </p:nvSpPr>
        <p:spPr>
          <a:xfrm>
            <a:off x="7360920" y="1728216"/>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15</a:t>
            </a:r>
            <a:endParaRPr lang="en-US" sz="900" dirty="0"/>
          </a:p>
        </p:txBody>
      </p:sp>
      <p:sp>
        <p:nvSpPr>
          <p:cNvPr id="15" name="Text 12"/>
          <p:cNvSpPr/>
          <p:nvPr/>
        </p:nvSpPr>
        <p:spPr>
          <a:xfrm>
            <a:off x="7818120" y="1728216"/>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74k</a:t>
            </a:r>
            <a:endParaRPr lang="en-US" sz="900" dirty="0"/>
          </a:p>
        </p:txBody>
      </p:sp>
      <p:sp>
        <p:nvSpPr>
          <p:cNvPr id="16" name="Text 13"/>
          <p:cNvSpPr/>
          <p:nvPr/>
        </p:nvSpPr>
        <p:spPr>
          <a:xfrm>
            <a:off x="5943600" y="1924812"/>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Train-Ticket</a:t>
            </a:r>
            <a:endParaRPr lang="en-US" sz="900" dirty="0"/>
          </a:p>
        </p:txBody>
      </p:sp>
      <p:sp>
        <p:nvSpPr>
          <p:cNvPr id="17" name="Text 14"/>
          <p:cNvSpPr/>
          <p:nvPr/>
        </p:nvSpPr>
        <p:spPr>
          <a:xfrm>
            <a:off x="7360920" y="1924812"/>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41</a:t>
            </a:r>
            <a:endParaRPr lang="en-US" sz="900" dirty="0"/>
          </a:p>
        </p:txBody>
      </p:sp>
      <p:sp>
        <p:nvSpPr>
          <p:cNvPr id="18" name="Text 15"/>
          <p:cNvSpPr/>
          <p:nvPr/>
        </p:nvSpPr>
        <p:spPr>
          <a:xfrm>
            <a:off x="7818120" y="1924812"/>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36k</a:t>
            </a:r>
            <a:endParaRPr lang="en-US" sz="900" dirty="0"/>
          </a:p>
        </p:txBody>
      </p:sp>
      <p:sp>
        <p:nvSpPr>
          <p:cNvPr id="19" name="Text 16"/>
          <p:cNvSpPr/>
          <p:nvPr/>
        </p:nvSpPr>
        <p:spPr>
          <a:xfrm>
            <a:off x="5943600" y="2121408"/>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NetworkDisk</a:t>
            </a:r>
            <a:endParaRPr lang="en-US" sz="900" dirty="0"/>
          </a:p>
        </p:txBody>
      </p:sp>
      <p:sp>
        <p:nvSpPr>
          <p:cNvPr id="20" name="Text 17"/>
          <p:cNvSpPr/>
          <p:nvPr/>
        </p:nvSpPr>
        <p:spPr>
          <a:xfrm>
            <a:off x="7360920" y="2121408"/>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10</a:t>
            </a:r>
            <a:endParaRPr lang="en-US" sz="900" dirty="0"/>
          </a:p>
        </p:txBody>
      </p:sp>
      <p:sp>
        <p:nvSpPr>
          <p:cNvPr id="21" name="Text 18"/>
          <p:cNvSpPr/>
          <p:nvPr/>
        </p:nvSpPr>
        <p:spPr>
          <a:xfrm>
            <a:off x="7818120" y="2121408"/>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7k</a:t>
            </a:r>
            <a:endParaRPr lang="en-US" sz="900" dirty="0"/>
          </a:p>
        </p:txBody>
      </p:sp>
      <p:sp>
        <p:nvSpPr>
          <p:cNvPr id="22" name="Text 19"/>
          <p:cNvSpPr/>
          <p:nvPr/>
        </p:nvSpPr>
        <p:spPr>
          <a:xfrm>
            <a:off x="5943600" y="2318004"/>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recruit</a:t>
            </a:r>
            <a:endParaRPr lang="en-US" sz="900" dirty="0"/>
          </a:p>
        </p:txBody>
      </p:sp>
      <p:sp>
        <p:nvSpPr>
          <p:cNvPr id="23" name="Text 20"/>
          <p:cNvSpPr/>
          <p:nvPr/>
        </p:nvSpPr>
        <p:spPr>
          <a:xfrm>
            <a:off x="7360920" y="2318004"/>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24" name="Text 21"/>
          <p:cNvSpPr/>
          <p:nvPr/>
        </p:nvSpPr>
        <p:spPr>
          <a:xfrm>
            <a:off x="7818120" y="2318004"/>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8k</a:t>
            </a:r>
            <a:endParaRPr lang="en-US" sz="900" dirty="0"/>
          </a:p>
        </p:txBody>
      </p:sp>
      <p:sp>
        <p:nvSpPr>
          <p:cNvPr id="25" name="Text 22"/>
          <p:cNvSpPr/>
          <p:nvPr/>
        </p:nvSpPr>
        <p:spPr>
          <a:xfrm>
            <a:off x="5943600" y="2514600"/>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ftgo</a:t>
            </a:r>
            <a:endParaRPr lang="en-US" sz="900" dirty="0"/>
          </a:p>
        </p:txBody>
      </p:sp>
      <p:sp>
        <p:nvSpPr>
          <p:cNvPr id="26" name="Text 23"/>
          <p:cNvSpPr/>
          <p:nvPr/>
        </p:nvSpPr>
        <p:spPr>
          <a:xfrm>
            <a:off x="7360920" y="2514600"/>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7</a:t>
            </a:r>
            <a:endParaRPr lang="en-US" sz="900" dirty="0"/>
          </a:p>
        </p:txBody>
      </p:sp>
      <p:sp>
        <p:nvSpPr>
          <p:cNvPr id="27" name="Text 24"/>
          <p:cNvSpPr/>
          <p:nvPr/>
        </p:nvSpPr>
        <p:spPr>
          <a:xfrm>
            <a:off x="7818120" y="2514600"/>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11k</a:t>
            </a:r>
            <a:endParaRPr lang="en-US" sz="900" dirty="0"/>
          </a:p>
        </p:txBody>
      </p:sp>
      <p:sp>
        <p:nvSpPr>
          <p:cNvPr id="28" name="Text 25"/>
          <p:cNvSpPr/>
          <p:nvPr/>
        </p:nvSpPr>
        <p:spPr>
          <a:xfrm>
            <a:off x="5943600" y="2711196"/>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mall-swarm</a:t>
            </a:r>
            <a:endParaRPr lang="en-US" sz="900" dirty="0"/>
          </a:p>
        </p:txBody>
      </p:sp>
      <p:sp>
        <p:nvSpPr>
          <p:cNvPr id="29" name="Text 26"/>
          <p:cNvSpPr/>
          <p:nvPr/>
        </p:nvSpPr>
        <p:spPr>
          <a:xfrm>
            <a:off x="7360920" y="2711196"/>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7</a:t>
            </a:r>
            <a:endParaRPr lang="en-US" sz="900" dirty="0"/>
          </a:p>
        </p:txBody>
      </p:sp>
      <p:sp>
        <p:nvSpPr>
          <p:cNvPr id="30" name="Text 27"/>
          <p:cNvSpPr/>
          <p:nvPr/>
        </p:nvSpPr>
        <p:spPr>
          <a:xfrm>
            <a:off x="7818120" y="2711196"/>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86k</a:t>
            </a:r>
            <a:endParaRPr lang="en-US" sz="900" dirty="0"/>
          </a:p>
        </p:txBody>
      </p:sp>
      <p:sp>
        <p:nvSpPr>
          <p:cNvPr id="31" name="Text 28"/>
          <p:cNvSpPr/>
          <p:nvPr/>
        </p:nvSpPr>
        <p:spPr>
          <a:xfrm>
            <a:off x="5943600" y="2907792"/>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RuoYi</a:t>
            </a:r>
            <a:endParaRPr lang="en-US" sz="900" dirty="0"/>
          </a:p>
        </p:txBody>
      </p:sp>
      <p:sp>
        <p:nvSpPr>
          <p:cNvPr id="32" name="Text 29"/>
          <p:cNvSpPr/>
          <p:nvPr/>
        </p:nvSpPr>
        <p:spPr>
          <a:xfrm>
            <a:off x="7360920" y="2907792"/>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33" name="Text 30"/>
          <p:cNvSpPr/>
          <p:nvPr/>
        </p:nvSpPr>
        <p:spPr>
          <a:xfrm>
            <a:off x="7818120" y="2907792"/>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27k</a:t>
            </a:r>
            <a:endParaRPr lang="en-US" sz="900" dirty="0"/>
          </a:p>
        </p:txBody>
      </p:sp>
      <p:sp>
        <p:nvSpPr>
          <p:cNvPr id="34" name="Text 31"/>
          <p:cNvSpPr/>
          <p:nvPr/>
        </p:nvSpPr>
        <p:spPr>
          <a:xfrm>
            <a:off x="5943600" y="3104388"/>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PiggyMetrics</a:t>
            </a:r>
            <a:endParaRPr lang="en-US" sz="900" dirty="0"/>
          </a:p>
        </p:txBody>
      </p:sp>
      <p:sp>
        <p:nvSpPr>
          <p:cNvPr id="35" name="Text 32"/>
          <p:cNvSpPr/>
          <p:nvPr/>
        </p:nvSpPr>
        <p:spPr>
          <a:xfrm>
            <a:off x="7360920" y="3104388"/>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36" name="Text 33"/>
          <p:cNvSpPr/>
          <p:nvPr/>
        </p:nvSpPr>
        <p:spPr>
          <a:xfrm>
            <a:off x="7818120" y="3104388"/>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4.5k</a:t>
            </a:r>
            <a:endParaRPr lang="en-US" sz="900" dirty="0"/>
          </a:p>
        </p:txBody>
      </p:sp>
      <p:sp>
        <p:nvSpPr>
          <p:cNvPr id="37" name="Text 34"/>
          <p:cNvSpPr/>
          <p:nvPr/>
        </p:nvSpPr>
        <p:spPr>
          <a:xfrm>
            <a:off x="5943600" y="3300984"/>
            <a:ext cx="1417320" cy="192024"/>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piomin</a:t>
            </a:r>
            <a:endParaRPr lang="en-US" sz="900" dirty="0"/>
          </a:p>
        </p:txBody>
      </p:sp>
      <p:sp>
        <p:nvSpPr>
          <p:cNvPr id="38" name="Text 35"/>
          <p:cNvSpPr/>
          <p:nvPr/>
        </p:nvSpPr>
        <p:spPr>
          <a:xfrm>
            <a:off x="7360920" y="3300984"/>
            <a:ext cx="457200" cy="192024"/>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6</a:t>
            </a:r>
            <a:endParaRPr lang="en-US" sz="900" dirty="0"/>
          </a:p>
        </p:txBody>
      </p:sp>
      <p:sp>
        <p:nvSpPr>
          <p:cNvPr id="39" name="Text 36"/>
          <p:cNvSpPr/>
          <p:nvPr/>
        </p:nvSpPr>
        <p:spPr>
          <a:xfrm>
            <a:off x="7818120" y="3300984"/>
            <a:ext cx="777240" cy="192024"/>
          </a:xfrm>
          <a:prstGeom prst="rect">
            <a:avLst/>
          </a:prstGeom>
          <a:noFill/>
          <a:ln/>
        </p:spPr>
        <p:txBody>
          <a:bodyPr wrap="square" lIns="0" tIns="0" rIns="0" bIns="0" rtlCol="0" anchor="ctr"/>
          <a:lstStyle/>
          <a:p>
            <a:pPr marL="0" indent="0" algn="r">
              <a:buNone/>
            </a:pPr>
            <a:r>
              <a:rPr lang="en-US" sz="900" dirty="0">
                <a:solidFill>
                  <a:srgbClr val="1E293B"/>
                </a:solidFill>
                <a:latin typeface="Calibri" pitchFamily="34" charset="0"/>
                <a:ea typeface="Calibri" pitchFamily="34" charset="-122"/>
                <a:cs typeface="Calibri" pitchFamily="34" charset="-120"/>
              </a:rPr>
              <a:t>1.3k</a:t>
            </a:r>
            <a:endParaRPr lang="en-US" sz="900" dirty="0"/>
          </a:p>
        </p:txBody>
      </p:sp>
      <p:sp>
        <p:nvSpPr>
          <p:cNvPr id="40" name="Shape 37"/>
          <p:cNvSpPr/>
          <p:nvPr/>
        </p:nvSpPr>
        <p:spPr>
          <a:xfrm>
            <a:off x="5943600" y="3529584"/>
            <a:ext cx="2651760" cy="18288"/>
          </a:xfrm>
          <a:prstGeom prst="rect">
            <a:avLst/>
          </a:prstGeom>
          <a:solidFill>
            <a:srgbClr val="0F2A44"/>
          </a:solidFill>
          <a:ln w="12700">
            <a:solidFill>
              <a:srgbClr val="0F2A44"/>
            </a:solidFill>
            <a:prstDash val="solid"/>
          </a:ln>
        </p:spPr>
        <p:txBody>
          <a:bodyPr/>
          <a:lstStyle/>
          <a:p>
            <a:endParaRPr lang="en-US"/>
          </a:p>
        </p:txBody>
      </p:sp>
      <p:sp>
        <p:nvSpPr>
          <p:cNvPr id="41" name="Text 38"/>
          <p:cNvSpPr/>
          <p:nvPr/>
        </p:nvSpPr>
        <p:spPr>
          <a:xfrm>
            <a:off x="5943600" y="3584448"/>
            <a:ext cx="1417320" cy="201168"/>
          </a:xfrm>
          <a:prstGeom prst="rect">
            <a:avLst/>
          </a:prstGeom>
          <a:noFill/>
          <a:ln/>
        </p:spPr>
        <p:txBody>
          <a:bodyPr wrap="square" lIns="0" tIns="0" rIns="0" bIns="0" rtlCol="0" anchor="ctr"/>
          <a:lstStyle/>
          <a:p>
            <a:pPr marL="0" indent="0">
              <a:buNone/>
            </a:pPr>
            <a:r>
              <a:rPr lang="en-US" sz="900" b="1" dirty="0">
                <a:solidFill>
                  <a:srgbClr val="0F2A44"/>
                </a:solidFill>
                <a:latin typeface="Calibri" pitchFamily="34" charset="0"/>
                <a:ea typeface="Calibri" pitchFamily="34" charset="-122"/>
                <a:cs typeface="Calibri" pitchFamily="34" charset="-120"/>
              </a:rPr>
              <a:t>Total</a:t>
            </a:r>
            <a:endParaRPr lang="en-US" sz="900" dirty="0"/>
          </a:p>
        </p:txBody>
      </p:sp>
      <p:sp>
        <p:nvSpPr>
          <p:cNvPr id="42" name="Text 39"/>
          <p:cNvSpPr/>
          <p:nvPr/>
        </p:nvSpPr>
        <p:spPr>
          <a:xfrm>
            <a:off x="7360920" y="3584448"/>
            <a:ext cx="457200" cy="201168"/>
          </a:xfrm>
          <a:prstGeom prst="rect">
            <a:avLst/>
          </a:prstGeom>
          <a:noFill/>
          <a:ln/>
        </p:spPr>
        <p:txBody>
          <a:bodyPr wrap="square" lIns="0" tIns="0" rIns="0" bIns="0" rtlCol="0" anchor="ctr"/>
          <a:lstStyle/>
          <a:p>
            <a:pPr marL="0" indent="0" algn="ctr">
              <a:buNone/>
            </a:pPr>
            <a:r>
              <a:rPr lang="en-US" sz="900" b="1" dirty="0">
                <a:solidFill>
                  <a:srgbClr val="0F2A44"/>
                </a:solidFill>
                <a:latin typeface="Calibri" pitchFamily="34" charset="0"/>
                <a:ea typeface="Calibri" pitchFamily="34" charset="-122"/>
                <a:cs typeface="Calibri" pitchFamily="34" charset="-120"/>
              </a:rPr>
              <a:t>130</a:t>
            </a:r>
            <a:endParaRPr lang="en-US" sz="900" dirty="0"/>
          </a:p>
        </p:txBody>
      </p:sp>
      <p:sp>
        <p:nvSpPr>
          <p:cNvPr id="43" name="Text 40"/>
          <p:cNvSpPr/>
          <p:nvPr/>
        </p:nvSpPr>
        <p:spPr>
          <a:xfrm>
            <a:off x="7818120" y="3584448"/>
            <a:ext cx="777240" cy="201168"/>
          </a:xfrm>
          <a:prstGeom prst="rect">
            <a:avLst/>
          </a:prstGeom>
          <a:noFill/>
          <a:ln/>
        </p:spPr>
        <p:txBody>
          <a:bodyPr wrap="square" lIns="0" tIns="0" rIns="0" bIns="0" rtlCol="0" anchor="ctr"/>
          <a:lstStyle/>
          <a:p>
            <a:pPr marL="0" indent="0" algn="r">
              <a:buNone/>
            </a:pPr>
            <a:r>
              <a:rPr lang="en-US" sz="900" b="1" dirty="0">
                <a:solidFill>
                  <a:srgbClr val="0F2A44"/>
                </a:solidFill>
                <a:latin typeface="Calibri" pitchFamily="34" charset="0"/>
                <a:ea typeface="Calibri" pitchFamily="34" charset="-122"/>
                <a:cs typeface="Calibri" pitchFamily="34" charset="-120"/>
              </a:rPr>
              <a:t>274k</a:t>
            </a:r>
            <a:endParaRPr lang="en-US" sz="900" dirty="0"/>
          </a:p>
        </p:txBody>
      </p:sp>
      <p:sp>
        <p:nvSpPr>
          <p:cNvPr id="44" name="Shape 41"/>
          <p:cNvSpPr/>
          <p:nvPr/>
        </p:nvSpPr>
        <p:spPr>
          <a:xfrm>
            <a:off x="548640" y="3950208"/>
            <a:ext cx="457200" cy="36576"/>
          </a:xfrm>
          <a:prstGeom prst="rect">
            <a:avLst/>
          </a:prstGeom>
          <a:solidFill>
            <a:srgbClr val="0D9488"/>
          </a:solidFill>
          <a:ln w="12700">
            <a:solidFill>
              <a:srgbClr val="0D9488"/>
            </a:solidFill>
            <a:prstDash val="solid"/>
          </a:ln>
        </p:spPr>
        <p:txBody>
          <a:bodyPr/>
          <a:lstStyle/>
          <a:p>
            <a:endParaRPr lang="en-US"/>
          </a:p>
        </p:txBody>
      </p:sp>
      <p:sp>
        <p:nvSpPr>
          <p:cNvPr id="45" name="Text 42"/>
          <p:cNvSpPr/>
          <p:nvPr/>
        </p:nvSpPr>
        <p:spPr>
          <a:xfrm>
            <a:off x="731520" y="4059936"/>
            <a:ext cx="7863840" cy="64008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98 anti-pattern instances across 9 types</a:t>
            </a:r>
          </a:p>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API Versioning Absence (37), Nano Service (23) and Hardcoded Endpoint (15) dominate</a:t>
            </a:r>
            <a:endParaRPr lang="en-US" sz="1050" dirty="0"/>
          </a:p>
        </p:txBody>
      </p:sp>
      <p:sp>
        <p:nvSpPr>
          <p:cNvPr id="46" name="Text 43"/>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Worked example: microservice-recruit</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987552"/>
            <a:ext cx="393192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Anti-pattern findings</a:t>
            </a:r>
            <a:endParaRPr lang="en-US" sz="1300" dirty="0"/>
          </a:p>
        </p:txBody>
      </p:sp>
      <p:sp>
        <p:nvSpPr>
          <p:cNvPr id="5" name="Text 3"/>
          <p:cNvSpPr/>
          <p:nvPr/>
        </p:nvSpPr>
        <p:spPr>
          <a:xfrm>
            <a:off x="548640" y="1353312"/>
            <a:ext cx="411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6×</a:t>
            </a:r>
            <a:endParaRPr lang="en-US" sz="1100" dirty="0"/>
          </a:p>
        </p:txBody>
      </p:sp>
      <p:sp>
        <p:nvSpPr>
          <p:cNvPr id="6" name="Text 4"/>
          <p:cNvSpPr/>
          <p:nvPr/>
        </p:nvSpPr>
        <p:spPr>
          <a:xfrm>
            <a:off x="1005840" y="1353312"/>
            <a:ext cx="22402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API Versioning Absence</a:t>
            </a:r>
            <a:endParaRPr lang="en-US" sz="1100" dirty="0"/>
          </a:p>
        </p:txBody>
      </p:sp>
      <p:sp>
        <p:nvSpPr>
          <p:cNvPr id="7" name="Text 5"/>
          <p:cNvSpPr/>
          <p:nvPr/>
        </p:nvSpPr>
        <p:spPr>
          <a:xfrm>
            <a:off x="3246120" y="1353312"/>
            <a:ext cx="12344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 each = −18</a:t>
            </a:r>
            <a:endParaRPr lang="en-US" sz="1000" dirty="0"/>
          </a:p>
        </p:txBody>
      </p:sp>
      <p:sp>
        <p:nvSpPr>
          <p:cNvPr id="8" name="Shape 6"/>
          <p:cNvSpPr/>
          <p:nvPr/>
        </p:nvSpPr>
        <p:spPr>
          <a:xfrm>
            <a:off x="548640" y="1618488"/>
            <a:ext cx="3931920" cy="10973"/>
          </a:xfrm>
          <a:prstGeom prst="rect">
            <a:avLst/>
          </a:prstGeom>
          <a:solidFill>
            <a:srgbClr val="D8DEE6"/>
          </a:solidFill>
          <a:ln w="12700">
            <a:solidFill>
              <a:srgbClr val="D8DEE6"/>
            </a:solidFill>
            <a:prstDash val="solid"/>
          </a:ln>
        </p:spPr>
        <p:txBody>
          <a:bodyPr/>
          <a:lstStyle/>
          <a:p>
            <a:endParaRPr lang="en-US"/>
          </a:p>
        </p:txBody>
      </p:sp>
      <p:sp>
        <p:nvSpPr>
          <p:cNvPr id="9" name="Text 7"/>
          <p:cNvSpPr/>
          <p:nvPr/>
        </p:nvSpPr>
        <p:spPr>
          <a:xfrm>
            <a:off x="548640" y="1655064"/>
            <a:ext cx="411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05840" y="1655064"/>
            <a:ext cx="22402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ESB Misuse</a:t>
            </a:r>
            <a:endParaRPr lang="en-US" sz="1100" dirty="0"/>
          </a:p>
        </p:txBody>
      </p:sp>
      <p:sp>
        <p:nvSpPr>
          <p:cNvPr id="11" name="Text 9"/>
          <p:cNvSpPr/>
          <p:nvPr/>
        </p:nvSpPr>
        <p:spPr>
          <a:xfrm>
            <a:off x="3246120" y="1655064"/>
            <a:ext cx="12344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2" name="Shape 10"/>
          <p:cNvSpPr/>
          <p:nvPr/>
        </p:nvSpPr>
        <p:spPr>
          <a:xfrm>
            <a:off x="548640" y="1920240"/>
            <a:ext cx="3931920" cy="10973"/>
          </a:xfrm>
          <a:prstGeom prst="rect">
            <a:avLst/>
          </a:prstGeom>
          <a:solidFill>
            <a:srgbClr val="D8DEE6"/>
          </a:solidFill>
          <a:ln w="12700">
            <a:solidFill>
              <a:srgbClr val="D8DEE6"/>
            </a:solidFill>
            <a:prstDash val="solid"/>
          </a:ln>
        </p:spPr>
        <p:txBody>
          <a:bodyPr/>
          <a:lstStyle/>
          <a:p>
            <a:endParaRPr lang="en-US"/>
          </a:p>
        </p:txBody>
      </p:sp>
      <p:sp>
        <p:nvSpPr>
          <p:cNvPr id="13" name="Text 11"/>
          <p:cNvSpPr/>
          <p:nvPr/>
        </p:nvSpPr>
        <p:spPr>
          <a:xfrm>
            <a:off x="548640" y="1956816"/>
            <a:ext cx="411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005840" y="1956816"/>
            <a:ext cx="22402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Wrong Cuts</a:t>
            </a:r>
            <a:endParaRPr lang="en-US" sz="1100" dirty="0"/>
          </a:p>
        </p:txBody>
      </p:sp>
      <p:sp>
        <p:nvSpPr>
          <p:cNvPr id="15" name="Text 13"/>
          <p:cNvSpPr/>
          <p:nvPr/>
        </p:nvSpPr>
        <p:spPr>
          <a:xfrm>
            <a:off x="3246120" y="1956816"/>
            <a:ext cx="12344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6" name="Shape 14"/>
          <p:cNvSpPr/>
          <p:nvPr/>
        </p:nvSpPr>
        <p:spPr>
          <a:xfrm>
            <a:off x="548640" y="2221992"/>
            <a:ext cx="3931920" cy="10973"/>
          </a:xfrm>
          <a:prstGeom prst="rect">
            <a:avLst/>
          </a:prstGeom>
          <a:solidFill>
            <a:srgbClr val="D8DEE6"/>
          </a:solidFill>
          <a:ln w="12700">
            <a:solidFill>
              <a:srgbClr val="D8DEE6"/>
            </a:solidFill>
            <a:prstDash val="solid"/>
          </a:ln>
        </p:spPr>
        <p:txBody>
          <a:bodyPr/>
          <a:lstStyle/>
          <a:p>
            <a:endParaRPr lang="en-US"/>
          </a:p>
        </p:txBody>
      </p:sp>
      <p:sp>
        <p:nvSpPr>
          <p:cNvPr id="17" name="Text 15"/>
          <p:cNvSpPr/>
          <p:nvPr/>
        </p:nvSpPr>
        <p:spPr>
          <a:xfrm>
            <a:off x="548640" y="2258568"/>
            <a:ext cx="411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1005840" y="2258568"/>
            <a:ext cx="22402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Cyclic Dependency</a:t>
            </a:r>
            <a:endParaRPr lang="en-US" sz="1100" dirty="0"/>
          </a:p>
        </p:txBody>
      </p:sp>
      <p:sp>
        <p:nvSpPr>
          <p:cNvPr id="19" name="Text 17"/>
          <p:cNvSpPr/>
          <p:nvPr/>
        </p:nvSpPr>
        <p:spPr>
          <a:xfrm>
            <a:off x="3246120" y="2258568"/>
            <a:ext cx="12344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20" name="Shape 18"/>
          <p:cNvSpPr/>
          <p:nvPr/>
        </p:nvSpPr>
        <p:spPr>
          <a:xfrm>
            <a:off x="548640" y="2523744"/>
            <a:ext cx="3931920" cy="10973"/>
          </a:xfrm>
          <a:prstGeom prst="rect">
            <a:avLst/>
          </a:prstGeom>
          <a:solidFill>
            <a:srgbClr val="D8DEE6"/>
          </a:solidFill>
          <a:ln w="12700">
            <a:solidFill>
              <a:srgbClr val="D8DEE6"/>
            </a:solidFill>
            <a:prstDash val="solid"/>
          </a:ln>
        </p:spPr>
        <p:txBody>
          <a:bodyPr/>
          <a:lstStyle/>
          <a:p>
            <a:endParaRPr lang="en-US"/>
          </a:p>
        </p:txBody>
      </p:sp>
      <p:sp>
        <p:nvSpPr>
          <p:cNvPr id="21" name="Text 19"/>
          <p:cNvSpPr/>
          <p:nvPr/>
        </p:nvSpPr>
        <p:spPr>
          <a:xfrm>
            <a:off x="548640" y="2560320"/>
            <a:ext cx="41148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1005840" y="2560320"/>
            <a:ext cx="22402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23" name="Text 21"/>
          <p:cNvSpPr/>
          <p:nvPr/>
        </p:nvSpPr>
        <p:spPr>
          <a:xfrm>
            <a:off x="3246120" y="2560320"/>
            <a:ext cx="12344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24" name="Shape 22"/>
          <p:cNvSpPr/>
          <p:nvPr/>
        </p:nvSpPr>
        <p:spPr>
          <a:xfrm>
            <a:off x="548640" y="2825496"/>
            <a:ext cx="3931920" cy="10973"/>
          </a:xfrm>
          <a:prstGeom prst="rect">
            <a:avLst/>
          </a:prstGeom>
          <a:solidFill>
            <a:srgbClr val="D8DEE6"/>
          </a:solidFill>
          <a:ln w="12700">
            <a:solidFill>
              <a:srgbClr val="D8DEE6"/>
            </a:solidFill>
            <a:prstDash val="solid"/>
          </a:ln>
        </p:spPr>
        <p:txBody>
          <a:bodyPr/>
          <a:lstStyle/>
          <a:p>
            <a:endParaRPr lang="en-US"/>
          </a:p>
        </p:txBody>
      </p:sp>
      <p:sp>
        <p:nvSpPr>
          <p:cNvPr id="25" name="Text 23"/>
          <p:cNvSpPr/>
          <p:nvPr/>
        </p:nvSpPr>
        <p:spPr>
          <a:xfrm>
            <a:off x="548640" y="2944368"/>
            <a:ext cx="3931920" cy="292608"/>
          </a:xfrm>
          <a:prstGeom prst="rect">
            <a:avLst/>
          </a:prstGeom>
          <a:noFill/>
          <a:ln/>
        </p:spPr>
        <p:txBody>
          <a:bodyPr wrap="square" lIns="0" tIns="0" rIns="0" bIns="0" rtlCol="0" anchor="ctr"/>
          <a:lstStyle/>
          <a:p>
            <a:pPr marL="0" indent="0">
              <a:buNone/>
            </a:pPr>
            <a:r>
              <a:rPr lang="en-US" sz="1150" b="1" dirty="0">
                <a:solidFill>
                  <a:srgbClr val="0F2A44"/>
                </a:solidFill>
                <a:latin typeface="Calibri" pitchFamily="34" charset="0"/>
                <a:ea typeface="Calibri" pitchFamily="34" charset="-122"/>
                <a:cs typeface="Calibri" pitchFamily="34" charset="-120"/>
              </a:rPr>
              <a:t>Total penalty 49  →  category clamps at 0 / 40</a:t>
            </a:r>
            <a:endParaRPr lang="en-US" sz="1150" dirty="0"/>
          </a:p>
        </p:txBody>
      </p:sp>
      <p:sp>
        <p:nvSpPr>
          <p:cNvPr id="26" name="Text 24"/>
          <p:cNvSpPr/>
          <p:nvPr/>
        </p:nvSpPr>
        <p:spPr>
          <a:xfrm>
            <a:off x="548640" y="3429000"/>
            <a:ext cx="3931920" cy="10972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Deductions spread across all four categories: </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Anti-pattern load clamps AP to 0</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Architecture loses 9 to dependency-graph coupling</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Code Quality 8 to smell density</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Service Sizing 3 to one nano service</a:t>
            </a:r>
            <a:endParaRPr lang="en-US" sz="1000" dirty="0"/>
          </a:p>
        </p:txBody>
      </p:sp>
      <p:sp>
        <p:nvSpPr>
          <p:cNvPr id="27" name="Text 25"/>
          <p:cNvSpPr/>
          <p:nvPr/>
        </p:nvSpPr>
        <p:spPr>
          <a:xfrm>
            <a:off x="4937760" y="987552"/>
            <a:ext cx="365760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Category contributions</a:t>
            </a:r>
            <a:endParaRPr lang="en-US" sz="1300" dirty="0"/>
          </a:p>
        </p:txBody>
      </p:sp>
      <p:sp>
        <p:nvSpPr>
          <p:cNvPr id="28" name="Text 26"/>
          <p:cNvSpPr/>
          <p:nvPr/>
        </p:nvSpPr>
        <p:spPr>
          <a:xfrm>
            <a:off x="4937760" y="1353312"/>
            <a:ext cx="1280160" cy="29260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Anti-Patterns</a:t>
            </a:r>
            <a:endParaRPr lang="en-US" sz="1050" dirty="0"/>
          </a:p>
        </p:txBody>
      </p:sp>
      <p:sp>
        <p:nvSpPr>
          <p:cNvPr id="29" name="Shape 27"/>
          <p:cNvSpPr/>
          <p:nvPr/>
        </p:nvSpPr>
        <p:spPr>
          <a:xfrm>
            <a:off x="6263640" y="1389888"/>
            <a:ext cx="1691640" cy="219456"/>
          </a:xfrm>
          <a:prstGeom prst="rect">
            <a:avLst/>
          </a:prstGeom>
          <a:solidFill>
            <a:srgbClr val="D8DEE6"/>
          </a:solidFill>
          <a:ln w="12700">
            <a:solidFill>
              <a:srgbClr val="D8DEE6"/>
            </a:solidFill>
            <a:prstDash val="solid"/>
          </a:ln>
        </p:spPr>
        <p:txBody>
          <a:bodyPr/>
          <a:lstStyle/>
          <a:p>
            <a:endParaRPr lang="en-US"/>
          </a:p>
        </p:txBody>
      </p:sp>
      <p:sp>
        <p:nvSpPr>
          <p:cNvPr id="30" name="Text 28"/>
          <p:cNvSpPr/>
          <p:nvPr/>
        </p:nvSpPr>
        <p:spPr>
          <a:xfrm>
            <a:off x="8028432" y="1353312"/>
            <a:ext cx="56692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0 / 40</a:t>
            </a:r>
            <a:endParaRPr lang="en-US" sz="1000" dirty="0"/>
          </a:p>
        </p:txBody>
      </p:sp>
      <p:sp>
        <p:nvSpPr>
          <p:cNvPr id="31" name="Text 29"/>
          <p:cNvSpPr/>
          <p:nvPr/>
        </p:nvSpPr>
        <p:spPr>
          <a:xfrm>
            <a:off x="4937760" y="1810512"/>
            <a:ext cx="1280160" cy="29260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Code Quality</a:t>
            </a:r>
            <a:endParaRPr lang="en-US" sz="1050" dirty="0"/>
          </a:p>
        </p:txBody>
      </p:sp>
      <p:sp>
        <p:nvSpPr>
          <p:cNvPr id="32" name="Shape 30"/>
          <p:cNvSpPr/>
          <p:nvPr/>
        </p:nvSpPr>
        <p:spPr>
          <a:xfrm>
            <a:off x="6263640" y="1847088"/>
            <a:ext cx="1691640" cy="219456"/>
          </a:xfrm>
          <a:prstGeom prst="rect">
            <a:avLst/>
          </a:prstGeom>
          <a:solidFill>
            <a:srgbClr val="D8DEE6"/>
          </a:solidFill>
          <a:ln w="12700">
            <a:solidFill>
              <a:srgbClr val="D8DEE6"/>
            </a:solidFill>
            <a:prstDash val="solid"/>
          </a:ln>
        </p:spPr>
        <p:txBody>
          <a:bodyPr/>
          <a:lstStyle/>
          <a:p>
            <a:endParaRPr lang="en-US"/>
          </a:p>
        </p:txBody>
      </p:sp>
      <p:sp>
        <p:nvSpPr>
          <p:cNvPr id="33" name="Shape 31"/>
          <p:cNvSpPr/>
          <p:nvPr/>
        </p:nvSpPr>
        <p:spPr>
          <a:xfrm>
            <a:off x="6263640" y="1847088"/>
            <a:ext cx="1014984" cy="219456"/>
          </a:xfrm>
          <a:prstGeom prst="rect">
            <a:avLst/>
          </a:prstGeom>
          <a:solidFill>
            <a:srgbClr val="D97706"/>
          </a:solidFill>
          <a:ln w="12700">
            <a:solidFill>
              <a:srgbClr val="D97706"/>
            </a:solidFill>
            <a:prstDash val="solid"/>
          </a:ln>
        </p:spPr>
        <p:txBody>
          <a:bodyPr/>
          <a:lstStyle/>
          <a:p>
            <a:endParaRPr lang="en-US"/>
          </a:p>
        </p:txBody>
      </p:sp>
      <p:sp>
        <p:nvSpPr>
          <p:cNvPr id="34" name="Text 32"/>
          <p:cNvSpPr/>
          <p:nvPr/>
        </p:nvSpPr>
        <p:spPr>
          <a:xfrm>
            <a:off x="8028432" y="1810512"/>
            <a:ext cx="56692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12 / 20</a:t>
            </a:r>
            <a:endParaRPr lang="en-US" sz="1000" dirty="0"/>
          </a:p>
        </p:txBody>
      </p:sp>
      <p:sp>
        <p:nvSpPr>
          <p:cNvPr id="35" name="Text 33"/>
          <p:cNvSpPr/>
          <p:nvPr/>
        </p:nvSpPr>
        <p:spPr>
          <a:xfrm>
            <a:off x="4937760" y="2267712"/>
            <a:ext cx="1280160" cy="29260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Architecture</a:t>
            </a:r>
            <a:endParaRPr lang="en-US" sz="1050" dirty="0"/>
          </a:p>
        </p:txBody>
      </p:sp>
      <p:sp>
        <p:nvSpPr>
          <p:cNvPr id="36" name="Shape 34"/>
          <p:cNvSpPr/>
          <p:nvPr/>
        </p:nvSpPr>
        <p:spPr>
          <a:xfrm>
            <a:off x="6263640" y="2304288"/>
            <a:ext cx="1691640" cy="219456"/>
          </a:xfrm>
          <a:prstGeom prst="rect">
            <a:avLst/>
          </a:prstGeom>
          <a:solidFill>
            <a:srgbClr val="D8DEE6"/>
          </a:solidFill>
          <a:ln w="12700">
            <a:solidFill>
              <a:srgbClr val="D8DEE6"/>
            </a:solidFill>
            <a:prstDash val="solid"/>
          </a:ln>
        </p:spPr>
        <p:txBody>
          <a:bodyPr/>
          <a:lstStyle/>
          <a:p>
            <a:endParaRPr lang="en-US"/>
          </a:p>
        </p:txBody>
      </p:sp>
      <p:sp>
        <p:nvSpPr>
          <p:cNvPr id="37" name="Shape 35"/>
          <p:cNvSpPr/>
          <p:nvPr/>
        </p:nvSpPr>
        <p:spPr>
          <a:xfrm>
            <a:off x="6263640" y="2304288"/>
            <a:ext cx="1082650" cy="219456"/>
          </a:xfrm>
          <a:prstGeom prst="rect">
            <a:avLst/>
          </a:prstGeom>
          <a:solidFill>
            <a:srgbClr val="1C4E80"/>
          </a:solidFill>
          <a:ln w="12700">
            <a:solidFill>
              <a:srgbClr val="1C4E80"/>
            </a:solidFill>
            <a:prstDash val="solid"/>
          </a:ln>
        </p:spPr>
        <p:txBody>
          <a:bodyPr/>
          <a:lstStyle/>
          <a:p>
            <a:endParaRPr lang="en-US"/>
          </a:p>
        </p:txBody>
      </p:sp>
      <p:sp>
        <p:nvSpPr>
          <p:cNvPr id="38" name="Text 36"/>
          <p:cNvSpPr/>
          <p:nvPr/>
        </p:nvSpPr>
        <p:spPr>
          <a:xfrm>
            <a:off x="8028432" y="2267712"/>
            <a:ext cx="56692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16 / 25</a:t>
            </a:r>
            <a:endParaRPr lang="en-US" sz="1000" dirty="0"/>
          </a:p>
        </p:txBody>
      </p:sp>
      <p:sp>
        <p:nvSpPr>
          <p:cNvPr id="39" name="Text 37"/>
          <p:cNvSpPr/>
          <p:nvPr/>
        </p:nvSpPr>
        <p:spPr>
          <a:xfrm>
            <a:off x="4937760" y="2724912"/>
            <a:ext cx="1280160" cy="29260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Service Sizing</a:t>
            </a:r>
            <a:endParaRPr lang="en-US" sz="1050" dirty="0"/>
          </a:p>
        </p:txBody>
      </p:sp>
      <p:sp>
        <p:nvSpPr>
          <p:cNvPr id="40" name="Shape 38"/>
          <p:cNvSpPr/>
          <p:nvPr/>
        </p:nvSpPr>
        <p:spPr>
          <a:xfrm>
            <a:off x="6263640" y="2761488"/>
            <a:ext cx="1691640" cy="219456"/>
          </a:xfrm>
          <a:prstGeom prst="rect">
            <a:avLst/>
          </a:prstGeom>
          <a:solidFill>
            <a:srgbClr val="D8DEE6"/>
          </a:solidFill>
          <a:ln w="12700">
            <a:solidFill>
              <a:srgbClr val="D8DEE6"/>
            </a:solidFill>
            <a:prstDash val="solid"/>
          </a:ln>
        </p:spPr>
        <p:txBody>
          <a:bodyPr/>
          <a:lstStyle/>
          <a:p>
            <a:endParaRPr lang="en-US"/>
          </a:p>
        </p:txBody>
      </p:sp>
      <p:sp>
        <p:nvSpPr>
          <p:cNvPr id="41" name="Shape 39"/>
          <p:cNvSpPr/>
          <p:nvPr/>
        </p:nvSpPr>
        <p:spPr>
          <a:xfrm>
            <a:off x="6263640" y="2761488"/>
            <a:ext cx="1353312" cy="219456"/>
          </a:xfrm>
          <a:prstGeom prst="rect">
            <a:avLst/>
          </a:prstGeom>
          <a:solidFill>
            <a:srgbClr val="0D9488"/>
          </a:solidFill>
          <a:ln w="12700">
            <a:solidFill>
              <a:srgbClr val="0D9488"/>
            </a:solidFill>
            <a:prstDash val="solid"/>
          </a:ln>
        </p:spPr>
        <p:txBody>
          <a:bodyPr/>
          <a:lstStyle/>
          <a:p>
            <a:endParaRPr lang="en-US"/>
          </a:p>
        </p:txBody>
      </p:sp>
      <p:sp>
        <p:nvSpPr>
          <p:cNvPr id="42" name="Text 40"/>
          <p:cNvSpPr/>
          <p:nvPr/>
        </p:nvSpPr>
        <p:spPr>
          <a:xfrm>
            <a:off x="8028432" y="2724912"/>
            <a:ext cx="566928"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12 / 15</a:t>
            </a:r>
            <a:endParaRPr lang="en-US" sz="1000" dirty="0"/>
          </a:p>
        </p:txBody>
      </p:sp>
      <p:sp>
        <p:nvSpPr>
          <p:cNvPr id="43" name="Text 41"/>
          <p:cNvSpPr/>
          <p:nvPr/>
        </p:nvSpPr>
        <p:spPr>
          <a:xfrm>
            <a:off x="4937760" y="3429000"/>
            <a:ext cx="3657600" cy="777240"/>
          </a:xfrm>
          <a:prstGeom prst="rect">
            <a:avLst/>
          </a:prstGeom>
          <a:noFill/>
          <a:ln/>
        </p:spPr>
        <p:txBody>
          <a:bodyPr wrap="square" lIns="0" tIns="0" rIns="0" bIns="0" rtlCol="0" anchor="ctr"/>
          <a:lstStyle/>
          <a:p>
            <a:pPr marL="0" indent="0">
              <a:buNone/>
            </a:pPr>
            <a:r>
              <a:rPr lang="en-US" sz="4000" b="1" dirty="0">
                <a:solidFill>
                  <a:srgbClr val="DC2626"/>
                </a:solidFill>
                <a:latin typeface="Calibri" pitchFamily="34" charset="0"/>
                <a:ea typeface="Calibri" pitchFamily="34" charset="-122"/>
                <a:cs typeface="Calibri" pitchFamily="34" charset="-120"/>
              </a:rPr>
              <a:t>40</a:t>
            </a:r>
            <a:r>
              <a:rPr lang="en-US" sz="1400" b="1" dirty="0">
                <a:solidFill>
                  <a:srgbClr val="0F2A44"/>
                </a:solidFill>
                <a:latin typeface="Calibri" pitchFamily="34" charset="0"/>
                <a:ea typeface="Calibri" pitchFamily="34" charset="-122"/>
                <a:cs typeface="Calibri" pitchFamily="34" charset="-120"/>
              </a:rPr>
              <a:t>  / 100  ·  Grade F</a:t>
            </a:r>
            <a:endParaRPr lang="en-US" sz="4000" dirty="0"/>
          </a:p>
        </p:txBody>
      </p:sp>
      <p:sp>
        <p:nvSpPr>
          <p:cNvPr id="45" name="Text 43"/>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548640" y="868680"/>
            <a:ext cx="640080" cy="4114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548640" y="1051560"/>
            <a:ext cx="7863840" cy="77724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Live demo</a:t>
            </a:r>
            <a:endParaRPr lang="en-US" sz="4400" dirty="0"/>
          </a:p>
        </p:txBody>
      </p:sp>
      <p:sp>
        <p:nvSpPr>
          <p:cNvPr id="4" name="Text 2"/>
          <p:cNvSpPr/>
          <p:nvPr/>
        </p:nvSpPr>
        <p:spPr>
          <a:xfrm>
            <a:off x="548640" y="1874520"/>
            <a:ext cx="7863840" cy="365760"/>
          </a:xfrm>
          <a:prstGeom prst="rect">
            <a:avLst/>
          </a:prstGeom>
          <a:noFill/>
          <a:ln/>
        </p:spPr>
        <p:txBody>
          <a:bodyPr wrap="square" lIns="0" tIns="0" rIns="0" bIns="0" rtlCol="0" anchor="ctr"/>
          <a:lstStyle/>
          <a:p>
            <a:pPr marL="0" indent="0">
              <a:buNone/>
            </a:pPr>
            <a:r>
              <a:rPr lang="en-US" sz="1600" i="1" dirty="0">
                <a:solidFill>
                  <a:srgbClr val="DBEAFE"/>
                </a:solidFill>
                <a:latin typeface="Calibri" pitchFamily="34" charset="0"/>
                <a:ea typeface="Calibri" pitchFamily="34" charset="-122"/>
                <a:cs typeface="Calibri" pitchFamily="34" charset="-120"/>
              </a:rPr>
              <a:t>Cloning and analysing a microservice project in real time</a:t>
            </a:r>
            <a:endParaRPr lang="en-US" sz="1600" dirty="0"/>
          </a:p>
        </p:txBody>
      </p:sp>
      <p:sp>
        <p:nvSpPr>
          <p:cNvPr id="5" name="Text 3"/>
          <p:cNvSpPr/>
          <p:nvPr/>
        </p:nvSpPr>
        <p:spPr>
          <a:xfrm>
            <a:off x="548640" y="2560320"/>
            <a:ext cx="365760" cy="292608"/>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51560" y="2569464"/>
            <a:ext cx="7498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Clone a small repo</a:t>
            </a:r>
            <a:endParaRPr lang="en-US" sz="1400" dirty="0"/>
          </a:p>
        </p:txBody>
      </p:sp>
      <p:sp>
        <p:nvSpPr>
          <p:cNvPr id="7" name="Text 5"/>
          <p:cNvSpPr/>
          <p:nvPr/>
        </p:nvSpPr>
        <p:spPr>
          <a:xfrm>
            <a:off x="1051560" y="2825496"/>
            <a:ext cx="7498080" cy="237744"/>
          </a:xfrm>
          <a:prstGeom prst="rect">
            <a:avLst/>
          </a:prstGeom>
          <a:noFill/>
          <a:ln/>
        </p:spPr>
        <p:txBody>
          <a:bodyPr wrap="square" lIns="0" tIns="0" rIns="0" bIns="0" rtlCol="0" anchor="ctr"/>
          <a:lstStyle/>
          <a:p>
            <a:pPr marL="0" indent="0">
              <a:buNone/>
            </a:pPr>
            <a:r>
              <a:rPr lang="en-US" sz="1100" dirty="0">
                <a:solidFill>
                  <a:srgbClr val="DBEAFE"/>
                </a:solidFill>
                <a:latin typeface="Calibri" pitchFamily="34" charset="0"/>
                <a:ea typeface="Calibri" pitchFamily="34" charset="-122"/>
                <a:cs typeface="Calibri" pitchFamily="34" charset="-120"/>
              </a:rPr>
              <a:t>Paste a public Git URL, submit, watch the pipeline progress</a:t>
            </a:r>
            <a:endParaRPr lang="en-US" sz="1100" dirty="0"/>
          </a:p>
        </p:txBody>
      </p:sp>
      <p:sp>
        <p:nvSpPr>
          <p:cNvPr id="8" name="Text 6"/>
          <p:cNvSpPr/>
          <p:nvPr/>
        </p:nvSpPr>
        <p:spPr>
          <a:xfrm>
            <a:off x="548640" y="3108960"/>
            <a:ext cx="365760" cy="292608"/>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051560" y="3118104"/>
            <a:ext cx="7498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Open the results dashboard</a:t>
            </a:r>
            <a:endParaRPr lang="en-US" sz="1400" dirty="0"/>
          </a:p>
        </p:txBody>
      </p:sp>
      <p:sp>
        <p:nvSpPr>
          <p:cNvPr id="10" name="Text 8"/>
          <p:cNvSpPr/>
          <p:nvPr/>
        </p:nvSpPr>
        <p:spPr>
          <a:xfrm>
            <a:off x="1051560" y="3374136"/>
            <a:ext cx="7498080" cy="237744"/>
          </a:xfrm>
          <a:prstGeom prst="rect">
            <a:avLst/>
          </a:prstGeom>
          <a:noFill/>
          <a:ln/>
        </p:spPr>
        <p:txBody>
          <a:bodyPr wrap="square" lIns="0" tIns="0" rIns="0" bIns="0" rtlCol="0" anchor="ctr"/>
          <a:lstStyle/>
          <a:p>
            <a:pPr marL="0" indent="0">
              <a:buNone/>
            </a:pPr>
            <a:r>
              <a:rPr lang="en-US" sz="1100" dirty="0">
                <a:solidFill>
                  <a:srgbClr val="DBEAFE"/>
                </a:solidFill>
                <a:latin typeface="Calibri" pitchFamily="34" charset="0"/>
                <a:ea typeface="Calibri" pitchFamily="34" charset="-122"/>
                <a:cs typeface="Calibri" pitchFamily="34" charset="-120"/>
              </a:rPr>
              <a:t>Health score gauge, four-category breakdown, summary metrics</a:t>
            </a:r>
            <a:endParaRPr lang="en-US" sz="1100" dirty="0"/>
          </a:p>
        </p:txBody>
      </p:sp>
      <p:sp>
        <p:nvSpPr>
          <p:cNvPr id="11" name="Text 9"/>
          <p:cNvSpPr/>
          <p:nvPr/>
        </p:nvSpPr>
        <p:spPr>
          <a:xfrm>
            <a:off x="548640" y="3657600"/>
            <a:ext cx="365760" cy="292608"/>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051560" y="3666744"/>
            <a:ext cx="7498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Drill into a finding</a:t>
            </a:r>
            <a:endParaRPr lang="en-US" sz="1400" dirty="0"/>
          </a:p>
        </p:txBody>
      </p:sp>
      <p:sp>
        <p:nvSpPr>
          <p:cNvPr id="13" name="Text 11"/>
          <p:cNvSpPr/>
          <p:nvPr/>
        </p:nvSpPr>
        <p:spPr>
          <a:xfrm>
            <a:off x="1051560" y="3922776"/>
            <a:ext cx="7498080" cy="237744"/>
          </a:xfrm>
          <a:prstGeom prst="rect">
            <a:avLst/>
          </a:prstGeom>
          <a:noFill/>
          <a:ln/>
        </p:spPr>
        <p:txBody>
          <a:bodyPr wrap="square" lIns="0" tIns="0" rIns="0" bIns="0" rtlCol="0" anchor="ctr"/>
          <a:lstStyle/>
          <a:p>
            <a:pPr marL="0" indent="0">
              <a:buNone/>
            </a:pPr>
            <a:r>
              <a:rPr lang="en-US" sz="1100" dirty="0">
                <a:solidFill>
                  <a:srgbClr val="DBEAFE"/>
                </a:solidFill>
                <a:latin typeface="Calibri" pitchFamily="34" charset="0"/>
                <a:ea typeface="Calibri" pitchFamily="34" charset="-122"/>
                <a:cs typeface="Calibri" pitchFamily="34" charset="-120"/>
              </a:rPr>
              <a:t>Expand an anti-pattern card to see source-code evidence and remediation</a:t>
            </a:r>
            <a:endParaRPr lang="en-US" sz="1100" dirty="0"/>
          </a:p>
        </p:txBody>
      </p:sp>
      <p:sp>
        <p:nvSpPr>
          <p:cNvPr id="14" name="Text 12"/>
          <p:cNvSpPr/>
          <p:nvPr/>
        </p:nvSpPr>
        <p:spPr>
          <a:xfrm>
            <a:off x="548640" y="4206240"/>
            <a:ext cx="365760" cy="292608"/>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051560" y="4215384"/>
            <a:ext cx="74980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Explore the dependency graph</a:t>
            </a:r>
            <a:endParaRPr lang="en-US" sz="1400" dirty="0"/>
          </a:p>
        </p:txBody>
      </p:sp>
      <p:sp>
        <p:nvSpPr>
          <p:cNvPr id="16" name="Text 14"/>
          <p:cNvSpPr/>
          <p:nvPr/>
        </p:nvSpPr>
        <p:spPr>
          <a:xfrm>
            <a:off x="1051560" y="4471416"/>
            <a:ext cx="7498080" cy="237744"/>
          </a:xfrm>
          <a:prstGeom prst="rect">
            <a:avLst/>
          </a:prstGeom>
          <a:noFill/>
          <a:ln/>
        </p:spPr>
        <p:txBody>
          <a:bodyPr wrap="square" lIns="0" tIns="0" rIns="0" bIns="0" rtlCol="0" anchor="ctr"/>
          <a:lstStyle/>
          <a:p>
            <a:pPr marL="0" indent="0">
              <a:buNone/>
            </a:pPr>
            <a:r>
              <a:rPr lang="en-US" sz="1100" dirty="0">
                <a:solidFill>
                  <a:srgbClr val="DBEAFE"/>
                </a:solidFill>
                <a:latin typeface="Calibri" pitchFamily="34" charset="0"/>
                <a:ea typeface="Calibri" pitchFamily="34" charset="-122"/>
                <a:cs typeface="Calibri" pitchFamily="34" charset="-120"/>
              </a:rPr>
              <a:t>Interactive Cytoscape view of inter-service edges</a:t>
            </a:r>
            <a:endParaRPr lang="en-US" sz="1100" dirty="0"/>
          </a:p>
        </p:txBody>
      </p:sp>
      <p:sp>
        <p:nvSpPr>
          <p:cNvPr id="17" name="Text 15"/>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DBEAFE"/>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marL="0" indent="0">
              <a:buNone/>
            </a:pPr>
            <a:r>
              <a:rPr lang="en-US" sz="2500" b="1" dirty="0">
                <a:solidFill>
                  <a:srgbClr val="0F2A44"/>
                </a:solidFill>
                <a:latin typeface="Calibri" pitchFamily="34" charset="0"/>
                <a:ea typeface="Calibri" pitchFamily="34" charset="-122"/>
                <a:cs typeface="Calibri" pitchFamily="34" charset="-120"/>
              </a:rPr>
              <a:t>Limitations &amp; future work</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txBody>
          <a:bodyPr/>
          <a:lstStyle/>
          <a:p>
            <a:endParaRPr lang="en-US"/>
          </a:p>
        </p:txBody>
      </p:sp>
      <p:sp>
        <p:nvSpPr>
          <p:cNvPr id="4" name="Text 2"/>
          <p:cNvSpPr/>
          <p:nvPr/>
        </p:nvSpPr>
        <p:spPr>
          <a:xfrm>
            <a:off x="548640" y="1005840"/>
            <a:ext cx="3840480" cy="347472"/>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Limitations</a:t>
            </a:r>
            <a:endParaRPr lang="en-US" sz="1500" dirty="0"/>
          </a:p>
        </p:txBody>
      </p:sp>
      <p:sp>
        <p:nvSpPr>
          <p:cNvPr id="5" name="Shape 3"/>
          <p:cNvSpPr/>
          <p:nvPr/>
        </p:nvSpPr>
        <p:spPr>
          <a:xfrm>
            <a:off x="548640" y="1389888"/>
            <a:ext cx="457200" cy="36576"/>
          </a:xfrm>
          <a:prstGeom prst="rect">
            <a:avLst/>
          </a:prstGeom>
          <a:solidFill>
            <a:srgbClr val="D97706"/>
          </a:solidFill>
          <a:ln w="12700">
            <a:solidFill>
              <a:srgbClr val="D97706"/>
            </a:solidFill>
            <a:prstDash val="solid"/>
          </a:ln>
        </p:spPr>
        <p:txBody>
          <a:bodyPr/>
          <a:lstStyle/>
          <a:p>
            <a:endParaRPr lang="en-US"/>
          </a:p>
        </p:txBody>
      </p:sp>
      <p:sp>
        <p:nvSpPr>
          <p:cNvPr id="6" name="Text 4"/>
          <p:cNvSpPr/>
          <p:nvPr/>
        </p:nvSpPr>
        <p:spPr>
          <a:xfrm>
            <a:off x="548640" y="1572768"/>
            <a:ext cx="3840480" cy="30175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Java / Spring Boot only; polyglot systems not supported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Static analysis only; no runtime call frequency data</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Service detection deployability gate may miss services without framework annotations, Dockerfile, or main method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Dynamic URLs (e.g. Spring Cloud Config) are not resolved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Health score weights chosen by engineering judgement, not empirically calibrated</a:t>
            </a:r>
            <a:endParaRPr lang="en-US" sz="1100" dirty="0"/>
          </a:p>
        </p:txBody>
      </p:sp>
      <p:sp>
        <p:nvSpPr>
          <p:cNvPr id="7" name="Text 5"/>
          <p:cNvSpPr/>
          <p:nvPr/>
        </p:nvSpPr>
        <p:spPr>
          <a:xfrm>
            <a:off x="4754880" y="1005840"/>
            <a:ext cx="3840480" cy="347472"/>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Future work</a:t>
            </a:r>
            <a:endParaRPr lang="en-US" sz="1500" dirty="0"/>
          </a:p>
        </p:txBody>
      </p:sp>
      <p:sp>
        <p:nvSpPr>
          <p:cNvPr id="8" name="Shape 6"/>
          <p:cNvSpPr/>
          <p:nvPr/>
        </p:nvSpPr>
        <p:spPr>
          <a:xfrm>
            <a:off x="4754880" y="1389888"/>
            <a:ext cx="457200" cy="36576"/>
          </a:xfrm>
          <a:prstGeom prst="rect">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4754880" y="1572768"/>
            <a:ext cx="3840480" cy="30175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Multi-language support (Python, Go, .NET, Node.js) via language-agnostic dependency graphs from Docker Compose / Kubernetes manifests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Extend anti-pattern catalogue (timeout misconfiguration, missing API gateway)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ML-based detection: classifiers on labelled datasets or graph neural networks on the dependency graph</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Empirical threshold calibration across an industrial corpus</a:t>
            </a:r>
            <a:endParaRPr lang="en-US" sz="1100" dirty="0"/>
          </a:p>
        </p:txBody>
      </p:sp>
      <p:sp>
        <p:nvSpPr>
          <p:cNvPr id="10" name="Text 8"/>
          <p:cNvSpPr/>
          <p:nvPr/>
        </p:nvSpPr>
        <p:spPr>
          <a:xfrm>
            <a:off x="7955280" y="4864608"/>
            <a:ext cx="64008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548640" y="914400"/>
            <a:ext cx="640080" cy="4114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548640" y="1097280"/>
            <a:ext cx="786384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548640" y="2400300"/>
            <a:ext cx="7863840" cy="274320"/>
          </a:xfrm>
          <a:prstGeom prst="rect">
            <a:avLst/>
          </a:prstGeom>
          <a:noFill/>
          <a:ln/>
        </p:spPr>
        <p:txBody>
          <a:bodyPr wrap="square" lIns="0" tIns="0" rIns="0" bIns="0"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RECAP</a:t>
            </a:r>
            <a:endParaRPr lang="en-US" sz="1100" dirty="0"/>
          </a:p>
        </p:txBody>
      </p:sp>
      <p:sp>
        <p:nvSpPr>
          <p:cNvPr id="6" name="Text 4"/>
          <p:cNvSpPr/>
          <p:nvPr/>
        </p:nvSpPr>
        <p:spPr>
          <a:xfrm>
            <a:off x="731520" y="2720340"/>
            <a:ext cx="7680960" cy="132588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Multi-level static analysis combining code smells and architectural metrics</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Ten anti-patterns, configurable thresholds, evidence-based reporting</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Composite health score with four-category decomposition and analysis diff</a:t>
            </a:r>
            <a:endParaRPr lang="en-US" sz="1250" dirty="0"/>
          </a:p>
        </p:txBody>
      </p:sp>
      <p:sp>
        <p:nvSpPr>
          <p:cNvPr id="7" name="Text 5"/>
          <p:cNvSpPr/>
          <p:nvPr/>
        </p:nvSpPr>
        <p:spPr>
          <a:xfrm>
            <a:off x="548640" y="4617720"/>
            <a:ext cx="7863840" cy="27432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Iacob Andrei  ·  Supervisor: Prof. Dr. Simona Motogna  ·  UBB FMI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3</TotalTime>
  <Words>4262</Words>
  <Application>Microsoft Office PowerPoint</Application>
  <PresentationFormat>On-screen Show (16:9)</PresentationFormat>
  <Paragraphs>259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 Detector — Master's Dissertation Defense</dc:title>
  <dc:subject>PptxGenJS Presentation</dc:subject>
  <dc:creator>Iacob Andrei</dc:creator>
  <cp:lastModifiedBy>iacob andrei</cp:lastModifiedBy>
  <cp:revision>11</cp:revision>
  <dcterms:created xsi:type="dcterms:W3CDTF">2026-06-11T06:26:58Z</dcterms:created>
  <dcterms:modified xsi:type="dcterms:W3CDTF">2026-06-18T12:07:28Z</dcterms:modified>
</cp:coreProperties>
</file>