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1" r:id="rId6"/>
    <p:sldId id="260" r:id="rId7"/>
    <p:sldId id="262" r:id="rId8"/>
    <p:sldId id="264" r:id="rId9"/>
    <p:sldId id="265" r:id="rId10"/>
    <p:sldId id="266" r:id="rId11"/>
    <p:sldId id="267" r:id="rId12"/>
    <p:sldId id="270" r:id="rId13"/>
    <p:sldId id="269" r:id="rId14"/>
    <p:sldId id="263" r:id="rId15"/>
    <p:sldId id="282" r:id="rId16"/>
    <p:sldId id="272" r:id="rId17"/>
    <p:sldId id="273" r:id="rId18"/>
    <p:sldId id="274" r:id="rId19"/>
    <p:sldId id="275" r:id="rId20"/>
    <p:sldId id="283" r:id="rId21"/>
    <p:sldId id="276" r:id="rId22"/>
    <p:sldId id="277" r:id="rId23"/>
    <p:sldId id="278" r:id="rId24"/>
    <p:sldId id="279" r:id="rId25"/>
    <p:sldId id="280" r:id="rId26"/>
    <p:sldId id="281"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64649" autoAdjust="0"/>
  </p:normalViewPr>
  <p:slideViewPr>
    <p:cSldViewPr snapToGrid="0" snapToObjects="1">
      <p:cViewPr varScale="1">
        <p:scale>
          <a:sx n="146" d="100"/>
          <a:sy n="146" d="100"/>
        </p:scale>
        <p:origin x="594" y="11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the work differs from related tools. Be precise: the novelty is the integrated workflow from source repository to service boundary recovery, graph/code analysis, evidence snippets, scoring, and remediation.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you mean by microservice, architectural anti-pattern, service boundary, or evidence-based reporting. Keep the answer short: define the term, then connect it to the implementation.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for questions such as 'how is cohesion measured?', 'what does edge weight mean?', or 'how do you avoid punishing larger codebases?'. The key answer is that raw counts are normalised when size would otherwise bias the result.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whether the score is reproducible. Emphasise that each category is capped independently, so a bad category cannot consume points from another category. Also acknowledge that weights are engineering judgement and should be calibrated on industrial data in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a specific anti-pattern means. Give the definition first, then move to Appendix E only if they ask how the tool detects it. This keeps conceptual and implementation questions separate.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'what exactly triggers detector X?'. Avoid reading the full table. Point to the detector they asked about, state the signal and threshold, then explain that thresholds are configurable and would be calibrated for production use.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Tarjan, cycles, graph construction, or why graph analysis is relevant. The concise answer is that microservice anti-patterns are often not visible inside one service; they emerge from the shape of dependencies between services.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how services are identified automatically. The core answer: the tool first finds candidate build modules, then applies a deployability gate with HIGH, MEDIUM, and LOW confidence signals.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why you did not use distributed tracing. The concise answer is: dynamic analysis is more precise for runtime behaviour, but static analysis works before deployment and gives source-level evidence.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challenges the evaluation. Do not overclaim. Say clearly that the work demonstrates feasibility over heterogeneous repositories, while labelled benchmark validation and threshold calibration are future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only.
Use this if someone asks about implementation architecture. Walk left-to-right conceptually: API creates a job, async worker analyses the workspace, engines collect metrics, detectors create findings, scoring and persistence feed the UI.</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a:spcAft>
                <a:spcPts val="200"/>
              </a:spcAft>
            </a:pPr>
            <a:r>
              <a:rPr lang="en-US" sz="1150" dirty="0">
                <a:solidFill>
                  <a:srgbClr val="DBEAFE"/>
                </a:solidFill>
                <a:latin typeface="Calibri" pitchFamily="34" charset="0"/>
                <a:ea typeface="Calibri" pitchFamily="34" charset="-122"/>
                <a:cs typeface="Calibri" pitchFamily="34" charset="-120"/>
              </a:rPr>
              <a:t>Diagnosing the Distributed: A Static Analysis Approach to Microservice Anti-Pattern Detection</a:t>
            </a:r>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a:t>
            </a:r>
            <a:r>
              <a:rPr lang="en-US" sz="1150" dirty="0" err="1">
                <a:solidFill>
                  <a:srgbClr val="DBEAFE"/>
                </a:solidFill>
                <a:latin typeface="Calibri" pitchFamily="34" charset="0"/>
                <a:ea typeface="Calibri" pitchFamily="34" charset="-122"/>
                <a:cs typeface="Calibri" pitchFamily="34" charset="-120"/>
              </a:rPr>
              <a:t>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246811" y="1856232"/>
            <a:ext cx="1301061"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658368" y="3057362"/>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t>
            </a:r>
            <a:r>
              <a:rPr lang="en-US" sz="1100" dirty="0" err="1">
                <a:solidFill>
                  <a:srgbClr val="1E293B"/>
                </a:solidFill>
                <a:latin typeface="Calibri" pitchFamily="34" charset="0"/>
                <a:ea typeface="Calibri" pitchFamily="34" charset="-122"/>
                <a:cs typeface="Calibri" pitchFamily="34" charset="-120"/>
              </a:rPr>
              <a:t>AntiPatternDetector</a:t>
            </a:r>
            <a:r>
              <a:rPr lang="en-US" sz="1100" dirty="0">
                <a:solidFill>
                  <a:srgbClr val="1E293B"/>
                </a:solidFill>
                <a:latin typeface="Calibri" pitchFamily="34" charset="0"/>
                <a:ea typeface="Calibri" pitchFamily="34" charset="-122"/>
                <a:cs typeface="Calibri" pitchFamily="34" charset="-120"/>
              </a:rPr>
              <a:t> </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20" name="Text 18"/>
          <p:cNvSpPr/>
          <p:nvPr/>
        </p:nvSpPr>
        <p:spPr>
          <a:xfrm>
            <a:off x="548640" y="2269671"/>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2580567"/>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2580567"/>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2580567"/>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2580567"/>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2580567"/>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583794"/>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3876402"/>
            <a:ext cx="8046720" cy="5486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A single number tells teams whether quality is improving = &gt; the per-category breakdown tells them which dimension needs attention</a:t>
            </a:r>
          </a:p>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Multi-level static analysis combining code smells and architectural metrics</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Ten anti-patterns, configurable thresholds, evidence-based reporting</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Composite health score with four-category decomposition and analysis diff</a:t>
            </a:r>
          </a:p>
          <a:p>
            <a:pPr marL="342900" indent="-342900">
              <a:spcAft>
                <a:spcPts val="400"/>
              </a:spcAft>
              <a:buSzPct val="100000"/>
              <a:buChar char="•"/>
            </a:pPr>
            <a:r>
              <a:rPr lang="en-US" sz="1250" dirty="0">
                <a:solidFill>
                  <a:schemeClr val="bg1"/>
                </a:solidFill>
              </a:rPr>
              <a:t>Evaluated the tool on 11 open-source systems, covering 130 services and </a:t>
            </a:r>
            <a:r>
              <a:rPr lang="en-US" sz="1250" dirty="0" err="1">
                <a:solidFill>
                  <a:schemeClr val="bg1"/>
                </a:solidFill>
              </a:rPr>
              <a:t>cca</a:t>
            </a:r>
            <a:r>
              <a:rPr lang="en-US" sz="1250" dirty="0">
                <a:solidFill>
                  <a:schemeClr val="bg1"/>
                </a:solidFill>
              </a:rPr>
              <a:t>. 274k LOC</a:t>
            </a:r>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4" name="Text 32"/>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257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r>
              <a:rPr lang="en-US" sz="2500" b="1" dirty="0">
                <a:solidFill>
                  <a:srgbClr val="0F2A44"/>
                </a:solidFill>
                <a:latin typeface="Calibri" pitchFamily="34" charset="0"/>
                <a:ea typeface="Calibri" pitchFamily="34" charset="-122"/>
                <a:cs typeface="Calibri" pitchFamily="34" charset="-120"/>
              </a:rPr>
              <a:t>Annex: microservice-recruit worked example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Appendix A</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comparison with existing tools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1143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TOOL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45920" y="1024128"/>
            <a:ext cx="16459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FOCUS</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3429000" y="1024128"/>
            <a:ext cx="242316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STRENGTH</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989320" y="1024128"/>
            <a:ext cx="26060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DIFFERENCE / LIMITATION</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 y="1298448"/>
            <a:ext cx="8046720" cy="13716"/>
          </a:xfrm>
          <a:prstGeom prst="rect">
            <a:avLst/>
          </a:prstGeom>
          <a:solidFill>
            <a:srgbClr val="D8DEE6"/>
          </a:solidFill>
          <a:ln w="12700">
            <a:solidFill>
              <a:srgbClr val="D8DEE6"/>
            </a:solidFill>
            <a:prstDash val="solid"/>
          </a:ln>
        </p:spPr>
      </p:sp>
      <p:sp>
        <p:nvSpPr>
          <p:cNvPr id="9" name="Text 7"/>
          <p:cNvSpPr/>
          <p:nvPr/>
        </p:nvSpPr>
        <p:spPr>
          <a:xfrm>
            <a:off x="548640" y="146304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Arcan</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645920" y="146304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Architectural smells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3429000" y="146304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Strong smell detection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5989320" y="146304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Not focused on evidence-based microservice workflow</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1920240"/>
            <a:ext cx="8046720" cy="7315"/>
          </a:xfrm>
          <a:prstGeom prst="rect">
            <a:avLst/>
          </a:prstGeom>
          <a:solidFill>
            <a:srgbClr val="D8DEE6"/>
          </a:solidFill>
          <a:ln w="12700">
            <a:solidFill>
              <a:srgbClr val="D8DEE6"/>
            </a:solidFill>
            <a:prstDash val="solid"/>
          </a:ln>
        </p:spPr>
      </p:sp>
      <p:sp>
        <p:nvSpPr>
          <p:cNvPr id="14" name="Text 12"/>
          <p:cNvSpPr/>
          <p:nvPr/>
        </p:nvSpPr>
        <p:spPr>
          <a:xfrm>
            <a:off x="548640" y="205740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MicroART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1645920" y="205740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 recovery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429000" y="205740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Useful system visualisation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5989320" y="205740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Requires project metadata; not a detector/reporting workflow</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548640" y="2514600"/>
            <a:ext cx="8046720" cy="7315"/>
          </a:xfrm>
          <a:prstGeom prst="rect">
            <a:avLst/>
          </a:prstGeom>
          <a:solidFill>
            <a:srgbClr val="D8DEE6"/>
          </a:solidFill>
          <a:ln w="12700">
            <a:solidFill>
              <a:srgbClr val="D8DEE6"/>
            </a:solidFill>
            <a:prstDash val="solid"/>
          </a:ln>
        </p:spPr>
      </p:sp>
      <p:sp>
        <p:nvSpPr>
          <p:cNvPr id="19" name="Text 17"/>
          <p:cNvSpPr/>
          <p:nvPr/>
        </p:nvSpPr>
        <p:spPr>
          <a:xfrm>
            <a:off x="548640" y="265176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MSANose</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645920" y="265176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Microservice smells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429000" y="265176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Microservice-specific catalogue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989320" y="265176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Less emphasis on source snippets and composite scoring</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3108960"/>
            <a:ext cx="8046720" cy="7315"/>
          </a:xfrm>
          <a:prstGeom prst="rect">
            <a:avLst/>
          </a:prstGeom>
          <a:solidFill>
            <a:srgbClr val="D8DEE6"/>
          </a:solidFill>
          <a:ln w="12700">
            <a:solidFill>
              <a:srgbClr val="D8DEE6"/>
            </a:solidFill>
            <a:prstDash val="solid"/>
          </a:ln>
        </p:spPr>
      </p:sp>
      <p:sp>
        <p:nvSpPr>
          <p:cNvPr id="24" name="Text 22"/>
          <p:cNvSpPr/>
          <p:nvPr/>
        </p:nvSpPr>
        <p:spPr>
          <a:xfrm>
            <a:off x="548640" y="324612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MARS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1645920" y="324612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 catalogue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429000" y="324612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Broad microservice anti-pattern coverage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5989320" y="324612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Different scope; not the same integrated repository-to-report pipeline</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548640" y="3703320"/>
            <a:ext cx="8046720" cy="7315"/>
          </a:xfrm>
          <a:prstGeom prst="rect">
            <a:avLst/>
          </a:prstGeom>
          <a:solidFill>
            <a:srgbClr val="D8DEE6"/>
          </a:solidFill>
          <a:ln w="12700">
            <a:solidFill>
              <a:srgbClr val="D8DEE6"/>
            </a:solidFill>
            <a:prstDash val="solid"/>
          </a:ln>
        </p:spPr>
      </p:sp>
      <p:sp>
        <p:nvSpPr>
          <p:cNvPr id="29" name="Shape 27"/>
          <p:cNvSpPr/>
          <p:nvPr/>
        </p:nvSpPr>
        <p:spPr>
          <a:xfrm>
            <a:off x="548640" y="3749040"/>
            <a:ext cx="8046720" cy="32004"/>
          </a:xfrm>
          <a:prstGeom prst="rect">
            <a:avLst/>
          </a:prstGeom>
          <a:solidFill>
            <a:srgbClr val="0D9488"/>
          </a:solidFill>
          <a:ln w="12700">
            <a:solidFill>
              <a:srgbClr val="0D9488"/>
            </a:solidFill>
            <a:prstDash val="solid"/>
          </a:ln>
        </p:spPr>
      </p:sp>
      <p:sp>
        <p:nvSpPr>
          <p:cNvPr id="30" name="Text 28"/>
          <p:cNvSpPr/>
          <p:nvPr/>
        </p:nvSpPr>
        <p:spPr>
          <a:xfrm>
            <a:off x="548640" y="3840480"/>
            <a:ext cx="114300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MSA Detector</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1645920" y="3840480"/>
            <a:ext cx="16459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Multi-level diagnosis</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3429000" y="3840480"/>
            <a:ext cx="24231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Automated boundaries, snippets, graph evidence, health score, remediation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989320" y="3840480"/>
            <a:ext cx="260604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Prototype scope: Java/Spring Boot only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48640" y="4297680"/>
            <a:ext cx="8046720" cy="7315"/>
          </a:xfrm>
          <a:prstGeom prst="rect">
            <a:avLst/>
          </a:prstGeom>
          <a:solidFill>
            <a:srgbClr val="D8DEE6"/>
          </a:solidFill>
          <a:ln w="12700">
            <a:solidFill>
              <a:srgbClr val="D8DEE6"/>
            </a:solidFill>
            <a:prstDash val="solid"/>
          </a:ln>
        </p:spPr>
      </p:sp>
      <p:sp>
        <p:nvSpPr>
          <p:cNvPr id="37" name="Text 35"/>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a:t>
            </a:r>
            <a:r>
              <a:rPr lang="en-US" sz="900" dirty="0">
                <a:solidFill>
                  <a:srgbClr val="64748B"/>
                </a:solidFill>
                <a:latin typeface="Calibri" pitchFamily="34" charset="0"/>
                <a:ea typeface="Calibri" pitchFamily="34" charset="-122"/>
                <a:cs typeface="Calibri" pitchFamily="34" charset="-120"/>
              </a:rPr>
              <a:t>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Annex: 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Appendix C</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core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11480" cy="36576"/>
          </a:xfrm>
          <a:prstGeom prst="rect">
            <a:avLst/>
          </a:prstGeom>
          <a:solidFill>
            <a:srgbClr val="0D9488"/>
          </a:solidFill>
          <a:ln w="12700">
            <a:solidFill>
              <a:srgbClr val="0D9488"/>
            </a:solidFill>
            <a:prstDash val="solid"/>
          </a:ln>
        </p:spPr>
      </p:sp>
      <p:sp>
        <p:nvSpPr>
          <p:cNvPr id="5" name="Text 3"/>
          <p:cNvSpPr/>
          <p:nvPr/>
        </p:nvSpPr>
        <p:spPr>
          <a:xfrm>
            <a:off x="54864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Microservice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small, independently deployable service organised around a business capability, communicating with other services through lightweight APIs.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2011680"/>
            <a:ext cx="3703320" cy="9144"/>
          </a:xfrm>
          <a:prstGeom prst="rect">
            <a:avLst/>
          </a:prstGeom>
          <a:solidFill>
            <a:srgbClr val="D8DEE6"/>
          </a:solidFill>
          <a:ln w="12700">
            <a:solidFill>
              <a:srgbClr val="D8DEE6"/>
            </a:solidFill>
            <a:prstDash val="solid"/>
          </a:ln>
        </p:spPr>
      </p:sp>
      <p:sp>
        <p:nvSpPr>
          <p:cNvPr id="8" name="Shape 6"/>
          <p:cNvSpPr/>
          <p:nvPr/>
        </p:nvSpPr>
        <p:spPr>
          <a:xfrm>
            <a:off x="4617720" y="1024128"/>
            <a:ext cx="411480" cy="36576"/>
          </a:xfrm>
          <a:prstGeom prst="rect">
            <a:avLst/>
          </a:prstGeom>
          <a:solidFill>
            <a:srgbClr val="1C4E80"/>
          </a:solidFill>
          <a:ln w="12700">
            <a:solidFill>
              <a:srgbClr val="1C4E80"/>
            </a:solidFill>
            <a:prstDash val="solid"/>
          </a:ln>
        </p:spPr>
      </p:sp>
      <p:sp>
        <p:nvSpPr>
          <p:cNvPr id="9" name="Text 7"/>
          <p:cNvSpPr/>
          <p:nvPr/>
        </p:nvSpPr>
        <p:spPr>
          <a:xfrm>
            <a:off x="4617720" y="1152144"/>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Architectural anti-pattern</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617720" y="1463040"/>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recurring architectural decision that appears useful locally, but creates long-term coupling, fragility, or operational cost.</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2011680"/>
            <a:ext cx="3703320" cy="9144"/>
          </a:xfrm>
          <a:prstGeom prst="rect">
            <a:avLst/>
          </a:prstGeom>
          <a:solidFill>
            <a:srgbClr val="D8DEE6"/>
          </a:solidFill>
          <a:ln w="12700">
            <a:solidFill>
              <a:srgbClr val="D8DEE6"/>
            </a:solidFill>
            <a:prstDash val="solid"/>
          </a:ln>
        </p:spPr>
      </p:sp>
      <p:sp>
        <p:nvSpPr>
          <p:cNvPr id="12" name="Shape 10"/>
          <p:cNvSpPr/>
          <p:nvPr/>
        </p:nvSpPr>
        <p:spPr>
          <a:xfrm>
            <a:off x="548640" y="2139696"/>
            <a:ext cx="411480" cy="36576"/>
          </a:xfrm>
          <a:prstGeom prst="rect">
            <a:avLst/>
          </a:prstGeom>
          <a:solidFill>
            <a:srgbClr val="0D9488"/>
          </a:solidFill>
          <a:ln w="12700">
            <a:solidFill>
              <a:srgbClr val="0D9488"/>
            </a:solidFill>
            <a:prstDash val="solid"/>
          </a:ln>
        </p:spPr>
      </p:sp>
      <p:sp>
        <p:nvSpPr>
          <p:cNvPr id="13" name="Text 11"/>
          <p:cNvSpPr/>
          <p:nvPr/>
        </p:nvSpPr>
        <p:spPr>
          <a:xfrm>
            <a:off x="54864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boundary</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deployable unit recovered from a repository: build module plus framework entry point, Dockerfile, or main method signal.</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27248"/>
            <a:ext cx="3703320" cy="9144"/>
          </a:xfrm>
          <a:prstGeom prst="rect">
            <a:avLst/>
          </a:prstGeom>
          <a:solidFill>
            <a:srgbClr val="D8DEE6"/>
          </a:solidFill>
          <a:ln w="12700">
            <a:solidFill>
              <a:srgbClr val="D8DEE6"/>
            </a:solidFill>
            <a:prstDash val="solid"/>
          </a:ln>
        </p:spPr>
      </p:sp>
      <p:sp>
        <p:nvSpPr>
          <p:cNvPr id="16" name="Shape 14"/>
          <p:cNvSpPr/>
          <p:nvPr/>
        </p:nvSpPr>
        <p:spPr>
          <a:xfrm>
            <a:off x="4617720" y="2139696"/>
            <a:ext cx="411480" cy="36576"/>
          </a:xfrm>
          <a:prstGeom prst="rect">
            <a:avLst/>
          </a:prstGeom>
          <a:solidFill>
            <a:srgbClr val="1C4E80"/>
          </a:solidFill>
          <a:ln w="12700">
            <a:solidFill>
              <a:srgbClr val="1C4E80"/>
            </a:solidFill>
            <a:prstDash val="solid"/>
          </a:ln>
        </p:spPr>
      </p:sp>
      <p:sp>
        <p:nvSpPr>
          <p:cNvPr id="17" name="Text 15"/>
          <p:cNvSpPr/>
          <p:nvPr/>
        </p:nvSpPr>
        <p:spPr>
          <a:xfrm>
            <a:off x="4617720" y="2267712"/>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Evidence-based finding</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617720" y="2578608"/>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detected issue linked to affected services, source snippets, graph evidence, severity, and remediation guidance.</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617720" y="3127248"/>
            <a:ext cx="3703320" cy="9144"/>
          </a:xfrm>
          <a:prstGeom prst="rect">
            <a:avLst/>
          </a:prstGeom>
          <a:solidFill>
            <a:srgbClr val="D8DEE6"/>
          </a:solidFill>
          <a:ln w="12700">
            <a:solidFill>
              <a:srgbClr val="D8DEE6"/>
            </a:solidFill>
            <a:prstDash val="solid"/>
          </a:ln>
        </p:spPr>
      </p:sp>
      <p:sp>
        <p:nvSpPr>
          <p:cNvPr id="20" name="Shape 18"/>
          <p:cNvSpPr/>
          <p:nvPr/>
        </p:nvSpPr>
        <p:spPr>
          <a:xfrm>
            <a:off x="548640" y="3255264"/>
            <a:ext cx="411480" cy="36576"/>
          </a:xfrm>
          <a:prstGeom prst="rect">
            <a:avLst/>
          </a:prstGeom>
          <a:solidFill>
            <a:srgbClr val="0D9488"/>
          </a:solidFill>
          <a:ln w="12700">
            <a:solidFill>
              <a:srgbClr val="0D9488"/>
            </a:solidFill>
            <a:prstDash val="solid"/>
          </a:ln>
        </p:spPr>
      </p:sp>
      <p:sp>
        <p:nvSpPr>
          <p:cNvPr id="21" name="Text 19"/>
          <p:cNvSpPr/>
          <p:nvPr/>
        </p:nvSpPr>
        <p:spPr>
          <a:xfrm>
            <a:off x="54864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Multi-level analysis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Combining intra-service code metrics and smells with inter-service dependency graph analysis.</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3703320" cy="9144"/>
          </a:xfrm>
          <a:prstGeom prst="rect">
            <a:avLst/>
          </a:prstGeom>
          <a:solidFill>
            <a:srgbClr val="D8DEE6"/>
          </a:solidFill>
          <a:ln w="12700">
            <a:solidFill>
              <a:srgbClr val="D8DEE6"/>
            </a:solidFill>
            <a:prstDash val="solid"/>
          </a:ln>
        </p:spPr>
      </p:sp>
      <p:sp>
        <p:nvSpPr>
          <p:cNvPr id="24" name="Shape 22"/>
          <p:cNvSpPr/>
          <p:nvPr/>
        </p:nvSpPr>
        <p:spPr>
          <a:xfrm>
            <a:off x="4617720" y="3255264"/>
            <a:ext cx="411480" cy="36576"/>
          </a:xfrm>
          <a:prstGeom prst="rect">
            <a:avLst/>
          </a:prstGeom>
          <a:solidFill>
            <a:srgbClr val="1C4E80"/>
          </a:solidFill>
          <a:ln w="12700">
            <a:solidFill>
              <a:srgbClr val="1C4E80"/>
            </a:solidFill>
            <a:prstDash val="solid"/>
          </a:ln>
        </p:spPr>
      </p:sp>
      <p:sp>
        <p:nvSpPr>
          <p:cNvPr id="25" name="Text 23"/>
          <p:cNvSpPr/>
          <p:nvPr/>
        </p:nvSpPr>
        <p:spPr>
          <a:xfrm>
            <a:off x="4617720" y="3383280"/>
            <a:ext cx="370332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Health score</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694176"/>
            <a:ext cx="37033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0-100 composite quality indicator decomposed into Anti-Patterns, Code Quality, Architecture, and Service Sizing.</a:t>
            </a:r>
            <a:endParaRPr kumimoji="0" lang="en-US" sz="10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42816"/>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formulas &amp; metrics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Tight Class Cohesion</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3063240" y="10241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TCC = NDC / NP</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715000" y="1005840"/>
            <a:ext cx="2880360" cy="384048"/>
          </a:xfrm>
          <a:prstGeom prst="rect">
            <a:avLst/>
          </a:prstGeom>
          <a:noFill/>
          <a:ln/>
        </p:spPr>
        <p:txBody>
          <a:bodyPr wrap="square" lIns="0" tIns="0" rIns="0" bIns="0"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NDC = directly connected method pairs; NP = all possible method pairs. Low TCC means methods operate on disjoint state.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499616"/>
            <a:ext cx="8046720" cy="9144"/>
          </a:xfrm>
          <a:prstGeom prst="rect">
            <a:avLst/>
          </a:prstGeom>
          <a:solidFill>
            <a:srgbClr val="D8DEE6"/>
          </a:solidFill>
          <a:ln w="12700">
            <a:solidFill>
              <a:srgbClr val="D8DEE6"/>
            </a:solidFill>
            <a:prstDash val="solid"/>
          </a:ln>
        </p:spPr>
      </p:sp>
      <p:sp>
        <p:nvSpPr>
          <p:cNvPr id="8" name="Text 6"/>
          <p:cNvSpPr/>
          <p:nvPr/>
        </p:nvSpPr>
        <p:spPr>
          <a:xfrm>
            <a:off x="548640" y="17099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Code smell density</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3063240" y="17099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smellDensity = smellCount / (LOC / 1000)</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715000" y="16916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Normalises DesigniteJava smell count by service size, so larger codebases are not punished only for being larger.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185416"/>
            <a:ext cx="8046720" cy="9144"/>
          </a:xfrm>
          <a:prstGeom prst="rect">
            <a:avLst/>
          </a:prstGeom>
          <a:solidFill>
            <a:srgbClr val="D8DEE6"/>
          </a:solidFill>
          <a:ln w="12700">
            <a:solidFill>
              <a:srgbClr val="D8DEE6"/>
            </a:solidFill>
            <a:prstDash val="solid"/>
          </a:ln>
        </p:spPr>
      </p:sp>
      <p:sp>
        <p:nvSpPr>
          <p:cNvPr id="12" name="Text 10"/>
          <p:cNvSpPr/>
          <p:nvPr/>
        </p:nvSpPr>
        <p:spPr>
          <a:xfrm>
            <a:off x="548640" y="23957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Graph coupling coefficient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063240" y="23957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coupling = E / (N × (N - 1))</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715000" y="23774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 = directed dependency edges; N = detected services. Higher values mean denser inter-service coupling.</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871216"/>
            <a:ext cx="8046720" cy="9144"/>
          </a:xfrm>
          <a:prstGeom prst="rect">
            <a:avLst/>
          </a:prstGeom>
          <a:solidFill>
            <a:srgbClr val="D8DEE6"/>
          </a:solidFill>
          <a:ln w="12700">
            <a:solidFill>
              <a:srgbClr val="D8DEE6"/>
            </a:solidFill>
            <a:prstDash val="solid"/>
          </a:ln>
        </p:spPr>
      </p:sp>
      <p:sp>
        <p:nvSpPr>
          <p:cNvPr id="16" name="Text 14"/>
          <p:cNvSpPr/>
          <p:nvPr/>
        </p:nvSpPr>
        <p:spPr>
          <a:xfrm>
            <a:off x="548640" y="30815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Dependency edge weight</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3063240" y="3081528"/>
            <a:ext cx="246888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weight(A, B) = distinct call sites from A to B</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715000" y="30632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Recovered from Feign clients, RestTemplate calls, and WebClient invocations in the Spoon AST.</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557016"/>
            <a:ext cx="8046720" cy="9144"/>
          </a:xfrm>
          <a:prstGeom prst="rect">
            <a:avLst/>
          </a:prstGeom>
          <a:solidFill>
            <a:srgbClr val="D8DEE6"/>
          </a:solidFill>
          <a:ln w="12700">
            <a:solidFill>
              <a:srgbClr val="D8DEE6"/>
            </a:solidFill>
            <a:prstDash val="solid"/>
          </a:ln>
        </p:spPr>
      </p:sp>
      <p:sp>
        <p:nvSpPr>
          <p:cNvPr id="20" name="Text 18"/>
          <p:cNvSpPr/>
          <p:nvPr/>
        </p:nvSpPr>
        <p:spPr>
          <a:xfrm>
            <a:off x="548640" y="3767328"/>
            <a:ext cx="242316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size ratio</a:t>
            </a:r>
            <a:endParaRPr kumimoji="0" lang="en-US" sz="11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3063240" y="3767328"/>
            <a:ext cx="2468880" cy="256032"/>
          </a:xfrm>
          <a:prstGeom prst="rect">
            <a:avLst/>
          </a:prstGeom>
          <a:noFill/>
          <a:ln/>
        </p:spPr>
        <p:txBody>
          <a:bodyPr wrap="square" lIns="0" tIns="0" rIns="0" bIns="0"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sizeRatio = LOC(service) / medianLOC(project)</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715000" y="3749040"/>
            <a:ext cx="288036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Used as supporting evidence for Nano Service and God Service-style sizing findings.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242816"/>
            <a:ext cx="8046720" cy="9144"/>
          </a:xfrm>
          <a:prstGeom prst="rect">
            <a:avLst/>
          </a:prstGeom>
          <a:solidFill>
            <a:srgbClr val="D8DEE6"/>
          </a:solidFill>
          <a:ln w="12700">
            <a:solidFill>
              <a:srgbClr val="D8DEE6"/>
            </a:solidFill>
            <a:prstDash val="solid"/>
          </a:ln>
        </p:spPr>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health score computation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Overall score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353312"/>
            <a:ext cx="8046720" cy="38404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score = AP + CQ + ARCH + SIZE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2011680"/>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TERM</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1325880" y="2011680"/>
            <a:ext cx="1828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CATEGORY</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3246120" y="2011680"/>
            <a:ext cx="77724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BUDGET</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251960" y="2011680"/>
            <a:ext cx="43434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20" b="1" i="0" u="none" strike="noStrike" kern="0" cap="none" spc="120" normalizeH="0" baseline="0" noProof="0" dirty="0">
                <a:ln>
                  <a:noFill/>
                </a:ln>
                <a:solidFill>
                  <a:srgbClr val="0F2A44"/>
                </a:solidFill>
                <a:effectLst/>
                <a:uLnTx/>
                <a:uFillTx/>
                <a:latin typeface="Calibri" pitchFamily="34" charset="0"/>
                <a:ea typeface="Calibri" pitchFamily="34" charset="-122"/>
                <a:cs typeface="Calibri" pitchFamily="34" charset="-120"/>
              </a:rPr>
              <a:t>COMPUTATION</a:t>
            </a:r>
            <a:endParaRPr kumimoji="0" lang="en-US" sz="8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548640" y="2286000"/>
            <a:ext cx="8046720" cy="13716"/>
          </a:xfrm>
          <a:prstGeom prst="rect">
            <a:avLst/>
          </a:prstGeom>
          <a:solidFill>
            <a:srgbClr val="D8DEE6"/>
          </a:solidFill>
          <a:ln w="12700">
            <a:solidFill>
              <a:srgbClr val="D8DEE6"/>
            </a:solidFill>
            <a:prstDash val="solid"/>
          </a:ln>
        </p:spPr>
      </p:sp>
      <p:sp>
        <p:nvSpPr>
          <p:cNvPr id="11" name="Text 9"/>
          <p:cNvSpPr/>
          <p:nvPr/>
        </p:nvSpPr>
        <p:spPr>
          <a:xfrm>
            <a:off x="548640" y="2441448"/>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1325880" y="2441448"/>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3246120" y="2441448"/>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40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4251960" y="2441448"/>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40 - severity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743200"/>
            <a:ext cx="8046720" cy="9144"/>
          </a:xfrm>
          <a:prstGeom prst="rect">
            <a:avLst/>
          </a:prstGeom>
          <a:solidFill>
            <a:srgbClr val="D8DEE6"/>
          </a:solidFill>
          <a:ln w="12700">
            <a:solidFill>
              <a:srgbClr val="D8DEE6"/>
            </a:solidFill>
            <a:prstDash val="solid"/>
          </a:ln>
        </p:spPr>
      </p:sp>
      <p:sp>
        <p:nvSpPr>
          <p:cNvPr id="16" name="Text 14"/>
          <p:cNvSpPr/>
          <p:nvPr/>
        </p:nvSpPr>
        <p:spPr>
          <a:xfrm>
            <a:off x="548640" y="2834640"/>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CQ</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325880" y="2834640"/>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Code Quality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246120" y="2834640"/>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20</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4251960" y="2834640"/>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20 - smell-density penalty)</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548640" y="3136392"/>
            <a:ext cx="8046720" cy="9144"/>
          </a:xfrm>
          <a:prstGeom prst="rect">
            <a:avLst/>
          </a:prstGeom>
          <a:solidFill>
            <a:srgbClr val="D8DEE6"/>
          </a:solidFill>
          <a:ln w="12700">
            <a:solidFill>
              <a:srgbClr val="D8DEE6"/>
            </a:solidFill>
            <a:prstDash val="solid"/>
          </a:ln>
        </p:spPr>
      </p:sp>
      <p:sp>
        <p:nvSpPr>
          <p:cNvPr id="21" name="Text 19"/>
          <p:cNvSpPr/>
          <p:nvPr/>
        </p:nvSpPr>
        <p:spPr>
          <a:xfrm>
            <a:off x="548640" y="3227832"/>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ARCH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1325880" y="3227832"/>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Architecture</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246120" y="3227832"/>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25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3227832"/>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25 - coupling/cycle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548640" y="3529584"/>
            <a:ext cx="8046720" cy="9144"/>
          </a:xfrm>
          <a:prstGeom prst="rect">
            <a:avLst/>
          </a:prstGeom>
          <a:solidFill>
            <a:srgbClr val="D8DEE6"/>
          </a:solidFill>
          <a:ln w="12700">
            <a:solidFill>
              <a:srgbClr val="D8DEE6"/>
            </a:solidFill>
            <a:prstDash val="solid"/>
          </a:ln>
        </p:spPr>
      </p:sp>
      <p:sp>
        <p:nvSpPr>
          <p:cNvPr id="26" name="Text 24"/>
          <p:cNvSpPr/>
          <p:nvPr/>
        </p:nvSpPr>
        <p:spPr>
          <a:xfrm>
            <a:off x="548640" y="3621024"/>
            <a:ext cx="685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SIZE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1325880" y="3621024"/>
            <a:ext cx="18288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Sizing</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246120" y="3621024"/>
            <a:ext cx="77724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15</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251960" y="3621024"/>
            <a:ext cx="4343400" cy="25603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max(0, 15 - nano/god service penalties)</a:t>
            </a:r>
            <a:endParaRPr kumimoji="0" lang="en-US" sz="9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548640" y="3922776"/>
            <a:ext cx="8046720" cy="9144"/>
          </a:xfrm>
          <a:prstGeom prst="rect">
            <a:avLst/>
          </a:prstGeom>
          <a:solidFill>
            <a:srgbClr val="D8DEE6"/>
          </a:solidFill>
          <a:ln w="12700">
            <a:solidFill>
              <a:srgbClr val="D8DEE6"/>
            </a:solidFill>
            <a:prstDash val="solid"/>
          </a:ln>
        </p:spPr>
      </p:sp>
      <p:sp>
        <p:nvSpPr>
          <p:cNvPr id="31" name="Text 29"/>
          <p:cNvSpPr/>
          <p:nvPr/>
        </p:nvSpPr>
        <p:spPr>
          <a:xfrm>
            <a:off x="548640" y="4160520"/>
            <a:ext cx="16459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Grade mapping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2011680"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359152"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90-100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182112"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529584"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80-89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52544"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4700016"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65-79</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5522976"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5870448"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50-64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693408" y="4114800"/>
            <a:ext cx="32004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7040880" y="4142232"/>
            <a:ext cx="6858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&lt; 50</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F</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anti-pattern definitions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01752" cy="32004"/>
          </a:xfrm>
          <a:prstGeom prst="rect">
            <a:avLst/>
          </a:prstGeom>
          <a:solidFill>
            <a:srgbClr val="0D9488"/>
          </a:solidFill>
          <a:ln w="12700">
            <a:solidFill>
              <a:srgbClr val="0D9488"/>
            </a:solidFill>
            <a:prstDash val="solid"/>
          </a:ln>
        </p:spPr>
      </p:sp>
      <p:sp>
        <p:nvSpPr>
          <p:cNvPr id="5" name="Text 3"/>
          <p:cNvSpPr/>
          <p:nvPr/>
        </p:nvSpPr>
        <p:spPr>
          <a:xfrm>
            <a:off x="548640" y="1106424"/>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Shared Database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548640" y="1335024"/>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Multiple services read from or write to the same database schema, weakening data ownership and independent deployment.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627632"/>
            <a:ext cx="3703320" cy="7315"/>
          </a:xfrm>
          <a:prstGeom prst="rect">
            <a:avLst/>
          </a:prstGeom>
          <a:solidFill>
            <a:srgbClr val="D8DEE6"/>
          </a:solidFill>
          <a:ln w="12700">
            <a:solidFill>
              <a:srgbClr val="D8DEE6"/>
            </a:solidFill>
            <a:prstDash val="solid"/>
          </a:ln>
        </p:spPr>
      </p:sp>
      <p:sp>
        <p:nvSpPr>
          <p:cNvPr id="8" name="Shape 6"/>
          <p:cNvSpPr/>
          <p:nvPr/>
        </p:nvSpPr>
        <p:spPr>
          <a:xfrm>
            <a:off x="548640" y="1700784"/>
            <a:ext cx="301752" cy="32004"/>
          </a:xfrm>
          <a:prstGeom prst="rect">
            <a:avLst/>
          </a:prstGeom>
          <a:solidFill>
            <a:srgbClr val="0D9488"/>
          </a:solidFill>
          <a:ln w="12700">
            <a:solidFill>
              <a:srgbClr val="0D9488"/>
            </a:solidFill>
            <a:prstDash val="solid"/>
          </a:ln>
        </p:spPr>
      </p:sp>
      <p:sp>
        <p:nvSpPr>
          <p:cNvPr id="9" name="Text 7"/>
          <p:cNvSpPr/>
          <p:nvPr/>
        </p:nvSpPr>
        <p:spPr>
          <a:xfrm>
            <a:off x="548640" y="1801368"/>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Cyclic Dependency</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8640" y="2029968"/>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Two or more services depend on each other through a directed cycle, making isolated deployment and reasoning harder.</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322576"/>
            <a:ext cx="3703320" cy="7315"/>
          </a:xfrm>
          <a:prstGeom prst="rect">
            <a:avLst/>
          </a:prstGeom>
          <a:solidFill>
            <a:srgbClr val="D8DEE6"/>
          </a:solidFill>
          <a:ln w="12700">
            <a:solidFill>
              <a:srgbClr val="D8DEE6"/>
            </a:solidFill>
            <a:prstDash val="solid"/>
          </a:ln>
        </p:spPr>
      </p:sp>
      <p:sp>
        <p:nvSpPr>
          <p:cNvPr id="12" name="Shape 10"/>
          <p:cNvSpPr/>
          <p:nvPr/>
        </p:nvSpPr>
        <p:spPr>
          <a:xfrm>
            <a:off x="548640" y="2395728"/>
            <a:ext cx="301752" cy="32004"/>
          </a:xfrm>
          <a:prstGeom prst="rect">
            <a:avLst/>
          </a:prstGeom>
          <a:solidFill>
            <a:srgbClr val="0D9488"/>
          </a:solidFill>
          <a:ln w="12700">
            <a:solidFill>
              <a:srgbClr val="0D9488"/>
            </a:solidFill>
            <a:prstDash val="solid"/>
          </a:ln>
        </p:spPr>
      </p:sp>
      <p:sp>
        <p:nvSpPr>
          <p:cNvPr id="13" name="Text 11"/>
          <p:cNvSpPr/>
          <p:nvPr/>
        </p:nvSpPr>
        <p:spPr>
          <a:xfrm>
            <a:off x="548640" y="2496312"/>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Chatty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724912"/>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Services communicate through many fine-grained remote calls, increasing latency, network fragility, and runtime coupling.</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017520"/>
            <a:ext cx="3703320" cy="7315"/>
          </a:xfrm>
          <a:prstGeom prst="rect">
            <a:avLst/>
          </a:prstGeom>
          <a:solidFill>
            <a:srgbClr val="D8DEE6"/>
          </a:solidFill>
          <a:ln w="12700">
            <a:solidFill>
              <a:srgbClr val="D8DEE6"/>
            </a:solidFill>
            <a:prstDash val="solid"/>
          </a:ln>
        </p:spPr>
      </p:sp>
      <p:sp>
        <p:nvSpPr>
          <p:cNvPr id="16" name="Shape 14"/>
          <p:cNvSpPr/>
          <p:nvPr/>
        </p:nvSpPr>
        <p:spPr>
          <a:xfrm>
            <a:off x="548640" y="3090672"/>
            <a:ext cx="301752" cy="32004"/>
          </a:xfrm>
          <a:prstGeom prst="rect">
            <a:avLst/>
          </a:prstGeom>
          <a:solidFill>
            <a:srgbClr val="0D9488"/>
          </a:solidFill>
          <a:ln w="12700">
            <a:solidFill>
              <a:srgbClr val="0D9488"/>
            </a:solidFill>
            <a:prstDash val="solid"/>
          </a:ln>
        </p:spPr>
      </p:sp>
      <p:sp>
        <p:nvSpPr>
          <p:cNvPr id="17" name="Text 15"/>
          <p:cNvSpPr/>
          <p:nvPr/>
        </p:nvSpPr>
        <p:spPr>
          <a:xfrm>
            <a:off x="548640" y="3191256"/>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Hardcoded Endpoints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419856"/>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URLs, IP addresses, ports, or localhost values are embedded in source code instead of external configuration.</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12464"/>
            <a:ext cx="3703320" cy="7315"/>
          </a:xfrm>
          <a:prstGeom prst="rect">
            <a:avLst/>
          </a:prstGeom>
          <a:solidFill>
            <a:srgbClr val="D8DEE6"/>
          </a:solidFill>
          <a:ln w="12700">
            <a:solidFill>
              <a:srgbClr val="D8DEE6"/>
            </a:solidFill>
            <a:prstDash val="solid"/>
          </a:ln>
        </p:spPr>
      </p:sp>
      <p:sp>
        <p:nvSpPr>
          <p:cNvPr id="20" name="Shape 18"/>
          <p:cNvSpPr/>
          <p:nvPr/>
        </p:nvSpPr>
        <p:spPr>
          <a:xfrm>
            <a:off x="548640" y="3785616"/>
            <a:ext cx="301752" cy="32004"/>
          </a:xfrm>
          <a:prstGeom prst="rect">
            <a:avLst/>
          </a:prstGeom>
          <a:solidFill>
            <a:srgbClr val="0D9488"/>
          </a:solidFill>
          <a:ln w="12700">
            <a:solidFill>
              <a:srgbClr val="0D9488"/>
            </a:solidFill>
            <a:prstDash val="solid"/>
          </a:ln>
        </p:spPr>
      </p:sp>
      <p:sp>
        <p:nvSpPr>
          <p:cNvPr id="21" name="Text 19"/>
          <p:cNvSpPr/>
          <p:nvPr/>
        </p:nvSpPr>
        <p:spPr>
          <a:xfrm>
            <a:off x="548640" y="3886200"/>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ESB Misuse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114800"/>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behaves as a central mediator for many calls, recreating an enterprise-service-bus bottleneck inside a microservice system.</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407408"/>
            <a:ext cx="3703320" cy="7315"/>
          </a:xfrm>
          <a:prstGeom prst="rect">
            <a:avLst/>
          </a:prstGeom>
          <a:solidFill>
            <a:srgbClr val="D8DEE6"/>
          </a:solidFill>
          <a:ln w="12700">
            <a:solidFill>
              <a:srgbClr val="D8DEE6"/>
            </a:solidFill>
            <a:prstDash val="solid"/>
          </a:ln>
        </p:spPr>
      </p:sp>
      <p:sp>
        <p:nvSpPr>
          <p:cNvPr id="24" name="Shape 22"/>
          <p:cNvSpPr/>
          <p:nvPr/>
        </p:nvSpPr>
        <p:spPr>
          <a:xfrm>
            <a:off x="4617720" y="1005840"/>
            <a:ext cx="301752" cy="32004"/>
          </a:xfrm>
          <a:prstGeom prst="rect">
            <a:avLst/>
          </a:prstGeom>
          <a:solidFill>
            <a:srgbClr val="1C4E80"/>
          </a:solidFill>
          <a:ln w="12700">
            <a:solidFill>
              <a:srgbClr val="1C4E80"/>
            </a:solidFill>
            <a:prstDash val="solid"/>
          </a:ln>
        </p:spPr>
      </p:sp>
      <p:sp>
        <p:nvSpPr>
          <p:cNvPr id="25" name="Text 23"/>
          <p:cNvSpPr/>
          <p:nvPr/>
        </p:nvSpPr>
        <p:spPr>
          <a:xfrm>
            <a:off x="4617720" y="1106424"/>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Distributed Monolith</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1335024"/>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system is split into services, but dense coupling, cycles, or shared data force it to change and deploy like one unit.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1627632"/>
            <a:ext cx="3703320" cy="7315"/>
          </a:xfrm>
          <a:prstGeom prst="rect">
            <a:avLst/>
          </a:prstGeom>
          <a:solidFill>
            <a:srgbClr val="D8DEE6"/>
          </a:solidFill>
          <a:ln w="12700">
            <a:solidFill>
              <a:srgbClr val="D8DEE6"/>
            </a:solidFill>
            <a:prstDash val="solid"/>
          </a:ln>
        </p:spPr>
      </p:sp>
      <p:sp>
        <p:nvSpPr>
          <p:cNvPr id="28" name="Shape 26"/>
          <p:cNvSpPr/>
          <p:nvPr/>
        </p:nvSpPr>
        <p:spPr>
          <a:xfrm>
            <a:off x="4617720" y="1700784"/>
            <a:ext cx="301752" cy="32004"/>
          </a:xfrm>
          <a:prstGeom prst="rect">
            <a:avLst/>
          </a:prstGeom>
          <a:solidFill>
            <a:srgbClr val="1C4E80"/>
          </a:solidFill>
          <a:ln w="12700">
            <a:solidFill>
              <a:srgbClr val="1C4E80"/>
            </a:solidFill>
            <a:prstDash val="solid"/>
          </a:ln>
        </p:spPr>
      </p:sp>
      <p:sp>
        <p:nvSpPr>
          <p:cNvPr id="29" name="Text 27"/>
          <p:cNvSpPr/>
          <p:nvPr/>
        </p:nvSpPr>
        <p:spPr>
          <a:xfrm>
            <a:off x="4617720" y="1801368"/>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API Versioning Absence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617720" y="2029968"/>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Public endpoints lack explicit version markers, making incompatible API evolution risky for existing clients.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617720" y="2322576"/>
            <a:ext cx="3703320" cy="7315"/>
          </a:xfrm>
          <a:prstGeom prst="rect">
            <a:avLst/>
          </a:prstGeom>
          <a:solidFill>
            <a:srgbClr val="D8DEE6"/>
          </a:solidFill>
          <a:ln w="12700">
            <a:solidFill>
              <a:srgbClr val="D8DEE6"/>
            </a:solidFill>
            <a:prstDash val="solid"/>
          </a:ln>
        </p:spPr>
      </p:sp>
      <p:sp>
        <p:nvSpPr>
          <p:cNvPr id="32" name="Shape 30"/>
          <p:cNvSpPr/>
          <p:nvPr/>
        </p:nvSpPr>
        <p:spPr>
          <a:xfrm>
            <a:off x="4617720" y="2395728"/>
            <a:ext cx="301752" cy="32004"/>
          </a:xfrm>
          <a:prstGeom prst="rect">
            <a:avLst/>
          </a:prstGeom>
          <a:solidFill>
            <a:srgbClr val="1C4E80"/>
          </a:solidFill>
          <a:ln w="12700">
            <a:solidFill>
              <a:srgbClr val="1C4E80"/>
            </a:solidFill>
            <a:prstDash val="solid"/>
          </a:ln>
        </p:spPr>
      </p:sp>
      <p:sp>
        <p:nvSpPr>
          <p:cNvPr id="33" name="Text 31"/>
          <p:cNvSpPr/>
          <p:nvPr/>
        </p:nvSpPr>
        <p:spPr>
          <a:xfrm>
            <a:off x="4617720" y="2496312"/>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Wrong Cuts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4617720" y="2724912"/>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Service boundaries split responsibilities poorly, visible through bidirectional dependencies or strongly coupled service pairs.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617720" y="3017520"/>
            <a:ext cx="3703320" cy="7315"/>
          </a:xfrm>
          <a:prstGeom prst="rect">
            <a:avLst/>
          </a:prstGeom>
          <a:solidFill>
            <a:srgbClr val="D8DEE6"/>
          </a:solidFill>
          <a:ln w="12700">
            <a:solidFill>
              <a:srgbClr val="D8DEE6"/>
            </a:solidFill>
            <a:prstDash val="solid"/>
          </a:ln>
        </p:spPr>
      </p:sp>
      <p:sp>
        <p:nvSpPr>
          <p:cNvPr id="36" name="Shape 34"/>
          <p:cNvSpPr/>
          <p:nvPr/>
        </p:nvSpPr>
        <p:spPr>
          <a:xfrm>
            <a:off x="4617720" y="3090672"/>
            <a:ext cx="301752" cy="32004"/>
          </a:xfrm>
          <a:prstGeom prst="rect">
            <a:avLst/>
          </a:prstGeom>
          <a:solidFill>
            <a:srgbClr val="1C4E80"/>
          </a:solidFill>
          <a:ln w="12700">
            <a:solidFill>
              <a:srgbClr val="1C4E80"/>
            </a:solidFill>
            <a:prstDash val="solid"/>
          </a:ln>
        </p:spPr>
      </p:sp>
      <p:sp>
        <p:nvSpPr>
          <p:cNvPr id="37" name="Text 35"/>
          <p:cNvSpPr/>
          <p:nvPr/>
        </p:nvSpPr>
        <p:spPr>
          <a:xfrm>
            <a:off x="4617720" y="3191256"/>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Nano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4617720" y="3419856"/>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is so small that deployment, monitoring, and operational overhead outweigh its autonomy benefits.</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617720" y="3712464"/>
            <a:ext cx="3703320" cy="7315"/>
          </a:xfrm>
          <a:prstGeom prst="rect">
            <a:avLst/>
          </a:prstGeom>
          <a:solidFill>
            <a:srgbClr val="D8DEE6"/>
          </a:solidFill>
          <a:ln w="12700">
            <a:solidFill>
              <a:srgbClr val="D8DEE6"/>
            </a:solidFill>
            <a:prstDash val="solid"/>
          </a:ln>
        </p:spPr>
      </p:sp>
      <p:sp>
        <p:nvSpPr>
          <p:cNvPr id="40" name="Shape 38"/>
          <p:cNvSpPr/>
          <p:nvPr/>
        </p:nvSpPr>
        <p:spPr>
          <a:xfrm>
            <a:off x="4617720" y="3785616"/>
            <a:ext cx="301752" cy="32004"/>
          </a:xfrm>
          <a:prstGeom prst="rect">
            <a:avLst/>
          </a:prstGeom>
          <a:solidFill>
            <a:srgbClr val="1C4E80"/>
          </a:solidFill>
          <a:ln w="12700">
            <a:solidFill>
              <a:srgbClr val="1C4E80"/>
            </a:solidFill>
            <a:prstDash val="solid"/>
          </a:ln>
        </p:spPr>
      </p:sp>
      <p:sp>
        <p:nvSpPr>
          <p:cNvPr id="41" name="Text 39"/>
          <p:cNvSpPr/>
          <p:nvPr/>
        </p:nvSpPr>
        <p:spPr>
          <a:xfrm>
            <a:off x="4617720" y="3886200"/>
            <a:ext cx="370332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God Service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617720" y="4114800"/>
            <a:ext cx="370332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service concentrates too many responsibilities, often evidenced by very large or low-cohesion classes inside it.</a:t>
            </a:r>
            <a:endParaRPr kumimoji="0" lang="en-US" sz="8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4617720" y="4407408"/>
            <a:ext cx="3703320" cy="7315"/>
          </a:xfrm>
          <a:prstGeom prst="rect">
            <a:avLst/>
          </a:prstGeom>
          <a:solidFill>
            <a:srgbClr val="D8DEE6"/>
          </a:solidFill>
          <a:ln w="12700">
            <a:solidFill>
              <a:srgbClr val="D8DEE6"/>
            </a:solidFill>
            <a:prstDash val="solid"/>
          </a:ln>
        </p:spPr>
      </p:sp>
      <p:sp>
        <p:nvSpPr>
          <p:cNvPr id="46" name="Text 4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detector thresholds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123444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DETECTOR</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691640" y="1005840"/>
            <a:ext cx="2423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SIGNAL</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251960" y="1005840"/>
            <a:ext cx="13258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THRESHOLD</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715000" y="1005840"/>
            <a:ext cx="6858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SEVERITY</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6537960" y="100584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80" b="1" i="0" u="none" strike="noStrike" kern="0" cap="none" spc="110" normalizeH="0" baseline="0" noProof="0" dirty="0">
                <a:ln>
                  <a:noFill/>
                </a:ln>
                <a:solidFill>
                  <a:srgbClr val="0F2A44"/>
                </a:solidFill>
                <a:effectLst/>
                <a:uLnTx/>
                <a:uFillTx/>
                <a:latin typeface="Calibri" pitchFamily="34" charset="0"/>
                <a:ea typeface="Calibri" pitchFamily="34" charset="-122"/>
                <a:cs typeface="Calibri" pitchFamily="34" charset="-120"/>
              </a:rPr>
              <a:t>RATIONALE</a:t>
            </a:r>
            <a:endParaRPr kumimoji="0" lang="en-US" sz="7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1298448"/>
            <a:ext cx="8046720" cy="13716"/>
          </a:xfrm>
          <a:prstGeom prst="rect">
            <a:avLst/>
          </a:prstGeom>
          <a:solidFill>
            <a:srgbClr val="D8DEE6"/>
          </a:solidFill>
          <a:ln w="12700">
            <a:solidFill>
              <a:srgbClr val="D8DEE6"/>
            </a:solidFill>
            <a:prstDash val="solid"/>
          </a:ln>
        </p:spPr>
      </p:sp>
      <p:sp>
        <p:nvSpPr>
          <p:cNvPr id="10" name="Text 8"/>
          <p:cNvSpPr/>
          <p:nvPr/>
        </p:nvSpPr>
        <p:spPr>
          <a:xfrm>
            <a:off x="548640" y="140817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Shared DB</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691640" y="140817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same datasource URL in &gt;1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4251960" y="140817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&gt;1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5715000" y="140817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537960" y="140817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lost data ownership</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1655064"/>
            <a:ext cx="8046720" cy="7315"/>
          </a:xfrm>
          <a:prstGeom prst="rect">
            <a:avLst/>
          </a:prstGeom>
          <a:solidFill>
            <a:srgbClr val="D8DEE6"/>
          </a:solidFill>
          <a:ln w="12700">
            <a:solidFill>
              <a:srgbClr val="D8DEE6"/>
            </a:solidFill>
            <a:prstDash val="solid"/>
          </a:ln>
        </p:spPr>
      </p:sp>
      <p:sp>
        <p:nvSpPr>
          <p:cNvPr id="16" name="Text 14"/>
          <p:cNvSpPr/>
          <p:nvPr/>
        </p:nvSpPr>
        <p:spPr>
          <a:xfrm>
            <a:off x="548640" y="171907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Cyclic Dep.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691640" y="171907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Tarjan SCC in service graph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4251960" y="171907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SCC size &gt;1</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715000" y="171907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6537960" y="171907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deployability blocked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1965960"/>
            <a:ext cx="8046720" cy="7315"/>
          </a:xfrm>
          <a:prstGeom prst="rect">
            <a:avLst/>
          </a:prstGeom>
          <a:solidFill>
            <a:srgbClr val="D8DEE6"/>
          </a:solidFill>
          <a:ln w="12700">
            <a:solidFill>
              <a:srgbClr val="D8DEE6"/>
            </a:solidFill>
            <a:prstDash val="solid"/>
          </a:ln>
        </p:spPr>
      </p:sp>
      <p:sp>
        <p:nvSpPr>
          <p:cNvPr id="22" name="Text 20"/>
          <p:cNvSpPr/>
          <p:nvPr/>
        </p:nvSpPr>
        <p:spPr>
          <a:xfrm>
            <a:off x="548640" y="202996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Chatty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1691640" y="202996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edge call volume or wide Feign client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251960" y="202996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&gt;=5 calls/methods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715000" y="202996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537960" y="202996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runtime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548640" y="2276856"/>
            <a:ext cx="8046720" cy="7315"/>
          </a:xfrm>
          <a:prstGeom prst="rect">
            <a:avLst/>
          </a:prstGeom>
          <a:solidFill>
            <a:srgbClr val="D8DEE6"/>
          </a:solidFill>
          <a:ln w="12700">
            <a:solidFill>
              <a:srgbClr val="D8DEE6"/>
            </a:solidFill>
            <a:prstDash val="solid"/>
          </a:ln>
        </p:spPr>
      </p:sp>
      <p:sp>
        <p:nvSpPr>
          <p:cNvPr id="28" name="Text 26"/>
          <p:cNvSpPr/>
          <p:nvPr/>
        </p:nvSpPr>
        <p:spPr>
          <a:xfrm>
            <a:off x="548640" y="234086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Hardcoded EP</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691640" y="234086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literal URL/IP/localhost in Java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251960" y="234086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regex match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15000" y="234086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6537960" y="234086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environment lock-in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48640" y="2587752"/>
            <a:ext cx="8046720" cy="7315"/>
          </a:xfrm>
          <a:prstGeom prst="rect">
            <a:avLst/>
          </a:prstGeom>
          <a:solidFill>
            <a:srgbClr val="D8DEE6"/>
          </a:solidFill>
          <a:ln w="12700">
            <a:solidFill>
              <a:srgbClr val="D8DEE6"/>
            </a:solidFill>
            <a:prstDash val="solid"/>
          </a:ln>
        </p:spPr>
      </p:sp>
      <p:sp>
        <p:nvSpPr>
          <p:cNvPr id="34" name="Text 32"/>
          <p:cNvSpPr/>
          <p:nvPr/>
        </p:nvSpPr>
        <p:spPr>
          <a:xfrm>
            <a:off x="548640" y="265176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ESB Misuse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1691640" y="265176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mediator-like caller/callee ratio</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251960" y="265176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volume ratio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715000" y="265176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537960" y="265176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central bottleneck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548640" y="2898648"/>
            <a:ext cx="8046720" cy="7315"/>
          </a:xfrm>
          <a:prstGeom prst="rect">
            <a:avLst/>
          </a:prstGeom>
          <a:solidFill>
            <a:srgbClr val="D8DEE6"/>
          </a:solidFill>
          <a:ln w="12700">
            <a:solidFill>
              <a:srgbClr val="D8DEE6"/>
            </a:solidFill>
            <a:prstDash val="solid"/>
          </a:ln>
        </p:spPr>
      </p:sp>
      <p:sp>
        <p:nvSpPr>
          <p:cNvPr id="40" name="Text 38"/>
          <p:cNvSpPr/>
          <p:nvPr/>
        </p:nvSpPr>
        <p:spPr>
          <a:xfrm>
            <a:off x="548640" y="2962656"/>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Distributed Mono.</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691640" y="2962656"/>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high graph density + shared data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4251960" y="2962656"/>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composite rule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5715000" y="2962656"/>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C2626"/>
                </a:solidFill>
                <a:effectLst/>
                <a:uLnTx/>
                <a:uFillTx/>
                <a:latin typeface="Calibri" pitchFamily="34" charset="0"/>
                <a:ea typeface="Calibri" pitchFamily="34" charset="-122"/>
                <a:cs typeface="Calibri" pitchFamily="34" charset="-120"/>
              </a:rPr>
              <a:t>Crit.</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537960" y="2962656"/>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system-wide coupling</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548640" y="3209544"/>
            <a:ext cx="8046720" cy="7315"/>
          </a:xfrm>
          <a:prstGeom prst="rect">
            <a:avLst/>
          </a:prstGeom>
          <a:solidFill>
            <a:srgbClr val="D8DEE6"/>
          </a:solidFill>
          <a:ln w="12700">
            <a:solidFill>
              <a:srgbClr val="D8DEE6"/>
            </a:solidFill>
            <a:prstDash val="solid"/>
          </a:ln>
        </p:spPr>
      </p:sp>
      <p:sp>
        <p:nvSpPr>
          <p:cNvPr id="46" name="Text 44"/>
          <p:cNvSpPr/>
          <p:nvPr/>
        </p:nvSpPr>
        <p:spPr>
          <a:xfrm>
            <a:off x="548640" y="3273552"/>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API Versioning</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1691640" y="3273552"/>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endpoint path lacks /vN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4251960" y="3273552"/>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version token</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7"/>
          <p:cNvSpPr/>
          <p:nvPr/>
        </p:nvSpPr>
        <p:spPr>
          <a:xfrm>
            <a:off x="5715000" y="3273552"/>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537960" y="3273552"/>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client breakage risk</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548640" y="3520440"/>
            <a:ext cx="8046720" cy="7315"/>
          </a:xfrm>
          <a:prstGeom prst="rect">
            <a:avLst/>
          </a:prstGeom>
          <a:solidFill>
            <a:srgbClr val="D8DEE6"/>
          </a:solidFill>
          <a:ln w="12700">
            <a:solidFill>
              <a:srgbClr val="D8DEE6"/>
            </a:solidFill>
            <a:prstDash val="solid"/>
          </a:ln>
        </p:spPr>
      </p:sp>
      <p:sp>
        <p:nvSpPr>
          <p:cNvPr id="52" name="Text 50"/>
          <p:cNvSpPr/>
          <p:nvPr/>
        </p:nvSpPr>
        <p:spPr>
          <a:xfrm>
            <a:off x="548640" y="3584448"/>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Wrong Cuts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Text 51"/>
          <p:cNvSpPr/>
          <p:nvPr/>
        </p:nvSpPr>
        <p:spPr>
          <a:xfrm>
            <a:off x="1691640" y="3584448"/>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bidirectional service pair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Text 52"/>
          <p:cNvSpPr/>
          <p:nvPr/>
        </p:nvSpPr>
        <p:spPr>
          <a:xfrm>
            <a:off x="4251960" y="3584448"/>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A-&gt;B and B-&gt;A</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Text 53"/>
          <p:cNvSpPr/>
          <p:nvPr/>
        </p:nvSpPr>
        <p:spPr>
          <a:xfrm>
            <a:off x="5715000" y="3584448"/>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6537960" y="3584448"/>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poor boundaries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5"/>
          <p:cNvSpPr/>
          <p:nvPr/>
        </p:nvSpPr>
        <p:spPr>
          <a:xfrm>
            <a:off x="548640" y="3831336"/>
            <a:ext cx="8046720" cy="7315"/>
          </a:xfrm>
          <a:prstGeom prst="rect">
            <a:avLst/>
          </a:prstGeom>
          <a:solidFill>
            <a:srgbClr val="D8DEE6"/>
          </a:solidFill>
          <a:ln w="12700">
            <a:solidFill>
              <a:srgbClr val="D8DEE6"/>
            </a:solidFill>
            <a:prstDash val="solid"/>
          </a:ln>
        </p:spPr>
      </p:sp>
      <p:sp>
        <p:nvSpPr>
          <p:cNvPr id="58" name="Text 56"/>
          <p:cNvSpPr/>
          <p:nvPr/>
        </p:nvSpPr>
        <p:spPr>
          <a:xfrm>
            <a:off x="548640" y="3895344"/>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Nano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7"/>
          <p:cNvSpPr/>
          <p:nvPr/>
        </p:nvSpPr>
        <p:spPr>
          <a:xfrm>
            <a:off x="1691640" y="3895344"/>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very small deployable service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4251960" y="3895344"/>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LOC below floor</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5715000" y="3895344"/>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1C4E80"/>
                </a:solidFill>
                <a:effectLst/>
                <a:uLnTx/>
                <a:uFillTx/>
                <a:latin typeface="Calibri" pitchFamily="34" charset="0"/>
                <a:ea typeface="Calibri" pitchFamily="34" charset="-122"/>
                <a:cs typeface="Calibri" pitchFamily="34" charset="-120"/>
              </a:rPr>
              <a:t>Med.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6537960" y="3895344"/>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operational overhead</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1"/>
          <p:cNvSpPr/>
          <p:nvPr/>
        </p:nvSpPr>
        <p:spPr>
          <a:xfrm>
            <a:off x="548640" y="4142232"/>
            <a:ext cx="8046720" cy="7315"/>
          </a:xfrm>
          <a:prstGeom prst="rect">
            <a:avLst/>
          </a:prstGeom>
          <a:solidFill>
            <a:srgbClr val="D8DEE6"/>
          </a:solidFill>
          <a:ln w="12700">
            <a:solidFill>
              <a:srgbClr val="D8DEE6"/>
            </a:solidFill>
            <a:prstDash val="solid"/>
          </a:ln>
        </p:spPr>
      </p:sp>
      <p:sp>
        <p:nvSpPr>
          <p:cNvPr id="64" name="Text 62"/>
          <p:cNvSpPr/>
          <p:nvPr/>
        </p:nvSpPr>
        <p:spPr>
          <a:xfrm>
            <a:off x="548640" y="4206240"/>
            <a:ext cx="123444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70" b="1"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God Service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Text 63"/>
          <p:cNvSpPr/>
          <p:nvPr/>
        </p:nvSpPr>
        <p:spPr>
          <a:xfrm>
            <a:off x="1691640" y="4206240"/>
            <a:ext cx="242316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contains God Class evidence</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6" name="Text 64"/>
          <p:cNvSpPr/>
          <p:nvPr/>
        </p:nvSpPr>
        <p:spPr>
          <a:xfrm>
            <a:off x="4251960" y="4206240"/>
            <a:ext cx="132588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&gt;=3 of 6 metrics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5715000" y="4206240"/>
            <a:ext cx="6858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High</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6537960" y="4206240"/>
            <a:ext cx="2057400" cy="21945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7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too many responsibilities</a:t>
            </a:r>
            <a:endParaRPr kumimoji="0" lang="en-US" sz="7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48640" y="4453128"/>
            <a:ext cx="8046720" cy="7315"/>
          </a:xfrm>
          <a:prstGeom prst="rect">
            <a:avLst/>
          </a:prstGeom>
          <a:solidFill>
            <a:srgbClr val="D8DEE6"/>
          </a:solidFill>
          <a:ln w="12700">
            <a:solidFill>
              <a:srgbClr val="D8DEE6"/>
            </a:solidFill>
            <a:prstDash val="solid"/>
          </a:ln>
        </p:spPr>
      </p:sp>
      <p:sp>
        <p:nvSpPr>
          <p:cNvPr id="72" name="Text 7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graph analysis terms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Directed dependency graph</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 = (V, E), where V is the set of detected services and E contains directed calls between services.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48640" y="1737360"/>
            <a:ext cx="3703320" cy="9144"/>
          </a:xfrm>
          <a:prstGeom prst="rect">
            <a:avLst/>
          </a:prstGeom>
          <a:solidFill>
            <a:srgbClr val="D8DEE6"/>
          </a:solidFill>
          <a:ln w="12700">
            <a:solidFill>
              <a:srgbClr val="D8DEE6"/>
            </a:solidFill>
            <a:prstDash val="solid"/>
          </a:ln>
        </p:spPr>
      </p:sp>
      <p:sp>
        <p:nvSpPr>
          <p:cNvPr id="7" name="Text 5"/>
          <p:cNvSpPr/>
          <p:nvPr/>
        </p:nvSpPr>
        <p:spPr>
          <a:xfrm>
            <a:off x="54864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Edge weight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54864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number of distinct source-level call sites from one service to another.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548640" y="2578608"/>
            <a:ext cx="3703320" cy="9144"/>
          </a:xfrm>
          <a:prstGeom prst="rect">
            <a:avLst/>
          </a:prstGeom>
          <a:solidFill>
            <a:srgbClr val="D8DEE6"/>
          </a:solidFill>
          <a:ln w="12700">
            <a:solidFill>
              <a:srgbClr val="D8DEE6"/>
            </a:solidFill>
            <a:prstDash val="solid"/>
          </a:ln>
        </p:spPr>
      </p:sp>
      <p:sp>
        <p:nvSpPr>
          <p:cNvPr id="10" name="Text 8"/>
          <p:cNvSpPr/>
          <p:nvPr/>
        </p:nvSpPr>
        <p:spPr>
          <a:xfrm>
            <a:off x="54864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Strongly connected component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maximal service set where each service can reach every other service through directed paths.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548640" y="3419856"/>
            <a:ext cx="3703320" cy="9144"/>
          </a:xfrm>
          <a:prstGeom prst="rect">
            <a:avLst/>
          </a:prstGeom>
          <a:solidFill>
            <a:srgbClr val="D8DEE6"/>
          </a:solidFill>
          <a:ln w="12700">
            <a:solidFill>
              <a:srgbClr val="D8DEE6"/>
            </a:solidFill>
            <a:prstDash val="solid"/>
          </a:ln>
        </p:spPr>
      </p:sp>
      <p:sp>
        <p:nvSpPr>
          <p:cNvPr id="13" name="Text 11"/>
          <p:cNvSpPr/>
          <p:nvPr/>
        </p:nvSpPr>
        <p:spPr>
          <a:xfrm>
            <a:off x="54864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Cycle</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 SCC with more than one service; used as evidence for Cyclic Dependency.</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4261104"/>
            <a:ext cx="3703320" cy="9144"/>
          </a:xfrm>
          <a:prstGeom prst="rect">
            <a:avLst/>
          </a:prstGeom>
          <a:solidFill>
            <a:srgbClr val="D8DEE6"/>
          </a:solidFill>
          <a:ln w="12700">
            <a:solidFill>
              <a:srgbClr val="D8DEE6"/>
            </a:solidFill>
            <a:prstDash val="solid"/>
          </a:ln>
        </p:spPr>
      </p:sp>
      <p:sp>
        <p:nvSpPr>
          <p:cNvPr id="16" name="Text 14"/>
          <p:cNvSpPr/>
          <p:nvPr/>
        </p:nvSpPr>
        <p:spPr>
          <a:xfrm>
            <a:off x="4617720" y="1024128"/>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Fan-in / fan-out</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4617720" y="1280160"/>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Incoming and outgoing service dependency counts; useful for spotting central services and mediator behaviour.</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617720" y="1737360"/>
            <a:ext cx="3703320" cy="9144"/>
          </a:xfrm>
          <a:prstGeom prst="rect">
            <a:avLst/>
          </a:prstGeom>
          <a:solidFill>
            <a:srgbClr val="D8DEE6"/>
          </a:solidFill>
          <a:ln w="12700">
            <a:solidFill>
              <a:srgbClr val="D8DEE6"/>
            </a:solidFill>
            <a:prstDash val="solid"/>
          </a:ln>
        </p:spPr>
      </p:sp>
      <p:sp>
        <p:nvSpPr>
          <p:cNvPr id="19" name="Text 17"/>
          <p:cNvSpPr/>
          <p:nvPr/>
        </p:nvSpPr>
        <p:spPr>
          <a:xfrm>
            <a:off x="4617720" y="1865376"/>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Bidirectional dependency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617720" y="2121408"/>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 pair A-&gt;B and B-&gt;A; used as evidence for Wrong Cuts and poor service boundaries.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2578608"/>
            <a:ext cx="3703320" cy="9144"/>
          </a:xfrm>
          <a:prstGeom prst="rect">
            <a:avLst/>
          </a:prstGeom>
          <a:solidFill>
            <a:srgbClr val="D8DEE6"/>
          </a:solidFill>
          <a:ln w="12700">
            <a:solidFill>
              <a:srgbClr val="D8DEE6"/>
            </a:solidFill>
            <a:prstDash val="solid"/>
          </a:ln>
        </p:spPr>
      </p:sp>
      <p:sp>
        <p:nvSpPr>
          <p:cNvPr id="22" name="Text 20"/>
          <p:cNvSpPr/>
          <p:nvPr/>
        </p:nvSpPr>
        <p:spPr>
          <a:xfrm>
            <a:off x="4617720" y="2706624"/>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Connected ratio</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17720" y="2962656"/>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Fraction of services participating in dependencies; used as part of Distributed Monolith evidence.</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17720" y="3419856"/>
            <a:ext cx="3703320" cy="9144"/>
          </a:xfrm>
          <a:prstGeom prst="rect">
            <a:avLst/>
          </a:prstGeom>
          <a:solidFill>
            <a:srgbClr val="D8DEE6"/>
          </a:solidFill>
          <a:ln w="12700">
            <a:solidFill>
              <a:srgbClr val="D8DEE6"/>
            </a:solidFill>
            <a:prstDash val="solid"/>
          </a:ln>
        </p:spPr>
      </p:sp>
      <p:sp>
        <p:nvSpPr>
          <p:cNvPr id="25" name="Text 23"/>
          <p:cNvSpPr/>
          <p:nvPr/>
        </p:nvSpPr>
        <p:spPr>
          <a:xfrm>
            <a:off x="4617720" y="3547872"/>
            <a:ext cx="37033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7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Betweenness centrality</a:t>
            </a:r>
            <a:endParaRPr kumimoji="0" lang="en-US" sz="10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17720" y="3803904"/>
            <a:ext cx="3703320" cy="38404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How often a service lies on shortest paths between other services; useful for identifying broker-like nodes.</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4261104"/>
            <a:ext cx="3703320" cy="9144"/>
          </a:xfrm>
          <a:prstGeom prst="rect">
            <a:avLst/>
          </a:prstGeom>
          <a:solidFill>
            <a:srgbClr val="D8DEE6"/>
          </a:solidFill>
          <a:ln w="12700">
            <a:solidFill>
              <a:srgbClr val="D8DEE6"/>
            </a:solidFill>
            <a:prstDash val="solid"/>
          </a:ln>
        </p:spPr>
      </p:sp>
      <p:sp>
        <p:nvSpPr>
          <p:cNvPr id="30" name="Text 28"/>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J</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service boundary detection</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7490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Candidate modules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713232" y="1371600"/>
            <a:ext cx="3657600" cy="105156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Scan repository for Maven/Gradle build files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Exclude aggregators, generated modules, examples, docs, and tests</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Keep modules with at least one deployability signal</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617720" y="987552"/>
            <a:ext cx="3977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Deployability gate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617720" y="1399032"/>
            <a:ext cx="347472" cy="36576"/>
          </a:xfrm>
          <a:prstGeom prst="rect">
            <a:avLst/>
          </a:prstGeom>
          <a:solidFill>
            <a:srgbClr val="059669"/>
          </a:solidFill>
          <a:ln w="12700">
            <a:solidFill>
              <a:srgbClr val="059669"/>
            </a:solidFill>
            <a:prstDash val="solid"/>
          </a:ln>
        </p:spPr>
      </p:sp>
      <p:sp>
        <p:nvSpPr>
          <p:cNvPr id="8" name="Text 6"/>
          <p:cNvSpPr/>
          <p:nvPr/>
        </p:nvSpPr>
        <p:spPr>
          <a:xfrm>
            <a:off x="4617720" y="1517904"/>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059669"/>
                </a:solidFill>
                <a:effectLst/>
                <a:uLnTx/>
                <a:uFillTx/>
                <a:latin typeface="Calibri" pitchFamily="34" charset="0"/>
                <a:ea typeface="Calibri" pitchFamily="34" charset="-122"/>
                <a:cs typeface="Calibri" pitchFamily="34" charset="-120"/>
              </a:rPr>
              <a:t>HIGH</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5440680" y="1371600"/>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Spring Boot entry point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40680" y="1618488"/>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@SpringBootApplication / framework annotation</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617720" y="1938528"/>
            <a:ext cx="3977640" cy="9144"/>
          </a:xfrm>
          <a:prstGeom prst="rect">
            <a:avLst/>
          </a:prstGeom>
          <a:solidFill>
            <a:srgbClr val="D8DEE6"/>
          </a:solidFill>
          <a:ln w="12700">
            <a:solidFill>
              <a:srgbClr val="D8DEE6"/>
            </a:solidFill>
            <a:prstDash val="solid"/>
          </a:ln>
        </p:spPr>
      </p:sp>
      <p:sp>
        <p:nvSpPr>
          <p:cNvPr id="12" name="Shape 10"/>
          <p:cNvSpPr/>
          <p:nvPr/>
        </p:nvSpPr>
        <p:spPr>
          <a:xfrm>
            <a:off x="4617720" y="2057400"/>
            <a:ext cx="347472" cy="36576"/>
          </a:xfrm>
          <a:prstGeom prst="rect">
            <a:avLst/>
          </a:prstGeom>
          <a:solidFill>
            <a:srgbClr val="0D9488"/>
          </a:solidFill>
          <a:ln w="12700">
            <a:solidFill>
              <a:srgbClr val="0D9488"/>
            </a:solidFill>
            <a:prstDash val="solid"/>
          </a:ln>
        </p:spPr>
      </p:sp>
      <p:sp>
        <p:nvSpPr>
          <p:cNvPr id="13" name="Text 11"/>
          <p:cNvSpPr/>
          <p:nvPr/>
        </p:nvSpPr>
        <p:spPr>
          <a:xfrm>
            <a:off x="4617720" y="2176272"/>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MEDIUM</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440680" y="2029968"/>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Dockerfile</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440680" y="2276856"/>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Module has its own deployment container</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617720" y="2596896"/>
            <a:ext cx="3977640" cy="9144"/>
          </a:xfrm>
          <a:prstGeom prst="rect">
            <a:avLst/>
          </a:prstGeom>
          <a:solidFill>
            <a:srgbClr val="D8DEE6"/>
          </a:solidFill>
          <a:ln w="12700">
            <a:solidFill>
              <a:srgbClr val="D8DEE6"/>
            </a:solidFill>
            <a:prstDash val="solid"/>
          </a:ln>
        </p:spPr>
      </p:sp>
      <p:sp>
        <p:nvSpPr>
          <p:cNvPr id="17" name="Shape 15"/>
          <p:cNvSpPr/>
          <p:nvPr/>
        </p:nvSpPr>
        <p:spPr>
          <a:xfrm>
            <a:off x="4617720" y="2715768"/>
            <a:ext cx="347472" cy="36576"/>
          </a:xfrm>
          <a:prstGeom prst="rect">
            <a:avLst/>
          </a:prstGeom>
          <a:solidFill>
            <a:srgbClr val="D97706"/>
          </a:solidFill>
          <a:ln w="12700">
            <a:solidFill>
              <a:srgbClr val="D97706"/>
            </a:solidFill>
            <a:prstDash val="solid"/>
          </a:ln>
        </p:spPr>
      </p:sp>
      <p:sp>
        <p:nvSpPr>
          <p:cNvPr id="18" name="Text 16"/>
          <p:cNvSpPr/>
          <p:nvPr/>
        </p:nvSpPr>
        <p:spPr>
          <a:xfrm>
            <a:off x="4617720" y="2834640"/>
            <a:ext cx="73152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80" b="1" i="0" u="none" strike="noStrike" kern="1200" cap="none" spc="0" normalizeH="0" baseline="0" noProof="0" dirty="0">
                <a:ln>
                  <a:noFill/>
                </a:ln>
                <a:solidFill>
                  <a:srgbClr val="D97706"/>
                </a:solidFill>
                <a:effectLst/>
                <a:uLnTx/>
                <a:uFillTx/>
                <a:latin typeface="Calibri" pitchFamily="34" charset="0"/>
                <a:ea typeface="Calibri" pitchFamily="34" charset="-122"/>
                <a:cs typeface="Calibri" pitchFamily="34" charset="-120"/>
              </a:rPr>
              <a:t>LOW</a:t>
            </a:r>
            <a:endParaRPr kumimoji="0" lang="en-US" sz="8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5440680" y="2688336"/>
            <a:ext cx="31546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main() method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5440680" y="2935224"/>
            <a:ext cx="3154680" cy="29260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9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Executable Java entry point without stronger framework signal</a:t>
            </a:r>
            <a:endParaRPr kumimoji="0" lang="en-US" sz="8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617720" y="3255264"/>
            <a:ext cx="3977640" cy="9144"/>
          </a:xfrm>
          <a:prstGeom prst="rect">
            <a:avLst/>
          </a:prstGeom>
          <a:solidFill>
            <a:srgbClr val="D8DEE6"/>
          </a:solidFill>
          <a:ln w="12700">
            <a:solidFill>
              <a:srgbClr val="D8DEE6"/>
            </a:solidFill>
            <a:prstDash val="solid"/>
          </a:ln>
        </p:spPr>
      </p:sp>
      <p:sp>
        <p:nvSpPr>
          <p:cNvPr id="22" name="Shape 20"/>
          <p:cNvSpPr/>
          <p:nvPr/>
        </p:nvSpPr>
        <p:spPr>
          <a:xfrm>
            <a:off x="548640" y="3401568"/>
            <a:ext cx="457200" cy="36576"/>
          </a:xfrm>
          <a:prstGeom prst="rect">
            <a:avLst/>
          </a:prstGeom>
          <a:solidFill>
            <a:srgbClr val="0D9488"/>
          </a:solidFill>
          <a:ln w="12700">
            <a:solidFill>
              <a:srgbClr val="0D9488"/>
            </a:solidFill>
            <a:prstDash val="solid"/>
          </a:ln>
        </p:spPr>
      </p:sp>
      <p:sp>
        <p:nvSpPr>
          <p:cNvPr id="23" name="Text 21"/>
          <p:cNvSpPr/>
          <p:nvPr/>
        </p:nvSpPr>
        <p:spPr>
          <a:xfrm>
            <a:off x="548640" y="3511296"/>
            <a:ext cx="8046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Why this matters</a:t>
            </a:r>
            <a:endParaRPr kumimoji="0" lang="en-US" sz="12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48640" y="3822192"/>
            <a:ext cx="8046720" cy="5669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tool does not require a manually supplied service list. It recovers likely deployable services from source structure, then attaches a confidence level so uncertain boundaries can be inspected instead of hidden.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static vs dynamic analysis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24128"/>
            <a:ext cx="457200" cy="36576"/>
          </a:xfrm>
          <a:prstGeom prst="rect">
            <a:avLst/>
          </a:prstGeom>
          <a:solidFill>
            <a:srgbClr val="0D9488"/>
          </a:solidFill>
          <a:ln w="12700">
            <a:solidFill>
              <a:srgbClr val="0D9488"/>
            </a:solidFill>
            <a:prstDash val="solid"/>
          </a:ln>
        </p:spPr>
      </p:sp>
      <p:sp>
        <p:nvSpPr>
          <p:cNvPr id="5" name="Text 3"/>
          <p:cNvSpPr/>
          <p:nvPr/>
        </p:nvSpPr>
        <p:spPr>
          <a:xfrm>
            <a:off x="548640" y="1143000"/>
            <a:ext cx="37490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Static analysis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713232" y="1600200"/>
            <a:ext cx="3657600" cy="141732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Runs on a fresh repository checkout</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deployment, traffic, credentials, or tracing setup needed</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Finds source-level evidence and configuration issues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Good fit for CI/CD and early design feedback</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4617720" y="1024128"/>
            <a:ext cx="457200" cy="36576"/>
          </a:xfrm>
          <a:prstGeom prst="rect">
            <a:avLst/>
          </a:prstGeom>
          <a:solidFill>
            <a:srgbClr val="1C4E80"/>
          </a:solidFill>
          <a:ln w="12700">
            <a:solidFill>
              <a:srgbClr val="1C4E80"/>
            </a:solidFill>
            <a:prstDash val="solid"/>
          </a:ln>
        </p:spPr>
      </p:sp>
      <p:sp>
        <p:nvSpPr>
          <p:cNvPr id="8" name="Text 6"/>
          <p:cNvSpPr/>
          <p:nvPr/>
        </p:nvSpPr>
        <p:spPr>
          <a:xfrm>
            <a:off x="4617720" y="1143000"/>
            <a:ext cx="374904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Dynamic analysis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4782312" y="1600200"/>
            <a:ext cx="3657600" cy="141732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Observes real runtime calls and frequencies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Requires deployed system and representative workload</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Captures dynamic routing and production behaviour</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500"/>
              </a:spcAft>
              <a:buClrTx/>
              <a:buSzPct val="100000"/>
              <a:buFontTx/>
              <a:buChar char="•"/>
              <a:tabLst/>
              <a:defRPr/>
            </a:pPr>
            <a:r>
              <a:rPr kumimoji="0" lang="en-US" sz="103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Useful for validating or calibrating static findings</a:t>
            </a:r>
            <a:endParaRPr kumimoji="0" lang="en-US" sz="103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548640" y="3429000"/>
            <a:ext cx="804672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Chosen tradeoff</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548640" y="3767328"/>
            <a:ext cx="8046720" cy="6583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MSA Detector prioritises applicability over runtime precision: it can analyse systems before they are running, making it useful during development, review, and CI. Runtime traces would improve call-frequency accuracy, but would reduce portability and require operational setup.</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L</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threats to validity</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05840"/>
            <a:ext cx="384048" cy="36576"/>
          </a:xfrm>
          <a:prstGeom prst="rect">
            <a:avLst/>
          </a:prstGeom>
          <a:solidFill>
            <a:srgbClr val="D97706"/>
          </a:solidFill>
          <a:ln w="12700">
            <a:solidFill>
              <a:srgbClr val="D97706"/>
            </a:solidFill>
            <a:prstDash val="solid"/>
          </a:ln>
        </p:spPr>
      </p:sp>
      <p:sp>
        <p:nvSpPr>
          <p:cNvPr id="5" name="Text 3"/>
          <p:cNvSpPr/>
          <p:nvPr/>
        </p:nvSpPr>
        <p:spPr>
          <a:xfrm>
            <a:off x="548640" y="1115568"/>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Construct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2697480" y="1060704"/>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The health score approximates architectural quality; it is not a direct measurement of maintainability, reliability, or business impact.</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554480"/>
            <a:ext cx="8046720" cy="9144"/>
          </a:xfrm>
          <a:prstGeom prst="rect">
            <a:avLst/>
          </a:prstGeom>
          <a:solidFill>
            <a:srgbClr val="D8DEE6"/>
          </a:solidFill>
          <a:ln w="12700">
            <a:solidFill>
              <a:srgbClr val="D8DEE6"/>
            </a:solidFill>
            <a:prstDash val="solid"/>
          </a:ln>
        </p:spPr>
      </p:sp>
      <p:sp>
        <p:nvSpPr>
          <p:cNvPr id="8" name="Shape 6"/>
          <p:cNvSpPr/>
          <p:nvPr/>
        </p:nvSpPr>
        <p:spPr>
          <a:xfrm>
            <a:off x="548640" y="1719072"/>
            <a:ext cx="384048" cy="36576"/>
          </a:xfrm>
          <a:prstGeom prst="rect">
            <a:avLst/>
          </a:prstGeom>
          <a:solidFill>
            <a:srgbClr val="0D9488"/>
          </a:solidFill>
          <a:ln w="12700">
            <a:solidFill>
              <a:srgbClr val="0D9488"/>
            </a:solidFill>
            <a:prstDash val="solid"/>
          </a:ln>
        </p:spPr>
      </p:sp>
      <p:sp>
        <p:nvSpPr>
          <p:cNvPr id="9" name="Text 7"/>
          <p:cNvSpPr/>
          <p:nvPr/>
        </p:nvSpPr>
        <p:spPr>
          <a:xfrm>
            <a:off x="548640" y="1828800"/>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Internal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2697480" y="1773936"/>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Static call resolution may miss dynamic URLs, generated clients, reflection, service discovery indirection, or framework-specific routing.</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267712"/>
            <a:ext cx="8046720" cy="9144"/>
          </a:xfrm>
          <a:prstGeom prst="rect">
            <a:avLst/>
          </a:prstGeom>
          <a:solidFill>
            <a:srgbClr val="D8DEE6"/>
          </a:solidFill>
          <a:ln w="12700">
            <a:solidFill>
              <a:srgbClr val="D8DEE6"/>
            </a:solidFill>
            <a:prstDash val="solid"/>
          </a:ln>
        </p:spPr>
      </p:sp>
      <p:sp>
        <p:nvSpPr>
          <p:cNvPr id="12" name="Shape 10"/>
          <p:cNvSpPr/>
          <p:nvPr/>
        </p:nvSpPr>
        <p:spPr>
          <a:xfrm>
            <a:off x="548640" y="2432304"/>
            <a:ext cx="384048" cy="36576"/>
          </a:xfrm>
          <a:prstGeom prst="rect">
            <a:avLst/>
          </a:prstGeom>
          <a:solidFill>
            <a:srgbClr val="D97706"/>
          </a:solidFill>
          <a:ln w="12700">
            <a:solidFill>
              <a:srgbClr val="D97706"/>
            </a:solidFill>
            <a:prstDash val="solid"/>
          </a:ln>
        </p:spPr>
      </p:sp>
      <p:sp>
        <p:nvSpPr>
          <p:cNvPr id="13" name="Text 11"/>
          <p:cNvSpPr/>
          <p:nvPr/>
        </p:nvSpPr>
        <p:spPr>
          <a:xfrm>
            <a:off x="548640" y="2542032"/>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External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2697480" y="2487168"/>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Evaluation covers 11 Java/Spring Boot open-source systems, so results may not generalise to industrial, polyglot, or cloud-native systems.</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980944"/>
            <a:ext cx="8046720" cy="9144"/>
          </a:xfrm>
          <a:prstGeom prst="rect">
            <a:avLst/>
          </a:prstGeom>
          <a:solidFill>
            <a:srgbClr val="D8DEE6"/>
          </a:solidFill>
          <a:ln w="12700">
            <a:solidFill>
              <a:srgbClr val="D8DEE6"/>
            </a:solidFill>
            <a:prstDash val="solid"/>
          </a:ln>
        </p:spPr>
      </p:sp>
      <p:sp>
        <p:nvSpPr>
          <p:cNvPr id="16" name="Shape 14"/>
          <p:cNvSpPr/>
          <p:nvPr/>
        </p:nvSpPr>
        <p:spPr>
          <a:xfrm>
            <a:off x="548640" y="3145536"/>
            <a:ext cx="384048" cy="36576"/>
          </a:xfrm>
          <a:prstGeom prst="rect">
            <a:avLst/>
          </a:prstGeom>
          <a:solidFill>
            <a:srgbClr val="0D9488"/>
          </a:solidFill>
          <a:ln w="12700">
            <a:solidFill>
              <a:srgbClr val="0D9488"/>
            </a:solidFill>
            <a:prstDash val="solid"/>
          </a:ln>
        </p:spPr>
      </p:sp>
      <p:sp>
        <p:nvSpPr>
          <p:cNvPr id="17" name="Text 15"/>
          <p:cNvSpPr/>
          <p:nvPr/>
        </p:nvSpPr>
        <p:spPr>
          <a:xfrm>
            <a:off x="548640" y="3255264"/>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Conclusion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2697480" y="3200400"/>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No labelled benchmark exists for these microservice anti-patterns, so the evaluation demonstrates feasibility rather than precision/recall.</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694176"/>
            <a:ext cx="8046720" cy="9144"/>
          </a:xfrm>
          <a:prstGeom prst="rect">
            <a:avLst/>
          </a:prstGeom>
          <a:solidFill>
            <a:srgbClr val="D8DEE6"/>
          </a:solidFill>
          <a:ln w="12700">
            <a:solidFill>
              <a:srgbClr val="D8DEE6"/>
            </a:solidFill>
            <a:prstDash val="solid"/>
          </a:ln>
        </p:spPr>
      </p:sp>
      <p:sp>
        <p:nvSpPr>
          <p:cNvPr id="20" name="Shape 18"/>
          <p:cNvSpPr/>
          <p:nvPr/>
        </p:nvSpPr>
        <p:spPr>
          <a:xfrm>
            <a:off x="548640" y="3858768"/>
            <a:ext cx="384048" cy="36576"/>
          </a:xfrm>
          <a:prstGeom prst="rect">
            <a:avLst/>
          </a:prstGeom>
          <a:solidFill>
            <a:srgbClr val="D97706"/>
          </a:solidFill>
          <a:ln w="12700">
            <a:solidFill>
              <a:srgbClr val="D97706"/>
            </a:solidFill>
            <a:prstDash val="solid"/>
          </a:ln>
        </p:spPr>
      </p:sp>
      <p:sp>
        <p:nvSpPr>
          <p:cNvPr id="21" name="Text 19"/>
          <p:cNvSpPr/>
          <p:nvPr/>
        </p:nvSpPr>
        <p:spPr>
          <a:xfrm>
            <a:off x="548640" y="3968496"/>
            <a:ext cx="205740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Threshold validity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2697480" y="3913632"/>
            <a:ext cx="5897880" cy="402336"/>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2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Detector thresholds and score weights are engineering choices informed by literature, but not calibrated on a large industrial corpus.</a:t>
            </a:r>
            <a:endParaRPr kumimoji="0" lang="en-US" sz="92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548640" y="4407408"/>
            <a:ext cx="8046720" cy="9144"/>
          </a:xfrm>
          <a:prstGeom prst="rect">
            <a:avLst/>
          </a:prstGeom>
          <a:solidFill>
            <a:srgbClr val="D8DEE6"/>
          </a:solidFill>
          <a:ln w="12700">
            <a:solidFill>
              <a:srgbClr val="D8DEE6"/>
            </a:solidFill>
            <a:prstDash val="solid"/>
          </a:ln>
        </p:spPr>
      </p:sp>
      <p:sp>
        <p:nvSpPr>
          <p:cNvPr id="26" name="Text 24"/>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50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Annex: tool architecture internals</a:t>
            </a:r>
            <a:endParaRPr kumimoji="0" lang="en-US" sz="2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960120" y="987552"/>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API layer</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960120" y="1243584"/>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Upload ZIP / clone URL, create analysis job, expose polling and results endpoints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548640" y="1645920"/>
            <a:ext cx="3703320" cy="7315"/>
          </a:xfrm>
          <a:prstGeom prst="rect">
            <a:avLst/>
          </a:prstGeom>
          <a:solidFill>
            <a:srgbClr val="D8DEE6"/>
          </a:solidFill>
          <a:ln w="12700">
            <a:solidFill>
              <a:srgbClr val="D8DEE6"/>
            </a:solidFill>
            <a:prstDash val="solid"/>
          </a:ln>
        </p:spPr>
      </p:sp>
      <p:sp>
        <p:nvSpPr>
          <p:cNvPr id="8" name="Text 6"/>
          <p:cNvSpPr/>
          <p:nvPr/>
        </p:nvSpPr>
        <p:spPr>
          <a:xfrm>
            <a:off x="548640" y="1773936"/>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960120" y="1755648"/>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Async orchestration</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960120" y="2011680"/>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Spring @Async worker starts after transaction commit and updates job status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548640" y="2414016"/>
            <a:ext cx="3703320" cy="7315"/>
          </a:xfrm>
          <a:prstGeom prst="rect">
            <a:avLst/>
          </a:prstGeom>
          <a:solidFill>
            <a:srgbClr val="D8DEE6"/>
          </a:solidFill>
          <a:ln w="12700">
            <a:solidFill>
              <a:srgbClr val="D8DEE6"/>
            </a:solidFill>
            <a:prstDash val="solid"/>
          </a:ln>
        </p:spPr>
      </p:sp>
      <p:sp>
        <p:nvSpPr>
          <p:cNvPr id="12" name="Text 10"/>
          <p:cNvSpPr/>
          <p:nvPr/>
        </p:nvSpPr>
        <p:spPr>
          <a:xfrm>
            <a:off x="548640" y="2542032"/>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960120" y="2523744"/>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Repository workspace</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960120" y="2779776"/>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Extracts or clones project into temporary analysis workspace</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3182112"/>
            <a:ext cx="3703320" cy="7315"/>
          </a:xfrm>
          <a:prstGeom prst="rect">
            <a:avLst/>
          </a:prstGeom>
          <a:solidFill>
            <a:srgbClr val="D8DEE6"/>
          </a:solidFill>
          <a:ln w="12700">
            <a:solidFill>
              <a:srgbClr val="D8DEE6"/>
            </a:solidFill>
            <a:prstDash val="solid"/>
          </a:ln>
        </p:spPr>
      </p:sp>
      <p:sp>
        <p:nvSpPr>
          <p:cNvPr id="16" name="Text 14"/>
          <p:cNvSpPr/>
          <p:nvPr/>
        </p:nvSpPr>
        <p:spPr>
          <a:xfrm>
            <a:off x="548640" y="3310128"/>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960120" y="3291840"/>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Service discovery</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960120" y="3547872"/>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Build-file scan plus deployability gate with confidence levels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950208"/>
            <a:ext cx="3703320" cy="7315"/>
          </a:xfrm>
          <a:prstGeom prst="rect">
            <a:avLst/>
          </a:prstGeom>
          <a:solidFill>
            <a:srgbClr val="D8DEE6"/>
          </a:solidFill>
          <a:ln w="12700">
            <a:solidFill>
              <a:srgbClr val="D8DEE6"/>
            </a:solidFill>
            <a:prstDash val="solid"/>
          </a:ln>
        </p:spPr>
      </p:sp>
      <p:sp>
        <p:nvSpPr>
          <p:cNvPr id="20" name="Text 18"/>
          <p:cNvSpPr/>
          <p:nvPr/>
        </p:nvSpPr>
        <p:spPr>
          <a:xfrm>
            <a:off x="4617720" y="1005840"/>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029200" y="987552"/>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Analysis engines</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5029200" y="1243584"/>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DesigniteJava subprocess for smells; Spoon AST for structural and dependency analysis</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4617720" y="1645920"/>
            <a:ext cx="3703320" cy="7315"/>
          </a:xfrm>
          <a:prstGeom prst="rect">
            <a:avLst/>
          </a:prstGeom>
          <a:solidFill>
            <a:srgbClr val="D8DEE6"/>
          </a:solidFill>
          <a:ln w="12700">
            <a:solidFill>
              <a:srgbClr val="D8DEE6"/>
            </a:solidFill>
            <a:prstDash val="solid"/>
          </a:ln>
        </p:spPr>
      </p:sp>
      <p:sp>
        <p:nvSpPr>
          <p:cNvPr id="24" name="Text 22"/>
          <p:cNvSpPr/>
          <p:nvPr/>
        </p:nvSpPr>
        <p:spPr>
          <a:xfrm>
            <a:off x="4617720" y="1773936"/>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6</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029200" y="1755648"/>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Detector layer</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5029200" y="2011680"/>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AntiPatternDetector Strategy components run over services, metrics, and graph</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17720" y="2414016"/>
            <a:ext cx="3703320" cy="7315"/>
          </a:xfrm>
          <a:prstGeom prst="rect">
            <a:avLst/>
          </a:prstGeom>
          <a:solidFill>
            <a:srgbClr val="D8DEE6"/>
          </a:solidFill>
          <a:ln w="12700">
            <a:solidFill>
              <a:srgbClr val="D8DEE6"/>
            </a:solidFill>
            <a:prstDash val="solid"/>
          </a:ln>
        </p:spPr>
      </p:sp>
      <p:sp>
        <p:nvSpPr>
          <p:cNvPr id="28" name="Text 26"/>
          <p:cNvSpPr/>
          <p:nvPr/>
        </p:nvSpPr>
        <p:spPr>
          <a:xfrm>
            <a:off x="4617720" y="2542032"/>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5029200" y="2523744"/>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Scoring/reporting</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5029200" y="2779776"/>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Health score, category breakdown, evidence snippets, remediation, graph JSON</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617720" y="3182112"/>
            <a:ext cx="3703320" cy="7315"/>
          </a:xfrm>
          <a:prstGeom prst="rect">
            <a:avLst/>
          </a:prstGeom>
          <a:solidFill>
            <a:srgbClr val="D8DEE6"/>
          </a:solidFill>
          <a:ln w="12700">
            <a:solidFill>
              <a:srgbClr val="D8DEE6"/>
            </a:solidFill>
            <a:prstDash val="solid"/>
          </a:ln>
        </p:spPr>
      </p:sp>
      <p:sp>
        <p:nvSpPr>
          <p:cNvPr id="32" name="Text 30"/>
          <p:cNvSpPr/>
          <p:nvPr/>
        </p:nvSpPr>
        <p:spPr>
          <a:xfrm>
            <a:off x="4617720" y="3310128"/>
            <a:ext cx="310896"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D9488"/>
                </a:solidFill>
                <a:effectLst/>
                <a:uLnTx/>
                <a:uFillTx/>
                <a:latin typeface="Calibri" pitchFamily="34" charset="0"/>
                <a:ea typeface="Calibri" pitchFamily="34" charset="-122"/>
                <a:cs typeface="Calibri" pitchFamily="34" charset="-120"/>
              </a:rPr>
              <a:t>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5029200" y="3291840"/>
            <a:ext cx="3337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80" b="1" i="0" u="none" strike="noStrike" kern="1200" cap="none" spc="0" normalizeH="0" baseline="0" noProof="0" dirty="0">
                <a:ln>
                  <a:noFill/>
                </a:ln>
                <a:solidFill>
                  <a:srgbClr val="0F2A44"/>
                </a:solidFill>
                <a:effectLst/>
                <a:uLnTx/>
                <a:uFillTx/>
                <a:latin typeface="Calibri" pitchFamily="34" charset="0"/>
                <a:ea typeface="Calibri" pitchFamily="34" charset="-122"/>
                <a:cs typeface="Calibri" pitchFamily="34" charset="-120"/>
              </a:rPr>
              <a:t>Persistence/UI</a:t>
            </a:r>
            <a:endParaRPr kumimoji="0" lang="en-US" sz="108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029200" y="3547872"/>
            <a:ext cx="3337560" cy="34747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40" b="0" i="0" u="none" strike="noStrike" kern="1200" cap="none" spc="0" normalizeH="0" baseline="0" noProof="0" dirty="0">
                <a:ln>
                  <a:noFill/>
                </a:ln>
                <a:solidFill>
                  <a:srgbClr val="1E293B"/>
                </a:solidFill>
                <a:effectLst/>
                <a:uLnTx/>
                <a:uFillTx/>
                <a:latin typeface="Calibri" pitchFamily="34" charset="0"/>
                <a:ea typeface="Calibri" pitchFamily="34" charset="-122"/>
                <a:cs typeface="Calibri" pitchFamily="34" charset="-120"/>
              </a:rPr>
              <a:t>Results stored in database and rendered in dashboard, finding cards, diff view, graph view</a:t>
            </a:r>
            <a:endParaRPr kumimoji="0" lang="en-US" sz="84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4617720" y="3950208"/>
            <a:ext cx="3703320" cy="7315"/>
          </a:xfrm>
          <a:prstGeom prst="rect">
            <a:avLst/>
          </a:prstGeom>
          <a:solidFill>
            <a:srgbClr val="D8DEE6"/>
          </a:solidFill>
          <a:ln w="12700">
            <a:solidFill>
              <a:srgbClr val="D8DEE6"/>
            </a:solidFill>
            <a:prstDash val="solid"/>
          </a:ln>
        </p:spPr>
      </p:sp>
      <p:sp>
        <p:nvSpPr>
          <p:cNvPr id="38" name="Text 36"/>
          <p:cNvSpPr/>
          <p:nvPr/>
        </p:nvSpPr>
        <p:spPr>
          <a:xfrm>
            <a:off x="7452360" y="4864608"/>
            <a:ext cx="114300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Appendix 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97</TotalTime>
  <Words>6689</Words>
  <Application>Microsoft Office PowerPoint</Application>
  <PresentationFormat>On-screen Show (16:9)</PresentationFormat>
  <Paragraphs>582</Paragraphs>
  <Slides>26</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23</cp:revision>
  <dcterms:created xsi:type="dcterms:W3CDTF">2026-06-11T06:26:58Z</dcterms:created>
  <dcterms:modified xsi:type="dcterms:W3CDTF">2026-06-22T11:24:28Z</dcterms:modified>
</cp:coreProperties>
</file>