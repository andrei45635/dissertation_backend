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rts/chart1.xml" ContentType="application/vnd.openxmlformats-officedocument.drawingml.chart+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9"/>
  </p:notesMasterIdLst>
  <p:sldIdLst>
    <p:sldId id="256" r:id="rId2"/>
    <p:sldId id="257" r:id="rId3"/>
    <p:sldId id="258" r:id="rId4"/>
    <p:sldId id="259" r:id="rId5"/>
    <p:sldId id="261" r:id="rId6"/>
    <p:sldId id="260" r:id="rId7"/>
    <p:sldId id="262" r:id="rId8"/>
    <p:sldId id="264" r:id="rId9"/>
    <p:sldId id="265" r:id="rId10"/>
    <p:sldId id="266" r:id="rId11"/>
    <p:sldId id="267" r:id="rId12"/>
    <p:sldId id="270" r:id="rId13"/>
    <p:sldId id="269" r:id="rId14"/>
    <p:sldId id="263" r:id="rId15"/>
    <p:sldId id="282" r:id="rId16"/>
    <p:sldId id="272" r:id="rId17"/>
    <p:sldId id="273" r:id="rId18"/>
    <p:sldId id="274" r:id="rId19"/>
    <p:sldId id="275" r:id="rId20"/>
    <p:sldId id="283" r:id="rId21"/>
    <p:sldId id="276" r:id="rId22"/>
    <p:sldId id="284" r:id="rId23"/>
    <p:sldId id="277" r:id="rId24"/>
    <p:sldId id="278" r:id="rId25"/>
    <p:sldId id="279" r:id="rId26"/>
    <p:sldId id="280" r:id="rId27"/>
    <p:sldId id="281" r:id="rId28"/>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2" autoAdjust="0"/>
    <p:restoredTop sz="64649" autoAdjust="0"/>
  </p:normalViewPr>
  <p:slideViewPr>
    <p:cSldViewPr snapToGrid="0" snapToObjects="1">
      <p:cViewPr varScale="1">
        <p:scale>
          <a:sx n="146" d="100"/>
          <a:sy n="146" d="100"/>
        </p:scale>
        <p:origin x="594" y="114"/>
      </p:cViewPr>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8" Type="http://schemas.openxmlformats.org/officeDocument/2006/relationships/slide" Target="slides/slide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200" b="0" i="0" u="none" strike="noStrike">
                <a:solidFill>
                  <a:srgbClr val="0F2A44"/>
                </a:solidFill>
                <a:latin typeface="Calibri"/>
              </a:defRPr>
            </a:pPr>
            <a:r>
              <a:rPr lang="en-US" sz="1200" b="0" i="0" u="none" strike="noStrike">
                <a:solidFill>
                  <a:srgbClr val="0F2A44"/>
                </a:solidFill>
                <a:latin typeface="Calibri"/>
              </a:rPr>
              <a:t>Health scores by project (0–100)</a:t>
            </a:r>
          </a:p>
        </c:rich>
      </c:tx>
      <c:overlay val="0"/>
    </c:title>
    <c:autoTitleDeleted val="0"/>
    <c:plotArea>
      <c:layout/>
      <c:barChart>
        <c:barDir val="col"/>
        <c:grouping val="clustered"/>
        <c:varyColors val="0"/>
        <c:ser>
          <c:idx val="0"/>
          <c:order val="0"/>
          <c:tx>
            <c:strRef>
              <c:f>Sheet1!$B$1</c:f>
              <c:strCache>
                <c:ptCount val="1"/>
                <c:pt idx="0">
                  <c:v>Health score</c:v>
                </c:pt>
              </c:strCache>
            </c:strRef>
          </c:tx>
          <c:spPr>
            <a:solidFill>
              <a:srgbClr val="0D9488"/>
            </a:solidFill>
            <a:effectLst/>
          </c:spPr>
          <c:invertIfNegative val="0"/>
          <c:dLbls>
            <c:numFmt formatCode="#,##0" sourceLinked="0"/>
            <c:spPr>
              <a:noFill/>
              <a:ln>
                <a:noFill/>
              </a:ln>
              <a:effectLst/>
            </c:spPr>
            <c:txPr>
              <a:bodyPr/>
              <a:lstStyle/>
              <a:p>
                <a:pPr>
                  <a:defRPr sz="900" b="0" i="0" u="none" strike="noStrike">
                    <a:solidFill>
                      <a:srgbClr val="1E293B"/>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Sheet1!$A$2:$A$12</c:f>
              <c:strCache>
                <c:ptCount val="11"/>
                <c:pt idx="0">
                  <c:v>MicroSocial</c:v>
                </c:pt>
                <c:pt idx="1">
                  <c:v>ftgo</c:v>
                </c:pt>
                <c:pt idx="2">
                  <c:v>PiggyMetrics</c:v>
                </c:pt>
                <c:pt idx="3">
                  <c:v>RuoYi</c:v>
                </c:pt>
                <c:pt idx="4">
                  <c:v>Site-Where</c:v>
                </c:pt>
                <c:pt idx="5">
                  <c:v>design-pat.</c:v>
                </c:pt>
                <c:pt idx="6">
                  <c:v>NetworkDisk</c:v>
                </c:pt>
                <c:pt idx="7">
                  <c:v>piomin</c:v>
                </c:pt>
                <c:pt idx="8">
                  <c:v>Train-Ticket</c:v>
                </c:pt>
                <c:pt idx="9">
                  <c:v>mall-swarm</c:v>
                </c:pt>
                <c:pt idx="10">
                  <c:v>recruit</c:v>
                </c:pt>
              </c:strCache>
            </c:strRef>
          </c:cat>
          <c:val>
            <c:numRef>
              <c:f>Sheet1!$B$2:$B$12</c:f>
              <c:numCache>
                <c:formatCode>General</c:formatCode>
                <c:ptCount val="11"/>
                <c:pt idx="0">
                  <c:v>83</c:v>
                </c:pt>
                <c:pt idx="1">
                  <c:v>75</c:v>
                </c:pt>
                <c:pt idx="2">
                  <c:v>71</c:v>
                </c:pt>
                <c:pt idx="3">
                  <c:v>71</c:v>
                </c:pt>
                <c:pt idx="4">
                  <c:v>69</c:v>
                </c:pt>
                <c:pt idx="5">
                  <c:v>60</c:v>
                </c:pt>
                <c:pt idx="6">
                  <c:v>59</c:v>
                </c:pt>
                <c:pt idx="7">
                  <c:v>55</c:v>
                </c:pt>
                <c:pt idx="8">
                  <c:v>54</c:v>
                </c:pt>
                <c:pt idx="9">
                  <c:v>53</c:v>
                </c:pt>
                <c:pt idx="10">
                  <c:v>40</c:v>
                </c:pt>
              </c:numCache>
            </c:numRef>
          </c:val>
          <c:extLst>
            <c:ext xmlns:c16="http://schemas.microsoft.com/office/drawing/2014/chart" uri="{C3380CC4-5D6E-409C-BE32-E72D297353CC}">
              <c16:uniqueId val="{00000000-E88F-4B16-8627-297042B24114}"/>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64748B"/>
                </a:solidFill>
                <a:latin typeface="Arial"/>
              </a:defRPr>
            </a:pPr>
            <a:endParaRPr lang="en-US"/>
          </a:p>
        </c:txPr>
        <c:crossAx val="2094734552"/>
        <c:crosses val="autoZero"/>
        <c:auto val="1"/>
        <c:lblAlgn val="ctr"/>
        <c:lblOffset val="100"/>
        <c:noMultiLvlLbl val="1"/>
      </c:catAx>
      <c:valAx>
        <c:axId val="2094734552"/>
        <c:scaling>
          <c:orientation val="minMax"/>
          <c:max val="100"/>
          <c:min val="0"/>
        </c:scaling>
        <c:delete val="0"/>
        <c:axPos val="l"/>
        <c:majorGridlines>
          <c:spPr>
            <a:ln w="6350" cap="flat">
              <a:solidFill>
                <a:srgbClr val="D8DE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2939294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My name is Andrei Iacob, and today I'll be defending my dissertation: MSA Detector — a tool for detecting architectural anti-patterns in Java-based microservice systems. My supervisor is Professor Simona </a:t>
            </a:r>
            <a:r>
              <a:rPr lang="en-US" dirty="0" err="1"/>
              <a:t>Motogna</a:t>
            </a:r>
            <a:r>
              <a:rPr lang="en-US" dirty="0"/>
              <a:t>
The core idea is straightforward — as </a:t>
            </a:r>
            <a:r>
              <a:rPr lang="en-US" dirty="0" err="1"/>
              <a:t>organisations</a:t>
            </a:r>
            <a:r>
              <a:rPr lang="en-US" dirty="0"/>
              <a:t> adopt microservices, they often unknowingly introduce structural problems that erode the very benefits they were after. This tool helps catch those problems early, from a source code checkout, before they become production incidents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t>
            </a:r>
            <a:r>
              <a:rPr lang="en-US" sz="1200" b="0" i="0" kern="1200" dirty="0">
                <a:solidFill>
                  <a:schemeClr val="tx1"/>
                </a:solidFill>
                <a:effectLst/>
                <a:latin typeface="+mn-lt"/>
                <a:ea typeface="+mn-ea"/>
                <a:cs typeface="+mn-cs"/>
              </a:rPr>
              <a:t>While microservices are widely adopted for new large systems, tooling specifically designed to support architectural quality assurance in these environments remains limited, which leads to developers shipping anti-patterns, unknowingly </a:t>
            </a:r>
            <a:r>
              <a:rPr lang="en-US" dirty="0"/>
              <a:t>— shared DBs, cycles, services that are either too small or too big — and they only find out when deployment friction or cascading failures appear in production. For instance, a shared database between two services looks harmless at first — both teams just point at the same Postgres instance. But over time, schema changes in one service silently break the other, and you've lost independent </a:t>
            </a:r>
            <a:r>
              <a:rPr lang="en-US" dirty="0" err="1"/>
              <a:t>deployability</a:t>
            </a:r>
            <a:r>
              <a:rPr lang="en-US" dirty="0"/>
              <a:t> — arguably the single biggest reason to use microservices in the first place
• Existing academic tools address important parts of the problem: Arcan detects architectural smells, </a:t>
            </a:r>
            <a:r>
              <a:rPr lang="en-US" dirty="0" err="1"/>
              <a:t>MicroART</a:t>
            </a:r>
            <a:r>
              <a:rPr lang="en-US" dirty="0"/>
              <a:t> </a:t>
            </a:r>
            <a:r>
              <a:rPr lang="en-US" dirty="0" err="1"/>
              <a:t>visualises</a:t>
            </a:r>
            <a:r>
              <a:rPr lang="en-US" dirty="0"/>
              <a:t> recovered architectures, </a:t>
            </a:r>
            <a:r>
              <a:rPr lang="en-US" dirty="0" err="1"/>
              <a:t>MSANose</a:t>
            </a:r>
            <a:r>
              <a:rPr lang="en-US" dirty="0"/>
              <a:t> detects microservice smells, and MARS covers a broader anti-pattern catalogue. They differ in the anti-patterns they cover and in how much developer-facing evidence, scoring, and workflow support they provide.
• Even when something IS detected, the output is usually an abstract warning. Developers don't act on warnings without code evidence and remediation guidance.
So the goal of this work was a tool that bridges both levels and outputs relevant findings for developers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work has five contributions. The first is the multi-level analysis itself — using code-level structural metrics like class cohesion to flag architectural problems like God Service. That bridge between abstraction levels is the central novelty.'
• 'Second, ten selected anti-patterns across four dimensions — not the largest catalogue, since MARS covers more, but integrated with code-level smell density, evidence snippets, remediation guidance, and a health score.'
• 'Third, automated microservice boundary detection via a three-signal </a:t>
            </a:r>
            <a:r>
              <a:rPr lang="en-US" dirty="0" err="1"/>
              <a:t>deployability</a:t>
            </a:r>
            <a:r>
              <a:rPr lang="en-US" dirty="0"/>
              <a:t> gate — framework entry points, </a:t>
            </a:r>
            <a:r>
              <a:rPr lang="en-US" dirty="0" err="1"/>
              <a:t>Dockerfiles</a:t>
            </a:r>
            <a:r>
              <a:rPr lang="en-US" dirty="0"/>
              <a:t>, and main methods — with confidence levels. Most existing tools require manual configuration.'
• 'Fourth, a composite health score on 0–100, decomposed into four categories so you can see which dimension is dragging the score down.'
• 'Fifth, evidence-based reporting — every finding includes the actual code that triggered it.'
'To give you a clearer picture of how these pieces fit together, let me walk you through the analysis pipeline — from the moment a project is uploaded to the final report.'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Ingest: user uploads a ZIP or pastes a Git URL. The system extracts/clones and creates an analysis job.
• Service detection: scan for build files — pom.xml, </a:t>
            </a:r>
            <a:r>
              <a:rPr lang="en-US" dirty="0" err="1"/>
              <a:t>build.gradle</a:t>
            </a:r>
            <a:r>
              <a:rPr lang="en-US" dirty="0"/>
              <a:t>, </a:t>
            </a:r>
            <a:r>
              <a:rPr lang="en-US" dirty="0" err="1"/>
              <a:t>build.gradle.kts</a:t>
            </a:r>
            <a:r>
              <a:rPr lang="en-US" dirty="0"/>
              <a:t>. Filter out non-service modules using exclusion keywords and aggregator checks. Then apply a three-signal </a:t>
            </a:r>
            <a:r>
              <a:rPr lang="en-US" dirty="0" err="1"/>
              <a:t>deployability</a:t>
            </a:r>
            <a:r>
              <a:rPr lang="en-US" dirty="0"/>
              <a:t> gate: framework entry point (HIGH) (e.g. @SpringBootApplication etc.), </a:t>
            </a:r>
            <a:r>
              <a:rPr lang="en-US" dirty="0" err="1"/>
              <a:t>Dockerfile</a:t>
            </a:r>
            <a:r>
              <a:rPr lang="en-US" dirty="0"/>
              <a:t> (MEDIUM), main() method (LOW). Only candidates passing at least one signal are kept.
• Intra-service analysis runs </a:t>
            </a:r>
            <a:r>
              <a:rPr lang="en-US" dirty="0" err="1"/>
              <a:t>DesigniteJava</a:t>
            </a:r>
            <a:r>
              <a:rPr lang="en-US" dirty="0"/>
              <a:t> as a subprocess for code smells. Inter-service uses Spoon AST to find @FeignClient, </a:t>
            </a:r>
            <a:r>
              <a:rPr lang="en-US" dirty="0" err="1"/>
              <a:t>RestTemplate</a:t>
            </a:r>
            <a:r>
              <a:rPr lang="en-US" dirty="0"/>
              <a:t>, </a:t>
            </a:r>
            <a:r>
              <a:rPr lang="en-US" dirty="0" err="1"/>
              <a:t>WebClient</a:t>
            </a:r>
            <a:r>
              <a:rPr lang="en-US" dirty="0"/>
              <a:t> calls and build the dependency graph.
• Then ten detectors run over that graph + the smells. Each is a Spring component implementing a common interface — Strategy pattern.
• Finally results are assembled, the health score is computed, the dependency graph is </a:t>
            </a:r>
            <a:r>
              <a:rPr lang="en-US" dirty="0" err="1"/>
              <a:t>serialised</a:t>
            </a:r>
            <a:r>
              <a:rPr lang="en-US" dirty="0"/>
              <a:t> to JSON, and everything is persisted.
If asked about why async: 'Analyses on large projects like Activiti take several minutes. Blocking the HTTP request would time out. The frontend polls for status.'
Worth mentioning: 'The dependency graph construction is the most technically interesting part of this stage. Spoon parses the AST of every Java file and looks for inter-service communication annotations — @FeignClient declarations, </a:t>
            </a:r>
            <a:r>
              <a:rPr lang="en-US" dirty="0" err="1"/>
              <a:t>RestTemplate.exchange</a:t>
            </a:r>
            <a:r>
              <a:rPr lang="en-US" dirty="0"/>
              <a:t> calls, </a:t>
            </a:r>
            <a:r>
              <a:rPr lang="en-US" dirty="0" err="1"/>
              <a:t>WebClient</a:t>
            </a:r>
            <a:r>
              <a:rPr lang="en-US" dirty="0"/>
              <a:t> invocations — then resolves each target to a known service. The result is a directed weighted graph where edge weight represents the number of distinct call sites.'
Don't read the design-choices panel verbatim — mention one or two if you have time.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'These are the ten detectors, </a:t>
            </a:r>
            <a:r>
              <a:rPr lang="en-US" dirty="0" err="1"/>
              <a:t>organised</a:t>
            </a:r>
            <a:r>
              <a:rPr lang="en-US" dirty="0"/>
              <a:t> by architectural dimension. Each is a Spring component implementing a common interface, so adding a new detector means writing one class — no orchestrator changes.'
• 'Severities feed directly into the health score: critical issues cost 8 points, high cost 5, medium cost 3.'
• 'The severity levels aren't arbitrary — they reflect how much damage the anti-pattern can cause. Cyclic Dependency and Distributed Monolith are critical because they undermine independent </a:t>
            </a:r>
            <a:r>
              <a:rPr lang="en-US" dirty="0" err="1"/>
              <a:t>deployability</a:t>
            </a:r>
            <a:r>
              <a:rPr lang="en-US" dirty="0"/>
              <a:t> entirely. Hardcoded Endpoints and API Versioning are medium because they're easier to fix and their impact is more </a:t>
            </a:r>
            <a:r>
              <a:rPr lang="en-US" dirty="0" err="1"/>
              <a:t>localised</a:t>
            </a:r>
            <a:r>
              <a:rPr lang="en-US" dirty="0"/>
              <a:t>.'
If a committee member asks about a specific detector:
• Shared DB — group services by spring.datasource.url, flag groups of size &gt; 1
• Cyclic Dependency — Tarjan's SCC on the dep graph, any SCC &gt; 1 vertex is a cycle
• Chatty Service — call count per edge ≥ 5 OR a Feign interface with ≥ 5 methods
• Hardcoded Endpoints — regex scan of .java for http://, localhost:, IP literals (with comment/test exclusions)
• Distributed Monolith — composite rule on coupling coefficient, connected ratio, shared DB count
• API Versioning — regex /v\d+[/.] on endpoint paths
• ESB Misuse — caller/callee ratios + volume-based mediator ratio
• Wrong Cuts — bidirectional edges between a service pair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'I picked God Service as the example because it's the cleanest illustration of how code-level signals feed an architectural-level finding.'
• 'For each service, a Spoon-based analysis parses every class and computes structural metrics — field count, public method count, lines of code, import domains, constructor parameters, and class cohesion. The God Service detector flags any microservice containing at least one class identified as a God Class.'
• 'A class is flagged as a God Class when it exceeds at least three of the six metrics. Pure data holders such as entities and DTOs are excluded first, since they naturally have many fields and low cohesion without being an anti-pattern.'
• 'Tight Class Cohesion measures the fraction of method pairs that share an instance field access. Low TCC means the methods operate on disjoint state — a sign of unrelated responsibilities packed into one class.'
EXPECT THIS QUESTION: 'Why does one God Class flag a service?'
Answer: 'The default is intentionally sensitive. False positives are cheap to dismiss. False negatives — architectural debt growing undetected — are expensive. The threshold is configurable; teams in production would calibrate it. Even one class concentrating that many responsibilities is worth a look.'
If asked where </a:t>
            </a:r>
            <a:r>
              <a:rPr lang="en-US" dirty="0" err="1"/>
              <a:t>DesigniteJava</a:t>
            </a:r>
            <a:r>
              <a:rPr lang="en-US" dirty="0"/>
              <a:t> fits: '</a:t>
            </a:r>
            <a:r>
              <a:rPr lang="en-US" dirty="0" err="1"/>
              <a:t>DesigniteJava</a:t>
            </a:r>
            <a:r>
              <a:rPr lang="en-US" dirty="0"/>
              <a:t> runs per service for code smells, but its catalogue is abstraction and modularization smells rather than a literal God Class. So God Service detection is driven by the Spoon structural metrics, and </a:t>
            </a:r>
            <a:r>
              <a:rPr lang="en-US" dirty="0" err="1"/>
              <a:t>DesigniteJava</a:t>
            </a:r>
            <a:r>
              <a:rPr lang="en-US" dirty="0"/>
              <a:t> smell density feeds the code-quality category of the health score instead.'</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composite score is a sum of four independent categories. Each has its own budget — Anti-Patterns is 40 points, Code Quality 20, Architecture 25, Service Sizing 15. Total: 100. The weights were informed by how other composite metrics work in the literature — SonarQube's maintainability rating, SQALE, and the ISO 25010 quality model. Anti-patterns get the largest budget because they represent architectural-level issues that are expensive to fix after deployment
• 'Each category clamps at zero, so penalties can't bleed across categories. That's intentional: a code-quality-heavy project shouldn't have its architectural score dragged down.'
• 'Importantly, the breakdown is preserved in the UI. A developer doesn't just see 45/100 — they see WHICH category is dragging the score down, with </a:t>
            </a:r>
            <a:r>
              <a:rPr lang="en-US" dirty="0" err="1"/>
              <a:t>itemised</a:t>
            </a:r>
            <a:r>
              <a:rPr lang="en-US" dirty="0"/>
              <a:t> deductions.'
• 'The diff feature compares successive analyses, so a team that fixes a shared DB anti-pattern can see exactly how many points that bought them.’
EXPECT THIS QUESTION: 'Doesn't clamping at zero mean you lose discrimination between moderately bad and very bad projects?'
Answer: 'Yes — that's a known limitation of the category-cap approach, which I note in the threats to validity. A team with 13 nano services and one with 50 would both see Anti-Patterns at zero. The Service Sizing breakdown still preserves the per-issue counts, so the full picture is still visible to the user. A scaled, density-style penalty in the AP category — similar to the Code Quality category — would address this in future work.'</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'I evaluated on eleven open-source Spring Boot projects, spanning from </a:t>
            </a:r>
            <a:r>
              <a:rPr lang="en-US" dirty="0" err="1"/>
              <a:t>piomin</a:t>
            </a:r>
            <a:r>
              <a:rPr lang="en-US" dirty="0"/>
              <a:t> at 1.3k LOC to mall-swarm at 86k LOC. 130 microservices, about 274k LOC total.'
• 'The score range — 40 to 83 — shows that the metric has useful discriminating power. Projects known to be well-structured like </a:t>
            </a:r>
            <a:r>
              <a:rPr lang="en-US" dirty="0" err="1"/>
              <a:t>MicroSocial</a:t>
            </a:r>
            <a:r>
              <a:rPr lang="en-US" dirty="0"/>
              <a:t> score highest; projects known to have issues like Train-Ticket and microservice-recruit score lowest. If every project scored 70, the metric wouldn't be telling us much.'
• 'The dominant findings are configuration and sizing issues: 37 API versioning absences, 23 nano services, 15 hardcoded endpoints. 
• '98 total anti-pattern instances across 9 distinct types. Only Distributed Monolith was not detected — plausible given these projects' topologies.’
EXPECT: 'Only eleven projects, is that enough?'
Answer: 'Not for a statistical claim. This evaluation is a feasibility demonstration across heterogeneous codebases. A full precision/recall study would need a labelled corpus, which doesn't exist for microservice anti-patterns — that's an open problem in the field. I note this in Threats to Validity.'</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demo slide — switch to the browser/tool after this title comes up. Aim for ~2 minutes total.
Before you start:
• Have the app already running on localhost. Don't start the server live.
• Be logged in already. Don't waste demo time on the login form.
• Have a small known-working repo URL ready in your clipboard. MicroservicesSocial is the safest choice — small, fast, and produces a varied set of findings (Shared DB, Nano Service, Hardcoded Endpoint, API Versioning).
• Have a second browser tab open with a PREVIOUSLY COMPLETED analysis loaded, as a fallback. If the live clone fails or runs slow, switch to that tab and say 'here's a previous run on the same project.'
Demo script (~2 min):
1. CLONE (~30 s): 'I'll paste a GitHub URL of a small microservice project and submit it.' Paste, click submit. While it runs: 'the pipeline is now detecting microservices, running DesigniteJava per service, building the dependency graph, and running the ten detectors.'
2. DASHBOARD (~30 s): When the results page loads, point at the health score gauge. 'Score 83, grade B. The four-category breakdown shows where the deductions came from — mostly Anti-Patterns category.'
3. DRILL-DOWN (~45 s): Click on the Shared Database finding to expand it. 'You can see the affected services, the actual datasource URL that's being shared, the code snippet from the application.yml file, and remediation guidance.' This is the slide's strongest moment — the committee sees the evidence-based reporting in action.
4. DEPENDENCY GRAPH (~15 s): Scroll down or switch to the dep-graph view. 'Interactive force-directed graph. Each node is a service, edges show inter-service calls, node size scales with LOC.'
Then say: 'I'll switch back to the slides.' Click back to slide 11.
If the demo BREAKS at any point:
• Don't panic. Say 'looks like the network is being slow — let me switch to a pre-computed run.'
• Switch to your backup tab.
• If even the backup fails: 'the deployment is on my laptop and I'd be happy to demo it after the defense — meanwhile, the screenshots in Chapter 4 of the thesis show the same flow.'
• Move on quickly. Don't burn 90 seconds debugging in front of the committee. The thesis stands on its own.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tool has limitations. The biggest is the Java/Spring Boot restriction — real-world systems are polyglot, and the current tool can't </a:t>
            </a:r>
            <a:r>
              <a:rPr lang="en-US" dirty="0" err="1"/>
              <a:t>analyse</a:t>
            </a:r>
            <a:r>
              <a:rPr lang="en-US" dirty="0"/>
              <a:t> non-Java services.'
• 'Static analysis trades precision for applicability. A distributed tracing approach would give exact runtime call counts but requires the system to be deployed and instrumented — which prevents the tool from running on a fresh checkout.'
• 'The health score weights aren't empirically validated. They're engineering judgement informed by the literature. Different teams might want different weightings.'
• 'Future work in priority order: multi-language support, then ML-based detection, then empirical calibration of thresholds.'
You can add: 'The multi-language extension is actually partially designed already — Chapter 5 describes a roadmap where Docker Compose and Kubernetes manifests provide a language-agnostic dependency graph, and only the intra-service analysis needs per-language adapters. So the architecture is ready for it, even though the implementation is Java-only today.'
Don't get defensive about limitations. Acknowledging them is more impressive than glossing over them.</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close — about 20 seconds.
Suggested wording:
'To recap: the MSA Detector is a multi-level static analysis tool for Java/Spring Boot microservices, with ten anti-pattern detectors, a composite health score, and evidence-based reporting. The full implementation, evaluation data, and dissertation are available. Thank you — I'm happy to take questions.'
You can also say before 'thank you': 'If there's one thing I'd like you to take away, it's that the bridge between code-level evidence and architectural-level findings is what makes this tool different — it doesn't just say something is wrong, it shows you exactly where in the code the problem lives.'
Then SHUT UP. Don't fill the silence. Let the committee speak.
When the first question comes:
1. Listen to the whole question — don't start composing the answer mid-question.
2. If unclear, ask for clarification: 'Just to make sure I understand — are you asking about X or about Y?'
3. Pause for 2 seconds before answering. Looks thoughtful, not nervous.
4. Answer concisely. If you don't know, say 'I didn't investigate that — my best guess is X but I'd want to verify.'
Common questions to prepare for:
• 'Why God Service threshold = 1?' → false positives cheap, false negatives expensive; configurable.
• 'Why only eleven projects?' → feasibility demo not statistical claim; no labelled corpus exists.
• 'Score compression at the bottom?' → known limitation, a scaled AP penalty would fix.
• 'Why static instead of dynamic?' → applicability over precision; no deployed system required.
• 'Why Spring Boot only?' → biggest Java microservice ecosystem; other frameworks future work.</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slide only — do not spend presentation time here unless the committee asks about sources.
If asked, say: 'These are the selected works that shaped the microservice definition, anti-pattern catalogue, static analysis approach, related tools, and graph algorithms used in the implementation. The complete bibliography is in the dissertation.'</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could just be “presented’ during the live demo, and just shown briefly</a:t>
            </a:r>
          </a:p>
          <a:p>
            <a:endParaRPr lang="en-US" dirty="0"/>
          </a:p>
          <a:p>
            <a:r>
              <a:rPr lang="en-US" dirty="0"/>
              <a:t>• 'Take microservice-recruit — a Spring Cloud recruitment platform. In the anti-pattern category it has 6 API versioning absences, 2 ESB misuse and 2 wrong-cuts findings, 1 cyclic dependency, and 1 hardcoded endpoint — total penalty 49, but the category caps at 40, so it clamps to zero.'
• 'Its single nano service is scored under Service Sizing instead of the anti-pattern category, to avoid double counting — costing 3 points there, leaving 12 of 15.'
• 'Architecture loses 9 points for the structural coupling of its dependency graph — leaving 16 of 25.'
• 'Code Quality is scored by smell density: 260 smells over 8.3K LOC is 31.4 per KLOC, an 8-point deduction, leaving 12 of 20.'
• 'The final composite is 0 + 12 + 16 + 12 = 40 — grade F. Unlike a project whose problems sit in one place, this one loses points in every dimension, which is exactly what the multi-level scoring is meant to surface.'
'What makes this example interesting is that the problems are spread across all four categories — it's not a project with one catastrophic issue, it's a project with consistent low-level neglect across every dimension. That's exactly the kind of systemic debt the multi-category decomposition is designed to surface.’</a:t>
            </a:r>
          </a:p>
          <a:p>
            <a:r>
              <a:rPr lang="en-US" dirty="0"/>
              <a:t>
EXPECT QUESTION: 'Only 8 points lost on Code Quality with 260 smells — why so little?'
Answer: 'Code Quality is scored on smell density per 1000 LOC, not raw count, so a codebase isn't punished just for its size. The category is deliberately bounded so that architectural anti-patterns remain the dominant signal in the overall score.'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only.
Use this if someone asks how the work differs from related tools. Be precise: the novelty is the integrated workflow from source repository to service boundary recovery, graph/code analysis, evidence snippets, scoring, and remediation.</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15</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~45 seconds if included in the main flow.
Talking points:
• 'The evaluation is designed as a feasibility study across heterogeneous open-source systems.'
• 'For each project I measured service count, LOC, anti-pattern findings, dependency graph metrics, smell density, and the resulting health score.'
• 'I am not claiming statistical precision or recall because that would require a labelled benchmark of microservice anti-patterns. Such a corpus is not generally available, so the claim here is that the pipeline works end to end and produces explainable outputs across varied systems.'
Bridge: 'With that framing, here are the actual results.'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only.
Use this if someone asks what you mean by microservice, architectural anti-pattern, service boundary, or evidence-based reporting. Keep the answer short: define the term, then connect it to the implementation.</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17</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only.
Use this for questions such as 'how is cohesion measured?', 'what does edge weight mean?', or 'how do you avoid punishing larger codebases?'. The key answer is that raw counts are normalised when size would otherwise bias the result.</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18</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only.
Use this if someone asks whether the score is reproducible. Emphasise that each category is capped independently, so a bad category cannot consume points from another category. Also acknowledge that weights are engineering judgement and should be calibrated on industrial data in future work.</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19</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only.
Use this if someone asks what a specific anti-pattern means. Give the definition first, then move to Appendix E only if they ask how the tool detects it. This keeps conceptual and implementation questions separate.</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20</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only.
Use this if someone asks 'what exactly triggers detector X?'. Avoid reading the full table. Point to the detector they asked about, state the signal and threshold, then explain that thresholds are configurable and would be calibrated for production use.</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21</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only.
Use this if someone asks for more detail than the threshold table but does not need a full detector walkthrough. Read only the row they asked about: signal, rule, evidence. If they ask for deeper implementation detail, go to the graph, service-boundary, or architecture-internals annex.</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22</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only.
Use this if someone asks about Tarjan, cycles, graph construction, or why graph analysis is relevant. The concise answer is that microservice anti-patterns are often not visible inside one service; they emerge from the shape of dependencies between services.</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23</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only.
Use this if someone asks how services are identified automatically. The core answer: the tool first finds candidate build modules, then applies a deployability gate with HIGH, MEDIUM, and LOW confidence signals.</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24</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only.
Use this if someone asks why you did not use distributed tracing. The concise answer is: dynamic analysis is more precise for runtime behaviour, but static analysis works before deployment and gives source-level evidence.</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25</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only.
Use this if someone challenges the evaluation. Do not overclaim. Say clearly that the work demonstrates feasibility over heterogeneous repositories, while labelled benchmark validation and threshold calibration are future work.</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26</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only.
Use this if someone asks about implementation architecture. Walk left-to-right conceptually: API creates a job, async worker analyses the workspace, engines collect metrics, detectors create findings, scoring and persistence feed the UI.</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27</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A44"/>
        </a:solidFill>
        <a:effectLst/>
      </p:bgPr>
    </p:bg>
    <p:spTree>
      <p:nvGrpSpPr>
        <p:cNvPr id="1" name=""/>
        <p:cNvGrpSpPr/>
        <p:nvPr/>
      </p:nvGrpSpPr>
      <p:grpSpPr>
        <a:xfrm>
          <a:off x="0" y="0"/>
          <a:ext cx="0" cy="0"/>
          <a:chOff x="0" y="0"/>
          <a:chExt cx="0" cy="0"/>
        </a:xfrm>
      </p:grpSpPr>
      <p:sp>
        <p:nvSpPr>
          <p:cNvPr id="2" name="Shape 0"/>
          <p:cNvSpPr/>
          <p:nvPr/>
        </p:nvSpPr>
        <p:spPr>
          <a:xfrm>
            <a:off x="548640" y="1170432"/>
            <a:ext cx="640080" cy="41148"/>
          </a:xfrm>
          <a:prstGeom prst="rect">
            <a:avLst/>
          </a:prstGeom>
          <a:solidFill>
            <a:srgbClr val="0D9488"/>
          </a:solidFill>
          <a:ln w="12700">
            <a:solidFill>
              <a:srgbClr val="0D9488"/>
            </a:solidFill>
            <a:prstDash val="solid"/>
          </a:ln>
        </p:spPr>
        <p:txBody>
          <a:bodyPr/>
          <a:lstStyle/>
          <a:p>
            <a:endParaRPr lang="en-US"/>
          </a:p>
        </p:txBody>
      </p:sp>
      <p:sp>
        <p:nvSpPr>
          <p:cNvPr id="3" name="Text 1"/>
          <p:cNvSpPr/>
          <p:nvPr/>
        </p:nvSpPr>
        <p:spPr>
          <a:xfrm>
            <a:off x="548640" y="1371600"/>
            <a:ext cx="7863840" cy="1417320"/>
          </a:xfrm>
          <a:prstGeom prst="rect">
            <a:avLst/>
          </a:prstGeom>
          <a:noFill/>
          <a:ln/>
        </p:spPr>
        <p:txBody>
          <a:bodyPr wrap="square" lIns="0" tIns="0" rIns="0" bIns="0" rtlCol="0" anchor="ctr"/>
          <a:lstStyle/>
          <a:p>
            <a:pPr marL="0" indent="0">
              <a:spcAft>
                <a:spcPts val="400"/>
              </a:spcAft>
              <a:buNone/>
            </a:pPr>
            <a:r>
              <a:rPr lang="en-US" sz="3200" b="1" dirty="0">
                <a:solidFill>
                  <a:srgbClr val="FFFFFF"/>
                </a:solidFill>
                <a:latin typeface="Calibri" pitchFamily="34" charset="0"/>
                <a:ea typeface="Calibri" pitchFamily="34" charset="-122"/>
                <a:cs typeface="Calibri" pitchFamily="34" charset="-120"/>
              </a:rPr>
              <a:t>Detecting Architectural</a:t>
            </a:r>
            <a:endParaRPr lang="en-US" sz="3200" dirty="0"/>
          </a:p>
          <a:p>
            <a:pPr marL="0" indent="0">
              <a:spcAft>
                <a:spcPts val="400"/>
              </a:spcAft>
              <a:buNone/>
            </a:pPr>
            <a:r>
              <a:rPr lang="en-US" sz="3200" b="1" dirty="0">
                <a:solidFill>
                  <a:srgbClr val="FFFFFF"/>
                </a:solidFill>
                <a:latin typeface="Calibri" pitchFamily="34" charset="0"/>
                <a:ea typeface="Calibri" pitchFamily="34" charset="-122"/>
                <a:cs typeface="Calibri" pitchFamily="34" charset="-120"/>
              </a:rPr>
              <a:t>Anti-Patterns in Microservices</a:t>
            </a:r>
            <a:endParaRPr lang="en-US" sz="3200" dirty="0"/>
          </a:p>
        </p:txBody>
      </p:sp>
      <p:sp>
        <p:nvSpPr>
          <p:cNvPr id="4" name="Text 2"/>
          <p:cNvSpPr/>
          <p:nvPr/>
        </p:nvSpPr>
        <p:spPr>
          <a:xfrm>
            <a:off x="548640" y="2834640"/>
            <a:ext cx="7863840" cy="365760"/>
          </a:xfrm>
          <a:prstGeom prst="rect">
            <a:avLst/>
          </a:prstGeom>
          <a:noFill/>
          <a:ln/>
        </p:spPr>
        <p:txBody>
          <a:bodyPr wrap="square" lIns="0" tIns="0" rIns="0" bIns="0" rtlCol="0" anchor="ctr"/>
          <a:lstStyle/>
          <a:p>
            <a:pPr marL="0" indent="0">
              <a:buNone/>
            </a:pPr>
            <a:r>
              <a:rPr lang="en-US" sz="1500" i="1" dirty="0">
                <a:solidFill>
                  <a:srgbClr val="DBEAFE"/>
                </a:solidFill>
                <a:latin typeface="Calibri" pitchFamily="34" charset="0"/>
                <a:ea typeface="Calibri" pitchFamily="34" charset="-122"/>
                <a:cs typeface="Calibri" pitchFamily="34" charset="-120"/>
              </a:rPr>
              <a:t>A multi-level static analysis tool for Java/Spring Boot systems</a:t>
            </a:r>
            <a:endParaRPr lang="en-US" sz="1500" dirty="0"/>
          </a:p>
        </p:txBody>
      </p:sp>
      <p:sp>
        <p:nvSpPr>
          <p:cNvPr id="5" name="Text 3"/>
          <p:cNvSpPr/>
          <p:nvPr/>
        </p:nvSpPr>
        <p:spPr>
          <a:xfrm>
            <a:off x="548640" y="3794760"/>
            <a:ext cx="7863840" cy="1051560"/>
          </a:xfrm>
          <a:prstGeom prst="rect">
            <a:avLst/>
          </a:prstGeom>
          <a:noFill/>
          <a:ln/>
        </p:spPr>
        <p:txBody>
          <a:bodyPr wrap="square" lIns="0" tIns="0" rIns="0" bIns="0" rtlCol="0" anchor="ctr"/>
          <a:lstStyle/>
          <a:p>
            <a:pPr marL="0" indent="0">
              <a:spcAft>
                <a:spcPts val="200"/>
              </a:spcAft>
              <a:buNone/>
            </a:pPr>
            <a:r>
              <a:rPr lang="en-US" sz="1500" b="1" dirty="0">
                <a:solidFill>
                  <a:srgbClr val="FFFFFF"/>
                </a:solidFill>
                <a:latin typeface="Calibri" pitchFamily="34" charset="0"/>
                <a:ea typeface="Calibri" pitchFamily="34" charset="-122"/>
                <a:cs typeface="Calibri" pitchFamily="34" charset="-120"/>
              </a:rPr>
              <a:t>Iacob Andrei</a:t>
            </a:r>
            <a:endParaRPr lang="en-US" sz="1500" dirty="0"/>
          </a:p>
          <a:p>
            <a:pPr>
              <a:spcAft>
                <a:spcPts val="200"/>
              </a:spcAft>
            </a:pPr>
            <a:r>
              <a:rPr lang="en-US" sz="1150" dirty="0">
                <a:solidFill>
                  <a:srgbClr val="DBEAFE"/>
                </a:solidFill>
                <a:latin typeface="Calibri" pitchFamily="34" charset="0"/>
                <a:ea typeface="Calibri" pitchFamily="34" charset="-122"/>
                <a:cs typeface="Calibri" pitchFamily="34" charset="-120"/>
              </a:rPr>
              <a:t>Diagnosing the Distributed: A Static Analysis Approach to Microservice Anti-Pattern Detection</a:t>
            </a:r>
          </a:p>
          <a:p>
            <a:pPr marL="0" indent="0">
              <a:spcAft>
                <a:spcPts val="200"/>
              </a:spcAft>
              <a:buNone/>
            </a:pPr>
            <a:r>
              <a:rPr lang="en-US" sz="1150" dirty="0">
                <a:solidFill>
                  <a:srgbClr val="DBEAFE"/>
                </a:solidFill>
                <a:latin typeface="Calibri" pitchFamily="34" charset="0"/>
                <a:ea typeface="Calibri" pitchFamily="34" charset="-122"/>
                <a:cs typeface="Calibri" pitchFamily="34" charset="-120"/>
              </a:rPr>
              <a:t>Supervisor: Prof. Dr. Simona </a:t>
            </a:r>
            <a:r>
              <a:rPr lang="en-US" sz="1150" dirty="0" err="1">
                <a:solidFill>
                  <a:srgbClr val="DBEAFE"/>
                </a:solidFill>
                <a:latin typeface="Calibri" pitchFamily="34" charset="0"/>
                <a:ea typeface="Calibri" pitchFamily="34" charset="-122"/>
                <a:cs typeface="Calibri" pitchFamily="34" charset="-120"/>
              </a:rPr>
              <a:t>Motogna</a:t>
            </a:r>
            <a:endParaRPr lang="en-US" sz="1500" dirty="0"/>
          </a:p>
          <a:p>
            <a:pPr marL="0" indent="0">
              <a:spcAft>
                <a:spcPts val="200"/>
              </a:spcAft>
              <a:buNone/>
            </a:pPr>
            <a:r>
              <a:rPr lang="en-US" sz="1100" i="1" dirty="0">
                <a:solidFill>
                  <a:srgbClr val="DBEAFE"/>
                </a:solidFill>
                <a:latin typeface="Calibri" pitchFamily="34" charset="0"/>
                <a:ea typeface="Calibri" pitchFamily="34" charset="-122"/>
                <a:cs typeface="Calibri" pitchFamily="34" charset="-120"/>
              </a:rPr>
              <a:t>Faculty of Mathematics and Computer Science, Babeş-Bolyai University</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marL="0" indent="0">
              <a:buNone/>
            </a:pPr>
            <a:r>
              <a:rPr lang="en-US" sz="2500" b="1" dirty="0">
                <a:solidFill>
                  <a:srgbClr val="0F2A44"/>
                </a:solidFill>
                <a:latin typeface="Calibri" pitchFamily="34" charset="0"/>
                <a:ea typeface="Calibri" pitchFamily="34" charset="-122"/>
                <a:cs typeface="Calibri" pitchFamily="34" charset="-120"/>
              </a:rPr>
              <a:t>Why this matters</a:t>
            </a:r>
            <a:endParaRPr lang="en-US" sz="2500" dirty="0"/>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txBody>
          <a:bodyPr/>
          <a:lstStyle/>
          <a:p>
            <a:endParaRPr lang="en-US"/>
          </a:p>
        </p:txBody>
      </p:sp>
      <p:sp>
        <p:nvSpPr>
          <p:cNvPr id="4" name="Text 2"/>
          <p:cNvSpPr/>
          <p:nvPr/>
        </p:nvSpPr>
        <p:spPr>
          <a:xfrm>
            <a:off x="548640" y="987552"/>
            <a:ext cx="8046720" cy="365760"/>
          </a:xfrm>
          <a:prstGeom prst="rect">
            <a:avLst/>
          </a:prstGeom>
          <a:noFill/>
          <a:ln/>
        </p:spPr>
        <p:txBody>
          <a:bodyPr wrap="square" lIns="0" tIns="0" rIns="0" bIns="0" rtlCol="0" anchor="ctr"/>
          <a:lstStyle/>
          <a:p>
            <a:pPr marL="0" indent="0">
              <a:buNone/>
            </a:pPr>
            <a:r>
              <a:rPr lang="en-US" sz="1500" i="1" dirty="0">
                <a:solidFill>
                  <a:srgbClr val="64748B"/>
                </a:solidFill>
                <a:latin typeface="Calibri" pitchFamily="34" charset="0"/>
                <a:ea typeface="Calibri" pitchFamily="34" charset="-122"/>
                <a:cs typeface="Calibri" pitchFamily="34" charset="-120"/>
              </a:rPr>
              <a:t>Microservices adoption has outpaced tooling</a:t>
            </a:r>
            <a:endParaRPr lang="en-US" sz="1500" dirty="0"/>
          </a:p>
        </p:txBody>
      </p:sp>
      <p:sp>
        <p:nvSpPr>
          <p:cNvPr id="5" name="Text 3"/>
          <p:cNvSpPr/>
          <p:nvPr/>
        </p:nvSpPr>
        <p:spPr>
          <a:xfrm>
            <a:off x="548640" y="1481328"/>
            <a:ext cx="457200" cy="502920"/>
          </a:xfrm>
          <a:prstGeom prst="rect">
            <a:avLst/>
          </a:prstGeom>
          <a:noFill/>
          <a:ln/>
        </p:spPr>
        <p:txBody>
          <a:bodyPr wrap="square" lIns="0" tIns="0" rIns="0" bIns="0" rtlCol="0" anchor="ctr"/>
          <a:lstStyle/>
          <a:p>
            <a:pPr marL="0" indent="0">
              <a:buNone/>
            </a:pPr>
            <a:r>
              <a:rPr lang="en-US" sz="2600" b="1" dirty="0">
                <a:solidFill>
                  <a:srgbClr val="C2CCD6"/>
                </a:solidFill>
                <a:latin typeface="Calibri" pitchFamily="34" charset="0"/>
                <a:ea typeface="Calibri" pitchFamily="34" charset="-122"/>
                <a:cs typeface="Calibri" pitchFamily="34" charset="-120"/>
              </a:rPr>
              <a:t>1</a:t>
            </a:r>
            <a:endParaRPr lang="en-US" sz="2600" dirty="0"/>
          </a:p>
        </p:txBody>
      </p:sp>
      <p:sp>
        <p:nvSpPr>
          <p:cNvPr id="6" name="Text 4"/>
          <p:cNvSpPr/>
          <p:nvPr/>
        </p:nvSpPr>
        <p:spPr>
          <a:xfrm>
            <a:off x="1188720" y="1536192"/>
            <a:ext cx="7406640" cy="292608"/>
          </a:xfrm>
          <a:prstGeom prst="rect">
            <a:avLst/>
          </a:prstGeom>
          <a:noFill/>
          <a:ln/>
        </p:spPr>
        <p:txBody>
          <a:bodyPr wrap="square" lIns="0" tIns="0" rIns="0" bIns="0" rtlCol="0" anchor="ctr"/>
          <a:lstStyle/>
          <a:p>
            <a:pPr marL="0" indent="0">
              <a:buNone/>
            </a:pPr>
            <a:r>
              <a:rPr lang="en-US" sz="1400" b="1" dirty="0">
                <a:solidFill>
                  <a:srgbClr val="0F2A44"/>
                </a:solidFill>
                <a:latin typeface="Calibri" pitchFamily="34" charset="0"/>
                <a:ea typeface="Calibri" pitchFamily="34" charset="-122"/>
                <a:cs typeface="Calibri" pitchFamily="34" charset="-120"/>
              </a:rPr>
              <a:t>Architectural debt accumulates silently</a:t>
            </a:r>
            <a:endParaRPr lang="en-US" sz="1400" dirty="0"/>
          </a:p>
        </p:txBody>
      </p:sp>
      <p:sp>
        <p:nvSpPr>
          <p:cNvPr id="7" name="Text 5"/>
          <p:cNvSpPr/>
          <p:nvPr/>
        </p:nvSpPr>
        <p:spPr>
          <a:xfrm>
            <a:off x="1188720" y="1837944"/>
            <a:ext cx="7406640" cy="457200"/>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Shared databases, cyclic dependencies, and ill-sized services erode the benefits microservices promise.</a:t>
            </a:r>
            <a:endParaRPr lang="en-US" sz="1150" dirty="0"/>
          </a:p>
        </p:txBody>
      </p:sp>
      <p:sp>
        <p:nvSpPr>
          <p:cNvPr id="8" name="Text 6"/>
          <p:cNvSpPr/>
          <p:nvPr/>
        </p:nvSpPr>
        <p:spPr>
          <a:xfrm>
            <a:off x="548640" y="2322576"/>
            <a:ext cx="457200" cy="502920"/>
          </a:xfrm>
          <a:prstGeom prst="rect">
            <a:avLst/>
          </a:prstGeom>
          <a:noFill/>
          <a:ln/>
        </p:spPr>
        <p:txBody>
          <a:bodyPr wrap="square" lIns="0" tIns="0" rIns="0" bIns="0" rtlCol="0" anchor="ctr"/>
          <a:lstStyle/>
          <a:p>
            <a:pPr marL="0" indent="0">
              <a:buNone/>
            </a:pPr>
            <a:r>
              <a:rPr lang="en-US" sz="2600" b="1" dirty="0">
                <a:solidFill>
                  <a:srgbClr val="C2CCD6"/>
                </a:solidFill>
                <a:latin typeface="Calibri" pitchFamily="34" charset="0"/>
                <a:ea typeface="Calibri" pitchFamily="34" charset="-122"/>
                <a:cs typeface="Calibri" pitchFamily="34" charset="-120"/>
              </a:rPr>
              <a:t>2</a:t>
            </a:r>
            <a:endParaRPr lang="en-US" sz="2600" dirty="0"/>
          </a:p>
        </p:txBody>
      </p:sp>
      <p:sp>
        <p:nvSpPr>
          <p:cNvPr id="9" name="Text 7"/>
          <p:cNvSpPr/>
          <p:nvPr/>
        </p:nvSpPr>
        <p:spPr>
          <a:xfrm>
            <a:off x="1188720" y="2377440"/>
            <a:ext cx="7406640" cy="292608"/>
          </a:xfrm>
          <a:prstGeom prst="rect">
            <a:avLst/>
          </a:prstGeom>
          <a:noFill/>
          <a:ln/>
        </p:spPr>
        <p:txBody>
          <a:bodyPr wrap="square" lIns="0" tIns="0" rIns="0" bIns="0" rtlCol="0" anchor="ctr"/>
          <a:lstStyle/>
          <a:p>
            <a:pPr marL="0" indent="0">
              <a:buNone/>
            </a:pPr>
            <a:r>
              <a:rPr lang="en-US" sz="1400" b="1" dirty="0">
                <a:solidFill>
                  <a:srgbClr val="0F2A44"/>
                </a:solidFill>
                <a:latin typeface="Calibri" pitchFamily="34" charset="0"/>
                <a:ea typeface="Calibri" pitchFamily="34" charset="-122"/>
                <a:cs typeface="Calibri" pitchFamily="34" charset="-120"/>
              </a:rPr>
              <a:t>Related tools vary in scope</a:t>
            </a:r>
            <a:endParaRPr lang="en-US" sz="1400" dirty="0"/>
          </a:p>
        </p:txBody>
      </p:sp>
      <p:sp>
        <p:nvSpPr>
          <p:cNvPr id="10" name="Text 8"/>
          <p:cNvSpPr/>
          <p:nvPr/>
        </p:nvSpPr>
        <p:spPr>
          <a:xfrm>
            <a:off x="1188720" y="2679192"/>
            <a:ext cx="7406640" cy="457200"/>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Prior tools such as Arcan, MicroART, MSANose, and MARS address important slices of the problem, but differ in scope and output.</a:t>
            </a:r>
            <a:endParaRPr lang="en-US" sz="1150" dirty="0"/>
          </a:p>
        </p:txBody>
      </p:sp>
      <p:sp>
        <p:nvSpPr>
          <p:cNvPr id="11" name="Text 9"/>
          <p:cNvSpPr/>
          <p:nvPr/>
        </p:nvSpPr>
        <p:spPr>
          <a:xfrm>
            <a:off x="548640" y="3163824"/>
            <a:ext cx="457200" cy="502920"/>
          </a:xfrm>
          <a:prstGeom prst="rect">
            <a:avLst/>
          </a:prstGeom>
          <a:noFill/>
          <a:ln/>
        </p:spPr>
        <p:txBody>
          <a:bodyPr wrap="square" lIns="0" tIns="0" rIns="0" bIns="0" rtlCol="0" anchor="ctr"/>
          <a:lstStyle/>
          <a:p>
            <a:pPr marL="0" indent="0">
              <a:buNone/>
            </a:pPr>
            <a:r>
              <a:rPr lang="en-US" sz="2600" b="1" dirty="0">
                <a:solidFill>
                  <a:srgbClr val="C2CCD6"/>
                </a:solidFill>
                <a:latin typeface="Calibri" pitchFamily="34" charset="0"/>
                <a:ea typeface="Calibri" pitchFamily="34" charset="-122"/>
                <a:cs typeface="Calibri" pitchFamily="34" charset="-120"/>
              </a:rPr>
              <a:t>3</a:t>
            </a:r>
            <a:endParaRPr lang="en-US" sz="2600" dirty="0"/>
          </a:p>
        </p:txBody>
      </p:sp>
      <p:sp>
        <p:nvSpPr>
          <p:cNvPr id="12" name="Text 10"/>
          <p:cNvSpPr/>
          <p:nvPr/>
        </p:nvSpPr>
        <p:spPr>
          <a:xfrm>
            <a:off x="1188720" y="3218688"/>
            <a:ext cx="7406640" cy="292608"/>
          </a:xfrm>
          <a:prstGeom prst="rect">
            <a:avLst/>
          </a:prstGeom>
          <a:noFill/>
          <a:ln/>
        </p:spPr>
        <p:txBody>
          <a:bodyPr wrap="square" lIns="0" tIns="0" rIns="0" bIns="0" rtlCol="0" anchor="ctr"/>
          <a:lstStyle/>
          <a:p>
            <a:pPr marL="0" indent="0">
              <a:buNone/>
            </a:pPr>
            <a:r>
              <a:rPr lang="en-US" sz="1400" b="1" dirty="0">
                <a:solidFill>
                  <a:srgbClr val="0F2A44"/>
                </a:solidFill>
                <a:latin typeface="Calibri" pitchFamily="34" charset="0"/>
                <a:ea typeface="Calibri" pitchFamily="34" charset="-122"/>
                <a:cs typeface="Calibri" pitchFamily="34" charset="-120"/>
              </a:rPr>
              <a:t>Findings without evidence don't help</a:t>
            </a:r>
            <a:endParaRPr lang="en-US" sz="1400" dirty="0"/>
          </a:p>
        </p:txBody>
      </p:sp>
      <p:sp>
        <p:nvSpPr>
          <p:cNvPr id="13" name="Text 11"/>
          <p:cNvSpPr/>
          <p:nvPr/>
        </p:nvSpPr>
        <p:spPr>
          <a:xfrm>
            <a:off x="1188720" y="3520440"/>
            <a:ext cx="7406640" cy="457200"/>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Warnings without source snippets, affected services, or remediation guidance get ignored.</a:t>
            </a:r>
            <a:endParaRPr lang="en-US" sz="1150" dirty="0"/>
          </a:p>
        </p:txBody>
      </p:sp>
      <p:sp>
        <p:nvSpPr>
          <p:cNvPr id="14" name="Shape 12"/>
          <p:cNvSpPr/>
          <p:nvPr/>
        </p:nvSpPr>
        <p:spPr>
          <a:xfrm>
            <a:off x="548640" y="4206240"/>
            <a:ext cx="457200" cy="36576"/>
          </a:xfrm>
          <a:prstGeom prst="rect">
            <a:avLst/>
          </a:prstGeom>
          <a:solidFill>
            <a:srgbClr val="0D9488"/>
          </a:solidFill>
          <a:ln w="12700">
            <a:solidFill>
              <a:srgbClr val="0D9488"/>
            </a:solidFill>
            <a:prstDash val="solid"/>
          </a:ln>
        </p:spPr>
        <p:txBody>
          <a:bodyPr/>
          <a:lstStyle/>
          <a:p>
            <a:endParaRPr lang="en-US"/>
          </a:p>
        </p:txBody>
      </p:sp>
      <p:sp>
        <p:nvSpPr>
          <p:cNvPr id="15" name="Text 13"/>
          <p:cNvSpPr/>
          <p:nvPr/>
        </p:nvSpPr>
        <p:spPr>
          <a:xfrm>
            <a:off x="548640" y="4315968"/>
            <a:ext cx="8046720" cy="365760"/>
          </a:xfrm>
          <a:prstGeom prst="rect">
            <a:avLst/>
          </a:prstGeom>
          <a:noFill/>
          <a:ln/>
        </p:spPr>
        <p:txBody>
          <a:bodyPr wrap="square" lIns="0" tIns="0" rIns="0" bIns="0" rtlCol="0" anchor="ctr"/>
          <a:lstStyle/>
          <a:p>
            <a:pPr marL="0" indent="0">
              <a:buNone/>
            </a:pPr>
            <a:r>
              <a:rPr lang="en-US" sz="1300" b="1" dirty="0">
                <a:solidFill>
                  <a:srgbClr val="0F2A44"/>
                </a:solidFill>
                <a:latin typeface="Calibri" pitchFamily="34" charset="0"/>
                <a:ea typeface="Calibri" pitchFamily="34" charset="-122"/>
                <a:cs typeface="Calibri" pitchFamily="34" charset="-120"/>
              </a:rPr>
              <a:t>Goal: actionable, evidence-based detection that bridges code and architecture levels</a:t>
            </a:r>
            <a:endParaRPr lang="en-US" sz="1300" dirty="0"/>
          </a:p>
        </p:txBody>
      </p:sp>
      <p:sp>
        <p:nvSpPr>
          <p:cNvPr id="16" name="Text 14"/>
          <p:cNvSpPr/>
          <p:nvPr/>
        </p:nvSpPr>
        <p:spPr>
          <a:xfrm>
            <a:off x="7955280" y="4864608"/>
            <a:ext cx="640080" cy="22860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2 / 12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marL="0" indent="0">
              <a:buNone/>
            </a:pPr>
            <a:r>
              <a:rPr lang="en-US" sz="2500" b="1" dirty="0">
                <a:solidFill>
                  <a:srgbClr val="0F2A44"/>
                </a:solidFill>
                <a:latin typeface="Calibri" pitchFamily="34" charset="0"/>
                <a:ea typeface="Calibri" pitchFamily="34" charset="-122"/>
                <a:cs typeface="Calibri" pitchFamily="34" charset="-120"/>
              </a:rPr>
              <a:t>Contributions</a:t>
            </a:r>
            <a:endParaRPr lang="en-US" sz="2500" dirty="0"/>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txBody>
          <a:bodyPr/>
          <a:lstStyle/>
          <a:p>
            <a:endParaRPr lang="en-US"/>
          </a:p>
        </p:txBody>
      </p:sp>
      <p:sp>
        <p:nvSpPr>
          <p:cNvPr id="4" name="Text 2"/>
          <p:cNvSpPr/>
          <p:nvPr/>
        </p:nvSpPr>
        <p:spPr>
          <a:xfrm>
            <a:off x="548640" y="1005840"/>
            <a:ext cx="411480" cy="365760"/>
          </a:xfrm>
          <a:prstGeom prst="rect">
            <a:avLst/>
          </a:prstGeom>
          <a:noFill/>
          <a:ln/>
        </p:spPr>
        <p:txBody>
          <a:bodyPr wrap="square" lIns="0" tIns="0" rIns="0" bIns="0" rtlCol="0" anchor="ctr"/>
          <a:lstStyle/>
          <a:p>
            <a:pPr marL="0" indent="0">
              <a:buNone/>
            </a:pPr>
            <a:r>
              <a:rPr lang="en-US" sz="1700" b="1" dirty="0">
                <a:solidFill>
                  <a:srgbClr val="0D9488"/>
                </a:solidFill>
                <a:latin typeface="Calibri" pitchFamily="34" charset="0"/>
                <a:ea typeface="Calibri" pitchFamily="34" charset="-122"/>
                <a:cs typeface="Calibri" pitchFamily="34" charset="-120"/>
              </a:rPr>
              <a:t>1</a:t>
            </a:r>
            <a:endParaRPr lang="en-US" sz="1700" dirty="0"/>
          </a:p>
        </p:txBody>
      </p:sp>
      <p:sp>
        <p:nvSpPr>
          <p:cNvPr id="5" name="Text 3"/>
          <p:cNvSpPr/>
          <p:nvPr/>
        </p:nvSpPr>
        <p:spPr>
          <a:xfrm>
            <a:off x="1097280" y="1024128"/>
            <a:ext cx="7498080" cy="292608"/>
          </a:xfrm>
          <a:prstGeom prst="rect">
            <a:avLst/>
          </a:prstGeom>
          <a:noFill/>
          <a:ln/>
        </p:spPr>
        <p:txBody>
          <a:bodyPr wrap="square" lIns="0" tIns="0" rIns="0" bIns="0" rtlCol="0" anchor="ctr"/>
          <a:lstStyle/>
          <a:p>
            <a:pPr marL="0" indent="0">
              <a:buNone/>
            </a:pPr>
            <a:r>
              <a:rPr lang="en-US" sz="1400" b="1" dirty="0">
                <a:solidFill>
                  <a:srgbClr val="0F2A44"/>
                </a:solidFill>
                <a:latin typeface="Calibri" pitchFamily="34" charset="0"/>
                <a:ea typeface="Calibri" pitchFamily="34" charset="-122"/>
                <a:cs typeface="Calibri" pitchFamily="34" charset="-120"/>
              </a:rPr>
              <a:t>Multi-level analysis</a:t>
            </a:r>
            <a:endParaRPr lang="en-US" sz="1400" dirty="0"/>
          </a:p>
        </p:txBody>
      </p:sp>
      <p:sp>
        <p:nvSpPr>
          <p:cNvPr id="6" name="Text 4"/>
          <p:cNvSpPr/>
          <p:nvPr/>
        </p:nvSpPr>
        <p:spPr>
          <a:xfrm>
            <a:off x="1097280" y="1316736"/>
            <a:ext cx="7498080" cy="384048"/>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Combines intra-service code analysis (DesigniteJava smells + Spoon structural metrics) with inter-service dependency analysis (graph algorithms)</a:t>
            </a:r>
            <a:endParaRPr lang="en-US" sz="1100" dirty="0"/>
          </a:p>
        </p:txBody>
      </p:sp>
      <p:sp>
        <p:nvSpPr>
          <p:cNvPr id="7" name="Text 5"/>
          <p:cNvSpPr/>
          <p:nvPr/>
        </p:nvSpPr>
        <p:spPr>
          <a:xfrm>
            <a:off x="548640" y="1700784"/>
            <a:ext cx="411480" cy="365760"/>
          </a:xfrm>
          <a:prstGeom prst="rect">
            <a:avLst/>
          </a:prstGeom>
          <a:noFill/>
          <a:ln/>
        </p:spPr>
        <p:txBody>
          <a:bodyPr wrap="square" lIns="0" tIns="0" rIns="0" bIns="0" rtlCol="0" anchor="ctr"/>
          <a:lstStyle/>
          <a:p>
            <a:pPr marL="0" indent="0">
              <a:buNone/>
            </a:pPr>
            <a:r>
              <a:rPr lang="en-US" sz="1700" b="1" dirty="0">
                <a:solidFill>
                  <a:srgbClr val="0D9488"/>
                </a:solidFill>
                <a:latin typeface="Calibri" pitchFamily="34" charset="0"/>
                <a:ea typeface="Calibri" pitchFamily="34" charset="-122"/>
                <a:cs typeface="Calibri" pitchFamily="34" charset="-120"/>
              </a:rPr>
              <a:t>2</a:t>
            </a:r>
            <a:endParaRPr lang="en-US" sz="1700" dirty="0"/>
          </a:p>
        </p:txBody>
      </p:sp>
      <p:sp>
        <p:nvSpPr>
          <p:cNvPr id="8" name="Text 6"/>
          <p:cNvSpPr/>
          <p:nvPr/>
        </p:nvSpPr>
        <p:spPr>
          <a:xfrm>
            <a:off x="1097280" y="1719072"/>
            <a:ext cx="7498080" cy="292608"/>
          </a:xfrm>
          <a:prstGeom prst="rect">
            <a:avLst/>
          </a:prstGeom>
          <a:noFill/>
          <a:ln/>
        </p:spPr>
        <p:txBody>
          <a:bodyPr wrap="square" lIns="0" tIns="0" rIns="0" bIns="0" rtlCol="0" anchor="ctr"/>
          <a:lstStyle/>
          <a:p>
            <a:pPr marL="0" indent="0">
              <a:buNone/>
            </a:pPr>
            <a:r>
              <a:rPr lang="en-US" sz="1400" b="1" dirty="0">
                <a:solidFill>
                  <a:srgbClr val="0F2A44"/>
                </a:solidFill>
                <a:latin typeface="Calibri" pitchFamily="34" charset="0"/>
                <a:ea typeface="Calibri" pitchFamily="34" charset="-122"/>
                <a:cs typeface="Calibri" pitchFamily="34" charset="-120"/>
              </a:rPr>
              <a:t>Ten anti-patterns detected</a:t>
            </a:r>
            <a:endParaRPr lang="en-US" sz="1400" dirty="0"/>
          </a:p>
        </p:txBody>
      </p:sp>
      <p:sp>
        <p:nvSpPr>
          <p:cNvPr id="9" name="Text 7"/>
          <p:cNvSpPr/>
          <p:nvPr/>
        </p:nvSpPr>
        <p:spPr>
          <a:xfrm>
            <a:off x="1097280" y="2011680"/>
            <a:ext cx="7498080" cy="384048"/>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Across four dimensions: service design, communication, data management, deployment &amp; coupling</a:t>
            </a:r>
            <a:endParaRPr lang="en-US" sz="1100" dirty="0"/>
          </a:p>
        </p:txBody>
      </p:sp>
      <p:sp>
        <p:nvSpPr>
          <p:cNvPr id="10" name="Text 8"/>
          <p:cNvSpPr/>
          <p:nvPr/>
        </p:nvSpPr>
        <p:spPr>
          <a:xfrm>
            <a:off x="548640" y="2395728"/>
            <a:ext cx="411480" cy="365760"/>
          </a:xfrm>
          <a:prstGeom prst="rect">
            <a:avLst/>
          </a:prstGeom>
          <a:noFill/>
          <a:ln/>
        </p:spPr>
        <p:txBody>
          <a:bodyPr wrap="square" lIns="0" tIns="0" rIns="0" bIns="0" rtlCol="0" anchor="ctr"/>
          <a:lstStyle/>
          <a:p>
            <a:pPr marL="0" indent="0">
              <a:buNone/>
            </a:pPr>
            <a:r>
              <a:rPr lang="en-US" sz="1700" b="1" dirty="0">
                <a:solidFill>
                  <a:srgbClr val="0D9488"/>
                </a:solidFill>
                <a:latin typeface="Calibri" pitchFamily="34" charset="0"/>
                <a:ea typeface="Calibri" pitchFamily="34" charset="-122"/>
                <a:cs typeface="Calibri" pitchFamily="34" charset="-120"/>
              </a:rPr>
              <a:t>3</a:t>
            </a:r>
            <a:endParaRPr lang="en-US" sz="1700" dirty="0"/>
          </a:p>
        </p:txBody>
      </p:sp>
      <p:sp>
        <p:nvSpPr>
          <p:cNvPr id="11" name="Text 9"/>
          <p:cNvSpPr/>
          <p:nvPr/>
        </p:nvSpPr>
        <p:spPr>
          <a:xfrm>
            <a:off x="1097280" y="2414016"/>
            <a:ext cx="7498080" cy="292608"/>
          </a:xfrm>
          <a:prstGeom prst="rect">
            <a:avLst/>
          </a:prstGeom>
          <a:noFill/>
          <a:ln/>
        </p:spPr>
        <p:txBody>
          <a:bodyPr wrap="square" lIns="0" tIns="0" rIns="0" bIns="0" rtlCol="0" anchor="ctr"/>
          <a:lstStyle/>
          <a:p>
            <a:pPr marL="0" indent="0">
              <a:buNone/>
            </a:pPr>
            <a:r>
              <a:rPr lang="en-US" sz="1400" b="1" dirty="0">
                <a:solidFill>
                  <a:srgbClr val="0F2A44"/>
                </a:solidFill>
                <a:latin typeface="Calibri" pitchFamily="34" charset="0"/>
                <a:ea typeface="Calibri" pitchFamily="34" charset="-122"/>
                <a:cs typeface="Calibri" pitchFamily="34" charset="-120"/>
              </a:rPr>
              <a:t>Automated boundary detection</a:t>
            </a:r>
            <a:endParaRPr lang="en-US" sz="1400" dirty="0"/>
          </a:p>
        </p:txBody>
      </p:sp>
      <p:sp>
        <p:nvSpPr>
          <p:cNvPr id="12" name="Text 10"/>
          <p:cNvSpPr/>
          <p:nvPr/>
        </p:nvSpPr>
        <p:spPr>
          <a:xfrm>
            <a:off x="1097280" y="2706624"/>
            <a:ext cx="7498080" cy="384048"/>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Three-signal deployability gate (framework entry point, Dockerfile, main method) with confidence levels</a:t>
            </a:r>
            <a:endParaRPr lang="en-US" sz="1100" dirty="0"/>
          </a:p>
        </p:txBody>
      </p:sp>
      <p:sp>
        <p:nvSpPr>
          <p:cNvPr id="13" name="Text 11"/>
          <p:cNvSpPr/>
          <p:nvPr/>
        </p:nvSpPr>
        <p:spPr>
          <a:xfrm>
            <a:off x="548640" y="3090672"/>
            <a:ext cx="411480" cy="365760"/>
          </a:xfrm>
          <a:prstGeom prst="rect">
            <a:avLst/>
          </a:prstGeom>
          <a:noFill/>
          <a:ln/>
        </p:spPr>
        <p:txBody>
          <a:bodyPr wrap="square" lIns="0" tIns="0" rIns="0" bIns="0" rtlCol="0" anchor="ctr"/>
          <a:lstStyle/>
          <a:p>
            <a:pPr marL="0" indent="0">
              <a:buNone/>
            </a:pPr>
            <a:r>
              <a:rPr lang="en-US" sz="1700" b="1" dirty="0">
                <a:solidFill>
                  <a:srgbClr val="0D9488"/>
                </a:solidFill>
                <a:latin typeface="Calibri" pitchFamily="34" charset="0"/>
                <a:ea typeface="Calibri" pitchFamily="34" charset="-122"/>
                <a:cs typeface="Calibri" pitchFamily="34" charset="-120"/>
              </a:rPr>
              <a:t>4</a:t>
            </a:r>
            <a:endParaRPr lang="en-US" sz="1700" dirty="0"/>
          </a:p>
        </p:txBody>
      </p:sp>
      <p:sp>
        <p:nvSpPr>
          <p:cNvPr id="14" name="Text 12"/>
          <p:cNvSpPr/>
          <p:nvPr/>
        </p:nvSpPr>
        <p:spPr>
          <a:xfrm>
            <a:off x="1097280" y="3108960"/>
            <a:ext cx="7498080" cy="292608"/>
          </a:xfrm>
          <a:prstGeom prst="rect">
            <a:avLst/>
          </a:prstGeom>
          <a:noFill/>
          <a:ln/>
        </p:spPr>
        <p:txBody>
          <a:bodyPr wrap="square" lIns="0" tIns="0" rIns="0" bIns="0" rtlCol="0" anchor="ctr"/>
          <a:lstStyle/>
          <a:p>
            <a:pPr marL="0" indent="0">
              <a:buNone/>
            </a:pPr>
            <a:r>
              <a:rPr lang="en-US" sz="1400" b="1" dirty="0">
                <a:solidFill>
                  <a:srgbClr val="0F2A44"/>
                </a:solidFill>
                <a:latin typeface="Calibri" pitchFamily="34" charset="0"/>
                <a:ea typeface="Calibri" pitchFamily="34" charset="-122"/>
                <a:cs typeface="Calibri" pitchFamily="34" charset="-120"/>
              </a:rPr>
              <a:t>Composite health score</a:t>
            </a:r>
            <a:endParaRPr lang="en-US" sz="1400" dirty="0"/>
          </a:p>
        </p:txBody>
      </p:sp>
      <p:sp>
        <p:nvSpPr>
          <p:cNvPr id="15" name="Text 13"/>
          <p:cNvSpPr/>
          <p:nvPr/>
        </p:nvSpPr>
        <p:spPr>
          <a:xfrm>
            <a:off x="1097280" y="3401568"/>
            <a:ext cx="7498080" cy="384048"/>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0–100 with letter grading; decomposes into four interpretable categories; tracks change over time</a:t>
            </a:r>
            <a:endParaRPr lang="en-US" sz="1100" dirty="0"/>
          </a:p>
        </p:txBody>
      </p:sp>
      <p:sp>
        <p:nvSpPr>
          <p:cNvPr id="16" name="Text 14"/>
          <p:cNvSpPr/>
          <p:nvPr/>
        </p:nvSpPr>
        <p:spPr>
          <a:xfrm>
            <a:off x="548640" y="3785616"/>
            <a:ext cx="411480" cy="365760"/>
          </a:xfrm>
          <a:prstGeom prst="rect">
            <a:avLst/>
          </a:prstGeom>
          <a:noFill/>
          <a:ln/>
        </p:spPr>
        <p:txBody>
          <a:bodyPr wrap="square" lIns="0" tIns="0" rIns="0" bIns="0" rtlCol="0" anchor="ctr"/>
          <a:lstStyle/>
          <a:p>
            <a:pPr marL="0" indent="0">
              <a:buNone/>
            </a:pPr>
            <a:r>
              <a:rPr lang="en-US" sz="1700" b="1" dirty="0">
                <a:solidFill>
                  <a:srgbClr val="0D9488"/>
                </a:solidFill>
                <a:latin typeface="Calibri" pitchFamily="34" charset="0"/>
                <a:ea typeface="Calibri" pitchFamily="34" charset="-122"/>
                <a:cs typeface="Calibri" pitchFamily="34" charset="-120"/>
              </a:rPr>
              <a:t>5</a:t>
            </a:r>
            <a:endParaRPr lang="en-US" sz="1700" dirty="0"/>
          </a:p>
        </p:txBody>
      </p:sp>
      <p:sp>
        <p:nvSpPr>
          <p:cNvPr id="17" name="Text 15"/>
          <p:cNvSpPr/>
          <p:nvPr/>
        </p:nvSpPr>
        <p:spPr>
          <a:xfrm>
            <a:off x="1097280" y="3803904"/>
            <a:ext cx="7498080" cy="292608"/>
          </a:xfrm>
          <a:prstGeom prst="rect">
            <a:avLst/>
          </a:prstGeom>
          <a:noFill/>
          <a:ln/>
        </p:spPr>
        <p:txBody>
          <a:bodyPr wrap="square" lIns="0" tIns="0" rIns="0" bIns="0" rtlCol="0" anchor="ctr"/>
          <a:lstStyle/>
          <a:p>
            <a:pPr marL="0" indent="0">
              <a:buNone/>
            </a:pPr>
            <a:r>
              <a:rPr lang="en-US" sz="1400" b="1" dirty="0">
                <a:solidFill>
                  <a:srgbClr val="0F2A44"/>
                </a:solidFill>
                <a:latin typeface="Calibri" pitchFamily="34" charset="0"/>
                <a:ea typeface="Calibri" pitchFamily="34" charset="-122"/>
                <a:cs typeface="Calibri" pitchFamily="34" charset="-120"/>
              </a:rPr>
              <a:t>Evidence-based reporting</a:t>
            </a:r>
            <a:endParaRPr lang="en-US" sz="1400" dirty="0"/>
          </a:p>
        </p:txBody>
      </p:sp>
      <p:sp>
        <p:nvSpPr>
          <p:cNvPr id="18" name="Text 16"/>
          <p:cNvSpPr/>
          <p:nvPr/>
        </p:nvSpPr>
        <p:spPr>
          <a:xfrm>
            <a:off x="1097280" y="4096512"/>
            <a:ext cx="7498080" cy="384048"/>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Every finding includes source snippets, affected services, and remediation guidance</a:t>
            </a:r>
            <a:endParaRPr lang="en-US" sz="1100" dirty="0"/>
          </a:p>
        </p:txBody>
      </p:sp>
      <p:sp>
        <p:nvSpPr>
          <p:cNvPr id="19" name="Text 17"/>
          <p:cNvSpPr/>
          <p:nvPr/>
        </p:nvSpPr>
        <p:spPr>
          <a:xfrm>
            <a:off x="7955280" y="4864608"/>
            <a:ext cx="640080" cy="22860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3 / 12</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marL="0" indent="0">
              <a:buNone/>
            </a:pPr>
            <a:r>
              <a:rPr lang="en-US" sz="2500" b="1" dirty="0">
                <a:solidFill>
                  <a:srgbClr val="0F2A44"/>
                </a:solidFill>
                <a:latin typeface="Calibri" pitchFamily="34" charset="0"/>
                <a:ea typeface="Calibri" pitchFamily="34" charset="-122"/>
                <a:cs typeface="Calibri" pitchFamily="34" charset="-120"/>
              </a:rPr>
              <a:t>The analysis pipeline</a:t>
            </a:r>
            <a:endParaRPr lang="en-US" sz="2500" dirty="0"/>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txBody>
          <a:bodyPr/>
          <a:lstStyle/>
          <a:p>
            <a:endParaRPr lang="en-US"/>
          </a:p>
        </p:txBody>
      </p:sp>
      <p:sp>
        <p:nvSpPr>
          <p:cNvPr id="4" name="Shape 2"/>
          <p:cNvSpPr/>
          <p:nvPr/>
        </p:nvSpPr>
        <p:spPr>
          <a:xfrm>
            <a:off x="548640" y="1051560"/>
            <a:ext cx="1463040" cy="1325880"/>
          </a:xfrm>
          <a:prstGeom prst="rect">
            <a:avLst/>
          </a:prstGeom>
          <a:solidFill>
            <a:srgbClr val="FFFFFF"/>
          </a:solidFill>
          <a:ln w="12700">
            <a:solidFill>
              <a:srgbClr val="D8DEE6"/>
            </a:solidFill>
            <a:prstDash val="solid"/>
          </a:ln>
        </p:spPr>
        <p:txBody>
          <a:bodyPr/>
          <a:lstStyle/>
          <a:p>
            <a:endParaRPr lang="en-US"/>
          </a:p>
        </p:txBody>
      </p:sp>
      <p:sp>
        <p:nvSpPr>
          <p:cNvPr id="5" name="Shape 3"/>
          <p:cNvSpPr/>
          <p:nvPr/>
        </p:nvSpPr>
        <p:spPr>
          <a:xfrm>
            <a:off x="548640" y="1051560"/>
            <a:ext cx="1463040" cy="41148"/>
          </a:xfrm>
          <a:prstGeom prst="rect">
            <a:avLst/>
          </a:prstGeom>
          <a:solidFill>
            <a:srgbClr val="0D9488"/>
          </a:solidFill>
          <a:ln w="12700">
            <a:solidFill>
              <a:srgbClr val="0D9488"/>
            </a:solidFill>
            <a:prstDash val="solid"/>
          </a:ln>
        </p:spPr>
        <p:txBody>
          <a:bodyPr/>
          <a:lstStyle/>
          <a:p>
            <a:endParaRPr lang="en-US"/>
          </a:p>
        </p:txBody>
      </p:sp>
      <p:sp>
        <p:nvSpPr>
          <p:cNvPr id="6" name="Text 4"/>
          <p:cNvSpPr/>
          <p:nvPr/>
        </p:nvSpPr>
        <p:spPr>
          <a:xfrm>
            <a:off x="658368" y="1161288"/>
            <a:ext cx="457200" cy="228600"/>
          </a:xfrm>
          <a:prstGeom prst="rect">
            <a:avLst/>
          </a:prstGeom>
          <a:noFill/>
          <a:ln/>
        </p:spPr>
        <p:txBody>
          <a:bodyPr wrap="square" lIns="0" tIns="0" rIns="0" bIns="0" rtlCol="0" anchor="ctr"/>
          <a:lstStyle/>
          <a:p>
            <a:pPr marL="0" indent="0">
              <a:buNone/>
            </a:pPr>
            <a:r>
              <a:rPr lang="en-US" sz="1100" b="1" dirty="0">
                <a:solidFill>
                  <a:srgbClr val="0D9488"/>
                </a:solidFill>
                <a:latin typeface="Calibri" pitchFamily="34" charset="0"/>
                <a:ea typeface="Calibri" pitchFamily="34" charset="-122"/>
                <a:cs typeface="Calibri" pitchFamily="34" charset="-120"/>
              </a:rPr>
              <a:t>1</a:t>
            </a:r>
            <a:endParaRPr lang="en-US" sz="1100" dirty="0"/>
          </a:p>
        </p:txBody>
      </p:sp>
      <p:sp>
        <p:nvSpPr>
          <p:cNvPr id="7" name="Text 5"/>
          <p:cNvSpPr/>
          <p:nvPr/>
        </p:nvSpPr>
        <p:spPr>
          <a:xfrm>
            <a:off x="658368" y="1399032"/>
            <a:ext cx="1243584" cy="457200"/>
          </a:xfrm>
          <a:prstGeom prst="rect">
            <a:avLst/>
          </a:prstGeom>
          <a:noFill/>
          <a:ln/>
        </p:spPr>
        <p:txBody>
          <a:bodyPr wrap="square" lIns="0" tIns="0" rIns="0" bIns="0" rtlCol="0" anchor="ctr"/>
          <a:lstStyle/>
          <a:p>
            <a:pPr marL="0" indent="0">
              <a:buNone/>
            </a:pPr>
            <a:r>
              <a:rPr lang="en-US" sz="1250" b="1" dirty="0">
                <a:solidFill>
                  <a:srgbClr val="0F2A44"/>
                </a:solidFill>
                <a:latin typeface="Calibri" pitchFamily="34" charset="0"/>
                <a:ea typeface="Calibri" pitchFamily="34" charset="-122"/>
                <a:cs typeface="Calibri" pitchFamily="34" charset="-120"/>
              </a:rPr>
              <a:t>Ingest</a:t>
            </a:r>
            <a:endParaRPr lang="en-US" sz="1250" dirty="0"/>
          </a:p>
        </p:txBody>
      </p:sp>
      <p:sp>
        <p:nvSpPr>
          <p:cNvPr id="8" name="Text 6"/>
          <p:cNvSpPr/>
          <p:nvPr/>
        </p:nvSpPr>
        <p:spPr>
          <a:xfrm>
            <a:off x="658368" y="1856232"/>
            <a:ext cx="1243584" cy="457200"/>
          </a:xfrm>
          <a:prstGeom prst="rect">
            <a:avLst/>
          </a:prstGeom>
          <a:noFill/>
          <a:ln/>
        </p:spPr>
        <p:txBody>
          <a:bodyPr wrap="square" lIns="0" tIns="0" rIns="0" bIns="0" rtlCol="0" anchor="ctr"/>
          <a:lstStyle/>
          <a:p>
            <a:pPr marL="0" indent="0">
              <a:buNone/>
            </a:pPr>
            <a:r>
              <a:rPr lang="en-US" sz="950" dirty="0">
                <a:solidFill>
                  <a:srgbClr val="64748B"/>
                </a:solidFill>
                <a:latin typeface="Calibri" pitchFamily="34" charset="0"/>
                <a:ea typeface="Calibri" pitchFamily="34" charset="-122"/>
                <a:cs typeface="Calibri" pitchFamily="34" charset="-120"/>
              </a:rPr>
              <a:t>ZIP upload / Git clone</a:t>
            </a:r>
            <a:endParaRPr lang="en-US" sz="950" dirty="0"/>
          </a:p>
        </p:txBody>
      </p:sp>
      <p:sp>
        <p:nvSpPr>
          <p:cNvPr id="9" name="Text 7"/>
          <p:cNvSpPr/>
          <p:nvPr/>
        </p:nvSpPr>
        <p:spPr>
          <a:xfrm>
            <a:off x="2011680" y="1508760"/>
            <a:ext cx="182880" cy="365760"/>
          </a:xfrm>
          <a:prstGeom prst="rect">
            <a:avLst/>
          </a:prstGeom>
          <a:noFill/>
          <a:ln/>
        </p:spPr>
        <p:txBody>
          <a:bodyPr wrap="square" lIns="0" tIns="0" rIns="0" bIns="0" rtlCol="0" anchor="ctr"/>
          <a:lstStyle/>
          <a:p>
            <a:pPr marL="0" indent="0" algn="ctr">
              <a:buNone/>
            </a:pPr>
            <a:r>
              <a:rPr lang="en-US" sz="1400" b="1" dirty="0">
                <a:solidFill>
                  <a:srgbClr val="0D9488"/>
                </a:solidFill>
                <a:latin typeface="Calibri" pitchFamily="34" charset="0"/>
                <a:ea typeface="Calibri" pitchFamily="34" charset="-122"/>
                <a:cs typeface="Calibri" pitchFamily="34" charset="-120"/>
              </a:rPr>
              <a:t>→</a:t>
            </a:r>
            <a:endParaRPr lang="en-US" sz="1400" dirty="0"/>
          </a:p>
        </p:txBody>
      </p:sp>
      <p:sp>
        <p:nvSpPr>
          <p:cNvPr id="10" name="Shape 8"/>
          <p:cNvSpPr/>
          <p:nvPr/>
        </p:nvSpPr>
        <p:spPr>
          <a:xfrm>
            <a:off x="2194560" y="1051560"/>
            <a:ext cx="1463040" cy="1325880"/>
          </a:xfrm>
          <a:prstGeom prst="rect">
            <a:avLst/>
          </a:prstGeom>
          <a:solidFill>
            <a:srgbClr val="FFFFFF"/>
          </a:solidFill>
          <a:ln w="12700">
            <a:solidFill>
              <a:srgbClr val="D8DEE6"/>
            </a:solidFill>
            <a:prstDash val="solid"/>
          </a:ln>
        </p:spPr>
        <p:txBody>
          <a:bodyPr/>
          <a:lstStyle/>
          <a:p>
            <a:endParaRPr lang="en-US"/>
          </a:p>
        </p:txBody>
      </p:sp>
      <p:sp>
        <p:nvSpPr>
          <p:cNvPr id="11" name="Shape 9"/>
          <p:cNvSpPr/>
          <p:nvPr/>
        </p:nvSpPr>
        <p:spPr>
          <a:xfrm>
            <a:off x="2194560" y="1051560"/>
            <a:ext cx="1463040" cy="41148"/>
          </a:xfrm>
          <a:prstGeom prst="rect">
            <a:avLst/>
          </a:prstGeom>
          <a:solidFill>
            <a:srgbClr val="0D9488"/>
          </a:solidFill>
          <a:ln w="12700">
            <a:solidFill>
              <a:srgbClr val="0D9488"/>
            </a:solidFill>
            <a:prstDash val="solid"/>
          </a:ln>
        </p:spPr>
        <p:txBody>
          <a:bodyPr/>
          <a:lstStyle/>
          <a:p>
            <a:endParaRPr lang="en-US"/>
          </a:p>
        </p:txBody>
      </p:sp>
      <p:sp>
        <p:nvSpPr>
          <p:cNvPr id="12" name="Text 10"/>
          <p:cNvSpPr/>
          <p:nvPr/>
        </p:nvSpPr>
        <p:spPr>
          <a:xfrm>
            <a:off x="2304288" y="1161288"/>
            <a:ext cx="457200" cy="228600"/>
          </a:xfrm>
          <a:prstGeom prst="rect">
            <a:avLst/>
          </a:prstGeom>
          <a:noFill/>
          <a:ln/>
        </p:spPr>
        <p:txBody>
          <a:bodyPr wrap="square" lIns="0" tIns="0" rIns="0" bIns="0" rtlCol="0" anchor="ctr"/>
          <a:lstStyle/>
          <a:p>
            <a:pPr marL="0" indent="0">
              <a:buNone/>
            </a:pPr>
            <a:r>
              <a:rPr lang="en-US" sz="1100" b="1" dirty="0">
                <a:solidFill>
                  <a:srgbClr val="0D9488"/>
                </a:solidFill>
                <a:latin typeface="Calibri" pitchFamily="34" charset="0"/>
                <a:ea typeface="Calibri" pitchFamily="34" charset="-122"/>
                <a:cs typeface="Calibri" pitchFamily="34" charset="-120"/>
              </a:rPr>
              <a:t>2</a:t>
            </a:r>
            <a:endParaRPr lang="en-US" sz="1100" dirty="0"/>
          </a:p>
        </p:txBody>
      </p:sp>
      <p:sp>
        <p:nvSpPr>
          <p:cNvPr id="13" name="Text 11"/>
          <p:cNvSpPr/>
          <p:nvPr/>
        </p:nvSpPr>
        <p:spPr>
          <a:xfrm>
            <a:off x="2304288" y="1399032"/>
            <a:ext cx="1243584" cy="457200"/>
          </a:xfrm>
          <a:prstGeom prst="rect">
            <a:avLst/>
          </a:prstGeom>
          <a:noFill/>
          <a:ln/>
        </p:spPr>
        <p:txBody>
          <a:bodyPr wrap="square" lIns="0" tIns="0" rIns="0" bIns="0" rtlCol="0" anchor="ctr"/>
          <a:lstStyle/>
          <a:p>
            <a:pPr marL="0" indent="0">
              <a:buNone/>
            </a:pPr>
            <a:r>
              <a:rPr lang="en-US" sz="1250" b="1" dirty="0">
                <a:solidFill>
                  <a:srgbClr val="0F2A44"/>
                </a:solidFill>
                <a:latin typeface="Calibri" pitchFamily="34" charset="0"/>
                <a:ea typeface="Calibri" pitchFamily="34" charset="-122"/>
                <a:cs typeface="Calibri" pitchFamily="34" charset="-120"/>
              </a:rPr>
              <a:t>Detect services</a:t>
            </a:r>
            <a:endParaRPr lang="en-US" sz="1250" dirty="0"/>
          </a:p>
        </p:txBody>
      </p:sp>
      <p:sp>
        <p:nvSpPr>
          <p:cNvPr id="14" name="Text 12"/>
          <p:cNvSpPr/>
          <p:nvPr/>
        </p:nvSpPr>
        <p:spPr>
          <a:xfrm>
            <a:off x="2246811" y="1856232"/>
            <a:ext cx="1301061" cy="457200"/>
          </a:xfrm>
          <a:prstGeom prst="rect">
            <a:avLst/>
          </a:prstGeom>
          <a:noFill/>
          <a:ln/>
        </p:spPr>
        <p:txBody>
          <a:bodyPr wrap="square" lIns="0" tIns="0" rIns="0" bIns="0" rtlCol="0" anchor="ctr"/>
          <a:lstStyle/>
          <a:p>
            <a:pPr marL="0" indent="0">
              <a:buNone/>
            </a:pPr>
            <a:r>
              <a:rPr lang="en-US" sz="950" dirty="0">
                <a:solidFill>
                  <a:srgbClr val="64748B"/>
                </a:solidFill>
                <a:latin typeface="Calibri" pitchFamily="34" charset="0"/>
                <a:ea typeface="Calibri" pitchFamily="34" charset="-122"/>
                <a:cs typeface="Calibri" pitchFamily="34" charset="-120"/>
              </a:rPr>
              <a:t>Deployability gate (3 signals)</a:t>
            </a:r>
            <a:endParaRPr lang="en-US" sz="950" dirty="0"/>
          </a:p>
        </p:txBody>
      </p:sp>
      <p:sp>
        <p:nvSpPr>
          <p:cNvPr id="15" name="Text 13"/>
          <p:cNvSpPr/>
          <p:nvPr/>
        </p:nvSpPr>
        <p:spPr>
          <a:xfrm>
            <a:off x="3657600" y="1508760"/>
            <a:ext cx="182880" cy="365760"/>
          </a:xfrm>
          <a:prstGeom prst="rect">
            <a:avLst/>
          </a:prstGeom>
          <a:noFill/>
          <a:ln/>
        </p:spPr>
        <p:txBody>
          <a:bodyPr wrap="square" lIns="0" tIns="0" rIns="0" bIns="0" rtlCol="0" anchor="ctr"/>
          <a:lstStyle/>
          <a:p>
            <a:pPr marL="0" indent="0" algn="ctr">
              <a:buNone/>
            </a:pPr>
            <a:r>
              <a:rPr lang="en-US" sz="1400" b="1" dirty="0">
                <a:solidFill>
                  <a:srgbClr val="0D9488"/>
                </a:solidFill>
                <a:latin typeface="Calibri" pitchFamily="34" charset="0"/>
                <a:ea typeface="Calibri" pitchFamily="34" charset="-122"/>
                <a:cs typeface="Calibri" pitchFamily="34" charset="-120"/>
              </a:rPr>
              <a:t>→</a:t>
            </a:r>
            <a:endParaRPr lang="en-US" sz="1400" dirty="0"/>
          </a:p>
        </p:txBody>
      </p:sp>
      <p:sp>
        <p:nvSpPr>
          <p:cNvPr id="16" name="Shape 14"/>
          <p:cNvSpPr/>
          <p:nvPr/>
        </p:nvSpPr>
        <p:spPr>
          <a:xfrm>
            <a:off x="3840480" y="1051560"/>
            <a:ext cx="1463040" cy="1325880"/>
          </a:xfrm>
          <a:prstGeom prst="rect">
            <a:avLst/>
          </a:prstGeom>
          <a:solidFill>
            <a:srgbClr val="FFFFFF"/>
          </a:solidFill>
          <a:ln w="12700">
            <a:solidFill>
              <a:srgbClr val="D8DEE6"/>
            </a:solidFill>
            <a:prstDash val="solid"/>
          </a:ln>
        </p:spPr>
        <p:txBody>
          <a:bodyPr/>
          <a:lstStyle/>
          <a:p>
            <a:endParaRPr lang="en-US"/>
          </a:p>
        </p:txBody>
      </p:sp>
      <p:sp>
        <p:nvSpPr>
          <p:cNvPr id="17" name="Shape 15"/>
          <p:cNvSpPr/>
          <p:nvPr/>
        </p:nvSpPr>
        <p:spPr>
          <a:xfrm>
            <a:off x="3840480" y="1051560"/>
            <a:ext cx="1463040" cy="41148"/>
          </a:xfrm>
          <a:prstGeom prst="rect">
            <a:avLst/>
          </a:prstGeom>
          <a:solidFill>
            <a:srgbClr val="0D9488"/>
          </a:solidFill>
          <a:ln w="12700">
            <a:solidFill>
              <a:srgbClr val="0D9488"/>
            </a:solidFill>
            <a:prstDash val="solid"/>
          </a:ln>
        </p:spPr>
        <p:txBody>
          <a:bodyPr/>
          <a:lstStyle/>
          <a:p>
            <a:endParaRPr lang="en-US"/>
          </a:p>
        </p:txBody>
      </p:sp>
      <p:sp>
        <p:nvSpPr>
          <p:cNvPr id="18" name="Text 16"/>
          <p:cNvSpPr/>
          <p:nvPr/>
        </p:nvSpPr>
        <p:spPr>
          <a:xfrm>
            <a:off x="3950208" y="1161288"/>
            <a:ext cx="457200" cy="228600"/>
          </a:xfrm>
          <a:prstGeom prst="rect">
            <a:avLst/>
          </a:prstGeom>
          <a:noFill/>
          <a:ln/>
        </p:spPr>
        <p:txBody>
          <a:bodyPr wrap="square" lIns="0" tIns="0" rIns="0" bIns="0" rtlCol="0" anchor="ctr"/>
          <a:lstStyle/>
          <a:p>
            <a:pPr marL="0" indent="0">
              <a:buNone/>
            </a:pPr>
            <a:r>
              <a:rPr lang="en-US" sz="1100" b="1" dirty="0">
                <a:solidFill>
                  <a:srgbClr val="0D9488"/>
                </a:solidFill>
                <a:latin typeface="Calibri" pitchFamily="34" charset="0"/>
                <a:ea typeface="Calibri" pitchFamily="34" charset="-122"/>
                <a:cs typeface="Calibri" pitchFamily="34" charset="-120"/>
              </a:rPr>
              <a:t>3</a:t>
            </a:r>
            <a:endParaRPr lang="en-US" sz="1100" dirty="0"/>
          </a:p>
        </p:txBody>
      </p:sp>
      <p:sp>
        <p:nvSpPr>
          <p:cNvPr id="19" name="Text 17"/>
          <p:cNvSpPr/>
          <p:nvPr/>
        </p:nvSpPr>
        <p:spPr>
          <a:xfrm>
            <a:off x="3950208" y="1399032"/>
            <a:ext cx="1243584" cy="457200"/>
          </a:xfrm>
          <a:prstGeom prst="rect">
            <a:avLst/>
          </a:prstGeom>
          <a:noFill/>
          <a:ln/>
        </p:spPr>
        <p:txBody>
          <a:bodyPr wrap="square" lIns="0" tIns="0" rIns="0" bIns="0" rtlCol="0" anchor="ctr"/>
          <a:lstStyle/>
          <a:p>
            <a:pPr marL="0" indent="0">
              <a:buNone/>
            </a:pPr>
            <a:r>
              <a:rPr lang="en-US" sz="1250" b="1" dirty="0">
                <a:solidFill>
                  <a:srgbClr val="0F2A44"/>
                </a:solidFill>
                <a:latin typeface="Calibri" pitchFamily="34" charset="0"/>
                <a:ea typeface="Calibri" pitchFamily="34" charset="-122"/>
                <a:cs typeface="Calibri" pitchFamily="34" charset="-120"/>
              </a:rPr>
              <a:t>Intra + inter</a:t>
            </a:r>
            <a:endParaRPr lang="en-US" sz="1250" dirty="0"/>
          </a:p>
        </p:txBody>
      </p:sp>
      <p:sp>
        <p:nvSpPr>
          <p:cNvPr id="20" name="Text 18"/>
          <p:cNvSpPr/>
          <p:nvPr/>
        </p:nvSpPr>
        <p:spPr>
          <a:xfrm>
            <a:off x="3950208" y="1856232"/>
            <a:ext cx="1243584" cy="457200"/>
          </a:xfrm>
          <a:prstGeom prst="rect">
            <a:avLst/>
          </a:prstGeom>
          <a:noFill/>
          <a:ln/>
        </p:spPr>
        <p:txBody>
          <a:bodyPr wrap="square" lIns="0" tIns="0" rIns="0" bIns="0" rtlCol="0" anchor="ctr"/>
          <a:lstStyle/>
          <a:p>
            <a:pPr marL="0" indent="0">
              <a:buNone/>
            </a:pPr>
            <a:r>
              <a:rPr lang="en-US" sz="950" dirty="0">
                <a:solidFill>
                  <a:srgbClr val="64748B"/>
                </a:solidFill>
                <a:latin typeface="Calibri" pitchFamily="34" charset="0"/>
                <a:ea typeface="Calibri" pitchFamily="34" charset="-122"/>
                <a:cs typeface="Calibri" pitchFamily="34" charset="-120"/>
              </a:rPr>
              <a:t>DesigniteJava + Spoon</a:t>
            </a:r>
            <a:endParaRPr lang="en-US" sz="950" dirty="0"/>
          </a:p>
        </p:txBody>
      </p:sp>
      <p:sp>
        <p:nvSpPr>
          <p:cNvPr id="21" name="Text 19"/>
          <p:cNvSpPr/>
          <p:nvPr/>
        </p:nvSpPr>
        <p:spPr>
          <a:xfrm>
            <a:off x="5303520" y="1508760"/>
            <a:ext cx="182880" cy="365760"/>
          </a:xfrm>
          <a:prstGeom prst="rect">
            <a:avLst/>
          </a:prstGeom>
          <a:noFill/>
          <a:ln/>
        </p:spPr>
        <p:txBody>
          <a:bodyPr wrap="square" lIns="0" tIns="0" rIns="0" bIns="0" rtlCol="0" anchor="ctr"/>
          <a:lstStyle/>
          <a:p>
            <a:pPr marL="0" indent="0" algn="ctr">
              <a:buNone/>
            </a:pPr>
            <a:r>
              <a:rPr lang="en-US" sz="1400" b="1" dirty="0">
                <a:solidFill>
                  <a:srgbClr val="0D9488"/>
                </a:solidFill>
                <a:latin typeface="Calibri" pitchFamily="34" charset="0"/>
                <a:ea typeface="Calibri" pitchFamily="34" charset="-122"/>
                <a:cs typeface="Calibri" pitchFamily="34" charset="-120"/>
              </a:rPr>
              <a:t>→</a:t>
            </a:r>
            <a:endParaRPr lang="en-US" sz="1400" dirty="0"/>
          </a:p>
        </p:txBody>
      </p:sp>
      <p:sp>
        <p:nvSpPr>
          <p:cNvPr id="22" name="Shape 20"/>
          <p:cNvSpPr/>
          <p:nvPr/>
        </p:nvSpPr>
        <p:spPr>
          <a:xfrm>
            <a:off x="5486400" y="1051560"/>
            <a:ext cx="1463040" cy="1325880"/>
          </a:xfrm>
          <a:prstGeom prst="rect">
            <a:avLst/>
          </a:prstGeom>
          <a:solidFill>
            <a:srgbClr val="FFFFFF"/>
          </a:solidFill>
          <a:ln w="12700">
            <a:solidFill>
              <a:srgbClr val="D8DEE6"/>
            </a:solidFill>
            <a:prstDash val="solid"/>
          </a:ln>
        </p:spPr>
        <p:txBody>
          <a:bodyPr/>
          <a:lstStyle/>
          <a:p>
            <a:endParaRPr lang="en-US"/>
          </a:p>
        </p:txBody>
      </p:sp>
      <p:sp>
        <p:nvSpPr>
          <p:cNvPr id="23" name="Shape 21"/>
          <p:cNvSpPr/>
          <p:nvPr/>
        </p:nvSpPr>
        <p:spPr>
          <a:xfrm>
            <a:off x="5486400" y="1051560"/>
            <a:ext cx="1463040" cy="41148"/>
          </a:xfrm>
          <a:prstGeom prst="rect">
            <a:avLst/>
          </a:prstGeom>
          <a:solidFill>
            <a:srgbClr val="0D9488"/>
          </a:solidFill>
          <a:ln w="12700">
            <a:solidFill>
              <a:srgbClr val="0D9488"/>
            </a:solidFill>
            <a:prstDash val="solid"/>
          </a:ln>
        </p:spPr>
        <p:txBody>
          <a:bodyPr/>
          <a:lstStyle/>
          <a:p>
            <a:endParaRPr lang="en-US"/>
          </a:p>
        </p:txBody>
      </p:sp>
      <p:sp>
        <p:nvSpPr>
          <p:cNvPr id="24" name="Text 22"/>
          <p:cNvSpPr/>
          <p:nvPr/>
        </p:nvSpPr>
        <p:spPr>
          <a:xfrm>
            <a:off x="5596128" y="1161288"/>
            <a:ext cx="457200" cy="228600"/>
          </a:xfrm>
          <a:prstGeom prst="rect">
            <a:avLst/>
          </a:prstGeom>
          <a:noFill/>
          <a:ln/>
        </p:spPr>
        <p:txBody>
          <a:bodyPr wrap="square" lIns="0" tIns="0" rIns="0" bIns="0" rtlCol="0" anchor="ctr"/>
          <a:lstStyle/>
          <a:p>
            <a:pPr marL="0" indent="0">
              <a:buNone/>
            </a:pPr>
            <a:r>
              <a:rPr lang="en-US" sz="1100" b="1" dirty="0">
                <a:solidFill>
                  <a:srgbClr val="0D9488"/>
                </a:solidFill>
                <a:latin typeface="Calibri" pitchFamily="34" charset="0"/>
                <a:ea typeface="Calibri" pitchFamily="34" charset="-122"/>
                <a:cs typeface="Calibri" pitchFamily="34" charset="-120"/>
              </a:rPr>
              <a:t>4</a:t>
            </a:r>
            <a:endParaRPr lang="en-US" sz="1100" dirty="0"/>
          </a:p>
        </p:txBody>
      </p:sp>
      <p:sp>
        <p:nvSpPr>
          <p:cNvPr id="25" name="Text 23"/>
          <p:cNvSpPr/>
          <p:nvPr/>
        </p:nvSpPr>
        <p:spPr>
          <a:xfrm>
            <a:off x="5596128" y="1399032"/>
            <a:ext cx="1243584" cy="457200"/>
          </a:xfrm>
          <a:prstGeom prst="rect">
            <a:avLst/>
          </a:prstGeom>
          <a:noFill/>
          <a:ln/>
        </p:spPr>
        <p:txBody>
          <a:bodyPr wrap="square" lIns="0" tIns="0" rIns="0" bIns="0" rtlCol="0" anchor="ctr"/>
          <a:lstStyle/>
          <a:p>
            <a:pPr marL="0" indent="0">
              <a:buNone/>
            </a:pPr>
            <a:r>
              <a:rPr lang="en-US" sz="1250" b="1" dirty="0">
                <a:solidFill>
                  <a:srgbClr val="0F2A44"/>
                </a:solidFill>
                <a:latin typeface="Calibri" pitchFamily="34" charset="0"/>
                <a:ea typeface="Calibri" pitchFamily="34" charset="-122"/>
                <a:cs typeface="Calibri" pitchFamily="34" charset="-120"/>
              </a:rPr>
              <a:t>Detect patterns</a:t>
            </a:r>
            <a:endParaRPr lang="en-US" sz="1250" dirty="0"/>
          </a:p>
        </p:txBody>
      </p:sp>
      <p:sp>
        <p:nvSpPr>
          <p:cNvPr id="26" name="Text 24"/>
          <p:cNvSpPr/>
          <p:nvPr/>
        </p:nvSpPr>
        <p:spPr>
          <a:xfrm>
            <a:off x="5596128" y="1856232"/>
            <a:ext cx="1243584" cy="457200"/>
          </a:xfrm>
          <a:prstGeom prst="rect">
            <a:avLst/>
          </a:prstGeom>
          <a:noFill/>
          <a:ln/>
        </p:spPr>
        <p:txBody>
          <a:bodyPr wrap="square" lIns="0" tIns="0" rIns="0" bIns="0" rtlCol="0" anchor="ctr"/>
          <a:lstStyle/>
          <a:p>
            <a:pPr marL="0" indent="0">
              <a:buNone/>
            </a:pPr>
            <a:r>
              <a:rPr lang="en-US" sz="950" dirty="0">
                <a:solidFill>
                  <a:srgbClr val="64748B"/>
                </a:solidFill>
                <a:latin typeface="Calibri" pitchFamily="34" charset="0"/>
                <a:ea typeface="Calibri" pitchFamily="34" charset="-122"/>
                <a:cs typeface="Calibri" pitchFamily="34" charset="-120"/>
              </a:rPr>
              <a:t>10 detectors (Strategy)</a:t>
            </a:r>
            <a:endParaRPr lang="en-US" sz="950" dirty="0"/>
          </a:p>
        </p:txBody>
      </p:sp>
      <p:sp>
        <p:nvSpPr>
          <p:cNvPr id="27" name="Text 25"/>
          <p:cNvSpPr/>
          <p:nvPr/>
        </p:nvSpPr>
        <p:spPr>
          <a:xfrm>
            <a:off x="6949440" y="1508760"/>
            <a:ext cx="182880" cy="365760"/>
          </a:xfrm>
          <a:prstGeom prst="rect">
            <a:avLst/>
          </a:prstGeom>
          <a:noFill/>
          <a:ln/>
        </p:spPr>
        <p:txBody>
          <a:bodyPr wrap="square" lIns="0" tIns="0" rIns="0" bIns="0" rtlCol="0" anchor="ctr"/>
          <a:lstStyle/>
          <a:p>
            <a:pPr marL="0" indent="0" algn="ctr">
              <a:buNone/>
            </a:pPr>
            <a:r>
              <a:rPr lang="en-US" sz="1400" b="1" dirty="0">
                <a:solidFill>
                  <a:srgbClr val="0D9488"/>
                </a:solidFill>
                <a:latin typeface="Calibri" pitchFamily="34" charset="0"/>
                <a:ea typeface="Calibri" pitchFamily="34" charset="-122"/>
                <a:cs typeface="Calibri" pitchFamily="34" charset="-120"/>
              </a:rPr>
              <a:t>→</a:t>
            </a:r>
            <a:endParaRPr lang="en-US" sz="1400" dirty="0"/>
          </a:p>
        </p:txBody>
      </p:sp>
      <p:sp>
        <p:nvSpPr>
          <p:cNvPr id="28" name="Shape 26"/>
          <p:cNvSpPr/>
          <p:nvPr/>
        </p:nvSpPr>
        <p:spPr>
          <a:xfrm>
            <a:off x="7132320" y="1051560"/>
            <a:ext cx="1463040" cy="1325880"/>
          </a:xfrm>
          <a:prstGeom prst="rect">
            <a:avLst/>
          </a:prstGeom>
          <a:solidFill>
            <a:srgbClr val="FFFFFF"/>
          </a:solidFill>
          <a:ln w="12700">
            <a:solidFill>
              <a:srgbClr val="D8DEE6"/>
            </a:solidFill>
            <a:prstDash val="solid"/>
          </a:ln>
        </p:spPr>
        <p:txBody>
          <a:bodyPr/>
          <a:lstStyle/>
          <a:p>
            <a:endParaRPr lang="en-US"/>
          </a:p>
        </p:txBody>
      </p:sp>
      <p:sp>
        <p:nvSpPr>
          <p:cNvPr id="29" name="Shape 27"/>
          <p:cNvSpPr/>
          <p:nvPr/>
        </p:nvSpPr>
        <p:spPr>
          <a:xfrm>
            <a:off x="7132320" y="1051560"/>
            <a:ext cx="1463040" cy="41148"/>
          </a:xfrm>
          <a:prstGeom prst="rect">
            <a:avLst/>
          </a:prstGeom>
          <a:solidFill>
            <a:srgbClr val="0D9488"/>
          </a:solidFill>
          <a:ln w="12700">
            <a:solidFill>
              <a:srgbClr val="0D9488"/>
            </a:solidFill>
            <a:prstDash val="solid"/>
          </a:ln>
        </p:spPr>
        <p:txBody>
          <a:bodyPr/>
          <a:lstStyle/>
          <a:p>
            <a:endParaRPr lang="en-US"/>
          </a:p>
        </p:txBody>
      </p:sp>
      <p:sp>
        <p:nvSpPr>
          <p:cNvPr id="30" name="Text 28"/>
          <p:cNvSpPr/>
          <p:nvPr/>
        </p:nvSpPr>
        <p:spPr>
          <a:xfrm>
            <a:off x="7242048" y="1161288"/>
            <a:ext cx="457200" cy="228600"/>
          </a:xfrm>
          <a:prstGeom prst="rect">
            <a:avLst/>
          </a:prstGeom>
          <a:noFill/>
          <a:ln/>
        </p:spPr>
        <p:txBody>
          <a:bodyPr wrap="square" lIns="0" tIns="0" rIns="0" bIns="0" rtlCol="0" anchor="ctr"/>
          <a:lstStyle/>
          <a:p>
            <a:pPr marL="0" indent="0">
              <a:buNone/>
            </a:pPr>
            <a:r>
              <a:rPr lang="en-US" sz="1100" b="1" dirty="0">
                <a:solidFill>
                  <a:srgbClr val="0D9488"/>
                </a:solidFill>
                <a:latin typeface="Calibri" pitchFamily="34" charset="0"/>
                <a:ea typeface="Calibri" pitchFamily="34" charset="-122"/>
                <a:cs typeface="Calibri" pitchFamily="34" charset="-120"/>
              </a:rPr>
              <a:t>5</a:t>
            </a:r>
            <a:endParaRPr lang="en-US" sz="1100" dirty="0"/>
          </a:p>
        </p:txBody>
      </p:sp>
      <p:sp>
        <p:nvSpPr>
          <p:cNvPr id="31" name="Text 29"/>
          <p:cNvSpPr/>
          <p:nvPr/>
        </p:nvSpPr>
        <p:spPr>
          <a:xfrm>
            <a:off x="7242048" y="1399032"/>
            <a:ext cx="1243584" cy="457200"/>
          </a:xfrm>
          <a:prstGeom prst="rect">
            <a:avLst/>
          </a:prstGeom>
          <a:noFill/>
          <a:ln/>
        </p:spPr>
        <p:txBody>
          <a:bodyPr wrap="square" lIns="0" tIns="0" rIns="0" bIns="0" rtlCol="0" anchor="ctr"/>
          <a:lstStyle/>
          <a:p>
            <a:pPr marL="0" indent="0">
              <a:buNone/>
            </a:pPr>
            <a:r>
              <a:rPr lang="en-US" sz="1250" b="1" dirty="0">
                <a:solidFill>
                  <a:srgbClr val="0F2A44"/>
                </a:solidFill>
                <a:latin typeface="Calibri" pitchFamily="34" charset="0"/>
                <a:ea typeface="Calibri" pitchFamily="34" charset="-122"/>
                <a:cs typeface="Calibri" pitchFamily="34" charset="-120"/>
              </a:rPr>
              <a:t>Score &amp; report</a:t>
            </a:r>
            <a:endParaRPr lang="en-US" sz="1250" dirty="0"/>
          </a:p>
        </p:txBody>
      </p:sp>
      <p:sp>
        <p:nvSpPr>
          <p:cNvPr id="32" name="Text 30"/>
          <p:cNvSpPr/>
          <p:nvPr/>
        </p:nvSpPr>
        <p:spPr>
          <a:xfrm>
            <a:off x="7242048" y="1856232"/>
            <a:ext cx="1243584" cy="457200"/>
          </a:xfrm>
          <a:prstGeom prst="rect">
            <a:avLst/>
          </a:prstGeom>
          <a:noFill/>
          <a:ln/>
        </p:spPr>
        <p:txBody>
          <a:bodyPr wrap="square" lIns="0" tIns="0" rIns="0" bIns="0" rtlCol="0" anchor="ctr"/>
          <a:lstStyle/>
          <a:p>
            <a:pPr marL="0" indent="0">
              <a:buNone/>
            </a:pPr>
            <a:r>
              <a:rPr lang="en-US" sz="950" dirty="0">
                <a:solidFill>
                  <a:srgbClr val="64748B"/>
                </a:solidFill>
                <a:latin typeface="Calibri" pitchFamily="34" charset="0"/>
                <a:ea typeface="Calibri" pitchFamily="34" charset="-122"/>
                <a:cs typeface="Calibri" pitchFamily="34" charset="-120"/>
              </a:rPr>
              <a:t>Health score + evidence</a:t>
            </a:r>
            <a:endParaRPr lang="en-US" sz="950" dirty="0"/>
          </a:p>
        </p:txBody>
      </p:sp>
      <p:sp>
        <p:nvSpPr>
          <p:cNvPr id="33" name="Shape 31"/>
          <p:cNvSpPr/>
          <p:nvPr/>
        </p:nvSpPr>
        <p:spPr>
          <a:xfrm>
            <a:off x="548640" y="2743200"/>
            <a:ext cx="457200" cy="36576"/>
          </a:xfrm>
          <a:prstGeom prst="rect">
            <a:avLst/>
          </a:prstGeom>
          <a:solidFill>
            <a:srgbClr val="0D9488"/>
          </a:solidFill>
          <a:ln w="12700">
            <a:solidFill>
              <a:srgbClr val="0D9488"/>
            </a:solidFill>
            <a:prstDash val="solid"/>
          </a:ln>
        </p:spPr>
        <p:txBody>
          <a:bodyPr/>
          <a:lstStyle/>
          <a:p>
            <a:endParaRPr lang="en-US"/>
          </a:p>
        </p:txBody>
      </p:sp>
      <p:sp>
        <p:nvSpPr>
          <p:cNvPr id="34" name="Text 32"/>
          <p:cNvSpPr/>
          <p:nvPr/>
        </p:nvSpPr>
        <p:spPr>
          <a:xfrm>
            <a:off x="548640" y="2852928"/>
            <a:ext cx="8046720" cy="292608"/>
          </a:xfrm>
          <a:prstGeom prst="rect">
            <a:avLst/>
          </a:prstGeom>
          <a:noFill/>
          <a:ln/>
        </p:spPr>
        <p:txBody>
          <a:bodyPr wrap="square" lIns="0" tIns="0" rIns="0" bIns="0" rtlCol="0" anchor="ctr"/>
          <a:lstStyle/>
          <a:p>
            <a:pPr marL="0" indent="0">
              <a:buNone/>
            </a:pPr>
            <a:r>
              <a:rPr lang="en-US" sz="1300" b="1" dirty="0">
                <a:solidFill>
                  <a:srgbClr val="0F2A44"/>
                </a:solidFill>
                <a:latin typeface="Calibri" pitchFamily="34" charset="0"/>
                <a:ea typeface="Calibri" pitchFamily="34" charset="-122"/>
                <a:cs typeface="Calibri" pitchFamily="34" charset="-120"/>
              </a:rPr>
              <a:t>Key design choices</a:t>
            </a:r>
            <a:endParaRPr lang="en-US" sz="1300" dirty="0"/>
          </a:p>
        </p:txBody>
      </p:sp>
      <p:sp>
        <p:nvSpPr>
          <p:cNvPr id="35" name="Text 33"/>
          <p:cNvSpPr/>
          <p:nvPr/>
        </p:nvSpPr>
        <p:spPr>
          <a:xfrm>
            <a:off x="658368" y="3057362"/>
            <a:ext cx="7863840" cy="128016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1E293B"/>
                </a:solidFill>
                <a:latin typeface="Calibri" pitchFamily="34" charset="0"/>
                <a:ea typeface="Calibri" pitchFamily="34" charset="-122"/>
                <a:cs typeface="Calibri" pitchFamily="34" charset="-120"/>
              </a:rPr>
              <a:t>Each detector is a Spring @Component implementing </a:t>
            </a:r>
            <a:r>
              <a:rPr lang="en-US" sz="1100" dirty="0" err="1">
                <a:solidFill>
                  <a:srgbClr val="1E293B"/>
                </a:solidFill>
                <a:latin typeface="Calibri" pitchFamily="34" charset="0"/>
                <a:ea typeface="Calibri" pitchFamily="34" charset="-122"/>
                <a:cs typeface="Calibri" pitchFamily="34" charset="-120"/>
              </a:rPr>
              <a:t>AntiPatternDetector</a:t>
            </a:r>
            <a:r>
              <a:rPr lang="en-US" sz="1100" dirty="0">
                <a:solidFill>
                  <a:srgbClr val="1E293B"/>
                </a:solidFill>
                <a:latin typeface="Calibri" pitchFamily="34" charset="0"/>
                <a:ea typeface="Calibri" pitchFamily="34" charset="-122"/>
                <a:cs typeface="Calibri" pitchFamily="34" charset="-120"/>
              </a:rPr>
              <a:t> </a:t>
            </a:r>
          </a:p>
          <a:p>
            <a:pPr marL="342900" indent="-342900">
              <a:spcAft>
                <a:spcPts val="500"/>
              </a:spcAft>
              <a:buSzPct val="100000"/>
              <a:buChar char="•"/>
            </a:pPr>
            <a:r>
              <a:rPr lang="en-US" sz="1100" dirty="0">
                <a:solidFill>
                  <a:srgbClr val="1E293B"/>
                </a:solidFill>
                <a:latin typeface="Calibri" pitchFamily="34" charset="0"/>
                <a:ea typeface="Calibri" pitchFamily="34" charset="-122"/>
                <a:cs typeface="Calibri" pitchFamily="34" charset="-120"/>
              </a:rPr>
              <a:t>Adding a new detector means no orchestrator changes</a:t>
            </a:r>
            <a:endParaRPr lang="en-US" sz="1100" dirty="0"/>
          </a:p>
          <a:p>
            <a:pPr marL="342900" indent="-342900">
              <a:spcAft>
                <a:spcPts val="500"/>
              </a:spcAft>
              <a:buSzPct val="100000"/>
              <a:buChar char="•"/>
            </a:pPr>
            <a:r>
              <a:rPr lang="en-US" sz="1100" dirty="0">
                <a:solidFill>
                  <a:srgbClr val="1E293B"/>
                </a:solidFill>
                <a:latin typeface="Calibri" pitchFamily="34" charset="0"/>
                <a:ea typeface="Calibri" pitchFamily="34" charset="-122"/>
                <a:cs typeface="Calibri" pitchFamily="34" charset="-120"/>
              </a:rPr>
              <a:t>Snippets are extracted and persisted as JSON during analysis, so results survive workspace cleanup</a:t>
            </a:r>
            <a:endParaRPr lang="en-US" sz="1100" dirty="0"/>
          </a:p>
        </p:txBody>
      </p:sp>
      <p:sp>
        <p:nvSpPr>
          <p:cNvPr id="36" name="Text 34"/>
          <p:cNvSpPr/>
          <p:nvPr/>
        </p:nvSpPr>
        <p:spPr>
          <a:xfrm>
            <a:off x="7955280" y="4864608"/>
            <a:ext cx="640080" cy="22860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4 / 12</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marL="0" indent="0">
              <a:buNone/>
            </a:pPr>
            <a:r>
              <a:rPr lang="en-US" sz="2500" b="1" dirty="0">
                <a:solidFill>
                  <a:srgbClr val="0F2A44"/>
                </a:solidFill>
                <a:latin typeface="Calibri" pitchFamily="34" charset="0"/>
                <a:ea typeface="Calibri" pitchFamily="34" charset="-122"/>
                <a:cs typeface="Calibri" pitchFamily="34" charset="-120"/>
              </a:rPr>
              <a:t>Ten detectors across four dimensions</a:t>
            </a:r>
            <a:endParaRPr lang="en-US" sz="2500" dirty="0"/>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txBody>
          <a:bodyPr/>
          <a:lstStyle/>
          <a:p>
            <a:endParaRPr lang="en-US"/>
          </a:p>
        </p:txBody>
      </p:sp>
      <p:sp>
        <p:nvSpPr>
          <p:cNvPr id="4" name="Text 2"/>
          <p:cNvSpPr/>
          <p:nvPr/>
        </p:nvSpPr>
        <p:spPr>
          <a:xfrm>
            <a:off x="548640" y="969264"/>
            <a:ext cx="8046720" cy="274320"/>
          </a:xfrm>
          <a:prstGeom prst="rect">
            <a:avLst/>
          </a:prstGeom>
          <a:noFill/>
          <a:ln/>
        </p:spPr>
        <p:txBody>
          <a:bodyPr wrap="square" lIns="0" tIns="0" rIns="0" bIns="0" rtlCol="0" anchor="ctr"/>
          <a:lstStyle/>
          <a:p>
            <a:pPr marL="0" indent="0">
              <a:buNone/>
            </a:pPr>
            <a:r>
              <a:rPr lang="en-US" sz="1000" dirty="0">
                <a:solidFill>
                  <a:srgbClr val="DC2626"/>
                </a:solidFill>
                <a:latin typeface="Calibri" pitchFamily="34" charset="0"/>
                <a:ea typeface="Calibri" pitchFamily="34" charset="-122"/>
                <a:cs typeface="Calibri" pitchFamily="34" charset="-120"/>
              </a:rPr>
              <a:t>● </a:t>
            </a:r>
            <a:r>
              <a:rPr lang="en-US" sz="1000" dirty="0">
                <a:solidFill>
                  <a:srgbClr val="64748B"/>
                </a:solidFill>
                <a:latin typeface="Calibri" pitchFamily="34" charset="0"/>
                <a:ea typeface="Calibri" pitchFamily="34" charset="-122"/>
                <a:cs typeface="Calibri" pitchFamily="34" charset="-120"/>
              </a:rPr>
              <a:t>critical (−8 pts)      </a:t>
            </a:r>
            <a:r>
              <a:rPr lang="en-US" sz="1000" dirty="0">
                <a:solidFill>
                  <a:srgbClr val="D97706"/>
                </a:solidFill>
                <a:latin typeface="Calibri" pitchFamily="34" charset="0"/>
                <a:ea typeface="Calibri" pitchFamily="34" charset="-122"/>
                <a:cs typeface="Calibri" pitchFamily="34" charset="-120"/>
              </a:rPr>
              <a:t>● </a:t>
            </a:r>
            <a:r>
              <a:rPr lang="en-US" sz="1000" dirty="0">
                <a:solidFill>
                  <a:srgbClr val="64748B"/>
                </a:solidFill>
                <a:latin typeface="Calibri" pitchFamily="34" charset="0"/>
                <a:ea typeface="Calibri" pitchFamily="34" charset="-122"/>
                <a:cs typeface="Calibri" pitchFamily="34" charset="-120"/>
              </a:rPr>
              <a:t>high (−5 pts)      </a:t>
            </a:r>
            <a:r>
              <a:rPr lang="en-US" sz="1000" dirty="0">
                <a:solidFill>
                  <a:srgbClr val="1C4E80"/>
                </a:solidFill>
                <a:latin typeface="Calibri" pitchFamily="34" charset="0"/>
                <a:ea typeface="Calibri" pitchFamily="34" charset="-122"/>
                <a:cs typeface="Calibri" pitchFamily="34" charset="-120"/>
              </a:rPr>
              <a:t>● </a:t>
            </a:r>
            <a:r>
              <a:rPr lang="en-US" sz="1000" dirty="0">
                <a:solidFill>
                  <a:srgbClr val="64748B"/>
                </a:solidFill>
                <a:latin typeface="Calibri" pitchFamily="34" charset="0"/>
                <a:ea typeface="Calibri" pitchFamily="34" charset="-122"/>
                <a:cs typeface="Calibri" pitchFamily="34" charset="-120"/>
              </a:rPr>
              <a:t>medium (−3 pts)</a:t>
            </a:r>
            <a:endParaRPr lang="en-US" sz="1000" dirty="0"/>
          </a:p>
        </p:txBody>
      </p:sp>
      <p:sp>
        <p:nvSpPr>
          <p:cNvPr id="5" name="Text 3"/>
          <p:cNvSpPr/>
          <p:nvPr/>
        </p:nvSpPr>
        <p:spPr>
          <a:xfrm>
            <a:off x="548640" y="1371600"/>
            <a:ext cx="4023360" cy="256032"/>
          </a:xfrm>
          <a:prstGeom prst="rect">
            <a:avLst/>
          </a:prstGeom>
          <a:noFill/>
          <a:ln/>
        </p:spPr>
        <p:txBody>
          <a:bodyPr wrap="square" lIns="0" tIns="0" rIns="0" bIns="0" rtlCol="0" anchor="ctr"/>
          <a:lstStyle/>
          <a:p>
            <a:pPr marL="0" indent="0">
              <a:buNone/>
            </a:pPr>
            <a:r>
              <a:rPr lang="en-US" sz="1050" b="1" kern="0" spc="200" dirty="0">
                <a:solidFill>
                  <a:srgbClr val="0F2A44"/>
                </a:solidFill>
                <a:latin typeface="Calibri" pitchFamily="34" charset="0"/>
                <a:ea typeface="Calibri" pitchFamily="34" charset="-122"/>
                <a:cs typeface="Calibri" pitchFamily="34" charset="-120"/>
              </a:rPr>
              <a:t>SERVICE DESIGN</a:t>
            </a:r>
            <a:endParaRPr lang="en-US" sz="1050" dirty="0"/>
          </a:p>
        </p:txBody>
      </p:sp>
      <p:sp>
        <p:nvSpPr>
          <p:cNvPr id="6" name="Shape 4"/>
          <p:cNvSpPr/>
          <p:nvPr/>
        </p:nvSpPr>
        <p:spPr>
          <a:xfrm>
            <a:off x="548640" y="1673352"/>
            <a:ext cx="1325880" cy="402336"/>
          </a:xfrm>
          <a:prstGeom prst="roundRect">
            <a:avLst>
              <a:gd name="adj" fmla="val 22727"/>
            </a:avLst>
          </a:prstGeom>
          <a:solidFill>
            <a:srgbClr val="DBEAFE"/>
          </a:solidFill>
          <a:ln w="12700">
            <a:solidFill>
              <a:srgbClr val="DBEAFE"/>
            </a:solidFill>
            <a:prstDash val="solid"/>
          </a:ln>
        </p:spPr>
        <p:txBody>
          <a:bodyPr/>
          <a:lstStyle/>
          <a:p>
            <a:endParaRPr lang="en-US"/>
          </a:p>
        </p:txBody>
      </p:sp>
      <p:sp>
        <p:nvSpPr>
          <p:cNvPr id="7" name="Shape 5"/>
          <p:cNvSpPr/>
          <p:nvPr/>
        </p:nvSpPr>
        <p:spPr>
          <a:xfrm>
            <a:off x="685800" y="1833372"/>
            <a:ext cx="82296" cy="82296"/>
          </a:xfrm>
          <a:prstGeom prst="ellipse">
            <a:avLst/>
          </a:prstGeom>
          <a:solidFill>
            <a:srgbClr val="1C4E80"/>
          </a:solidFill>
          <a:ln w="12700">
            <a:solidFill>
              <a:srgbClr val="1C4E80"/>
            </a:solidFill>
            <a:prstDash val="solid"/>
          </a:ln>
        </p:spPr>
        <p:txBody>
          <a:bodyPr/>
          <a:lstStyle/>
          <a:p>
            <a:endParaRPr lang="en-US"/>
          </a:p>
        </p:txBody>
      </p:sp>
      <p:sp>
        <p:nvSpPr>
          <p:cNvPr id="8" name="Text 6"/>
          <p:cNvSpPr/>
          <p:nvPr/>
        </p:nvSpPr>
        <p:spPr>
          <a:xfrm>
            <a:off x="822960" y="1673352"/>
            <a:ext cx="1033272" cy="402336"/>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Nano Service</a:t>
            </a:r>
            <a:endParaRPr lang="en-US" sz="1050" dirty="0"/>
          </a:p>
        </p:txBody>
      </p:sp>
      <p:sp>
        <p:nvSpPr>
          <p:cNvPr id="9" name="Shape 7"/>
          <p:cNvSpPr/>
          <p:nvPr/>
        </p:nvSpPr>
        <p:spPr>
          <a:xfrm>
            <a:off x="2011680" y="1673352"/>
            <a:ext cx="1280160" cy="402336"/>
          </a:xfrm>
          <a:prstGeom prst="roundRect">
            <a:avLst>
              <a:gd name="adj" fmla="val 22727"/>
            </a:avLst>
          </a:prstGeom>
          <a:solidFill>
            <a:srgbClr val="FEF3C7"/>
          </a:solidFill>
          <a:ln w="12700">
            <a:solidFill>
              <a:srgbClr val="FEF3C7"/>
            </a:solidFill>
            <a:prstDash val="solid"/>
          </a:ln>
        </p:spPr>
        <p:txBody>
          <a:bodyPr/>
          <a:lstStyle/>
          <a:p>
            <a:endParaRPr lang="en-US"/>
          </a:p>
        </p:txBody>
      </p:sp>
      <p:sp>
        <p:nvSpPr>
          <p:cNvPr id="10" name="Shape 8"/>
          <p:cNvSpPr/>
          <p:nvPr/>
        </p:nvSpPr>
        <p:spPr>
          <a:xfrm>
            <a:off x="2148840" y="1833372"/>
            <a:ext cx="82296" cy="82296"/>
          </a:xfrm>
          <a:prstGeom prst="ellipse">
            <a:avLst/>
          </a:prstGeom>
          <a:solidFill>
            <a:srgbClr val="D97706"/>
          </a:solidFill>
          <a:ln w="12700">
            <a:solidFill>
              <a:srgbClr val="D97706"/>
            </a:solidFill>
            <a:prstDash val="solid"/>
          </a:ln>
        </p:spPr>
        <p:txBody>
          <a:bodyPr/>
          <a:lstStyle/>
          <a:p>
            <a:endParaRPr lang="en-US"/>
          </a:p>
        </p:txBody>
      </p:sp>
      <p:sp>
        <p:nvSpPr>
          <p:cNvPr id="11" name="Text 9"/>
          <p:cNvSpPr/>
          <p:nvPr/>
        </p:nvSpPr>
        <p:spPr>
          <a:xfrm>
            <a:off x="2286000" y="1673352"/>
            <a:ext cx="987552" cy="402336"/>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God Service</a:t>
            </a:r>
            <a:endParaRPr lang="en-US" sz="1050" dirty="0"/>
          </a:p>
        </p:txBody>
      </p:sp>
      <p:sp>
        <p:nvSpPr>
          <p:cNvPr id="12" name="Text 10"/>
          <p:cNvSpPr/>
          <p:nvPr/>
        </p:nvSpPr>
        <p:spPr>
          <a:xfrm>
            <a:off x="4754880" y="1371600"/>
            <a:ext cx="4023360" cy="256032"/>
          </a:xfrm>
          <a:prstGeom prst="rect">
            <a:avLst/>
          </a:prstGeom>
          <a:noFill/>
          <a:ln/>
        </p:spPr>
        <p:txBody>
          <a:bodyPr wrap="square" lIns="0" tIns="0" rIns="0" bIns="0" rtlCol="0" anchor="ctr"/>
          <a:lstStyle/>
          <a:p>
            <a:pPr marL="0" indent="0">
              <a:buNone/>
            </a:pPr>
            <a:r>
              <a:rPr lang="en-US" sz="1050" b="1" kern="0" spc="200" dirty="0">
                <a:solidFill>
                  <a:srgbClr val="0F2A44"/>
                </a:solidFill>
                <a:latin typeface="Calibri" pitchFamily="34" charset="0"/>
                <a:ea typeface="Calibri" pitchFamily="34" charset="-122"/>
                <a:cs typeface="Calibri" pitchFamily="34" charset="-120"/>
              </a:rPr>
              <a:t>DATA MANAGEMENT</a:t>
            </a:r>
            <a:endParaRPr lang="en-US" sz="1050" dirty="0"/>
          </a:p>
        </p:txBody>
      </p:sp>
      <p:sp>
        <p:nvSpPr>
          <p:cNvPr id="13" name="Shape 11"/>
          <p:cNvSpPr/>
          <p:nvPr/>
        </p:nvSpPr>
        <p:spPr>
          <a:xfrm>
            <a:off x="4754880" y="1673352"/>
            <a:ext cx="1554480" cy="402336"/>
          </a:xfrm>
          <a:prstGeom prst="roundRect">
            <a:avLst>
              <a:gd name="adj" fmla="val 22727"/>
            </a:avLst>
          </a:prstGeom>
          <a:solidFill>
            <a:srgbClr val="FEF3C7"/>
          </a:solidFill>
          <a:ln w="12700">
            <a:solidFill>
              <a:srgbClr val="FEF3C7"/>
            </a:solidFill>
            <a:prstDash val="solid"/>
          </a:ln>
        </p:spPr>
        <p:txBody>
          <a:bodyPr/>
          <a:lstStyle/>
          <a:p>
            <a:endParaRPr lang="en-US"/>
          </a:p>
        </p:txBody>
      </p:sp>
      <p:sp>
        <p:nvSpPr>
          <p:cNvPr id="14" name="Shape 12"/>
          <p:cNvSpPr/>
          <p:nvPr/>
        </p:nvSpPr>
        <p:spPr>
          <a:xfrm>
            <a:off x="4892040" y="1833372"/>
            <a:ext cx="82296" cy="82296"/>
          </a:xfrm>
          <a:prstGeom prst="ellipse">
            <a:avLst/>
          </a:prstGeom>
          <a:solidFill>
            <a:srgbClr val="D97706"/>
          </a:solidFill>
          <a:ln w="12700">
            <a:solidFill>
              <a:srgbClr val="D97706"/>
            </a:solidFill>
            <a:prstDash val="solid"/>
          </a:ln>
        </p:spPr>
        <p:txBody>
          <a:bodyPr/>
          <a:lstStyle/>
          <a:p>
            <a:endParaRPr lang="en-US"/>
          </a:p>
        </p:txBody>
      </p:sp>
      <p:sp>
        <p:nvSpPr>
          <p:cNvPr id="15" name="Text 13"/>
          <p:cNvSpPr/>
          <p:nvPr/>
        </p:nvSpPr>
        <p:spPr>
          <a:xfrm>
            <a:off x="5029200" y="1673352"/>
            <a:ext cx="1261872" cy="402336"/>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Shared Database</a:t>
            </a:r>
            <a:endParaRPr lang="en-US" sz="1050" dirty="0"/>
          </a:p>
        </p:txBody>
      </p:sp>
      <p:sp>
        <p:nvSpPr>
          <p:cNvPr id="16" name="Text 14"/>
          <p:cNvSpPr/>
          <p:nvPr/>
        </p:nvSpPr>
        <p:spPr>
          <a:xfrm>
            <a:off x="548640" y="2468880"/>
            <a:ext cx="4023360" cy="256032"/>
          </a:xfrm>
          <a:prstGeom prst="rect">
            <a:avLst/>
          </a:prstGeom>
          <a:noFill/>
          <a:ln/>
        </p:spPr>
        <p:txBody>
          <a:bodyPr wrap="square" lIns="0" tIns="0" rIns="0" bIns="0" rtlCol="0" anchor="ctr"/>
          <a:lstStyle/>
          <a:p>
            <a:pPr marL="0" indent="0">
              <a:buNone/>
            </a:pPr>
            <a:r>
              <a:rPr lang="en-US" sz="1050" b="1" kern="0" spc="200" dirty="0">
                <a:solidFill>
                  <a:srgbClr val="0F2A44"/>
                </a:solidFill>
                <a:latin typeface="Calibri" pitchFamily="34" charset="0"/>
                <a:ea typeface="Calibri" pitchFamily="34" charset="-122"/>
                <a:cs typeface="Calibri" pitchFamily="34" charset="-120"/>
              </a:rPr>
              <a:t>COMMUNICATION</a:t>
            </a:r>
            <a:endParaRPr lang="en-US" sz="1050" dirty="0"/>
          </a:p>
        </p:txBody>
      </p:sp>
      <p:sp>
        <p:nvSpPr>
          <p:cNvPr id="17" name="Shape 15"/>
          <p:cNvSpPr/>
          <p:nvPr/>
        </p:nvSpPr>
        <p:spPr>
          <a:xfrm>
            <a:off x="548640" y="2770632"/>
            <a:ext cx="1463040" cy="402336"/>
          </a:xfrm>
          <a:prstGeom prst="roundRect">
            <a:avLst>
              <a:gd name="adj" fmla="val 22727"/>
            </a:avLst>
          </a:prstGeom>
          <a:solidFill>
            <a:srgbClr val="FEF3C7"/>
          </a:solidFill>
          <a:ln w="12700">
            <a:solidFill>
              <a:srgbClr val="FEF3C7"/>
            </a:solidFill>
            <a:prstDash val="solid"/>
          </a:ln>
        </p:spPr>
        <p:txBody>
          <a:bodyPr/>
          <a:lstStyle/>
          <a:p>
            <a:endParaRPr lang="en-US"/>
          </a:p>
        </p:txBody>
      </p:sp>
      <p:sp>
        <p:nvSpPr>
          <p:cNvPr id="18" name="Shape 16"/>
          <p:cNvSpPr/>
          <p:nvPr/>
        </p:nvSpPr>
        <p:spPr>
          <a:xfrm>
            <a:off x="685800" y="2930652"/>
            <a:ext cx="82296" cy="82296"/>
          </a:xfrm>
          <a:prstGeom prst="ellipse">
            <a:avLst/>
          </a:prstGeom>
          <a:solidFill>
            <a:srgbClr val="D97706"/>
          </a:solidFill>
          <a:ln w="12700">
            <a:solidFill>
              <a:srgbClr val="D97706"/>
            </a:solidFill>
            <a:prstDash val="solid"/>
          </a:ln>
        </p:spPr>
        <p:txBody>
          <a:bodyPr/>
          <a:lstStyle/>
          <a:p>
            <a:endParaRPr lang="en-US"/>
          </a:p>
        </p:txBody>
      </p:sp>
      <p:sp>
        <p:nvSpPr>
          <p:cNvPr id="19" name="Text 17"/>
          <p:cNvSpPr/>
          <p:nvPr/>
        </p:nvSpPr>
        <p:spPr>
          <a:xfrm>
            <a:off x="822960" y="2770632"/>
            <a:ext cx="1170432" cy="402336"/>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Chatty Service</a:t>
            </a:r>
            <a:endParaRPr lang="en-US" sz="1050" dirty="0"/>
          </a:p>
        </p:txBody>
      </p:sp>
      <p:sp>
        <p:nvSpPr>
          <p:cNvPr id="20" name="Shape 18"/>
          <p:cNvSpPr/>
          <p:nvPr/>
        </p:nvSpPr>
        <p:spPr>
          <a:xfrm>
            <a:off x="2148840" y="2770632"/>
            <a:ext cx="1691640" cy="402336"/>
          </a:xfrm>
          <a:prstGeom prst="roundRect">
            <a:avLst>
              <a:gd name="adj" fmla="val 22727"/>
            </a:avLst>
          </a:prstGeom>
          <a:solidFill>
            <a:srgbClr val="FEE2E2"/>
          </a:solidFill>
          <a:ln w="12700">
            <a:solidFill>
              <a:srgbClr val="FEE2E2"/>
            </a:solidFill>
            <a:prstDash val="solid"/>
          </a:ln>
        </p:spPr>
        <p:txBody>
          <a:bodyPr/>
          <a:lstStyle/>
          <a:p>
            <a:endParaRPr lang="en-US"/>
          </a:p>
        </p:txBody>
      </p:sp>
      <p:sp>
        <p:nvSpPr>
          <p:cNvPr id="21" name="Shape 19"/>
          <p:cNvSpPr/>
          <p:nvPr/>
        </p:nvSpPr>
        <p:spPr>
          <a:xfrm>
            <a:off x="2286000" y="2930652"/>
            <a:ext cx="82296" cy="82296"/>
          </a:xfrm>
          <a:prstGeom prst="ellipse">
            <a:avLst/>
          </a:prstGeom>
          <a:solidFill>
            <a:srgbClr val="DC2626"/>
          </a:solidFill>
          <a:ln w="12700">
            <a:solidFill>
              <a:srgbClr val="DC2626"/>
            </a:solidFill>
            <a:prstDash val="solid"/>
          </a:ln>
        </p:spPr>
        <p:txBody>
          <a:bodyPr/>
          <a:lstStyle/>
          <a:p>
            <a:endParaRPr lang="en-US"/>
          </a:p>
        </p:txBody>
      </p:sp>
      <p:sp>
        <p:nvSpPr>
          <p:cNvPr id="22" name="Text 20"/>
          <p:cNvSpPr/>
          <p:nvPr/>
        </p:nvSpPr>
        <p:spPr>
          <a:xfrm>
            <a:off x="2423160" y="2770632"/>
            <a:ext cx="1399032" cy="402336"/>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Cyclic Dependency</a:t>
            </a:r>
            <a:endParaRPr lang="en-US" sz="1050" dirty="0"/>
          </a:p>
        </p:txBody>
      </p:sp>
      <p:sp>
        <p:nvSpPr>
          <p:cNvPr id="23" name="Shape 21"/>
          <p:cNvSpPr/>
          <p:nvPr/>
        </p:nvSpPr>
        <p:spPr>
          <a:xfrm>
            <a:off x="3977640" y="2770632"/>
            <a:ext cx="1828800" cy="402336"/>
          </a:xfrm>
          <a:prstGeom prst="roundRect">
            <a:avLst>
              <a:gd name="adj" fmla="val 22727"/>
            </a:avLst>
          </a:prstGeom>
          <a:solidFill>
            <a:srgbClr val="DBEAFE"/>
          </a:solidFill>
          <a:ln w="12700">
            <a:solidFill>
              <a:srgbClr val="DBEAFE"/>
            </a:solidFill>
            <a:prstDash val="solid"/>
          </a:ln>
        </p:spPr>
        <p:txBody>
          <a:bodyPr/>
          <a:lstStyle/>
          <a:p>
            <a:endParaRPr lang="en-US"/>
          </a:p>
        </p:txBody>
      </p:sp>
      <p:sp>
        <p:nvSpPr>
          <p:cNvPr id="24" name="Shape 22"/>
          <p:cNvSpPr/>
          <p:nvPr/>
        </p:nvSpPr>
        <p:spPr>
          <a:xfrm>
            <a:off x="4114800" y="2930652"/>
            <a:ext cx="82296" cy="82296"/>
          </a:xfrm>
          <a:prstGeom prst="ellipse">
            <a:avLst/>
          </a:prstGeom>
          <a:solidFill>
            <a:srgbClr val="1C4E80"/>
          </a:solidFill>
          <a:ln w="12700">
            <a:solidFill>
              <a:srgbClr val="1C4E80"/>
            </a:solidFill>
            <a:prstDash val="solid"/>
          </a:ln>
        </p:spPr>
        <p:txBody>
          <a:bodyPr/>
          <a:lstStyle/>
          <a:p>
            <a:endParaRPr lang="en-US"/>
          </a:p>
        </p:txBody>
      </p:sp>
      <p:sp>
        <p:nvSpPr>
          <p:cNvPr id="25" name="Text 23"/>
          <p:cNvSpPr/>
          <p:nvPr/>
        </p:nvSpPr>
        <p:spPr>
          <a:xfrm>
            <a:off x="4251960" y="2770632"/>
            <a:ext cx="1536192" cy="402336"/>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Hardcoded Endpoints</a:t>
            </a:r>
            <a:endParaRPr lang="en-US" sz="1050" dirty="0"/>
          </a:p>
        </p:txBody>
      </p:sp>
      <p:sp>
        <p:nvSpPr>
          <p:cNvPr id="26" name="Shape 24"/>
          <p:cNvSpPr/>
          <p:nvPr/>
        </p:nvSpPr>
        <p:spPr>
          <a:xfrm>
            <a:off x="5943600" y="2770632"/>
            <a:ext cx="1188720" cy="402336"/>
          </a:xfrm>
          <a:prstGeom prst="roundRect">
            <a:avLst>
              <a:gd name="adj" fmla="val 22727"/>
            </a:avLst>
          </a:prstGeom>
          <a:solidFill>
            <a:srgbClr val="FEF3C7"/>
          </a:solidFill>
          <a:ln w="12700">
            <a:solidFill>
              <a:srgbClr val="FEF3C7"/>
            </a:solidFill>
            <a:prstDash val="solid"/>
          </a:ln>
        </p:spPr>
        <p:txBody>
          <a:bodyPr/>
          <a:lstStyle/>
          <a:p>
            <a:endParaRPr lang="en-US"/>
          </a:p>
        </p:txBody>
      </p:sp>
      <p:sp>
        <p:nvSpPr>
          <p:cNvPr id="27" name="Shape 25"/>
          <p:cNvSpPr/>
          <p:nvPr/>
        </p:nvSpPr>
        <p:spPr>
          <a:xfrm>
            <a:off x="6080760" y="2930652"/>
            <a:ext cx="82296" cy="82296"/>
          </a:xfrm>
          <a:prstGeom prst="ellipse">
            <a:avLst/>
          </a:prstGeom>
          <a:solidFill>
            <a:srgbClr val="D97706"/>
          </a:solidFill>
          <a:ln w="12700">
            <a:solidFill>
              <a:srgbClr val="D97706"/>
            </a:solidFill>
            <a:prstDash val="solid"/>
          </a:ln>
        </p:spPr>
        <p:txBody>
          <a:bodyPr/>
          <a:lstStyle/>
          <a:p>
            <a:endParaRPr lang="en-US"/>
          </a:p>
        </p:txBody>
      </p:sp>
      <p:sp>
        <p:nvSpPr>
          <p:cNvPr id="28" name="Text 26"/>
          <p:cNvSpPr/>
          <p:nvPr/>
        </p:nvSpPr>
        <p:spPr>
          <a:xfrm>
            <a:off x="6217920" y="2770632"/>
            <a:ext cx="896112" cy="402336"/>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ESB Misuse</a:t>
            </a:r>
            <a:endParaRPr lang="en-US" sz="1050" dirty="0"/>
          </a:p>
        </p:txBody>
      </p:sp>
      <p:sp>
        <p:nvSpPr>
          <p:cNvPr id="29" name="Text 27"/>
          <p:cNvSpPr/>
          <p:nvPr/>
        </p:nvSpPr>
        <p:spPr>
          <a:xfrm>
            <a:off x="548640" y="3566160"/>
            <a:ext cx="4023360" cy="256032"/>
          </a:xfrm>
          <a:prstGeom prst="rect">
            <a:avLst/>
          </a:prstGeom>
          <a:noFill/>
          <a:ln/>
        </p:spPr>
        <p:txBody>
          <a:bodyPr wrap="square" lIns="0" tIns="0" rIns="0" bIns="0" rtlCol="0" anchor="ctr"/>
          <a:lstStyle/>
          <a:p>
            <a:pPr marL="0" indent="0">
              <a:buNone/>
            </a:pPr>
            <a:r>
              <a:rPr lang="en-US" sz="1050" b="1" kern="0" spc="200" dirty="0">
                <a:solidFill>
                  <a:srgbClr val="0F2A44"/>
                </a:solidFill>
                <a:latin typeface="Calibri" pitchFamily="34" charset="0"/>
                <a:ea typeface="Calibri" pitchFamily="34" charset="-122"/>
                <a:cs typeface="Calibri" pitchFamily="34" charset="-120"/>
              </a:rPr>
              <a:t>DEPLOYMENT &amp; COUPLING</a:t>
            </a:r>
            <a:endParaRPr lang="en-US" sz="1050" dirty="0"/>
          </a:p>
        </p:txBody>
      </p:sp>
      <p:sp>
        <p:nvSpPr>
          <p:cNvPr id="30" name="Shape 28"/>
          <p:cNvSpPr/>
          <p:nvPr/>
        </p:nvSpPr>
        <p:spPr>
          <a:xfrm>
            <a:off x="548640" y="3867912"/>
            <a:ext cx="1828800" cy="402336"/>
          </a:xfrm>
          <a:prstGeom prst="roundRect">
            <a:avLst>
              <a:gd name="adj" fmla="val 22727"/>
            </a:avLst>
          </a:prstGeom>
          <a:solidFill>
            <a:srgbClr val="FEE2E2"/>
          </a:solidFill>
          <a:ln w="12700">
            <a:solidFill>
              <a:srgbClr val="FEE2E2"/>
            </a:solidFill>
            <a:prstDash val="solid"/>
          </a:ln>
        </p:spPr>
        <p:txBody>
          <a:bodyPr/>
          <a:lstStyle/>
          <a:p>
            <a:endParaRPr lang="en-US"/>
          </a:p>
        </p:txBody>
      </p:sp>
      <p:sp>
        <p:nvSpPr>
          <p:cNvPr id="31" name="Shape 29"/>
          <p:cNvSpPr/>
          <p:nvPr/>
        </p:nvSpPr>
        <p:spPr>
          <a:xfrm>
            <a:off x="685800" y="4027932"/>
            <a:ext cx="82296" cy="82296"/>
          </a:xfrm>
          <a:prstGeom prst="ellipse">
            <a:avLst/>
          </a:prstGeom>
          <a:solidFill>
            <a:srgbClr val="DC2626"/>
          </a:solidFill>
          <a:ln w="12700">
            <a:solidFill>
              <a:srgbClr val="DC2626"/>
            </a:solidFill>
            <a:prstDash val="solid"/>
          </a:ln>
        </p:spPr>
        <p:txBody>
          <a:bodyPr/>
          <a:lstStyle/>
          <a:p>
            <a:endParaRPr lang="en-US"/>
          </a:p>
        </p:txBody>
      </p:sp>
      <p:sp>
        <p:nvSpPr>
          <p:cNvPr id="32" name="Text 30"/>
          <p:cNvSpPr/>
          <p:nvPr/>
        </p:nvSpPr>
        <p:spPr>
          <a:xfrm>
            <a:off x="822960" y="3867912"/>
            <a:ext cx="1536192" cy="402336"/>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Distributed Monolith</a:t>
            </a:r>
            <a:endParaRPr lang="en-US" sz="1050" dirty="0"/>
          </a:p>
        </p:txBody>
      </p:sp>
      <p:sp>
        <p:nvSpPr>
          <p:cNvPr id="33" name="Shape 31"/>
          <p:cNvSpPr/>
          <p:nvPr/>
        </p:nvSpPr>
        <p:spPr>
          <a:xfrm>
            <a:off x="2514600" y="3867912"/>
            <a:ext cx="2057400" cy="402336"/>
          </a:xfrm>
          <a:prstGeom prst="roundRect">
            <a:avLst>
              <a:gd name="adj" fmla="val 22727"/>
            </a:avLst>
          </a:prstGeom>
          <a:solidFill>
            <a:srgbClr val="DBEAFE"/>
          </a:solidFill>
          <a:ln w="12700">
            <a:solidFill>
              <a:srgbClr val="DBEAFE"/>
            </a:solidFill>
            <a:prstDash val="solid"/>
          </a:ln>
        </p:spPr>
        <p:txBody>
          <a:bodyPr/>
          <a:lstStyle/>
          <a:p>
            <a:endParaRPr lang="en-US"/>
          </a:p>
        </p:txBody>
      </p:sp>
      <p:sp>
        <p:nvSpPr>
          <p:cNvPr id="34" name="Shape 32"/>
          <p:cNvSpPr/>
          <p:nvPr/>
        </p:nvSpPr>
        <p:spPr>
          <a:xfrm>
            <a:off x="2651760" y="4027932"/>
            <a:ext cx="82296" cy="82296"/>
          </a:xfrm>
          <a:prstGeom prst="ellipse">
            <a:avLst/>
          </a:prstGeom>
          <a:solidFill>
            <a:srgbClr val="1C4E80"/>
          </a:solidFill>
          <a:ln w="12700">
            <a:solidFill>
              <a:srgbClr val="1C4E80"/>
            </a:solidFill>
            <a:prstDash val="solid"/>
          </a:ln>
        </p:spPr>
        <p:txBody>
          <a:bodyPr/>
          <a:lstStyle/>
          <a:p>
            <a:endParaRPr lang="en-US"/>
          </a:p>
        </p:txBody>
      </p:sp>
      <p:sp>
        <p:nvSpPr>
          <p:cNvPr id="35" name="Text 33"/>
          <p:cNvSpPr/>
          <p:nvPr/>
        </p:nvSpPr>
        <p:spPr>
          <a:xfrm>
            <a:off x="2788920" y="3867912"/>
            <a:ext cx="1764792" cy="402336"/>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API Versioning Absence</a:t>
            </a:r>
            <a:endParaRPr lang="en-US" sz="1050" dirty="0"/>
          </a:p>
        </p:txBody>
      </p:sp>
      <p:sp>
        <p:nvSpPr>
          <p:cNvPr id="36" name="Shape 34"/>
          <p:cNvSpPr/>
          <p:nvPr/>
        </p:nvSpPr>
        <p:spPr>
          <a:xfrm>
            <a:off x="4709160" y="3867912"/>
            <a:ext cx="1188720" cy="402336"/>
          </a:xfrm>
          <a:prstGeom prst="roundRect">
            <a:avLst>
              <a:gd name="adj" fmla="val 22727"/>
            </a:avLst>
          </a:prstGeom>
          <a:solidFill>
            <a:srgbClr val="FEF3C7"/>
          </a:solidFill>
          <a:ln w="12700">
            <a:solidFill>
              <a:srgbClr val="FEF3C7"/>
            </a:solidFill>
            <a:prstDash val="solid"/>
          </a:ln>
        </p:spPr>
        <p:txBody>
          <a:bodyPr/>
          <a:lstStyle/>
          <a:p>
            <a:endParaRPr lang="en-US"/>
          </a:p>
        </p:txBody>
      </p:sp>
      <p:sp>
        <p:nvSpPr>
          <p:cNvPr id="37" name="Shape 35"/>
          <p:cNvSpPr/>
          <p:nvPr/>
        </p:nvSpPr>
        <p:spPr>
          <a:xfrm>
            <a:off x="4846320" y="4027932"/>
            <a:ext cx="82296" cy="82296"/>
          </a:xfrm>
          <a:prstGeom prst="ellipse">
            <a:avLst/>
          </a:prstGeom>
          <a:solidFill>
            <a:srgbClr val="D97706"/>
          </a:solidFill>
          <a:ln w="12700">
            <a:solidFill>
              <a:srgbClr val="D97706"/>
            </a:solidFill>
            <a:prstDash val="solid"/>
          </a:ln>
        </p:spPr>
        <p:txBody>
          <a:bodyPr/>
          <a:lstStyle/>
          <a:p>
            <a:endParaRPr lang="en-US"/>
          </a:p>
        </p:txBody>
      </p:sp>
      <p:sp>
        <p:nvSpPr>
          <p:cNvPr id="38" name="Text 36"/>
          <p:cNvSpPr/>
          <p:nvPr/>
        </p:nvSpPr>
        <p:spPr>
          <a:xfrm>
            <a:off x="4983480" y="3867912"/>
            <a:ext cx="896112" cy="402336"/>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Wrong Cuts</a:t>
            </a:r>
            <a:endParaRPr lang="en-US" sz="1050" dirty="0"/>
          </a:p>
        </p:txBody>
      </p:sp>
      <p:sp>
        <p:nvSpPr>
          <p:cNvPr id="39" name="Shape 37"/>
          <p:cNvSpPr/>
          <p:nvPr/>
        </p:nvSpPr>
        <p:spPr>
          <a:xfrm>
            <a:off x="548640" y="4434840"/>
            <a:ext cx="457200" cy="36576"/>
          </a:xfrm>
          <a:prstGeom prst="rect">
            <a:avLst/>
          </a:prstGeom>
          <a:solidFill>
            <a:srgbClr val="0D9488"/>
          </a:solidFill>
          <a:ln w="12700">
            <a:solidFill>
              <a:srgbClr val="0D9488"/>
            </a:solidFill>
            <a:prstDash val="solid"/>
          </a:ln>
        </p:spPr>
        <p:txBody>
          <a:bodyPr/>
          <a:lstStyle/>
          <a:p>
            <a:endParaRPr lang="en-US"/>
          </a:p>
        </p:txBody>
      </p:sp>
      <p:sp>
        <p:nvSpPr>
          <p:cNvPr id="40" name="Text 38"/>
          <p:cNvSpPr/>
          <p:nvPr/>
        </p:nvSpPr>
        <p:spPr>
          <a:xfrm>
            <a:off x="548640" y="4526280"/>
            <a:ext cx="8046720" cy="292608"/>
          </a:xfrm>
          <a:prstGeom prst="rect">
            <a:avLst/>
          </a:prstGeom>
          <a:noFill/>
          <a:ln/>
        </p:spPr>
        <p:txBody>
          <a:bodyPr wrap="square" lIns="0" tIns="0" rIns="0" bIns="0" rtlCol="0" anchor="ctr"/>
          <a:lstStyle/>
          <a:p>
            <a:pPr marL="0" indent="0">
              <a:buNone/>
            </a:pPr>
            <a:r>
              <a:rPr lang="en-US" sz="1150" dirty="0">
                <a:solidFill>
                  <a:srgbClr val="0F2A44"/>
                </a:solidFill>
                <a:latin typeface="Calibri" pitchFamily="34" charset="0"/>
                <a:ea typeface="Calibri" pitchFamily="34" charset="-122"/>
                <a:cs typeface="Calibri" pitchFamily="34" charset="-120"/>
              </a:rPr>
              <a:t>All detectors are pluggable Strategy components with configurable thresholds</a:t>
            </a:r>
            <a:endParaRPr lang="en-US" sz="1150" dirty="0"/>
          </a:p>
        </p:txBody>
      </p:sp>
      <p:sp>
        <p:nvSpPr>
          <p:cNvPr id="41" name="Text 39"/>
          <p:cNvSpPr/>
          <p:nvPr/>
        </p:nvSpPr>
        <p:spPr>
          <a:xfrm>
            <a:off x="7955280" y="4864608"/>
            <a:ext cx="640080" cy="22860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6 / 12</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marL="0" indent="0">
              <a:buNone/>
            </a:pPr>
            <a:r>
              <a:rPr lang="en-US" sz="2500" b="1" dirty="0">
                <a:solidFill>
                  <a:srgbClr val="0F2A44"/>
                </a:solidFill>
                <a:latin typeface="Calibri" pitchFamily="34" charset="0"/>
                <a:ea typeface="Calibri" pitchFamily="34" charset="-122"/>
                <a:cs typeface="Calibri" pitchFamily="34" charset="-120"/>
              </a:rPr>
              <a:t>Spotlight: God Service detection</a:t>
            </a:r>
            <a:endParaRPr lang="en-US" sz="2500" dirty="0"/>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txBody>
          <a:bodyPr/>
          <a:lstStyle/>
          <a:p>
            <a:endParaRPr lang="en-US"/>
          </a:p>
        </p:txBody>
      </p:sp>
      <p:sp>
        <p:nvSpPr>
          <p:cNvPr id="4" name="Text 2"/>
          <p:cNvSpPr/>
          <p:nvPr/>
        </p:nvSpPr>
        <p:spPr>
          <a:xfrm>
            <a:off x="548640" y="987552"/>
            <a:ext cx="3657600" cy="292608"/>
          </a:xfrm>
          <a:prstGeom prst="rect">
            <a:avLst/>
          </a:prstGeom>
          <a:noFill/>
          <a:ln/>
        </p:spPr>
        <p:txBody>
          <a:bodyPr wrap="square" lIns="0" tIns="0" rIns="0" bIns="0" rtlCol="0" anchor="ctr"/>
          <a:lstStyle/>
          <a:p>
            <a:pPr marL="0" indent="0">
              <a:buNone/>
            </a:pPr>
            <a:r>
              <a:rPr lang="en-US" sz="1300" b="1" dirty="0">
                <a:solidFill>
                  <a:srgbClr val="0F2A44"/>
                </a:solidFill>
                <a:latin typeface="Calibri" pitchFamily="34" charset="0"/>
                <a:ea typeface="Calibri" pitchFamily="34" charset="-122"/>
                <a:cs typeface="Calibri" pitchFamily="34" charset="-120"/>
              </a:rPr>
              <a:t>Multi-level bridge in action</a:t>
            </a:r>
            <a:endParaRPr lang="en-US" sz="1300" dirty="0"/>
          </a:p>
        </p:txBody>
      </p:sp>
      <p:sp>
        <p:nvSpPr>
          <p:cNvPr id="5" name="Shape 3"/>
          <p:cNvSpPr/>
          <p:nvPr/>
        </p:nvSpPr>
        <p:spPr>
          <a:xfrm>
            <a:off x="548640" y="1371600"/>
            <a:ext cx="3657600" cy="914400"/>
          </a:xfrm>
          <a:prstGeom prst="rect">
            <a:avLst/>
          </a:prstGeom>
          <a:solidFill>
            <a:srgbClr val="FFFFFF"/>
          </a:solidFill>
          <a:ln w="12700">
            <a:solidFill>
              <a:srgbClr val="D8DEE6"/>
            </a:solidFill>
            <a:prstDash val="solid"/>
          </a:ln>
        </p:spPr>
        <p:txBody>
          <a:bodyPr/>
          <a:lstStyle/>
          <a:p>
            <a:endParaRPr lang="en-US"/>
          </a:p>
        </p:txBody>
      </p:sp>
      <p:sp>
        <p:nvSpPr>
          <p:cNvPr id="6" name="Shape 4"/>
          <p:cNvSpPr/>
          <p:nvPr/>
        </p:nvSpPr>
        <p:spPr>
          <a:xfrm>
            <a:off x="548640" y="1371600"/>
            <a:ext cx="41148" cy="914400"/>
          </a:xfrm>
          <a:prstGeom prst="rect">
            <a:avLst/>
          </a:prstGeom>
          <a:solidFill>
            <a:srgbClr val="0F2A44"/>
          </a:solidFill>
          <a:ln w="12700">
            <a:solidFill>
              <a:srgbClr val="0F2A44"/>
            </a:solidFill>
            <a:prstDash val="solid"/>
          </a:ln>
        </p:spPr>
        <p:txBody>
          <a:bodyPr/>
          <a:lstStyle/>
          <a:p>
            <a:endParaRPr lang="en-US"/>
          </a:p>
        </p:txBody>
      </p:sp>
      <p:sp>
        <p:nvSpPr>
          <p:cNvPr id="7" name="Text 5"/>
          <p:cNvSpPr/>
          <p:nvPr/>
        </p:nvSpPr>
        <p:spPr>
          <a:xfrm>
            <a:off x="713232" y="1463040"/>
            <a:ext cx="3383280" cy="219456"/>
          </a:xfrm>
          <a:prstGeom prst="rect">
            <a:avLst/>
          </a:prstGeom>
          <a:noFill/>
          <a:ln/>
        </p:spPr>
        <p:txBody>
          <a:bodyPr wrap="square" lIns="0" tIns="0" rIns="0" bIns="0" rtlCol="0" anchor="ctr"/>
          <a:lstStyle/>
          <a:p>
            <a:pPr marL="0" indent="0">
              <a:buNone/>
            </a:pPr>
            <a:r>
              <a:rPr lang="en-US" sz="900" b="1" kern="0" spc="200" dirty="0">
                <a:solidFill>
                  <a:srgbClr val="64748B"/>
                </a:solidFill>
                <a:latin typeface="Calibri" pitchFamily="34" charset="0"/>
                <a:ea typeface="Calibri" pitchFamily="34" charset="-122"/>
                <a:cs typeface="Calibri" pitchFamily="34" charset="-120"/>
              </a:rPr>
              <a:t>CODE LEVEL</a:t>
            </a:r>
            <a:endParaRPr lang="en-US" sz="900" dirty="0"/>
          </a:p>
        </p:txBody>
      </p:sp>
      <p:sp>
        <p:nvSpPr>
          <p:cNvPr id="8" name="Text 6"/>
          <p:cNvSpPr/>
          <p:nvPr/>
        </p:nvSpPr>
        <p:spPr>
          <a:xfrm>
            <a:off x="713232" y="1691640"/>
            <a:ext cx="3383280" cy="274320"/>
          </a:xfrm>
          <a:prstGeom prst="rect">
            <a:avLst/>
          </a:prstGeom>
          <a:noFill/>
          <a:ln/>
        </p:spPr>
        <p:txBody>
          <a:bodyPr wrap="square" lIns="0" tIns="0" rIns="0" bIns="0" rtlCol="0" anchor="ctr"/>
          <a:lstStyle/>
          <a:p>
            <a:pPr marL="0" indent="0">
              <a:buNone/>
            </a:pPr>
            <a:r>
              <a:rPr lang="en-US" sz="1250" b="1" dirty="0">
                <a:solidFill>
                  <a:srgbClr val="1E293B"/>
                </a:solidFill>
                <a:latin typeface="Calibri" pitchFamily="34" charset="0"/>
                <a:ea typeface="Calibri" pitchFamily="34" charset="-122"/>
                <a:cs typeface="Calibri" pitchFamily="34" charset="-120"/>
              </a:rPr>
              <a:t>Structural class metrics (per class)</a:t>
            </a:r>
            <a:endParaRPr lang="en-US" sz="1250" dirty="0"/>
          </a:p>
        </p:txBody>
      </p:sp>
      <p:sp>
        <p:nvSpPr>
          <p:cNvPr id="9" name="Text 7"/>
          <p:cNvSpPr/>
          <p:nvPr/>
        </p:nvSpPr>
        <p:spPr>
          <a:xfrm>
            <a:off x="713232" y="1965960"/>
            <a:ext cx="3383280" cy="274320"/>
          </a:xfrm>
          <a:prstGeom prst="rect">
            <a:avLst/>
          </a:prstGeom>
          <a:noFill/>
          <a:ln/>
        </p:spPr>
        <p:txBody>
          <a:bodyPr wrap="square" lIns="0" tIns="0" rIns="0" bIns="0" rtlCol="0" anchor="ctr"/>
          <a:lstStyle/>
          <a:p>
            <a:pPr marL="0" indent="0">
              <a:buNone/>
            </a:pPr>
            <a:r>
              <a:rPr lang="en-US" sz="1000" i="1" dirty="0">
                <a:solidFill>
                  <a:srgbClr val="64748B"/>
                </a:solidFill>
                <a:latin typeface="Calibri" pitchFamily="34" charset="0"/>
                <a:ea typeface="Calibri" pitchFamily="34" charset="-122"/>
                <a:cs typeface="Calibri" pitchFamily="34" charset="-120"/>
              </a:rPr>
              <a:t>Computed from the Spoon AST: fields, methods, LOC, cohesion</a:t>
            </a:r>
            <a:endParaRPr lang="en-US" sz="1000" dirty="0"/>
          </a:p>
        </p:txBody>
      </p:sp>
      <p:sp>
        <p:nvSpPr>
          <p:cNvPr id="10" name="Shape 8"/>
          <p:cNvSpPr/>
          <p:nvPr/>
        </p:nvSpPr>
        <p:spPr>
          <a:xfrm>
            <a:off x="2377440" y="2359152"/>
            <a:ext cx="0" cy="292608"/>
          </a:xfrm>
          <a:prstGeom prst="line">
            <a:avLst/>
          </a:prstGeom>
          <a:noFill/>
          <a:ln w="28575">
            <a:solidFill>
              <a:srgbClr val="0D9488"/>
            </a:solidFill>
            <a:prstDash val="solid"/>
            <a:tailEnd type="triangle"/>
          </a:ln>
        </p:spPr>
        <p:txBody>
          <a:bodyPr/>
          <a:lstStyle/>
          <a:p>
            <a:endParaRPr lang="en-US"/>
          </a:p>
        </p:txBody>
      </p:sp>
      <p:sp>
        <p:nvSpPr>
          <p:cNvPr id="11" name="Shape 9"/>
          <p:cNvSpPr/>
          <p:nvPr/>
        </p:nvSpPr>
        <p:spPr>
          <a:xfrm>
            <a:off x="548640" y="2724912"/>
            <a:ext cx="3657600" cy="914400"/>
          </a:xfrm>
          <a:prstGeom prst="rect">
            <a:avLst/>
          </a:prstGeom>
          <a:solidFill>
            <a:srgbClr val="FFFFFF"/>
          </a:solidFill>
          <a:ln w="12700">
            <a:solidFill>
              <a:srgbClr val="D8DEE6"/>
            </a:solidFill>
            <a:prstDash val="solid"/>
          </a:ln>
        </p:spPr>
        <p:txBody>
          <a:bodyPr/>
          <a:lstStyle/>
          <a:p>
            <a:endParaRPr lang="en-US"/>
          </a:p>
        </p:txBody>
      </p:sp>
      <p:sp>
        <p:nvSpPr>
          <p:cNvPr id="12" name="Shape 10"/>
          <p:cNvSpPr/>
          <p:nvPr/>
        </p:nvSpPr>
        <p:spPr>
          <a:xfrm>
            <a:off x="548640" y="2724912"/>
            <a:ext cx="41148" cy="914400"/>
          </a:xfrm>
          <a:prstGeom prst="rect">
            <a:avLst/>
          </a:prstGeom>
          <a:solidFill>
            <a:srgbClr val="0D9488"/>
          </a:solidFill>
          <a:ln w="12700">
            <a:solidFill>
              <a:srgbClr val="0D9488"/>
            </a:solidFill>
            <a:prstDash val="solid"/>
          </a:ln>
        </p:spPr>
        <p:txBody>
          <a:bodyPr/>
          <a:lstStyle/>
          <a:p>
            <a:endParaRPr lang="en-US"/>
          </a:p>
        </p:txBody>
      </p:sp>
      <p:sp>
        <p:nvSpPr>
          <p:cNvPr id="13" name="Text 11"/>
          <p:cNvSpPr/>
          <p:nvPr/>
        </p:nvSpPr>
        <p:spPr>
          <a:xfrm>
            <a:off x="713232" y="2816352"/>
            <a:ext cx="3383280" cy="219456"/>
          </a:xfrm>
          <a:prstGeom prst="rect">
            <a:avLst/>
          </a:prstGeom>
          <a:noFill/>
          <a:ln/>
        </p:spPr>
        <p:txBody>
          <a:bodyPr wrap="square" lIns="0" tIns="0" rIns="0" bIns="0" rtlCol="0" anchor="ctr"/>
          <a:lstStyle/>
          <a:p>
            <a:pPr marL="0" indent="0">
              <a:buNone/>
            </a:pPr>
            <a:r>
              <a:rPr lang="en-US" sz="900" b="1" kern="0" spc="200" dirty="0">
                <a:solidFill>
                  <a:srgbClr val="64748B"/>
                </a:solidFill>
                <a:latin typeface="Calibri" pitchFamily="34" charset="0"/>
                <a:ea typeface="Calibri" pitchFamily="34" charset="-122"/>
                <a:cs typeface="Calibri" pitchFamily="34" charset="-120"/>
              </a:rPr>
              <a:t>ARCHITECTURAL LEVEL</a:t>
            </a:r>
            <a:endParaRPr lang="en-US" sz="900" dirty="0"/>
          </a:p>
        </p:txBody>
      </p:sp>
      <p:sp>
        <p:nvSpPr>
          <p:cNvPr id="14" name="Text 12"/>
          <p:cNvSpPr/>
          <p:nvPr/>
        </p:nvSpPr>
        <p:spPr>
          <a:xfrm>
            <a:off x="713232" y="3044952"/>
            <a:ext cx="3383280" cy="274320"/>
          </a:xfrm>
          <a:prstGeom prst="rect">
            <a:avLst/>
          </a:prstGeom>
          <a:noFill/>
          <a:ln/>
        </p:spPr>
        <p:txBody>
          <a:bodyPr wrap="square" lIns="0" tIns="0" rIns="0" bIns="0" rtlCol="0" anchor="ctr"/>
          <a:lstStyle/>
          <a:p>
            <a:pPr marL="0" indent="0">
              <a:buNone/>
            </a:pPr>
            <a:r>
              <a:rPr lang="en-US" sz="1250" b="1" dirty="0">
                <a:solidFill>
                  <a:srgbClr val="1E293B"/>
                </a:solidFill>
                <a:latin typeface="Calibri" pitchFamily="34" charset="0"/>
                <a:ea typeface="Calibri" pitchFamily="34" charset="-122"/>
                <a:cs typeface="Calibri" pitchFamily="34" charset="-120"/>
              </a:rPr>
              <a:t>God Service (per microservice)</a:t>
            </a:r>
            <a:endParaRPr lang="en-US" sz="1250" dirty="0"/>
          </a:p>
        </p:txBody>
      </p:sp>
      <p:sp>
        <p:nvSpPr>
          <p:cNvPr id="15" name="Text 13"/>
          <p:cNvSpPr/>
          <p:nvPr/>
        </p:nvSpPr>
        <p:spPr>
          <a:xfrm>
            <a:off x="713232" y="3319272"/>
            <a:ext cx="3383280" cy="274320"/>
          </a:xfrm>
          <a:prstGeom prst="rect">
            <a:avLst/>
          </a:prstGeom>
          <a:noFill/>
          <a:ln/>
        </p:spPr>
        <p:txBody>
          <a:bodyPr wrap="square" lIns="0" tIns="0" rIns="0" bIns="0" rtlCol="0" anchor="ctr"/>
          <a:lstStyle/>
          <a:p>
            <a:pPr marL="0" indent="0">
              <a:buNone/>
            </a:pPr>
            <a:r>
              <a:rPr lang="en-US" sz="1000" i="1" dirty="0">
                <a:solidFill>
                  <a:srgbClr val="64748B"/>
                </a:solidFill>
                <a:latin typeface="Calibri" pitchFamily="34" charset="0"/>
                <a:ea typeface="Calibri" pitchFamily="34" charset="-122"/>
                <a:cs typeface="Calibri" pitchFamily="34" charset="-120"/>
              </a:rPr>
              <a:t>Flag service if it contains at least one God Class</a:t>
            </a:r>
            <a:endParaRPr lang="en-US" sz="1000" dirty="0"/>
          </a:p>
        </p:txBody>
      </p:sp>
      <p:sp>
        <p:nvSpPr>
          <p:cNvPr id="16" name="Text 14"/>
          <p:cNvSpPr/>
          <p:nvPr/>
        </p:nvSpPr>
        <p:spPr>
          <a:xfrm>
            <a:off x="548640" y="3886200"/>
            <a:ext cx="3657600" cy="320040"/>
          </a:xfrm>
          <a:prstGeom prst="rect">
            <a:avLst/>
          </a:prstGeom>
          <a:noFill/>
          <a:ln/>
        </p:spPr>
        <p:txBody>
          <a:bodyPr wrap="square" lIns="0" tIns="0" rIns="0" bIns="0" rtlCol="0" anchor="ctr"/>
          <a:lstStyle/>
          <a:p>
            <a:pPr marL="0" indent="0">
              <a:buNone/>
            </a:pPr>
            <a:r>
              <a:rPr lang="en-US" sz="1050" i="1" dirty="0">
                <a:solidFill>
                  <a:srgbClr val="64748B"/>
                </a:solidFill>
                <a:latin typeface="Calibri" pitchFamily="34" charset="0"/>
                <a:ea typeface="Calibri" pitchFamily="34" charset="-122"/>
                <a:cs typeface="Calibri" pitchFamily="34" charset="-120"/>
              </a:rPr>
              <a:t>Code-level evidence → architectural-level finding</a:t>
            </a:r>
            <a:endParaRPr lang="en-US" sz="1050" dirty="0"/>
          </a:p>
        </p:txBody>
      </p:sp>
      <p:sp>
        <p:nvSpPr>
          <p:cNvPr id="17" name="Text 15"/>
          <p:cNvSpPr/>
          <p:nvPr/>
        </p:nvSpPr>
        <p:spPr>
          <a:xfrm>
            <a:off x="4754880" y="987552"/>
            <a:ext cx="3840480" cy="292608"/>
          </a:xfrm>
          <a:prstGeom prst="rect">
            <a:avLst/>
          </a:prstGeom>
          <a:noFill/>
          <a:ln/>
        </p:spPr>
        <p:txBody>
          <a:bodyPr wrap="square" lIns="0" tIns="0" rIns="0" bIns="0" rtlCol="0" anchor="ctr"/>
          <a:lstStyle/>
          <a:p>
            <a:pPr marL="0" indent="0">
              <a:buNone/>
            </a:pPr>
            <a:r>
              <a:rPr lang="en-US" sz="1300" b="1" dirty="0">
                <a:solidFill>
                  <a:srgbClr val="0F2A44"/>
                </a:solidFill>
                <a:latin typeface="Calibri" pitchFamily="34" charset="0"/>
                <a:ea typeface="Calibri" pitchFamily="34" charset="-122"/>
                <a:cs typeface="Calibri" pitchFamily="34" charset="-120"/>
              </a:rPr>
              <a:t>Six structural metrics</a:t>
            </a:r>
            <a:endParaRPr lang="en-US" sz="1300" dirty="0"/>
          </a:p>
        </p:txBody>
      </p:sp>
      <p:sp>
        <p:nvSpPr>
          <p:cNvPr id="18" name="Text 16"/>
          <p:cNvSpPr/>
          <p:nvPr/>
        </p:nvSpPr>
        <p:spPr>
          <a:xfrm>
            <a:off x="4754880" y="1316736"/>
            <a:ext cx="3840480" cy="475488"/>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Each non-data class is evaluated against six thresholds computed from its AST:</a:t>
            </a:r>
            <a:endParaRPr lang="en-US" sz="1100" dirty="0"/>
          </a:p>
        </p:txBody>
      </p:sp>
      <p:sp>
        <p:nvSpPr>
          <p:cNvPr id="19" name="Text 17"/>
          <p:cNvSpPr/>
          <p:nvPr/>
        </p:nvSpPr>
        <p:spPr>
          <a:xfrm>
            <a:off x="4846320" y="1828800"/>
            <a:ext cx="3749040" cy="1783080"/>
          </a:xfrm>
          <a:prstGeom prst="rect">
            <a:avLst/>
          </a:prstGeom>
          <a:noFill/>
          <a:ln/>
        </p:spPr>
        <p:txBody>
          <a:bodyPr wrap="square" lIns="0" tIns="0" rIns="0" bIns="0" rtlCol="0" anchor="ctr"/>
          <a:lstStyle/>
          <a:p>
            <a:pPr marL="342900" indent="-342900">
              <a:spcAft>
                <a:spcPts val="300"/>
              </a:spcAft>
              <a:buSzPct val="100000"/>
              <a:buChar char="•"/>
            </a:pPr>
            <a:r>
              <a:rPr lang="en-US" sz="1100" dirty="0">
                <a:solidFill>
                  <a:srgbClr val="1E293B"/>
                </a:solidFill>
                <a:latin typeface="Calibri" pitchFamily="34" charset="0"/>
                <a:ea typeface="Calibri" pitchFamily="34" charset="-122"/>
                <a:cs typeface="Calibri" pitchFamily="34" charset="-120"/>
              </a:rPr>
              <a:t>≥ 25 fields</a:t>
            </a:r>
            <a:endParaRPr lang="en-US" sz="1100" dirty="0"/>
          </a:p>
          <a:p>
            <a:pPr marL="342900" indent="-342900">
              <a:spcAft>
                <a:spcPts val="300"/>
              </a:spcAft>
              <a:buSzPct val="100000"/>
              <a:buChar char="•"/>
            </a:pPr>
            <a:r>
              <a:rPr lang="en-US" sz="1100" dirty="0">
                <a:solidFill>
                  <a:srgbClr val="1E293B"/>
                </a:solidFill>
                <a:latin typeface="Calibri" pitchFamily="34" charset="0"/>
                <a:ea typeface="Calibri" pitchFamily="34" charset="-122"/>
                <a:cs typeface="Calibri" pitchFamily="34" charset="-120"/>
              </a:rPr>
              <a:t>≥ 30 public methods</a:t>
            </a:r>
            <a:endParaRPr lang="en-US" sz="1100" dirty="0"/>
          </a:p>
          <a:p>
            <a:pPr marL="342900" indent="-342900">
              <a:spcAft>
                <a:spcPts val="300"/>
              </a:spcAft>
              <a:buSzPct val="100000"/>
              <a:buChar char="•"/>
            </a:pPr>
            <a:r>
              <a:rPr lang="en-US" sz="1100" dirty="0">
                <a:solidFill>
                  <a:srgbClr val="1E293B"/>
                </a:solidFill>
                <a:latin typeface="Calibri" pitchFamily="34" charset="0"/>
                <a:ea typeface="Calibri" pitchFamily="34" charset="-122"/>
                <a:cs typeface="Calibri" pitchFamily="34" charset="-120"/>
              </a:rPr>
              <a:t>≥ 1000 lines of code</a:t>
            </a:r>
            <a:endParaRPr lang="en-US" sz="1100" dirty="0"/>
          </a:p>
          <a:p>
            <a:pPr marL="342900" indent="-342900">
              <a:spcAft>
                <a:spcPts val="300"/>
              </a:spcAft>
              <a:buSzPct val="100000"/>
              <a:buChar char="•"/>
            </a:pPr>
            <a:r>
              <a:rPr lang="en-US" sz="1100" dirty="0">
                <a:solidFill>
                  <a:srgbClr val="1E293B"/>
                </a:solidFill>
                <a:latin typeface="Calibri" pitchFamily="34" charset="0"/>
                <a:ea typeface="Calibri" pitchFamily="34" charset="-122"/>
                <a:cs typeface="Calibri" pitchFamily="34" charset="-120"/>
              </a:rPr>
              <a:t>≥ 20 distinct import domains</a:t>
            </a:r>
            <a:endParaRPr lang="en-US" sz="1100" dirty="0"/>
          </a:p>
          <a:p>
            <a:pPr marL="342900" indent="-342900">
              <a:spcAft>
                <a:spcPts val="300"/>
              </a:spcAft>
              <a:buSzPct val="100000"/>
              <a:buChar char="•"/>
            </a:pPr>
            <a:r>
              <a:rPr lang="en-US" sz="1100" dirty="0">
                <a:solidFill>
                  <a:srgbClr val="1E293B"/>
                </a:solidFill>
                <a:latin typeface="Calibri" pitchFamily="34" charset="0"/>
                <a:ea typeface="Calibri" pitchFamily="34" charset="-122"/>
                <a:cs typeface="Calibri" pitchFamily="34" charset="-120"/>
              </a:rPr>
              <a:t>≥ 12 constructor parameters</a:t>
            </a:r>
            <a:endParaRPr lang="en-US" sz="1100" dirty="0"/>
          </a:p>
          <a:p>
            <a:pPr marL="342900" indent="-342900">
              <a:spcAft>
                <a:spcPts val="300"/>
              </a:spcAft>
              <a:buSzPct val="100000"/>
              <a:buChar char="•"/>
            </a:pPr>
            <a:r>
              <a:rPr lang="en-US" sz="1100" dirty="0">
                <a:solidFill>
                  <a:srgbClr val="1E293B"/>
                </a:solidFill>
                <a:latin typeface="Calibri" pitchFamily="34" charset="0"/>
                <a:ea typeface="Calibri" pitchFamily="34" charset="-122"/>
                <a:cs typeface="Calibri" pitchFamily="34" charset="-120"/>
              </a:rPr>
              <a:t>TCC &lt; 0.5  (Bieman &amp; Kang, 1995)</a:t>
            </a:r>
            <a:endParaRPr lang="en-US" sz="1100" dirty="0"/>
          </a:p>
        </p:txBody>
      </p:sp>
      <p:sp>
        <p:nvSpPr>
          <p:cNvPr id="20" name="Shape 18"/>
          <p:cNvSpPr/>
          <p:nvPr/>
        </p:nvSpPr>
        <p:spPr>
          <a:xfrm>
            <a:off x="4754880" y="3767328"/>
            <a:ext cx="457200" cy="36576"/>
          </a:xfrm>
          <a:prstGeom prst="rect">
            <a:avLst/>
          </a:prstGeom>
          <a:solidFill>
            <a:srgbClr val="0D9488"/>
          </a:solidFill>
          <a:ln w="12700">
            <a:solidFill>
              <a:srgbClr val="0D9488"/>
            </a:solidFill>
            <a:prstDash val="solid"/>
          </a:ln>
        </p:spPr>
        <p:txBody>
          <a:bodyPr/>
          <a:lstStyle/>
          <a:p>
            <a:endParaRPr lang="en-US"/>
          </a:p>
        </p:txBody>
      </p:sp>
      <p:sp>
        <p:nvSpPr>
          <p:cNvPr id="21" name="Text 19"/>
          <p:cNvSpPr/>
          <p:nvPr/>
        </p:nvSpPr>
        <p:spPr>
          <a:xfrm>
            <a:off x="4754880" y="3886200"/>
            <a:ext cx="3840480" cy="457200"/>
          </a:xfrm>
          <a:prstGeom prst="rect">
            <a:avLst/>
          </a:prstGeom>
          <a:noFill/>
          <a:ln/>
        </p:spPr>
        <p:txBody>
          <a:bodyPr wrap="square" lIns="0" tIns="0" rIns="0" bIns="0" rtlCol="0" anchor="ctr"/>
          <a:lstStyle/>
          <a:p>
            <a:pPr marL="0" indent="0">
              <a:buNone/>
            </a:pPr>
            <a:r>
              <a:rPr lang="en-US" sz="1150" b="1" dirty="0">
                <a:solidFill>
                  <a:srgbClr val="0F2A44"/>
                </a:solidFill>
                <a:latin typeface="Calibri" pitchFamily="34" charset="0"/>
                <a:ea typeface="Calibri" pitchFamily="34" charset="-122"/>
                <a:cs typeface="Calibri" pitchFamily="34" charset="-120"/>
              </a:rPr>
              <a:t>Flag class as God Class if ≥ 3 of 6 thresholds are exceeded</a:t>
            </a:r>
            <a:endParaRPr lang="en-US" sz="1150" dirty="0"/>
          </a:p>
        </p:txBody>
      </p:sp>
      <p:sp>
        <p:nvSpPr>
          <p:cNvPr id="22" name="Text 20"/>
          <p:cNvSpPr/>
          <p:nvPr/>
        </p:nvSpPr>
        <p:spPr>
          <a:xfrm>
            <a:off x="7955280" y="4864608"/>
            <a:ext cx="640080" cy="22860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5 / 12</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marL="0" indent="0">
              <a:buNone/>
            </a:pPr>
            <a:r>
              <a:rPr lang="en-US" sz="2500" b="1" dirty="0">
                <a:solidFill>
                  <a:srgbClr val="0F2A44"/>
                </a:solidFill>
                <a:latin typeface="Calibri" pitchFamily="34" charset="0"/>
                <a:ea typeface="Calibri" pitchFamily="34" charset="-122"/>
                <a:cs typeface="Calibri" pitchFamily="34" charset="-120"/>
              </a:rPr>
              <a:t>Composite health score</a:t>
            </a:r>
            <a:endParaRPr lang="en-US" sz="2500" dirty="0"/>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txBody>
          <a:bodyPr/>
          <a:lstStyle/>
          <a:p>
            <a:endParaRPr lang="en-US"/>
          </a:p>
        </p:txBody>
      </p:sp>
      <p:sp>
        <p:nvSpPr>
          <p:cNvPr id="4" name="Shape 2"/>
          <p:cNvSpPr/>
          <p:nvPr/>
        </p:nvSpPr>
        <p:spPr>
          <a:xfrm>
            <a:off x="548640" y="1051560"/>
            <a:ext cx="1874520" cy="41148"/>
          </a:xfrm>
          <a:prstGeom prst="rect">
            <a:avLst/>
          </a:prstGeom>
          <a:solidFill>
            <a:srgbClr val="DC2626"/>
          </a:solidFill>
          <a:ln w="12700">
            <a:solidFill>
              <a:srgbClr val="DC2626"/>
            </a:solidFill>
            <a:prstDash val="solid"/>
          </a:ln>
        </p:spPr>
        <p:txBody>
          <a:bodyPr/>
          <a:lstStyle/>
          <a:p>
            <a:endParaRPr lang="en-US"/>
          </a:p>
        </p:txBody>
      </p:sp>
      <p:sp>
        <p:nvSpPr>
          <p:cNvPr id="5" name="Text 3"/>
          <p:cNvSpPr/>
          <p:nvPr/>
        </p:nvSpPr>
        <p:spPr>
          <a:xfrm>
            <a:off x="548640" y="1170432"/>
            <a:ext cx="1874520" cy="502920"/>
          </a:xfrm>
          <a:prstGeom prst="rect">
            <a:avLst/>
          </a:prstGeom>
          <a:noFill/>
          <a:ln/>
        </p:spPr>
        <p:txBody>
          <a:bodyPr wrap="square" lIns="0" tIns="0" rIns="0" bIns="0" rtlCol="0" anchor="ctr"/>
          <a:lstStyle/>
          <a:p>
            <a:pPr marL="0" indent="0">
              <a:buNone/>
            </a:pPr>
            <a:r>
              <a:rPr lang="en-US" sz="3000" b="1" dirty="0">
                <a:solidFill>
                  <a:srgbClr val="0F2A44"/>
                </a:solidFill>
                <a:latin typeface="Calibri" pitchFamily="34" charset="0"/>
                <a:ea typeface="Calibri" pitchFamily="34" charset="-122"/>
                <a:cs typeface="Calibri" pitchFamily="34" charset="-120"/>
              </a:rPr>
              <a:t>40</a:t>
            </a:r>
            <a:endParaRPr lang="en-US" sz="3000" dirty="0"/>
          </a:p>
        </p:txBody>
      </p:sp>
      <p:sp>
        <p:nvSpPr>
          <p:cNvPr id="6" name="Text 4"/>
          <p:cNvSpPr/>
          <p:nvPr/>
        </p:nvSpPr>
        <p:spPr>
          <a:xfrm>
            <a:off x="548640" y="1700784"/>
            <a:ext cx="1874520" cy="274320"/>
          </a:xfrm>
          <a:prstGeom prst="rect">
            <a:avLst/>
          </a:prstGeom>
          <a:noFill/>
          <a:ln/>
        </p:spPr>
        <p:txBody>
          <a:bodyPr wrap="square" lIns="0" tIns="0" rIns="0" bIns="0" rtlCol="0" anchor="ctr"/>
          <a:lstStyle/>
          <a:p>
            <a:pPr marL="0" indent="0">
              <a:buNone/>
            </a:pPr>
            <a:r>
              <a:rPr lang="en-US" sz="1250" b="1" dirty="0">
                <a:solidFill>
                  <a:srgbClr val="0F2A44"/>
                </a:solidFill>
                <a:latin typeface="Calibri" pitchFamily="34" charset="0"/>
                <a:ea typeface="Calibri" pitchFamily="34" charset="-122"/>
                <a:cs typeface="Calibri" pitchFamily="34" charset="-120"/>
              </a:rPr>
              <a:t>Anti-Patterns</a:t>
            </a:r>
            <a:endParaRPr lang="en-US" sz="1250" dirty="0"/>
          </a:p>
        </p:txBody>
      </p:sp>
      <p:sp>
        <p:nvSpPr>
          <p:cNvPr id="8" name="Shape 6"/>
          <p:cNvSpPr/>
          <p:nvPr/>
        </p:nvSpPr>
        <p:spPr>
          <a:xfrm>
            <a:off x="2606040" y="1051560"/>
            <a:ext cx="1874520" cy="41148"/>
          </a:xfrm>
          <a:prstGeom prst="rect">
            <a:avLst/>
          </a:prstGeom>
          <a:solidFill>
            <a:srgbClr val="D97706"/>
          </a:solidFill>
          <a:ln w="12700">
            <a:solidFill>
              <a:srgbClr val="D97706"/>
            </a:solidFill>
            <a:prstDash val="solid"/>
          </a:ln>
        </p:spPr>
        <p:txBody>
          <a:bodyPr/>
          <a:lstStyle/>
          <a:p>
            <a:endParaRPr lang="en-US"/>
          </a:p>
        </p:txBody>
      </p:sp>
      <p:sp>
        <p:nvSpPr>
          <p:cNvPr id="9" name="Text 7"/>
          <p:cNvSpPr/>
          <p:nvPr/>
        </p:nvSpPr>
        <p:spPr>
          <a:xfrm>
            <a:off x="2606040" y="1170432"/>
            <a:ext cx="1874520" cy="502920"/>
          </a:xfrm>
          <a:prstGeom prst="rect">
            <a:avLst/>
          </a:prstGeom>
          <a:noFill/>
          <a:ln/>
        </p:spPr>
        <p:txBody>
          <a:bodyPr wrap="square" lIns="0" tIns="0" rIns="0" bIns="0" rtlCol="0" anchor="ctr"/>
          <a:lstStyle/>
          <a:p>
            <a:pPr marL="0" indent="0">
              <a:buNone/>
            </a:pPr>
            <a:r>
              <a:rPr lang="en-US" sz="3000" b="1" dirty="0">
                <a:solidFill>
                  <a:srgbClr val="0F2A44"/>
                </a:solidFill>
                <a:latin typeface="Calibri" pitchFamily="34" charset="0"/>
                <a:ea typeface="Calibri" pitchFamily="34" charset="-122"/>
                <a:cs typeface="Calibri" pitchFamily="34" charset="-120"/>
              </a:rPr>
              <a:t>20</a:t>
            </a:r>
            <a:endParaRPr lang="en-US" sz="3000" dirty="0"/>
          </a:p>
        </p:txBody>
      </p:sp>
      <p:sp>
        <p:nvSpPr>
          <p:cNvPr id="10" name="Text 8"/>
          <p:cNvSpPr/>
          <p:nvPr/>
        </p:nvSpPr>
        <p:spPr>
          <a:xfrm>
            <a:off x="2606040" y="1700784"/>
            <a:ext cx="1874520" cy="274320"/>
          </a:xfrm>
          <a:prstGeom prst="rect">
            <a:avLst/>
          </a:prstGeom>
          <a:noFill/>
          <a:ln/>
        </p:spPr>
        <p:txBody>
          <a:bodyPr wrap="square" lIns="0" tIns="0" rIns="0" bIns="0" rtlCol="0" anchor="ctr"/>
          <a:lstStyle/>
          <a:p>
            <a:pPr marL="0" indent="0">
              <a:buNone/>
            </a:pPr>
            <a:r>
              <a:rPr lang="en-US" sz="1250" b="1" dirty="0">
                <a:solidFill>
                  <a:srgbClr val="0F2A44"/>
                </a:solidFill>
                <a:latin typeface="Calibri" pitchFamily="34" charset="0"/>
                <a:ea typeface="Calibri" pitchFamily="34" charset="-122"/>
                <a:cs typeface="Calibri" pitchFamily="34" charset="-120"/>
              </a:rPr>
              <a:t>Code Quality</a:t>
            </a:r>
            <a:endParaRPr lang="en-US" sz="1250" dirty="0"/>
          </a:p>
        </p:txBody>
      </p:sp>
      <p:sp>
        <p:nvSpPr>
          <p:cNvPr id="12" name="Shape 10"/>
          <p:cNvSpPr/>
          <p:nvPr/>
        </p:nvSpPr>
        <p:spPr>
          <a:xfrm>
            <a:off x="4663440" y="1051560"/>
            <a:ext cx="1874520" cy="41148"/>
          </a:xfrm>
          <a:prstGeom prst="rect">
            <a:avLst/>
          </a:prstGeom>
          <a:solidFill>
            <a:srgbClr val="1C4E80"/>
          </a:solidFill>
          <a:ln w="12700">
            <a:solidFill>
              <a:srgbClr val="1C4E80"/>
            </a:solidFill>
            <a:prstDash val="solid"/>
          </a:ln>
        </p:spPr>
        <p:txBody>
          <a:bodyPr/>
          <a:lstStyle/>
          <a:p>
            <a:endParaRPr lang="en-US"/>
          </a:p>
        </p:txBody>
      </p:sp>
      <p:sp>
        <p:nvSpPr>
          <p:cNvPr id="13" name="Text 11"/>
          <p:cNvSpPr/>
          <p:nvPr/>
        </p:nvSpPr>
        <p:spPr>
          <a:xfrm>
            <a:off x="4663440" y="1170432"/>
            <a:ext cx="1874520" cy="502920"/>
          </a:xfrm>
          <a:prstGeom prst="rect">
            <a:avLst/>
          </a:prstGeom>
          <a:noFill/>
          <a:ln/>
        </p:spPr>
        <p:txBody>
          <a:bodyPr wrap="square" lIns="0" tIns="0" rIns="0" bIns="0" rtlCol="0" anchor="ctr"/>
          <a:lstStyle/>
          <a:p>
            <a:pPr marL="0" indent="0">
              <a:buNone/>
            </a:pPr>
            <a:r>
              <a:rPr lang="en-US" sz="3000" b="1" dirty="0">
                <a:solidFill>
                  <a:srgbClr val="0F2A44"/>
                </a:solidFill>
                <a:latin typeface="Calibri" pitchFamily="34" charset="0"/>
                <a:ea typeface="Calibri" pitchFamily="34" charset="-122"/>
                <a:cs typeface="Calibri" pitchFamily="34" charset="-120"/>
              </a:rPr>
              <a:t>25</a:t>
            </a:r>
            <a:endParaRPr lang="en-US" sz="3000" dirty="0"/>
          </a:p>
        </p:txBody>
      </p:sp>
      <p:sp>
        <p:nvSpPr>
          <p:cNvPr id="14" name="Text 12"/>
          <p:cNvSpPr/>
          <p:nvPr/>
        </p:nvSpPr>
        <p:spPr>
          <a:xfrm>
            <a:off x="4663440" y="1700784"/>
            <a:ext cx="1874520" cy="274320"/>
          </a:xfrm>
          <a:prstGeom prst="rect">
            <a:avLst/>
          </a:prstGeom>
          <a:noFill/>
          <a:ln/>
        </p:spPr>
        <p:txBody>
          <a:bodyPr wrap="square" lIns="0" tIns="0" rIns="0" bIns="0" rtlCol="0" anchor="ctr"/>
          <a:lstStyle/>
          <a:p>
            <a:pPr marL="0" indent="0">
              <a:buNone/>
            </a:pPr>
            <a:r>
              <a:rPr lang="en-US" sz="1250" b="1" dirty="0">
                <a:solidFill>
                  <a:srgbClr val="0F2A44"/>
                </a:solidFill>
                <a:latin typeface="Calibri" pitchFamily="34" charset="0"/>
                <a:ea typeface="Calibri" pitchFamily="34" charset="-122"/>
                <a:cs typeface="Calibri" pitchFamily="34" charset="-120"/>
              </a:rPr>
              <a:t>Architecture</a:t>
            </a:r>
            <a:endParaRPr lang="en-US" sz="1250" dirty="0"/>
          </a:p>
        </p:txBody>
      </p:sp>
      <p:sp>
        <p:nvSpPr>
          <p:cNvPr id="16" name="Shape 14"/>
          <p:cNvSpPr/>
          <p:nvPr/>
        </p:nvSpPr>
        <p:spPr>
          <a:xfrm>
            <a:off x="6720840" y="1051560"/>
            <a:ext cx="1874520" cy="41148"/>
          </a:xfrm>
          <a:prstGeom prst="rect">
            <a:avLst/>
          </a:prstGeom>
          <a:solidFill>
            <a:srgbClr val="0D9488"/>
          </a:solidFill>
          <a:ln w="12700">
            <a:solidFill>
              <a:srgbClr val="0D9488"/>
            </a:solidFill>
            <a:prstDash val="solid"/>
          </a:ln>
        </p:spPr>
        <p:txBody>
          <a:bodyPr/>
          <a:lstStyle/>
          <a:p>
            <a:endParaRPr lang="en-US"/>
          </a:p>
        </p:txBody>
      </p:sp>
      <p:sp>
        <p:nvSpPr>
          <p:cNvPr id="17" name="Text 15"/>
          <p:cNvSpPr/>
          <p:nvPr/>
        </p:nvSpPr>
        <p:spPr>
          <a:xfrm>
            <a:off x="6720840" y="1170432"/>
            <a:ext cx="1874520" cy="502920"/>
          </a:xfrm>
          <a:prstGeom prst="rect">
            <a:avLst/>
          </a:prstGeom>
          <a:noFill/>
          <a:ln/>
        </p:spPr>
        <p:txBody>
          <a:bodyPr wrap="square" lIns="0" tIns="0" rIns="0" bIns="0" rtlCol="0" anchor="ctr"/>
          <a:lstStyle/>
          <a:p>
            <a:pPr marL="0" indent="0">
              <a:buNone/>
            </a:pPr>
            <a:r>
              <a:rPr lang="en-US" sz="3000" b="1" dirty="0">
                <a:solidFill>
                  <a:srgbClr val="0F2A44"/>
                </a:solidFill>
                <a:latin typeface="Calibri" pitchFamily="34" charset="0"/>
                <a:ea typeface="Calibri" pitchFamily="34" charset="-122"/>
                <a:cs typeface="Calibri" pitchFamily="34" charset="-120"/>
              </a:rPr>
              <a:t>15</a:t>
            </a:r>
            <a:endParaRPr lang="en-US" sz="3000" dirty="0"/>
          </a:p>
        </p:txBody>
      </p:sp>
      <p:sp>
        <p:nvSpPr>
          <p:cNvPr id="18" name="Text 16"/>
          <p:cNvSpPr/>
          <p:nvPr/>
        </p:nvSpPr>
        <p:spPr>
          <a:xfrm>
            <a:off x="6720840" y="1700784"/>
            <a:ext cx="1874520" cy="274320"/>
          </a:xfrm>
          <a:prstGeom prst="rect">
            <a:avLst/>
          </a:prstGeom>
          <a:noFill/>
          <a:ln/>
        </p:spPr>
        <p:txBody>
          <a:bodyPr wrap="square" lIns="0" tIns="0" rIns="0" bIns="0" rtlCol="0" anchor="ctr"/>
          <a:lstStyle/>
          <a:p>
            <a:pPr marL="0" indent="0">
              <a:buNone/>
            </a:pPr>
            <a:r>
              <a:rPr lang="en-US" sz="1250" b="1" dirty="0">
                <a:solidFill>
                  <a:srgbClr val="0F2A44"/>
                </a:solidFill>
                <a:latin typeface="Calibri" pitchFamily="34" charset="0"/>
                <a:ea typeface="Calibri" pitchFamily="34" charset="-122"/>
                <a:cs typeface="Calibri" pitchFamily="34" charset="-120"/>
              </a:rPr>
              <a:t>Service Sizing</a:t>
            </a:r>
            <a:endParaRPr lang="en-US" sz="1250" dirty="0"/>
          </a:p>
        </p:txBody>
      </p:sp>
      <p:sp>
        <p:nvSpPr>
          <p:cNvPr id="20" name="Text 18"/>
          <p:cNvSpPr/>
          <p:nvPr/>
        </p:nvSpPr>
        <p:spPr>
          <a:xfrm>
            <a:off x="548640" y="2269671"/>
            <a:ext cx="8046720" cy="274320"/>
          </a:xfrm>
          <a:prstGeom prst="rect">
            <a:avLst/>
          </a:prstGeom>
          <a:noFill/>
          <a:ln/>
        </p:spPr>
        <p:txBody>
          <a:bodyPr wrap="square" lIns="0" tIns="0" rIns="0" bIns="0" rtlCol="0" anchor="ctr"/>
          <a:lstStyle/>
          <a:p>
            <a:pPr marL="0" indent="0">
              <a:buNone/>
            </a:pPr>
            <a:r>
              <a:rPr lang="en-US" sz="1250" b="1" dirty="0">
                <a:solidFill>
                  <a:srgbClr val="0F2A44"/>
                </a:solidFill>
                <a:latin typeface="Calibri" pitchFamily="34" charset="0"/>
                <a:ea typeface="Calibri" pitchFamily="34" charset="-122"/>
                <a:cs typeface="Calibri" pitchFamily="34" charset="-120"/>
              </a:rPr>
              <a:t>Grade scale</a:t>
            </a:r>
            <a:endParaRPr lang="en-US" sz="1250" dirty="0"/>
          </a:p>
        </p:txBody>
      </p:sp>
      <p:sp>
        <p:nvSpPr>
          <p:cNvPr id="21" name="Shape 19"/>
          <p:cNvSpPr/>
          <p:nvPr/>
        </p:nvSpPr>
        <p:spPr>
          <a:xfrm>
            <a:off x="548640" y="2580567"/>
            <a:ext cx="1572768" cy="457200"/>
          </a:xfrm>
          <a:prstGeom prst="rect">
            <a:avLst/>
          </a:prstGeom>
          <a:solidFill>
            <a:srgbClr val="059669"/>
          </a:solidFill>
          <a:ln w="12700">
            <a:solidFill>
              <a:srgbClr val="059669"/>
            </a:solidFill>
            <a:prstDash val="solid"/>
          </a:ln>
        </p:spPr>
        <p:txBody>
          <a:bodyPr/>
          <a:lstStyle/>
          <a:p>
            <a:endParaRPr lang="en-US"/>
          </a:p>
        </p:txBody>
      </p:sp>
      <p:sp>
        <p:nvSpPr>
          <p:cNvPr id="22" name="Text 20"/>
          <p:cNvSpPr/>
          <p:nvPr/>
        </p:nvSpPr>
        <p:spPr>
          <a:xfrm>
            <a:off x="685800" y="2580567"/>
            <a:ext cx="1426464" cy="45720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A  </a:t>
            </a:r>
            <a:r>
              <a:rPr lang="en-US" sz="1100" dirty="0">
                <a:solidFill>
                  <a:srgbClr val="FFFFFF"/>
                </a:solidFill>
                <a:latin typeface="Calibri" pitchFamily="34" charset="0"/>
                <a:ea typeface="Calibri" pitchFamily="34" charset="-122"/>
                <a:cs typeface="Calibri" pitchFamily="34" charset="-120"/>
              </a:rPr>
              <a:t>≥ 90</a:t>
            </a:r>
            <a:endParaRPr lang="en-US" sz="1400" dirty="0"/>
          </a:p>
        </p:txBody>
      </p:sp>
      <p:sp>
        <p:nvSpPr>
          <p:cNvPr id="23" name="Shape 21"/>
          <p:cNvSpPr/>
          <p:nvPr/>
        </p:nvSpPr>
        <p:spPr>
          <a:xfrm>
            <a:off x="2157984" y="2580567"/>
            <a:ext cx="1572768" cy="457200"/>
          </a:xfrm>
          <a:prstGeom prst="rect">
            <a:avLst/>
          </a:prstGeom>
          <a:solidFill>
            <a:srgbClr val="0D9488"/>
          </a:solidFill>
          <a:ln w="12700">
            <a:solidFill>
              <a:srgbClr val="0D9488"/>
            </a:solidFill>
            <a:prstDash val="solid"/>
          </a:ln>
        </p:spPr>
        <p:txBody>
          <a:bodyPr/>
          <a:lstStyle/>
          <a:p>
            <a:endParaRPr lang="en-US"/>
          </a:p>
        </p:txBody>
      </p:sp>
      <p:sp>
        <p:nvSpPr>
          <p:cNvPr id="24" name="Text 22"/>
          <p:cNvSpPr/>
          <p:nvPr/>
        </p:nvSpPr>
        <p:spPr>
          <a:xfrm>
            <a:off x="2295144" y="2580567"/>
            <a:ext cx="1426464" cy="45720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B  </a:t>
            </a:r>
            <a:r>
              <a:rPr lang="en-US" sz="1100" dirty="0">
                <a:solidFill>
                  <a:srgbClr val="FFFFFF"/>
                </a:solidFill>
                <a:latin typeface="Calibri" pitchFamily="34" charset="0"/>
                <a:ea typeface="Calibri" pitchFamily="34" charset="-122"/>
                <a:cs typeface="Calibri" pitchFamily="34" charset="-120"/>
              </a:rPr>
              <a:t>≥ 80</a:t>
            </a:r>
            <a:endParaRPr lang="en-US" sz="1400" dirty="0"/>
          </a:p>
        </p:txBody>
      </p:sp>
      <p:sp>
        <p:nvSpPr>
          <p:cNvPr id="25" name="Shape 23"/>
          <p:cNvSpPr/>
          <p:nvPr/>
        </p:nvSpPr>
        <p:spPr>
          <a:xfrm>
            <a:off x="3767328" y="2580567"/>
            <a:ext cx="1572768" cy="457200"/>
          </a:xfrm>
          <a:prstGeom prst="rect">
            <a:avLst/>
          </a:prstGeom>
          <a:solidFill>
            <a:srgbClr val="1C4E80"/>
          </a:solidFill>
          <a:ln w="12700">
            <a:solidFill>
              <a:srgbClr val="1C4E80"/>
            </a:solidFill>
            <a:prstDash val="solid"/>
          </a:ln>
        </p:spPr>
        <p:txBody>
          <a:bodyPr/>
          <a:lstStyle/>
          <a:p>
            <a:endParaRPr lang="en-US"/>
          </a:p>
        </p:txBody>
      </p:sp>
      <p:sp>
        <p:nvSpPr>
          <p:cNvPr id="26" name="Text 24"/>
          <p:cNvSpPr/>
          <p:nvPr/>
        </p:nvSpPr>
        <p:spPr>
          <a:xfrm>
            <a:off x="3904488" y="2580567"/>
            <a:ext cx="1426464" cy="45720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C  </a:t>
            </a:r>
            <a:r>
              <a:rPr lang="en-US" sz="1100" dirty="0">
                <a:solidFill>
                  <a:srgbClr val="FFFFFF"/>
                </a:solidFill>
                <a:latin typeface="Calibri" pitchFamily="34" charset="0"/>
                <a:ea typeface="Calibri" pitchFamily="34" charset="-122"/>
                <a:cs typeface="Calibri" pitchFamily="34" charset="-120"/>
              </a:rPr>
              <a:t>≥ 65</a:t>
            </a:r>
            <a:endParaRPr lang="en-US" sz="1400" dirty="0"/>
          </a:p>
        </p:txBody>
      </p:sp>
      <p:sp>
        <p:nvSpPr>
          <p:cNvPr id="27" name="Shape 25"/>
          <p:cNvSpPr/>
          <p:nvPr/>
        </p:nvSpPr>
        <p:spPr>
          <a:xfrm>
            <a:off x="5376672" y="2580567"/>
            <a:ext cx="1572768" cy="457200"/>
          </a:xfrm>
          <a:prstGeom prst="rect">
            <a:avLst/>
          </a:prstGeom>
          <a:solidFill>
            <a:srgbClr val="D97706"/>
          </a:solidFill>
          <a:ln w="12700">
            <a:solidFill>
              <a:srgbClr val="D97706"/>
            </a:solidFill>
            <a:prstDash val="solid"/>
          </a:ln>
        </p:spPr>
        <p:txBody>
          <a:bodyPr/>
          <a:lstStyle/>
          <a:p>
            <a:endParaRPr lang="en-US"/>
          </a:p>
        </p:txBody>
      </p:sp>
      <p:sp>
        <p:nvSpPr>
          <p:cNvPr id="28" name="Text 26"/>
          <p:cNvSpPr/>
          <p:nvPr/>
        </p:nvSpPr>
        <p:spPr>
          <a:xfrm>
            <a:off x="5513832" y="2580567"/>
            <a:ext cx="1426464" cy="45720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D  </a:t>
            </a:r>
            <a:r>
              <a:rPr lang="en-US" sz="1100" dirty="0">
                <a:solidFill>
                  <a:srgbClr val="FFFFFF"/>
                </a:solidFill>
                <a:latin typeface="Calibri" pitchFamily="34" charset="0"/>
                <a:ea typeface="Calibri" pitchFamily="34" charset="-122"/>
                <a:cs typeface="Calibri" pitchFamily="34" charset="-120"/>
              </a:rPr>
              <a:t>≥ 50</a:t>
            </a:r>
            <a:endParaRPr lang="en-US" sz="1400" dirty="0"/>
          </a:p>
        </p:txBody>
      </p:sp>
      <p:sp>
        <p:nvSpPr>
          <p:cNvPr id="29" name="Shape 27"/>
          <p:cNvSpPr/>
          <p:nvPr/>
        </p:nvSpPr>
        <p:spPr>
          <a:xfrm>
            <a:off x="6986016" y="2580567"/>
            <a:ext cx="1572768" cy="457200"/>
          </a:xfrm>
          <a:prstGeom prst="rect">
            <a:avLst/>
          </a:prstGeom>
          <a:solidFill>
            <a:srgbClr val="DC2626"/>
          </a:solidFill>
          <a:ln w="12700">
            <a:solidFill>
              <a:srgbClr val="DC2626"/>
            </a:solidFill>
            <a:prstDash val="solid"/>
          </a:ln>
        </p:spPr>
        <p:txBody>
          <a:bodyPr/>
          <a:lstStyle/>
          <a:p>
            <a:endParaRPr lang="en-US"/>
          </a:p>
        </p:txBody>
      </p:sp>
      <p:sp>
        <p:nvSpPr>
          <p:cNvPr id="30" name="Text 28"/>
          <p:cNvSpPr/>
          <p:nvPr/>
        </p:nvSpPr>
        <p:spPr>
          <a:xfrm>
            <a:off x="7123176" y="2580567"/>
            <a:ext cx="1426464" cy="45720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F  </a:t>
            </a:r>
            <a:r>
              <a:rPr lang="en-US" sz="1100" dirty="0">
                <a:solidFill>
                  <a:srgbClr val="FFFFFF"/>
                </a:solidFill>
                <a:latin typeface="Calibri" pitchFamily="34" charset="0"/>
                <a:ea typeface="Calibri" pitchFamily="34" charset="-122"/>
                <a:cs typeface="Calibri" pitchFamily="34" charset="-120"/>
              </a:rPr>
              <a:t>&lt; 50</a:t>
            </a:r>
            <a:endParaRPr lang="en-US" sz="1400" dirty="0"/>
          </a:p>
        </p:txBody>
      </p:sp>
      <p:sp>
        <p:nvSpPr>
          <p:cNvPr id="31" name="Text 29"/>
          <p:cNvSpPr/>
          <p:nvPr/>
        </p:nvSpPr>
        <p:spPr>
          <a:xfrm>
            <a:off x="548640" y="3583794"/>
            <a:ext cx="8046720" cy="274320"/>
          </a:xfrm>
          <a:prstGeom prst="rect">
            <a:avLst/>
          </a:prstGeom>
          <a:noFill/>
          <a:ln/>
        </p:spPr>
        <p:txBody>
          <a:bodyPr wrap="square" lIns="0" tIns="0" rIns="0" bIns="0" rtlCol="0" anchor="ctr"/>
          <a:lstStyle/>
          <a:p>
            <a:pPr marL="0" indent="0">
              <a:buNone/>
            </a:pPr>
            <a:r>
              <a:rPr lang="en-US" sz="1250" b="1" dirty="0">
                <a:solidFill>
                  <a:srgbClr val="0F2A44"/>
                </a:solidFill>
                <a:latin typeface="Calibri" pitchFamily="34" charset="0"/>
                <a:ea typeface="Calibri" pitchFamily="34" charset="-122"/>
                <a:cs typeface="Calibri" pitchFamily="34" charset="-120"/>
              </a:rPr>
              <a:t>Why decompose?</a:t>
            </a:r>
            <a:endParaRPr lang="en-US" sz="1250" dirty="0"/>
          </a:p>
        </p:txBody>
      </p:sp>
      <p:sp>
        <p:nvSpPr>
          <p:cNvPr id="32" name="Text 30"/>
          <p:cNvSpPr/>
          <p:nvPr/>
        </p:nvSpPr>
        <p:spPr>
          <a:xfrm>
            <a:off x="548640" y="3876402"/>
            <a:ext cx="8046720" cy="548640"/>
          </a:xfrm>
          <a:prstGeom prst="rect">
            <a:avLst/>
          </a:prstGeom>
          <a:noFill/>
          <a:ln/>
        </p:spPr>
        <p:txBody>
          <a:bodyPr wrap="square" lIns="0" tIns="0" rIns="0" bIns="0" rtlCol="0" anchor="ctr"/>
          <a:lstStyle/>
          <a:p>
            <a:pPr marL="171450" indent="-171450">
              <a:buFont typeface="Arial" panose="020B0604020202020204" pitchFamily="34" charset="0"/>
              <a:buChar char="•"/>
            </a:pPr>
            <a:r>
              <a:rPr lang="en-US" sz="1100" dirty="0">
                <a:solidFill>
                  <a:srgbClr val="1E293B"/>
                </a:solidFill>
                <a:latin typeface="Calibri" pitchFamily="34" charset="0"/>
                <a:ea typeface="Calibri" pitchFamily="34" charset="-122"/>
                <a:cs typeface="Calibri" pitchFamily="34" charset="-120"/>
              </a:rPr>
              <a:t>A single number tells teams whether quality is improving = &gt; the per-category breakdown tells them which dimension needs attention</a:t>
            </a:r>
          </a:p>
          <a:p>
            <a:pPr marL="171450" indent="-171450">
              <a:buFont typeface="Arial" panose="020B0604020202020204" pitchFamily="34" charset="0"/>
              <a:buChar char="•"/>
            </a:pPr>
            <a:r>
              <a:rPr lang="en-US" sz="1100" dirty="0">
                <a:solidFill>
                  <a:srgbClr val="1E293B"/>
                </a:solidFill>
                <a:latin typeface="Calibri" pitchFamily="34" charset="0"/>
                <a:ea typeface="Calibri" pitchFamily="34" charset="-122"/>
                <a:cs typeface="Calibri" pitchFamily="34" charset="-120"/>
              </a:rPr>
              <a:t>Both views are exposed via the analysis-diff feature for tracking over time</a:t>
            </a:r>
            <a:endParaRPr lang="en-US" sz="1100" dirty="0"/>
          </a:p>
        </p:txBody>
      </p:sp>
      <p:sp>
        <p:nvSpPr>
          <p:cNvPr id="33" name="Text 31"/>
          <p:cNvSpPr/>
          <p:nvPr/>
        </p:nvSpPr>
        <p:spPr>
          <a:xfrm>
            <a:off x="7955280" y="4864608"/>
            <a:ext cx="640080" cy="22860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7 / 12</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marL="0" indent="0">
              <a:buNone/>
            </a:pPr>
            <a:r>
              <a:rPr lang="en-US" sz="2500" b="1" dirty="0">
                <a:solidFill>
                  <a:srgbClr val="0F2A44"/>
                </a:solidFill>
                <a:latin typeface="Calibri" pitchFamily="34" charset="0"/>
                <a:ea typeface="Calibri" pitchFamily="34" charset="-122"/>
                <a:cs typeface="Calibri" pitchFamily="34" charset="-120"/>
              </a:rPr>
              <a:t>Evaluation: 11 open-source projects</a:t>
            </a:r>
            <a:endParaRPr lang="en-US" sz="2500" dirty="0"/>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txBody>
          <a:bodyPr/>
          <a:lstStyle/>
          <a:p>
            <a:endParaRPr lang="en-US"/>
          </a:p>
        </p:txBody>
      </p:sp>
      <p:graphicFrame>
        <p:nvGraphicFramePr>
          <p:cNvPr id="4" name="Chart 0"/>
          <p:cNvGraphicFramePr/>
          <p:nvPr/>
        </p:nvGraphicFramePr>
        <p:xfrm>
          <a:off x="502920" y="960120"/>
          <a:ext cx="5029200" cy="2697480"/>
        </p:xfrm>
        <a:graphic>
          <a:graphicData uri="http://schemas.openxmlformats.org/drawingml/2006/chart">
            <c:chart xmlns:c="http://schemas.openxmlformats.org/drawingml/2006/chart" xmlns:r="http://schemas.openxmlformats.org/officeDocument/2006/relationships" r:id="rId3"/>
          </a:graphicData>
        </a:graphic>
      </p:graphicFrame>
      <p:sp>
        <p:nvSpPr>
          <p:cNvPr id="5" name="Text 2"/>
          <p:cNvSpPr/>
          <p:nvPr/>
        </p:nvSpPr>
        <p:spPr>
          <a:xfrm>
            <a:off x="5943600" y="960120"/>
            <a:ext cx="2651760" cy="274320"/>
          </a:xfrm>
          <a:prstGeom prst="rect">
            <a:avLst/>
          </a:prstGeom>
          <a:noFill/>
          <a:ln/>
        </p:spPr>
        <p:txBody>
          <a:bodyPr wrap="square" lIns="0" tIns="0" rIns="0" bIns="0" rtlCol="0" anchor="ctr"/>
          <a:lstStyle/>
          <a:p>
            <a:pPr marL="0" indent="0">
              <a:buNone/>
            </a:pPr>
            <a:r>
              <a:rPr lang="en-US" sz="1200" b="1" dirty="0">
                <a:solidFill>
                  <a:srgbClr val="0F2A44"/>
                </a:solidFill>
                <a:latin typeface="Calibri" pitchFamily="34" charset="0"/>
                <a:ea typeface="Calibri" pitchFamily="34" charset="-122"/>
                <a:cs typeface="Calibri" pitchFamily="34" charset="-120"/>
              </a:rPr>
              <a:t>Dataset (services · LOC)</a:t>
            </a:r>
            <a:endParaRPr lang="en-US" sz="1200" dirty="0"/>
          </a:p>
        </p:txBody>
      </p:sp>
      <p:sp>
        <p:nvSpPr>
          <p:cNvPr id="6" name="Shape 3"/>
          <p:cNvSpPr/>
          <p:nvPr/>
        </p:nvSpPr>
        <p:spPr>
          <a:xfrm>
            <a:off x="5943600" y="1261872"/>
            <a:ext cx="2651760" cy="13716"/>
          </a:xfrm>
          <a:prstGeom prst="rect">
            <a:avLst/>
          </a:prstGeom>
          <a:solidFill>
            <a:srgbClr val="D8DEE6"/>
          </a:solidFill>
          <a:ln w="12700">
            <a:solidFill>
              <a:srgbClr val="D8DEE6"/>
            </a:solidFill>
            <a:prstDash val="solid"/>
          </a:ln>
        </p:spPr>
        <p:txBody>
          <a:bodyPr/>
          <a:lstStyle/>
          <a:p>
            <a:endParaRPr lang="en-US"/>
          </a:p>
        </p:txBody>
      </p:sp>
      <p:sp>
        <p:nvSpPr>
          <p:cNvPr id="7" name="Text 4"/>
          <p:cNvSpPr/>
          <p:nvPr/>
        </p:nvSpPr>
        <p:spPr>
          <a:xfrm>
            <a:off x="5943600" y="1335024"/>
            <a:ext cx="1417320" cy="192024"/>
          </a:xfrm>
          <a:prstGeom prst="rect">
            <a:avLst/>
          </a:prstGeom>
          <a:noFill/>
          <a:ln/>
        </p:spPr>
        <p:txBody>
          <a:bodyPr wrap="square" lIns="0" tIns="0" rIns="0" bIns="0" rtlCol="0" anchor="ctr"/>
          <a:lstStyle/>
          <a:p>
            <a:pPr marL="0" indent="0">
              <a:buNone/>
            </a:pPr>
            <a:r>
              <a:rPr lang="en-US" sz="900" dirty="0">
                <a:solidFill>
                  <a:srgbClr val="1E293B"/>
                </a:solidFill>
                <a:latin typeface="Calibri" pitchFamily="34" charset="0"/>
                <a:ea typeface="Calibri" pitchFamily="34" charset="-122"/>
                <a:cs typeface="Calibri" pitchFamily="34" charset="-120"/>
              </a:rPr>
              <a:t>MicroSocial</a:t>
            </a:r>
            <a:endParaRPr lang="en-US" sz="900" dirty="0"/>
          </a:p>
        </p:txBody>
      </p:sp>
      <p:sp>
        <p:nvSpPr>
          <p:cNvPr id="8" name="Text 5"/>
          <p:cNvSpPr/>
          <p:nvPr/>
        </p:nvSpPr>
        <p:spPr>
          <a:xfrm>
            <a:off x="7360920" y="1335024"/>
            <a:ext cx="457200" cy="192024"/>
          </a:xfrm>
          <a:prstGeom prst="rect">
            <a:avLst/>
          </a:prstGeom>
          <a:noFill/>
          <a:ln/>
        </p:spPr>
        <p:txBody>
          <a:bodyPr wrap="square" lIns="0" tIns="0" rIns="0" bIns="0" rtlCol="0" anchor="ctr"/>
          <a:lstStyle/>
          <a:p>
            <a:pPr marL="0" indent="0" algn="ctr">
              <a:buNone/>
            </a:pPr>
            <a:r>
              <a:rPr lang="en-US" sz="900" dirty="0">
                <a:solidFill>
                  <a:srgbClr val="1E293B"/>
                </a:solidFill>
                <a:latin typeface="Calibri" pitchFamily="34" charset="0"/>
                <a:ea typeface="Calibri" pitchFamily="34" charset="-122"/>
                <a:cs typeface="Calibri" pitchFamily="34" charset="-120"/>
              </a:rPr>
              <a:t>4</a:t>
            </a:r>
            <a:endParaRPr lang="en-US" sz="900" dirty="0"/>
          </a:p>
        </p:txBody>
      </p:sp>
      <p:sp>
        <p:nvSpPr>
          <p:cNvPr id="9" name="Text 6"/>
          <p:cNvSpPr/>
          <p:nvPr/>
        </p:nvSpPr>
        <p:spPr>
          <a:xfrm>
            <a:off x="7818120" y="1335024"/>
            <a:ext cx="777240" cy="192024"/>
          </a:xfrm>
          <a:prstGeom prst="rect">
            <a:avLst/>
          </a:prstGeom>
          <a:noFill/>
          <a:ln/>
        </p:spPr>
        <p:txBody>
          <a:bodyPr wrap="square" lIns="0" tIns="0" rIns="0" bIns="0" rtlCol="0" anchor="ctr"/>
          <a:lstStyle/>
          <a:p>
            <a:pPr marL="0" indent="0" algn="r">
              <a:buNone/>
            </a:pPr>
            <a:r>
              <a:rPr lang="en-US" sz="900" dirty="0">
                <a:solidFill>
                  <a:srgbClr val="1E293B"/>
                </a:solidFill>
                <a:latin typeface="Calibri" pitchFamily="34" charset="0"/>
                <a:ea typeface="Calibri" pitchFamily="34" charset="-122"/>
                <a:cs typeface="Calibri" pitchFamily="34" charset="-120"/>
              </a:rPr>
              <a:t>2k</a:t>
            </a:r>
            <a:endParaRPr lang="en-US" sz="900" dirty="0"/>
          </a:p>
        </p:txBody>
      </p:sp>
      <p:sp>
        <p:nvSpPr>
          <p:cNvPr id="10" name="Text 7"/>
          <p:cNvSpPr/>
          <p:nvPr/>
        </p:nvSpPr>
        <p:spPr>
          <a:xfrm>
            <a:off x="5943600" y="1531620"/>
            <a:ext cx="1417320" cy="192024"/>
          </a:xfrm>
          <a:prstGeom prst="rect">
            <a:avLst/>
          </a:prstGeom>
          <a:noFill/>
          <a:ln/>
        </p:spPr>
        <p:txBody>
          <a:bodyPr wrap="square" lIns="0" tIns="0" rIns="0" bIns="0" rtlCol="0" anchor="ctr"/>
          <a:lstStyle/>
          <a:p>
            <a:pPr marL="0" indent="0">
              <a:buNone/>
            </a:pPr>
            <a:r>
              <a:rPr lang="en-US" sz="900" dirty="0">
                <a:solidFill>
                  <a:srgbClr val="1E293B"/>
                </a:solidFill>
                <a:latin typeface="Calibri" pitchFamily="34" charset="0"/>
                <a:ea typeface="Calibri" pitchFamily="34" charset="-122"/>
                <a:cs typeface="Calibri" pitchFamily="34" charset="-120"/>
              </a:rPr>
              <a:t>design-pat.</a:t>
            </a:r>
            <a:endParaRPr lang="en-US" sz="900" dirty="0"/>
          </a:p>
        </p:txBody>
      </p:sp>
      <p:sp>
        <p:nvSpPr>
          <p:cNvPr id="11" name="Text 8"/>
          <p:cNvSpPr/>
          <p:nvPr/>
        </p:nvSpPr>
        <p:spPr>
          <a:xfrm>
            <a:off x="7360920" y="1531620"/>
            <a:ext cx="457200" cy="192024"/>
          </a:xfrm>
          <a:prstGeom prst="rect">
            <a:avLst/>
          </a:prstGeom>
          <a:noFill/>
          <a:ln/>
        </p:spPr>
        <p:txBody>
          <a:bodyPr wrap="square" lIns="0" tIns="0" rIns="0" bIns="0" rtlCol="0" anchor="ctr"/>
          <a:lstStyle/>
          <a:p>
            <a:pPr marL="0" indent="0" algn="ctr">
              <a:buNone/>
            </a:pPr>
            <a:r>
              <a:rPr lang="en-US" sz="900" dirty="0">
                <a:solidFill>
                  <a:srgbClr val="1E293B"/>
                </a:solidFill>
                <a:latin typeface="Calibri" pitchFamily="34" charset="0"/>
                <a:ea typeface="Calibri" pitchFamily="34" charset="-122"/>
                <a:cs typeface="Calibri" pitchFamily="34" charset="-120"/>
              </a:rPr>
              <a:t>16</a:t>
            </a:r>
            <a:endParaRPr lang="en-US" sz="900" dirty="0"/>
          </a:p>
        </p:txBody>
      </p:sp>
      <p:sp>
        <p:nvSpPr>
          <p:cNvPr id="12" name="Text 9"/>
          <p:cNvSpPr/>
          <p:nvPr/>
        </p:nvSpPr>
        <p:spPr>
          <a:xfrm>
            <a:off x="7818120" y="1531620"/>
            <a:ext cx="777240" cy="192024"/>
          </a:xfrm>
          <a:prstGeom prst="rect">
            <a:avLst/>
          </a:prstGeom>
          <a:noFill/>
          <a:ln/>
        </p:spPr>
        <p:txBody>
          <a:bodyPr wrap="square" lIns="0" tIns="0" rIns="0" bIns="0" rtlCol="0" anchor="ctr"/>
          <a:lstStyle/>
          <a:p>
            <a:pPr marL="0" indent="0" algn="r">
              <a:buNone/>
            </a:pPr>
            <a:r>
              <a:rPr lang="en-US" sz="900" dirty="0">
                <a:solidFill>
                  <a:srgbClr val="1E293B"/>
                </a:solidFill>
                <a:latin typeface="Calibri" pitchFamily="34" charset="0"/>
                <a:ea typeface="Calibri" pitchFamily="34" charset="-122"/>
                <a:cs typeface="Calibri" pitchFamily="34" charset="-120"/>
              </a:rPr>
              <a:t>19k</a:t>
            </a:r>
            <a:endParaRPr lang="en-US" sz="900" dirty="0"/>
          </a:p>
        </p:txBody>
      </p:sp>
      <p:sp>
        <p:nvSpPr>
          <p:cNvPr id="13" name="Text 10"/>
          <p:cNvSpPr/>
          <p:nvPr/>
        </p:nvSpPr>
        <p:spPr>
          <a:xfrm>
            <a:off x="5943600" y="1728216"/>
            <a:ext cx="1417320" cy="192024"/>
          </a:xfrm>
          <a:prstGeom prst="rect">
            <a:avLst/>
          </a:prstGeom>
          <a:noFill/>
          <a:ln/>
        </p:spPr>
        <p:txBody>
          <a:bodyPr wrap="square" lIns="0" tIns="0" rIns="0" bIns="0" rtlCol="0" anchor="ctr"/>
          <a:lstStyle/>
          <a:p>
            <a:pPr marL="0" indent="0">
              <a:buNone/>
            </a:pPr>
            <a:r>
              <a:rPr lang="en-US" sz="900" dirty="0">
                <a:solidFill>
                  <a:srgbClr val="1E293B"/>
                </a:solidFill>
                <a:latin typeface="Calibri" pitchFamily="34" charset="0"/>
                <a:ea typeface="Calibri" pitchFamily="34" charset="-122"/>
                <a:cs typeface="Calibri" pitchFamily="34" charset="-120"/>
              </a:rPr>
              <a:t>Site-Where</a:t>
            </a:r>
            <a:endParaRPr lang="en-US" sz="900" dirty="0"/>
          </a:p>
        </p:txBody>
      </p:sp>
      <p:sp>
        <p:nvSpPr>
          <p:cNvPr id="14" name="Text 11"/>
          <p:cNvSpPr/>
          <p:nvPr/>
        </p:nvSpPr>
        <p:spPr>
          <a:xfrm>
            <a:off x="7360920" y="1728216"/>
            <a:ext cx="457200" cy="192024"/>
          </a:xfrm>
          <a:prstGeom prst="rect">
            <a:avLst/>
          </a:prstGeom>
          <a:noFill/>
          <a:ln/>
        </p:spPr>
        <p:txBody>
          <a:bodyPr wrap="square" lIns="0" tIns="0" rIns="0" bIns="0" rtlCol="0" anchor="ctr"/>
          <a:lstStyle/>
          <a:p>
            <a:pPr marL="0" indent="0" algn="ctr">
              <a:buNone/>
            </a:pPr>
            <a:r>
              <a:rPr lang="en-US" sz="900" dirty="0">
                <a:solidFill>
                  <a:srgbClr val="1E293B"/>
                </a:solidFill>
                <a:latin typeface="Calibri" pitchFamily="34" charset="0"/>
                <a:ea typeface="Calibri" pitchFamily="34" charset="-122"/>
                <a:cs typeface="Calibri" pitchFamily="34" charset="-120"/>
              </a:rPr>
              <a:t>15</a:t>
            </a:r>
            <a:endParaRPr lang="en-US" sz="900" dirty="0"/>
          </a:p>
        </p:txBody>
      </p:sp>
      <p:sp>
        <p:nvSpPr>
          <p:cNvPr id="15" name="Text 12"/>
          <p:cNvSpPr/>
          <p:nvPr/>
        </p:nvSpPr>
        <p:spPr>
          <a:xfrm>
            <a:off x="7818120" y="1728216"/>
            <a:ext cx="777240" cy="192024"/>
          </a:xfrm>
          <a:prstGeom prst="rect">
            <a:avLst/>
          </a:prstGeom>
          <a:noFill/>
          <a:ln/>
        </p:spPr>
        <p:txBody>
          <a:bodyPr wrap="square" lIns="0" tIns="0" rIns="0" bIns="0" rtlCol="0" anchor="ctr"/>
          <a:lstStyle/>
          <a:p>
            <a:pPr marL="0" indent="0" algn="r">
              <a:buNone/>
            </a:pPr>
            <a:r>
              <a:rPr lang="en-US" sz="900" dirty="0">
                <a:solidFill>
                  <a:srgbClr val="1E293B"/>
                </a:solidFill>
                <a:latin typeface="Calibri" pitchFamily="34" charset="0"/>
                <a:ea typeface="Calibri" pitchFamily="34" charset="-122"/>
                <a:cs typeface="Calibri" pitchFamily="34" charset="-120"/>
              </a:rPr>
              <a:t>74k</a:t>
            </a:r>
            <a:endParaRPr lang="en-US" sz="900" dirty="0"/>
          </a:p>
        </p:txBody>
      </p:sp>
      <p:sp>
        <p:nvSpPr>
          <p:cNvPr id="16" name="Text 13"/>
          <p:cNvSpPr/>
          <p:nvPr/>
        </p:nvSpPr>
        <p:spPr>
          <a:xfrm>
            <a:off x="5943600" y="1924812"/>
            <a:ext cx="1417320" cy="192024"/>
          </a:xfrm>
          <a:prstGeom prst="rect">
            <a:avLst/>
          </a:prstGeom>
          <a:noFill/>
          <a:ln/>
        </p:spPr>
        <p:txBody>
          <a:bodyPr wrap="square" lIns="0" tIns="0" rIns="0" bIns="0" rtlCol="0" anchor="ctr"/>
          <a:lstStyle/>
          <a:p>
            <a:pPr marL="0" indent="0">
              <a:buNone/>
            </a:pPr>
            <a:r>
              <a:rPr lang="en-US" sz="900" dirty="0">
                <a:solidFill>
                  <a:srgbClr val="1E293B"/>
                </a:solidFill>
                <a:latin typeface="Calibri" pitchFamily="34" charset="0"/>
                <a:ea typeface="Calibri" pitchFamily="34" charset="-122"/>
                <a:cs typeface="Calibri" pitchFamily="34" charset="-120"/>
              </a:rPr>
              <a:t>Train-Ticket</a:t>
            </a:r>
            <a:endParaRPr lang="en-US" sz="900" dirty="0"/>
          </a:p>
        </p:txBody>
      </p:sp>
      <p:sp>
        <p:nvSpPr>
          <p:cNvPr id="17" name="Text 14"/>
          <p:cNvSpPr/>
          <p:nvPr/>
        </p:nvSpPr>
        <p:spPr>
          <a:xfrm>
            <a:off x="7360920" y="1924812"/>
            <a:ext cx="457200" cy="192024"/>
          </a:xfrm>
          <a:prstGeom prst="rect">
            <a:avLst/>
          </a:prstGeom>
          <a:noFill/>
          <a:ln/>
        </p:spPr>
        <p:txBody>
          <a:bodyPr wrap="square" lIns="0" tIns="0" rIns="0" bIns="0" rtlCol="0" anchor="ctr"/>
          <a:lstStyle/>
          <a:p>
            <a:pPr marL="0" indent="0" algn="ctr">
              <a:buNone/>
            </a:pPr>
            <a:r>
              <a:rPr lang="en-US" sz="900" dirty="0">
                <a:solidFill>
                  <a:srgbClr val="1E293B"/>
                </a:solidFill>
                <a:latin typeface="Calibri" pitchFamily="34" charset="0"/>
                <a:ea typeface="Calibri" pitchFamily="34" charset="-122"/>
                <a:cs typeface="Calibri" pitchFamily="34" charset="-120"/>
              </a:rPr>
              <a:t>41</a:t>
            </a:r>
            <a:endParaRPr lang="en-US" sz="900" dirty="0"/>
          </a:p>
        </p:txBody>
      </p:sp>
      <p:sp>
        <p:nvSpPr>
          <p:cNvPr id="18" name="Text 15"/>
          <p:cNvSpPr/>
          <p:nvPr/>
        </p:nvSpPr>
        <p:spPr>
          <a:xfrm>
            <a:off x="7818120" y="1924812"/>
            <a:ext cx="777240" cy="192024"/>
          </a:xfrm>
          <a:prstGeom prst="rect">
            <a:avLst/>
          </a:prstGeom>
          <a:noFill/>
          <a:ln/>
        </p:spPr>
        <p:txBody>
          <a:bodyPr wrap="square" lIns="0" tIns="0" rIns="0" bIns="0" rtlCol="0" anchor="ctr"/>
          <a:lstStyle/>
          <a:p>
            <a:pPr marL="0" indent="0" algn="r">
              <a:buNone/>
            </a:pPr>
            <a:r>
              <a:rPr lang="en-US" sz="900" dirty="0">
                <a:solidFill>
                  <a:srgbClr val="1E293B"/>
                </a:solidFill>
                <a:latin typeface="Calibri" pitchFamily="34" charset="0"/>
                <a:ea typeface="Calibri" pitchFamily="34" charset="-122"/>
                <a:cs typeface="Calibri" pitchFamily="34" charset="-120"/>
              </a:rPr>
              <a:t>36k</a:t>
            </a:r>
            <a:endParaRPr lang="en-US" sz="900" dirty="0"/>
          </a:p>
        </p:txBody>
      </p:sp>
      <p:sp>
        <p:nvSpPr>
          <p:cNvPr id="19" name="Text 16"/>
          <p:cNvSpPr/>
          <p:nvPr/>
        </p:nvSpPr>
        <p:spPr>
          <a:xfrm>
            <a:off x="5943600" y="2121408"/>
            <a:ext cx="1417320" cy="192024"/>
          </a:xfrm>
          <a:prstGeom prst="rect">
            <a:avLst/>
          </a:prstGeom>
          <a:noFill/>
          <a:ln/>
        </p:spPr>
        <p:txBody>
          <a:bodyPr wrap="square" lIns="0" tIns="0" rIns="0" bIns="0" rtlCol="0" anchor="ctr"/>
          <a:lstStyle/>
          <a:p>
            <a:pPr marL="0" indent="0">
              <a:buNone/>
            </a:pPr>
            <a:r>
              <a:rPr lang="en-US" sz="900" dirty="0">
                <a:solidFill>
                  <a:srgbClr val="1E293B"/>
                </a:solidFill>
                <a:latin typeface="Calibri" pitchFamily="34" charset="0"/>
                <a:ea typeface="Calibri" pitchFamily="34" charset="-122"/>
                <a:cs typeface="Calibri" pitchFamily="34" charset="-120"/>
              </a:rPr>
              <a:t>NetworkDisk</a:t>
            </a:r>
            <a:endParaRPr lang="en-US" sz="900" dirty="0"/>
          </a:p>
        </p:txBody>
      </p:sp>
      <p:sp>
        <p:nvSpPr>
          <p:cNvPr id="20" name="Text 17"/>
          <p:cNvSpPr/>
          <p:nvPr/>
        </p:nvSpPr>
        <p:spPr>
          <a:xfrm>
            <a:off x="7360920" y="2121408"/>
            <a:ext cx="457200" cy="192024"/>
          </a:xfrm>
          <a:prstGeom prst="rect">
            <a:avLst/>
          </a:prstGeom>
          <a:noFill/>
          <a:ln/>
        </p:spPr>
        <p:txBody>
          <a:bodyPr wrap="square" lIns="0" tIns="0" rIns="0" bIns="0" rtlCol="0" anchor="ctr"/>
          <a:lstStyle/>
          <a:p>
            <a:pPr marL="0" indent="0" algn="ctr">
              <a:buNone/>
            </a:pPr>
            <a:r>
              <a:rPr lang="en-US" sz="900" dirty="0">
                <a:solidFill>
                  <a:srgbClr val="1E293B"/>
                </a:solidFill>
                <a:latin typeface="Calibri" pitchFamily="34" charset="0"/>
                <a:ea typeface="Calibri" pitchFamily="34" charset="-122"/>
                <a:cs typeface="Calibri" pitchFamily="34" charset="-120"/>
              </a:rPr>
              <a:t>10</a:t>
            </a:r>
            <a:endParaRPr lang="en-US" sz="900" dirty="0"/>
          </a:p>
        </p:txBody>
      </p:sp>
      <p:sp>
        <p:nvSpPr>
          <p:cNvPr id="21" name="Text 18"/>
          <p:cNvSpPr/>
          <p:nvPr/>
        </p:nvSpPr>
        <p:spPr>
          <a:xfrm>
            <a:off x="7818120" y="2121408"/>
            <a:ext cx="777240" cy="192024"/>
          </a:xfrm>
          <a:prstGeom prst="rect">
            <a:avLst/>
          </a:prstGeom>
          <a:noFill/>
          <a:ln/>
        </p:spPr>
        <p:txBody>
          <a:bodyPr wrap="square" lIns="0" tIns="0" rIns="0" bIns="0" rtlCol="0" anchor="ctr"/>
          <a:lstStyle/>
          <a:p>
            <a:pPr marL="0" indent="0" algn="r">
              <a:buNone/>
            </a:pPr>
            <a:r>
              <a:rPr lang="en-US" sz="900" dirty="0">
                <a:solidFill>
                  <a:srgbClr val="1E293B"/>
                </a:solidFill>
                <a:latin typeface="Calibri" pitchFamily="34" charset="0"/>
                <a:ea typeface="Calibri" pitchFamily="34" charset="-122"/>
                <a:cs typeface="Calibri" pitchFamily="34" charset="-120"/>
              </a:rPr>
              <a:t>7k</a:t>
            </a:r>
            <a:endParaRPr lang="en-US" sz="900" dirty="0"/>
          </a:p>
        </p:txBody>
      </p:sp>
      <p:sp>
        <p:nvSpPr>
          <p:cNvPr id="22" name="Text 19"/>
          <p:cNvSpPr/>
          <p:nvPr/>
        </p:nvSpPr>
        <p:spPr>
          <a:xfrm>
            <a:off x="5943600" y="2318004"/>
            <a:ext cx="1417320" cy="192024"/>
          </a:xfrm>
          <a:prstGeom prst="rect">
            <a:avLst/>
          </a:prstGeom>
          <a:noFill/>
          <a:ln/>
        </p:spPr>
        <p:txBody>
          <a:bodyPr wrap="square" lIns="0" tIns="0" rIns="0" bIns="0" rtlCol="0" anchor="ctr"/>
          <a:lstStyle/>
          <a:p>
            <a:pPr marL="0" indent="0">
              <a:buNone/>
            </a:pPr>
            <a:r>
              <a:rPr lang="en-US" sz="900" dirty="0">
                <a:solidFill>
                  <a:srgbClr val="1E293B"/>
                </a:solidFill>
                <a:latin typeface="Calibri" pitchFamily="34" charset="0"/>
                <a:ea typeface="Calibri" pitchFamily="34" charset="-122"/>
                <a:cs typeface="Calibri" pitchFamily="34" charset="-120"/>
              </a:rPr>
              <a:t>recruit</a:t>
            </a:r>
            <a:endParaRPr lang="en-US" sz="900" dirty="0"/>
          </a:p>
        </p:txBody>
      </p:sp>
      <p:sp>
        <p:nvSpPr>
          <p:cNvPr id="23" name="Text 20"/>
          <p:cNvSpPr/>
          <p:nvPr/>
        </p:nvSpPr>
        <p:spPr>
          <a:xfrm>
            <a:off x="7360920" y="2318004"/>
            <a:ext cx="457200" cy="192024"/>
          </a:xfrm>
          <a:prstGeom prst="rect">
            <a:avLst/>
          </a:prstGeom>
          <a:noFill/>
          <a:ln/>
        </p:spPr>
        <p:txBody>
          <a:bodyPr wrap="square" lIns="0" tIns="0" rIns="0" bIns="0" rtlCol="0" anchor="ctr"/>
          <a:lstStyle/>
          <a:p>
            <a:pPr marL="0" indent="0" algn="ctr">
              <a:buNone/>
            </a:pPr>
            <a:r>
              <a:rPr lang="en-US" sz="900" dirty="0">
                <a:solidFill>
                  <a:srgbClr val="1E293B"/>
                </a:solidFill>
                <a:latin typeface="Calibri" pitchFamily="34" charset="0"/>
                <a:ea typeface="Calibri" pitchFamily="34" charset="-122"/>
                <a:cs typeface="Calibri" pitchFamily="34" charset="-120"/>
              </a:rPr>
              <a:t>8</a:t>
            </a:r>
            <a:endParaRPr lang="en-US" sz="900" dirty="0"/>
          </a:p>
        </p:txBody>
      </p:sp>
      <p:sp>
        <p:nvSpPr>
          <p:cNvPr id="24" name="Text 21"/>
          <p:cNvSpPr/>
          <p:nvPr/>
        </p:nvSpPr>
        <p:spPr>
          <a:xfrm>
            <a:off x="7818120" y="2318004"/>
            <a:ext cx="777240" cy="192024"/>
          </a:xfrm>
          <a:prstGeom prst="rect">
            <a:avLst/>
          </a:prstGeom>
          <a:noFill/>
          <a:ln/>
        </p:spPr>
        <p:txBody>
          <a:bodyPr wrap="square" lIns="0" tIns="0" rIns="0" bIns="0" rtlCol="0" anchor="ctr"/>
          <a:lstStyle/>
          <a:p>
            <a:pPr marL="0" indent="0" algn="r">
              <a:buNone/>
            </a:pPr>
            <a:r>
              <a:rPr lang="en-US" sz="900" dirty="0">
                <a:solidFill>
                  <a:srgbClr val="1E293B"/>
                </a:solidFill>
                <a:latin typeface="Calibri" pitchFamily="34" charset="0"/>
                <a:ea typeface="Calibri" pitchFamily="34" charset="-122"/>
                <a:cs typeface="Calibri" pitchFamily="34" charset="-120"/>
              </a:rPr>
              <a:t>8k</a:t>
            </a:r>
            <a:endParaRPr lang="en-US" sz="900" dirty="0"/>
          </a:p>
        </p:txBody>
      </p:sp>
      <p:sp>
        <p:nvSpPr>
          <p:cNvPr id="25" name="Text 22"/>
          <p:cNvSpPr/>
          <p:nvPr/>
        </p:nvSpPr>
        <p:spPr>
          <a:xfrm>
            <a:off x="5943600" y="2514600"/>
            <a:ext cx="1417320" cy="192024"/>
          </a:xfrm>
          <a:prstGeom prst="rect">
            <a:avLst/>
          </a:prstGeom>
          <a:noFill/>
          <a:ln/>
        </p:spPr>
        <p:txBody>
          <a:bodyPr wrap="square" lIns="0" tIns="0" rIns="0" bIns="0" rtlCol="0" anchor="ctr"/>
          <a:lstStyle/>
          <a:p>
            <a:pPr marL="0" indent="0">
              <a:buNone/>
            </a:pPr>
            <a:r>
              <a:rPr lang="en-US" sz="900" dirty="0">
                <a:solidFill>
                  <a:srgbClr val="1E293B"/>
                </a:solidFill>
                <a:latin typeface="Calibri" pitchFamily="34" charset="0"/>
                <a:ea typeface="Calibri" pitchFamily="34" charset="-122"/>
                <a:cs typeface="Calibri" pitchFamily="34" charset="-120"/>
              </a:rPr>
              <a:t>ftgo</a:t>
            </a:r>
            <a:endParaRPr lang="en-US" sz="900" dirty="0"/>
          </a:p>
        </p:txBody>
      </p:sp>
      <p:sp>
        <p:nvSpPr>
          <p:cNvPr id="26" name="Text 23"/>
          <p:cNvSpPr/>
          <p:nvPr/>
        </p:nvSpPr>
        <p:spPr>
          <a:xfrm>
            <a:off x="7360920" y="2514600"/>
            <a:ext cx="457200" cy="192024"/>
          </a:xfrm>
          <a:prstGeom prst="rect">
            <a:avLst/>
          </a:prstGeom>
          <a:noFill/>
          <a:ln/>
        </p:spPr>
        <p:txBody>
          <a:bodyPr wrap="square" lIns="0" tIns="0" rIns="0" bIns="0" rtlCol="0" anchor="ctr"/>
          <a:lstStyle/>
          <a:p>
            <a:pPr marL="0" indent="0" algn="ctr">
              <a:buNone/>
            </a:pPr>
            <a:r>
              <a:rPr lang="en-US" sz="900" dirty="0">
                <a:solidFill>
                  <a:srgbClr val="1E293B"/>
                </a:solidFill>
                <a:latin typeface="Calibri" pitchFamily="34" charset="0"/>
                <a:ea typeface="Calibri" pitchFamily="34" charset="-122"/>
                <a:cs typeface="Calibri" pitchFamily="34" charset="-120"/>
              </a:rPr>
              <a:t>7</a:t>
            </a:r>
            <a:endParaRPr lang="en-US" sz="900" dirty="0"/>
          </a:p>
        </p:txBody>
      </p:sp>
      <p:sp>
        <p:nvSpPr>
          <p:cNvPr id="27" name="Text 24"/>
          <p:cNvSpPr/>
          <p:nvPr/>
        </p:nvSpPr>
        <p:spPr>
          <a:xfrm>
            <a:off x="7818120" y="2514600"/>
            <a:ext cx="777240" cy="192024"/>
          </a:xfrm>
          <a:prstGeom prst="rect">
            <a:avLst/>
          </a:prstGeom>
          <a:noFill/>
          <a:ln/>
        </p:spPr>
        <p:txBody>
          <a:bodyPr wrap="square" lIns="0" tIns="0" rIns="0" bIns="0" rtlCol="0" anchor="ctr"/>
          <a:lstStyle/>
          <a:p>
            <a:pPr marL="0" indent="0" algn="r">
              <a:buNone/>
            </a:pPr>
            <a:r>
              <a:rPr lang="en-US" sz="900" dirty="0">
                <a:solidFill>
                  <a:srgbClr val="1E293B"/>
                </a:solidFill>
                <a:latin typeface="Calibri" pitchFamily="34" charset="0"/>
                <a:ea typeface="Calibri" pitchFamily="34" charset="-122"/>
                <a:cs typeface="Calibri" pitchFamily="34" charset="-120"/>
              </a:rPr>
              <a:t>11k</a:t>
            </a:r>
            <a:endParaRPr lang="en-US" sz="900" dirty="0"/>
          </a:p>
        </p:txBody>
      </p:sp>
      <p:sp>
        <p:nvSpPr>
          <p:cNvPr id="28" name="Text 25"/>
          <p:cNvSpPr/>
          <p:nvPr/>
        </p:nvSpPr>
        <p:spPr>
          <a:xfrm>
            <a:off x="5943600" y="2711196"/>
            <a:ext cx="1417320" cy="192024"/>
          </a:xfrm>
          <a:prstGeom prst="rect">
            <a:avLst/>
          </a:prstGeom>
          <a:noFill/>
          <a:ln/>
        </p:spPr>
        <p:txBody>
          <a:bodyPr wrap="square" lIns="0" tIns="0" rIns="0" bIns="0" rtlCol="0" anchor="ctr"/>
          <a:lstStyle/>
          <a:p>
            <a:pPr marL="0" indent="0">
              <a:buNone/>
            </a:pPr>
            <a:r>
              <a:rPr lang="en-US" sz="900" dirty="0">
                <a:solidFill>
                  <a:srgbClr val="1E293B"/>
                </a:solidFill>
                <a:latin typeface="Calibri" pitchFamily="34" charset="0"/>
                <a:ea typeface="Calibri" pitchFamily="34" charset="-122"/>
                <a:cs typeface="Calibri" pitchFamily="34" charset="-120"/>
              </a:rPr>
              <a:t>mall-swarm</a:t>
            </a:r>
            <a:endParaRPr lang="en-US" sz="900" dirty="0"/>
          </a:p>
        </p:txBody>
      </p:sp>
      <p:sp>
        <p:nvSpPr>
          <p:cNvPr id="29" name="Text 26"/>
          <p:cNvSpPr/>
          <p:nvPr/>
        </p:nvSpPr>
        <p:spPr>
          <a:xfrm>
            <a:off x="7360920" y="2711196"/>
            <a:ext cx="457200" cy="192024"/>
          </a:xfrm>
          <a:prstGeom prst="rect">
            <a:avLst/>
          </a:prstGeom>
          <a:noFill/>
          <a:ln/>
        </p:spPr>
        <p:txBody>
          <a:bodyPr wrap="square" lIns="0" tIns="0" rIns="0" bIns="0" rtlCol="0" anchor="ctr"/>
          <a:lstStyle/>
          <a:p>
            <a:pPr marL="0" indent="0" algn="ctr">
              <a:buNone/>
            </a:pPr>
            <a:r>
              <a:rPr lang="en-US" sz="900" dirty="0">
                <a:solidFill>
                  <a:srgbClr val="1E293B"/>
                </a:solidFill>
                <a:latin typeface="Calibri" pitchFamily="34" charset="0"/>
                <a:ea typeface="Calibri" pitchFamily="34" charset="-122"/>
                <a:cs typeface="Calibri" pitchFamily="34" charset="-120"/>
              </a:rPr>
              <a:t>7</a:t>
            </a:r>
            <a:endParaRPr lang="en-US" sz="900" dirty="0"/>
          </a:p>
        </p:txBody>
      </p:sp>
      <p:sp>
        <p:nvSpPr>
          <p:cNvPr id="30" name="Text 27"/>
          <p:cNvSpPr/>
          <p:nvPr/>
        </p:nvSpPr>
        <p:spPr>
          <a:xfrm>
            <a:off x="7818120" y="2711196"/>
            <a:ext cx="777240" cy="192024"/>
          </a:xfrm>
          <a:prstGeom prst="rect">
            <a:avLst/>
          </a:prstGeom>
          <a:noFill/>
          <a:ln/>
        </p:spPr>
        <p:txBody>
          <a:bodyPr wrap="square" lIns="0" tIns="0" rIns="0" bIns="0" rtlCol="0" anchor="ctr"/>
          <a:lstStyle/>
          <a:p>
            <a:pPr marL="0" indent="0" algn="r">
              <a:buNone/>
            </a:pPr>
            <a:r>
              <a:rPr lang="en-US" sz="900" dirty="0">
                <a:solidFill>
                  <a:srgbClr val="1E293B"/>
                </a:solidFill>
                <a:latin typeface="Calibri" pitchFamily="34" charset="0"/>
                <a:ea typeface="Calibri" pitchFamily="34" charset="-122"/>
                <a:cs typeface="Calibri" pitchFamily="34" charset="-120"/>
              </a:rPr>
              <a:t>86k</a:t>
            </a:r>
            <a:endParaRPr lang="en-US" sz="900" dirty="0"/>
          </a:p>
        </p:txBody>
      </p:sp>
      <p:sp>
        <p:nvSpPr>
          <p:cNvPr id="31" name="Text 28"/>
          <p:cNvSpPr/>
          <p:nvPr/>
        </p:nvSpPr>
        <p:spPr>
          <a:xfrm>
            <a:off x="5943600" y="2907792"/>
            <a:ext cx="1417320" cy="192024"/>
          </a:xfrm>
          <a:prstGeom prst="rect">
            <a:avLst/>
          </a:prstGeom>
          <a:noFill/>
          <a:ln/>
        </p:spPr>
        <p:txBody>
          <a:bodyPr wrap="square" lIns="0" tIns="0" rIns="0" bIns="0" rtlCol="0" anchor="ctr"/>
          <a:lstStyle/>
          <a:p>
            <a:pPr marL="0" indent="0">
              <a:buNone/>
            </a:pPr>
            <a:r>
              <a:rPr lang="en-US" sz="900" dirty="0">
                <a:solidFill>
                  <a:srgbClr val="1E293B"/>
                </a:solidFill>
                <a:latin typeface="Calibri" pitchFamily="34" charset="0"/>
                <a:ea typeface="Calibri" pitchFamily="34" charset="-122"/>
                <a:cs typeface="Calibri" pitchFamily="34" charset="-120"/>
              </a:rPr>
              <a:t>RuoYi</a:t>
            </a:r>
            <a:endParaRPr lang="en-US" sz="900" dirty="0"/>
          </a:p>
        </p:txBody>
      </p:sp>
      <p:sp>
        <p:nvSpPr>
          <p:cNvPr id="32" name="Text 29"/>
          <p:cNvSpPr/>
          <p:nvPr/>
        </p:nvSpPr>
        <p:spPr>
          <a:xfrm>
            <a:off x="7360920" y="2907792"/>
            <a:ext cx="457200" cy="192024"/>
          </a:xfrm>
          <a:prstGeom prst="rect">
            <a:avLst/>
          </a:prstGeom>
          <a:noFill/>
          <a:ln/>
        </p:spPr>
        <p:txBody>
          <a:bodyPr wrap="square" lIns="0" tIns="0" rIns="0" bIns="0" rtlCol="0" anchor="ctr"/>
          <a:lstStyle/>
          <a:p>
            <a:pPr marL="0" indent="0" algn="ctr">
              <a:buNone/>
            </a:pPr>
            <a:r>
              <a:rPr lang="en-US" sz="900" dirty="0">
                <a:solidFill>
                  <a:srgbClr val="1E293B"/>
                </a:solidFill>
                <a:latin typeface="Calibri" pitchFamily="34" charset="0"/>
                <a:ea typeface="Calibri" pitchFamily="34" charset="-122"/>
                <a:cs typeface="Calibri" pitchFamily="34" charset="-120"/>
              </a:rPr>
              <a:t>8</a:t>
            </a:r>
            <a:endParaRPr lang="en-US" sz="900" dirty="0"/>
          </a:p>
        </p:txBody>
      </p:sp>
      <p:sp>
        <p:nvSpPr>
          <p:cNvPr id="33" name="Text 30"/>
          <p:cNvSpPr/>
          <p:nvPr/>
        </p:nvSpPr>
        <p:spPr>
          <a:xfrm>
            <a:off x="7818120" y="2907792"/>
            <a:ext cx="777240" cy="192024"/>
          </a:xfrm>
          <a:prstGeom prst="rect">
            <a:avLst/>
          </a:prstGeom>
          <a:noFill/>
          <a:ln/>
        </p:spPr>
        <p:txBody>
          <a:bodyPr wrap="square" lIns="0" tIns="0" rIns="0" bIns="0" rtlCol="0" anchor="ctr"/>
          <a:lstStyle/>
          <a:p>
            <a:pPr marL="0" indent="0" algn="r">
              <a:buNone/>
            </a:pPr>
            <a:r>
              <a:rPr lang="en-US" sz="900" dirty="0">
                <a:solidFill>
                  <a:srgbClr val="1E293B"/>
                </a:solidFill>
                <a:latin typeface="Calibri" pitchFamily="34" charset="0"/>
                <a:ea typeface="Calibri" pitchFamily="34" charset="-122"/>
                <a:cs typeface="Calibri" pitchFamily="34" charset="-120"/>
              </a:rPr>
              <a:t>27k</a:t>
            </a:r>
            <a:endParaRPr lang="en-US" sz="900" dirty="0"/>
          </a:p>
        </p:txBody>
      </p:sp>
      <p:sp>
        <p:nvSpPr>
          <p:cNvPr id="34" name="Text 31"/>
          <p:cNvSpPr/>
          <p:nvPr/>
        </p:nvSpPr>
        <p:spPr>
          <a:xfrm>
            <a:off x="5943600" y="3104388"/>
            <a:ext cx="1417320" cy="192024"/>
          </a:xfrm>
          <a:prstGeom prst="rect">
            <a:avLst/>
          </a:prstGeom>
          <a:noFill/>
          <a:ln/>
        </p:spPr>
        <p:txBody>
          <a:bodyPr wrap="square" lIns="0" tIns="0" rIns="0" bIns="0" rtlCol="0" anchor="ctr"/>
          <a:lstStyle/>
          <a:p>
            <a:pPr marL="0" indent="0">
              <a:buNone/>
            </a:pPr>
            <a:r>
              <a:rPr lang="en-US" sz="900" dirty="0">
                <a:solidFill>
                  <a:srgbClr val="1E293B"/>
                </a:solidFill>
                <a:latin typeface="Calibri" pitchFamily="34" charset="0"/>
                <a:ea typeface="Calibri" pitchFamily="34" charset="-122"/>
                <a:cs typeface="Calibri" pitchFamily="34" charset="-120"/>
              </a:rPr>
              <a:t>PiggyMetrics</a:t>
            </a:r>
            <a:endParaRPr lang="en-US" sz="900" dirty="0"/>
          </a:p>
        </p:txBody>
      </p:sp>
      <p:sp>
        <p:nvSpPr>
          <p:cNvPr id="35" name="Text 32"/>
          <p:cNvSpPr/>
          <p:nvPr/>
        </p:nvSpPr>
        <p:spPr>
          <a:xfrm>
            <a:off x="7360920" y="3104388"/>
            <a:ext cx="457200" cy="192024"/>
          </a:xfrm>
          <a:prstGeom prst="rect">
            <a:avLst/>
          </a:prstGeom>
          <a:noFill/>
          <a:ln/>
        </p:spPr>
        <p:txBody>
          <a:bodyPr wrap="square" lIns="0" tIns="0" rIns="0" bIns="0" rtlCol="0" anchor="ctr"/>
          <a:lstStyle/>
          <a:p>
            <a:pPr marL="0" indent="0" algn="ctr">
              <a:buNone/>
            </a:pPr>
            <a:r>
              <a:rPr lang="en-US" sz="900" dirty="0">
                <a:solidFill>
                  <a:srgbClr val="1E293B"/>
                </a:solidFill>
                <a:latin typeface="Calibri" pitchFamily="34" charset="0"/>
                <a:ea typeface="Calibri" pitchFamily="34" charset="-122"/>
                <a:cs typeface="Calibri" pitchFamily="34" charset="-120"/>
              </a:rPr>
              <a:t>8</a:t>
            </a:r>
            <a:endParaRPr lang="en-US" sz="900" dirty="0"/>
          </a:p>
        </p:txBody>
      </p:sp>
      <p:sp>
        <p:nvSpPr>
          <p:cNvPr id="36" name="Text 33"/>
          <p:cNvSpPr/>
          <p:nvPr/>
        </p:nvSpPr>
        <p:spPr>
          <a:xfrm>
            <a:off x="7818120" y="3104388"/>
            <a:ext cx="777240" cy="192024"/>
          </a:xfrm>
          <a:prstGeom prst="rect">
            <a:avLst/>
          </a:prstGeom>
          <a:noFill/>
          <a:ln/>
        </p:spPr>
        <p:txBody>
          <a:bodyPr wrap="square" lIns="0" tIns="0" rIns="0" bIns="0" rtlCol="0" anchor="ctr"/>
          <a:lstStyle/>
          <a:p>
            <a:pPr marL="0" indent="0" algn="r">
              <a:buNone/>
            </a:pPr>
            <a:r>
              <a:rPr lang="en-US" sz="900" dirty="0">
                <a:solidFill>
                  <a:srgbClr val="1E293B"/>
                </a:solidFill>
                <a:latin typeface="Calibri" pitchFamily="34" charset="0"/>
                <a:ea typeface="Calibri" pitchFamily="34" charset="-122"/>
                <a:cs typeface="Calibri" pitchFamily="34" charset="-120"/>
              </a:rPr>
              <a:t>4.5k</a:t>
            </a:r>
            <a:endParaRPr lang="en-US" sz="900" dirty="0"/>
          </a:p>
        </p:txBody>
      </p:sp>
      <p:sp>
        <p:nvSpPr>
          <p:cNvPr id="37" name="Text 34"/>
          <p:cNvSpPr/>
          <p:nvPr/>
        </p:nvSpPr>
        <p:spPr>
          <a:xfrm>
            <a:off x="5943600" y="3300984"/>
            <a:ext cx="1417320" cy="192024"/>
          </a:xfrm>
          <a:prstGeom prst="rect">
            <a:avLst/>
          </a:prstGeom>
          <a:noFill/>
          <a:ln/>
        </p:spPr>
        <p:txBody>
          <a:bodyPr wrap="square" lIns="0" tIns="0" rIns="0" bIns="0" rtlCol="0" anchor="ctr"/>
          <a:lstStyle/>
          <a:p>
            <a:pPr marL="0" indent="0">
              <a:buNone/>
            </a:pPr>
            <a:r>
              <a:rPr lang="en-US" sz="900" dirty="0">
                <a:solidFill>
                  <a:srgbClr val="1E293B"/>
                </a:solidFill>
                <a:latin typeface="Calibri" pitchFamily="34" charset="0"/>
                <a:ea typeface="Calibri" pitchFamily="34" charset="-122"/>
                <a:cs typeface="Calibri" pitchFamily="34" charset="-120"/>
              </a:rPr>
              <a:t>piomin</a:t>
            </a:r>
            <a:endParaRPr lang="en-US" sz="900" dirty="0"/>
          </a:p>
        </p:txBody>
      </p:sp>
      <p:sp>
        <p:nvSpPr>
          <p:cNvPr id="38" name="Text 35"/>
          <p:cNvSpPr/>
          <p:nvPr/>
        </p:nvSpPr>
        <p:spPr>
          <a:xfrm>
            <a:off x="7360920" y="3300984"/>
            <a:ext cx="457200" cy="192024"/>
          </a:xfrm>
          <a:prstGeom prst="rect">
            <a:avLst/>
          </a:prstGeom>
          <a:noFill/>
          <a:ln/>
        </p:spPr>
        <p:txBody>
          <a:bodyPr wrap="square" lIns="0" tIns="0" rIns="0" bIns="0" rtlCol="0" anchor="ctr"/>
          <a:lstStyle/>
          <a:p>
            <a:pPr marL="0" indent="0" algn="ctr">
              <a:buNone/>
            </a:pPr>
            <a:r>
              <a:rPr lang="en-US" sz="900" dirty="0">
                <a:solidFill>
                  <a:srgbClr val="1E293B"/>
                </a:solidFill>
                <a:latin typeface="Calibri" pitchFamily="34" charset="0"/>
                <a:ea typeface="Calibri" pitchFamily="34" charset="-122"/>
                <a:cs typeface="Calibri" pitchFamily="34" charset="-120"/>
              </a:rPr>
              <a:t>6</a:t>
            </a:r>
            <a:endParaRPr lang="en-US" sz="900" dirty="0"/>
          </a:p>
        </p:txBody>
      </p:sp>
      <p:sp>
        <p:nvSpPr>
          <p:cNvPr id="39" name="Text 36"/>
          <p:cNvSpPr/>
          <p:nvPr/>
        </p:nvSpPr>
        <p:spPr>
          <a:xfrm>
            <a:off x="7818120" y="3300984"/>
            <a:ext cx="777240" cy="192024"/>
          </a:xfrm>
          <a:prstGeom prst="rect">
            <a:avLst/>
          </a:prstGeom>
          <a:noFill/>
          <a:ln/>
        </p:spPr>
        <p:txBody>
          <a:bodyPr wrap="square" lIns="0" tIns="0" rIns="0" bIns="0" rtlCol="0" anchor="ctr"/>
          <a:lstStyle/>
          <a:p>
            <a:pPr marL="0" indent="0" algn="r">
              <a:buNone/>
            </a:pPr>
            <a:r>
              <a:rPr lang="en-US" sz="900" dirty="0">
                <a:solidFill>
                  <a:srgbClr val="1E293B"/>
                </a:solidFill>
                <a:latin typeface="Calibri" pitchFamily="34" charset="0"/>
                <a:ea typeface="Calibri" pitchFamily="34" charset="-122"/>
                <a:cs typeface="Calibri" pitchFamily="34" charset="-120"/>
              </a:rPr>
              <a:t>1.3k</a:t>
            </a:r>
            <a:endParaRPr lang="en-US" sz="900" dirty="0"/>
          </a:p>
        </p:txBody>
      </p:sp>
      <p:sp>
        <p:nvSpPr>
          <p:cNvPr id="40" name="Shape 37"/>
          <p:cNvSpPr/>
          <p:nvPr/>
        </p:nvSpPr>
        <p:spPr>
          <a:xfrm>
            <a:off x="5943600" y="3529584"/>
            <a:ext cx="2651760" cy="18288"/>
          </a:xfrm>
          <a:prstGeom prst="rect">
            <a:avLst/>
          </a:prstGeom>
          <a:solidFill>
            <a:srgbClr val="0F2A44"/>
          </a:solidFill>
          <a:ln w="12700">
            <a:solidFill>
              <a:srgbClr val="0F2A44"/>
            </a:solidFill>
            <a:prstDash val="solid"/>
          </a:ln>
        </p:spPr>
        <p:txBody>
          <a:bodyPr/>
          <a:lstStyle/>
          <a:p>
            <a:endParaRPr lang="en-US"/>
          </a:p>
        </p:txBody>
      </p:sp>
      <p:sp>
        <p:nvSpPr>
          <p:cNvPr id="41" name="Text 38"/>
          <p:cNvSpPr/>
          <p:nvPr/>
        </p:nvSpPr>
        <p:spPr>
          <a:xfrm>
            <a:off x="5943600" y="3584448"/>
            <a:ext cx="1417320" cy="201168"/>
          </a:xfrm>
          <a:prstGeom prst="rect">
            <a:avLst/>
          </a:prstGeom>
          <a:noFill/>
          <a:ln/>
        </p:spPr>
        <p:txBody>
          <a:bodyPr wrap="square" lIns="0" tIns="0" rIns="0" bIns="0" rtlCol="0" anchor="ctr"/>
          <a:lstStyle/>
          <a:p>
            <a:pPr marL="0" indent="0">
              <a:buNone/>
            </a:pPr>
            <a:r>
              <a:rPr lang="en-US" sz="900" b="1" dirty="0">
                <a:solidFill>
                  <a:srgbClr val="0F2A44"/>
                </a:solidFill>
                <a:latin typeface="Calibri" pitchFamily="34" charset="0"/>
                <a:ea typeface="Calibri" pitchFamily="34" charset="-122"/>
                <a:cs typeface="Calibri" pitchFamily="34" charset="-120"/>
              </a:rPr>
              <a:t>Total</a:t>
            </a:r>
            <a:endParaRPr lang="en-US" sz="900" dirty="0"/>
          </a:p>
        </p:txBody>
      </p:sp>
      <p:sp>
        <p:nvSpPr>
          <p:cNvPr id="42" name="Text 39"/>
          <p:cNvSpPr/>
          <p:nvPr/>
        </p:nvSpPr>
        <p:spPr>
          <a:xfrm>
            <a:off x="7360920" y="3584448"/>
            <a:ext cx="457200" cy="201168"/>
          </a:xfrm>
          <a:prstGeom prst="rect">
            <a:avLst/>
          </a:prstGeom>
          <a:noFill/>
          <a:ln/>
        </p:spPr>
        <p:txBody>
          <a:bodyPr wrap="square" lIns="0" tIns="0" rIns="0" bIns="0" rtlCol="0" anchor="ctr"/>
          <a:lstStyle/>
          <a:p>
            <a:pPr marL="0" indent="0" algn="ctr">
              <a:buNone/>
            </a:pPr>
            <a:r>
              <a:rPr lang="en-US" sz="900" b="1" dirty="0">
                <a:solidFill>
                  <a:srgbClr val="0F2A44"/>
                </a:solidFill>
                <a:latin typeface="Calibri" pitchFamily="34" charset="0"/>
                <a:ea typeface="Calibri" pitchFamily="34" charset="-122"/>
                <a:cs typeface="Calibri" pitchFamily="34" charset="-120"/>
              </a:rPr>
              <a:t>130</a:t>
            </a:r>
            <a:endParaRPr lang="en-US" sz="900" dirty="0"/>
          </a:p>
        </p:txBody>
      </p:sp>
      <p:sp>
        <p:nvSpPr>
          <p:cNvPr id="43" name="Text 40"/>
          <p:cNvSpPr/>
          <p:nvPr/>
        </p:nvSpPr>
        <p:spPr>
          <a:xfrm>
            <a:off x="7818120" y="3584448"/>
            <a:ext cx="777240" cy="201168"/>
          </a:xfrm>
          <a:prstGeom prst="rect">
            <a:avLst/>
          </a:prstGeom>
          <a:noFill/>
          <a:ln/>
        </p:spPr>
        <p:txBody>
          <a:bodyPr wrap="square" lIns="0" tIns="0" rIns="0" bIns="0" rtlCol="0" anchor="ctr"/>
          <a:lstStyle/>
          <a:p>
            <a:pPr marL="0" indent="0" algn="r">
              <a:buNone/>
            </a:pPr>
            <a:r>
              <a:rPr lang="en-US" sz="900" b="1" dirty="0">
                <a:solidFill>
                  <a:srgbClr val="0F2A44"/>
                </a:solidFill>
                <a:latin typeface="Calibri" pitchFamily="34" charset="0"/>
                <a:ea typeface="Calibri" pitchFamily="34" charset="-122"/>
                <a:cs typeface="Calibri" pitchFamily="34" charset="-120"/>
              </a:rPr>
              <a:t>274k</a:t>
            </a:r>
            <a:endParaRPr lang="en-US" sz="900" dirty="0"/>
          </a:p>
        </p:txBody>
      </p:sp>
      <p:sp>
        <p:nvSpPr>
          <p:cNvPr id="44" name="Shape 41"/>
          <p:cNvSpPr/>
          <p:nvPr/>
        </p:nvSpPr>
        <p:spPr>
          <a:xfrm>
            <a:off x="548640" y="3950208"/>
            <a:ext cx="457200" cy="36576"/>
          </a:xfrm>
          <a:prstGeom prst="rect">
            <a:avLst/>
          </a:prstGeom>
          <a:solidFill>
            <a:srgbClr val="0D9488"/>
          </a:solidFill>
          <a:ln w="12700">
            <a:solidFill>
              <a:srgbClr val="0D9488"/>
            </a:solidFill>
            <a:prstDash val="solid"/>
          </a:ln>
        </p:spPr>
        <p:txBody>
          <a:bodyPr/>
          <a:lstStyle/>
          <a:p>
            <a:endParaRPr lang="en-US"/>
          </a:p>
        </p:txBody>
      </p:sp>
      <p:sp>
        <p:nvSpPr>
          <p:cNvPr id="45" name="Text 42"/>
          <p:cNvSpPr/>
          <p:nvPr/>
        </p:nvSpPr>
        <p:spPr>
          <a:xfrm>
            <a:off x="731520" y="4059936"/>
            <a:ext cx="7863840" cy="640080"/>
          </a:xfrm>
          <a:prstGeom prst="rect">
            <a:avLst/>
          </a:prstGeom>
          <a:noFill/>
          <a:ln/>
        </p:spPr>
        <p:txBody>
          <a:bodyPr wrap="square" lIns="0" tIns="0" rIns="0" bIns="0" rtlCol="0" anchor="ctr"/>
          <a:lstStyle/>
          <a:p>
            <a:pPr marL="342900" indent="-342900">
              <a:spcAft>
                <a:spcPts val="200"/>
              </a:spcAft>
              <a:buSzPct val="100000"/>
              <a:buChar char="•"/>
            </a:pPr>
            <a:r>
              <a:rPr lang="en-US" sz="1050" dirty="0">
                <a:solidFill>
                  <a:srgbClr val="1E293B"/>
                </a:solidFill>
                <a:latin typeface="Calibri" pitchFamily="34" charset="0"/>
                <a:ea typeface="Calibri" pitchFamily="34" charset="-122"/>
                <a:cs typeface="Calibri" pitchFamily="34" charset="-120"/>
              </a:rPr>
              <a:t>98 anti-pattern instances across 9 types</a:t>
            </a:r>
          </a:p>
          <a:p>
            <a:pPr marL="342900" indent="-342900">
              <a:spcAft>
                <a:spcPts val="200"/>
              </a:spcAft>
              <a:buSzPct val="100000"/>
              <a:buChar char="•"/>
            </a:pPr>
            <a:r>
              <a:rPr lang="en-US" sz="1050" dirty="0">
                <a:solidFill>
                  <a:srgbClr val="1E293B"/>
                </a:solidFill>
                <a:latin typeface="Calibri" pitchFamily="34" charset="0"/>
                <a:ea typeface="Calibri" pitchFamily="34" charset="-122"/>
                <a:cs typeface="Calibri" pitchFamily="34" charset="-120"/>
              </a:rPr>
              <a:t>API Versioning Absence (37), Nano Service (23) and Hardcoded Endpoint (15) dominate</a:t>
            </a:r>
            <a:endParaRPr lang="en-US" sz="1050" dirty="0"/>
          </a:p>
        </p:txBody>
      </p:sp>
      <p:sp>
        <p:nvSpPr>
          <p:cNvPr id="46" name="Text 43"/>
          <p:cNvSpPr/>
          <p:nvPr/>
        </p:nvSpPr>
        <p:spPr>
          <a:xfrm>
            <a:off x="7955280" y="4864608"/>
            <a:ext cx="640080" cy="22860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9 / 12</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0">
    <p:bg>
      <p:bgPr>
        <a:solidFill>
          <a:srgbClr val="0F2A44"/>
        </a:solidFill>
        <a:effectLst/>
      </p:bgPr>
    </p:bg>
    <p:spTree>
      <p:nvGrpSpPr>
        <p:cNvPr id="1" name=""/>
        <p:cNvGrpSpPr/>
        <p:nvPr/>
      </p:nvGrpSpPr>
      <p:grpSpPr>
        <a:xfrm>
          <a:off x="0" y="0"/>
          <a:ext cx="0" cy="0"/>
          <a:chOff x="0" y="0"/>
          <a:chExt cx="0" cy="0"/>
        </a:xfrm>
      </p:grpSpPr>
      <p:sp>
        <p:nvSpPr>
          <p:cNvPr id="2" name="Shape 0"/>
          <p:cNvSpPr/>
          <p:nvPr/>
        </p:nvSpPr>
        <p:spPr>
          <a:xfrm>
            <a:off x="548640" y="868680"/>
            <a:ext cx="640080" cy="41148"/>
          </a:xfrm>
          <a:prstGeom prst="rect">
            <a:avLst/>
          </a:prstGeom>
          <a:solidFill>
            <a:srgbClr val="0D9488"/>
          </a:solidFill>
          <a:ln w="12700">
            <a:solidFill>
              <a:srgbClr val="0D9488"/>
            </a:solidFill>
            <a:prstDash val="solid"/>
          </a:ln>
        </p:spPr>
        <p:txBody>
          <a:bodyPr/>
          <a:lstStyle/>
          <a:p>
            <a:endParaRPr lang="en-US"/>
          </a:p>
        </p:txBody>
      </p:sp>
      <p:sp>
        <p:nvSpPr>
          <p:cNvPr id="3" name="Text 1"/>
          <p:cNvSpPr/>
          <p:nvPr/>
        </p:nvSpPr>
        <p:spPr>
          <a:xfrm>
            <a:off x="548640" y="1051560"/>
            <a:ext cx="7863840" cy="777240"/>
          </a:xfrm>
          <a:prstGeom prst="rect">
            <a:avLst/>
          </a:prstGeom>
          <a:noFill/>
          <a:ln/>
        </p:spPr>
        <p:txBody>
          <a:bodyPr wrap="square" lIns="0" tIns="0" rIns="0" bIns="0" rtlCol="0" anchor="ctr"/>
          <a:lstStyle/>
          <a:p>
            <a:pPr marL="0" indent="0">
              <a:buNone/>
            </a:pPr>
            <a:r>
              <a:rPr lang="en-US" sz="4400" b="1" dirty="0">
                <a:solidFill>
                  <a:srgbClr val="FFFFFF"/>
                </a:solidFill>
                <a:latin typeface="Calibri" pitchFamily="34" charset="0"/>
                <a:ea typeface="Calibri" pitchFamily="34" charset="-122"/>
                <a:cs typeface="Calibri" pitchFamily="34" charset="-120"/>
              </a:rPr>
              <a:t>Live demo</a:t>
            </a:r>
            <a:endParaRPr lang="en-US" sz="4400" dirty="0"/>
          </a:p>
        </p:txBody>
      </p:sp>
      <p:sp>
        <p:nvSpPr>
          <p:cNvPr id="4" name="Text 2"/>
          <p:cNvSpPr/>
          <p:nvPr/>
        </p:nvSpPr>
        <p:spPr>
          <a:xfrm>
            <a:off x="548640" y="1874520"/>
            <a:ext cx="7863840" cy="365760"/>
          </a:xfrm>
          <a:prstGeom prst="rect">
            <a:avLst/>
          </a:prstGeom>
          <a:noFill/>
          <a:ln/>
        </p:spPr>
        <p:txBody>
          <a:bodyPr wrap="square" lIns="0" tIns="0" rIns="0" bIns="0" rtlCol="0" anchor="ctr"/>
          <a:lstStyle/>
          <a:p>
            <a:pPr marL="0" indent="0">
              <a:buNone/>
            </a:pPr>
            <a:r>
              <a:rPr lang="en-US" sz="1600" i="1" dirty="0">
                <a:solidFill>
                  <a:srgbClr val="DBEAFE"/>
                </a:solidFill>
                <a:latin typeface="Calibri" pitchFamily="34" charset="0"/>
                <a:ea typeface="Calibri" pitchFamily="34" charset="-122"/>
                <a:cs typeface="Calibri" pitchFamily="34" charset="-120"/>
              </a:rPr>
              <a:t>Cloning and analysing a microservice project in real time</a:t>
            </a:r>
            <a:endParaRPr lang="en-US" sz="1600" dirty="0"/>
          </a:p>
        </p:txBody>
      </p:sp>
      <p:sp>
        <p:nvSpPr>
          <p:cNvPr id="5" name="Text 3"/>
          <p:cNvSpPr/>
          <p:nvPr/>
        </p:nvSpPr>
        <p:spPr>
          <a:xfrm>
            <a:off x="548640" y="2560320"/>
            <a:ext cx="365760" cy="292608"/>
          </a:xfrm>
          <a:prstGeom prst="rect">
            <a:avLst/>
          </a:prstGeom>
          <a:noFill/>
          <a:ln/>
        </p:spPr>
        <p:txBody>
          <a:bodyPr wrap="square" lIns="0" tIns="0" rIns="0" bIns="0" rtlCol="0" anchor="ctr"/>
          <a:lstStyle/>
          <a:p>
            <a:pPr marL="0" indent="0">
              <a:buNone/>
            </a:pPr>
            <a:r>
              <a:rPr lang="en-US" sz="1600" b="1" dirty="0">
                <a:solidFill>
                  <a:srgbClr val="0D9488"/>
                </a:solidFill>
                <a:latin typeface="Calibri" pitchFamily="34" charset="0"/>
                <a:ea typeface="Calibri" pitchFamily="34" charset="-122"/>
                <a:cs typeface="Calibri" pitchFamily="34" charset="-120"/>
              </a:rPr>
              <a:t>1</a:t>
            </a:r>
            <a:endParaRPr lang="en-US" sz="1600" dirty="0"/>
          </a:p>
        </p:txBody>
      </p:sp>
      <p:sp>
        <p:nvSpPr>
          <p:cNvPr id="6" name="Text 4"/>
          <p:cNvSpPr/>
          <p:nvPr/>
        </p:nvSpPr>
        <p:spPr>
          <a:xfrm>
            <a:off x="1051560" y="2569464"/>
            <a:ext cx="7498080" cy="27432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Clone a small repo</a:t>
            </a:r>
            <a:endParaRPr lang="en-US" sz="1400" dirty="0"/>
          </a:p>
        </p:txBody>
      </p:sp>
      <p:sp>
        <p:nvSpPr>
          <p:cNvPr id="7" name="Text 5"/>
          <p:cNvSpPr/>
          <p:nvPr/>
        </p:nvSpPr>
        <p:spPr>
          <a:xfrm>
            <a:off x="1051560" y="2825496"/>
            <a:ext cx="7498080" cy="237744"/>
          </a:xfrm>
          <a:prstGeom prst="rect">
            <a:avLst/>
          </a:prstGeom>
          <a:noFill/>
          <a:ln/>
        </p:spPr>
        <p:txBody>
          <a:bodyPr wrap="square" lIns="0" tIns="0" rIns="0" bIns="0" rtlCol="0" anchor="ctr"/>
          <a:lstStyle/>
          <a:p>
            <a:pPr marL="0" indent="0">
              <a:buNone/>
            </a:pPr>
            <a:r>
              <a:rPr lang="en-US" sz="1100" dirty="0">
                <a:solidFill>
                  <a:srgbClr val="DBEAFE"/>
                </a:solidFill>
                <a:latin typeface="Calibri" pitchFamily="34" charset="0"/>
                <a:ea typeface="Calibri" pitchFamily="34" charset="-122"/>
                <a:cs typeface="Calibri" pitchFamily="34" charset="-120"/>
              </a:rPr>
              <a:t>Paste a public Git URL, submit, watch the pipeline progress</a:t>
            </a:r>
            <a:endParaRPr lang="en-US" sz="1100" dirty="0"/>
          </a:p>
        </p:txBody>
      </p:sp>
      <p:sp>
        <p:nvSpPr>
          <p:cNvPr id="8" name="Text 6"/>
          <p:cNvSpPr/>
          <p:nvPr/>
        </p:nvSpPr>
        <p:spPr>
          <a:xfrm>
            <a:off x="548640" y="3108960"/>
            <a:ext cx="365760" cy="292608"/>
          </a:xfrm>
          <a:prstGeom prst="rect">
            <a:avLst/>
          </a:prstGeom>
          <a:noFill/>
          <a:ln/>
        </p:spPr>
        <p:txBody>
          <a:bodyPr wrap="square" lIns="0" tIns="0" rIns="0" bIns="0" rtlCol="0" anchor="ctr"/>
          <a:lstStyle/>
          <a:p>
            <a:pPr marL="0" indent="0">
              <a:buNone/>
            </a:pPr>
            <a:r>
              <a:rPr lang="en-US" sz="1600" b="1" dirty="0">
                <a:solidFill>
                  <a:srgbClr val="0D9488"/>
                </a:solidFill>
                <a:latin typeface="Calibri" pitchFamily="34" charset="0"/>
                <a:ea typeface="Calibri" pitchFamily="34" charset="-122"/>
                <a:cs typeface="Calibri" pitchFamily="34" charset="-120"/>
              </a:rPr>
              <a:t>2</a:t>
            </a:r>
            <a:endParaRPr lang="en-US" sz="1600" dirty="0"/>
          </a:p>
        </p:txBody>
      </p:sp>
      <p:sp>
        <p:nvSpPr>
          <p:cNvPr id="9" name="Text 7"/>
          <p:cNvSpPr/>
          <p:nvPr/>
        </p:nvSpPr>
        <p:spPr>
          <a:xfrm>
            <a:off x="1051560" y="3118104"/>
            <a:ext cx="7498080" cy="27432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Open the results dashboard</a:t>
            </a:r>
            <a:endParaRPr lang="en-US" sz="1400" dirty="0"/>
          </a:p>
        </p:txBody>
      </p:sp>
      <p:sp>
        <p:nvSpPr>
          <p:cNvPr id="10" name="Text 8"/>
          <p:cNvSpPr/>
          <p:nvPr/>
        </p:nvSpPr>
        <p:spPr>
          <a:xfrm>
            <a:off x="1051560" y="3374136"/>
            <a:ext cx="7498080" cy="237744"/>
          </a:xfrm>
          <a:prstGeom prst="rect">
            <a:avLst/>
          </a:prstGeom>
          <a:noFill/>
          <a:ln/>
        </p:spPr>
        <p:txBody>
          <a:bodyPr wrap="square" lIns="0" tIns="0" rIns="0" bIns="0" rtlCol="0" anchor="ctr"/>
          <a:lstStyle/>
          <a:p>
            <a:pPr marL="0" indent="0">
              <a:buNone/>
            </a:pPr>
            <a:r>
              <a:rPr lang="en-US" sz="1100" dirty="0">
                <a:solidFill>
                  <a:srgbClr val="DBEAFE"/>
                </a:solidFill>
                <a:latin typeface="Calibri" pitchFamily="34" charset="0"/>
                <a:ea typeface="Calibri" pitchFamily="34" charset="-122"/>
                <a:cs typeface="Calibri" pitchFamily="34" charset="-120"/>
              </a:rPr>
              <a:t>Health score gauge, four-category breakdown, summary metrics</a:t>
            </a:r>
            <a:endParaRPr lang="en-US" sz="1100" dirty="0"/>
          </a:p>
        </p:txBody>
      </p:sp>
      <p:sp>
        <p:nvSpPr>
          <p:cNvPr id="11" name="Text 9"/>
          <p:cNvSpPr/>
          <p:nvPr/>
        </p:nvSpPr>
        <p:spPr>
          <a:xfrm>
            <a:off x="548640" y="3657600"/>
            <a:ext cx="365760" cy="292608"/>
          </a:xfrm>
          <a:prstGeom prst="rect">
            <a:avLst/>
          </a:prstGeom>
          <a:noFill/>
          <a:ln/>
        </p:spPr>
        <p:txBody>
          <a:bodyPr wrap="square" lIns="0" tIns="0" rIns="0" bIns="0" rtlCol="0" anchor="ctr"/>
          <a:lstStyle/>
          <a:p>
            <a:pPr marL="0" indent="0">
              <a:buNone/>
            </a:pPr>
            <a:r>
              <a:rPr lang="en-US" sz="1600" b="1" dirty="0">
                <a:solidFill>
                  <a:srgbClr val="0D9488"/>
                </a:solidFill>
                <a:latin typeface="Calibri" pitchFamily="34" charset="0"/>
                <a:ea typeface="Calibri" pitchFamily="34" charset="-122"/>
                <a:cs typeface="Calibri" pitchFamily="34" charset="-120"/>
              </a:rPr>
              <a:t>3</a:t>
            </a:r>
            <a:endParaRPr lang="en-US" sz="1600" dirty="0"/>
          </a:p>
        </p:txBody>
      </p:sp>
      <p:sp>
        <p:nvSpPr>
          <p:cNvPr id="12" name="Text 10"/>
          <p:cNvSpPr/>
          <p:nvPr/>
        </p:nvSpPr>
        <p:spPr>
          <a:xfrm>
            <a:off x="1051560" y="3666744"/>
            <a:ext cx="7498080" cy="27432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Drill into a finding</a:t>
            </a:r>
            <a:endParaRPr lang="en-US" sz="1400" dirty="0"/>
          </a:p>
        </p:txBody>
      </p:sp>
      <p:sp>
        <p:nvSpPr>
          <p:cNvPr id="13" name="Text 11"/>
          <p:cNvSpPr/>
          <p:nvPr/>
        </p:nvSpPr>
        <p:spPr>
          <a:xfrm>
            <a:off x="1051560" y="3922776"/>
            <a:ext cx="7498080" cy="237744"/>
          </a:xfrm>
          <a:prstGeom prst="rect">
            <a:avLst/>
          </a:prstGeom>
          <a:noFill/>
          <a:ln/>
        </p:spPr>
        <p:txBody>
          <a:bodyPr wrap="square" lIns="0" tIns="0" rIns="0" bIns="0" rtlCol="0" anchor="ctr"/>
          <a:lstStyle/>
          <a:p>
            <a:pPr marL="0" indent="0">
              <a:buNone/>
            </a:pPr>
            <a:r>
              <a:rPr lang="en-US" sz="1100" dirty="0">
                <a:solidFill>
                  <a:srgbClr val="DBEAFE"/>
                </a:solidFill>
                <a:latin typeface="Calibri" pitchFamily="34" charset="0"/>
                <a:ea typeface="Calibri" pitchFamily="34" charset="-122"/>
                <a:cs typeface="Calibri" pitchFamily="34" charset="-120"/>
              </a:rPr>
              <a:t>Expand an anti-pattern card to see source-code evidence and remediation</a:t>
            </a:r>
            <a:endParaRPr lang="en-US" sz="1100" dirty="0"/>
          </a:p>
        </p:txBody>
      </p:sp>
      <p:sp>
        <p:nvSpPr>
          <p:cNvPr id="14" name="Text 12"/>
          <p:cNvSpPr/>
          <p:nvPr/>
        </p:nvSpPr>
        <p:spPr>
          <a:xfrm>
            <a:off x="548640" y="4206240"/>
            <a:ext cx="365760" cy="292608"/>
          </a:xfrm>
          <a:prstGeom prst="rect">
            <a:avLst/>
          </a:prstGeom>
          <a:noFill/>
          <a:ln/>
        </p:spPr>
        <p:txBody>
          <a:bodyPr wrap="square" lIns="0" tIns="0" rIns="0" bIns="0" rtlCol="0" anchor="ctr"/>
          <a:lstStyle/>
          <a:p>
            <a:pPr marL="0" indent="0">
              <a:buNone/>
            </a:pPr>
            <a:r>
              <a:rPr lang="en-US" sz="1600" b="1" dirty="0">
                <a:solidFill>
                  <a:srgbClr val="0D9488"/>
                </a:solidFill>
                <a:latin typeface="Calibri" pitchFamily="34" charset="0"/>
                <a:ea typeface="Calibri" pitchFamily="34" charset="-122"/>
                <a:cs typeface="Calibri" pitchFamily="34" charset="-120"/>
              </a:rPr>
              <a:t>4</a:t>
            </a:r>
            <a:endParaRPr lang="en-US" sz="1600" dirty="0"/>
          </a:p>
        </p:txBody>
      </p:sp>
      <p:sp>
        <p:nvSpPr>
          <p:cNvPr id="15" name="Text 13"/>
          <p:cNvSpPr/>
          <p:nvPr/>
        </p:nvSpPr>
        <p:spPr>
          <a:xfrm>
            <a:off x="1051560" y="4215384"/>
            <a:ext cx="7498080" cy="27432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Explore the dependency graph</a:t>
            </a:r>
            <a:endParaRPr lang="en-US" sz="1400" dirty="0"/>
          </a:p>
        </p:txBody>
      </p:sp>
      <p:sp>
        <p:nvSpPr>
          <p:cNvPr id="16" name="Text 14"/>
          <p:cNvSpPr/>
          <p:nvPr/>
        </p:nvSpPr>
        <p:spPr>
          <a:xfrm>
            <a:off x="1051560" y="4471416"/>
            <a:ext cx="7498080" cy="237744"/>
          </a:xfrm>
          <a:prstGeom prst="rect">
            <a:avLst/>
          </a:prstGeom>
          <a:noFill/>
          <a:ln/>
        </p:spPr>
        <p:txBody>
          <a:bodyPr wrap="square" lIns="0" tIns="0" rIns="0" bIns="0" rtlCol="0" anchor="ctr"/>
          <a:lstStyle/>
          <a:p>
            <a:pPr marL="0" indent="0">
              <a:buNone/>
            </a:pPr>
            <a:r>
              <a:rPr lang="en-US" sz="1100" dirty="0">
                <a:solidFill>
                  <a:srgbClr val="DBEAFE"/>
                </a:solidFill>
                <a:latin typeface="Calibri" pitchFamily="34" charset="0"/>
                <a:ea typeface="Calibri" pitchFamily="34" charset="-122"/>
                <a:cs typeface="Calibri" pitchFamily="34" charset="-120"/>
              </a:rPr>
              <a:t>Interactive Cytoscape view of inter-service edges</a:t>
            </a:r>
            <a:endParaRPr lang="en-US" sz="1100" dirty="0"/>
          </a:p>
        </p:txBody>
      </p:sp>
      <p:sp>
        <p:nvSpPr>
          <p:cNvPr id="17" name="Text 15"/>
          <p:cNvSpPr/>
          <p:nvPr/>
        </p:nvSpPr>
        <p:spPr>
          <a:xfrm>
            <a:off x="7955280" y="4864608"/>
            <a:ext cx="640080" cy="228600"/>
          </a:xfrm>
          <a:prstGeom prst="rect">
            <a:avLst/>
          </a:prstGeom>
          <a:noFill/>
          <a:ln/>
        </p:spPr>
        <p:txBody>
          <a:bodyPr wrap="square" lIns="0" tIns="0" rIns="0" bIns="0" rtlCol="0" anchor="ctr"/>
          <a:lstStyle/>
          <a:p>
            <a:pPr marL="0" indent="0" algn="r">
              <a:buNone/>
            </a:pPr>
            <a:r>
              <a:rPr lang="en-US" sz="900" dirty="0">
                <a:solidFill>
                  <a:srgbClr val="DBEAFE"/>
                </a:solidFill>
                <a:latin typeface="Calibri" pitchFamily="34" charset="0"/>
                <a:ea typeface="Calibri" pitchFamily="34" charset="-122"/>
                <a:cs typeface="Calibri" pitchFamily="34" charset="-120"/>
              </a:rPr>
              <a:t>10 / 12</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marL="0" indent="0">
              <a:buNone/>
            </a:pPr>
            <a:r>
              <a:rPr lang="en-US" sz="2500" b="1" dirty="0">
                <a:solidFill>
                  <a:srgbClr val="0F2A44"/>
                </a:solidFill>
                <a:latin typeface="Calibri" pitchFamily="34" charset="0"/>
                <a:ea typeface="Calibri" pitchFamily="34" charset="-122"/>
                <a:cs typeface="Calibri" pitchFamily="34" charset="-120"/>
              </a:rPr>
              <a:t>Limitations &amp; future work</a:t>
            </a:r>
            <a:endParaRPr lang="en-US" sz="2500" dirty="0"/>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txBody>
          <a:bodyPr/>
          <a:lstStyle/>
          <a:p>
            <a:endParaRPr lang="en-US"/>
          </a:p>
        </p:txBody>
      </p:sp>
      <p:sp>
        <p:nvSpPr>
          <p:cNvPr id="4" name="Text 2"/>
          <p:cNvSpPr/>
          <p:nvPr/>
        </p:nvSpPr>
        <p:spPr>
          <a:xfrm>
            <a:off x="548640" y="1005840"/>
            <a:ext cx="3840480" cy="347472"/>
          </a:xfrm>
          <a:prstGeom prst="rect">
            <a:avLst/>
          </a:prstGeom>
          <a:noFill/>
          <a:ln/>
        </p:spPr>
        <p:txBody>
          <a:bodyPr wrap="square" lIns="0" tIns="0" rIns="0" bIns="0" rtlCol="0" anchor="ctr"/>
          <a:lstStyle/>
          <a:p>
            <a:pPr marL="0" indent="0">
              <a:buNone/>
            </a:pPr>
            <a:r>
              <a:rPr lang="en-US" sz="1500" b="1" dirty="0">
                <a:solidFill>
                  <a:srgbClr val="0F2A44"/>
                </a:solidFill>
                <a:latin typeface="Calibri" pitchFamily="34" charset="0"/>
                <a:ea typeface="Calibri" pitchFamily="34" charset="-122"/>
                <a:cs typeface="Calibri" pitchFamily="34" charset="-120"/>
              </a:rPr>
              <a:t>Limitations</a:t>
            </a:r>
            <a:endParaRPr lang="en-US" sz="1500" dirty="0"/>
          </a:p>
        </p:txBody>
      </p:sp>
      <p:sp>
        <p:nvSpPr>
          <p:cNvPr id="5" name="Shape 3"/>
          <p:cNvSpPr/>
          <p:nvPr/>
        </p:nvSpPr>
        <p:spPr>
          <a:xfrm>
            <a:off x="548640" y="1389888"/>
            <a:ext cx="457200" cy="36576"/>
          </a:xfrm>
          <a:prstGeom prst="rect">
            <a:avLst/>
          </a:prstGeom>
          <a:solidFill>
            <a:srgbClr val="D97706"/>
          </a:solidFill>
          <a:ln w="12700">
            <a:solidFill>
              <a:srgbClr val="D97706"/>
            </a:solidFill>
            <a:prstDash val="solid"/>
          </a:ln>
        </p:spPr>
        <p:txBody>
          <a:bodyPr/>
          <a:lstStyle/>
          <a:p>
            <a:endParaRPr lang="en-US"/>
          </a:p>
        </p:txBody>
      </p:sp>
      <p:sp>
        <p:nvSpPr>
          <p:cNvPr id="6" name="Text 4"/>
          <p:cNvSpPr/>
          <p:nvPr/>
        </p:nvSpPr>
        <p:spPr>
          <a:xfrm>
            <a:off x="548640" y="1572768"/>
            <a:ext cx="3840480" cy="3017520"/>
          </a:xfrm>
          <a:prstGeom prst="rect">
            <a:avLst/>
          </a:prstGeom>
          <a:noFill/>
          <a:ln/>
        </p:spPr>
        <p:txBody>
          <a:bodyPr wrap="square" lIns="0" tIns="0" rIns="0" bIns="0" rtlCol="0" anchor="ctr"/>
          <a:lstStyle/>
          <a:p>
            <a:pPr marL="342900" indent="-342900">
              <a:spcAft>
                <a:spcPts val="600"/>
              </a:spcAft>
              <a:buSzPct val="100000"/>
              <a:buChar char="•"/>
            </a:pPr>
            <a:r>
              <a:rPr lang="en-US" sz="1100" dirty="0">
                <a:solidFill>
                  <a:srgbClr val="1E293B"/>
                </a:solidFill>
                <a:latin typeface="Calibri" pitchFamily="34" charset="0"/>
                <a:ea typeface="Calibri" pitchFamily="34" charset="-122"/>
                <a:cs typeface="Calibri" pitchFamily="34" charset="-120"/>
              </a:rPr>
              <a:t>Java / Spring Boot only; polyglot systems not supported</a:t>
            </a:r>
            <a:endParaRPr lang="en-US" sz="1100" dirty="0"/>
          </a:p>
          <a:p>
            <a:pPr marL="342900" indent="-342900">
              <a:spcAft>
                <a:spcPts val="600"/>
              </a:spcAft>
              <a:buSzPct val="100000"/>
              <a:buChar char="•"/>
            </a:pPr>
            <a:r>
              <a:rPr lang="en-US" sz="1100" dirty="0">
                <a:solidFill>
                  <a:srgbClr val="1E293B"/>
                </a:solidFill>
                <a:latin typeface="Calibri" pitchFamily="34" charset="0"/>
                <a:ea typeface="Calibri" pitchFamily="34" charset="-122"/>
                <a:cs typeface="Calibri" pitchFamily="34" charset="-120"/>
              </a:rPr>
              <a:t>Static analysis only; no runtime call frequency data</a:t>
            </a:r>
            <a:endParaRPr lang="en-US" sz="1100" dirty="0"/>
          </a:p>
          <a:p>
            <a:pPr marL="342900" indent="-342900">
              <a:spcAft>
                <a:spcPts val="600"/>
              </a:spcAft>
              <a:buSzPct val="100000"/>
              <a:buChar char="•"/>
            </a:pPr>
            <a:r>
              <a:rPr lang="en-US" sz="1100" dirty="0">
                <a:solidFill>
                  <a:srgbClr val="1E293B"/>
                </a:solidFill>
                <a:latin typeface="Calibri" pitchFamily="34" charset="0"/>
                <a:ea typeface="Calibri" pitchFamily="34" charset="-122"/>
                <a:cs typeface="Calibri" pitchFamily="34" charset="-120"/>
              </a:rPr>
              <a:t>Service detection deployability gate may miss services without framework annotations, Dockerfile, or main method</a:t>
            </a:r>
            <a:endParaRPr lang="en-US" sz="1100" dirty="0"/>
          </a:p>
          <a:p>
            <a:pPr marL="342900" indent="-342900">
              <a:spcAft>
                <a:spcPts val="600"/>
              </a:spcAft>
              <a:buSzPct val="100000"/>
              <a:buChar char="•"/>
            </a:pPr>
            <a:r>
              <a:rPr lang="en-US" sz="1100" dirty="0">
                <a:solidFill>
                  <a:srgbClr val="1E293B"/>
                </a:solidFill>
                <a:latin typeface="Calibri" pitchFamily="34" charset="0"/>
                <a:ea typeface="Calibri" pitchFamily="34" charset="-122"/>
                <a:cs typeface="Calibri" pitchFamily="34" charset="-120"/>
              </a:rPr>
              <a:t>Dynamic URLs (e.g. Spring Cloud Config) are not resolved</a:t>
            </a:r>
            <a:endParaRPr lang="en-US" sz="1100" dirty="0"/>
          </a:p>
          <a:p>
            <a:pPr marL="342900" indent="-342900">
              <a:spcAft>
                <a:spcPts val="600"/>
              </a:spcAft>
              <a:buSzPct val="100000"/>
              <a:buChar char="•"/>
            </a:pPr>
            <a:r>
              <a:rPr lang="en-US" sz="1100" dirty="0">
                <a:solidFill>
                  <a:srgbClr val="1E293B"/>
                </a:solidFill>
                <a:latin typeface="Calibri" pitchFamily="34" charset="0"/>
                <a:ea typeface="Calibri" pitchFamily="34" charset="-122"/>
                <a:cs typeface="Calibri" pitchFamily="34" charset="-120"/>
              </a:rPr>
              <a:t>Health score weights chosen by engineering judgement, not empirically calibrated</a:t>
            </a:r>
            <a:endParaRPr lang="en-US" sz="1100" dirty="0"/>
          </a:p>
        </p:txBody>
      </p:sp>
      <p:sp>
        <p:nvSpPr>
          <p:cNvPr id="7" name="Text 5"/>
          <p:cNvSpPr/>
          <p:nvPr/>
        </p:nvSpPr>
        <p:spPr>
          <a:xfrm>
            <a:off x="4754880" y="1005840"/>
            <a:ext cx="3840480" cy="347472"/>
          </a:xfrm>
          <a:prstGeom prst="rect">
            <a:avLst/>
          </a:prstGeom>
          <a:noFill/>
          <a:ln/>
        </p:spPr>
        <p:txBody>
          <a:bodyPr wrap="square" lIns="0" tIns="0" rIns="0" bIns="0" rtlCol="0" anchor="ctr"/>
          <a:lstStyle/>
          <a:p>
            <a:pPr marL="0" indent="0">
              <a:buNone/>
            </a:pPr>
            <a:r>
              <a:rPr lang="en-US" sz="1500" b="1" dirty="0">
                <a:solidFill>
                  <a:srgbClr val="0F2A44"/>
                </a:solidFill>
                <a:latin typeface="Calibri" pitchFamily="34" charset="0"/>
                <a:ea typeface="Calibri" pitchFamily="34" charset="-122"/>
                <a:cs typeface="Calibri" pitchFamily="34" charset="-120"/>
              </a:rPr>
              <a:t>Future work</a:t>
            </a:r>
            <a:endParaRPr lang="en-US" sz="1500" dirty="0"/>
          </a:p>
        </p:txBody>
      </p:sp>
      <p:sp>
        <p:nvSpPr>
          <p:cNvPr id="8" name="Shape 6"/>
          <p:cNvSpPr/>
          <p:nvPr/>
        </p:nvSpPr>
        <p:spPr>
          <a:xfrm>
            <a:off x="4754880" y="1389888"/>
            <a:ext cx="457200" cy="36576"/>
          </a:xfrm>
          <a:prstGeom prst="rect">
            <a:avLst/>
          </a:prstGeom>
          <a:solidFill>
            <a:srgbClr val="0D9488"/>
          </a:solidFill>
          <a:ln w="12700">
            <a:solidFill>
              <a:srgbClr val="0D9488"/>
            </a:solidFill>
            <a:prstDash val="solid"/>
          </a:ln>
        </p:spPr>
        <p:txBody>
          <a:bodyPr/>
          <a:lstStyle/>
          <a:p>
            <a:endParaRPr lang="en-US"/>
          </a:p>
        </p:txBody>
      </p:sp>
      <p:sp>
        <p:nvSpPr>
          <p:cNvPr id="9" name="Text 7"/>
          <p:cNvSpPr/>
          <p:nvPr/>
        </p:nvSpPr>
        <p:spPr>
          <a:xfrm>
            <a:off x="4754880" y="1572768"/>
            <a:ext cx="3840480" cy="3017520"/>
          </a:xfrm>
          <a:prstGeom prst="rect">
            <a:avLst/>
          </a:prstGeom>
          <a:noFill/>
          <a:ln/>
        </p:spPr>
        <p:txBody>
          <a:bodyPr wrap="square" lIns="0" tIns="0" rIns="0" bIns="0" rtlCol="0" anchor="ctr"/>
          <a:lstStyle/>
          <a:p>
            <a:pPr marL="342900" indent="-342900">
              <a:spcAft>
                <a:spcPts val="600"/>
              </a:spcAft>
              <a:buSzPct val="100000"/>
              <a:buChar char="•"/>
            </a:pPr>
            <a:r>
              <a:rPr lang="en-US" sz="1100" dirty="0">
                <a:solidFill>
                  <a:srgbClr val="1E293B"/>
                </a:solidFill>
                <a:latin typeface="Calibri" pitchFamily="34" charset="0"/>
                <a:ea typeface="Calibri" pitchFamily="34" charset="-122"/>
                <a:cs typeface="Calibri" pitchFamily="34" charset="-120"/>
              </a:rPr>
              <a:t>Multi-language support (Python, Go, .NET, Node.js) via language-agnostic dependency graphs from Docker Compose / Kubernetes manifests</a:t>
            </a:r>
            <a:endParaRPr lang="en-US" sz="1100" dirty="0"/>
          </a:p>
          <a:p>
            <a:pPr marL="342900" indent="-342900">
              <a:spcAft>
                <a:spcPts val="600"/>
              </a:spcAft>
              <a:buSzPct val="100000"/>
              <a:buChar char="•"/>
            </a:pPr>
            <a:r>
              <a:rPr lang="en-US" sz="1100" dirty="0">
                <a:solidFill>
                  <a:srgbClr val="1E293B"/>
                </a:solidFill>
                <a:latin typeface="Calibri" pitchFamily="34" charset="0"/>
                <a:ea typeface="Calibri" pitchFamily="34" charset="-122"/>
                <a:cs typeface="Calibri" pitchFamily="34" charset="-120"/>
              </a:rPr>
              <a:t>Extend anti-pattern catalogue (timeout misconfiguration, missing API gateway)</a:t>
            </a:r>
            <a:endParaRPr lang="en-US" sz="1100" dirty="0"/>
          </a:p>
          <a:p>
            <a:pPr marL="342900" indent="-342900">
              <a:spcAft>
                <a:spcPts val="600"/>
              </a:spcAft>
              <a:buSzPct val="100000"/>
              <a:buChar char="•"/>
            </a:pPr>
            <a:r>
              <a:rPr lang="en-US" sz="1100" dirty="0">
                <a:solidFill>
                  <a:srgbClr val="1E293B"/>
                </a:solidFill>
                <a:latin typeface="Calibri" pitchFamily="34" charset="0"/>
                <a:ea typeface="Calibri" pitchFamily="34" charset="-122"/>
                <a:cs typeface="Calibri" pitchFamily="34" charset="-120"/>
              </a:rPr>
              <a:t>ML-based detection: classifiers on labelled datasets or graph neural networks on the dependency graph</a:t>
            </a:r>
            <a:endParaRPr lang="en-US" sz="1100" dirty="0"/>
          </a:p>
          <a:p>
            <a:pPr marL="342900" indent="-342900">
              <a:spcAft>
                <a:spcPts val="600"/>
              </a:spcAft>
              <a:buSzPct val="100000"/>
              <a:buChar char="•"/>
            </a:pPr>
            <a:r>
              <a:rPr lang="en-US" sz="1100" dirty="0">
                <a:solidFill>
                  <a:srgbClr val="1E293B"/>
                </a:solidFill>
                <a:latin typeface="Calibri" pitchFamily="34" charset="0"/>
                <a:ea typeface="Calibri" pitchFamily="34" charset="-122"/>
                <a:cs typeface="Calibri" pitchFamily="34" charset="-120"/>
              </a:rPr>
              <a:t>Empirical threshold calibration across an industrial corpus</a:t>
            </a:r>
            <a:endParaRPr lang="en-US" sz="1100" dirty="0"/>
          </a:p>
        </p:txBody>
      </p:sp>
      <p:sp>
        <p:nvSpPr>
          <p:cNvPr id="10" name="Text 8"/>
          <p:cNvSpPr/>
          <p:nvPr/>
        </p:nvSpPr>
        <p:spPr>
          <a:xfrm>
            <a:off x="7955280" y="4864608"/>
            <a:ext cx="640080" cy="22860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11 / 12</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2">
    <p:bg>
      <p:bgPr>
        <a:solidFill>
          <a:srgbClr val="0F2A44"/>
        </a:solidFill>
        <a:effectLst/>
      </p:bgPr>
    </p:bg>
    <p:spTree>
      <p:nvGrpSpPr>
        <p:cNvPr id="1" name=""/>
        <p:cNvGrpSpPr/>
        <p:nvPr/>
      </p:nvGrpSpPr>
      <p:grpSpPr>
        <a:xfrm>
          <a:off x="0" y="0"/>
          <a:ext cx="0" cy="0"/>
          <a:chOff x="0" y="0"/>
          <a:chExt cx="0" cy="0"/>
        </a:xfrm>
      </p:grpSpPr>
      <p:sp>
        <p:nvSpPr>
          <p:cNvPr id="2" name="Shape 0"/>
          <p:cNvSpPr/>
          <p:nvPr/>
        </p:nvSpPr>
        <p:spPr>
          <a:xfrm>
            <a:off x="548640" y="914400"/>
            <a:ext cx="640080" cy="41148"/>
          </a:xfrm>
          <a:prstGeom prst="rect">
            <a:avLst/>
          </a:prstGeom>
          <a:solidFill>
            <a:srgbClr val="0D9488"/>
          </a:solidFill>
          <a:ln w="12700">
            <a:solidFill>
              <a:srgbClr val="0D9488"/>
            </a:solidFill>
            <a:prstDash val="solid"/>
          </a:ln>
        </p:spPr>
        <p:txBody>
          <a:bodyPr/>
          <a:lstStyle/>
          <a:p>
            <a:endParaRPr lang="en-US"/>
          </a:p>
        </p:txBody>
      </p:sp>
      <p:sp>
        <p:nvSpPr>
          <p:cNvPr id="3" name="Text 1"/>
          <p:cNvSpPr/>
          <p:nvPr/>
        </p:nvSpPr>
        <p:spPr>
          <a:xfrm>
            <a:off x="548640" y="1097280"/>
            <a:ext cx="7863840" cy="731520"/>
          </a:xfrm>
          <a:prstGeom prst="rect">
            <a:avLst/>
          </a:prstGeom>
          <a:noFill/>
          <a:ln/>
        </p:spPr>
        <p:txBody>
          <a:bodyPr wrap="square" lIns="0" tIns="0" rIns="0" bIns="0" rtlCol="0" anchor="ctr"/>
          <a:lstStyle/>
          <a:p>
            <a:pPr marL="0" indent="0">
              <a:buNone/>
            </a:pPr>
            <a:r>
              <a:rPr lang="en-US" sz="4400" b="1" dirty="0">
                <a:solidFill>
                  <a:srgbClr val="FFFFFF"/>
                </a:solidFill>
                <a:latin typeface="Calibri" pitchFamily="34" charset="0"/>
                <a:ea typeface="Calibri" pitchFamily="34" charset="-122"/>
                <a:cs typeface="Calibri" pitchFamily="34" charset="-120"/>
              </a:rPr>
              <a:t>Conclusions</a:t>
            </a:r>
            <a:endParaRPr lang="en-US" sz="4400" dirty="0"/>
          </a:p>
        </p:txBody>
      </p:sp>
      <p:sp>
        <p:nvSpPr>
          <p:cNvPr id="5" name="Text 3"/>
          <p:cNvSpPr/>
          <p:nvPr/>
        </p:nvSpPr>
        <p:spPr>
          <a:xfrm>
            <a:off x="548640" y="2400300"/>
            <a:ext cx="7863840" cy="274320"/>
          </a:xfrm>
          <a:prstGeom prst="rect">
            <a:avLst/>
          </a:prstGeom>
          <a:noFill/>
          <a:ln/>
        </p:spPr>
        <p:txBody>
          <a:bodyPr wrap="square" lIns="0" tIns="0" rIns="0" bIns="0" rtlCol="0" anchor="ctr"/>
          <a:lstStyle/>
          <a:p>
            <a:pPr marL="0" indent="0">
              <a:buNone/>
            </a:pPr>
            <a:r>
              <a:rPr lang="en-US" sz="1100" b="1" kern="0" spc="300" dirty="0">
                <a:solidFill>
                  <a:srgbClr val="0D9488"/>
                </a:solidFill>
                <a:latin typeface="Calibri" pitchFamily="34" charset="0"/>
                <a:ea typeface="Calibri" pitchFamily="34" charset="-122"/>
                <a:cs typeface="Calibri" pitchFamily="34" charset="-120"/>
              </a:rPr>
              <a:t>RECAP</a:t>
            </a:r>
            <a:endParaRPr lang="en-US" sz="1100" dirty="0"/>
          </a:p>
        </p:txBody>
      </p:sp>
      <p:sp>
        <p:nvSpPr>
          <p:cNvPr id="6" name="Text 4"/>
          <p:cNvSpPr/>
          <p:nvPr/>
        </p:nvSpPr>
        <p:spPr>
          <a:xfrm>
            <a:off x="731520" y="2720340"/>
            <a:ext cx="7680960" cy="1325880"/>
          </a:xfrm>
          <a:prstGeom prst="rect">
            <a:avLst/>
          </a:prstGeom>
          <a:noFill/>
          <a:ln/>
        </p:spPr>
        <p:txBody>
          <a:bodyPr wrap="square" lIns="0" tIns="0" rIns="0" bIns="0" rtlCol="0" anchor="ctr"/>
          <a:lstStyle/>
          <a:p>
            <a:pPr marL="342900" indent="-342900">
              <a:spcAft>
                <a:spcPts val="400"/>
              </a:spcAft>
              <a:buSzPct val="100000"/>
              <a:buChar char="•"/>
            </a:pPr>
            <a:r>
              <a:rPr lang="en-US" sz="1250" dirty="0">
                <a:solidFill>
                  <a:schemeClr val="bg1"/>
                </a:solidFill>
                <a:latin typeface="Calibri" pitchFamily="34" charset="0"/>
                <a:ea typeface="Calibri" pitchFamily="34" charset="-122"/>
                <a:cs typeface="Calibri" pitchFamily="34" charset="-120"/>
              </a:rPr>
              <a:t>Multi-level static analysis combining code smells and architectural metrics</a:t>
            </a:r>
            <a:endParaRPr lang="en-US" sz="1250" dirty="0">
              <a:solidFill>
                <a:schemeClr val="bg1"/>
              </a:solidFill>
            </a:endParaRPr>
          </a:p>
          <a:p>
            <a:pPr marL="342900" indent="-342900">
              <a:spcAft>
                <a:spcPts val="400"/>
              </a:spcAft>
              <a:buSzPct val="100000"/>
              <a:buChar char="•"/>
            </a:pPr>
            <a:r>
              <a:rPr lang="en-US" sz="1250" dirty="0">
                <a:solidFill>
                  <a:schemeClr val="bg1"/>
                </a:solidFill>
                <a:latin typeface="Calibri" pitchFamily="34" charset="0"/>
                <a:ea typeface="Calibri" pitchFamily="34" charset="-122"/>
                <a:cs typeface="Calibri" pitchFamily="34" charset="-120"/>
              </a:rPr>
              <a:t>Ten anti-patterns, configurable thresholds, evidence-based reporting</a:t>
            </a:r>
            <a:endParaRPr lang="en-US" sz="1250" dirty="0">
              <a:solidFill>
                <a:schemeClr val="bg1"/>
              </a:solidFill>
            </a:endParaRPr>
          </a:p>
          <a:p>
            <a:pPr marL="342900" indent="-342900">
              <a:spcAft>
                <a:spcPts val="400"/>
              </a:spcAft>
              <a:buSzPct val="100000"/>
              <a:buChar char="•"/>
            </a:pPr>
            <a:r>
              <a:rPr lang="en-US" sz="1250" dirty="0">
                <a:solidFill>
                  <a:schemeClr val="bg1"/>
                </a:solidFill>
                <a:latin typeface="Calibri" pitchFamily="34" charset="0"/>
                <a:ea typeface="Calibri" pitchFamily="34" charset="-122"/>
                <a:cs typeface="Calibri" pitchFamily="34" charset="-120"/>
              </a:rPr>
              <a:t>Composite health score with four-category decomposition and analysis diff</a:t>
            </a:r>
          </a:p>
          <a:p>
            <a:pPr marL="342900" indent="-342900">
              <a:spcAft>
                <a:spcPts val="400"/>
              </a:spcAft>
              <a:buSzPct val="100000"/>
              <a:buChar char="•"/>
            </a:pPr>
            <a:r>
              <a:rPr lang="en-US" sz="1250" dirty="0">
                <a:solidFill>
                  <a:schemeClr val="bg1"/>
                </a:solidFill>
              </a:rPr>
              <a:t>Evaluated the tool on 11 open-source systems, covering 130 services and </a:t>
            </a:r>
            <a:r>
              <a:rPr lang="en-US" sz="1250" dirty="0" err="1">
                <a:solidFill>
                  <a:schemeClr val="bg1"/>
                </a:solidFill>
              </a:rPr>
              <a:t>cca</a:t>
            </a:r>
            <a:r>
              <a:rPr lang="en-US" sz="1250" dirty="0">
                <a:solidFill>
                  <a:schemeClr val="bg1"/>
                </a:solidFill>
              </a:rPr>
              <a:t>. 274k LOC</a:t>
            </a:r>
          </a:p>
        </p:txBody>
      </p:sp>
      <p:sp>
        <p:nvSpPr>
          <p:cNvPr id="7" name="Text 5"/>
          <p:cNvSpPr/>
          <p:nvPr/>
        </p:nvSpPr>
        <p:spPr>
          <a:xfrm>
            <a:off x="548640" y="4617720"/>
            <a:ext cx="7863840" cy="274320"/>
          </a:xfrm>
          <a:prstGeom prst="rect">
            <a:avLst/>
          </a:prstGeom>
          <a:noFill/>
          <a:ln/>
        </p:spPr>
        <p:txBody>
          <a:bodyPr wrap="square" lIns="0" tIns="0" rIns="0" bIns="0" rtlCol="0" anchor="ctr"/>
          <a:lstStyle/>
          <a:p>
            <a:pPr marL="0" indent="0">
              <a:buNone/>
            </a:pPr>
            <a:r>
              <a:rPr lang="en-US" sz="1050" dirty="0">
                <a:solidFill>
                  <a:srgbClr val="DBEAFE"/>
                </a:solidFill>
                <a:latin typeface="Calibri" pitchFamily="34" charset="0"/>
                <a:ea typeface="Calibri" pitchFamily="34" charset="-122"/>
                <a:cs typeface="Calibri" pitchFamily="34" charset="-120"/>
              </a:rPr>
              <a:t>Iacob Andrei  ·  Supervisor: Prof. Dr. Simona Motogna  ·  UBB FMI</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marL="0" indent="0">
              <a:buNone/>
            </a:pPr>
            <a:r>
              <a:rPr lang="en-US" sz="2500" b="1" dirty="0">
                <a:solidFill>
                  <a:srgbClr val="0F2A44"/>
                </a:solidFill>
                <a:latin typeface="Calibri" pitchFamily="34" charset="0"/>
                <a:ea typeface="Calibri" pitchFamily="34" charset="-122"/>
                <a:cs typeface="Calibri" pitchFamily="34" charset="-120"/>
              </a:rPr>
              <a:t>Bibliography</a:t>
            </a:r>
            <a:endParaRPr lang="en-US" sz="2500" dirty="0"/>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sp>
      <p:sp>
        <p:nvSpPr>
          <p:cNvPr id="4" name="Text 2"/>
          <p:cNvSpPr/>
          <p:nvPr/>
        </p:nvSpPr>
        <p:spPr>
          <a:xfrm>
            <a:off x="548640" y="1051560"/>
            <a:ext cx="3794760" cy="219456"/>
          </a:xfrm>
          <a:prstGeom prst="rect">
            <a:avLst/>
          </a:prstGeom>
          <a:noFill/>
          <a:ln/>
        </p:spPr>
        <p:txBody>
          <a:bodyPr wrap="square" lIns="0" tIns="0" rIns="0" bIns="0" rtlCol="0" anchor="ctr"/>
          <a:lstStyle/>
          <a:p>
            <a:pPr marL="0" indent="0">
              <a:buNone/>
            </a:pPr>
            <a:r>
              <a:rPr lang="en-US" sz="1050" b="1" dirty="0">
                <a:solidFill>
                  <a:srgbClr val="0F2A44"/>
                </a:solidFill>
                <a:latin typeface="Calibri" pitchFamily="34" charset="0"/>
                <a:ea typeface="Calibri" pitchFamily="34" charset="-122"/>
                <a:cs typeface="Calibri" pitchFamily="34" charset="-120"/>
              </a:rPr>
              <a:t>Lewis &amp; Fowler (2014)</a:t>
            </a:r>
            <a:endParaRPr lang="en-US" sz="1050" dirty="0"/>
          </a:p>
        </p:txBody>
      </p:sp>
      <p:sp>
        <p:nvSpPr>
          <p:cNvPr id="5" name="Text 3"/>
          <p:cNvSpPr/>
          <p:nvPr/>
        </p:nvSpPr>
        <p:spPr>
          <a:xfrm>
            <a:off x="548640" y="1298448"/>
            <a:ext cx="3794760" cy="329184"/>
          </a:xfrm>
          <a:prstGeom prst="rect">
            <a:avLst/>
          </a:prstGeom>
          <a:noFill/>
          <a:ln/>
        </p:spPr>
        <p:txBody>
          <a:bodyPr wrap="square" lIns="0" tIns="0" rIns="0" bIns="0" rtlCol="0" anchor="ctr">
            <a:normAutofit/>
          </a:bodyPr>
          <a:lstStyle/>
          <a:p>
            <a:pPr marL="0" indent="0">
              <a:buNone/>
            </a:pPr>
            <a:r>
              <a:rPr lang="en-US" sz="920" dirty="0">
                <a:solidFill>
                  <a:srgbClr val="1E293B"/>
                </a:solidFill>
                <a:latin typeface="Calibri" pitchFamily="34" charset="0"/>
                <a:ea typeface="Calibri" pitchFamily="34" charset="-122"/>
                <a:cs typeface="Calibri" pitchFamily="34" charset="-120"/>
              </a:rPr>
              <a:t>Microservices: a definition of this new architectural term</a:t>
            </a:r>
            <a:endParaRPr lang="en-US" sz="920" dirty="0"/>
          </a:p>
        </p:txBody>
      </p:sp>
      <p:sp>
        <p:nvSpPr>
          <p:cNvPr id="6" name="Shape 4"/>
          <p:cNvSpPr/>
          <p:nvPr/>
        </p:nvSpPr>
        <p:spPr>
          <a:xfrm>
            <a:off x="548640" y="1664208"/>
            <a:ext cx="3794760" cy="9144"/>
          </a:xfrm>
          <a:prstGeom prst="rect">
            <a:avLst/>
          </a:prstGeom>
          <a:solidFill>
            <a:srgbClr val="D8DEE6"/>
          </a:solidFill>
          <a:ln w="12700">
            <a:solidFill>
              <a:srgbClr val="D8DEE6"/>
            </a:solidFill>
            <a:prstDash val="solid"/>
          </a:ln>
        </p:spPr>
      </p:sp>
      <p:sp>
        <p:nvSpPr>
          <p:cNvPr id="7" name="Text 5"/>
          <p:cNvSpPr/>
          <p:nvPr/>
        </p:nvSpPr>
        <p:spPr>
          <a:xfrm>
            <a:off x="548640" y="1764792"/>
            <a:ext cx="3794760" cy="219456"/>
          </a:xfrm>
          <a:prstGeom prst="rect">
            <a:avLst/>
          </a:prstGeom>
          <a:noFill/>
          <a:ln/>
        </p:spPr>
        <p:txBody>
          <a:bodyPr wrap="square" lIns="0" tIns="0" rIns="0" bIns="0" rtlCol="0" anchor="ctr"/>
          <a:lstStyle/>
          <a:p>
            <a:pPr marL="0" indent="0">
              <a:buNone/>
            </a:pPr>
            <a:r>
              <a:rPr lang="en-US" sz="1050" b="1" dirty="0">
                <a:solidFill>
                  <a:srgbClr val="0F2A44"/>
                </a:solidFill>
                <a:latin typeface="Calibri" pitchFamily="34" charset="0"/>
                <a:ea typeface="Calibri" pitchFamily="34" charset="-122"/>
                <a:cs typeface="Calibri" pitchFamily="34" charset="-120"/>
              </a:rPr>
              <a:t>Newman (2015)</a:t>
            </a:r>
            <a:endParaRPr lang="en-US" sz="1050" dirty="0"/>
          </a:p>
        </p:txBody>
      </p:sp>
      <p:sp>
        <p:nvSpPr>
          <p:cNvPr id="8" name="Text 6"/>
          <p:cNvSpPr/>
          <p:nvPr/>
        </p:nvSpPr>
        <p:spPr>
          <a:xfrm>
            <a:off x="548640" y="2011680"/>
            <a:ext cx="3794760" cy="329184"/>
          </a:xfrm>
          <a:prstGeom prst="rect">
            <a:avLst/>
          </a:prstGeom>
          <a:noFill/>
          <a:ln/>
        </p:spPr>
        <p:txBody>
          <a:bodyPr wrap="square" lIns="0" tIns="0" rIns="0" bIns="0" rtlCol="0" anchor="ctr">
            <a:normAutofit/>
          </a:bodyPr>
          <a:lstStyle/>
          <a:p>
            <a:pPr marL="0" indent="0">
              <a:buNone/>
            </a:pPr>
            <a:r>
              <a:rPr lang="en-US" sz="920" dirty="0">
                <a:solidFill>
                  <a:srgbClr val="1E293B"/>
                </a:solidFill>
                <a:latin typeface="Calibri" pitchFamily="34" charset="0"/>
                <a:ea typeface="Calibri" pitchFamily="34" charset="-122"/>
                <a:cs typeface="Calibri" pitchFamily="34" charset="-120"/>
              </a:rPr>
              <a:t>Building Microservices: Designing Fine-Grained Systems</a:t>
            </a:r>
            <a:endParaRPr lang="en-US" sz="920" dirty="0"/>
          </a:p>
        </p:txBody>
      </p:sp>
      <p:sp>
        <p:nvSpPr>
          <p:cNvPr id="9" name="Shape 7"/>
          <p:cNvSpPr/>
          <p:nvPr/>
        </p:nvSpPr>
        <p:spPr>
          <a:xfrm>
            <a:off x="548640" y="2377440"/>
            <a:ext cx="3794760" cy="9144"/>
          </a:xfrm>
          <a:prstGeom prst="rect">
            <a:avLst/>
          </a:prstGeom>
          <a:solidFill>
            <a:srgbClr val="D8DEE6"/>
          </a:solidFill>
          <a:ln w="12700">
            <a:solidFill>
              <a:srgbClr val="D8DEE6"/>
            </a:solidFill>
            <a:prstDash val="solid"/>
          </a:ln>
        </p:spPr>
      </p:sp>
      <p:sp>
        <p:nvSpPr>
          <p:cNvPr id="10" name="Text 8"/>
          <p:cNvSpPr/>
          <p:nvPr/>
        </p:nvSpPr>
        <p:spPr>
          <a:xfrm>
            <a:off x="548640" y="2478024"/>
            <a:ext cx="3794760" cy="219456"/>
          </a:xfrm>
          <a:prstGeom prst="rect">
            <a:avLst/>
          </a:prstGeom>
          <a:noFill/>
          <a:ln/>
        </p:spPr>
        <p:txBody>
          <a:bodyPr wrap="square" lIns="0" tIns="0" rIns="0" bIns="0" rtlCol="0" anchor="ctr"/>
          <a:lstStyle/>
          <a:p>
            <a:pPr marL="0" indent="0">
              <a:buNone/>
            </a:pPr>
            <a:r>
              <a:rPr lang="en-US" sz="1050" b="1" dirty="0">
                <a:solidFill>
                  <a:srgbClr val="0F2A44"/>
                </a:solidFill>
                <a:latin typeface="Calibri" pitchFamily="34" charset="0"/>
                <a:ea typeface="Calibri" pitchFamily="34" charset="-122"/>
                <a:cs typeface="Calibri" pitchFamily="34" charset="-120"/>
              </a:rPr>
              <a:t>Richardson (2018)</a:t>
            </a:r>
            <a:endParaRPr lang="en-US" sz="1050" dirty="0"/>
          </a:p>
        </p:txBody>
      </p:sp>
      <p:sp>
        <p:nvSpPr>
          <p:cNvPr id="11" name="Text 9"/>
          <p:cNvSpPr/>
          <p:nvPr/>
        </p:nvSpPr>
        <p:spPr>
          <a:xfrm>
            <a:off x="548640" y="2724912"/>
            <a:ext cx="3794760" cy="329184"/>
          </a:xfrm>
          <a:prstGeom prst="rect">
            <a:avLst/>
          </a:prstGeom>
          <a:noFill/>
          <a:ln/>
        </p:spPr>
        <p:txBody>
          <a:bodyPr wrap="square" lIns="0" tIns="0" rIns="0" bIns="0" rtlCol="0" anchor="ctr">
            <a:normAutofit/>
          </a:bodyPr>
          <a:lstStyle/>
          <a:p>
            <a:pPr marL="0" indent="0">
              <a:buNone/>
            </a:pPr>
            <a:r>
              <a:rPr lang="en-US" sz="920" dirty="0">
                <a:solidFill>
                  <a:srgbClr val="1E293B"/>
                </a:solidFill>
                <a:latin typeface="Calibri" pitchFamily="34" charset="0"/>
                <a:ea typeface="Calibri" pitchFamily="34" charset="-122"/>
                <a:cs typeface="Calibri" pitchFamily="34" charset="-120"/>
              </a:rPr>
              <a:t>Microservices Patterns: With Examples in Java</a:t>
            </a:r>
            <a:endParaRPr lang="en-US" sz="920" dirty="0"/>
          </a:p>
        </p:txBody>
      </p:sp>
      <p:sp>
        <p:nvSpPr>
          <p:cNvPr id="12" name="Shape 10"/>
          <p:cNvSpPr/>
          <p:nvPr/>
        </p:nvSpPr>
        <p:spPr>
          <a:xfrm>
            <a:off x="548640" y="3090672"/>
            <a:ext cx="3794760" cy="9144"/>
          </a:xfrm>
          <a:prstGeom prst="rect">
            <a:avLst/>
          </a:prstGeom>
          <a:solidFill>
            <a:srgbClr val="D8DEE6"/>
          </a:solidFill>
          <a:ln w="12700">
            <a:solidFill>
              <a:srgbClr val="D8DEE6"/>
            </a:solidFill>
            <a:prstDash val="solid"/>
          </a:ln>
        </p:spPr>
      </p:sp>
      <p:sp>
        <p:nvSpPr>
          <p:cNvPr id="13" name="Text 11"/>
          <p:cNvSpPr/>
          <p:nvPr/>
        </p:nvSpPr>
        <p:spPr>
          <a:xfrm>
            <a:off x="548640" y="3191256"/>
            <a:ext cx="3794760" cy="219456"/>
          </a:xfrm>
          <a:prstGeom prst="rect">
            <a:avLst/>
          </a:prstGeom>
          <a:noFill/>
          <a:ln/>
        </p:spPr>
        <p:txBody>
          <a:bodyPr wrap="square" lIns="0" tIns="0" rIns="0" bIns="0" rtlCol="0" anchor="ctr"/>
          <a:lstStyle/>
          <a:p>
            <a:pPr marL="0" indent="0">
              <a:buNone/>
            </a:pPr>
            <a:r>
              <a:rPr lang="en-US" sz="1050" b="1" dirty="0">
                <a:solidFill>
                  <a:srgbClr val="0F2A44"/>
                </a:solidFill>
                <a:latin typeface="Calibri" pitchFamily="34" charset="0"/>
                <a:ea typeface="Calibri" pitchFamily="34" charset="-122"/>
                <a:cs typeface="Calibri" pitchFamily="34" charset="-120"/>
              </a:rPr>
              <a:t>Taibi &amp; Lenarduzzi (2018)</a:t>
            </a:r>
            <a:endParaRPr lang="en-US" sz="1050" dirty="0"/>
          </a:p>
        </p:txBody>
      </p:sp>
      <p:sp>
        <p:nvSpPr>
          <p:cNvPr id="14" name="Text 12"/>
          <p:cNvSpPr/>
          <p:nvPr/>
        </p:nvSpPr>
        <p:spPr>
          <a:xfrm>
            <a:off x="548640" y="3438144"/>
            <a:ext cx="3794760" cy="329184"/>
          </a:xfrm>
          <a:prstGeom prst="rect">
            <a:avLst/>
          </a:prstGeom>
          <a:noFill/>
          <a:ln/>
        </p:spPr>
        <p:txBody>
          <a:bodyPr wrap="square" lIns="0" tIns="0" rIns="0" bIns="0" rtlCol="0" anchor="ctr">
            <a:normAutofit/>
          </a:bodyPr>
          <a:lstStyle/>
          <a:p>
            <a:pPr marL="0" indent="0">
              <a:buNone/>
            </a:pPr>
            <a:r>
              <a:rPr lang="en-US" sz="920" dirty="0">
                <a:solidFill>
                  <a:srgbClr val="1E293B"/>
                </a:solidFill>
                <a:latin typeface="Calibri" pitchFamily="34" charset="0"/>
                <a:ea typeface="Calibri" pitchFamily="34" charset="-122"/>
                <a:cs typeface="Calibri" pitchFamily="34" charset="-120"/>
              </a:rPr>
              <a:t>On the Definition of Microservice Bad Smells</a:t>
            </a:r>
            <a:endParaRPr lang="en-US" sz="920" dirty="0"/>
          </a:p>
        </p:txBody>
      </p:sp>
      <p:sp>
        <p:nvSpPr>
          <p:cNvPr id="15" name="Shape 13"/>
          <p:cNvSpPr/>
          <p:nvPr/>
        </p:nvSpPr>
        <p:spPr>
          <a:xfrm>
            <a:off x="548640" y="3803904"/>
            <a:ext cx="3794760" cy="9144"/>
          </a:xfrm>
          <a:prstGeom prst="rect">
            <a:avLst/>
          </a:prstGeom>
          <a:solidFill>
            <a:srgbClr val="D8DEE6"/>
          </a:solidFill>
          <a:ln w="12700">
            <a:solidFill>
              <a:srgbClr val="D8DEE6"/>
            </a:solidFill>
            <a:prstDash val="solid"/>
          </a:ln>
        </p:spPr>
      </p:sp>
      <p:sp>
        <p:nvSpPr>
          <p:cNvPr id="16" name="Text 14"/>
          <p:cNvSpPr/>
          <p:nvPr/>
        </p:nvSpPr>
        <p:spPr>
          <a:xfrm>
            <a:off x="548640" y="3904488"/>
            <a:ext cx="3794760" cy="219456"/>
          </a:xfrm>
          <a:prstGeom prst="rect">
            <a:avLst/>
          </a:prstGeom>
          <a:noFill/>
          <a:ln/>
        </p:spPr>
        <p:txBody>
          <a:bodyPr wrap="square" lIns="0" tIns="0" rIns="0" bIns="0" rtlCol="0" anchor="ctr"/>
          <a:lstStyle/>
          <a:p>
            <a:pPr marL="0" indent="0">
              <a:buNone/>
            </a:pPr>
            <a:r>
              <a:rPr lang="en-US" sz="1050" b="1" dirty="0">
                <a:solidFill>
                  <a:srgbClr val="0F2A44"/>
                </a:solidFill>
                <a:latin typeface="Calibri" pitchFamily="34" charset="0"/>
                <a:ea typeface="Calibri" pitchFamily="34" charset="-122"/>
                <a:cs typeface="Calibri" pitchFamily="34" charset="-120"/>
              </a:rPr>
              <a:t>Soldani, Tamburri &amp; Van Den Heuvel (2018)</a:t>
            </a:r>
            <a:endParaRPr lang="en-US" sz="1050" dirty="0"/>
          </a:p>
        </p:txBody>
      </p:sp>
      <p:sp>
        <p:nvSpPr>
          <p:cNvPr id="17" name="Text 15"/>
          <p:cNvSpPr/>
          <p:nvPr/>
        </p:nvSpPr>
        <p:spPr>
          <a:xfrm>
            <a:off x="548640" y="4151376"/>
            <a:ext cx="3794760" cy="329184"/>
          </a:xfrm>
          <a:prstGeom prst="rect">
            <a:avLst/>
          </a:prstGeom>
          <a:noFill/>
          <a:ln/>
        </p:spPr>
        <p:txBody>
          <a:bodyPr wrap="square" lIns="0" tIns="0" rIns="0" bIns="0" rtlCol="0" anchor="ctr">
            <a:normAutofit/>
          </a:bodyPr>
          <a:lstStyle/>
          <a:p>
            <a:pPr marL="0" indent="0">
              <a:buNone/>
            </a:pPr>
            <a:r>
              <a:rPr lang="en-US" sz="920" dirty="0">
                <a:solidFill>
                  <a:srgbClr val="1E293B"/>
                </a:solidFill>
                <a:latin typeface="Calibri" pitchFamily="34" charset="0"/>
                <a:ea typeface="Calibri" pitchFamily="34" charset="-122"/>
                <a:cs typeface="Calibri" pitchFamily="34" charset="-120"/>
              </a:rPr>
              <a:t>The Pains and Gains of Microservices</a:t>
            </a:r>
            <a:endParaRPr lang="en-US" sz="920" dirty="0"/>
          </a:p>
        </p:txBody>
      </p:sp>
      <p:sp>
        <p:nvSpPr>
          <p:cNvPr id="18" name="Text 16"/>
          <p:cNvSpPr/>
          <p:nvPr/>
        </p:nvSpPr>
        <p:spPr>
          <a:xfrm>
            <a:off x="4617720" y="1051560"/>
            <a:ext cx="3977640" cy="219456"/>
          </a:xfrm>
          <a:prstGeom prst="rect">
            <a:avLst/>
          </a:prstGeom>
          <a:noFill/>
          <a:ln/>
        </p:spPr>
        <p:txBody>
          <a:bodyPr wrap="square" lIns="0" tIns="0" rIns="0" bIns="0" rtlCol="0" anchor="ctr"/>
          <a:lstStyle/>
          <a:p>
            <a:pPr marL="0" indent="0">
              <a:buNone/>
            </a:pPr>
            <a:r>
              <a:rPr lang="en-US" sz="1050" b="1" dirty="0">
                <a:solidFill>
                  <a:srgbClr val="0F2A44"/>
                </a:solidFill>
                <a:latin typeface="Calibri" pitchFamily="34" charset="0"/>
                <a:ea typeface="Calibri" pitchFamily="34" charset="-122"/>
                <a:cs typeface="Calibri" pitchFamily="34" charset="-120"/>
              </a:rPr>
              <a:t>Neri et al. (2020)</a:t>
            </a:r>
            <a:endParaRPr lang="en-US" sz="1050" dirty="0"/>
          </a:p>
        </p:txBody>
      </p:sp>
      <p:sp>
        <p:nvSpPr>
          <p:cNvPr id="19" name="Text 17"/>
          <p:cNvSpPr/>
          <p:nvPr/>
        </p:nvSpPr>
        <p:spPr>
          <a:xfrm>
            <a:off x="4617720" y="1298448"/>
            <a:ext cx="3977640" cy="329184"/>
          </a:xfrm>
          <a:prstGeom prst="rect">
            <a:avLst/>
          </a:prstGeom>
          <a:noFill/>
          <a:ln/>
        </p:spPr>
        <p:txBody>
          <a:bodyPr wrap="square" lIns="0" tIns="0" rIns="0" bIns="0" rtlCol="0" anchor="ctr">
            <a:normAutofit/>
          </a:bodyPr>
          <a:lstStyle/>
          <a:p>
            <a:pPr marL="0" indent="0">
              <a:buNone/>
            </a:pPr>
            <a:r>
              <a:rPr lang="en-US" sz="920" dirty="0">
                <a:solidFill>
                  <a:srgbClr val="1E293B"/>
                </a:solidFill>
                <a:latin typeface="Calibri" pitchFamily="34" charset="0"/>
                <a:ea typeface="Calibri" pitchFamily="34" charset="-122"/>
                <a:cs typeface="Calibri" pitchFamily="34" charset="-120"/>
              </a:rPr>
              <a:t>Design Principles, Architectural Smells and Refactorings for Microservices</a:t>
            </a:r>
            <a:endParaRPr lang="en-US" sz="920" dirty="0"/>
          </a:p>
        </p:txBody>
      </p:sp>
      <p:sp>
        <p:nvSpPr>
          <p:cNvPr id="20" name="Shape 18"/>
          <p:cNvSpPr/>
          <p:nvPr/>
        </p:nvSpPr>
        <p:spPr>
          <a:xfrm>
            <a:off x="4617720" y="1664208"/>
            <a:ext cx="3977640" cy="9144"/>
          </a:xfrm>
          <a:prstGeom prst="rect">
            <a:avLst/>
          </a:prstGeom>
          <a:solidFill>
            <a:srgbClr val="D8DEE6"/>
          </a:solidFill>
          <a:ln w="12700">
            <a:solidFill>
              <a:srgbClr val="D8DEE6"/>
            </a:solidFill>
            <a:prstDash val="solid"/>
          </a:ln>
        </p:spPr>
      </p:sp>
      <p:sp>
        <p:nvSpPr>
          <p:cNvPr id="21" name="Text 19"/>
          <p:cNvSpPr/>
          <p:nvPr/>
        </p:nvSpPr>
        <p:spPr>
          <a:xfrm>
            <a:off x="4617720" y="1764792"/>
            <a:ext cx="3977640" cy="219456"/>
          </a:xfrm>
          <a:prstGeom prst="rect">
            <a:avLst/>
          </a:prstGeom>
          <a:noFill/>
          <a:ln/>
        </p:spPr>
        <p:txBody>
          <a:bodyPr wrap="square" lIns="0" tIns="0" rIns="0" bIns="0" rtlCol="0" anchor="ctr"/>
          <a:lstStyle/>
          <a:p>
            <a:pPr marL="0" indent="0">
              <a:buNone/>
            </a:pPr>
            <a:r>
              <a:rPr lang="en-US" sz="1050" b="1" dirty="0">
                <a:solidFill>
                  <a:srgbClr val="0F2A44"/>
                </a:solidFill>
                <a:latin typeface="Calibri" pitchFamily="34" charset="0"/>
                <a:ea typeface="Calibri" pitchFamily="34" charset="-122"/>
                <a:cs typeface="Calibri" pitchFamily="34" charset="-120"/>
              </a:rPr>
              <a:t>Pawlak et al. (2016)</a:t>
            </a:r>
            <a:endParaRPr lang="en-US" sz="1050" dirty="0"/>
          </a:p>
        </p:txBody>
      </p:sp>
      <p:sp>
        <p:nvSpPr>
          <p:cNvPr id="22" name="Text 20"/>
          <p:cNvSpPr/>
          <p:nvPr/>
        </p:nvSpPr>
        <p:spPr>
          <a:xfrm>
            <a:off x="4617720" y="2011680"/>
            <a:ext cx="3977640" cy="329184"/>
          </a:xfrm>
          <a:prstGeom prst="rect">
            <a:avLst/>
          </a:prstGeom>
          <a:noFill/>
          <a:ln/>
        </p:spPr>
        <p:txBody>
          <a:bodyPr wrap="square" lIns="0" tIns="0" rIns="0" bIns="0" rtlCol="0" anchor="ctr">
            <a:normAutofit/>
          </a:bodyPr>
          <a:lstStyle/>
          <a:p>
            <a:pPr marL="0" indent="0">
              <a:buNone/>
            </a:pPr>
            <a:r>
              <a:rPr lang="en-US" sz="920" dirty="0">
                <a:solidFill>
                  <a:srgbClr val="1E293B"/>
                </a:solidFill>
                <a:latin typeface="Calibri" pitchFamily="34" charset="0"/>
                <a:ea typeface="Calibri" pitchFamily="34" charset="-122"/>
                <a:cs typeface="Calibri" pitchFamily="34" charset="-120"/>
              </a:rPr>
              <a:t>Spoon: A Library for Implementing Analyses and Transformations of Java Source Code</a:t>
            </a:r>
            <a:endParaRPr lang="en-US" sz="920" dirty="0"/>
          </a:p>
        </p:txBody>
      </p:sp>
      <p:sp>
        <p:nvSpPr>
          <p:cNvPr id="23" name="Shape 21"/>
          <p:cNvSpPr/>
          <p:nvPr/>
        </p:nvSpPr>
        <p:spPr>
          <a:xfrm>
            <a:off x="4617720" y="2377440"/>
            <a:ext cx="3977640" cy="9144"/>
          </a:xfrm>
          <a:prstGeom prst="rect">
            <a:avLst/>
          </a:prstGeom>
          <a:solidFill>
            <a:srgbClr val="D8DEE6"/>
          </a:solidFill>
          <a:ln w="12700">
            <a:solidFill>
              <a:srgbClr val="D8DEE6"/>
            </a:solidFill>
            <a:prstDash val="solid"/>
          </a:ln>
        </p:spPr>
      </p:sp>
      <p:sp>
        <p:nvSpPr>
          <p:cNvPr id="24" name="Text 22"/>
          <p:cNvSpPr/>
          <p:nvPr/>
        </p:nvSpPr>
        <p:spPr>
          <a:xfrm>
            <a:off x="4617720" y="2478024"/>
            <a:ext cx="3977640" cy="219456"/>
          </a:xfrm>
          <a:prstGeom prst="rect">
            <a:avLst/>
          </a:prstGeom>
          <a:noFill/>
          <a:ln/>
        </p:spPr>
        <p:txBody>
          <a:bodyPr wrap="square" lIns="0" tIns="0" rIns="0" bIns="0" rtlCol="0" anchor="ctr"/>
          <a:lstStyle/>
          <a:p>
            <a:pPr marL="0" indent="0">
              <a:buNone/>
            </a:pPr>
            <a:r>
              <a:rPr lang="en-US" sz="1050" b="1" dirty="0">
                <a:solidFill>
                  <a:srgbClr val="0F2A44"/>
                </a:solidFill>
                <a:latin typeface="Calibri" pitchFamily="34" charset="0"/>
                <a:ea typeface="Calibri" pitchFamily="34" charset="-122"/>
                <a:cs typeface="Calibri" pitchFamily="34" charset="-120"/>
              </a:rPr>
              <a:t>Sharma &amp; Spinellis (2018)</a:t>
            </a:r>
            <a:endParaRPr lang="en-US" sz="1050" dirty="0"/>
          </a:p>
        </p:txBody>
      </p:sp>
      <p:sp>
        <p:nvSpPr>
          <p:cNvPr id="25" name="Text 23"/>
          <p:cNvSpPr/>
          <p:nvPr/>
        </p:nvSpPr>
        <p:spPr>
          <a:xfrm>
            <a:off x="4617720" y="2724912"/>
            <a:ext cx="3977640" cy="329184"/>
          </a:xfrm>
          <a:prstGeom prst="rect">
            <a:avLst/>
          </a:prstGeom>
          <a:noFill/>
          <a:ln/>
        </p:spPr>
        <p:txBody>
          <a:bodyPr wrap="square" lIns="0" tIns="0" rIns="0" bIns="0" rtlCol="0" anchor="ctr">
            <a:normAutofit/>
          </a:bodyPr>
          <a:lstStyle/>
          <a:p>
            <a:pPr marL="0" indent="0">
              <a:buNone/>
            </a:pPr>
            <a:r>
              <a:rPr lang="en-US" sz="920" dirty="0">
                <a:solidFill>
                  <a:srgbClr val="1E293B"/>
                </a:solidFill>
                <a:latin typeface="Calibri" pitchFamily="34" charset="0"/>
                <a:ea typeface="Calibri" pitchFamily="34" charset="-122"/>
                <a:cs typeface="Calibri" pitchFamily="34" charset="-120"/>
              </a:rPr>
              <a:t>A Survey on Software Smells</a:t>
            </a:r>
            <a:endParaRPr lang="en-US" sz="920" dirty="0"/>
          </a:p>
        </p:txBody>
      </p:sp>
      <p:sp>
        <p:nvSpPr>
          <p:cNvPr id="26" name="Shape 24"/>
          <p:cNvSpPr/>
          <p:nvPr/>
        </p:nvSpPr>
        <p:spPr>
          <a:xfrm>
            <a:off x="4617720" y="3090672"/>
            <a:ext cx="3977640" cy="9144"/>
          </a:xfrm>
          <a:prstGeom prst="rect">
            <a:avLst/>
          </a:prstGeom>
          <a:solidFill>
            <a:srgbClr val="D8DEE6"/>
          </a:solidFill>
          <a:ln w="12700">
            <a:solidFill>
              <a:srgbClr val="D8DEE6"/>
            </a:solidFill>
            <a:prstDash val="solid"/>
          </a:ln>
        </p:spPr>
      </p:sp>
      <p:sp>
        <p:nvSpPr>
          <p:cNvPr id="27" name="Text 25"/>
          <p:cNvSpPr/>
          <p:nvPr/>
        </p:nvSpPr>
        <p:spPr>
          <a:xfrm>
            <a:off x="4617720" y="3191256"/>
            <a:ext cx="3977640" cy="219456"/>
          </a:xfrm>
          <a:prstGeom prst="rect">
            <a:avLst/>
          </a:prstGeom>
          <a:noFill/>
          <a:ln/>
        </p:spPr>
        <p:txBody>
          <a:bodyPr wrap="square" lIns="0" tIns="0" rIns="0" bIns="0" rtlCol="0" anchor="ctr"/>
          <a:lstStyle/>
          <a:p>
            <a:pPr marL="0" indent="0">
              <a:buNone/>
            </a:pPr>
            <a:r>
              <a:rPr lang="en-US" sz="1050" b="1" dirty="0">
                <a:solidFill>
                  <a:srgbClr val="0F2A44"/>
                </a:solidFill>
                <a:latin typeface="Calibri" pitchFamily="34" charset="0"/>
                <a:ea typeface="Calibri" pitchFamily="34" charset="-122"/>
                <a:cs typeface="Calibri" pitchFamily="34" charset="-120"/>
              </a:rPr>
              <a:t>Arcelli Fontana et al. (2017); Granchelli et al. (2017)</a:t>
            </a:r>
            <a:endParaRPr lang="en-US" sz="1050" dirty="0"/>
          </a:p>
        </p:txBody>
      </p:sp>
      <p:sp>
        <p:nvSpPr>
          <p:cNvPr id="28" name="Text 26"/>
          <p:cNvSpPr/>
          <p:nvPr/>
        </p:nvSpPr>
        <p:spPr>
          <a:xfrm>
            <a:off x="4617720" y="3438144"/>
            <a:ext cx="3977640" cy="329184"/>
          </a:xfrm>
          <a:prstGeom prst="rect">
            <a:avLst/>
          </a:prstGeom>
          <a:noFill/>
          <a:ln/>
        </p:spPr>
        <p:txBody>
          <a:bodyPr wrap="square" lIns="0" tIns="0" rIns="0" bIns="0" rtlCol="0" anchor="ctr">
            <a:normAutofit/>
          </a:bodyPr>
          <a:lstStyle/>
          <a:p>
            <a:pPr marL="0" indent="0">
              <a:buNone/>
            </a:pPr>
            <a:r>
              <a:rPr lang="en-US" sz="920" dirty="0">
                <a:solidFill>
                  <a:srgbClr val="1E293B"/>
                </a:solidFill>
                <a:latin typeface="Calibri" pitchFamily="34" charset="0"/>
                <a:ea typeface="Calibri" pitchFamily="34" charset="-122"/>
                <a:cs typeface="Calibri" pitchFamily="34" charset="-120"/>
              </a:rPr>
              <a:t>Arcan and MicroART architectural smell / architecture recovery tools</a:t>
            </a:r>
            <a:endParaRPr lang="en-US" sz="920" dirty="0"/>
          </a:p>
        </p:txBody>
      </p:sp>
      <p:sp>
        <p:nvSpPr>
          <p:cNvPr id="29" name="Shape 27"/>
          <p:cNvSpPr/>
          <p:nvPr/>
        </p:nvSpPr>
        <p:spPr>
          <a:xfrm>
            <a:off x="4617720" y="3803904"/>
            <a:ext cx="3977640" cy="9144"/>
          </a:xfrm>
          <a:prstGeom prst="rect">
            <a:avLst/>
          </a:prstGeom>
          <a:solidFill>
            <a:srgbClr val="D8DEE6"/>
          </a:solidFill>
          <a:ln w="12700">
            <a:solidFill>
              <a:srgbClr val="D8DEE6"/>
            </a:solidFill>
            <a:prstDash val="solid"/>
          </a:ln>
        </p:spPr>
      </p:sp>
      <p:sp>
        <p:nvSpPr>
          <p:cNvPr id="30" name="Text 28"/>
          <p:cNvSpPr/>
          <p:nvPr/>
        </p:nvSpPr>
        <p:spPr>
          <a:xfrm>
            <a:off x="4617720" y="3904488"/>
            <a:ext cx="3977640" cy="219456"/>
          </a:xfrm>
          <a:prstGeom prst="rect">
            <a:avLst/>
          </a:prstGeom>
          <a:noFill/>
          <a:ln/>
        </p:spPr>
        <p:txBody>
          <a:bodyPr wrap="square" lIns="0" tIns="0" rIns="0" bIns="0" rtlCol="0" anchor="ctr"/>
          <a:lstStyle/>
          <a:p>
            <a:pPr marL="0" indent="0">
              <a:buNone/>
            </a:pPr>
            <a:r>
              <a:rPr lang="en-US" sz="1050" b="1" dirty="0">
                <a:solidFill>
                  <a:srgbClr val="0F2A44"/>
                </a:solidFill>
                <a:latin typeface="Calibri" pitchFamily="34" charset="0"/>
                <a:ea typeface="Calibri" pitchFamily="34" charset="-122"/>
                <a:cs typeface="Calibri" pitchFamily="34" charset="-120"/>
              </a:rPr>
              <a:t>Tarjan (1972); Brandes (2001)</a:t>
            </a:r>
            <a:endParaRPr lang="en-US" sz="1050" dirty="0"/>
          </a:p>
        </p:txBody>
      </p:sp>
      <p:sp>
        <p:nvSpPr>
          <p:cNvPr id="31" name="Text 29"/>
          <p:cNvSpPr/>
          <p:nvPr/>
        </p:nvSpPr>
        <p:spPr>
          <a:xfrm>
            <a:off x="4617720" y="4151376"/>
            <a:ext cx="3977640" cy="329184"/>
          </a:xfrm>
          <a:prstGeom prst="rect">
            <a:avLst/>
          </a:prstGeom>
          <a:noFill/>
          <a:ln/>
        </p:spPr>
        <p:txBody>
          <a:bodyPr wrap="square" lIns="0" tIns="0" rIns="0" bIns="0" rtlCol="0" anchor="ctr">
            <a:normAutofit/>
          </a:bodyPr>
          <a:lstStyle/>
          <a:p>
            <a:pPr marL="0" indent="0">
              <a:buNone/>
            </a:pPr>
            <a:r>
              <a:rPr lang="en-US" sz="920" dirty="0">
                <a:solidFill>
                  <a:srgbClr val="1E293B"/>
                </a:solidFill>
                <a:latin typeface="Calibri" pitchFamily="34" charset="0"/>
                <a:ea typeface="Calibri" pitchFamily="34" charset="-122"/>
                <a:cs typeface="Calibri" pitchFamily="34" charset="-120"/>
              </a:rPr>
              <a:t>Strongly connected components and betweenness centrality graph algorithms</a:t>
            </a:r>
            <a:endParaRPr lang="en-US" sz="920" dirty="0"/>
          </a:p>
        </p:txBody>
      </p:sp>
      <p:sp>
        <p:nvSpPr>
          <p:cNvPr id="32" name="Shape 30"/>
          <p:cNvSpPr/>
          <p:nvPr/>
        </p:nvSpPr>
        <p:spPr>
          <a:xfrm>
            <a:off x="548640" y="4572000"/>
            <a:ext cx="457200" cy="36576"/>
          </a:xfrm>
          <a:prstGeom prst="rect">
            <a:avLst/>
          </a:prstGeom>
          <a:solidFill>
            <a:srgbClr val="0D9488"/>
          </a:solidFill>
          <a:ln w="12700">
            <a:solidFill>
              <a:srgbClr val="0D9488"/>
            </a:solidFill>
            <a:prstDash val="solid"/>
          </a:ln>
        </p:spPr>
      </p:sp>
      <p:sp>
        <p:nvSpPr>
          <p:cNvPr id="34" name="Text 32"/>
          <p:cNvSpPr/>
          <p:nvPr/>
        </p:nvSpPr>
        <p:spPr>
          <a:xfrm>
            <a:off x="7955280" y="4864608"/>
            <a:ext cx="640080" cy="22860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13 / 13</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45325754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r>
              <a:rPr lang="en-US" sz="2500" b="1" dirty="0">
                <a:solidFill>
                  <a:srgbClr val="0F2A44"/>
                </a:solidFill>
                <a:latin typeface="Calibri" pitchFamily="34" charset="0"/>
                <a:ea typeface="Calibri" pitchFamily="34" charset="-122"/>
                <a:cs typeface="Calibri" pitchFamily="34" charset="-120"/>
              </a:rPr>
              <a:t>Annex: microservice-recruit worked example</a:t>
            </a:r>
            <a:endParaRPr lang="en-US" sz="2500" dirty="0"/>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txBody>
          <a:bodyPr/>
          <a:lstStyle/>
          <a:p>
            <a:endParaRPr lang="en-US"/>
          </a:p>
        </p:txBody>
      </p:sp>
      <p:sp>
        <p:nvSpPr>
          <p:cNvPr id="4" name="Text 2"/>
          <p:cNvSpPr/>
          <p:nvPr/>
        </p:nvSpPr>
        <p:spPr>
          <a:xfrm>
            <a:off x="548640" y="987552"/>
            <a:ext cx="3931920" cy="292608"/>
          </a:xfrm>
          <a:prstGeom prst="rect">
            <a:avLst/>
          </a:prstGeom>
          <a:noFill/>
          <a:ln/>
        </p:spPr>
        <p:txBody>
          <a:bodyPr wrap="square" lIns="0" tIns="0" rIns="0" bIns="0" rtlCol="0" anchor="ctr"/>
          <a:lstStyle/>
          <a:p>
            <a:pPr marL="0" indent="0">
              <a:buNone/>
            </a:pPr>
            <a:r>
              <a:rPr lang="en-US" sz="1300" b="1" dirty="0">
                <a:solidFill>
                  <a:srgbClr val="0F2A44"/>
                </a:solidFill>
                <a:latin typeface="Calibri" pitchFamily="34" charset="0"/>
                <a:ea typeface="Calibri" pitchFamily="34" charset="-122"/>
                <a:cs typeface="Calibri" pitchFamily="34" charset="-120"/>
              </a:rPr>
              <a:t>Anti-pattern findings</a:t>
            </a:r>
            <a:endParaRPr lang="en-US" sz="1300" dirty="0"/>
          </a:p>
        </p:txBody>
      </p:sp>
      <p:sp>
        <p:nvSpPr>
          <p:cNvPr id="5" name="Text 3"/>
          <p:cNvSpPr/>
          <p:nvPr/>
        </p:nvSpPr>
        <p:spPr>
          <a:xfrm>
            <a:off x="548640" y="1353312"/>
            <a:ext cx="411480" cy="274320"/>
          </a:xfrm>
          <a:prstGeom prst="rect">
            <a:avLst/>
          </a:prstGeom>
          <a:noFill/>
          <a:ln/>
        </p:spPr>
        <p:txBody>
          <a:bodyPr wrap="square" lIns="0" tIns="0" rIns="0" bIns="0" rtlCol="0" anchor="ctr"/>
          <a:lstStyle/>
          <a:p>
            <a:pPr marL="0" indent="0">
              <a:buNone/>
            </a:pPr>
            <a:r>
              <a:rPr lang="en-US" sz="1100" b="1" dirty="0">
                <a:solidFill>
                  <a:srgbClr val="DC2626"/>
                </a:solidFill>
                <a:latin typeface="Calibri" pitchFamily="34" charset="0"/>
                <a:ea typeface="Calibri" pitchFamily="34" charset="-122"/>
                <a:cs typeface="Calibri" pitchFamily="34" charset="-120"/>
              </a:rPr>
              <a:t>6×</a:t>
            </a:r>
            <a:endParaRPr lang="en-US" sz="1100" dirty="0"/>
          </a:p>
        </p:txBody>
      </p:sp>
      <p:sp>
        <p:nvSpPr>
          <p:cNvPr id="6" name="Text 4"/>
          <p:cNvSpPr/>
          <p:nvPr/>
        </p:nvSpPr>
        <p:spPr>
          <a:xfrm>
            <a:off x="1005840" y="1353312"/>
            <a:ext cx="2240280" cy="27432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API Versioning Absence</a:t>
            </a:r>
            <a:endParaRPr lang="en-US" sz="1100" dirty="0"/>
          </a:p>
        </p:txBody>
      </p:sp>
      <p:sp>
        <p:nvSpPr>
          <p:cNvPr id="7" name="Text 5"/>
          <p:cNvSpPr/>
          <p:nvPr/>
        </p:nvSpPr>
        <p:spPr>
          <a:xfrm>
            <a:off x="3246120" y="1353312"/>
            <a:ext cx="1234440" cy="274320"/>
          </a:xfrm>
          <a:prstGeom prst="rect">
            <a:avLst/>
          </a:prstGeom>
          <a:noFill/>
          <a:ln/>
        </p:spPr>
        <p:txBody>
          <a:bodyPr wrap="square" lIns="0" tIns="0" rIns="0" bIns="0" rtlCol="0" anchor="ctr"/>
          <a:lstStyle/>
          <a:p>
            <a:pPr marL="0" indent="0" algn="r">
              <a:buNone/>
            </a:pPr>
            <a:r>
              <a:rPr lang="en-US" sz="1000" dirty="0">
                <a:solidFill>
                  <a:srgbClr val="64748B"/>
                </a:solidFill>
                <a:latin typeface="Calibri" pitchFamily="34" charset="0"/>
                <a:ea typeface="Calibri" pitchFamily="34" charset="-122"/>
                <a:cs typeface="Calibri" pitchFamily="34" charset="-120"/>
              </a:rPr>
              <a:t>−3 each = −18</a:t>
            </a:r>
            <a:endParaRPr lang="en-US" sz="1000" dirty="0"/>
          </a:p>
        </p:txBody>
      </p:sp>
      <p:sp>
        <p:nvSpPr>
          <p:cNvPr id="8" name="Shape 6"/>
          <p:cNvSpPr/>
          <p:nvPr/>
        </p:nvSpPr>
        <p:spPr>
          <a:xfrm>
            <a:off x="548640" y="1618488"/>
            <a:ext cx="3931920" cy="10973"/>
          </a:xfrm>
          <a:prstGeom prst="rect">
            <a:avLst/>
          </a:prstGeom>
          <a:solidFill>
            <a:srgbClr val="D8DEE6"/>
          </a:solidFill>
          <a:ln w="12700">
            <a:solidFill>
              <a:srgbClr val="D8DEE6"/>
            </a:solidFill>
            <a:prstDash val="solid"/>
          </a:ln>
        </p:spPr>
        <p:txBody>
          <a:bodyPr/>
          <a:lstStyle/>
          <a:p>
            <a:endParaRPr lang="en-US"/>
          </a:p>
        </p:txBody>
      </p:sp>
      <p:sp>
        <p:nvSpPr>
          <p:cNvPr id="9" name="Text 7"/>
          <p:cNvSpPr/>
          <p:nvPr/>
        </p:nvSpPr>
        <p:spPr>
          <a:xfrm>
            <a:off x="548640" y="1655064"/>
            <a:ext cx="411480" cy="274320"/>
          </a:xfrm>
          <a:prstGeom prst="rect">
            <a:avLst/>
          </a:prstGeom>
          <a:noFill/>
          <a:ln/>
        </p:spPr>
        <p:txBody>
          <a:bodyPr wrap="square" lIns="0" tIns="0" rIns="0" bIns="0" rtlCol="0" anchor="ctr"/>
          <a:lstStyle/>
          <a:p>
            <a:pPr marL="0" indent="0">
              <a:buNone/>
            </a:pPr>
            <a:r>
              <a:rPr lang="en-US" sz="1100" b="1" dirty="0">
                <a:solidFill>
                  <a:srgbClr val="DC2626"/>
                </a:solidFill>
                <a:latin typeface="Calibri" pitchFamily="34" charset="0"/>
                <a:ea typeface="Calibri" pitchFamily="34" charset="-122"/>
                <a:cs typeface="Calibri" pitchFamily="34" charset="-120"/>
              </a:rPr>
              <a:t>2×</a:t>
            </a:r>
            <a:endParaRPr lang="en-US" sz="1100" dirty="0"/>
          </a:p>
        </p:txBody>
      </p:sp>
      <p:sp>
        <p:nvSpPr>
          <p:cNvPr id="10" name="Text 8"/>
          <p:cNvSpPr/>
          <p:nvPr/>
        </p:nvSpPr>
        <p:spPr>
          <a:xfrm>
            <a:off x="1005840" y="1655064"/>
            <a:ext cx="2240280" cy="27432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ESB Misuse</a:t>
            </a:r>
            <a:endParaRPr lang="en-US" sz="1100" dirty="0"/>
          </a:p>
        </p:txBody>
      </p:sp>
      <p:sp>
        <p:nvSpPr>
          <p:cNvPr id="11" name="Text 9"/>
          <p:cNvSpPr/>
          <p:nvPr/>
        </p:nvSpPr>
        <p:spPr>
          <a:xfrm>
            <a:off x="3246120" y="1655064"/>
            <a:ext cx="1234440" cy="274320"/>
          </a:xfrm>
          <a:prstGeom prst="rect">
            <a:avLst/>
          </a:prstGeom>
          <a:noFill/>
          <a:ln/>
        </p:spPr>
        <p:txBody>
          <a:bodyPr wrap="square" lIns="0" tIns="0" rIns="0" bIns="0" rtlCol="0" anchor="ctr"/>
          <a:lstStyle/>
          <a:p>
            <a:pPr marL="0" indent="0" algn="r">
              <a:buNone/>
            </a:pPr>
            <a:r>
              <a:rPr lang="en-US" sz="1000" dirty="0">
                <a:solidFill>
                  <a:srgbClr val="64748B"/>
                </a:solidFill>
                <a:latin typeface="Calibri" pitchFamily="34" charset="0"/>
                <a:ea typeface="Calibri" pitchFamily="34" charset="-122"/>
                <a:cs typeface="Calibri" pitchFamily="34" charset="-120"/>
              </a:rPr>
              <a:t>−5 each = −10</a:t>
            </a:r>
            <a:endParaRPr lang="en-US" sz="1000" dirty="0"/>
          </a:p>
        </p:txBody>
      </p:sp>
      <p:sp>
        <p:nvSpPr>
          <p:cNvPr id="12" name="Shape 10"/>
          <p:cNvSpPr/>
          <p:nvPr/>
        </p:nvSpPr>
        <p:spPr>
          <a:xfrm>
            <a:off x="548640" y="1920240"/>
            <a:ext cx="3931920" cy="10973"/>
          </a:xfrm>
          <a:prstGeom prst="rect">
            <a:avLst/>
          </a:prstGeom>
          <a:solidFill>
            <a:srgbClr val="D8DEE6"/>
          </a:solidFill>
          <a:ln w="12700">
            <a:solidFill>
              <a:srgbClr val="D8DEE6"/>
            </a:solidFill>
            <a:prstDash val="solid"/>
          </a:ln>
        </p:spPr>
        <p:txBody>
          <a:bodyPr/>
          <a:lstStyle/>
          <a:p>
            <a:endParaRPr lang="en-US"/>
          </a:p>
        </p:txBody>
      </p:sp>
      <p:sp>
        <p:nvSpPr>
          <p:cNvPr id="13" name="Text 11"/>
          <p:cNvSpPr/>
          <p:nvPr/>
        </p:nvSpPr>
        <p:spPr>
          <a:xfrm>
            <a:off x="548640" y="1956816"/>
            <a:ext cx="411480" cy="274320"/>
          </a:xfrm>
          <a:prstGeom prst="rect">
            <a:avLst/>
          </a:prstGeom>
          <a:noFill/>
          <a:ln/>
        </p:spPr>
        <p:txBody>
          <a:bodyPr wrap="square" lIns="0" tIns="0" rIns="0" bIns="0" rtlCol="0" anchor="ctr"/>
          <a:lstStyle/>
          <a:p>
            <a:pPr marL="0" indent="0">
              <a:buNone/>
            </a:pPr>
            <a:r>
              <a:rPr lang="en-US" sz="1100" b="1" dirty="0">
                <a:solidFill>
                  <a:srgbClr val="DC2626"/>
                </a:solidFill>
                <a:latin typeface="Calibri" pitchFamily="34" charset="0"/>
                <a:ea typeface="Calibri" pitchFamily="34" charset="-122"/>
                <a:cs typeface="Calibri" pitchFamily="34" charset="-120"/>
              </a:rPr>
              <a:t>2×</a:t>
            </a:r>
            <a:endParaRPr lang="en-US" sz="1100" dirty="0"/>
          </a:p>
        </p:txBody>
      </p:sp>
      <p:sp>
        <p:nvSpPr>
          <p:cNvPr id="14" name="Text 12"/>
          <p:cNvSpPr/>
          <p:nvPr/>
        </p:nvSpPr>
        <p:spPr>
          <a:xfrm>
            <a:off x="1005840" y="1956816"/>
            <a:ext cx="2240280" cy="27432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Wrong Cuts</a:t>
            </a:r>
            <a:endParaRPr lang="en-US" sz="1100" dirty="0"/>
          </a:p>
        </p:txBody>
      </p:sp>
      <p:sp>
        <p:nvSpPr>
          <p:cNvPr id="15" name="Text 13"/>
          <p:cNvSpPr/>
          <p:nvPr/>
        </p:nvSpPr>
        <p:spPr>
          <a:xfrm>
            <a:off x="3246120" y="1956816"/>
            <a:ext cx="1234440" cy="274320"/>
          </a:xfrm>
          <a:prstGeom prst="rect">
            <a:avLst/>
          </a:prstGeom>
          <a:noFill/>
          <a:ln/>
        </p:spPr>
        <p:txBody>
          <a:bodyPr wrap="square" lIns="0" tIns="0" rIns="0" bIns="0" rtlCol="0" anchor="ctr"/>
          <a:lstStyle/>
          <a:p>
            <a:pPr marL="0" indent="0" algn="r">
              <a:buNone/>
            </a:pPr>
            <a:r>
              <a:rPr lang="en-US" sz="1000" dirty="0">
                <a:solidFill>
                  <a:srgbClr val="64748B"/>
                </a:solidFill>
                <a:latin typeface="Calibri" pitchFamily="34" charset="0"/>
                <a:ea typeface="Calibri" pitchFamily="34" charset="-122"/>
                <a:cs typeface="Calibri" pitchFamily="34" charset="-120"/>
              </a:rPr>
              <a:t>−5 each = −10</a:t>
            </a:r>
            <a:endParaRPr lang="en-US" sz="1000" dirty="0"/>
          </a:p>
        </p:txBody>
      </p:sp>
      <p:sp>
        <p:nvSpPr>
          <p:cNvPr id="16" name="Shape 14"/>
          <p:cNvSpPr/>
          <p:nvPr/>
        </p:nvSpPr>
        <p:spPr>
          <a:xfrm>
            <a:off x="548640" y="2221992"/>
            <a:ext cx="3931920" cy="10973"/>
          </a:xfrm>
          <a:prstGeom prst="rect">
            <a:avLst/>
          </a:prstGeom>
          <a:solidFill>
            <a:srgbClr val="D8DEE6"/>
          </a:solidFill>
          <a:ln w="12700">
            <a:solidFill>
              <a:srgbClr val="D8DEE6"/>
            </a:solidFill>
            <a:prstDash val="solid"/>
          </a:ln>
        </p:spPr>
        <p:txBody>
          <a:bodyPr/>
          <a:lstStyle/>
          <a:p>
            <a:endParaRPr lang="en-US"/>
          </a:p>
        </p:txBody>
      </p:sp>
      <p:sp>
        <p:nvSpPr>
          <p:cNvPr id="17" name="Text 15"/>
          <p:cNvSpPr/>
          <p:nvPr/>
        </p:nvSpPr>
        <p:spPr>
          <a:xfrm>
            <a:off x="548640" y="2258568"/>
            <a:ext cx="411480" cy="274320"/>
          </a:xfrm>
          <a:prstGeom prst="rect">
            <a:avLst/>
          </a:prstGeom>
          <a:noFill/>
          <a:ln/>
        </p:spPr>
        <p:txBody>
          <a:bodyPr wrap="square" lIns="0" tIns="0" rIns="0" bIns="0" rtlCol="0" anchor="ctr"/>
          <a:lstStyle/>
          <a:p>
            <a:pPr marL="0" indent="0">
              <a:buNone/>
            </a:pPr>
            <a:r>
              <a:rPr lang="en-US" sz="1100" b="1" dirty="0">
                <a:solidFill>
                  <a:srgbClr val="DC2626"/>
                </a:solidFill>
                <a:latin typeface="Calibri" pitchFamily="34" charset="0"/>
                <a:ea typeface="Calibri" pitchFamily="34" charset="-122"/>
                <a:cs typeface="Calibri" pitchFamily="34" charset="-120"/>
              </a:rPr>
              <a:t>1×</a:t>
            </a:r>
            <a:endParaRPr lang="en-US" sz="1100" dirty="0"/>
          </a:p>
        </p:txBody>
      </p:sp>
      <p:sp>
        <p:nvSpPr>
          <p:cNvPr id="18" name="Text 16"/>
          <p:cNvSpPr/>
          <p:nvPr/>
        </p:nvSpPr>
        <p:spPr>
          <a:xfrm>
            <a:off x="1005840" y="2258568"/>
            <a:ext cx="2240280" cy="27432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Cyclic Dependency</a:t>
            </a:r>
            <a:endParaRPr lang="en-US" sz="1100" dirty="0"/>
          </a:p>
        </p:txBody>
      </p:sp>
      <p:sp>
        <p:nvSpPr>
          <p:cNvPr id="19" name="Text 17"/>
          <p:cNvSpPr/>
          <p:nvPr/>
        </p:nvSpPr>
        <p:spPr>
          <a:xfrm>
            <a:off x="3246120" y="2258568"/>
            <a:ext cx="1234440" cy="274320"/>
          </a:xfrm>
          <a:prstGeom prst="rect">
            <a:avLst/>
          </a:prstGeom>
          <a:noFill/>
          <a:ln/>
        </p:spPr>
        <p:txBody>
          <a:bodyPr wrap="square" lIns="0" tIns="0" rIns="0" bIns="0" rtlCol="0" anchor="ctr"/>
          <a:lstStyle/>
          <a:p>
            <a:pPr marL="0" indent="0" algn="r">
              <a:buNone/>
            </a:pPr>
            <a:r>
              <a:rPr lang="en-US" sz="1000" dirty="0">
                <a:solidFill>
                  <a:srgbClr val="64748B"/>
                </a:solidFill>
                <a:latin typeface="Calibri" pitchFamily="34" charset="0"/>
                <a:ea typeface="Calibri" pitchFamily="34" charset="-122"/>
                <a:cs typeface="Calibri" pitchFamily="34" charset="-120"/>
              </a:rPr>
              <a:t>−8</a:t>
            </a:r>
            <a:endParaRPr lang="en-US" sz="1000" dirty="0"/>
          </a:p>
        </p:txBody>
      </p:sp>
      <p:sp>
        <p:nvSpPr>
          <p:cNvPr id="20" name="Shape 18"/>
          <p:cNvSpPr/>
          <p:nvPr/>
        </p:nvSpPr>
        <p:spPr>
          <a:xfrm>
            <a:off x="548640" y="2523744"/>
            <a:ext cx="3931920" cy="10973"/>
          </a:xfrm>
          <a:prstGeom prst="rect">
            <a:avLst/>
          </a:prstGeom>
          <a:solidFill>
            <a:srgbClr val="D8DEE6"/>
          </a:solidFill>
          <a:ln w="12700">
            <a:solidFill>
              <a:srgbClr val="D8DEE6"/>
            </a:solidFill>
            <a:prstDash val="solid"/>
          </a:ln>
        </p:spPr>
        <p:txBody>
          <a:bodyPr/>
          <a:lstStyle/>
          <a:p>
            <a:endParaRPr lang="en-US"/>
          </a:p>
        </p:txBody>
      </p:sp>
      <p:sp>
        <p:nvSpPr>
          <p:cNvPr id="21" name="Text 19"/>
          <p:cNvSpPr/>
          <p:nvPr/>
        </p:nvSpPr>
        <p:spPr>
          <a:xfrm>
            <a:off x="548640" y="2560320"/>
            <a:ext cx="411480" cy="274320"/>
          </a:xfrm>
          <a:prstGeom prst="rect">
            <a:avLst/>
          </a:prstGeom>
          <a:noFill/>
          <a:ln/>
        </p:spPr>
        <p:txBody>
          <a:bodyPr wrap="square" lIns="0" tIns="0" rIns="0" bIns="0" rtlCol="0" anchor="ctr"/>
          <a:lstStyle/>
          <a:p>
            <a:pPr marL="0" indent="0">
              <a:buNone/>
            </a:pPr>
            <a:r>
              <a:rPr lang="en-US" sz="1100" b="1" dirty="0">
                <a:solidFill>
                  <a:srgbClr val="DC2626"/>
                </a:solidFill>
                <a:latin typeface="Calibri" pitchFamily="34" charset="0"/>
                <a:ea typeface="Calibri" pitchFamily="34" charset="-122"/>
                <a:cs typeface="Calibri" pitchFamily="34" charset="-120"/>
              </a:rPr>
              <a:t>1×</a:t>
            </a:r>
            <a:endParaRPr lang="en-US" sz="1100" dirty="0"/>
          </a:p>
        </p:txBody>
      </p:sp>
      <p:sp>
        <p:nvSpPr>
          <p:cNvPr id="22" name="Text 20"/>
          <p:cNvSpPr/>
          <p:nvPr/>
        </p:nvSpPr>
        <p:spPr>
          <a:xfrm>
            <a:off x="1005840" y="2560320"/>
            <a:ext cx="2240280" cy="27432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Hardcoded Endpoints</a:t>
            </a:r>
            <a:endParaRPr lang="en-US" sz="1100" dirty="0"/>
          </a:p>
        </p:txBody>
      </p:sp>
      <p:sp>
        <p:nvSpPr>
          <p:cNvPr id="23" name="Text 21"/>
          <p:cNvSpPr/>
          <p:nvPr/>
        </p:nvSpPr>
        <p:spPr>
          <a:xfrm>
            <a:off x="3246120" y="2560320"/>
            <a:ext cx="1234440" cy="274320"/>
          </a:xfrm>
          <a:prstGeom prst="rect">
            <a:avLst/>
          </a:prstGeom>
          <a:noFill/>
          <a:ln/>
        </p:spPr>
        <p:txBody>
          <a:bodyPr wrap="square" lIns="0" tIns="0" rIns="0" bIns="0" rtlCol="0" anchor="ctr"/>
          <a:lstStyle/>
          <a:p>
            <a:pPr marL="0" indent="0" algn="r">
              <a:buNone/>
            </a:pPr>
            <a:r>
              <a:rPr lang="en-US" sz="1000" dirty="0">
                <a:solidFill>
                  <a:srgbClr val="64748B"/>
                </a:solidFill>
                <a:latin typeface="Calibri" pitchFamily="34" charset="0"/>
                <a:ea typeface="Calibri" pitchFamily="34" charset="-122"/>
                <a:cs typeface="Calibri" pitchFamily="34" charset="-120"/>
              </a:rPr>
              <a:t>−3</a:t>
            </a:r>
            <a:endParaRPr lang="en-US" sz="1000" dirty="0"/>
          </a:p>
        </p:txBody>
      </p:sp>
      <p:sp>
        <p:nvSpPr>
          <p:cNvPr id="24" name="Shape 22"/>
          <p:cNvSpPr/>
          <p:nvPr/>
        </p:nvSpPr>
        <p:spPr>
          <a:xfrm>
            <a:off x="548640" y="2825496"/>
            <a:ext cx="3931920" cy="10973"/>
          </a:xfrm>
          <a:prstGeom prst="rect">
            <a:avLst/>
          </a:prstGeom>
          <a:solidFill>
            <a:srgbClr val="D8DEE6"/>
          </a:solidFill>
          <a:ln w="12700">
            <a:solidFill>
              <a:srgbClr val="D8DEE6"/>
            </a:solidFill>
            <a:prstDash val="solid"/>
          </a:ln>
        </p:spPr>
        <p:txBody>
          <a:bodyPr/>
          <a:lstStyle/>
          <a:p>
            <a:endParaRPr lang="en-US"/>
          </a:p>
        </p:txBody>
      </p:sp>
      <p:sp>
        <p:nvSpPr>
          <p:cNvPr id="25" name="Text 23"/>
          <p:cNvSpPr/>
          <p:nvPr/>
        </p:nvSpPr>
        <p:spPr>
          <a:xfrm>
            <a:off x="548640" y="2944368"/>
            <a:ext cx="3931920" cy="292608"/>
          </a:xfrm>
          <a:prstGeom prst="rect">
            <a:avLst/>
          </a:prstGeom>
          <a:noFill/>
          <a:ln/>
        </p:spPr>
        <p:txBody>
          <a:bodyPr wrap="square" lIns="0" tIns="0" rIns="0" bIns="0" rtlCol="0" anchor="ctr"/>
          <a:lstStyle/>
          <a:p>
            <a:pPr marL="0" indent="0">
              <a:buNone/>
            </a:pPr>
            <a:r>
              <a:rPr lang="en-US" sz="1150" b="1" dirty="0">
                <a:solidFill>
                  <a:srgbClr val="0F2A44"/>
                </a:solidFill>
                <a:latin typeface="Calibri" pitchFamily="34" charset="0"/>
                <a:ea typeface="Calibri" pitchFamily="34" charset="-122"/>
                <a:cs typeface="Calibri" pitchFamily="34" charset="-120"/>
              </a:rPr>
              <a:t>Total penalty 49  →  category clamps at 0 / 40</a:t>
            </a:r>
            <a:endParaRPr lang="en-US" sz="1150" dirty="0"/>
          </a:p>
        </p:txBody>
      </p:sp>
      <p:sp>
        <p:nvSpPr>
          <p:cNvPr id="26" name="Text 24"/>
          <p:cNvSpPr/>
          <p:nvPr/>
        </p:nvSpPr>
        <p:spPr>
          <a:xfrm>
            <a:off x="548640" y="3429000"/>
            <a:ext cx="3931920" cy="1097280"/>
          </a:xfrm>
          <a:prstGeom prst="rect">
            <a:avLst/>
          </a:prstGeom>
          <a:noFill/>
          <a:ln/>
        </p:spPr>
        <p:txBody>
          <a:bodyPr wrap="square" lIns="0" tIns="0" rIns="0" bIns="0" rtlCol="0" anchor="ctr"/>
          <a:lstStyle/>
          <a:p>
            <a:pPr marL="0" indent="0">
              <a:buNone/>
            </a:pPr>
            <a:r>
              <a:rPr lang="en-US" sz="1000" i="1" dirty="0">
                <a:solidFill>
                  <a:srgbClr val="64748B"/>
                </a:solidFill>
                <a:latin typeface="Calibri" pitchFamily="34" charset="0"/>
                <a:ea typeface="Calibri" pitchFamily="34" charset="-122"/>
                <a:cs typeface="Calibri" pitchFamily="34" charset="-120"/>
              </a:rPr>
              <a:t>Deductions spread across all four categories: </a:t>
            </a:r>
          </a:p>
          <a:p>
            <a:pPr marL="171450" indent="-171450">
              <a:buFont typeface="Arial" panose="020B0604020202020204" pitchFamily="34" charset="0"/>
              <a:buChar char="•"/>
            </a:pPr>
            <a:r>
              <a:rPr lang="en-US" sz="1000" i="1" dirty="0">
                <a:solidFill>
                  <a:srgbClr val="64748B"/>
                </a:solidFill>
                <a:latin typeface="Calibri" pitchFamily="34" charset="0"/>
                <a:ea typeface="Calibri" pitchFamily="34" charset="-122"/>
                <a:cs typeface="Calibri" pitchFamily="34" charset="-120"/>
              </a:rPr>
              <a:t>Anti-pattern load clamps AP to 0</a:t>
            </a:r>
          </a:p>
          <a:p>
            <a:pPr marL="171450" indent="-171450">
              <a:buFont typeface="Arial" panose="020B0604020202020204" pitchFamily="34" charset="0"/>
              <a:buChar char="•"/>
            </a:pPr>
            <a:r>
              <a:rPr lang="en-US" sz="1000" i="1" dirty="0">
                <a:solidFill>
                  <a:srgbClr val="64748B"/>
                </a:solidFill>
                <a:latin typeface="Calibri" pitchFamily="34" charset="0"/>
                <a:ea typeface="Calibri" pitchFamily="34" charset="-122"/>
                <a:cs typeface="Calibri" pitchFamily="34" charset="-120"/>
              </a:rPr>
              <a:t>Architecture loses 9 to dependency-graph coupling</a:t>
            </a:r>
          </a:p>
          <a:p>
            <a:pPr marL="171450" indent="-171450">
              <a:buFont typeface="Arial" panose="020B0604020202020204" pitchFamily="34" charset="0"/>
              <a:buChar char="•"/>
            </a:pPr>
            <a:r>
              <a:rPr lang="en-US" sz="1000" i="1" dirty="0">
                <a:solidFill>
                  <a:srgbClr val="64748B"/>
                </a:solidFill>
                <a:latin typeface="Calibri" pitchFamily="34" charset="0"/>
                <a:ea typeface="Calibri" pitchFamily="34" charset="-122"/>
                <a:cs typeface="Calibri" pitchFamily="34" charset="-120"/>
              </a:rPr>
              <a:t>Code Quality 8 to smell density</a:t>
            </a:r>
          </a:p>
          <a:p>
            <a:pPr marL="171450" indent="-171450">
              <a:buFont typeface="Arial" panose="020B0604020202020204" pitchFamily="34" charset="0"/>
              <a:buChar char="•"/>
            </a:pPr>
            <a:r>
              <a:rPr lang="en-US" sz="1000" i="1" dirty="0">
                <a:solidFill>
                  <a:srgbClr val="64748B"/>
                </a:solidFill>
                <a:latin typeface="Calibri" pitchFamily="34" charset="0"/>
                <a:ea typeface="Calibri" pitchFamily="34" charset="-122"/>
                <a:cs typeface="Calibri" pitchFamily="34" charset="-120"/>
              </a:rPr>
              <a:t>Service Sizing 3 to one nano service</a:t>
            </a:r>
            <a:endParaRPr lang="en-US" sz="1000" dirty="0"/>
          </a:p>
        </p:txBody>
      </p:sp>
      <p:sp>
        <p:nvSpPr>
          <p:cNvPr id="27" name="Text 25"/>
          <p:cNvSpPr/>
          <p:nvPr/>
        </p:nvSpPr>
        <p:spPr>
          <a:xfrm>
            <a:off x="4937760" y="987552"/>
            <a:ext cx="3657600" cy="292608"/>
          </a:xfrm>
          <a:prstGeom prst="rect">
            <a:avLst/>
          </a:prstGeom>
          <a:noFill/>
          <a:ln/>
        </p:spPr>
        <p:txBody>
          <a:bodyPr wrap="square" lIns="0" tIns="0" rIns="0" bIns="0" rtlCol="0" anchor="ctr"/>
          <a:lstStyle/>
          <a:p>
            <a:pPr marL="0" indent="0">
              <a:buNone/>
            </a:pPr>
            <a:r>
              <a:rPr lang="en-US" sz="1300" b="1" dirty="0">
                <a:solidFill>
                  <a:srgbClr val="0F2A44"/>
                </a:solidFill>
                <a:latin typeface="Calibri" pitchFamily="34" charset="0"/>
                <a:ea typeface="Calibri" pitchFamily="34" charset="-122"/>
                <a:cs typeface="Calibri" pitchFamily="34" charset="-120"/>
              </a:rPr>
              <a:t>Category contributions</a:t>
            </a:r>
            <a:endParaRPr lang="en-US" sz="1300" dirty="0"/>
          </a:p>
        </p:txBody>
      </p:sp>
      <p:sp>
        <p:nvSpPr>
          <p:cNvPr id="28" name="Text 26"/>
          <p:cNvSpPr/>
          <p:nvPr/>
        </p:nvSpPr>
        <p:spPr>
          <a:xfrm>
            <a:off x="4937760" y="1353312"/>
            <a:ext cx="1280160" cy="292608"/>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Anti-Patterns</a:t>
            </a:r>
            <a:endParaRPr lang="en-US" sz="1050" dirty="0"/>
          </a:p>
        </p:txBody>
      </p:sp>
      <p:sp>
        <p:nvSpPr>
          <p:cNvPr id="29" name="Shape 27"/>
          <p:cNvSpPr/>
          <p:nvPr/>
        </p:nvSpPr>
        <p:spPr>
          <a:xfrm>
            <a:off x="6263640" y="1389888"/>
            <a:ext cx="1691640" cy="219456"/>
          </a:xfrm>
          <a:prstGeom prst="rect">
            <a:avLst/>
          </a:prstGeom>
          <a:solidFill>
            <a:srgbClr val="D8DEE6"/>
          </a:solidFill>
          <a:ln w="12700">
            <a:solidFill>
              <a:srgbClr val="D8DEE6"/>
            </a:solidFill>
            <a:prstDash val="solid"/>
          </a:ln>
        </p:spPr>
        <p:txBody>
          <a:bodyPr/>
          <a:lstStyle/>
          <a:p>
            <a:endParaRPr lang="en-US"/>
          </a:p>
        </p:txBody>
      </p:sp>
      <p:sp>
        <p:nvSpPr>
          <p:cNvPr id="30" name="Text 28"/>
          <p:cNvSpPr/>
          <p:nvPr/>
        </p:nvSpPr>
        <p:spPr>
          <a:xfrm>
            <a:off x="8028432" y="1353312"/>
            <a:ext cx="566928" cy="292608"/>
          </a:xfrm>
          <a:prstGeom prst="rect">
            <a:avLst/>
          </a:prstGeom>
          <a:noFill/>
          <a:ln/>
        </p:spPr>
        <p:txBody>
          <a:bodyPr wrap="square" lIns="0" tIns="0" rIns="0" bIns="0" rtlCol="0" anchor="ctr"/>
          <a:lstStyle/>
          <a:p>
            <a:pPr marL="0" indent="0">
              <a:buNone/>
            </a:pPr>
            <a:r>
              <a:rPr lang="en-US" sz="1000" dirty="0">
                <a:solidFill>
                  <a:srgbClr val="64748B"/>
                </a:solidFill>
                <a:latin typeface="Calibri" pitchFamily="34" charset="0"/>
                <a:ea typeface="Calibri" pitchFamily="34" charset="-122"/>
                <a:cs typeface="Calibri" pitchFamily="34" charset="-120"/>
              </a:rPr>
              <a:t>0 / 40</a:t>
            </a:r>
            <a:endParaRPr lang="en-US" sz="1000" dirty="0"/>
          </a:p>
        </p:txBody>
      </p:sp>
      <p:sp>
        <p:nvSpPr>
          <p:cNvPr id="31" name="Text 29"/>
          <p:cNvSpPr/>
          <p:nvPr/>
        </p:nvSpPr>
        <p:spPr>
          <a:xfrm>
            <a:off x="4937760" y="1810512"/>
            <a:ext cx="1280160" cy="292608"/>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Code Quality</a:t>
            </a:r>
            <a:endParaRPr lang="en-US" sz="1050" dirty="0"/>
          </a:p>
        </p:txBody>
      </p:sp>
      <p:sp>
        <p:nvSpPr>
          <p:cNvPr id="32" name="Shape 30"/>
          <p:cNvSpPr/>
          <p:nvPr/>
        </p:nvSpPr>
        <p:spPr>
          <a:xfrm>
            <a:off x="6263640" y="1847088"/>
            <a:ext cx="1691640" cy="219456"/>
          </a:xfrm>
          <a:prstGeom prst="rect">
            <a:avLst/>
          </a:prstGeom>
          <a:solidFill>
            <a:srgbClr val="D8DEE6"/>
          </a:solidFill>
          <a:ln w="12700">
            <a:solidFill>
              <a:srgbClr val="D8DEE6"/>
            </a:solidFill>
            <a:prstDash val="solid"/>
          </a:ln>
        </p:spPr>
        <p:txBody>
          <a:bodyPr/>
          <a:lstStyle/>
          <a:p>
            <a:endParaRPr lang="en-US"/>
          </a:p>
        </p:txBody>
      </p:sp>
      <p:sp>
        <p:nvSpPr>
          <p:cNvPr id="33" name="Shape 31"/>
          <p:cNvSpPr/>
          <p:nvPr/>
        </p:nvSpPr>
        <p:spPr>
          <a:xfrm>
            <a:off x="6263640" y="1847088"/>
            <a:ext cx="1014984" cy="219456"/>
          </a:xfrm>
          <a:prstGeom prst="rect">
            <a:avLst/>
          </a:prstGeom>
          <a:solidFill>
            <a:srgbClr val="D97706"/>
          </a:solidFill>
          <a:ln w="12700">
            <a:solidFill>
              <a:srgbClr val="D97706"/>
            </a:solidFill>
            <a:prstDash val="solid"/>
          </a:ln>
        </p:spPr>
        <p:txBody>
          <a:bodyPr/>
          <a:lstStyle/>
          <a:p>
            <a:endParaRPr lang="en-US"/>
          </a:p>
        </p:txBody>
      </p:sp>
      <p:sp>
        <p:nvSpPr>
          <p:cNvPr id="34" name="Text 32"/>
          <p:cNvSpPr/>
          <p:nvPr/>
        </p:nvSpPr>
        <p:spPr>
          <a:xfrm>
            <a:off x="8028432" y="1810512"/>
            <a:ext cx="566928" cy="292608"/>
          </a:xfrm>
          <a:prstGeom prst="rect">
            <a:avLst/>
          </a:prstGeom>
          <a:noFill/>
          <a:ln/>
        </p:spPr>
        <p:txBody>
          <a:bodyPr wrap="square" lIns="0" tIns="0" rIns="0" bIns="0" rtlCol="0" anchor="ctr"/>
          <a:lstStyle/>
          <a:p>
            <a:pPr marL="0" indent="0">
              <a:buNone/>
            </a:pPr>
            <a:r>
              <a:rPr lang="en-US" sz="1000" dirty="0">
                <a:solidFill>
                  <a:srgbClr val="64748B"/>
                </a:solidFill>
                <a:latin typeface="Calibri" pitchFamily="34" charset="0"/>
                <a:ea typeface="Calibri" pitchFamily="34" charset="-122"/>
                <a:cs typeface="Calibri" pitchFamily="34" charset="-120"/>
              </a:rPr>
              <a:t>12 / 20</a:t>
            </a:r>
            <a:endParaRPr lang="en-US" sz="1000" dirty="0"/>
          </a:p>
        </p:txBody>
      </p:sp>
      <p:sp>
        <p:nvSpPr>
          <p:cNvPr id="35" name="Text 33"/>
          <p:cNvSpPr/>
          <p:nvPr/>
        </p:nvSpPr>
        <p:spPr>
          <a:xfrm>
            <a:off x="4937760" y="2267712"/>
            <a:ext cx="1280160" cy="292608"/>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Architecture</a:t>
            </a:r>
            <a:endParaRPr lang="en-US" sz="1050" dirty="0"/>
          </a:p>
        </p:txBody>
      </p:sp>
      <p:sp>
        <p:nvSpPr>
          <p:cNvPr id="36" name="Shape 34"/>
          <p:cNvSpPr/>
          <p:nvPr/>
        </p:nvSpPr>
        <p:spPr>
          <a:xfrm>
            <a:off x="6263640" y="2304288"/>
            <a:ext cx="1691640" cy="219456"/>
          </a:xfrm>
          <a:prstGeom prst="rect">
            <a:avLst/>
          </a:prstGeom>
          <a:solidFill>
            <a:srgbClr val="D8DEE6"/>
          </a:solidFill>
          <a:ln w="12700">
            <a:solidFill>
              <a:srgbClr val="D8DEE6"/>
            </a:solidFill>
            <a:prstDash val="solid"/>
          </a:ln>
        </p:spPr>
        <p:txBody>
          <a:bodyPr/>
          <a:lstStyle/>
          <a:p>
            <a:endParaRPr lang="en-US"/>
          </a:p>
        </p:txBody>
      </p:sp>
      <p:sp>
        <p:nvSpPr>
          <p:cNvPr id="37" name="Shape 35"/>
          <p:cNvSpPr/>
          <p:nvPr/>
        </p:nvSpPr>
        <p:spPr>
          <a:xfrm>
            <a:off x="6263640" y="2304288"/>
            <a:ext cx="1082650" cy="219456"/>
          </a:xfrm>
          <a:prstGeom prst="rect">
            <a:avLst/>
          </a:prstGeom>
          <a:solidFill>
            <a:srgbClr val="1C4E80"/>
          </a:solidFill>
          <a:ln w="12700">
            <a:solidFill>
              <a:srgbClr val="1C4E80"/>
            </a:solidFill>
            <a:prstDash val="solid"/>
          </a:ln>
        </p:spPr>
        <p:txBody>
          <a:bodyPr/>
          <a:lstStyle/>
          <a:p>
            <a:endParaRPr lang="en-US"/>
          </a:p>
        </p:txBody>
      </p:sp>
      <p:sp>
        <p:nvSpPr>
          <p:cNvPr id="38" name="Text 36"/>
          <p:cNvSpPr/>
          <p:nvPr/>
        </p:nvSpPr>
        <p:spPr>
          <a:xfrm>
            <a:off x="8028432" y="2267712"/>
            <a:ext cx="566928" cy="292608"/>
          </a:xfrm>
          <a:prstGeom prst="rect">
            <a:avLst/>
          </a:prstGeom>
          <a:noFill/>
          <a:ln/>
        </p:spPr>
        <p:txBody>
          <a:bodyPr wrap="square" lIns="0" tIns="0" rIns="0" bIns="0" rtlCol="0" anchor="ctr"/>
          <a:lstStyle/>
          <a:p>
            <a:pPr marL="0" indent="0">
              <a:buNone/>
            </a:pPr>
            <a:r>
              <a:rPr lang="en-US" sz="1000" dirty="0">
                <a:solidFill>
                  <a:srgbClr val="64748B"/>
                </a:solidFill>
                <a:latin typeface="Calibri" pitchFamily="34" charset="0"/>
                <a:ea typeface="Calibri" pitchFamily="34" charset="-122"/>
                <a:cs typeface="Calibri" pitchFamily="34" charset="-120"/>
              </a:rPr>
              <a:t>16 / 25</a:t>
            </a:r>
            <a:endParaRPr lang="en-US" sz="1000" dirty="0"/>
          </a:p>
        </p:txBody>
      </p:sp>
      <p:sp>
        <p:nvSpPr>
          <p:cNvPr id="39" name="Text 37"/>
          <p:cNvSpPr/>
          <p:nvPr/>
        </p:nvSpPr>
        <p:spPr>
          <a:xfrm>
            <a:off x="4937760" y="2724912"/>
            <a:ext cx="1280160" cy="292608"/>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Service Sizing</a:t>
            </a:r>
            <a:endParaRPr lang="en-US" sz="1050" dirty="0"/>
          </a:p>
        </p:txBody>
      </p:sp>
      <p:sp>
        <p:nvSpPr>
          <p:cNvPr id="40" name="Shape 38"/>
          <p:cNvSpPr/>
          <p:nvPr/>
        </p:nvSpPr>
        <p:spPr>
          <a:xfrm>
            <a:off x="6263640" y="2761488"/>
            <a:ext cx="1691640" cy="219456"/>
          </a:xfrm>
          <a:prstGeom prst="rect">
            <a:avLst/>
          </a:prstGeom>
          <a:solidFill>
            <a:srgbClr val="D8DEE6"/>
          </a:solidFill>
          <a:ln w="12700">
            <a:solidFill>
              <a:srgbClr val="D8DEE6"/>
            </a:solidFill>
            <a:prstDash val="solid"/>
          </a:ln>
        </p:spPr>
        <p:txBody>
          <a:bodyPr/>
          <a:lstStyle/>
          <a:p>
            <a:endParaRPr lang="en-US"/>
          </a:p>
        </p:txBody>
      </p:sp>
      <p:sp>
        <p:nvSpPr>
          <p:cNvPr id="41" name="Shape 39"/>
          <p:cNvSpPr/>
          <p:nvPr/>
        </p:nvSpPr>
        <p:spPr>
          <a:xfrm>
            <a:off x="6263640" y="2761488"/>
            <a:ext cx="1353312" cy="219456"/>
          </a:xfrm>
          <a:prstGeom prst="rect">
            <a:avLst/>
          </a:prstGeom>
          <a:solidFill>
            <a:srgbClr val="0D9488"/>
          </a:solidFill>
          <a:ln w="12700">
            <a:solidFill>
              <a:srgbClr val="0D9488"/>
            </a:solidFill>
            <a:prstDash val="solid"/>
          </a:ln>
        </p:spPr>
        <p:txBody>
          <a:bodyPr/>
          <a:lstStyle/>
          <a:p>
            <a:endParaRPr lang="en-US"/>
          </a:p>
        </p:txBody>
      </p:sp>
      <p:sp>
        <p:nvSpPr>
          <p:cNvPr id="42" name="Text 40"/>
          <p:cNvSpPr/>
          <p:nvPr/>
        </p:nvSpPr>
        <p:spPr>
          <a:xfrm>
            <a:off x="8028432" y="2724912"/>
            <a:ext cx="566928" cy="292608"/>
          </a:xfrm>
          <a:prstGeom prst="rect">
            <a:avLst/>
          </a:prstGeom>
          <a:noFill/>
          <a:ln/>
        </p:spPr>
        <p:txBody>
          <a:bodyPr wrap="square" lIns="0" tIns="0" rIns="0" bIns="0" rtlCol="0" anchor="ctr"/>
          <a:lstStyle/>
          <a:p>
            <a:pPr marL="0" indent="0">
              <a:buNone/>
            </a:pPr>
            <a:r>
              <a:rPr lang="en-US" sz="1000" dirty="0">
                <a:solidFill>
                  <a:srgbClr val="64748B"/>
                </a:solidFill>
                <a:latin typeface="Calibri" pitchFamily="34" charset="0"/>
                <a:ea typeface="Calibri" pitchFamily="34" charset="-122"/>
                <a:cs typeface="Calibri" pitchFamily="34" charset="-120"/>
              </a:rPr>
              <a:t>12 / 15</a:t>
            </a:r>
            <a:endParaRPr lang="en-US" sz="1000" dirty="0"/>
          </a:p>
        </p:txBody>
      </p:sp>
      <p:sp>
        <p:nvSpPr>
          <p:cNvPr id="43" name="Text 41"/>
          <p:cNvSpPr/>
          <p:nvPr/>
        </p:nvSpPr>
        <p:spPr>
          <a:xfrm>
            <a:off x="4937760" y="3429000"/>
            <a:ext cx="3657600" cy="777240"/>
          </a:xfrm>
          <a:prstGeom prst="rect">
            <a:avLst/>
          </a:prstGeom>
          <a:noFill/>
          <a:ln/>
        </p:spPr>
        <p:txBody>
          <a:bodyPr wrap="square" lIns="0" tIns="0" rIns="0" bIns="0" rtlCol="0" anchor="ctr"/>
          <a:lstStyle/>
          <a:p>
            <a:pPr marL="0" indent="0">
              <a:buNone/>
            </a:pPr>
            <a:r>
              <a:rPr lang="en-US" sz="4000" b="1" dirty="0">
                <a:solidFill>
                  <a:srgbClr val="DC2626"/>
                </a:solidFill>
                <a:latin typeface="Calibri" pitchFamily="34" charset="0"/>
                <a:ea typeface="Calibri" pitchFamily="34" charset="-122"/>
                <a:cs typeface="Calibri" pitchFamily="34" charset="-120"/>
              </a:rPr>
              <a:t>40</a:t>
            </a:r>
            <a:r>
              <a:rPr lang="en-US" sz="1400" b="1" dirty="0">
                <a:solidFill>
                  <a:srgbClr val="0F2A44"/>
                </a:solidFill>
                <a:latin typeface="Calibri" pitchFamily="34" charset="0"/>
                <a:ea typeface="Calibri" pitchFamily="34" charset="-122"/>
                <a:cs typeface="Calibri" pitchFamily="34" charset="-120"/>
              </a:rPr>
              <a:t>  / 100  ·  Grade F</a:t>
            </a:r>
            <a:endParaRPr lang="en-US" sz="4000" dirty="0"/>
          </a:p>
        </p:txBody>
      </p:sp>
      <p:sp>
        <p:nvSpPr>
          <p:cNvPr id="45" name="Text 43"/>
          <p:cNvSpPr/>
          <p:nvPr/>
        </p:nvSpPr>
        <p:spPr>
          <a:xfrm>
            <a:off x="7955280" y="4864608"/>
            <a:ext cx="640080" cy="22860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Appendix A</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50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Annex: comparison with existing tools</a:t>
            </a:r>
            <a:endParaRPr kumimoji="0" lang="en-US" sz="2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sp>
      <p:sp>
        <p:nvSpPr>
          <p:cNvPr id="4" name="Text 2"/>
          <p:cNvSpPr/>
          <p:nvPr/>
        </p:nvSpPr>
        <p:spPr>
          <a:xfrm>
            <a:off x="548640" y="1024128"/>
            <a:ext cx="1143000" cy="21945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80" b="1" i="0" u="none" strike="noStrike" kern="0" cap="none" spc="110" normalizeH="0" baseline="0" noProof="0" dirty="0">
                <a:ln>
                  <a:noFill/>
                </a:ln>
                <a:solidFill>
                  <a:srgbClr val="0F2A44"/>
                </a:solidFill>
                <a:effectLst/>
                <a:uLnTx/>
                <a:uFillTx/>
                <a:latin typeface="Calibri" pitchFamily="34" charset="0"/>
                <a:ea typeface="Calibri" pitchFamily="34" charset="-122"/>
                <a:cs typeface="Calibri" pitchFamily="34" charset="-120"/>
              </a:rPr>
              <a:t>TOOL</a:t>
            </a:r>
            <a:endParaRPr kumimoji="0" lang="en-US" sz="78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Text 3"/>
          <p:cNvSpPr/>
          <p:nvPr/>
        </p:nvSpPr>
        <p:spPr>
          <a:xfrm>
            <a:off x="1645920" y="1024128"/>
            <a:ext cx="1645920" cy="21945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80" b="1" i="0" u="none" strike="noStrike" kern="0" cap="none" spc="110" normalizeH="0" baseline="0" noProof="0" dirty="0">
                <a:ln>
                  <a:noFill/>
                </a:ln>
                <a:solidFill>
                  <a:srgbClr val="0F2A44"/>
                </a:solidFill>
                <a:effectLst/>
                <a:uLnTx/>
                <a:uFillTx/>
                <a:latin typeface="Calibri" pitchFamily="34" charset="0"/>
                <a:ea typeface="Calibri" pitchFamily="34" charset="-122"/>
                <a:cs typeface="Calibri" pitchFamily="34" charset="-120"/>
              </a:rPr>
              <a:t>FOCUS</a:t>
            </a:r>
            <a:endParaRPr kumimoji="0" lang="en-US" sz="78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Text 4"/>
          <p:cNvSpPr/>
          <p:nvPr/>
        </p:nvSpPr>
        <p:spPr>
          <a:xfrm>
            <a:off x="3429000" y="1024128"/>
            <a:ext cx="2423160" cy="21945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80" b="1" i="0" u="none" strike="noStrike" kern="0" cap="none" spc="110" normalizeH="0" baseline="0" noProof="0" dirty="0">
                <a:ln>
                  <a:noFill/>
                </a:ln>
                <a:solidFill>
                  <a:srgbClr val="0F2A44"/>
                </a:solidFill>
                <a:effectLst/>
                <a:uLnTx/>
                <a:uFillTx/>
                <a:latin typeface="Calibri" pitchFamily="34" charset="0"/>
                <a:ea typeface="Calibri" pitchFamily="34" charset="-122"/>
                <a:cs typeface="Calibri" pitchFamily="34" charset="-120"/>
              </a:rPr>
              <a:t>STRENGTH</a:t>
            </a:r>
            <a:endParaRPr kumimoji="0" lang="en-US" sz="78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Text 5"/>
          <p:cNvSpPr/>
          <p:nvPr/>
        </p:nvSpPr>
        <p:spPr>
          <a:xfrm>
            <a:off x="5989320" y="1024128"/>
            <a:ext cx="2606040" cy="21945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80" b="1" i="0" u="none" strike="noStrike" kern="0" cap="none" spc="110" normalizeH="0" baseline="0" noProof="0" dirty="0">
                <a:ln>
                  <a:noFill/>
                </a:ln>
                <a:solidFill>
                  <a:srgbClr val="0F2A44"/>
                </a:solidFill>
                <a:effectLst/>
                <a:uLnTx/>
                <a:uFillTx/>
                <a:latin typeface="Calibri" pitchFamily="34" charset="0"/>
                <a:ea typeface="Calibri" pitchFamily="34" charset="-122"/>
                <a:cs typeface="Calibri" pitchFamily="34" charset="-120"/>
              </a:rPr>
              <a:t>DIFFERENCE / LIMITATION</a:t>
            </a:r>
            <a:endParaRPr kumimoji="0" lang="en-US" sz="78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 name="Shape 6"/>
          <p:cNvSpPr/>
          <p:nvPr/>
        </p:nvSpPr>
        <p:spPr>
          <a:xfrm>
            <a:off x="548640" y="1298448"/>
            <a:ext cx="8046720" cy="13716"/>
          </a:xfrm>
          <a:prstGeom prst="rect">
            <a:avLst/>
          </a:prstGeom>
          <a:solidFill>
            <a:srgbClr val="D8DEE6"/>
          </a:solidFill>
          <a:ln w="12700">
            <a:solidFill>
              <a:srgbClr val="D8DEE6"/>
            </a:solidFill>
            <a:prstDash val="solid"/>
          </a:ln>
        </p:spPr>
      </p:sp>
      <p:sp>
        <p:nvSpPr>
          <p:cNvPr id="9" name="Text 7"/>
          <p:cNvSpPr/>
          <p:nvPr/>
        </p:nvSpPr>
        <p:spPr>
          <a:xfrm>
            <a:off x="548640" y="1463040"/>
            <a:ext cx="1143000" cy="384048"/>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50" b="1"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Arcan</a:t>
            </a:r>
            <a:endParaRPr kumimoji="0" lang="en-US" sz="9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1645920" y="1463040"/>
            <a:ext cx="1645920" cy="384048"/>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2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Architectural smells</a:t>
            </a:r>
            <a:endParaRPr kumimoji="0" lang="en-US" sz="82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Text 9"/>
          <p:cNvSpPr/>
          <p:nvPr/>
        </p:nvSpPr>
        <p:spPr>
          <a:xfrm>
            <a:off x="3429000" y="1463040"/>
            <a:ext cx="2423160" cy="384048"/>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2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Strong smell detection</a:t>
            </a:r>
            <a:endParaRPr kumimoji="0" lang="en-US" sz="82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2" name="Text 10"/>
          <p:cNvSpPr/>
          <p:nvPr/>
        </p:nvSpPr>
        <p:spPr>
          <a:xfrm>
            <a:off x="5989320" y="1463040"/>
            <a:ext cx="2606040" cy="384048"/>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2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Not focused on evidence-based microservice workflow</a:t>
            </a:r>
            <a:endParaRPr kumimoji="0" lang="en-US" sz="82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3" name="Shape 11"/>
          <p:cNvSpPr/>
          <p:nvPr/>
        </p:nvSpPr>
        <p:spPr>
          <a:xfrm>
            <a:off x="548640" y="1920240"/>
            <a:ext cx="8046720" cy="7315"/>
          </a:xfrm>
          <a:prstGeom prst="rect">
            <a:avLst/>
          </a:prstGeom>
          <a:solidFill>
            <a:srgbClr val="D8DEE6"/>
          </a:solidFill>
          <a:ln w="12700">
            <a:solidFill>
              <a:srgbClr val="D8DEE6"/>
            </a:solidFill>
            <a:prstDash val="solid"/>
          </a:ln>
        </p:spPr>
      </p:sp>
      <p:sp>
        <p:nvSpPr>
          <p:cNvPr id="14" name="Text 12"/>
          <p:cNvSpPr/>
          <p:nvPr/>
        </p:nvSpPr>
        <p:spPr>
          <a:xfrm>
            <a:off x="548640" y="2057400"/>
            <a:ext cx="1143000" cy="384048"/>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50" b="1"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MicroART</a:t>
            </a:r>
            <a:endParaRPr kumimoji="0" lang="en-US" sz="9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Text 13"/>
          <p:cNvSpPr/>
          <p:nvPr/>
        </p:nvSpPr>
        <p:spPr>
          <a:xfrm>
            <a:off x="1645920" y="2057400"/>
            <a:ext cx="1645920" cy="384048"/>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2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Architecture recovery</a:t>
            </a:r>
            <a:endParaRPr kumimoji="0" lang="en-US" sz="82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Text 14"/>
          <p:cNvSpPr/>
          <p:nvPr/>
        </p:nvSpPr>
        <p:spPr>
          <a:xfrm>
            <a:off x="3429000" y="2057400"/>
            <a:ext cx="2423160" cy="384048"/>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2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Useful system visualisation</a:t>
            </a:r>
            <a:endParaRPr kumimoji="0" lang="en-US" sz="82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Text 15"/>
          <p:cNvSpPr/>
          <p:nvPr/>
        </p:nvSpPr>
        <p:spPr>
          <a:xfrm>
            <a:off x="5989320" y="2057400"/>
            <a:ext cx="2606040" cy="384048"/>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2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Requires project metadata; not a detector/reporting workflow</a:t>
            </a:r>
            <a:endParaRPr kumimoji="0" lang="en-US" sz="82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8" name="Shape 16"/>
          <p:cNvSpPr/>
          <p:nvPr/>
        </p:nvSpPr>
        <p:spPr>
          <a:xfrm>
            <a:off x="548640" y="2514600"/>
            <a:ext cx="8046720" cy="7315"/>
          </a:xfrm>
          <a:prstGeom prst="rect">
            <a:avLst/>
          </a:prstGeom>
          <a:solidFill>
            <a:srgbClr val="D8DEE6"/>
          </a:solidFill>
          <a:ln w="12700">
            <a:solidFill>
              <a:srgbClr val="D8DEE6"/>
            </a:solidFill>
            <a:prstDash val="solid"/>
          </a:ln>
        </p:spPr>
      </p:sp>
      <p:sp>
        <p:nvSpPr>
          <p:cNvPr id="19" name="Text 17"/>
          <p:cNvSpPr/>
          <p:nvPr/>
        </p:nvSpPr>
        <p:spPr>
          <a:xfrm>
            <a:off x="548640" y="2651760"/>
            <a:ext cx="1143000" cy="384048"/>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50" b="1"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MSANose</a:t>
            </a:r>
            <a:endParaRPr kumimoji="0" lang="en-US" sz="9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Text 18"/>
          <p:cNvSpPr/>
          <p:nvPr/>
        </p:nvSpPr>
        <p:spPr>
          <a:xfrm>
            <a:off x="1645920" y="2651760"/>
            <a:ext cx="1645920" cy="384048"/>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2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Microservice smells</a:t>
            </a:r>
            <a:endParaRPr kumimoji="0" lang="en-US" sz="82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Text 19"/>
          <p:cNvSpPr/>
          <p:nvPr/>
        </p:nvSpPr>
        <p:spPr>
          <a:xfrm>
            <a:off x="3429000" y="2651760"/>
            <a:ext cx="2423160" cy="384048"/>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2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Microservice-specific catalogue</a:t>
            </a:r>
            <a:endParaRPr kumimoji="0" lang="en-US" sz="82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2" name="Text 20"/>
          <p:cNvSpPr/>
          <p:nvPr/>
        </p:nvSpPr>
        <p:spPr>
          <a:xfrm>
            <a:off x="5989320" y="2651760"/>
            <a:ext cx="2606040" cy="384048"/>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2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Less emphasis on source snippets and composite scoring</a:t>
            </a:r>
            <a:endParaRPr kumimoji="0" lang="en-US" sz="82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3" name="Shape 21"/>
          <p:cNvSpPr/>
          <p:nvPr/>
        </p:nvSpPr>
        <p:spPr>
          <a:xfrm>
            <a:off x="548640" y="3108960"/>
            <a:ext cx="8046720" cy="7315"/>
          </a:xfrm>
          <a:prstGeom prst="rect">
            <a:avLst/>
          </a:prstGeom>
          <a:solidFill>
            <a:srgbClr val="D8DEE6"/>
          </a:solidFill>
          <a:ln w="12700">
            <a:solidFill>
              <a:srgbClr val="D8DEE6"/>
            </a:solidFill>
            <a:prstDash val="solid"/>
          </a:ln>
        </p:spPr>
      </p:sp>
      <p:sp>
        <p:nvSpPr>
          <p:cNvPr id="24" name="Text 22"/>
          <p:cNvSpPr/>
          <p:nvPr/>
        </p:nvSpPr>
        <p:spPr>
          <a:xfrm>
            <a:off x="548640" y="3246120"/>
            <a:ext cx="1143000" cy="384048"/>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50" b="1"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MARS</a:t>
            </a:r>
            <a:endParaRPr kumimoji="0" lang="en-US" sz="9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5" name="Text 23"/>
          <p:cNvSpPr/>
          <p:nvPr/>
        </p:nvSpPr>
        <p:spPr>
          <a:xfrm>
            <a:off x="1645920" y="3246120"/>
            <a:ext cx="1645920" cy="384048"/>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2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Anti-pattern catalogue</a:t>
            </a:r>
            <a:endParaRPr kumimoji="0" lang="en-US" sz="82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6" name="Text 24"/>
          <p:cNvSpPr/>
          <p:nvPr/>
        </p:nvSpPr>
        <p:spPr>
          <a:xfrm>
            <a:off x="3429000" y="3246120"/>
            <a:ext cx="2423160" cy="384048"/>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2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Broad microservice anti-pattern coverage</a:t>
            </a:r>
            <a:endParaRPr kumimoji="0" lang="en-US" sz="82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7" name="Text 25"/>
          <p:cNvSpPr/>
          <p:nvPr/>
        </p:nvSpPr>
        <p:spPr>
          <a:xfrm>
            <a:off x="5989320" y="3246120"/>
            <a:ext cx="2606040" cy="384048"/>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2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Different scope; not the same integrated repository-to-report pipeline</a:t>
            </a:r>
            <a:endParaRPr kumimoji="0" lang="en-US" sz="82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8" name="Shape 26"/>
          <p:cNvSpPr/>
          <p:nvPr/>
        </p:nvSpPr>
        <p:spPr>
          <a:xfrm>
            <a:off x="548640" y="3703320"/>
            <a:ext cx="8046720" cy="7315"/>
          </a:xfrm>
          <a:prstGeom prst="rect">
            <a:avLst/>
          </a:prstGeom>
          <a:solidFill>
            <a:srgbClr val="D8DEE6"/>
          </a:solidFill>
          <a:ln w="12700">
            <a:solidFill>
              <a:srgbClr val="D8DEE6"/>
            </a:solidFill>
            <a:prstDash val="solid"/>
          </a:ln>
        </p:spPr>
      </p:sp>
      <p:sp>
        <p:nvSpPr>
          <p:cNvPr id="29" name="Shape 27"/>
          <p:cNvSpPr/>
          <p:nvPr/>
        </p:nvSpPr>
        <p:spPr>
          <a:xfrm>
            <a:off x="548640" y="3749040"/>
            <a:ext cx="8046720" cy="32004"/>
          </a:xfrm>
          <a:prstGeom prst="rect">
            <a:avLst/>
          </a:prstGeom>
          <a:solidFill>
            <a:srgbClr val="0D9488"/>
          </a:solidFill>
          <a:ln w="12700">
            <a:solidFill>
              <a:srgbClr val="0D9488"/>
            </a:solidFill>
            <a:prstDash val="solid"/>
          </a:ln>
        </p:spPr>
      </p:sp>
      <p:sp>
        <p:nvSpPr>
          <p:cNvPr id="30" name="Text 28"/>
          <p:cNvSpPr/>
          <p:nvPr/>
        </p:nvSpPr>
        <p:spPr>
          <a:xfrm>
            <a:off x="548640" y="3840480"/>
            <a:ext cx="1143000" cy="384048"/>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50" b="1" i="0" u="none" strike="noStrike" kern="1200" cap="none" spc="0" normalizeH="0" baseline="0" noProof="0" dirty="0">
                <a:ln>
                  <a:noFill/>
                </a:ln>
                <a:solidFill>
                  <a:srgbClr val="0D9488"/>
                </a:solidFill>
                <a:effectLst/>
                <a:uLnTx/>
                <a:uFillTx/>
                <a:latin typeface="Calibri" pitchFamily="34" charset="0"/>
                <a:ea typeface="Calibri" pitchFamily="34" charset="-122"/>
                <a:cs typeface="Calibri" pitchFamily="34" charset="-120"/>
              </a:rPr>
              <a:t>MSA Detector</a:t>
            </a:r>
            <a:endParaRPr kumimoji="0" lang="en-US" sz="9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1" name="Text 29"/>
          <p:cNvSpPr/>
          <p:nvPr/>
        </p:nvSpPr>
        <p:spPr>
          <a:xfrm>
            <a:off x="1645920" y="3840480"/>
            <a:ext cx="1645920" cy="384048"/>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20" b="1"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Multi-level diagnosis</a:t>
            </a:r>
            <a:endParaRPr kumimoji="0" lang="en-US" sz="82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2" name="Text 30"/>
          <p:cNvSpPr/>
          <p:nvPr/>
        </p:nvSpPr>
        <p:spPr>
          <a:xfrm>
            <a:off x="3429000" y="3840480"/>
            <a:ext cx="2423160" cy="384048"/>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20" b="1"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Automated boundaries, snippets, graph evidence, health score, remediation</a:t>
            </a:r>
            <a:endParaRPr kumimoji="0" lang="en-US" sz="82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3" name="Text 31"/>
          <p:cNvSpPr/>
          <p:nvPr/>
        </p:nvSpPr>
        <p:spPr>
          <a:xfrm>
            <a:off x="5989320" y="3840480"/>
            <a:ext cx="2606040" cy="384048"/>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20" b="1"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Prototype scope: Java/Spring Boot only</a:t>
            </a:r>
            <a:endParaRPr kumimoji="0" lang="en-US" sz="82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4" name="Shape 32"/>
          <p:cNvSpPr/>
          <p:nvPr/>
        </p:nvSpPr>
        <p:spPr>
          <a:xfrm>
            <a:off x="548640" y="4297680"/>
            <a:ext cx="8046720" cy="7315"/>
          </a:xfrm>
          <a:prstGeom prst="rect">
            <a:avLst/>
          </a:prstGeom>
          <a:solidFill>
            <a:srgbClr val="D8DEE6"/>
          </a:solidFill>
          <a:ln w="12700">
            <a:solidFill>
              <a:srgbClr val="D8DEE6"/>
            </a:solidFill>
            <a:prstDash val="solid"/>
          </a:ln>
        </p:spPr>
      </p:sp>
      <p:sp>
        <p:nvSpPr>
          <p:cNvPr id="37" name="Text 35"/>
          <p:cNvSpPr/>
          <p:nvPr/>
        </p:nvSpPr>
        <p:spPr>
          <a:xfrm>
            <a:off x="7452360" y="4864608"/>
            <a:ext cx="1143000" cy="22860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64748B"/>
                </a:solidFill>
                <a:effectLst/>
                <a:uLnTx/>
                <a:uFillTx/>
                <a:latin typeface="Calibri" pitchFamily="34" charset="0"/>
                <a:ea typeface="Calibri" pitchFamily="34" charset="-122"/>
                <a:cs typeface="Calibri" pitchFamily="34" charset="-120"/>
              </a:rPr>
              <a:t>Appendix </a:t>
            </a:r>
            <a:r>
              <a:rPr lang="en-US" sz="900" dirty="0">
                <a:solidFill>
                  <a:srgbClr val="64748B"/>
                </a:solidFill>
                <a:latin typeface="Calibri" pitchFamily="34" charset="0"/>
                <a:ea typeface="Calibri" pitchFamily="34" charset="-122"/>
                <a:cs typeface="Calibri" pitchFamily="34" charset="-120"/>
              </a:rPr>
              <a:t>B</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marL="0" indent="0">
              <a:buNone/>
            </a:pPr>
            <a:r>
              <a:rPr lang="en-US" sz="2500" b="1" dirty="0">
                <a:solidFill>
                  <a:srgbClr val="0F2A44"/>
                </a:solidFill>
                <a:latin typeface="Calibri" pitchFamily="34" charset="0"/>
                <a:ea typeface="Calibri" pitchFamily="34" charset="-122"/>
                <a:cs typeface="Calibri" pitchFamily="34" charset="-120"/>
              </a:rPr>
              <a:t>Annex: evaluation methodology</a:t>
            </a:r>
            <a:endParaRPr lang="en-US" sz="2500" dirty="0"/>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sp>
      <p:sp>
        <p:nvSpPr>
          <p:cNvPr id="4" name="Text 2"/>
          <p:cNvSpPr/>
          <p:nvPr/>
        </p:nvSpPr>
        <p:spPr>
          <a:xfrm>
            <a:off x="548640" y="969264"/>
            <a:ext cx="8046720" cy="310896"/>
          </a:xfrm>
          <a:prstGeom prst="rect">
            <a:avLst/>
          </a:prstGeom>
          <a:noFill/>
          <a:ln/>
        </p:spPr>
        <p:txBody>
          <a:bodyPr wrap="square" lIns="0" tIns="0" rIns="0" bIns="0" rtlCol="0" anchor="ctr"/>
          <a:lstStyle/>
          <a:p>
            <a:pPr marL="0" indent="0">
              <a:buNone/>
            </a:pPr>
            <a:r>
              <a:rPr lang="en-US" sz="1250" i="1" dirty="0">
                <a:solidFill>
                  <a:srgbClr val="64748B"/>
                </a:solidFill>
                <a:latin typeface="Calibri" pitchFamily="34" charset="0"/>
                <a:ea typeface="Calibri" pitchFamily="34" charset="-122"/>
                <a:cs typeface="Calibri" pitchFamily="34" charset="-120"/>
              </a:rPr>
              <a:t>Goal: demonstrate feasibility across heterogeneous real-world repositories</a:t>
            </a:r>
            <a:endParaRPr lang="en-US" sz="1250" dirty="0"/>
          </a:p>
        </p:txBody>
      </p:sp>
      <p:sp>
        <p:nvSpPr>
          <p:cNvPr id="5" name="Shape 3"/>
          <p:cNvSpPr/>
          <p:nvPr/>
        </p:nvSpPr>
        <p:spPr>
          <a:xfrm>
            <a:off x="548640" y="1481328"/>
            <a:ext cx="2331720" cy="41148"/>
          </a:xfrm>
          <a:prstGeom prst="rect">
            <a:avLst/>
          </a:prstGeom>
          <a:solidFill>
            <a:srgbClr val="0D9488"/>
          </a:solidFill>
          <a:ln w="12700">
            <a:solidFill>
              <a:srgbClr val="0D9488"/>
            </a:solidFill>
            <a:prstDash val="solid"/>
          </a:ln>
        </p:spPr>
      </p:sp>
      <p:sp>
        <p:nvSpPr>
          <p:cNvPr id="6" name="Text 4"/>
          <p:cNvSpPr/>
          <p:nvPr/>
        </p:nvSpPr>
        <p:spPr>
          <a:xfrm>
            <a:off x="548640" y="1627632"/>
            <a:ext cx="2331720" cy="502920"/>
          </a:xfrm>
          <a:prstGeom prst="rect">
            <a:avLst/>
          </a:prstGeom>
          <a:noFill/>
          <a:ln/>
        </p:spPr>
        <p:txBody>
          <a:bodyPr wrap="square" lIns="0" tIns="0" rIns="0" bIns="0" rtlCol="0" anchor="ctr"/>
          <a:lstStyle/>
          <a:p>
            <a:pPr marL="0" indent="0">
              <a:buNone/>
            </a:pPr>
            <a:r>
              <a:rPr lang="en-US" sz="2900" b="1" dirty="0">
                <a:solidFill>
                  <a:srgbClr val="0F2A44"/>
                </a:solidFill>
                <a:latin typeface="Calibri" pitchFamily="34" charset="0"/>
                <a:ea typeface="Calibri" pitchFamily="34" charset="-122"/>
                <a:cs typeface="Calibri" pitchFamily="34" charset="-120"/>
              </a:rPr>
              <a:t>11</a:t>
            </a:r>
            <a:endParaRPr lang="en-US" sz="2900" dirty="0"/>
          </a:p>
        </p:txBody>
      </p:sp>
      <p:sp>
        <p:nvSpPr>
          <p:cNvPr id="7" name="Text 5"/>
          <p:cNvSpPr/>
          <p:nvPr/>
        </p:nvSpPr>
        <p:spPr>
          <a:xfrm>
            <a:off x="548640" y="2139696"/>
            <a:ext cx="2331720" cy="274320"/>
          </a:xfrm>
          <a:prstGeom prst="rect">
            <a:avLst/>
          </a:prstGeom>
          <a:noFill/>
          <a:ln/>
        </p:spPr>
        <p:txBody>
          <a:bodyPr wrap="square" lIns="0" tIns="0" rIns="0" bIns="0" rtlCol="0" anchor="ctr"/>
          <a:lstStyle/>
          <a:p>
            <a:pPr marL="0" indent="0">
              <a:buNone/>
            </a:pPr>
            <a:r>
              <a:rPr lang="en-US" sz="1200" b="1" dirty="0">
                <a:solidFill>
                  <a:srgbClr val="0F2A44"/>
                </a:solidFill>
                <a:latin typeface="Calibri" pitchFamily="34" charset="0"/>
                <a:ea typeface="Calibri" pitchFamily="34" charset="-122"/>
                <a:cs typeface="Calibri" pitchFamily="34" charset="-120"/>
              </a:rPr>
              <a:t>Dataset</a:t>
            </a:r>
            <a:endParaRPr lang="en-US" sz="1200" dirty="0"/>
          </a:p>
        </p:txBody>
      </p:sp>
      <p:sp>
        <p:nvSpPr>
          <p:cNvPr id="8" name="Text 6"/>
          <p:cNvSpPr/>
          <p:nvPr/>
        </p:nvSpPr>
        <p:spPr>
          <a:xfrm>
            <a:off x="548640" y="2432304"/>
            <a:ext cx="2331720" cy="530352"/>
          </a:xfrm>
          <a:prstGeom prst="rect">
            <a:avLst/>
          </a:prstGeom>
          <a:noFill/>
          <a:ln/>
        </p:spPr>
        <p:txBody>
          <a:bodyPr wrap="square" lIns="0" tIns="0" rIns="0" bIns="0" rtlCol="0" anchor="ctr"/>
          <a:lstStyle/>
          <a:p>
            <a:pPr marL="0" indent="0">
              <a:buNone/>
            </a:pPr>
            <a:r>
              <a:rPr lang="en-US" sz="950" dirty="0">
                <a:solidFill>
                  <a:srgbClr val="64748B"/>
                </a:solidFill>
                <a:latin typeface="Calibri" pitchFamily="34" charset="0"/>
                <a:ea typeface="Calibri" pitchFamily="34" charset="-122"/>
                <a:cs typeface="Calibri" pitchFamily="34" charset="-120"/>
              </a:rPr>
              <a:t>Open-source Java/Spring Boot microservice systems</a:t>
            </a:r>
            <a:endParaRPr lang="en-US" sz="950" dirty="0"/>
          </a:p>
        </p:txBody>
      </p:sp>
      <p:sp>
        <p:nvSpPr>
          <p:cNvPr id="9" name="Shape 7"/>
          <p:cNvSpPr/>
          <p:nvPr/>
        </p:nvSpPr>
        <p:spPr>
          <a:xfrm>
            <a:off x="3291840" y="1481328"/>
            <a:ext cx="2331720" cy="41148"/>
          </a:xfrm>
          <a:prstGeom prst="rect">
            <a:avLst/>
          </a:prstGeom>
          <a:solidFill>
            <a:srgbClr val="1C4E80"/>
          </a:solidFill>
          <a:ln w="12700">
            <a:solidFill>
              <a:srgbClr val="1C4E80"/>
            </a:solidFill>
            <a:prstDash val="solid"/>
          </a:ln>
        </p:spPr>
      </p:sp>
      <p:sp>
        <p:nvSpPr>
          <p:cNvPr id="10" name="Text 8"/>
          <p:cNvSpPr/>
          <p:nvPr/>
        </p:nvSpPr>
        <p:spPr>
          <a:xfrm>
            <a:off x="3291840" y="1627632"/>
            <a:ext cx="2331720" cy="502920"/>
          </a:xfrm>
          <a:prstGeom prst="rect">
            <a:avLst/>
          </a:prstGeom>
          <a:noFill/>
          <a:ln/>
        </p:spPr>
        <p:txBody>
          <a:bodyPr wrap="square" lIns="0" tIns="0" rIns="0" bIns="0" rtlCol="0" anchor="ctr"/>
          <a:lstStyle/>
          <a:p>
            <a:pPr marL="0" indent="0">
              <a:buNone/>
            </a:pPr>
            <a:r>
              <a:rPr lang="en-US" sz="2900" b="1" dirty="0">
                <a:solidFill>
                  <a:srgbClr val="0F2A44"/>
                </a:solidFill>
                <a:latin typeface="Calibri" pitchFamily="34" charset="0"/>
                <a:ea typeface="Calibri" pitchFamily="34" charset="-122"/>
                <a:cs typeface="Calibri" pitchFamily="34" charset="-120"/>
              </a:rPr>
              <a:t>130</a:t>
            </a:r>
            <a:endParaRPr lang="en-US" sz="2900" dirty="0"/>
          </a:p>
        </p:txBody>
      </p:sp>
      <p:sp>
        <p:nvSpPr>
          <p:cNvPr id="11" name="Text 9"/>
          <p:cNvSpPr/>
          <p:nvPr/>
        </p:nvSpPr>
        <p:spPr>
          <a:xfrm>
            <a:off x="3291840" y="2139696"/>
            <a:ext cx="2331720" cy="274320"/>
          </a:xfrm>
          <a:prstGeom prst="rect">
            <a:avLst/>
          </a:prstGeom>
          <a:noFill/>
          <a:ln/>
        </p:spPr>
        <p:txBody>
          <a:bodyPr wrap="square" lIns="0" tIns="0" rIns="0" bIns="0" rtlCol="0" anchor="ctr"/>
          <a:lstStyle/>
          <a:p>
            <a:pPr marL="0" indent="0">
              <a:buNone/>
            </a:pPr>
            <a:r>
              <a:rPr lang="en-US" sz="1200" b="1" dirty="0">
                <a:solidFill>
                  <a:srgbClr val="0F2A44"/>
                </a:solidFill>
                <a:latin typeface="Calibri" pitchFamily="34" charset="0"/>
                <a:ea typeface="Calibri" pitchFamily="34" charset="-122"/>
                <a:cs typeface="Calibri" pitchFamily="34" charset="-120"/>
              </a:rPr>
              <a:t>Detected services</a:t>
            </a:r>
            <a:endParaRPr lang="en-US" sz="1200" dirty="0"/>
          </a:p>
        </p:txBody>
      </p:sp>
      <p:sp>
        <p:nvSpPr>
          <p:cNvPr id="12" name="Text 10"/>
          <p:cNvSpPr/>
          <p:nvPr/>
        </p:nvSpPr>
        <p:spPr>
          <a:xfrm>
            <a:off x="3291840" y="2432304"/>
            <a:ext cx="2331720" cy="530352"/>
          </a:xfrm>
          <a:prstGeom prst="rect">
            <a:avLst/>
          </a:prstGeom>
          <a:noFill/>
          <a:ln/>
        </p:spPr>
        <p:txBody>
          <a:bodyPr wrap="square" lIns="0" tIns="0" rIns="0" bIns="0" rtlCol="0" anchor="ctr"/>
          <a:lstStyle/>
          <a:p>
            <a:pPr marL="0" indent="0">
              <a:buNone/>
            </a:pPr>
            <a:r>
              <a:rPr lang="en-US" sz="950" dirty="0">
                <a:solidFill>
                  <a:srgbClr val="64748B"/>
                </a:solidFill>
                <a:latin typeface="Calibri" pitchFamily="34" charset="0"/>
                <a:ea typeface="Calibri" pitchFamily="34" charset="-122"/>
                <a:cs typeface="Calibri" pitchFamily="34" charset="-120"/>
              </a:rPr>
              <a:t>Service modules identified by the deployability gate</a:t>
            </a:r>
            <a:endParaRPr lang="en-US" sz="950" dirty="0"/>
          </a:p>
        </p:txBody>
      </p:sp>
      <p:sp>
        <p:nvSpPr>
          <p:cNvPr id="13" name="Shape 11"/>
          <p:cNvSpPr/>
          <p:nvPr/>
        </p:nvSpPr>
        <p:spPr>
          <a:xfrm>
            <a:off x="6035040" y="1481328"/>
            <a:ext cx="2331720" cy="41148"/>
          </a:xfrm>
          <a:prstGeom prst="rect">
            <a:avLst/>
          </a:prstGeom>
          <a:solidFill>
            <a:srgbClr val="D97706"/>
          </a:solidFill>
          <a:ln w="12700">
            <a:solidFill>
              <a:srgbClr val="D97706"/>
            </a:solidFill>
            <a:prstDash val="solid"/>
          </a:ln>
        </p:spPr>
      </p:sp>
      <p:sp>
        <p:nvSpPr>
          <p:cNvPr id="14" name="Text 12"/>
          <p:cNvSpPr/>
          <p:nvPr/>
        </p:nvSpPr>
        <p:spPr>
          <a:xfrm>
            <a:off x="6035040" y="1627632"/>
            <a:ext cx="2331720" cy="502920"/>
          </a:xfrm>
          <a:prstGeom prst="rect">
            <a:avLst/>
          </a:prstGeom>
          <a:noFill/>
          <a:ln/>
        </p:spPr>
        <p:txBody>
          <a:bodyPr wrap="square" lIns="0" tIns="0" rIns="0" bIns="0" rtlCol="0" anchor="ctr"/>
          <a:lstStyle/>
          <a:p>
            <a:pPr marL="0" indent="0">
              <a:buNone/>
            </a:pPr>
            <a:r>
              <a:rPr lang="en-US" sz="2900" b="1" dirty="0">
                <a:solidFill>
                  <a:srgbClr val="0F2A44"/>
                </a:solidFill>
                <a:latin typeface="Calibri" pitchFamily="34" charset="0"/>
                <a:ea typeface="Calibri" pitchFamily="34" charset="-122"/>
                <a:cs typeface="Calibri" pitchFamily="34" charset="-120"/>
              </a:rPr>
              <a:t>~274k</a:t>
            </a:r>
            <a:endParaRPr lang="en-US" sz="2900" dirty="0"/>
          </a:p>
        </p:txBody>
      </p:sp>
      <p:sp>
        <p:nvSpPr>
          <p:cNvPr id="15" name="Text 13"/>
          <p:cNvSpPr/>
          <p:nvPr/>
        </p:nvSpPr>
        <p:spPr>
          <a:xfrm>
            <a:off x="6035040" y="2139696"/>
            <a:ext cx="2331720" cy="274320"/>
          </a:xfrm>
          <a:prstGeom prst="rect">
            <a:avLst/>
          </a:prstGeom>
          <a:noFill/>
          <a:ln/>
        </p:spPr>
        <p:txBody>
          <a:bodyPr wrap="square" lIns="0" tIns="0" rIns="0" bIns="0" rtlCol="0" anchor="ctr"/>
          <a:lstStyle/>
          <a:p>
            <a:pPr marL="0" indent="0">
              <a:buNone/>
            </a:pPr>
            <a:r>
              <a:rPr lang="en-US" sz="1200" b="1" dirty="0">
                <a:solidFill>
                  <a:srgbClr val="0F2A44"/>
                </a:solidFill>
                <a:latin typeface="Calibri" pitchFamily="34" charset="0"/>
                <a:ea typeface="Calibri" pitchFamily="34" charset="-122"/>
                <a:cs typeface="Calibri" pitchFamily="34" charset="-120"/>
              </a:rPr>
              <a:t>Code volume</a:t>
            </a:r>
            <a:endParaRPr lang="en-US" sz="1200" dirty="0"/>
          </a:p>
        </p:txBody>
      </p:sp>
      <p:sp>
        <p:nvSpPr>
          <p:cNvPr id="16" name="Text 14"/>
          <p:cNvSpPr/>
          <p:nvPr/>
        </p:nvSpPr>
        <p:spPr>
          <a:xfrm>
            <a:off x="6035040" y="2432304"/>
            <a:ext cx="2331720" cy="530352"/>
          </a:xfrm>
          <a:prstGeom prst="rect">
            <a:avLst/>
          </a:prstGeom>
          <a:noFill/>
          <a:ln/>
        </p:spPr>
        <p:txBody>
          <a:bodyPr wrap="square" lIns="0" tIns="0" rIns="0" bIns="0" rtlCol="0" anchor="ctr"/>
          <a:lstStyle/>
          <a:p>
            <a:pPr marL="0" indent="0">
              <a:buNone/>
            </a:pPr>
            <a:r>
              <a:rPr lang="en-US" sz="950" dirty="0">
                <a:solidFill>
                  <a:srgbClr val="64748B"/>
                </a:solidFill>
                <a:latin typeface="Calibri" pitchFamily="34" charset="0"/>
                <a:ea typeface="Calibri" pitchFamily="34" charset="-122"/>
                <a:cs typeface="Calibri" pitchFamily="34" charset="-120"/>
              </a:rPr>
              <a:t>Lines of Java code analysed across all projects</a:t>
            </a:r>
            <a:endParaRPr lang="en-US" sz="950" dirty="0"/>
          </a:p>
        </p:txBody>
      </p:sp>
      <p:sp>
        <p:nvSpPr>
          <p:cNvPr id="17" name="Text 15"/>
          <p:cNvSpPr/>
          <p:nvPr/>
        </p:nvSpPr>
        <p:spPr>
          <a:xfrm>
            <a:off x="548640" y="3218688"/>
            <a:ext cx="3566160" cy="292608"/>
          </a:xfrm>
          <a:prstGeom prst="rect">
            <a:avLst/>
          </a:prstGeom>
          <a:noFill/>
          <a:ln/>
        </p:spPr>
        <p:txBody>
          <a:bodyPr wrap="square" lIns="0" tIns="0" rIns="0" bIns="0" rtlCol="0" anchor="ctr"/>
          <a:lstStyle/>
          <a:p>
            <a:pPr marL="0" indent="0">
              <a:buNone/>
            </a:pPr>
            <a:r>
              <a:rPr lang="en-US" sz="1300" b="1" dirty="0">
                <a:solidFill>
                  <a:srgbClr val="0F2A44"/>
                </a:solidFill>
                <a:latin typeface="Calibri" pitchFamily="34" charset="0"/>
                <a:ea typeface="Calibri" pitchFamily="34" charset="-122"/>
                <a:cs typeface="Calibri" pitchFamily="34" charset="-120"/>
              </a:rPr>
              <a:t>What was measured</a:t>
            </a:r>
            <a:endParaRPr lang="en-US" sz="1300" dirty="0"/>
          </a:p>
        </p:txBody>
      </p:sp>
      <p:sp>
        <p:nvSpPr>
          <p:cNvPr id="18" name="Text 16"/>
          <p:cNvSpPr/>
          <p:nvPr/>
        </p:nvSpPr>
        <p:spPr>
          <a:xfrm>
            <a:off x="749808" y="3566160"/>
            <a:ext cx="3566160" cy="914400"/>
          </a:xfrm>
          <a:prstGeom prst="rect">
            <a:avLst/>
          </a:prstGeom>
          <a:noFill/>
          <a:ln/>
        </p:spPr>
        <p:txBody>
          <a:bodyPr wrap="square" lIns="0" tIns="0" rIns="0" bIns="0" rtlCol="0" anchor="ctr"/>
          <a:lstStyle/>
          <a:p>
            <a:pPr marL="342900" indent="-342900">
              <a:spcAft>
                <a:spcPts val="200"/>
              </a:spcAft>
              <a:buSzPct val="100000"/>
              <a:buChar char="•"/>
            </a:pPr>
            <a:r>
              <a:rPr lang="en-US" sz="1050" dirty="0">
                <a:solidFill>
                  <a:srgbClr val="1E293B"/>
                </a:solidFill>
                <a:latin typeface="Calibri" pitchFamily="34" charset="0"/>
                <a:ea typeface="Calibri" pitchFamily="34" charset="-122"/>
                <a:cs typeface="Calibri" pitchFamily="34" charset="-120"/>
              </a:rPr>
              <a:t>service count and Java LOC</a:t>
            </a:r>
            <a:endParaRPr lang="en-US" sz="1050" dirty="0"/>
          </a:p>
          <a:p>
            <a:pPr marL="342900" indent="-342900">
              <a:spcAft>
                <a:spcPts val="200"/>
              </a:spcAft>
              <a:buSzPct val="100000"/>
              <a:buChar char="•"/>
            </a:pPr>
            <a:r>
              <a:rPr lang="en-US" sz="1050" dirty="0">
                <a:solidFill>
                  <a:srgbClr val="1E293B"/>
                </a:solidFill>
                <a:latin typeface="Calibri" pitchFamily="34" charset="0"/>
                <a:ea typeface="Calibri" pitchFamily="34" charset="-122"/>
                <a:cs typeface="Calibri" pitchFamily="34" charset="-120"/>
              </a:rPr>
              <a:t>anti-pattern instances and severity</a:t>
            </a:r>
            <a:endParaRPr lang="en-US" sz="1050" dirty="0"/>
          </a:p>
          <a:p>
            <a:pPr marL="342900" indent="-342900">
              <a:spcAft>
                <a:spcPts val="200"/>
              </a:spcAft>
              <a:buSzPct val="100000"/>
              <a:buChar char="•"/>
            </a:pPr>
            <a:r>
              <a:rPr lang="en-US" sz="1050" dirty="0">
                <a:solidFill>
                  <a:srgbClr val="1E293B"/>
                </a:solidFill>
                <a:latin typeface="Calibri" pitchFamily="34" charset="0"/>
                <a:ea typeface="Calibri" pitchFamily="34" charset="-122"/>
                <a:cs typeface="Calibri" pitchFamily="34" charset="-120"/>
              </a:rPr>
              <a:t>dependency graph metrics and cycle count</a:t>
            </a:r>
            <a:endParaRPr lang="en-US" sz="1050" dirty="0"/>
          </a:p>
          <a:p>
            <a:pPr marL="342900" indent="-342900">
              <a:spcAft>
                <a:spcPts val="200"/>
              </a:spcAft>
              <a:buSzPct val="100000"/>
              <a:buChar char="•"/>
            </a:pPr>
            <a:r>
              <a:rPr lang="en-US" sz="1050" dirty="0">
                <a:solidFill>
                  <a:srgbClr val="1E293B"/>
                </a:solidFill>
                <a:latin typeface="Calibri" pitchFamily="34" charset="0"/>
                <a:ea typeface="Calibri" pitchFamily="34" charset="-122"/>
                <a:cs typeface="Calibri" pitchFamily="34" charset="-120"/>
              </a:rPr>
              <a:t>code-smell density and final health score</a:t>
            </a:r>
            <a:endParaRPr lang="en-US" sz="1050" dirty="0"/>
          </a:p>
        </p:txBody>
      </p:sp>
      <p:sp>
        <p:nvSpPr>
          <p:cNvPr id="19" name="Text 17"/>
          <p:cNvSpPr/>
          <p:nvPr/>
        </p:nvSpPr>
        <p:spPr>
          <a:xfrm>
            <a:off x="4754880" y="3218688"/>
            <a:ext cx="3840480" cy="292608"/>
          </a:xfrm>
          <a:prstGeom prst="rect">
            <a:avLst/>
          </a:prstGeom>
          <a:noFill/>
          <a:ln/>
        </p:spPr>
        <p:txBody>
          <a:bodyPr wrap="square" lIns="0" tIns="0" rIns="0" bIns="0" rtlCol="0" anchor="ctr"/>
          <a:lstStyle/>
          <a:p>
            <a:pPr marL="0" indent="0">
              <a:buNone/>
            </a:pPr>
            <a:r>
              <a:rPr lang="en-US" sz="1300" b="1" dirty="0">
                <a:solidFill>
                  <a:srgbClr val="0F2A44"/>
                </a:solidFill>
                <a:latin typeface="Calibri" pitchFamily="34" charset="0"/>
                <a:ea typeface="Calibri" pitchFamily="34" charset="-122"/>
                <a:cs typeface="Calibri" pitchFamily="34" charset="-120"/>
              </a:rPr>
              <a:t>Interpretation</a:t>
            </a:r>
            <a:endParaRPr lang="en-US" sz="1300" dirty="0"/>
          </a:p>
        </p:txBody>
      </p:sp>
      <p:sp>
        <p:nvSpPr>
          <p:cNvPr id="20" name="Text 18"/>
          <p:cNvSpPr/>
          <p:nvPr/>
        </p:nvSpPr>
        <p:spPr>
          <a:xfrm>
            <a:off x="4754880" y="3547872"/>
            <a:ext cx="3840480" cy="960120"/>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This is a feasibility study, not a statistical precision/recall claim. A labelled benchmark for microservice anti-patterns is not yet widely available, so the evaluation focuses on whether the full pipeline can process real systems and produce explainable, comparable outputs.</a:t>
            </a:r>
            <a:endParaRPr lang="en-US" sz="1050" dirty="0"/>
          </a:p>
        </p:txBody>
      </p:sp>
      <p:sp>
        <p:nvSpPr>
          <p:cNvPr id="21" name="Text 19"/>
          <p:cNvSpPr/>
          <p:nvPr/>
        </p:nvSpPr>
        <p:spPr>
          <a:xfrm>
            <a:off x="7955280" y="4864608"/>
            <a:ext cx="640080" cy="22860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Appendix C</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50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Annex: core definitions</a:t>
            </a:r>
            <a:endParaRPr kumimoji="0" lang="en-US" sz="2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sp>
      <p:sp>
        <p:nvSpPr>
          <p:cNvPr id="4" name="Shape 2"/>
          <p:cNvSpPr/>
          <p:nvPr/>
        </p:nvSpPr>
        <p:spPr>
          <a:xfrm>
            <a:off x="548640" y="1024128"/>
            <a:ext cx="411480" cy="36576"/>
          </a:xfrm>
          <a:prstGeom prst="rect">
            <a:avLst/>
          </a:prstGeom>
          <a:solidFill>
            <a:srgbClr val="0D9488"/>
          </a:solidFill>
          <a:ln w="12700">
            <a:solidFill>
              <a:srgbClr val="0D9488"/>
            </a:solidFill>
            <a:prstDash val="solid"/>
          </a:ln>
        </p:spPr>
      </p:sp>
      <p:sp>
        <p:nvSpPr>
          <p:cNvPr id="5" name="Text 3"/>
          <p:cNvSpPr/>
          <p:nvPr/>
        </p:nvSpPr>
        <p:spPr>
          <a:xfrm>
            <a:off x="548640" y="1152144"/>
            <a:ext cx="3703320" cy="25603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Microservice</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Text 4"/>
          <p:cNvSpPr/>
          <p:nvPr/>
        </p:nvSpPr>
        <p:spPr>
          <a:xfrm>
            <a:off x="548640" y="1463040"/>
            <a:ext cx="3703320"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2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A small, independently deployable service organised around a business capability, communicating with other services through lightweight APIs.</a:t>
            </a:r>
            <a:endParaRPr kumimoji="0" lang="en-US" sz="102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Shape 5"/>
          <p:cNvSpPr/>
          <p:nvPr/>
        </p:nvSpPr>
        <p:spPr>
          <a:xfrm>
            <a:off x="548640" y="2011680"/>
            <a:ext cx="3703320" cy="9144"/>
          </a:xfrm>
          <a:prstGeom prst="rect">
            <a:avLst/>
          </a:prstGeom>
          <a:solidFill>
            <a:srgbClr val="D8DEE6"/>
          </a:solidFill>
          <a:ln w="12700">
            <a:solidFill>
              <a:srgbClr val="D8DEE6"/>
            </a:solidFill>
            <a:prstDash val="solid"/>
          </a:ln>
        </p:spPr>
      </p:sp>
      <p:sp>
        <p:nvSpPr>
          <p:cNvPr id="8" name="Shape 6"/>
          <p:cNvSpPr/>
          <p:nvPr/>
        </p:nvSpPr>
        <p:spPr>
          <a:xfrm>
            <a:off x="4617720" y="1024128"/>
            <a:ext cx="411480" cy="36576"/>
          </a:xfrm>
          <a:prstGeom prst="rect">
            <a:avLst/>
          </a:prstGeom>
          <a:solidFill>
            <a:srgbClr val="1C4E80"/>
          </a:solidFill>
          <a:ln w="12700">
            <a:solidFill>
              <a:srgbClr val="1C4E80"/>
            </a:solidFill>
            <a:prstDash val="solid"/>
          </a:ln>
        </p:spPr>
      </p:sp>
      <p:sp>
        <p:nvSpPr>
          <p:cNvPr id="9" name="Text 7"/>
          <p:cNvSpPr/>
          <p:nvPr/>
        </p:nvSpPr>
        <p:spPr>
          <a:xfrm>
            <a:off x="4617720" y="1152144"/>
            <a:ext cx="3703320" cy="25603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Architectural anti-pattern</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4617720" y="1463040"/>
            <a:ext cx="3703320"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2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A recurring architectural decision that appears useful locally, but creates long-term coupling, fragility, or operational cost.</a:t>
            </a:r>
            <a:endParaRPr kumimoji="0" lang="en-US" sz="102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9"/>
          <p:cNvSpPr/>
          <p:nvPr/>
        </p:nvSpPr>
        <p:spPr>
          <a:xfrm>
            <a:off x="4617720" y="2011680"/>
            <a:ext cx="3703320" cy="9144"/>
          </a:xfrm>
          <a:prstGeom prst="rect">
            <a:avLst/>
          </a:prstGeom>
          <a:solidFill>
            <a:srgbClr val="D8DEE6"/>
          </a:solidFill>
          <a:ln w="12700">
            <a:solidFill>
              <a:srgbClr val="D8DEE6"/>
            </a:solidFill>
            <a:prstDash val="solid"/>
          </a:ln>
        </p:spPr>
      </p:sp>
      <p:sp>
        <p:nvSpPr>
          <p:cNvPr id="12" name="Shape 10"/>
          <p:cNvSpPr/>
          <p:nvPr/>
        </p:nvSpPr>
        <p:spPr>
          <a:xfrm>
            <a:off x="548640" y="2139696"/>
            <a:ext cx="411480" cy="36576"/>
          </a:xfrm>
          <a:prstGeom prst="rect">
            <a:avLst/>
          </a:prstGeom>
          <a:solidFill>
            <a:srgbClr val="0D9488"/>
          </a:solidFill>
          <a:ln w="12700">
            <a:solidFill>
              <a:srgbClr val="0D9488"/>
            </a:solidFill>
            <a:prstDash val="solid"/>
          </a:ln>
        </p:spPr>
      </p:sp>
      <p:sp>
        <p:nvSpPr>
          <p:cNvPr id="13" name="Text 11"/>
          <p:cNvSpPr/>
          <p:nvPr/>
        </p:nvSpPr>
        <p:spPr>
          <a:xfrm>
            <a:off x="548640" y="2267712"/>
            <a:ext cx="3703320" cy="25603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Service boundary</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 name="Text 12"/>
          <p:cNvSpPr/>
          <p:nvPr/>
        </p:nvSpPr>
        <p:spPr>
          <a:xfrm>
            <a:off x="548640" y="2578608"/>
            <a:ext cx="3703320"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2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The deployable unit recovered from a repository: build module plus framework entry point, Dockerfile, or main method signal.</a:t>
            </a:r>
            <a:endParaRPr kumimoji="0" lang="en-US" sz="102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Shape 13"/>
          <p:cNvSpPr/>
          <p:nvPr/>
        </p:nvSpPr>
        <p:spPr>
          <a:xfrm>
            <a:off x="548640" y="3127248"/>
            <a:ext cx="3703320" cy="9144"/>
          </a:xfrm>
          <a:prstGeom prst="rect">
            <a:avLst/>
          </a:prstGeom>
          <a:solidFill>
            <a:srgbClr val="D8DEE6"/>
          </a:solidFill>
          <a:ln w="12700">
            <a:solidFill>
              <a:srgbClr val="D8DEE6"/>
            </a:solidFill>
            <a:prstDash val="solid"/>
          </a:ln>
        </p:spPr>
      </p:sp>
      <p:sp>
        <p:nvSpPr>
          <p:cNvPr id="16" name="Shape 14"/>
          <p:cNvSpPr/>
          <p:nvPr/>
        </p:nvSpPr>
        <p:spPr>
          <a:xfrm>
            <a:off x="4617720" y="2139696"/>
            <a:ext cx="411480" cy="36576"/>
          </a:xfrm>
          <a:prstGeom prst="rect">
            <a:avLst/>
          </a:prstGeom>
          <a:solidFill>
            <a:srgbClr val="1C4E80"/>
          </a:solidFill>
          <a:ln w="12700">
            <a:solidFill>
              <a:srgbClr val="1C4E80"/>
            </a:solidFill>
            <a:prstDash val="solid"/>
          </a:ln>
        </p:spPr>
      </p:sp>
      <p:sp>
        <p:nvSpPr>
          <p:cNvPr id="17" name="Text 15"/>
          <p:cNvSpPr/>
          <p:nvPr/>
        </p:nvSpPr>
        <p:spPr>
          <a:xfrm>
            <a:off x="4617720" y="2267712"/>
            <a:ext cx="3703320" cy="25603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Evidence-based finding</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8" name="Text 16"/>
          <p:cNvSpPr/>
          <p:nvPr/>
        </p:nvSpPr>
        <p:spPr>
          <a:xfrm>
            <a:off x="4617720" y="2578608"/>
            <a:ext cx="3703320"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2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A detected issue linked to affected services, source snippets, graph evidence, severity, and remediation guidance.</a:t>
            </a:r>
            <a:endParaRPr kumimoji="0" lang="en-US" sz="102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9" name="Shape 17"/>
          <p:cNvSpPr/>
          <p:nvPr/>
        </p:nvSpPr>
        <p:spPr>
          <a:xfrm>
            <a:off x="4617720" y="3127248"/>
            <a:ext cx="3703320" cy="9144"/>
          </a:xfrm>
          <a:prstGeom prst="rect">
            <a:avLst/>
          </a:prstGeom>
          <a:solidFill>
            <a:srgbClr val="D8DEE6"/>
          </a:solidFill>
          <a:ln w="12700">
            <a:solidFill>
              <a:srgbClr val="D8DEE6"/>
            </a:solidFill>
            <a:prstDash val="solid"/>
          </a:ln>
        </p:spPr>
      </p:sp>
      <p:sp>
        <p:nvSpPr>
          <p:cNvPr id="20" name="Shape 18"/>
          <p:cNvSpPr/>
          <p:nvPr/>
        </p:nvSpPr>
        <p:spPr>
          <a:xfrm>
            <a:off x="548640" y="3255264"/>
            <a:ext cx="411480" cy="36576"/>
          </a:xfrm>
          <a:prstGeom prst="rect">
            <a:avLst/>
          </a:prstGeom>
          <a:solidFill>
            <a:srgbClr val="0D9488"/>
          </a:solidFill>
          <a:ln w="12700">
            <a:solidFill>
              <a:srgbClr val="0D9488"/>
            </a:solidFill>
            <a:prstDash val="solid"/>
          </a:ln>
        </p:spPr>
      </p:sp>
      <p:sp>
        <p:nvSpPr>
          <p:cNvPr id="21" name="Text 19"/>
          <p:cNvSpPr/>
          <p:nvPr/>
        </p:nvSpPr>
        <p:spPr>
          <a:xfrm>
            <a:off x="548640" y="3383280"/>
            <a:ext cx="3703320" cy="25603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Multi-level analysis</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2" name="Text 20"/>
          <p:cNvSpPr/>
          <p:nvPr/>
        </p:nvSpPr>
        <p:spPr>
          <a:xfrm>
            <a:off x="548640" y="3694176"/>
            <a:ext cx="3703320"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2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Combining intra-service code metrics and smells with inter-service dependency graph analysis.</a:t>
            </a:r>
            <a:endParaRPr kumimoji="0" lang="en-US" sz="102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3" name="Shape 21"/>
          <p:cNvSpPr/>
          <p:nvPr/>
        </p:nvSpPr>
        <p:spPr>
          <a:xfrm>
            <a:off x="548640" y="4242816"/>
            <a:ext cx="3703320" cy="9144"/>
          </a:xfrm>
          <a:prstGeom prst="rect">
            <a:avLst/>
          </a:prstGeom>
          <a:solidFill>
            <a:srgbClr val="D8DEE6"/>
          </a:solidFill>
          <a:ln w="12700">
            <a:solidFill>
              <a:srgbClr val="D8DEE6"/>
            </a:solidFill>
            <a:prstDash val="solid"/>
          </a:ln>
        </p:spPr>
      </p:sp>
      <p:sp>
        <p:nvSpPr>
          <p:cNvPr id="24" name="Shape 22"/>
          <p:cNvSpPr/>
          <p:nvPr/>
        </p:nvSpPr>
        <p:spPr>
          <a:xfrm>
            <a:off x="4617720" y="3255264"/>
            <a:ext cx="411480" cy="36576"/>
          </a:xfrm>
          <a:prstGeom prst="rect">
            <a:avLst/>
          </a:prstGeom>
          <a:solidFill>
            <a:srgbClr val="1C4E80"/>
          </a:solidFill>
          <a:ln w="12700">
            <a:solidFill>
              <a:srgbClr val="1C4E80"/>
            </a:solidFill>
            <a:prstDash val="solid"/>
          </a:ln>
        </p:spPr>
      </p:sp>
      <p:sp>
        <p:nvSpPr>
          <p:cNvPr id="25" name="Text 23"/>
          <p:cNvSpPr/>
          <p:nvPr/>
        </p:nvSpPr>
        <p:spPr>
          <a:xfrm>
            <a:off x="4617720" y="3383280"/>
            <a:ext cx="3703320" cy="25603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Health score</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6" name="Text 24"/>
          <p:cNvSpPr/>
          <p:nvPr/>
        </p:nvSpPr>
        <p:spPr>
          <a:xfrm>
            <a:off x="4617720" y="3694176"/>
            <a:ext cx="3703320"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2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A 0-100 composite quality indicator decomposed into Anti-Patterns, Code Quality, Architecture, and Service Sizing.</a:t>
            </a:r>
            <a:endParaRPr kumimoji="0" lang="en-US" sz="102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7" name="Shape 25"/>
          <p:cNvSpPr/>
          <p:nvPr/>
        </p:nvSpPr>
        <p:spPr>
          <a:xfrm>
            <a:off x="4617720" y="4242816"/>
            <a:ext cx="3703320" cy="9144"/>
          </a:xfrm>
          <a:prstGeom prst="rect">
            <a:avLst/>
          </a:prstGeom>
          <a:solidFill>
            <a:srgbClr val="D8DEE6"/>
          </a:solidFill>
          <a:ln w="12700">
            <a:solidFill>
              <a:srgbClr val="D8DEE6"/>
            </a:solidFill>
            <a:prstDash val="solid"/>
          </a:ln>
        </p:spPr>
      </p:sp>
      <p:sp>
        <p:nvSpPr>
          <p:cNvPr id="30" name="Text 28"/>
          <p:cNvSpPr/>
          <p:nvPr/>
        </p:nvSpPr>
        <p:spPr>
          <a:xfrm>
            <a:off x="7452360" y="4864608"/>
            <a:ext cx="1143000" cy="22860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64748B"/>
                </a:solidFill>
                <a:effectLst/>
                <a:uLnTx/>
                <a:uFillTx/>
                <a:latin typeface="Calibri" pitchFamily="34" charset="0"/>
                <a:ea typeface="Calibri" pitchFamily="34" charset="-122"/>
                <a:cs typeface="Calibri" pitchFamily="34" charset="-120"/>
              </a:rPr>
              <a:t>Appendix D</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50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Annex: formulas &amp; metrics</a:t>
            </a:r>
            <a:endParaRPr kumimoji="0" lang="en-US" sz="2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sp>
      <p:sp>
        <p:nvSpPr>
          <p:cNvPr id="4" name="Text 2"/>
          <p:cNvSpPr/>
          <p:nvPr/>
        </p:nvSpPr>
        <p:spPr>
          <a:xfrm>
            <a:off x="548640" y="1024128"/>
            <a:ext cx="2423160" cy="25603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2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Tight Class Cohesion</a:t>
            </a:r>
            <a:endParaRPr kumimoji="0" lang="en-US" sz="112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Text 3"/>
          <p:cNvSpPr/>
          <p:nvPr/>
        </p:nvSpPr>
        <p:spPr>
          <a:xfrm>
            <a:off x="3063240" y="1024128"/>
            <a:ext cx="2468880" cy="256032"/>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80" b="1" i="0" u="none" strike="noStrike" kern="1200" cap="none" spc="0" normalizeH="0" baseline="0" noProof="0" dirty="0">
                <a:ln>
                  <a:noFill/>
                </a:ln>
                <a:solidFill>
                  <a:srgbClr val="0D9488"/>
                </a:solidFill>
                <a:effectLst/>
                <a:uLnTx/>
                <a:uFillTx/>
                <a:latin typeface="Calibri" pitchFamily="34" charset="0"/>
                <a:ea typeface="Calibri" pitchFamily="34" charset="-122"/>
                <a:cs typeface="Calibri" pitchFamily="34" charset="-120"/>
              </a:rPr>
              <a:t>TCC = NDC / NP</a:t>
            </a:r>
            <a:endParaRPr kumimoji="0" lang="en-US" sz="108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Text 4"/>
          <p:cNvSpPr/>
          <p:nvPr/>
        </p:nvSpPr>
        <p:spPr>
          <a:xfrm>
            <a:off x="5715000" y="1005840"/>
            <a:ext cx="2880360" cy="384048"/>
          </a:xfrm>
          <a:prstGeom prst="rect">
            <a:avLst/>
          </a:prstGeom>
          <a:noFill/>
          <a:ln/>
        </p:spPr>
        <p:txBody>
          <a:bodyPr wrap="square" lIns="0" tIns="0" rIns="0" bIns="0" rtlCol="0" anchor="ctr">
            <a:normAutofit lnSpcReduction="10000"/>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8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NDC = directly connected method pairs; NP = all possible method pairs. Low TCC means methods operate on disjoint state.</a:t>
            </a:r>
            <a:endParaRPr kumimoji="0" lang="en-US" sz="88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Shape 5"/>
          <p:cNvSpPr/>
          <p:nvPr/>
        </p:nvSpPr>
        <p:spPr>
          <a:xfrm>
            <a:off x="548640" y="1499616"/>
            <a:ext cx="8046720" cy="9144"/>
          </a:xfrm>
          <a:prstGeom prst="rect">
            <a:avLst/>
          </a:prstGeom>
          <a:solidFill>
            <a:srgbClr val="D8DEE6"/>
          </a:solidFill>
          <a:ln w="12700">
            <a:solidFill>
              <a:srgbClr val="D8DEE6"/>
            </a:solidFill>
            <a:prstDash val="solid"/>
          </a:ln>
        </p:spPr>
      </p:sp>
      <p:sp>
        <p:nvSpPr>
          <p:cNvPr id="8" name="Text 6"/>
          <p:cNvSpPr/>
          <p:nvPr/>
        </p:nvSpPr>
        <p:spPr>
          <a:xfrm>
            <a:off x="548640" y="1709928"/>
            <a:ext cx="2423160" cy="25603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2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Code smell density</a:t>
            </a:r>
            <a:endParaRPr kumimoji="0" lang="en-US" sz="112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 name="Text 7"/>
          <p:cNvSpPr/>
          <p:nvPr/>
        </p:nvSpPr>
        <p:spPr>
          <a:xfrm>
            <a:off x="3063240" y="1709928"/>
            <a:ext cx="2468880" cy="256032"/>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80" b="1" i="0" u="none" strike="noStrike" kern="1200" cap="none" spc="0" normalizeH="0" baseline="0" noProof="0" dirty="0">
                <a:ln>
                  <a:noFill/>
                </a:ln>
                <a:solidFill>
                  <a:srgbClr val="0D9488"/>
                </a:solidFill>
                <a:effectLst/>
                <a:uLnTx/>
                <a:uFillTx/>
                <a:latin typeface="Calibri" pitchFamily="34" charset="0"/>
                <a:ea typeface="Calibri" pitchFamily="34" charset="-122"/>
                <a:cs typeface="Calibri" pitchFamily="34" charset="-120"/>
              </a:rPr>
              <a:t>smellDensity = smellCount / (LOC / 1000)</a:t>
            </a:r>
            <a:endParaRPr kumimoji="0" lang="en-US" sz="108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5715000" y="1691640"/>
            <a:ext cx="2880360" cy="384048"/>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8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Normalises DesigniteJava smell count by service size, so larger codebases are not punished only for being larger.</a:t>
            </a:r>
            <a:endParaRPr kumimoji="0" lang="en-US" sz="88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9"/>
          <p:cNvSpPr/>
          <p:nvPr/>
        </p:nvSpPr>
        <p:spPr>
          <a:xfrm>
            <a:off x="548640" y="2185416"/>
            <a:ext cx="8046720" cy="9144"/>
          </a:xfrm>
          <a:prstGeom prst="rect">
            <a:avLst/>
          </a:prstGeom>
          <a:solidFill>
            <a:srgbClr val="D8DEE6"/>
          </a:solidFill>
          <a:ln w="12700">
            <a:solidFill>
              <a:srgbClr val="D8DEE6"/>
            </a:solidFill>
            <a:prstDash val="solid"/>
          </a:ln>
        </p:spPr>
      </p:sp>
      <p:sp>
        <p:nvSpPr>
          <p:cNvPr id="12" name="Text 10"/>
          <p:cNvSpPr/>
          <p:nvPr/>
        </p:nvSpPr>
        <p:spPr>
          <a:xfrm>
            <a:off x="548640" y="2395728"/>
            <a:ext cx="2423160" cy="25603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2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Graph coupling coefficient</a:t>
            </a:r>
            <a:endParaRPr kumimoji="0" lang="en-US" sz="112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3" name="Text 11"/>
          <p:cNvSpPr/>
          <p:nvPr/>
        </p:nvSpPr>
        <p:spPr>
          <a:xfrm>
            <a:off x="3063240" y="2395728"/>
            <a:ext cx="2468880" cy="256032"/>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80" b="1" i="0" u="none" strike="noStrike" kern="1200" cap="none" spc="0" normalizeH="0" baseline="0" noProof="0" dirty="0">
                <a:ln>
                  <a:noFill/>
                </a:ln>
                <a:solidFill>
                  <a:srgbClr val="0D9488"/>
                </a:solidFill>
                <a:effectLst/>
                <a:uLnTx/>
                <a:uFillTx/>
                <a:latin typeface="Calibri" pitchFamily="34" charset="0"/>
                <a:ea typeface="Calibri" pitchFamily="34" charset="-122"/>
                <a:cs typeface="Calibri" pitchFamily="34" charset="-120"/>
              </a:rPr>
              <a:t>coupling = E / (N × (N - 1))</a:t>
            </a:r>
            <a:endParaRPr kumimoji="0" lang="en-US" sz="108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 name="Text 12"/>
          <p:cNvSpPr/>
          <p:nvPr/>
        </p:nvSpPr>
        <p:spPr>
          <a:xfrm>
            <a:off x="5715000" y="2377440"/>
            <a:ext cx="2880360" cy="384048"/>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8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E = directed dependency edges; N = detected services. Higher values mean denser inter-service coupling.</a:t>
            </a:r>
            <a:endParaRPr kumimoji="0" lang="en-US" sz="88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Shape 13"/>
          <p:cNvSpPr/>
          <p:nvPr/>
        </p:nvSpPr>
        <p:spPr>
          <a:xfrm>
            <a:off x="548640" y="2871216"/>
            <a:ext cx="8046720" cy="9144"/>
          </a:xfrm>
          <a:prstGeom prst="rect">
            <a:avLst/>
          </a:prstGeom>
          <a:solidFill>
            <a:srgbClr val="D8DEE6"/>
          </a:solidFill>
          <a:ln w="12700">
            <a:solidFill>
              <a:srgbClr val="D8DEE6"/>
            </a:solidFill>
            <a:prstDash val="solid"/>
          </a:ln>
        </p:spPr>
      </p:sp>
      <p:sp>
        <p:nvSpPr>
          <p:cNvPr id="16" name="Text 14"/>
          <p:cNvSpPr/>
          <p:nvPr/>
        </p:nvSpPr>
        <p:spPr>
          <a:xfrm>
            <a:off x="548640" y="3081528"/>
            <a:ext cx="2423160" cy="25603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2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Dependency edge weight</a:t>
            </a:r>
            <a:endParaRPr kumimoji="0" lang="en-US" sz="112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Text 15"/>
          <p:cNvSpPr/>
          <p:nvPr/>
        </p:nvSpPr>
        <p:spPr>
          <a:xfrm>
            <a:off x="3063240" y="3081528"/>
            <a:ext cx="2468880" cy="256032"/>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80" b="1" i="0" u="none" strike="noStrike" kern="1200" cap="none" spc="0" normalizeH="0" baseline="0" noProof="0" dirty="0">
                <a:ln>
                  <a:noFill/>
                </a:ln>
                <a:solidFill>
                  <a:srgbClr val="0D9488"/>
                </a:solidFill>
                <a:effectLst/>
                <a:uLnTx/>
                <a:uFillTx/>
                <a:latin typeface="Calibri" pitchFamily="34" charset="0"/>
                <a:ea typeface="Calibri" pitchFamily="34" charset="-122"/>
                <a:cs typeface="Calibri" pitchFamily="34" charset="-120"/>
              </a:rPr>
              <a:t>weight(A, B) = distinct call sites from A to B</a:t>
            </a:r>
            <a:endParaRPr kumimoji="0" lang="en-US" sz="108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8" name="Text 16"/>
          <p:cNvSpPr/>
          <p:nvPr/>
        </p:nvSpPr>
        <p:spPr>
          <a:xfrm>
            <a:off x="5715000" y="3063240"/>
            <a:ext cx="2880360" cy="384048"/>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8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Recovered from Feign clients, RestTemplate calls, and WebClient invocations in the Spoon AST.</a:t>
            </a:r>
            <a:endParaRPr kumimoji="0" lang="en-US" sz="88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9" name="Shape 17"/>
          <p:cNvSpPr/>
          <p:nvPr/>
        </p:nvSpPr>
        <p:spPr>
          <a:xfrm>
            <a:off x="548640" y="3557016"/>
            <a:ext cx="8046720" cy="9144"/>
          </a:xfrm>
          <a:prstGeom prst="rect">
            <a:avLst/>
          </a:prstGeom>
          <a:solidFill>
            <a:srgbClr val="D8DEE6"/>
          </a:solidFill>
          <a:ln w="12700">
            <a:solidFill>
              <a:srgbClr val="D8DEE6"/>
            </a:solidFill>
            <a:prstDash val="solid"/>
          </a:ln>
        </p:spPr>
      </p:sp>
      <p:sp>
        <p:nvSpPr>
          <p:cNvPr id="20" name="Text 18"/>
          <p:cNvSpPr/>
          <p:nvPr/>
        </p:nvSpPr>
        <p:spPr>
          <a:xfrm>
            <a:off x="548640" y="3767328"/>
            <a:ext cx="2423160" cy="25603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2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Service size ratio</a:t>
            </a:r>
            <a:endParaRPr kumimoji="0" lang="en-US" sz="112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Text 19"/>
          <p:cNvSpPr/>
          <p:nvPr/>
        </p:nvSpPr>
        <p:spPr>
          <a:xfrm>
            <a:off x="3063240" y="3767328"/>
            <a:ext cx="2468880" cy="256032"/>
          </a:xfrm>
          <a:prstGeom prst="rect">
            <a:avLst/>
          </a:prstGeom>
          <a:noFill/>
          <a:ln/>
        </p:spPr>
        <p:txBody>
          <a:bodyPr wrap="square" lIns="0" tIns="0" rIns="0" bIns="0" rtlCol="0" anchor="ctr">
            <a:normAutofit fontScale="92500"/>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80" b="1" i="0" u="none" strike="noStrike" kern="1200" cap="none" spc="0" normalizeH="0" baseline="0" noProof="0" dirty="0">
                <a:ln>
                  <a:noFill/>
                </a:ln>
                <a:solidFill>
                  <a:srgbClr val="0D9488"/>
                </a:solidFill>
                <a:effectLst/>
                <a:uLnTx/>
                <a:uFillTx/>
                <a:latin typeface="Calibri" pitchFamily="34" charset="0"/>
                <a:ea typeface="Calibri" pitchFamily="34" charset="-122"/>
                <a:cs typeface="Calibri" pitchFamily="34" charset="-120"/>
              </a:rPr>
              <a:t>sizeRatio = LOC(service) / medianLOC(project)</a:t>
            </a:r>
            <a:endParaRPr kumimoji="0" lang="en-US" sz="108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2" name="Text 20"/>
          <p:cNvSpPr/>
          <p:nvPr/>
        </p:nvSpPr>
        <p:spPr>
          <a:xfrm>
            <a:off x="5715000" y="3749040"/>
            <a:ext cx="2880360" cy="384048"/>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8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Used as supporting evidence for Nano Service and God Service-style sizing findings.</a:t>
            </a:r>
            <a:endParaRPr kumimoji="0" lang="en-US" sz="88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3" name="Shape 21"/>
          <p:cNvSpPr/>
          <p:nvPr/>
        </p:nvSpPr>
        <p:spPr>
          <a:xfrm>
            <a:off x="548640" y="4242816"/>
            <a:ext cx="8046720" cy="9144"/>
          </a:xfrm>
          <a:prstGeom prst="rect">
            <a:avLst/>
          </a:prstGeom>
          <a:solidFill>
            <a:srgbClr val="D8DEE6"/>
          </a:solidFill>
          <a:ln w="12700">
            <a:solidFill>
              <a:srgbClr val="D8DEE6"/>
            </a:solidFill>
            <a:prstDash val="solid"/>
          </a:ln>
        </p:spPr>
      </p:sp>
      <p:sp>
        <p:nvSpPr>
          <p:cNvPr id="26" name="Text 24"/>
          <p:cNvSpPr/>
          <p:nvPr/>
        </p:nvSpPr>
        <p:spPr>
          <a:xfrm>
            <a:off x="7452360" y="4864608"/>
            <a:ext cx="1143000" cy="22860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64748B"/>
                </a:solidFill>
                <a:effectLst/>
                <a:uLnTx/>
                <a:uFillTx/>
                <a:latin typeface="Calibri" pitchFamily="34" charset="0"/>
                <a:ea typeface="Calibri" pitchFamily="34" charset="-122"/>
                <a:cs typeface="Calibri" pitchFamily="34" charset="-120"/>
              </a:rPr>
              <a:t>Appendix E</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50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Annex: health score computation</a:t>
            </a:r>
            <a:endParaRPr kumimoji="0" lang="en-US" sz="2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sp>
      <p:sp>
        <p:nvSpPr>
          <p:cNvPr id="4" name="Text 2"/>
          <p:cNvSpPr/>
          <p:nvPr/>
        </p:nvSpPr>
        <p:spPr>
          <a:xfrm>
            <a:off x="548640" y="1005840"/>
            <a:ext cx="804672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Overall score</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Text 3"/>
          <p:cNvSpPr/>
          <p:nvPr/>
        </p:nvSpPr>
        <p:spPr>
          <a:xfrm>
            <a:off x="548640" y="1353312"/>
            <a:ext cx="8046720" cy="38404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0D9488"/>
                </a:solidFill>
                <a:effectLst/>
                <a:uLnTx/>
                <a:uFillTx/>
                <a:latin typeface="Calibri" pitchFamily="34" charset="0"/>
                <a:ea typeface="Calibri" pitchFamily="34" charset="-122"/>
                <a:cs typeface="Calibri" pitchFamily="34" charset="-120"/>
              </a:rPr>
              <a:t>score = AP + CQ + ARCH + SIZE</a:t>
            </a: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Text 4"/>
          <p:cNvSpPr/>
          <p:nvPr/>
        </p:nvSpPr>
        <p:spPr>
          <a:xfrm>
            <a:off x="548640" y="2011680"/>
            <a:ext cx="685800" cy="21945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20" b="1" i="0" u="none" strike="noStrike" kern="0" cap="none" spc="120" normalizeH="0" baseline="0" noProof="0" dirty="0">
                <a:ln>
                  <a:noFill/>
                </a:ln>
                <a:solidFill>
                  <a:srgbClr val="0F2A44"/>
                </a:solidFill>
                <a:effectLst/>
                <a:uLnTx/>
                <a:uFillTx/>
                <a:latin typeface="Calibri" pitchFamily="34" charset="0"/>
                <a:ea typeface="Calibri" pitchFamily="34" charset="-122"/>
                <a:cs typeface="Calibri" pitchFamily="34" charset="-120"/>
              </a:rPr>
              <a:t>TERM</a:t>
            </a:r>
            <a:endParaRPr kumimoji="0" lang="en-US" sz="82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Text 5"/>
          <p:cNvSpPr/>
          <p:nvPr/>
        </p:nvSpPr>
        <p:spPr>
          <a:xfrm>
            <a:off x="1325880" y="2011680"/>
            <a:ext cx="1828800" cy="21945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20" b="1" i="0" u="none" strike="noStrike" kern="0" cap="none" spc="120" normalizeH="0" baseline="0" noProof="0" dirty="0">
                <a:ln>
                  <a:noFill/>
                </a:ln>
                <a:solidFill>
                  <a:srgbClr val="0F2A44"/>
                </a:solidFill>
                <a:effectLst/>
                <a:uLnTx/>
                <a:uFillTx/>
                <a:latin typeface="Calibri" pitchFamily="34" charset="0"/>
                <a:ea typeface="Calibri" pitchFamily="34" charset="-122"/>
                <a:cs typeface="Calibri" pitchFamily="34" charset="-120"/>
              </a:rPr>
              <a:t>CATEGORY</a:t>
            </a:r>
            <a:endParaRPr kumimoji="0" lang="en-US" sz="82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 name="Text 6"/>
          <p:cNvSpPr/>
          <p:nvPr/>
        </p:nvSpPr>
        <p:spPr>
          <a:xfrm>
            <a:off x="3246120" y="2011680"/>
            <a:ext cx="777240" cy="21945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20" b="1" i="0" u="none" strike="noStrike" kern="0" cap="none" spc="120" normalizeH="0" baseline="0" noProof="0" dirty="0">
                <a:ln>
                  <a:noFill/>
                </a:ln>
                <a:solidFill>
                  <a:srgbClr val="0F2A44"/>
                </a:solidFill>
                <a:effectLst/>
                <a:uLnTx/>
                <a:uFillTx/>
                <a:latin typeface="Calibri" pitchFamily="34" charset="0"/>
                <a:ea typeface="Calibri" pitchFamily="34" charset="-122"/>
                <a:cs typeface="Calibri" pitchFamily="34" charset="-120"/>
              </a:rPr>
              <a:t>BUDGET</a:t>
            </a:r>
            <a:endParaRPr kumimoji="0" lang="en-US" sz="82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 name="Text 7"/>
          <p:cNvSpPr/>
          <p:nvPr/>
        </p:nvSpPr>
        <p:spPr>
          <a:xfrm>
            <a:off x="4251960" y="2011680"/>
            <a:ext cx="4343400" cy="21945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20" b="1" i="0" u="none" strike="noStrike" kern="0" cap="none" spc="120" normalizeH="0" baseline="0" noProof="0" dirty="0">
                <a:ln>
                  <a:noFill/>
                </a:ln>
                <a:solidFill>
                  <a:srgbClr val="0F2A44"/>
                </a:solidFill>
                <a:effectLst/>
                <a:uLnTx/>
                <a:uFillTx/>
                <a:latin typeface="Calibri" pitchFamily="34" charset="0"/>
                <a:ea typeface="Calibri" pitchFamily="34" charset="-122"/>
                <a:cs typeface="Calibri" pitchFamily="34" charset="-120"/>
              </a:rPr>
              <a:t>COMPUTATION</a:t>
            </a:r>
            <a:endParaRPr kumimoji="0" lang="en-US" sz="82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Shape 8"/>
          <p:cNvSpPr/>
          <p:nvPr/>
        </p:nvSpPr>
        <p:spPr>
          <a:xfrm>
            <a:off x="548640" y="2286000"/>
            <a:ext cx="8046720" cy="13716"/>
          </a:xfrm>
          <a:prstGeom prst="rect">
            <a:avLst/>
          </a:prstGeom>
          <a:solidFill>
            <a:srgbClr val="D8DEE6"/>
          </a:solidFill>
          <a:ln w="12700">
            <a:solidFill>
              <a:srgbClr val="D8DEE6"/>
            </a:solidFill>
            <a:prstDash val="solid"/>
          </a:ln>
        </p:spPr>
      </p:sp>
      <p:sp>
        <p:nvSpPr>
          <p:cNvPr id="11" name="Text 9"/>
          <p:cNvSpPr/>
          <p:nvPr/>
        </p:nvSpPr>
        <p:spPr>
          <a:xfrm>
            <a:off x="548640" y="2441448"/>
            <a:ext cx="685800" cy="256032"/>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dirty="0">
                <a:ln>
                  <a:noFill/>
                </a:ln>
                <a:solidFill>
                  <a:srgbClr val="0D9488"/>
                </a:solidFill>
                <a:effectLst/>
                <a:uLnTx/>
                <a:uFillTx/>
                <a:latin typeface="Calibri" pitchFamily="34" charset="0"/>
                <a:ea typeface="Calibri" pitchFamily="34" charset="-122"/>
                <a:cs typeface="Calibri" pitchFamily="34" charset="-120"/>
              </a:rPr>
              <a:t>AP</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2" name="Text 10"/>
          <p:cNvSpPr/>
          <p:nvPr/>
        </p:nvSpPr>
        <p:spPr>
          <a:xfrm>
            <a:off x="1325880" y="2441448"/>
            <a:ext cx="1828800" cy="256032"/>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40" b="1"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Anti-Patterns</a:t>
            </a:r>
            <a:endParaRPr kumimoji="0" lang="en-US" sz="94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3" name="Text 11"/>
          <p:cNvSpPr/>
          <p:nvPr/>
        </p:nvSpPr>
        <p:spPr>
          <a:xfrm>
            <a:off x="3246120" y="2441448"/>
            <a:ext cx="777240" cy="256032"/>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4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40</a:t>
            </a:r>
            <a:endParaRPr kumimoji="0" lang="en-US" sz="94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 name="Text 12"/>
          <p:cNvSpPr/>
          <p:nvPr/>
        </p:nvSpPr>
        <p:spPr>
          <a:xfrm>
            <a:off x="4251960" y="2441448"/>
            <a:ext cx="4343400" cy="256032"/>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4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max(0, 40 - severity penalties)</a:t>
            </a:r>
            <a:endParaRPr kumimoji="0" lang="en-US" sz="94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Shape 13"/>
          <p:cNvSpPr/>
          <p:nvPr/>
        </p:nvSpPr>
        <p:spPr>
          <a:xfrm>
            <a:off x="548640" y="2743200"/>
            <a:ext cx="8046720" cy="9144"/>
          </a:xfrm>
          <a:prstGeom prst="rect">
            <a:avLst/>
          </a:prstGeom>
          <a:solidFill>
            <a:srgbClr val="D8DEE6"/>
          </a:solidFill>
          <a:ln w="12700">
            <a:solidFill>
              <a:srgbClr val="D8DEE6"/>
            </a:solidFill>
            <a:prstDash val="solid"/>
          </a:ln>
        </p:spPr>
      </p:sp>
      <p:sp>
        <p:nvSpPr>
          <p:cNvPr id="16" name="Text 14"/>
          <p:cNvSpPr/>
          <p:nvPr/>
        </p:nvSpPr>
        <p:spPr>
          <a:xfrm>
            <a:off x="548640" y="2834640"/>
            <a:ext cx="685800" cy="256032"/>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dirty="0">
                <a:ln>
                  <a:noFill/>
                </a:ln>
                <a:solidFill>
                  <a:srgbClr val="0D9488"/>
                </a:solidFill>
                <a:effectLst/>
                <a:uLnTx/>
                <a:uFillTx/>
                <a:latin typeface="Calibri" pitchFamily="34" charset="0"/>
                <a:ea typeface="Calibri" pitchFamily="34" charset="-122"/>
                <a:cs typeface="Calibri" pitchFamily="34" charset="-120"/>
              </a:rPr>
              <a:t>CQ</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Text 15"/>
          <p:cNvSpPr/>
          <p:nvPr/>
        </p:nvSpPr>
        <p:spPr>
          <a:xfrm>
            <a:off x="1325880" y="2834640"/>
            <a:ext cx="1828800" cy="256032"/>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40" b="1"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Code Quality</a:t>
            </a:r>
            <a:endParaRPr kumimoji="0" lang="en-US" sz="94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8" name="Text 16"/>
          <p:cNvSpPr/>
          <p:nvPr/>
        </p:nvSpPr>
        <p:spPr>
          <a:xfrm>
            <a:off x="3246120" y="2834640"/>
            <a:ext cx="777240" cy="256032"/>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4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20</a:t>
            </a:r>
            <a:endParaRPr kumimoji="0" lang="en-US" sz="94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9" name="Text 17"/>
          <p:cNvSpPr/>
          <p:nvPr/>
        </p:nvSpPr>
        <p:spPr>
          <a:xfrm>
            <a:off x="4251960" y="2834640"/>
            <a:ext cx="4343400" cy="256032"/>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4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max(0, 20 - smell-density penalty)</a:t>
            </a:r>
            <a:endParaRPr kumimoji="0" lang="en-US" sz="94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Shape 18"/>
          <p:cNvSpPr/>
          <p:nvPr/>
        </p:nvSpPr>
        <p:spPr>
          <a:xfrm>
            <a:off x="548640" y="3136392"/>
            <a:ext cx="8046720" cy="9144"/>
          </a:xfrm>
          <a:prstGeom prst="rect">
            <a:avLst/>
          </a:prstGeom>
          <a:solidFill>
            <a:srgbClr val="D8DEE6"/>
          </a:solidFill>
          <a:ln w="12700">
            <a:solidFill>
              <a:srgbClr val="D8DEE6"/>
            </a:solidFill>
            <a:prstDash val="solid"/>
          </a:ln>
        </p:spPr>
      </p:sp>
      <p:sp>
        <p:nvSpPr>
          <p:cNvPr id="21" name="Text 19"/>
          <p:cNvSpPr/>
          <p:nvPr/>
        </p:nvSpPr>
        <p:spPr>
          <a:xfrm>
            <a:off x="548640" y="3227832"/>
            <a:ext cx="685800" cy="256032"/>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dirty="0">
                <a:ln>
                  <a:noFill/>
                </a:ln>
                <a:solidFill>
                  <a:srgbClr val="0D9488"/>
                </a:solidFill>
                <a:effectLst/>
                <a:uLnTx/>
                <a:uFillTx/>
                <a:latin typeface="Calibri" pitchFamily="34" charset="0"/>
                <a:ea typeface="Calibri" pitchFamily="34" charset="-122"/>
                <a:cs typeface="Calibri" pitchFamily="34" charset="-120"/>
              </a:rPr>
              <a:t>ARCH</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2" name="Text 20"/>
          <p:cNvSpPr/>
          <p:nvPr/>
        </p:nvSpPr>
        <p:spPr>
          <a:xfrm>
            <a:off x="1325880" y="3227832"/>
            <a:ext cx="1828800" cy="256032"/>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40" b="1"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Architecture</a:t>
            </a:r>
            <a:endParaRPr kumimoji="0" lang="en-US" sz="94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3" name="Text 21"/>
          <p:cNvSpPr/>
          <p:nvPr/>
        </p:nvSpPr>
        <p:spPr>
          <a:xfrm>
            <a:off x="3246120" y="3227832"/>
            <a:ext cx="777240" cy="256032"/>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4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25</a:t>
            </a:r>
            <a:endParaRPr kumimoji="0" lang="en-US" sz="94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 name="Text 22"/>
          <p:cNvSpPr/>
          <p:nvPr/>
        </p:nvSpPr>
        <p:spPr>
          <a:xfrm>
            <a:off x="4251960" y="3227832"/>
            <a:ext cx="4343400" cy="256032"/>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4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max(0, 25 - coupling/cycle penalties)</a:t>
            </a:r>
            <a:endParaRPr kumimoji="0" lang="en-US" sz="94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5" name="Shape 23"/>
          <p:cNvSpPr/>
          <p:nvPr/>
        </p:nvSpPr>
        <p:spPr>
          <a:xfrm>
            <a:off x="548640" y="3529584"/>
            <a:ext cx="8046720" cy="9144"/>
          </a:xfrm>
          <a:prstGeom prst="rect">
            <a:avLst/>
          </a:prstGeom>
          <a:solidFill>
            <a:srgbClr val="D8DEE6"/>
          </a:solidFill>
          <a:ln w="12700">
            <a:solidFill>
              <a:srgbClr val="D8DEE6"/>
            </a:solidFill>
            <a:prstDash val="solid"/>
          </a:ln>
        </p:spPr>
      </p:sp>
      <p:sp>
        <p:nvSpPr>
          <p:cNvPr id="26" name="Text 24"/>
          <p:cNvSpPr/>
          <p:nvPr/>
        </p:nvSpPr>
        <p:spPr>
          <a:xfrm>
            <a:off x="548640" y="3621024"/>
            <a:ext cx="685800" cy="256032"/>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dirty="0">
                <a:ln>
                  <a:noFill/>
                </a:ln>
                <a:solidFill>
                  <a:srgbClr val="0D9488"/>
                </a:solidFill>
                <a:effectLst/>
                <a:uLnTx/>
                <a:uFillTx/>
                <a:latin typeface="Calibri" pitchFamily="34" charset="0"/>
                <a:ea typeface="Calibri" pitchFamily="34" charset="-122"/>
                <a:cs typeface="Calibri" pitchFamily="34" charset="-120"/>
              </a:rPr>
              <a:t>SIZE</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7" name="Text 25"/>
          <p:cNvSpPr/>
          <p:nvPr/>
        </p:nvSpPr>
        <p:spPr>
          <a:xfrm>
            <a:off x="1325880" y="3621024"/>
            <a:ext cx="1828800" cy="256032"/>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40" b="1"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Service Sizing</a:t>
            </a:r>
            <a:endParaRPr kumimoji="0" lang="en-US" sz="94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8" name="Text 26"/>
          <p:cNvSpPr/>
          <p:nvPr/>
        </p:nvSpPr>
        <p:spPr>
          <a:xfrm>
            <a:off x="3246120" y="3621024"/>
            <a:ext cx="777240" cy="256032"/>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4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15</a:t>
            </a:r>
            <a:endParaRPr kumimoji="0" lang="en-US" sz="94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9" name="Text 27"/>
          <p:cNvSpPr/>
          <p:nvPr/>
        </p:nvSpPr>
        <p:spPr>
          <a:xfrm>
            <a:off x="4251960" y="3621024"/>
            <a:ext cx="4343400" cy="256032"/>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4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max(0, 15 - nano/god service penalties)</a:t>
            </a:r>
            <a:endParaRPr kumimoji="0" lang="en-US" sz="94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0" name="Shape 28"/>
          <p:cNvSpPr/>
          <p:nvPr/>
        </p:nvSpPr>
        <p:spPr>
          <a:xfrm>
            <a:off x="548640" y="3922776"/>
            <a:ext cx="8046720" cy="9144"/>
          </a:xfrm>
          <a:prstGeom prst="rect">
            <a:avLst/>
          </a:prstGeom>
          <a:solidFill>
            <a:srgbClr val="D8DEE6"/>
          </a:solidFill>
          <a:ln w="12700">
            <a:solidFill>
              <a:srgbClr val="D8DEE6"/>
            </a:solidFill>
            <a:prstDash val="solid"/>
          </a:ln>
        </p:spPr>
      </p:sp>
      <p:sp>
        <p:nvSpPr>
          <p:cNvPr id="31" name="Text 29"/>
          <p:cNvSpPr/>
          <p:nvPr/>
        </p:nvSpPr>
        <p:spPr>
          <a:xfrm>
            <a:off x="548640" y="4160520"/>
            <a:ext cx="164592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Grade mapping</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2" name="Text 30"/>
          <p:cNvSpPr/>
          <p:nvPr/>
        </p:nvSpPr>
        <p:spPr>
          <a:xfrm>
            <a:off x="2011680" y="4114800"/>
            <a:ext cx="320040" cy="25603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A</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3" name="Text 31"/>
          <p:cNvSpPr/>
          <p:nvPr/>
        </p:nvSpPr>
        <p:spPr>
          <a:xfrm>
            <a:off x="2359152" y="4142232"/>
            <a:ext cx="685800" cy="21945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64748B"/>
                </a:solidFill>
                <a:effectLst/>
                <a:uLnTx/>
                <a:uFillTx/>
                <a:latin typeface="Calibri" pitchFamily="34" charset="0"/>
                <a:ea typeface="Calibri" pitchFamily="34" charset="-122"/>
                <a:cs typeface="Calibri" pitchFamily="34" charset="-120"/>
              </a:rPr>
              <a:t>90-100</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4" name="Text 32"/>
          <p:cNvSpPr/>
          <p:nvPr/>
        </p:nvSpPr>
        <p:spPr>
          <a:xfrm>
            <a:off x="3182112" y="4114800"/>
            <a:ext cx="320040" cy="25603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B</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5" name="Text 33"/>
          <p:cNvSpPr/>
          <p:nvPr/>
        </p:nvSpPr>
        <p:spPr>
          <a:xfrm>
            <a:off x="3529584" y="4142232"/>
            <a:ext cx="685800" cy="21945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64748B"/>
                </a:solidFill>
                <a:effectLst/>
                <a:uLnTx/>
                <a:uFillTx/>
                <a:latin typeface="Calibri" pitchFamily="34" charset="0"/>
                <a:ea typeface="Calibri" pitchFamily="34" charset="-122"/>
                <a:cs typeface="Calibri" pitchFamily="34" charset="-120"/>
              </a:rPr>
              <a:t>80-89</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6" name="Text 34"/>
          <p:cNvSpPr/>
          <p:nvPr/>
        </p:nvSpPr>
        <p:spPr>
          <a:xfrm>
            <a:off x="4352544" y="4114800"/>
            <a:ext cx="320040" cy="25603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C</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7" name="Text 35"/>
          <p:cNvSpPr/>
          <p:nvPr/>
        </p:nvSpPr>
        <p:spPr>
          <a:xfrm>
            <a:off x="4700016" y="4142232"/>
            <a:ext cx="685800" cy="21945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64748B"/>
                </a:solidFill>
                <a:effectLst/>
                <a:uLnTx/>
                <a:uFillTx/>
                <a:latin typeface="Calibri" pitchFamily="34" charset="0"/>
                <a:ea typeface="Calibri" pitchFamily="34" charset="-122"/>
                <a:cs typeface="Calibri" pitchFamily="34" charset="-120"/>
              </a:rPr>
              <a:t>65-79</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8" name="Text 36"/>
          <p:cNvSpPr/>
          <p:nvPr/>
        </p:nvSpPr>
        <p:spPr>
          <a:xfrm>
            <a:off x="5522976" y="4114800"/>
            <a:ext cx="320040" cy="25603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D</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9" name="Text 37"/>
          <p:cNvSpPr/>
          <p:nvPr/>
        </p:nvSpPr>
        <p:spPr>
          <a:xfrm>
            <a:off x="5870448" y="4142232"/>
            <a:ext cx="685800" cy="21945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64748B"/>
                </a:solidFill>
                <a:effectLst/>
                <a:uLnTx/>
                <a:uFillTx/>
                <a:latin typeface="Calibri" pitchFamily="34" charset="0"/>
                <a:ea typeface="Calibri" pitchFamily="34" charset="-122"/>
                <a:cs typeface="Calibri" pitchFamily="34" charset="-120"/>
              </a:rPr>
              <a:t>50-64</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0" name="Text 38"/>
          <p:cNvSpPr/>
          <p:nvPr/>
        </p:nvSpPr>
        <p:spPr>
          <a:xfrm>
            <a:off x="6693408" y="4114800"/>
            <a:ext cx="320040" cy="25603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F</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1" name="Text 39"/>
          <p:cNvSpPr/>
          <p:nvPr/>
        </p:nvSpPr>
        <p:spPr>
          <a:xfrm>
            <a:off x="7040880" y="4142232"/>
            <a:ext cx="685800" cy="21945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64748B"/>
                </a:solidFill>
                <a:effectLst/>
                <a:uLnTx/>
                <a:uFillTx/>
                <a:latin typeface="Calibri" pitchFamily="34" charset="0"/>
                <a:ea typeface="Calibri" pitchFamily="34" charset="-122"/>
                <a:cs typeface="Calibri" pitchFamily="34" charset="-120"/>
              </a:rPr>
              <a:t>&lt; 50</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2" name="Text 40"/>
          <p:cNvSpPr/>
          <p:nvPr/>
        </p:nvSpPr>
        <p:spPr>
          <a:xfrm>
            <a:off x="7452360" y="4864608"/>
            <a:ext cx="1143000" cy="22860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64748B"/>
                </a:solidFill>
                <a:effectLst/>
                <a:uLnTx/>
                <a:uFillTx/>
                <a:latin typeface="Calibri" pitchFamily="34" charset="0"/>
                <a:ea typeface="Calibri" pitchFamily="34" charset="-122"/>
                <a:cs typeface="Calibri" pitchFamily="34" charset="-120"/>
              </a:rPr>
              <a:t>Appendix F</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50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Annex: anti-pattern definitions</a:t>
            </a:r>
            <a:endParaRPr kumimoji="0" lang="en-US" sz="2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sp>
      <p:sp>
        <p:nvSpPr>
          <p:cNvPr id="4" name="Shape 2"/>
          <p:cNvSpPr/>
          <p:nvPr/>
        </p:nvSpPr>
        <p:spPr>
          <a:xfrm>
            <a:off x="548640" y="1005840"/>
            <a:ext cx="301752" cy="32004"/>
          </a:xfrm>
          <a:prstGeom prst="rect">
            <a:avLst/>
          </a:prstGeom>
          <a:solidFill>
            <a:srgbClr val="0D9488"/>
          </a:solidFill>
          <a:ln w="12700">
            <a:solidFill>
              <a:srgbClr val="0D9488"/>
            </a:solidFill>
            <a:prstDash val="solid"/>
          </a:ln>
        </p:spPr>
      </p:sp>
      <p:sp>
        <p:nvSpPr>
          <p:cNvPr id="5" name="Text 3"/>
          <p:cNvSpPr/>
          <p:nvPr/>
        </p:nvSpPr>
        <p:spPr>
          <a:xfrm>
            <a:off x="548640" y="1106424"/>
            <a:ext cx="3703320" cy="21031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Shared Database</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Text 4"/>
          <p:cNvSpPr/>
          <p:nvPr/>
        </p:nvSpPr>
        <p:spPr>
          <a:xfrm>
            <a:off x="548640" y="1335024"/>
            <a:ext cx="3703320" cy="292608"/>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3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Multiple services read from or write to the same database schema, weakening data ownership and independent deployment.</a:t>
            </a:r>
            <a:endParaRPr kumimoji="0" lang="en-US" sz="83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Shape 5"/>
          <p:cNvSpPr/>
          <p:nvPr/>
        </p:nvSpPr>
        <p:spPr>
          <a:xfrm>
            <a:off x="548640" y="1627632"/>
            <a:ext cx="3703320" cy="7315"/>
          </a:xfrm>
          <a:prstGeom prst="rect">
            <a:avLst/>
          </a:prstGeom>
          <a:solidFill>
            <a:srgbClr val="D8DEE6"/>
          </a:solidFill>
          <a:ln w="12700">
            <a:solidFill>
              <a:srgbClr val="D8DEE6"/>
            </a:solidFill>
            <a:prstDash val="solid"/>
          </a:ln>
        </p:spPr>
      </p:sp>
      <p:sp>
        <p:nvSpPr>
          <p:cNvPr id="8" name="Shape 6"/>
          <p:cNvSpPr/>
          <p:nvPr/>
        </p:nvSpPr>
        <p:spPr>
          <a:xfrm>
            <a:off x="548640" y="1700784"/>
            <a:ext cx="301752" cy="32004"/>
          </a:xfrm>
          <a:prstGeom prst="rect">
            <a:avLst/>
          </a:prstGeom>
          <a:solidFill>
            <a:srgbClr val="0D9488"/>
          </a:solidFill>
          <a:ln w="12700">
            <a:solidFill>
              <a:srgbClr val="0D9488"/>
            </a:solidFill>
            <a:prstDash val="solid"/>
          </a:ln>
        </p:spPr>
      </p:sp>
      <p:sp>
        <p:nvSpPr>
          <p:cNvPr id="9" name="Text 7"/>
          <p:cNvSpPr/>
          <p:nvPr/>
        </p:nvSpPr>
        <p:spPr>
          <a:xfrm>
            <a:off x="548640" y="1801368"/>
            <a:ext cx="3703320" cy="21031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Cyclic Dependency</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548640" y="2029968"/>
            <a:ext cx="3703320" cy="292608"/>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3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Two or more services depend on each other through a directed cycle, making isolated deployment and reasoning harder.</a:t>
            </a:r>
            <a:endParaRPr kumimoji="0" lang="en-US" sz="83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9"/>
          <p:cNvSpPr/>
          <p:nvPr/>
        </p:nvSpPr>
        <p:spPr>
          <a:xfrm>
            <a:off x="548640" y="2322576"/>
            <a:ext cx="3703320" cy="7315"/>
          </a:xfrm>
          <a:prstGeom prst="rect">
            <a:avLst/>
          </a:prstGeom>
          <a:solidFill>
            <a:srgbClr val="D8DEE6"/>
          </a:solidFill>
          <a:ln w="12700">
            <a:solidFill>
              <a:srgbClr val="D8DEE6"/>
            </a:solidFill>
            <a:prstDash val="solid"/>
          </a:ln>
        </p:spPr>
      </p:sp>
      <p:sp>
        <p:nvSpPr>
          <p:cNvPr id="12" name="Shape 10"/>
          <p:cNvSpPr/>
          <p:nvPr/>
        </p:nvSpPr>
        <p:spPr>
          <a:xfrm>
            <a:off x="548640" y="2395728"/>
            <a:ext cx="301752" cy="32004"/>
          </a:xfrm>
          <a:prstGeom prst="rect">
            <a:avLst/>
          </a:prstGeom>
          <a:solidFill>
            <a:srgbClr val="0D9488"/>
          </a:solidFill>
          <a:ln w="12700">
            <a:solidFill>
              <a:srgbClr val="0D9488"/>
            </a:solidFill>
            <a:prstDash val="solid"/>
          </a:ln>
        </p:spPr>
      </p:sp>
      <p:sp>
        <p:nvSpPr>
          <p:cNvPr id="13" name="Text 11"/>
          <p:cNvSpPr/>
          <p:nvPr/>
        </p:nvSpPr>
        <p:spPr>
          <a:xfrm>
            <a:off x="548640" y="2496312"/>
            <a:ext cx="3703320" cy="21031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Chatty Service</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 name="Text 12"/>
          <p:cNvSpPr/>
          <p:nvPr/>
        </p:nvSpPr>
        <p:spPr>
          <a:xfrm>
            <a:off x="548640" y="2724912"/>
            <a:ext cx="3703320" cy="292608"/>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3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Services communicate through many fine-grained remote calls, increasing latency, network fragility, and runtime coupling.</a:t>
            </a:r>
            <a:endParaRPr kumimoji="0" lang="en-US" sz="83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Shape 13"/>
          <p:cNvSpPr/>
          <p:nvPr/>
        </p:nvSpPr>
        <p:spPr>
          <a:xfrm>
            <a:off x="548640" y="3017520"/>
            <a:ext cx="3703320" cy="7315"/>
          </a:xfrm>
          <a:prstGeom prst="rect">
            <a:avLst/>
          </a:prstGeom>
          <a:solidFill>
            <a:srgbClr val="D8DEE6"/>
          </a:solidFill>
          <a:ln w="12700">
            <a:solidFill>
              <a:srgbClr val="D8DEE6"/>
            </a:solidFill>
            <a:prstDash val="solid"/>
          </a:ln>
        </p:spPr>
      </p:sp>
      <p:sp>
        <p:nvSpPr>
          <p:cNvPr id="16" name="Shape 14"/>
          <p:cNvSpPr/>
          <p:nvPr/>
        </p:nvSpPr>
        <p:spPr>
          <a:xfrm>
            <a:off x="548640" y="3090672"/>
            <a:ext cx="301752" cy="32004"/>
          </a:xfrm>
          <a:prstGeom prst="rect">
            <a:avLst/>
          </a:prstGeom>
          <a:solidFill>
            <a:srgbClr val="0D9488"/>
          </a:solidFill>
          <a:ln w="12700">
            <a:solidFill>
              <a:srgbClr val="0D9488"/>
            </a:solidFill>
            <a:prstDash val="solid"/>
          </a:ln>
        </p:spPr>
      </p:sp>
      <p:sp>
        <p:nvSpPr>
          <p:cNvPr id="17" name="Text 15"/>
          <p:cNvSpPr/>
          <p:nvPr/>
        </p:nvSpPr>
        <p:spPr>
          <a:xfrm>
            <a:off x="548640" y="3191256"/>
            <a:ext cx="3703320" cy="21031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Hardcoded Endpoints</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8" name="Text 16"/>
          <p:cNvSpPr/>
          <p:nvPr/>
        </p:nvSpPr>
        <p:spPr>
          <a:xfrm>
            <a:off x="548640" y="3419856"/>
            <a:ext cx="3703320" cy="292608"/>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3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Service URLs, IP addresses, ports, or localhost values are embedded in source code instead of external configuration.</a:t>
            </a:r>
            <a:endParaRPr kumimoji="0" lang="en-US" sz="83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9" name="Shape 17"/>
          <p:cNvSpPr/>
          <p:nvPr/>
        </p:nvSpPr>
        <p:spPr>
          <a:xfrm>
            <a:off x="548640" y="3712464"/>
            <a:ext cx="3703320" cy="7315"/>
          </a:xfrm>
          <a:prstGeom prst="rect">
            <a:avLst/>
          </a:prstGeom>
          <a:solidFill>
            <a:srgbClr val="D8DEE6"/>
          </a:solidFill>
          <a:ln w="12700">
            <a:solidFill>
              <a:srgbClr val="D8DEE6"/>
            </a:solidFill>
            <a:prstDash val="solid"/>
          </a:ln>
        </p:spPr>
      </p:sp>
      <p:sp>
        <p:nvSpPr>
          <p:cNvPr id="20" name="Shape 18"/>
          <p:cNvSpPr/>
          <p:nvPr/>
        </p:nvSpPr>
        <p:spPr>
          <a:xfrm>
            <a:off x="548640" y="3785616"/>
            <a:ext cx="301752" cy="32004"/>
          </a:xfrm>
          <a:prstGeom prst="rect">
            <a:avLst/>
          </a:prstGeom>
          <a:solidFill>
            <a:srgbClr val="0D9488"/>
          </a:solidFill>
          <a:ln w="12700">
            <a:solidFill>
              <a:srgbClr val="0D9488"/>
            </a:solidFill>
            <a:prstDash val="solid"/>
          </a:ln>
        </p:spPr>
      </p:sp>
      <p:sp>
        <p:nvSpPr>
          <p:cNvPr id="21" name="Text 19"/>
          <p:cNvSpPr/>
          <p:nvPr/>
        </p:nvSpPr>
        <p:spPr>
          <a:xfrm>
            <a:off x="548640" y="3886200"/>
            <a:ext cx="3703320" cy="21031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ESB Misuse</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2" name="Text 20"/>
          <p:cNvSpPr/>
          <p:nvPr/>
        </p:nvSpPr>
        <p:spPr>
          <a:xfrm>
            <a:off x="548640" y="4114800"/>
            <a:ext cx="3703320" cy="292608"/>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3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A service behaves as a central mediator for many calls, recreating an enterprise-service-bus bottleneck inside a microservice system.</a:t>
            </a:r>
            <a:endParaRPr kumimoji="0" lang="en-US" sz="83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3" name="Shape 21"/>
          <p:cNvSpPr/>
          <p:nvPr/>
        </p:nvSpPr>
        <p:spPr>
          <a:xfrm>
            <a:off x="548640" y="4407408"/>
            <a:ext cx="3703320" cy="7315"/>
          </a:xfrm>
          <a:prstGeom prst="rect">
            <a:avLst/>
          </a:prstGeom>
          <a:solidFill>
            <a:srgbClr val="D8DEE6"/>
          </a:solidFill>
          <a:ln w="12700">
            <a:solidFill>
              <a:srgbClr val="D8DEE6"/>
            </a:solidFill>
            <a:prstDash val="solid"/>
          </a:ln>
        </p:spPr>
      </p:sp>
      <p:sp>
        <p:nvSpPr>
          <p:cNvPr id="24" name="Shape 22"/>
          <p:cNvSpPr/>
          <p:nvPr/>
        </p:nvSpPr>
        <p:spPr>
          <a:xfrm>
            <a:off x="4617720" y="1005840"/>
            <a:ext cx="301752" cy="32004"/>
          </a:xfrm>
          <a:prstGeom prst="rect">
            <a:avLst/>
          </a:prstGeom>
          <a:solidFill>
            <a:srgbClr val="1C4E80"/>
          </a:solidFill>
          <a:ln w="12700">
            <a:solidFill>
              <a:srgbClr val="1C4E80"/>
            </a:solidFill>
            <a:prstDash val="solid"/>
          </a:ln>
        </p:spPr>
      </p:sp>
      <p:sp>
        <p:nvSpPr>
          <p:cNvPr id="25" name="Text 23"/>
          <p:cNvSpPr/>
          <p:nvPr/>
        </p:nvSpPr>
        <p:spPr>
          <a:xfrm>
            <a:off x="4617720" y="1106424"/>
            <a:ext cx="3703320" cy="21031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Distributed Monolith</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6" name="Text 24"/>
          <p:cNvSpPr/>
          <p:nvPr/>
        </p:nvSpPr>
        <p:spPr>
          <a:xfrm>
            <a:off x="4617720" y="1335024"/>
            <a:ext cx="3703320" cy="292608"/>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3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The system is split into services, but dense coupling, cycles, or shared data force it to change and deploy like one unit.</a:t>
            </a:r>
            <a:endParaRPr kumimoji="0" lang="en-US" sz="83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7" name="Shape 25"/>
          <p:cNvSpPr/>
          <p:nvPr/>
        </p:nvSpPr>
        <p:spPr>
          <a:xfrm>
            <a:off x="4617720" y="1627632"/>
            <a:ext cx="3703320" cy="7315"/>
          </a:xfrm>
          <a:prstGeom prst="rect">
            <a:avLst/>
          </a:prstGeom>
          <a:solidFill>
            <a:srgbClr val="D8DEE6"/>
          </a:solidFill>
          <a:ln w="12700">
            <a:solidFill>
              <a:srgbClr val="D8DEE6"/>
            </a:solidFill>
            <a:prstDash val="solid"/>
          </a:ln>
        </p:spPr>
      </p:sp>
      <p:sp>
        <p:nvSpPr>
          <p:cNvPr id="28" name="Shape 26"/>
          <p:cNvSpPr/>
          <p:nvPr/>
        </p:nvSpPr>
        <p:spPr>
          <a:xfrm>
            <a:off x="4617720" y="1700784"/>
            <a:ext cx="301752" cy="32004"/>
          </a:xfrm>
          <a:prstGeom prst="rect">
            <a:avLst/>
          </a:prstGeom>
          <a:solidFill>
            <a:srgbClr val="1C4E80"/>
          </a:solidFill>
          <a:ln w="12700">
            <a:solidFill>
              <a:srgbClr val="1C4E80"/>
            </a:solidFill>
            <a:prstDash val="solid"/>
          </a:ln>
        </p:spPr>
      </p:sp>
      <p:sp>
        <p:nvSpPr>
          <p:cNvPr id="29" name="Text 27"/>
          <p:cNvSpPr/>
          <p:nvPr/>
        </p:nvSpPr>
        <p:spPr>
          <a:xfrm>
            <a:off x="4617720" y="1801368"/>
            <a:ext cx="3703320" cy="21031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API Versioning Absence</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0" name="Text 28"/>
          <p:cNvSpPr/>
          <p:nvPr/>
        </p:nvSpPr>
        <p:spPr>
          <a:xfrm>
            <a:off x="4617720" y="2029968"/>
            <a:ext cx="3703320" cy="292608"/>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3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Public endpoints lack explicit version markers, making incompatible API evolution risky for existing clients.</a:t>
            </a:r>
            <a:endParaRPr kumimoji="0" lang="en-US" sz="83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1" name="Shape 29"/>
          <p:cNvSpPr/>
          <p:nvPr/>
        </p:nvSpPr>
        <p:spPr>
          <a:xfrm>
            <a:off x="4617720" y="2322576"/>
            <a:ext cx="3703320" cy="7315"/>
          </a:xfrm>
          <a:prstGeom prst="rect">
            <a:avLst/>
          </a:prstGeom>
          <a:solidFill>
            <a:srgbClr val="D8DEE6"/>
          </a:solidFill>
          <a:ln w="12700">
            <a:solidFill>
              <a:srgbClr val="D8DEE6"/>
            </a:solidFill>
            <a:prstDash val="solid"/>
          </a:ln>
        </p:spPr>
      </p:sp>
      <p:sp>
        <p:nvSpPr>
          <p:cNvPr id="32" name="Shape 30"/>
          <p:cNvSpPr/>
          <p:nvPr/>
        </p:nvSpPr>
        <p:spPr>
          <a:xfrm>
            <a:off x="4617720" y="2395728"/>
            <a:ext cx="301752" cy="32004"/>
          </a:xfrm>
          <a:prstGeom prst="rect">
            <a:avLst/>
          </a:prstGeom>
          <a:solidFill>
            <a:srgbClr val="1C4E80"/>
          </a:solidFill>
          <a:ln w="12700">
            <a:solidFill>
              <a:srgbClr val="1C4E80"/>
            </a:solidFill>
            <a:prstDash val="solid"/>
          </a:ln>
        </p:spPr>
      </p:sp>
      <p:sp>
        <p:nvSpPr>
          <p:cNvPr id="33" name="Text 31"/>
          <p:cNvSpPr/>
          <p:nvPr/>
        </p:nvSpPr>
        <p:spPr>
          <a:xfrm>
            <a:off x="4617720" y="2496312"/>
            <a:ext cx="3703320" cy="21031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Wrong Cuts</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4" name="Text 32"/>
          <p:cNvSpPr/>
          <p:nvPr/>
        </p:nvSpPr>
        <p:spPr>
          <a:xfrm>
            <a:off x="4617720" y="2724912"/>
            <a:ext cx="3703320" cy="292608"/>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3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Service boundaries split responsibilities poorly, visible through bidirectional dependencies or strongly coupled service pairs.</a:t>
            </a:r>
            <a:endParaRPr kumimoji="0" lang="en-US" sz="83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5" name="Shape 33"/>
          <p:cNvSpPr/>
          <p:nvPr/>
        </p:nvSpPr>
        <p:spPr>
          <a:xfrm>
            <a:off x="4617720" y="3017520"/>
            <a:ext cx="3703320" cy="7315"/>
          </a:xfrm>
          <a:prstGeom prst="rect">
            <a:avLst/>
          </a:prstGeom>
          <a:solidFill>
            <a:srgbClr val="D8DEE6"/>
          </a:solidFill>
          <a:ln w="12700">
            <a:solidFill>
              <a:srgbClr val="D8DEE6"/>
            </a:solidFill>
            <a:prstDash val="solid"/>
          </a:ln>
        </p:spPr>
      </p:sp>
      <p:sp>
        <p:nvSpPr>
          <p:cNvPr id="36" name="Shape 34"/>
          <p:cNvSpPr/>
          <p:nvPr/>
        </p:nvSpPr>
        <p:spPr>
          <a:xfrm>
            <a:off x="4617720" y="3090672"/>
            <a:ext cx="301752" cy="32004"/>
          </a:xfrm>
          <a:prstGeom prst="rect">
            <a:avLst/>
          </a:prstGeom>
          <a:solidFill>
            <a:srgbClr val="1C4E80"/>
          </a:solidFill>
          <a:ln w="12700">
            <a:solidFill>
              <a:srgbClr val="1C4E80"/>
            </a:solidFill>
            <a:prstDash val="solid"/>
          </a:ln>
        </p:spPr>
      </p:sp>
      <p:sp>
        <p:nvSpPr>
          <p:cNvPr id="37" name="Text 35"/>
          <p:cNvSpPr/>
          <p:nvPr/>
        </p:nvSpPr>
        <p:spPr>
          <a:xfrm>
            <a:off x="4617720" y="3191256"/>
            <a:ext cx="3703320" cy="21031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Nano Service</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8" name="Text 36"/>
          <p:cNvSpPr/>
          <p:nvPr/>
        </p:nvSpPr>
        <p:spPr>
          <a:xfrm>
            <a:off x="4617720" y="3419856"/>
            <a:ext cx="3703320" cy="292608"/>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3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A service is so small that deployment, monitoring, and operational overhead outweigh its autonomy benefits.</a:t>
            </a:r>
            <a:endParaRPr kumimoji="0" lang="en-US" sz="83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9" name="Shape 37"/>
          <p:cNvSpPr/>
          <p:nvPr/>
        </p:nvSpPr>
        <p:spPr>
          <a:xfrm>
            <a:off x="4617720" y="3712464"/>
            <a:ext cx="3703320" cy="7315"/>
          </a:xfrm>
          <a:prstGeom prst="rect">
            <a:avLst/>
          </a:prstGeom>
          <a:solidFill>
            <a:srgbClr val="D8DEE6"/>
          </a:solidFill>
          <a:ln w="12700">
            <a:solidFill>
              <a:srgbClr val="D8DEE6"/>
            </a:solidFill>
            <a:prstDash val="solid"/>
          </a:ln>
        </p:spPr>
      </p:sp>
      <p:sp>
        <p:nvSpPr>
          <p:cNvPr id="40" name="Shape 38"/>
          <p:cNvSpPr/>
          <p:nvPr/>
        </p:nvSpPr>
        <p:spPr>
          <a:xfrm>
            <a:off x="4617720" y="3785616"/>
            <a:ext cx="301752" cy="32004"/>
          </a:xfrm>
          <a:prstGeom prst="rect">
            <a:avLst/>
          </a:prstGeom>
          <a:solidFill>
            <a:srgbClr val="1C4E80"/>
          </a:solidFill>
          <a:ln w="12700">
            <a:solidFill>
              <a:srgbClr val="1C4E80"/>
            </a:solidFill>
            <a:prstDash val="solid"/>
          </a:ln>
        </p:spPr>
      </p:sp>
      <p:sp>
        <p:nvSpPr>
          <p:cNvPr id="41" name="Text 39"/>
          <p:cNvSpPr/>
          <p:nvPr/>
        </p:nvSpPr>
        <p:spPr>
          <a:xfrm>
            <a:off x="4617720" y="3886200"/>
            <a:ext cx="3703320" cy="21031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God Service</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2" name="Text 40"/>
          <p:cNvSpPr/>
          <p:nvPr/>
        </p:nvSpPr>
        <p:spPr>
          <a:xfrm>
            <a:off x="4617720" y="4114800"/>
            <a:ext cx="3703320" cy="292608"/>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3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A service concentrates too many responsibilities, often evidenced by very large or low-cohesion classes inside it.</a:t>
            </a:r>
            <a:endParaRPr kumimoji="0" lang="en-US" sz="83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3" name="Shape 41"/>
          <p:cNvSpPr/>
          <p:nvPr/>
        </p:nvSpPr>
        <p:spPr>
          <a:xfrm>
            <a:off x="4617720" y="4407408"/>
            <a:ext cx="3703320" cy="7315"/>
          </a:xfrm>
          <a:prstGeom prst="rect">
            <a:avLst/>
          </a:prstGeom>
          <a:solidFill>
            <a:srgbClr val="D8DEE6"/>
          </a:solidFill>
          <a:ln w="12700">
            <a:solidFill>
              <a:srgbClr val="D8DEE6"/>
            </a:solidFill>
            <a:prstDash val="solid"/>
          </a:ln>
        </p:spPr>
      </p:sp>
      <p:sp>
        <p:nvSpPr>
          <p:cNvPr id="46" name="Text 44"/>
          <p:cNvSpPr/>
          <p:nvPr/>
        </p:nvSpPr>
        <p:spPr>
          <a:xfrm>
            <a:off x="7452360" y="4864608"/>
            <a:ext cx="1143000" cy="22860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64748B"/>
                </a:solidFill>
                <a:effectLst/>
                <a:uLnTx/>
                <a:uFillTx/>
                <a:latin typeface="Calibri" pitchFamily="34" charset="0"/>
                <a:ea typeface="Calibri" pitchFamily="34" charset="-122"/>
                <a:cs typeface="Calibri" pitchFamily="34" charset="-120"/>
              </a:rPr>
              <a:t>Appendix G</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50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Annex: detector thresholds</a:t>
            </a:r>
            <a:endParaRPr kumimoji="0" lang="en-US" sz="2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sp>
      <p:sp>
        <p:nvSpPr>
          <p:cNvPr id="4" name="Text 2"/>
          <p:cNvSpPr/>
          <p:nvPr/>
        </p:nvSpPr>
        <p:spPr>
          <a:xfrm>
            <a:off x="548640" y="1005840"/>
            <a:ext cx="123444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80" b="1" i="0" u="none" strike="noStrike" kern="0" cap="none" spc="110" normalizeH="0" baseline="0" noProof="0" dirty="0">
                <a:ln>
                  <a:noFill/>
                </a:ln>
                <a:solidFill>
                  <a:srgbClr val="0F2A44"/>
                </a:solidFill>
                <a:effectLst/>
                <a:uLnTx/>
                <a:uFillTx/>
                <a:latin typeface="Calibri" pitchFamily="34" charset="0"/>
                <a:ea typeface="Calibri" pitchFamily="34" charset="-122"/>
                <a:cs typeface="Calibri" pitchFamily="34" charset="-120"/>
              </a:rPr>
              <a:t>DETECTOR</a:t>
            </a:r>
            <a:endParaRPr kumimoji="0" lang="en-US" sz="78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Text 3"/>
          <p:cNvSpPr/>
          <p:nvPr/>
        </p:nvSpPr>
        <p:spPr>
          <a:xfrm>
            <a:off x="1691640" y="1005840"/>
            <a:ext cx="242316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80" b="1" i="0" u="none" strike="noStrike" kern="0" cap="none" spc="110" normalizeH="0" baseline="0" noProof="0" dirty="0">
                <a:ln>
                  <a:noFill/>
                </a:ln>
                <a:solidFill>
                  <a:srgbClr val="0F2A44"/>
                </a:solidFill>
                <a:effectLst/>
                <a:uLnTx/>
                <a:uFillTx/>
                <a:latin typeface="Calibri" pitchFamily="34" charset="0"/>
                <a:ea typeface="Calibri" pitchFamily="34" charset="-122"/>
                <a:cs typeface="Calibri" pitchFamily="34" charset="-120"/>
              </a:rPr>
              <a:t>SIGNAL</a:t>
            </a:r>
            <a:endParaRPr kumimoji="0" lang="en-US" sz="78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Text 4"/>
          <p:cNvSpPr/>
          <p:nvPr/>
        </p:nvSpPr>
        <p:spPr>
          <a:xfrm>
            <a:off x="4251960" y="1005840"/>
            <a:ext cx="132588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80" b="1" i="0" u="none" strike="noStrike" kern="0" cap="none" spc="110" normalizeH="0" baseline="0" noProof="0" dirty="0">
                <a:ln>
                  <a:noFill/>
                </a:ln>
                <a:solidFill>
                  <a:srgbClr val="0F2A44"/>
                </a:solidFill>
                <a:effectLst/>
                <a:uLnTx/>
                <a:uFillTx/>
                <a:latin typeface="Calibri" pitchFamily="34" charset="0"/>
                <a:ea typeface="Calibri" pitchFamily="34" charset="-122"/>
                <a:cs typeface="Calibri" pitchFamily="34" charset="-120"/>
              </a:rPr>
              <a:t>THRESHOLD</a:t>
            </a:r>
            <a:endParaRPr kumimoji="0" lang="en-US" sz="78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Text 5"/>
          <p:cNvSpPr/>
          <p:nvPr/>
        </p:nvSpPr>
        <p:spPr>
          <a:xfrm>
            <a:off x="5715000" y="1005840"/>
            <a:ext cx="68580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80" b="1" i="0" u="none" strike="noStrike" kern="0" cap="none" spc="110" normalizeH="0" baseline="0" noProof="0" dirty="0">
                <a:ln>
                  <a:noFill/>
                </a:ln>
                <a:solidFill>
                  <a:srgbClr val="0F2A44"/>
                </a:solidFill>
                <a:effectLst/>
                <a:uLnTx/>
                <a:uFillTx/>
                <a:latin typeface="Calibri" pitchFamily="34" charset="0"/>
                <a:ea typeface="Calibri" pitchFamily="34" charset="-122"/>
                <a:cs typeface="Calibri" pitchFamily="34" charset="-120"/>
              </a:rPr>
              <a:t>SEVERITY</a:t>
            </a:r>
            <a:endParaRPr kumimoji="0" lang="en-US" sz="78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 name="Text 6"/>
          <p:cNvSpPr/>
          <p:nvPr/>
        </p:nvSpPr>
        <p:spPr>
          <a:xfrm>
            <a:off x="6537960" y="1005840"/>
            <a:ext cx="205740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80" b="1" i="0" u="none" strike="noStrike" kern="0" cap="none" spc="110" normalizeH="0" baseline="0" noProof="0" dirty="0">
                <a:ln>
                  <a:noFill/>
                </a:ln>
                <a:solidFill>
                  <a:srgbClr val="0F2A44"/>
                </a:solidFill>
                <a:effectLst/>
                <a:uLnTx/>
                <a:uFillTx/>
                <a:latin typeface="Calibri" pitchFamily="34" charset="0"/>
                <a:ea typeface="Calibri" pitchFamily="34" charset="-122"/>
                <a:cs typeface="Calibri" pitchFamily="34" charset="-120"/>
              </a:rPr>
              <a:t>RATIONALE</a:t>
            </a:r>
            <a:endParaRPr kumimoji="0" lang="en-US" sz="78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 name="Shape 7"/>
          <p:cNvSpPr/>
          <p:nvPr/>
        </p:nvSpPr>
        <p:spPr>
          <a:xfrm>
            <a:off x="548640" y="1298448"/>
            <a:ext cx="8046720" cy="13716"/>
          </a:xfrm>
          <a:prstGeom prst="rect">
            <a:avLst/>
          </a:prstGeom>
          <a:solidFill>
            <a:srgbClr val="D8DEE6"/>
          </a:solidFill>
          <a:ln w="12700">
            <a:solidFill>
              <a:srgbClr val="D8DEE6"/>
            </a:solidFill>
            <a:prstDash val="solid"/>
          </a:ln>
        </p:spPr>
      </p:sp>
      <p:sp>
        <p:nvSpPr>
          <p:cNvPr id="10" name="Text 8"/>
          <p:cNvSpPr/>
          <p:nvPr/>
        </p:nvSpPr>
        <p:spPr>
          <a:xfrm>
            <a:off x="548640" y="1408176"/>
            <a:ext cx="123444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70" b="1"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Shared DB</a:t>
            </a:r>
            <a:endParaRPr kumimoji="0" lang="en-US" sz="8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Text 9"/>
          <p:cNvSpPr/>
          <p:nvPr/>
        </p:nvSpPr>
        <p:spPr>
          <a:xfrm>
            <a:off x="1691640" y="1408176"/>
            <a:ext cx="242316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same datasource URL in &gt;1 service</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2" name="Text 10"/>
          <p:cNvSpPr/>
          <p:nvPr/>
        </p:nvSpPr>
        <p:spPr>
          <a:xfrm>
            <a:off x="4251960" y="1408176"/>
            <a:ext cx="132588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&gt;1 service</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3" name="Text 11"/>
          <p:cNvSpPr/>
          <p:nvPr/>
        </p:nvSpPr>
        <p:spPr>
          <a:xfrm>
            <a:off x="5715000" y="1408176"/>
            <a:ext cx="68580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1" i="0" u="none" strike="noStrike" kern="1200" cap="none" spc="0" normalizeH="0" baseline="0" noProof="0" dirty="0">
                <a:ln>
                  <a:noFill/>
                </a:ln>
                <a:solidFill>
                  <a:srgbClr val="D97706"/>
                </a:solidFill>
                <a:effectLst/>
                <a:uLnTx/>
                <a:uFillTx/>
                <a:latin typeface="Calibri" pitchFamily="34" charset="0"/>
                <a:ea typeface="Calibri" pitchFamily="34" charset="-122"/>
                <a:cs typeface="Calibri" pitchFamily="34" charset="-120"/>
              </a:rPr>
              <a:t>High</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 name="Text 12"/>
          <p:cNvSpPr/>
          <p:nvPr/>
        </p:nvSpPr>
        <p:spPr>
          <a:xfrm>
            <a:off x="6537960" y="1408176"/>
            <a:ext cx="205740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lost data ownership</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Shape 13"/>
          <p:cNvSpPr/>
          <p:nvPr/>
        </p:nvSpPr>
        <p:spPr>
          <a:xfrm>
            <a:off x="548640" y="1655064"/>
            <a:ext cx="8046720" cy="7315"/>
          </a:xfrm>
          <a:prstGeom prst="rect">
            <a:avLst/>
          </a:prstGeom>
          <a:solidFill>
            <a:srgbClr val="D8DEE6"/>
          </a:solidFill>
          <a:ln w="12700">
            <a:solidFill>
              <a:srgbClr val="D8DEE6"/>
            </a:solidFill>
            <a:prstDash val="solid"/>
          </a:ln>
        </p:spPr>
      </p:sp>
      <p:sp>
        <p:nvSpPr>
          <p:cNvPr id="16" name="Text 14"/>
          <p:cNvSpPr/>
          <p:nvPr/>
        </p:nvSpPr>
        <p:spPr>
          <a:xfrm>
            <a:off x="548640" y="1719072"/>
            <a:ext cx="123444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70" b="1"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Cyclic Dep.</a:t>
            </a:r>
            <a:endParaRPr kumimoji="0" lang="en-US" sz="8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Text 15"/>
          <p:cNvSpPr/>
          <p:nvPr/>
        </p:nvSpPr>
        <p:spPr>
          <a:xfrm>
            <a:off x="1691640" y="1719072"/>
            <a:ext cx="242316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Tarjan SCC in service graph</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8" name="Text 16"/>
          <p:cNvSpPr/>
          <p:nvPr/>
        </p:nvSpPr>
        <p:spPr>
          <a:xfrm>
            <a:off x="4251960" y="1719072"/>
            <a:ext cx="132588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SCC size &gt;1</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9" name="Text 17"/>
          <p:cNvSpPr/>
          <p:nvPr/>
        </p:nvSpPr>
        <p:spPr>
          <a:xfrm>
            <a:off x="5715000" y="1719072"/>
            <a:ext cx="68580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1" i="0" u="none" strike="noStrike" kern="1200" cap="none" spc="0" normalizeH="0" baseline="0" noProof="0" dirty="0">
                <a:ln>
                  <a:noFill/>
                </a:ln>
                <a:solidFill>
                  <a:srgbClr val="DC2626"/>
                </a:solidFill>
                <a:effectLst/>
                <a:uLnTx/>
                <a:uFillTx/>
                <a:latin typeface="Calibri" pitchFamily="34" charset="0"/>
                <a:ea typeface="Calibri" pitchFamily="34" charset="-122"/>
                <a:cs typeface="Calibri" pitchFamily="34" charset="-120"/>
              </a:rPr>
              <a:t>Crit.</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Text 18"/>
          <p:cNvSpPr/>
          <p:nvPr/>
        </p:nvSpPr>
        <p:spPr>
          <a:xfrm>
            <a:off x="6537960" y="1719072"/>
            <a:ext cx="205740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deployability blocked</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Shape 19"/>
          <p:cNvSpPr/>
          <p:nvPr/>
        </p:nvSpPr>
        <p:spPr>
          <a:xfrm>
            <a:off x="548640" y="1965960"/>
            <a:ext cx="8046720" cy="7315"/>
          </a:xfrm>
          <a:prstGeom prst="rect">
            <a:avLst/>
          </a:prstGeom>
          <a:solidFill>
            <a:srgbClr val="D8DEE6"/>
          </a:solidFill>
          <a:ln w="12700">
            <a:solidFill>
              <a:srgbClr val="D8DEE6"/>
            </a:solidFill>
            <a:prstDash val="solid"/>
          </a:ln>
        </p:spPr>
      </p:sp>
      <p:sp>
        <p:nvSpPr>
          <p:cNvPr id="22" name="Text 20"/>
          <p:cNvSpPr/>
          <p:nvPr/>
        </p:nvSpPr>
        <p:spPr>
          <a:xfrm>
            <a:off x="548640" y="2029968"/>
            <a:ext cx="123444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70" b="1"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Chatty Service</a:t>
            </a:r>
            <a:endParaRPr kumimoji="0" lang="en-US" sz="8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3" name="Text 21"/>
          <p:cNvSpPr/>
          <p:nvPr/>
        </p:nvSpPr>
        <p:spPr>
          <a:xfrm>
            <a:off x="1691640" y="2029968"/>
            <a:ext cx="242316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edge call volume or wide Feign client</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 name="Text 22"/>
          <p:cNvSpPr/>
          <p:nvPr/>
        </p:nvSpPr>
        <p:spPr>
          <a:xfrm>
            <a:off x="4251960" y="2029968"/>
            <a:ext cx="132588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&gt;=5 calls/methods</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5" name="Text 23"/>
          <p:cNvSpPr/>
          <p:nvPr/>
        </p:nvSpPr>
        <p:spPr>
          <a:xfrm>
            <a:off x="5715000" y="2029968"/>
            <a:ext cx="68580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1" i="0" u="none" strike="noStrike" kern="1200" cap="none" spc="0" normalizeH="0" baseline="0" noProof="0" dirty="0">
                <a:ln>
                  <a:noFill/>
                </a:ln>
                <a:solidFill>
                  <a:srgbClr val="D97706"/>
                </a:solidFill>
                <a:effectLst/>
                <a:uLnTx/>
                <a:uFillTx/>
                <a:latin typeface="Calibri" pitchFamily="34" charset="0"/>
                <a:ea typeface="Calibri" pitchFamily="34" charset="-122"/>
                <a:cs typeface="Calibri" pitchFamily="34" charset="-120"/>
              </a:rPr>
              <a:t>High</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6" name="Text 24"/>
          <p:cNvSpPr/>
          <p:nvPr/>
        </p:nvSpPr>
        <p:spPr>
          <a:xfrm>
            <a:off x="6537960" y="2029968"/>
            <a:ext cx="205740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runtime coupling</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7" name="Shape 25"/>
          <p:cNvSpPr/>
          <p:nvPr/>
        </p:nvSpPr>
        <p:spPr>
          <a:xfrm>
            <a:off x="548640" y="2276856"/>
            <a:ext cx="8046720" cy="7315"/>
          </a:xfrm>
          <a:prstGeom prst="rect">
            <a:avLst/>
          </a:prstGeom>
          <a:solidFill>
            <a:srgbClr val="D8DEE6"/>
          </a:solidFill>
          <a:ln w="12700">
            <a:solidFill>
              <a:srgbClr val="D8DEE6"/>
            </a:solidFill>
            <a:prstDash val="solid"/>
          </a:ln>
        </p:spPr>
      </p:sp>
      <p:sp>
        <p:nvSpPr>
          <p:cNvPr id="28" name="Text 26"/>
          <p:cNvSpPr/>
          <p:nvPr/>
        </p:nvSpPr>
        <p:spPr>
          <a:xfrm>
            <a:off x="548640" y="2340864"/>
            <a:ext cx="123444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70" b="1"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Hardcoded EP</a:t>
            </a:r>
            <a:endParaRPr kumimoji="0" lang="en-US" sz="8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9" name="Text 27"/>
          <p:cNvSpPr/>
          <p:nvPr/>
        </p:nvSpPr>
        <p:spPr>
          <a:xfrm>
            <a:off x="1691640" y="2340864"/>
            <a:ext cx="242316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literal URL/IP/localhost in Java</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0" name="Text 28"/>
          <p:cNvSpPr/>
          <p:nvPr/>
        </p:nvSpPr>
        <p:spPr>
          <a:xfrm>
            <a:off x="4251960" y="2340864"/>
            <a:ext cx="132588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regex match</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1" name="Text 29"/>
          <p:cNvSpPr/>
          <p:nvPr/>
        </p:nvSpPr>
        <p:spPr>
          <a:xfrm>
            <a:off x="5715000" y="2340864"/>
            <a:ext cx="68580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1" i="0" u="none" strike="noStrike" kern="1200" cap="none" spc="0" normalizeH="0" baseline="0" noProof="0" dirty="0">
                <a:ln>
                  <a:noFill/>
                </a:ln>
                <a:solidFill>
                  <a:srgbClr val="1C4E80"/>
                </a:solidFill>
                <a:effectLst/>
                <a:uLnTx/>
                <a:uFillTx/>
                <a:latin typeface="Calibri" pitchFamily="34" charset="0"/>
                <a:ea typeface="Calibri" pitchFamily="34" charset="-122"/>
                <a:cs typeface="Calibri" pitchFamily="34" charset="-120"/>
              </a:rPr>
              <a:t>Med.</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2" name="Text 30"/>
          <p:cNvSpPr/>
          <p:nvPr/>
        </p:nvSpPr>
        <p:spPr>
          <a:xfrm>
            <a:off x="6537960" y="2340864"/>
            <a:ext cx="205740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environment lock-in</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3" name="Shape 31"/>
          <p:cNvSpPr/>
          <p:nvPr/>
        </p:nvSpPr>
        <p:spPr>
          <a:xfrm>
            <a:off x="548640" y="2587752"/>
            <a:ext cx="8046720" cy="7315"/>
          </a:xfrm>
          <a:prstGeom prst="rect">
            <a:avLst/>
          </a:prstGeom>
          <a:solidFill>
            <a:srgbClr val="D8DEE6"/>
          </a:solidFill>
          <a:ln w="12700">
            <a:solidFill>
              <a:srgbClr val="D8DEE6"/>
            </a:solidFill>
            <a:prstDash val="solid"/>
          </a:ln>
        </p:spPr>
      </p:sp>
      <p:sp>
        <p:nvSpPr>
          <p:cNvPr id="34" name="Text 32"/>
          <p:cNvSpPr/>
          <p:nvPr/>
        </p:nvSpPr>
        <p:spPr>
          <a:xfrm>
            <a:off x="548640" y="2651760"/>
            <a:ext cx="123444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70" b="1"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ESB Misuse</a:t>
            </a:r>
            <a:endParaRPr kumimoji="0" lang="en-US" sz="8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5" name="Text 33"/>
          <p:cNvSpPr/>
          <p:nvPr/>
        </p:nvSpPr>
        <p:spPr>
          <a:xfrm>
            <a:off x="1691640" y="2651760"/>
            <a:ext cx="242316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mediator-like caller/callee ratio</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6" name="Text 34"/>
          <p:cNvSpPr/>
          <p:nvPr/>
        </p:nvSpPr>
        <p:spPr>
          <a:xfrm>
            <a:off x="4251960" y="2651760"/>
            <a:ext cx="132588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volume ratio rule</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7" name="Text 35"/>
          <p:cNvSpPr/>
          <p:nvPr/>
        </p:nvSpPr>
        <p:spPr>
          <a:xfrm>
            <a:off x="5715000" y="2651760"/>
            <a:ext cx="68580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1" i="0" u="none" strike="noStrike" kern="1200" cap="none" spc="0" normalizeH="0" baseline="0" noProof="0" dirty="0">
                <a:ln>
                  <a:noFill/>
                </a:ln>
                <a:solidFill>
                  <a:srgbClr val="D97706"/>
                </a:solidFill>
                <a:effectLst/>
                <a:uLnTx/>
                <a:uFillTx/>
                <a:latin typeface="Calibri" pitchFamily="34" charset="0"/>
                <a:ea typeface="Calibri" pitchFamily="34" charset="-122"/>
                <a:cs typeface="Calibri" pitchFamily="34" charset="-120"/>
              </a:rPr>
              <a:t>High</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8" name="Text 36"/>
          <p:cNvSpPr/>
          <p:nvPr/>
        </p:nvSpPr>
        <p:spPr>
          <a:xfrm>
            <a:off x="6537960" y="2651760"/>
            <a:ext cx="205740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central bottleneck</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9" name="Shape 37"/>
          <p:cNvSpPr/>
          <p:nvPr/>
        </p:nvSpPr>
        <p:spPr>
          <a:xfrm>
            <a:off x="548640" y="2898648"/>
            <a:ext cx="8046720" cy="7315"/>
          </a:xfrm>
          <a:prstGeom prst="rect">
            <a:avLst/>
          </a:prstGeom>
          <a:solidFill>
            <a:srgbClr val="D8DEE6"/>
          </a:solidFill>
          <a:ln w="12700">
            <a:solidFill>
              <a:srgbClr val="D8DEE6"/>
            </a:solidFill>
            <a:prstDash val="solid"/>
          </a:ln>
        </p:spPr>
      </p:sp>
      <p:sp>
        <p:nvSpPr>
          <p:cNvPr id="40" name="Text 38"/>
          <p:cNvSpPr/>
          <p:nvPr/>
        </p:nvSpPr>
        <p:spPr>
          <a:xfrm>
            <a:off x="548640" y="2962656"/>
            <a:ext cx="123444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70" b="1"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Distributed Mono.</a:t>
            </a:r>
            <a:endParaRPr kumimoji="0" lang="en-US" sz="8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1" name="Text 39"/>
          <p:cNvSpPr/>
          <p:nvPr/>
        </p:nvSpPr>
        <p:spPr>
          <a:xfrm>
            <a:off x="1691640" y="2962656"/>
            <a:ext cx="242316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high graph density + shared data</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2" name="Text 40"/>
          <p:cNvSpPr/>
          <p:nvPr/>
        </p:nvSpPr>
        <p:spPr>
          <a:xfrm>
            <a:off x="4251960" y="2962656"/>
            <a:ext cx="132588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composite rule</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3" name="Text 41"/>
          <p:cNvSpPr/>
          <p:nvPr/>
        </p:nvSpPr>
        <p:spPr>
          <a:xfrm>
            <a:off x="5715000" y="2962656"/>
            <a:ext cx="68580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1" i="0" u="none" strike="noStrike" kern="1200" cap="none" spc="0" normalizeH="0" baseline="0" noProof="0" dirty="0">
                <a:ln>
                  <a:noFill/>
                </a:ln>
                <a:solidFill>
                  <a:srgbClr val="DC2626"/>
                </a:solidFill>
                <a:effectLst/>
                <a:uLnTx/>
                <a:uFillTx/>
                <a:latin typeface="Calibri" pitchFamily="34" charset="0"/>
                <a:ea typeface="Calibri" pitchFamily="34" charset="-122"/>
                <a:cs typeface="Calibri" pitchFamily="34" charset="-120"/>
              </a:rPr>
              <a:t>Crit.</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4" name="Text 42"/>
          <p:cNvSpPr/>
          <p:nvPr/>
        </p:nvSpPr>
        <p:spPr>
          <a:xfrm>
            <a:off x="6537960" y="2962656"/>
            <a:ext cx="205740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system-wide coupling</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5" name="Shape 43"/>
          <p:cNvSpPr/>
          <p:nvPr/>
        </p:nvSpPr>
        <p:spPr>
          <a:xfrm>
            <a:off x="548640" y="3209544"/>
            <a:ext cx="8046720" cy="7315"/>
          </a:xfrm>
          <a:prstGeom prst="rect">
            <a:avLst/>
          </a:prstGeom>
          <a:solidFill>
            <a:srgbClr val="D8DEE6"/>
          </a:solidFill>
          <a:ln w="12700">
            <a:solidFill>
              <a:srgbClr val="D8DEE6"/>
            </a:solidFill>
            <a:prstDash val="solid"/>
          </a:ln>
        </p:spPr>
      </p:sp>
      <p:sp>
        <p:nvSpPr>
          <p:cNvPr id="46" name="Text 44"/>
          <p:cNvSpPr/>
          <p:nvPr/>
        </p:nvSpPr>
        <p:spPr>
          <a:xfrm>
            <a:off x="548640" y="3273552"/>
            <a:ext cx="123444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70" b="1"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API Versioning</a:t>
            </a:r>
            <a:endParaRPr kumimoji="0" lang="en-US" sz="8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7" name="Text 45"/>
          <p:cNvSpPr/>
          <p:nvPr/>
        </p:nvSpPr>
        <p:spPr>
          <a:xfrm>
            <a:off x="1691640" y="3273552"/>
            <a:ext cx="242316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endpoint path lacks /vN</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8" name="Text 46"/>
          <p:cNvSpPr/>
          <p:nvPr/>
        </p:nvSpPr>
        <p:spPr>
          <a:xfrm>
            <a:off x="4251960" y="3273552"/>
            <a:ext cx="132588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no version token</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9" name="Text 47"/>
          <p:cNvSpPr/>
          <p:nvPr/>
        </p:nvSpPr>
        <p:spPr>
          <a:xfrm>
            <a:off x="5715000" y="3273552"/>
            <a:ext cx="68580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1" i="0" u="none" strike="noStrike" kern="1200" cap="none" spc="0" normalizeH="0" baseline="0" noProof="0" dirty="0">
                <a:ln>
                  <a:noFill/>
                </a:ln>
                <a:solidFill>
                  <a:srgbClr val="1C4E80"/>
                </a:solidFill>
                <a:effectLst/>
                <a:uLnTx/>
                <a:uFillTx/>
                <a:latin typeface="Calibri" pitchFamily="34" charset="0"/>
                <a:ea typeface="Calibri" pitchFamily="34" charset="-122"/>
                <a:cs typeface="Calibri" pitchFamily="34" charset="-120"/>
              </a:rPr>
              <a:t>Med.</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0" name="Text 48"/>
          <p:cNvSpPr/>
          <p:nvPr/>
        </p:nvSpPr>
        <p:spPr>
          <a:xfrm>
            <a:off x="6537960" y="3273552"/>
            <a:ext cx="205740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client breakage risk</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1" name="Shape 49"/>
          <p:cNvSpPr/>
          <p:nvPr/>
        </p:nvSpPr>
        <p:spPr>
          <a:xfrm>
            <a:off x="548640" y="3520440"/>
            <a:ext cx="8046720" cy="7315"/>
          </a:xfrm>
          <a:prstGeom prst="rect">
            <a:avLst/>
          </a:prstGeom>
          <a:solidFill>
            <a:srgbClr val="D8DEE6"/>
          </a:solidFill>
          <a:ln w="12700">
            <a:solidFill>
              <a:srgbClr val="D8DEE6"/>
            </a:solidFill>
            <a:prstDash val="solid"/>
          </a:ln>
        </p:spPr>
      </p:sp>
      <p:sp>
        <p:nvSpPr>
          <p:cNvPr id="52" name="Text 50"/>
          <p:cNvSpPr/>
          <p:nvPr/>
        </p:nvSpPr>
        <p:spPr>
          <a:xfrm>
            <a:off x="548640" y="3584448"/>
            <a:ext cx="123444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70" b="1"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Wrong Cuts</a:t>
            </a:r>
            <a:endParaRPr kumimoji="0" lang="en-US" sz="8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3" name="Text 51"/>
          <p:cNvSpPr/>
          <p:nvPr/>
        </p:nvSpPr>
        <p:spPr>
          <a:xfrm>
            <a:off x="1691640" y="3584448"/>
            <a:ext cx="242316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bidirectional service pair</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4" name="Text 52"/>
          <p:cNvSpPr/>
          <p:nvPr/>
        </p:nvSpPr>
        <p:spPr>
          <a:xfrm>
            <a:off x="4251960" y="3584448"/>
            <a:ext cx="132588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A-&gt;B and B-&gt;A</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5" name="Text 53"/>
          <p:cNvSpPr/>
          <p:nvPr/>
        </p:nvSpPr>
        <p:spPr>
          <a:xfrm>
            <a:off x="5715000" y="3584448"/>
            <a:ext cx="68580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1" i="0" u="none" strike="noStrike" kern="1200" cap="none" spc="0" normalizeH="0" baseline="0" noProof="0" dirty="0">
                <a:ln>
                  <a:noFill/>
                </a:ln>
                <a:solidFill>
                  <a:srgbClr val="D97706"/>
                </a:solidFill>
                <a:effectLst/>
                <a:uLnTx/>
                <a:uFillTx/>
                <a:latin typeface="Calibri" pitchFamily="34" charset="0"/>
                <a:ea typeface="Calibri" pitchFamily="34" charset="-122"/>
                <a:cs typeface="Calibri" pitchFamily="34" charset="-120"/>
              </a:rPr>
              <a:t>High</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6" name="Text 54"/>
          <p:cNvSpPr/>
          <p:nvPr/>
        </p:nvSpPr>
        <p:spPr>
          <a:xfrm>
            <a:off x="6537960" y="3584448"/>
            <a:ext cx="205740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poor boundaries</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7" name="Shape 55"/>
          <p:cNvSpPr/>
          <p:nvPr/>
        </p:nvSpPr>
        <p:spPr>
          <a:xfrm>
            <a:off x="548640" y="3831336"/>
            <a:ext cx="8046720" cy="7315"/>
          </a:xfrm>
          <a:prstGeom prst="rect">
            <a:avLst/>
          </a:prstGeom>
          <a:solidFill>
            <a:srgbClr val="D8DEE6"/>
          </a:solidFill>
          <a:ln w="12700">
            <a:solidFill>
              <a:srgbClr val="D8DEE6"/>
            </a:solidFill>
            <a:prstDash val="solid"/>
          </a:ln>
        </p:spPr>
      </p:sp>
      <p:sp>
        <p:nvSpPr>
          <p:cNvPr id="58" name="Text 56"/>
          <p:cNvSpPr/>
          <p:nvPr/>
        </p:nvSpPr>
        <p:spPr>
          <a:xfrm>
            <a:off x="548640" y="3895344"/>
            <a:ext cx="123444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70" b="1"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Nano Service</a:t>
            </a:r>
            <a:endParaRPr kumimoji="0" lang="en-US" sz="8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9" name="Text 57"/>
          <p:cNvSpPr/>
          <p:nvPr/>
        </p:nvSpPr>
        <p:spPr>
          <a:xfrm>
            <a:off x="1691640" y="3895344"/>
            <a:ext cx="242316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very small deployable service</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0" name="Text 58"/>
          <p:cNvSpPr/>
          <p:nvPr/>
        </p:nvSpPr>
        <p:spPr>
          <a:xfrm>
            <a:off x="4251960" y="3895344"/>
            <a:ext cx="132588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LOC below floor</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1" name="Text 59"/>
          <p:cNvSpPr/>
          <p:nvPr/>
        </p:nvSpPr>
        <p:spPr>
          <a:xfrm>
            <a:off x="5715000" y="3895344"/>
            <a:ext cx="68580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1" i="0" u="none" strike="noStrike" kern="1200" cap="none" spc="0" normalizeH="0" baseline="0" noProof="0" dirty="0">
                <a:ln>
                  <a:noFill/>
                </a:ln>
                <a:solidFill>
                  <a:srgbClr val="1C4E80"/>
                </a:solidFill>
                <a:effectLst/>
                <a:uLnTx/>
                <a:uFillTx/>
                <a:latin typeface="Calibri" pitchFamily="34" charset="0"/>
                <a:ea typeface="Calibri" pitchFamily="34" charset="-122"/>
                <a:cs typeface="Calibri" pitchFamily="34" charset="-120"/>
              </a:rPr>
              <a:t>Med.</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2" name="Text 60"/>
          <p:cNvSpPr/>
          <p:nvPr/>
        </p:nvSpPr>
        <p:spPr>
          <a:xfrm>
            <a:off x="6537960" y="3895344"/>
            <a:ext cx="205740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operational overhead</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3" name="Shape 61"/>
          <p:cNvSpPr/>
          <p:nvPr/>
        </p:nvSpPr>
        <p:spPr>
          <a:xfrm>
            <a:off x="548640" y="4142232"/>
            <a:ext cx="8046720" cy="7315"/>
          </a:xfrm>
          <a:prstGeom prst="rect">
            <a:avLst/>
          </a:prstGeom>
          <a:solidFill>
            <a:srgbClr val="D8DEE6"/>
          </a:solidFill>
          <a:ln w="12700">
            <a:solidFill>
              <a:srgbClr val="D8DEE6"/>
            </a:solidFill>
            <a:prstDash val="solid"/>
          </a:ln>
        </p:spPr>
      </p:sp>
      <p:sp>
        <p:nvSpPr>
          <p:cNvPr id="64" name="Text 62"/>
          <p:cNvSpPr/>
          <p:nvPr/>
        </p:nvSpPr>
        <p:spPr>
          <a:xfrm>
            <a:off x="548640" y="4206240"/>
            <a:ext cx="123444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70" b="1"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God Service</a:t>
            </a:r>
            <a:endParaRPr kumimoji="0" lang="en-US" sz="8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5" name="Text 63"/>
          <p:cNvSpPr/>
          <p:nvPr/>
        </p:nvSpPr>
        <p:spPr>
          <a:xfrm>
            <a:off x="1691640" y="4206240"/>
            <a:ext cx="242316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contains God Class evidence</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6" name="Text 64"/>
          <p:cNvSpPr/>
          <p:nvPr/>
        </p:nvSpPr>
        <p:spPr>
          <a:xfrm>
            <a:off x="4251960" y="4206240"/>
            <a:ext cx="132588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&gt;=3 of 6 metrics</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7" name="Text 65"/>
          <p:cNvSpPr/>
          <p:nvPr/>
        </p:nvSpPr>
        <p:spPr>
          <a:xfrm>
            <a:off x="5715000" y="4206240"/>
            <a:ext cx="68580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1" i="0" u="none" strike="noStrike" kern="1200" cap="none" spc="0" normalizeH="0" baseline="0" noProof="0" dirty="0">
                <a:ln>
                  <a:noFill/>
                </a:ln>
                <a:solidFill>
                  <a:srgbClr val="D97706"/>
                </a:solidFill>
                <a:effectLst/>
                <a:uLnTx/>
                <a:uFillTx/>
                <a:latin typeface="Calibri" pitchFamily="34" charset="0"/>
                <a:ea typeface="Calibri" pitchFamily="34" charset="-122"/>
                <a:cs typeface="Calibri" pitchFamily="34" charset="-120"/>
              </a:rPr>
              <a:t>High</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8" name="Text 66"/>
          <p:cNvSpPr/>
          <p:nvPr/>
        </p:nvSpPr>
        <p:spPr>
          <a:xfrm>
            <a:off x="6537960" y="4206240"/>
            <a:ext cx="205740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too many responsibilities</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9" name="Shape 67"/>
          <p:cNvSpPr/>
          <p:nvPr/>
        </p:nvSpPr>
        <p:spPr>
          <a:xfrm>
            <a:off x="548640" y="4453128"/>
            <a:ext cx="8046720" cy="7315"/>
          </a:xfrm>
          <a:prstGeom prst="rect">
            <a:avLst/>
          </a:prstGeom>
          <a:solidFill>
            <a:srgbClr val="D8DEE6"/>
          </a:solidFill>
          <a:ln w="12700">
            <a:solidFill>
              <a:srgbClr val="D8DEE6"/>
            </a:solidFill>
            <a:prstDash val="solid"/>
          </a:ln>
        </p:spPr>
      </p:sp>
      <p:sp>
        <p:nvSpPr>
          <p:cNvPr id="72" name="Text 70"/>
          <p:cNvSpPr/>
          <p:nvPr/>
        </p:nvSpPr>
        <p:spPr>
          <a:xfrm>
            <a:off x="7452360" y="4864608"/>
            <a:ext cx="1143000" cy="22860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64748B"/>
                </a:solidFill>
                <a:effectLst/>
                <a:uLnTx/>
                <a:uFillTx/>
                <a:latin typeface="Calibri" pitchFamily="34" charset="0"/>
                <a:ea typeface="Calibri" pitchFamily="34" charset="-122"/>
                <a:cs typeface="Calibri" pitchFamily="34" charset="-120"/>
              </a:rPr>
              <a:t>Appendix H</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50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Annex: how each detector works</a:t>
            </a:r>
            <a:endParaRPr kumimoji="0" lang="en-US" sz="2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sp>
      <p:sp>
        <p:nvSpPr>
          <p:cNvPr id="4" name="Text 2"/>
          <p:cNvSpPr/>
          <p:nvPr/>
        </p:nvSpPr>
        <p:spPr>
          <a:xfrm>
            <a:off x="548640" y="1005840"/>
            <a:ext cx="123444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80" b="1" i="0" u="none" strike="noStrike" kern="0" cap="none" spc="110" normalizeH="0" baseline="0" noProof="0" dirty="0">
                <a:ln>
                  <a:noFill/>
                </a:ln>
                <a:solidFill>
                  <a:srgbClr val="0F2A44"/>
                </a:solidFill>
                <a:effectLst/>
                <a:uLnTx/>
                <a:uFillTx/>
                <a:latin typeface="Calibri" pitchFamily="34" charset="0"/>
                <a:ea typeface="Calibri" pitchFamily="34" charset="-122"/>
                <a:cs typeface="Calibri" pitchFamily="34" charset="-120"/>
              </a:rPr>
              <a:t>DETECTOR</a:t>
            </a:r>
            <a:endParaRPr kumimoji="0" lang="en-US" sz="78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Text 3"/>
          <p:cNvSpPr/>
          <p:nvPr/>
        </p:nvSpPr>
        <p:spPr>
          <a:xfrm>
            <a:off x="1664208" y="1005840"/>
            <a:ext cx="484632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80" b="1" i="0" u="none" strike="noStrike" kern="0" cap="none" spc="110" normalizeH="0" baseline="0" noProof="0" dirty="0">
                <a:ln>
                  <a:noFill/>
                </a:ln>
                <a:solidFill>
                  <a:srgbClr val="0F2A44"/>
                </a:solidFill>
                <a:effectLst/>
                <a:uLnTx/>
                <a:uFillTx/>
                <a:latin typeface="Calibri" pitchFamily="34" charset="0"/>
                <a:ea typeface="Calibri" pitchFamily="34" charset="-122"/>
                <a:cs typeface="Calibri" pitchFamily="34" charset="-120"/>
              </a:rPr>
              <a:t>DETECTION LOGIC</a:t>
            </a:r>
            <a:endParaRPr kumimoji="0" lang="en-US" sz="78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Text 4"/>
          <p:cNvSpPr/>
          <p:nvPr/>
        </p:nvSpPr>
        <p:spPr>
          <a:xfrm>
            <a:off x="6720840" y="1005840"/>
            <a:ext cx="187452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80" b="1" i="0" u="none" strike="noStrike" kern="0" cap="none" spc="110" normalizeH="0" baseline="0" noProof="0" dirty="0">
                <a:ln>
                  <a:noFill/>
                </a:ln>
                <a:solidFill>
                  <a:srgbClr val="0F2A44"/>
                </a:solidFill>
                <a:effectLst/>
                <a:uLnTx/>
                <a:uFillTx/>
                <a:latin typeface="Calibri" pitchFamily="34" charset="0"/>
                <a:ea typeface="Calibri" pitchFamily="34" charset="-122"/>
                <a:cs typeface="Calibri" pitchFamily="34" charset="-120"/>
              </a:rPr>
              <a:t>EVIDENCE</a:t>
            </a:r>
            <a:endParaRPr kumimoji="0" lang="en-US" sz="78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Shape 5"/>
          <p:cNvSpPr/>
          <p:nvPr/>
        </p:nvSpPr>
        <p:spPr>
          <a:xfrm>
            <a:off x="548640" y="1298448"/>
            <a:ext cx="8046720" cy="13716"/>
          </a:xfrm>
          <a:prstGeom prst="rect">
            <a:avLst/>
          </a:prstGeom>
          <a:solidFill>
            <a:srgbClr val="D8DEE6"/>
          </a:solidFill>
          <a:ln w="12700">
            <a:solidFill>
              <a:srgbClr val="D8DEE6"/>
            </a:solidFill>
            <a:prstDash val="solid"/>
          </a:ln>
        </p:spPr>
      </p:sp>
      <p:sp>
        <p:nvSpPr>
          <p:cNvPr id="8" name="Shape 6"/>
          <p:cNvSpPr/>
          <p:nvPr/>
        </p:nvSpPr>
        <p:spPr>
          <a:xfrm>
            <a:off x="548640" y="1444752"/>
            <a:ext cx="219456" cy="27432"/>
          </a:xfrm>
          <a:prstGeom prst="rect">
            <a:avLst/>
          </a:prstGeom>
          <a:solidFill>
            <a:srgbClr val="0D9488"/>
          </a:solidFill>
          <a:ln w="12700">
            <a:solidFill>
              <a:srgbClr val="0D9488"/>
            </a:solidFill>
            <a:prstDash val="solid"/>
          </a:ln>
        </p:spPr>
      </p:sp>
      <p:sp>
        <p:nvSpPr>
          <p:cNvPr id="9" name="Text 7"/>
          <p:cNvSpPr/>
          <p:nvPr/>
        </p:nvSpPr>
        <p:spPr>
          <a:xfrm>
            <a:off x="841248" y="1408176"/>
            <a:ext cx="941832" cy="228600"/>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3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Shared DB</a:t>
            </a:r>
            <a:endParaRPr kumimoji="0" lang="en-US" sz="83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1664208" y="1408176"/>
            <a:ext cx="4846320" cy="228600"/>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45"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Parse Spring datasource config and group services by resolved database URL.</a:t>
            </a:r>
            <a:endParaRPr kumimoji="0" lang="en-US" sz="745"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Text 9"/>
          <p:cNvSpPr/>
          <p:nvPr/>
        </p:nvSpPr>
        <p:spPr>
          <a:xfrm>
            <a:off x="6720840" y="1408176"/>
            <a:ext cx="1874520" cy="228600"/>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45"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Datasource line</a:t>
            </a:r>
            <a:endParaRPr kumimoji="0" lang="en-US" sz="745"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2" name="Shape 10"/>
          <p:cNvSpPr/>
          <p:nvPr/>
        </p:nvSpPr>
        <p:spPr>
          <a:xfrm>
            <a:off x="548640" y="1655064"/>
            <a:ext cx="8046720" cy="7315"/>
          </a:xfrm>
          <a:prstGeom prst="rect">
            <a:avLst/>
          </a:prstGeom>
          <a:solidFill>
            <a:srgbClr val="D8DEE6"/>
          </a:solidFill>
          <a:ln w="12700">
            <a:solidFill>
              <a:srgbClr val="D8DEE6"/>
            </a:solidFill>
            <a:prstDash val="solid"/>
          </a:ln>
        </p:spPr>
      </p:sp>
      <p:sp>
        <p:nvSpPr>
          <p:cNvPr id="13" name="Shape 11"/>
          <p:cNvSpPr/>
          <p:nvPr/>
        </p:nvSpPr>
        <p:spPr>
          <a:xfrm>
            <a:off x="548640" y="1755648"/>
            <a:ext cx="219456" cy="27432"/>
          </a:xfrm>
          <a:prstGeom prst="rect">
            <a:avLst/>
          </a:prstGeom>
          <a:solidFill>
            <a:srgbClr val="0D9488"/>
          </a:solidFill>
          <a:ln w="12700">
            <a:solidFill>
              <a:srgbClr val="0D9488"/>
            </a:solidFill>
            <a:prstDash val="solid"/>
          </a:ln>
        </p:spPr>
      </p:sp>
      <p:sp>
        <p:nvSpPr>
          <p:cNvPr id="14" name="Text 12"/>
          <p:cNvSpPr/>
          <p:nvPr/>
        </p:nvSpPr>
        <p:spPr>
          <a:xfrm>
            <a:off x="841248" y="1719072"/>
            <a:ext cx="941832" cy="228600"/>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3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Cyclic Dep.</a:t>
            </a:r>
            <a:endParaRPr kumimoji="0" lang="en-US" sz="83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Text 13"/>
          <p:cNvSpPr/>
          <p:nvPr/>
        </p:nvSpPr>
        <p:spPr>
          <a:xfrm>
            <a:off x="1664208" y="1719072"/>
            <a:ext cx="4846320" cy="228600"/>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45"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Run Tarjan SCC over the directed service dependency graph; SCC size &gt; 1 is a cycle.</a:t>
            </a:r>
            <a:endParaRPr kumimoji="0" lang="en-US" sz="745"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Text 14"/>
          <p:cNvSpPr/>
          <p:nvPr/>
        </p:nvSpPr>
        <p:spPr>
          <a:xfrm>
            <a:off x="6720840" y="1719072"/>
            <a:ext cx="1874520" cy="228600"/>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45"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Call edge snippet</a:t>
            </a:r>
            <a:endParaRPr kumimoji="0" lang="en-US" sz="745"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Shape 15"/>
          <p:cNvSpPr/>
          <p:nvPr/>
        </p:nvSpPr>
        <p:spPr>
          <a:xfrm>
            <a:off x="548640" y="1965960"/>
            <a:ext cx="8046720" cy="7315"/>
          </a:xfrm>
          <a:prstGeom prst="rect">
            <a:avLst/>
          </a:prstGeom>
          <a:solidFill>
            <a:srgbClr val="D8DEE6"/>
          </a:solidFill>
          <a:ln w="12700">
            <a:solidFill>
              <a:srgbClr val="D8DEE6"/>
            </a:solidFill>
            <a:prstDash val="solid"/>
          </a:ln>
        </p:spPr>
      </p:sp>
      <p:sp>
        <p:nvSpPr>
          <p:cNvPr id="18" name="Shape 16"/>
          <p:cNvSpPr/>
          <p:nvPr/>
        </p:nvSpPr>
        <p:spPr>
          <a:xfrm>
            <a:off x="548640" y="2066544"/>
            <a:ext cx="219456" cy="27432"/>
          </a:xfrm>
          <a:prstGeom prst="rect">
            <a:avLst/>
          </a:prstGeom>
          <a:solidFill>
            <a:srgbClr val="0D9488"/>
          </a:solidFill>
          <a:ln w="12700">
            <a:solidFill>
              <a:srgbClr val="0D9488"/>
            </a:solidFill>
            <a:prstDash val="solid"/>
          </a:ln>
        </p:spPr>
      </p:sp>
      <p:sp>
        <p:nvSpPr>
          <p:cNvPr id="19" name="Text 17"/>
          <p:cNvSpPr/>
          <p:nvPr/>
        </p:nvSpPr>
        <p:spPr>
          <a:xfrm>
            <a:off x="841248" y="2029968"/>
            <a:ext cx="941832" cy="228600"/>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3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Chatty Service</a:t>
            </a:r>
            <a:endParaRPr kumimoji="0" lang="en-US" sz="83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Text 18"/>
          <p:cNvSpPr/>
          <p:nvPr/>
        </p:nvSpPr>
        <p:spPr>
          <a:xfrm>
            <a:off x="1664208" y="2029968"/>
            <a:ext cx="4846320" cy="228600"/>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45"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Combine high edge call count with source scan for wide Feign/client interfaces.</a:t>
            </a:r>
            <a:endParaRPr kumimoji="0" lang="en-US" sz="745"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Text 19"/>
          <p:cNvSpPr/>
          <p:nvPr/>
        </p:nvSpPr>
        <p:spPr>
          <a:xfrm>
            <a:off x="6720840" y="2029968"/>
            <a:ext cx="1874520" cy="228600"/>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45"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Client method/call</a:t>
            </a:r>
            <a:endParaRPr kumimoji="0" lang="en-US" sz="745"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2" name="Shape 20"/>
          <p:cNvSpPr/>
          <p:nvPr/>
        </p:nvSpPr>
        <p:spPr>
          <a:xfrm>
            <a:off x="548640" y="2276856"/>
            <a:ext cx="8046720" cy="7315"/>
          </a:xfrm>
          <a:prstGeom prst="rect">
            <a:avLst/>
          </a:prstGeom>
          <a:solidFill>
            <a:srgbClr val="D8DEE6"/>
          </a:solidFill>
          <a:ln w="12700">
            <a:solidFill>
              <a:srgbClr val="D8DEE6"/>
            </a:solidFill>
            <a:prstDash val="solid"/>
          </a:ln>
        </p:spPr>
      </p:sp>
      <p:sp>
        <p:nvSpPr>
          <p:cNvPr id="23" name="Shape 21"/>
          <p:cNvSpPr/>
          <p:nvPr/>
        </p:nvSpPr>
        <p:spPr>
          <a:xfrm>
            <a:off x="548640" y="2377440"/>
            <a:ext cx="219456" cy="27432"/>
          </a:xfrm>
          <a:prstGeom prst="rect">
            <a:avLst/>
          </a:prstGeom>
          <a:solidFill>
            <a:srgbClr val="0D9488"/>
          </a:solidFill>
          <a:ln w="12700">
            <a:solidFill>
              <a:srgbClr val="0D9488"/>
            </a:solidFill>
            <a:prstDash val="solid"/>
          </a:ln>
        </p:spPr>
      </p:sp>
      <p:sp>
        <p:nvSpPr>
          <p:cNvPr id="24" name="Text 22"/>
          <p:cNvSpPr/>
          <p:nvPr/>
        </p:nvSpPr>
        <p:spPr>
          <a:xfrm>
            <a:off x="841248" y="2340864"/>
            <a:ext cx="941832" cy="228600"/>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3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Hardcoded EP</a:t>
            </a:r>
            <a:endParaRPr kumimoji="0" lang="en-US" sz="83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5" name="Text 23"/>
          <p:cNvSpPr/>
          <p:nvPr/>
        </p:nvSpPr>
        <p:spPr>
          <a:xfrm>
            <a:off x="1664208" y="2340864"/>
            <a:ext cx="4846320" cy="228600"/>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45"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Scan Java string literals for http, localhost, IP, or port-based URL constants.</a:t>
            </a:r>
            <a:endParaRPr kumimoji="0" lang="en-US" sz="745"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6" name="Text 24"/>
          <p:cNvSpPr/>
          <p:nvPr/>
        </p:nvSpPr>
        <p:spPr>
          <a:xfrm>
            <a:off x="6720840" y="2340864"/>
            <a:ext cx="1874520" cy="228600"/>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45"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URL literal</a:t>
            </a:r>
            <a:endParaRPr kumimoji="0" lang="en-US" sz="745"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7" name="Shape 25"/>
          <p:cNvSpPr/>
          <p:nvPr/>
        </p:nvSpPr>
        <p:spPr>
          <a:xfrm>
            <a:off x="548640" y="2587752"/>
            <a:ext cx="8046720" cy="7315"/>
          </a:xfrm>
          <a:prstGeom prst="rect">
            <a:avLst/>
          </a:prstGeom>
          <a:solidFill>
            <a:srgbClr val="D8DEE6"/>
          </a:solidFill>
          <a:ln w="12700">
            <a:solidFill>
              <a:srgbClr val="D8DEE6"/>
            </a:solidFill>
            <a:prstDash val="solid"/>
          </a:ln>
        </p:spPr>
      </p:sp>
      <p:sp>
        <p:nvSpPr>
          <p:cNvPr id="28" name="Shape 26"/>
          <p:cNvSpPr/>
          <p:nvPr/>
        </p:nvSpPr>
        <p:spPr>
          <a:xfrm>
            <a:off x="548640" y="2688336"/>
            <a:ext cx="219456" cy="27432"/>
          </a:xfrm>
          <a:prstGeom prst="rect">
            <a:avLst/>
          </a:prstGeom>
          <a:solidFill>
            <a:srgbClr val="0D9488"/>
          </a:solidFill>
          <a:ln w="12700">
            <a:solidFill>
              <a:srgbClr val="0D9488"/>
            </a:solidFill>
            <a:prstDash val="solid"/>
          </a:ln>
        </p:spPr>
      </p:sp>
      <p:sp>
        <p:nvSpPr>
          <p:cNvPr id="29" name="Text 27"/>
          <p:cNvSpPr/>
          <p:nvPr/>
        </p:nvSpPr>
        <p:spPr>
          <a:xfrm>
            <a:off x="841248" y="2651760"/>
            <a:ext cx="941832" cy="228600"/>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3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ESB Misuse</a:t>
            </a:r>
            <a:endParaRPr kumimoji="0" lang="en-US" sz="83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0" name="Text 28"/>
          <p:cNvSpPr/>
          <p:nvPr/>
        </p:nvSpPr>
        <p:spPr>
          <a:xfrm>
            <a:off x="1664208" y="2651760"/>
            <a:ext cx="4846320" cy="228600"/>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45"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Compute caller/callee ratios, mediator volume, and betweenness centrality; exclude gateways.</a:t>
            </a:r>
            <a:endParaRPr kumimoji="0" lang="en-US" sz="745"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1" name="Text 29"/>
          <p:cNvSpPr/>
          <p:nvPr/>
        </p:nvSpPr>
        <p:spPr>
          <a:xfrm>
            <a:off x="6720840" y="2651760"/>
            <a:ext cx="1874520" cy="228600"/>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45"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Central edges</a:t>
            </a:r>
            <a:endParaRPr kumimoji="0" lang="en-US" sz="745"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2" name="Shape 30"/>
          <p:cNvSpPr/>
          <p:nvPr/>
        </p:nvSpPr>
        <p:spPr>
          <a:xfrm>
            <a:off x="548640" y="2898648"/>
            <a:ext cx="8046720" cy="7315"/>
          </a:xfrm>
          <a:prstGeom prst="rect">
            <a:avLst/>
          </a:prstGeom>
          <a:solidFill>
            <a:srgbClr val="D8DEE6"/>
          </a:solidFill>
          <a:ln w="12700">
            <a:solidFill>
              <a:srgbClr val="D8DEE6"/>
            </a:solidFill>
            <a:prstDash val="solid"/>
          </a:ln>
        </p:spPr>
      </p:sp>
      <p:sp>
        <p:nvSpPr>
          <p:cNvPr id="33" name="Shape 31"/>
          <p:cNvSpPr/>
          <p:nvPr/>
        </p:nvSpPr>
        <p:spPr>
          <a:xfrm>
            <a:off x="548640" y="2999232"/>
            <a:ext cx="219456" cy="27432"/>
          </a:xfrm>
          <a:prstGeom prst="rect">
            <a:avLst/>
          </a:prstGeom>
          <a:solidFill>
            <a:srgbClr val="1C4E80"/>
          </a:solidFill>
          <a:ln w="12700">
            <a:solidFill>
              <a:srgbClr val="1C4E80"/>
            </a:solidFill>
            <a:prstDash val="solid"/>
          </a:ln>
        </p:spPr>
      </p:sp>
      <p:sp>
        <p:nvSpPr>
          <p:cNvPr id="34" name="Text 32"/>
          <p:cNvSpPr/>
          <p:nvPr/>
        </p:nvSpPr>
        <p:spPr>
          <a:xfrm>
            <a:off x="841248" y="2962656"/>
            <a:ext cx="941832" cy="228600"/>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3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Distributed Mono.</a:t>
            </a:r>
            <a:endParaRPr kumimoji="0" lang="en-US" sz="83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5" name="Text 33"/>
          <p:cNvSpPr/>
          <p:nvPr/>
        </p:nvSpPr>
        <p:spPr>
          <a:xfrm>
            <a:off x="1664208" y="2962656"/>
            <a:ext cx="4846320" cy="228600"/>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45"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Evaluate system coupling coefficient, connected-service ratio, and shared database count.</a:t>
            </a:r>
            <a:endParaRPr kumimoji="0" lang="en-US" sz="745"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6" name="Text 34"/>
          <p:cNvSpPr/>
          <p:nvPr/>
        </p:nvSpPr>
        <p:spPr>
          <a:xfrm>
            <a:off x="6720840" y="2962656"/>
            <a:ext cx="1874520" cy="228600"/>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45"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Graph metrics</a:t>
            </a:r>
            <a:endParaRPr kumimoji="0" lang="en-US" sz="745"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7" name="Shape 35"/>
          <p:cNvSpPr/>
          <p:nvPr/>
        </p:nvSpPr>
        <p:spPr>
          <a:xfrm>
            <a:off x="548640" y="3209544"/>
            <a:ext cx="8046720" cy="7315"/>
          </a:xfrm>
          <a:prstGeom prst="rect">
            <a:avLst/>
          </a:prstGeom>
          <a:solidFill>
            <a:srgbClr val="D8DEE6"/>
          </a:solidFill>
          <a:ln w="12700">
            <a:solidFill>
              <a:srgbClr val="D8DEE6"/>
            </a:solidFill>
            <a:prstDash val="solid"/>
          </a:ln>
        </p:spPr>
      </p:sp>
      <p:sp>
        <p:nvSpPr>
          <p:cNvPr id="38" name="Shape 36"/>
          <p:cNvSpPr/>
          <p:nvPr/>
        </p:nvSpPr>
        <p:spPr>
          <a:xfrm>
            <a:off x="548640" y="3310128"/>
            <a:ext cx="219456" cy="27432"/>
          </a:xfrm>
          <a:prstGeom prst="rect">
            <a:avLst/>
          </a:prstGeom>
          <a:solidFill>
            <a:srgbClr val="1C4E80"/>
          </a:solidFill>
          <a:ln w="12700">
            <a:solidFill>
              <a:srgbClr val="1C4E80"/>
            </a:solidFill>
            <a:prstDash val="solid"/>
          </a:ln>
        </p:spPr>
      </p:sp>
      <p:sp>
        <p:nvSpPr>
          <p:cNvPr id="39" name="Text 37"/>
          <p:cNvSpPr/>
          <p:nvPr/>
        </p:nvSpPr>
        <p:spPr>
          <a:xfrm>
            <a:off x="841248" y="3273552"/>
            <a:ext cx="941832" cy="228600"/>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3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API Versioning</a:t>
            </a:r>
            <a:endParaRPr kumimoji="0" lang="en-US" sz="83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0" name="Text 38"/>
          <p:cNvSpPr/>
          <p:nvPr/>
        </p:nvSpPr>
        <p:spPr>
          <a:xfrm>
            <a:off x="1664208" y="3273552"/>
            <a:ext cx="4846320" cy="228600"/>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45"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Extract endpoints with Spoon and flag services where no endpoint has path/header/media/query versioning.</a:t>
            </a:r>
            <a:endParaRPr kumimoji="0" lang="en-US" sz="745"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1" name="Text 39"/>
          <p:cNvSpPr/>
          <p:nvPr/>
        </p:nvSpPr>
        <p:spPr>
          <a:xfrm>
            <a:off x="6720840" y="3273552"/>
            <a:ext cx="1874520" cy="228600"/>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45"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Controller mapping</a:t>
            </a:r>
            <a:endParaRPr kumimoji="0" lang="en-US" sz="745"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2" name="Shape 40"/>
          <p:cNvSpPr/>
          <p:nvPr/>
        </p:nvSpPr>
        <p:spPr>
          <a:xfrm>
            <a:off x="548640" y="3520440"/>
            <a:ext cx="8046720" cy="7315"/>
          </a:xfrm>
          <a:prstGeom prst="rect">
            <a:avLst/>
          </a:prstGeom>
          <a:solidFill>
            <a:srgbClr val="D8DEE6"/>
          </a:solidFill>
          <a:ln w="12700">
            <a:solidFill>
              <a:srgbClr val="D8DEE6"/>
            </a:solidFill>
            <a:prstDash val="solid"/>
          </a:ln>
        </p:spPr>
      </p:sp>
      <p:sp>
        <p:nvSpPr>
          <p:cNvPr id="43" name="Shape 41"/>
          <p:cNvSpPr/>
          <p:nvPr/>
        </p:nvSpPr>
        <p:spPr>
          <a:xfrm>
            <a:off x="548640" y="3621024"/>
            <a:ext cx="219456" cy="27432"/>
          </a:xfrm>
          <a:prstGeom prst="rect">
            <a:avLst/>
          </a:prstGeom>
          <a:solidFill>
            <a:srgbClr val="1C4E80"/>
          </a:solidFill>
          <a:ln w="12700">
            <a:solidFill>
              <a:srgbClr val="1C4E80"/>
            </a:solidFill>
            <a:prstDash val="solid"/>
          </a:ln>
        </p:spPr>
      </p:sp>
      <p:sp>
        <p:nvSpPr>
          <p:cNvPr id="44" name="Text 42"/>
          <p:cNvSpPr/>
          <p:nvPr/>
        </p:nvSpPr>
        <p:spPr>
          <a:xfrm>
            <a:off x="841248" y="3584448"/>
            <a:ext cx="941832" cy="228600"/>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3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Wrong Cuts</a:t>
            </a:r>
            <a:endParaRPr kumimoji="0" lang="en-US" sz="83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5" name="Text 43"/>
          <p:cNvSpPr/>
          <p:nvPr/>
        </p:nvSpPr>
        <p:spPr>
          <a:xfrm>
            <a:off x="1664208" y="3584448"/>
            <a:ext cx="4846320" cy="228600"/>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45"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Find bidirectional service pairs in the dependency graph: A calls B and B calls A.</a:t>
            </a:r>
            <a:endParaRPr kumimoji="0" lang="en-US" sz="745"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6" name="Text 44"/>
          <p:cNvSpPr/>
          <p:nvPr/>
        </p:nvSpPr>
        <p:spPr>
          <a:xfrm>
            <a:off x="6720840" y="3584448"/>
            <a:ext cx="1874520" cy="228600"/>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45"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Both directions</a:t>
            </a:r>
            <a:endParaRPr kumimoji="0" lang="en-US" sz="745"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7" name="Shape 45"/>
          <p:cNvSpPr/>
          <p:nvPr/>
        </p:nvSpPr>
        <p:spPr>
          <a:xfrm>
            <a:off x="548640" y="3831336"/>
            <a:ext cx="8046720" cy="7315"/>
          </a:xfrm>
          <a:prstGeom prst="rect">
            <a:avLst/>
          </a:prstGeom>
          <a:solidFill>
            <a:srgbClr val="D8DEE6"/>
          </a:solidFill>
          <a:ln w="12700">
            <a:solidFill>
              <a:srgbClr val="D8DEE6"/>
            </a:solidFill>
            <a:prstDash val="solid"/>
          </a:ln>
        </p:spPr>
      </p:sp>
      <p:sp>
        <p:nvSpPr>
          <p:cNvPr id="48" name="Shape 46"/>
          <p:cNvSpPr/>
          <p:nvPr/>
        </p:nvSpPr>
        <p:spPr>
          <a:xfrm>
            <a:off x="548640" y="3931920"/>
            <a:ext cx="219456" cy="27432"/>
          </a:xfrm>
          <a:prstGeom prst="rect">
            <a:avLst/>
          </a:prstGeom>
          <a:solidFill>
            <a:srgbClr val="1C4E80"/>
          </a:solidFill>
          <a:ln w="12700">
            <a:solidFill>
              <a:srgbClr val="1C4E80"/>
            </a:solidFill>
            <a:prstDash val="solid"/>
          </a:ln>
        </p:spPr>
      </p:sp>
      <p:sp>
        <p:nvSpPr>
          <p:cNvPr id="49" name="Text 47"/>
          <p:cNvSpPr/>
          <p:nvPr/>
        </p:nvSpPr>
        <p:spPr>
          <a:xfrm>
            <a:off x="841248" y="3895344"/>
            <a:ext cx="941832" cy="228600"/>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3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Nano Service</a:t>
            </a:r>
            <a:endParaRPr kumimoji="0" lang="en-US" sz="83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0" name="Text 48"/>
          <p:cNvSpPr/>
          <p:nvPr/>
        </p:nvSpPr>
        <p:spPr>
          <a:xfrm>
            <a:off x="1664208" y="3895344"/>
            <a:ext cx="4846320" cy="228600"/>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45"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Flag services below both size thresholds: low Java LOC and very few endpoints.</a:t>
            </a:r>
            <a:endParaRPr kumimoji="0" lang="en-US" sz="745"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1" name="Text 49"/>
          <p:cNvSpPr/>
          <p:nvPr/>
        </p:nvSpPr>
        <p:spPr>
          <a:xfrm>
            <a:off x="6720840" y="3895344"/>
            <a:ext cx="1874520" cy="228600"/>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45"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Main class</a:t>
            </a:r>
            <a:endParaRPr kumimoji="0" lang="en-US" sz="745"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2" name="Shape 50"/>
          <p:cNvSpPr/>
          <p:nvPr/>
        </p:nvSpPr>
        <p:spPr>
          <a:xfrm>
            <a:off x="548640" y="4142232"/>
            <a:ext cx="8046720" cy="7315"/>
          </a:xfrm>
          <a:prstGeom prst="rect">
            <a:avLst/>
          </a:prstGeom>
          <a:solidFill>
            <a:srgbClr val="D8DEE6"/>
          </a:solidFill>
          <a:ln w="12700">
            <a:solidFill>
              <a:srgbClr val="D8DEE6"/>
            </a:solidFill>
            <a:prstDash val="solid"/>
          </a:ln>
        </p:spPr>
      </p:sp>
      <p:sp>
        <p:nvSpPr>
          <p:cNvPr id="53" name="Shape 51"/>
          <p:cNvSpPr/>
          <p:nvPr/>
        </p:nvSpPr>
        <p:spPr>
          <a:xfrm>
            <a:off x="548640" y="4242816"/>
            <a:ext cx="219456" cy="27432"/>
          </a:xfrm>
          <a:prstGeom prst="rect">
            <a:avLst/>
          </a:prstGeom>
          <a:solidFill>
            <a:srgbClr val="1C4E80"/>
          </a:solidFill>
          <a:ln w="12700">
            <a:solidFill>
              <a:srgbClr val="1C4E80"/>
            </a:solidFill>
            <a:prstDash val="solid"/>
          </a:ln>
        </p:spPr>
      </p:sp>
      <p:sp>
        <p:nvSpPr>
          <p:cNvPr id="54" name="Text 52"/>
          <p:cNvSpPr/>
          <p:nvPr/>
        </p:nvSpPr>
        <p:spPr>
          <a:xfrm>
            <a:off x="841248" y="4206240"/>
            <a:ext cx="941832" cy="228600"/>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3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God Service</a:t>
            </a:r>
            <a:endParaRPr kumimoji="0" lang="en-US" sz="83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5" name="Text 53"/>
          <p:cNvSpPr/>
          <p:nvPr/>
        </p:nvSpPr>
        <p:spPr>
          <a:xfrm>
            <a:off x="1664208" y="4206240"/>
            <a:ext cx="4846320" cy="228600"/>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45"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Use Spoon class metrics; one class exceeding at least 3 of 6 God-Class thresholds flags the service.</a:t>
            </a:r>
            <a:endParaRPr kumimoji="0" lang="en-US" sz="745"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6" name="Text 54"/>
          <p:cNvSpPr/>
          <p:nvPr/>
        </p:nvSpPr>
        <p:spPr>
          <a:xfrm>
            <a:off x="6720840" y="4206240"/>
            <a:ext cx="1874520" cy="228600"/>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45"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Class metrics</a:t>
            </a:r>
            <a:endParaRPr kumimoji="0" lang="en-US" sz="745"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7" name="Shape 55"/>
          <p:cNvSpPr/>
          <p:nvPr/>
        </p:nvSpPr>
        <p:spPr>
          <a:xfrm>
            <a:off x="548640" y="4453128"/>
            <a:ext cx="8046720" cy="7315"/>
          </a:xfrm>
          <a:prstGeom prst="rect">
            <a:avLst/>
          </a:prstGeom>
          <a:solidFill>
            <a:srgbClr val="D8DEE6"/>
          </a:solidFill>
          <a:ln w="12700">
            <a:solidFill>
              <a:srgbClr val="D8DEE6"/>
            </a:solidFill>
            <a:prstDash val="solid"/>
          </a:ln>
        </p:spPr>
      </p:sp>
      <p:sp>
        <p:nvSpPr>
          <p:cNvPr id="60" name="Text 58"/>
          <p:cNvSpPr/>
          <p:nvPr/>
        </p:nvSpPr>
        <p:spPr>
          <a:xfrm>
            <a:off x="7452360" y="4864608"/>
            <a:ext cx="1143000" cy="22860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64748B"/>
                </a:solidFill>
                <a:effectLst/>
                <a:uLnTx/>
                <a:uFillTx/>
                <a:latin typeface="Calibri" pitchFamily="34" charset="0"/>
                <a:ea typeface="Calibri" pitchFamily="34" charset="-122"/>
                <a:cs typeface="Calibri" pitchFamily="34" charset="-120"/>
              </a:rPr>
              <a:t>Appendix </a:t>
            </a:r>
            <a:r>
              <a:rPr kumimoji="0" lang="ro-RO" sz="900" b="0" i="0" u="none" strike="noStrike" kern="1200" cap="none" spc="0" normalizeH="0" baseline="0" noProof="0" dirty="0">
                <a:ln>
                  <a:noFill/>
                </a:ln>
                <a:solidFill>
                  <a:srgbClr val="64748B"/>
                </a:solidFill>
                <a:effectLst/>
                <a:uLnTx/>
                <a:uFillTx/>
                <a:latin typeface="Calibri" pitchFamily="34" charset="0"/>
                <a:ea typeface="Calibri" pitchFamily="34" charset="-122"/>
                <a:cs typeface="Calibri" pitchFamily="34" charset="-120"/>
              </a:rPr>
              <a:t>I</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50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Annex: graph analysis terms</a:t>
            </a:r>
            <a:endParaRPr kumimoji="0" lang="en-US" sz="2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sp>
      <p:sp>
        <p:nvSpPr>
          <p:cNvPr id="4" name="Text 2"/>
          <p:cNvSpPr/>
          <p:nvPr/>
        </p:nvSpPr>
        <p:spPr>
          <a:xfrm>
            <a:off x="548640" y="1024128"/>
            <a:ext cx="370332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7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Directed dependency graph</a:t>
            </a:r>
            <a:endParaRPr kumimoji="0" lang="en-US" sz="10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Text 3"/>
          <p:cNvSpPr/>
          <p:nvPr/>
        </p:nvSpPr>
        <p:spPr>
          <a:xfrm>
            <a:off x="548640" y="1280160"/>
            <a:ext cx="3703320" cy="384048"/>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8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G = (V, E), where V is the set of detected services and E contains directed calls between services.</a:t>
            </a:r>
            <a:endParaRPr kumimoji="0" lang="en-US" sz="88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Shape 4"/>
          <p:cNvSpPr/>
          <p:nvPr/>
        </p:nvSpPr>
        <p:spPr>
          <a:xfrm>
            <a:off x="548640" y="1737360"/>
            <a:ext cx="3703320" cy="9144"/>
          </a:xfrm>
          <a:prstGeom prst="rect">
            <a:avLst/>
          </a:prstGeom>
          <a:solidFill>
            <a:srgbClr val="D8DEE6"/>
          </a:solidFill>
          <a:ln w="12700">
            <a:solidFill>
              <a:srgbClr val="D8DEE6"/>
            </a:solidFill>
            <a:prstDash val="solid"/>
          </a:ln>
        </p:spPr>
      </p:sp>
      <p:sp>
        <p:nvSpPr>
          <p:cNvPr id="7" name="Text 5"/>
          <p:cNvSpPr/>
          <p:nvPr/>
        </p:nvSpPr>
        <p:spPr>
          <a:xfrm>
            <a:off x="548640" y="1865376"/>
            <a:ext cx="370332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7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Edge weight</a:t>
            </a:r>
            <a:endParaRPr kumimoji="0" lang="en-US" sz="10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 name="Text 6"/>
          <p:cNvSpPr/>
          <p:nvPr/>
        </p:nvSpPr>
        <p:spPr>
          <a:xfrm>
            <a:off x="548640" y="2121408"/>
            <a:ext cx="3703320" cy="384048"/>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8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The number of distinct source-level call sites from one service to another.</a:t>
            </a:r>
            <a:endParaRPr kumimoji="0" lang="en-US" sz="88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 name="Shape 7"/>
          <p:cNvSpPr/>
          <p:nvPr/>
        </p:nvSpPr>
        <p:spPr>
          <a:xfrm>
            <a:off x="548640" y="2578608"/>
            <a:ext cx="3703320" cy="9144"/>
          </a:xfrm>
          <a:prstGeom prst="rect">
            <a:avLst/>
          </a:prstGeom>
          <a:solidFill>
            <a:srgbClr val="D8DEE6"/>
          </a:solidFill>
          <a:ln w="12700">
            <a:solidFill>
              <a:srgbClr val="D8DEE6"/>
            </a:solidFill>
            <a:prstDash val="solid"/>
          </a:ln>
        </p:spPr>
      </p:sp>
      <p:sp>
        <p:nvSpPr>
          <p:cNvPr id="10" name="Text 8"/>
          <p:cNvSpPr/>
          <p:nvPr/>
        </p:nvSpPr>
        <p:spPr>
          <a:xfrm>
            <a:off x="548640" y="2706624"/>
            <a:ext cx="370332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7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Strongly connected component</a:t>
            </a:r>
            <a:endParaRPr kumimoji="0" lang="en-US" sz="10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Text 9"/>
          <p:cNvSpPr/>
          <p:nvPr/>
        </p:nvSpPr>
        <p:spPr>
          <a:xfrm>
            <a:off x="548640" y="2962656"/>
            <a:ext cx="3703320" cy="384048"/>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8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A maximal service set where each service can reach every other service through directed paths.</a:t>
            </a:r>
            <a:endParaRPr kumimoji="0" lang="en-US" sz="88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2" name="Shape 10"/>
          <p:cNvSpPr/>
          <p:nvPr/>
        </p:nvSpPr>
        <p:spPr>
          <a:xfrm>
            <a:off x="548640" y="3419856"/>
            <a:ext cx="3703320" cy="9144"/>
          </a:xfrm>
          <a:prstGeom prst="rect">
            <a:avLst/>
          </a:prstGeom>
          <a:solidFill>
            <a:srgbClr val="D8DEE6"/>
          </a:solidFill>
          <a:ln w="12700">
            <a:solidFill>
              <a:srgbClr val="D8DEE6"/>
            </a:solidFill>
            <a:prstDash val="solid"/>
          </a:ln>
        </p:spPr>
      </p:sp>
      <p:sp>
        <p:nvSpPr>
          <p:cNvPr id="13" name="Text 11"/>
          <p:cNvSpPr/>
          <p:nvPr/>
        </p:nvSpPr>
        <p:spPr>
          <a:xfrm>
            <a:off x="548640" y="3547872"/>
            <a:ext cx="370332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7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Cycle</a:t>
            </a:r>
            <a:endParaRPr kumimoji="0" lang="en-US" sz="10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 name="Text 12"/>
          <p:cNvSpPr/>
          <p:nvPr/>
        </p:nvSpPr>
        <p:spPr>
          <a:xfrm>
            <a:off x="548640" y="3803904"/>
            <a:ext cx="3703320" cy="384048"/>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8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An SCC with more than one service; used as evidence for Cyclic Dependency.</a:t>
            </a:r>
            <a:endParaRPr kumimoji="0" lang="en-US" sz="88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Shape 13"/>
          <p:cNvSpPr/>
          <p:nvPr/>
        </p:nvSpPr>
        <p:spPr>
          <a:xfrm>
            <a:off x="548640" y="4261104"/>
            <a:ext cx="3703320" cy="9144"/>
          </a:xfrm>
          <a:prstGeom prst="rect">
            <a:avLst/>
          </a:prstGeom>
          <a:solidFill>
            <a:srgbClr val="D8DEE6"/>
          </a:solidFill>
          <a:ln w="12700">
            <a:solidFill>
              <a:srgbClr val="D8DEE6"/>
            </a:solidFill>
            <a:prstDash val="solid"/>
          </a:ln>
        </p:spPr>
      </p:sp>
      <p:sp>
        <p:nvSpPr>
          <p:cNvPr id="16" name="Text 14"/>
          <p:cNvSpPr/>
          <p:nvPr/>
        </p:nvSpPr>
        <p:spPr>
          <a:xfrm>
            <a:off x="4617720" y="1024128"/>
            <a:ext cx="370332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7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Fan-in / fan-out</a:t>
            </a:r>
            <a:endParaRPr kumimoji="0" lang="en-US" sz="10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Text 15"/>
          <p:cNvSpPr/>
          <p:nvPr/>
        </p:nvSpPr>
        <p:spPr>
          <a:xfrm>
            <a:off x="4617720" y="1280160"/>
            <a:ext cx="3703320" cy="384048"/>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8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Incoming and outgoing service dependency counts; useful for spotting central services and mediator behaviour.</a:t>
            </a:r>
            <a:endParaRPr kumimoji="0" lang="en-US" sz="88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8" name="Shape 16"/>
          <p:cNvSpPr/>
          <p:nvPr/>
        </p:nvSpPr>
        <p:spPr>
          <a:xfrm>
            <a:off x="4617720" y="1737360"/>
            <a:ext cx="3703320" cy="9144"/>
          </a:xfrm>
          <a:prstGeom prst="rect">
            <a:avLst/>
          </a:prstGeom>
          <a:solidFill>
            <a:srgbClr val="D8DEE6"/>
          </a:solidFill>
          <a:ln w="12700">
            <a:solidFill>
              <a:srgbClr val="D8DEE6"/>
            </a:solidFill>
            <a:prstDash val="solid"/>
          </a:ln>
        </p:spPr>
      </p:sp>
      <p:sp>
        <p:nvSpPr>
          <p:cNvPr id="19" name="Text 17"/>
          <p:cNvSpPr/>
          <p:nvPr/>
        </p:nvSpPr>
        <p:spPr>
          <a:xfrm>
            <a:off x="4617720" y="1865376"/>
            <a:ext cx="370332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7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Bidirectional dependency</a:t>
            </a:r>
            <a:endParaRPr kumimoji="0" lang="en-US" sz="10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Text 18"/>
          <p:cNvSpPr/>
          <p:nvPr/>
        </p:nvSpPr>
        <p:spPr>
          <a:xfrm>
            <a:off x="4617720" y="2121408"/>
            <a:ext cx="3703320" cy="384048"/>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8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A pair A-&gt;B and B-&gt;A; used as evidence for Wrong Cuts and poor service boundaries.</a:t>
            </a:r>
            <a:endParaRPr kumimoji="0" lang="en-US" sz="88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Shape 19"/>
          <p:cNvSpPr/>
          <p:nvPr/>
        </p:nvSpPr>
        <p:spPr>
          <a:xfrm>
            <a:off x="4617720" y="2578608"/>
            <a:ext cx="3703320" cy="9144"/>
          </a:xfrm>
          <a:prstGeom prst="rect">
            <a:avLst/>
          </a:prstGeom>
          <a:solidFill>
            <a:srgbClr val="D8DEE6"/>
          </a:solidFill>
          <a:ln w="12700">
            <a:solidFill>
              <a:srgbClr val="D8DEE6"/>
            </a:solidFill>
            <a:prstDash val="solid"/>
          </a:ln>
        </p:spPr>
      </p:sp>
      <p:sp>
        <p:nvSpPr>
          <p:cNvPr id="22" name="Text 20"/>
          <p:cNvSpPr/>
          <p:nvPr/>
        </p:nvSpPr>
        <p:spPr>
          <a:xfrm>
            <a:off x="4617720" y="2706624"/>
            <a:ext cx="370332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7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Connected ratio</a:t>
            </a:r>
            <a:endParaRPr kumimoji="0" lang="en-US" sz="10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3" name="Text 21"/>
          <p:cNvSpPr/>
          <p:nvPr/>
        </p:nvSpPr>
        <p:spPr>
          <a:xfrm>
            <a:off x="4617720" y="2962656"/>
            <a:ext cx="3703320" cy="384048"/>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8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Fraction of services participating in dependencies; used as part of Distributed Monolith evidence.</a:t>
            </a:r>
            <a:endParaRPr kumimoji="0" lang="en-US" sz="88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 name="Shape 22"/>
          <p:cNvSpPr/>
          <p:nvPr/>
        </p:nvSpPr>
        <p:spPr>
          <a:xfrm>
            <a:off x="4617720" y="3419856"/>
            <a:ext cx="3703320" cy="9144"/>
          </a:xfrm>
          <a:prstGeom prst="rect">
            <a:avLst/>
          </a:prstGeom>
          <a:solidFill>
            <a:srgbClr val="D8DEE6"/>
          </a:solidFill>
          <a:ln w="12700">
            <a:solidFill>
              <a:srgbClr val="D8DEE6"/>
            </a:solidFill>
            <a:prstDash val="solid"/>
          </a:ln>
        </p:spPr>
      </p:sp>
      <p:sp>
        <p:nvSpPr>
          <p:cNvPr id="25" name="Text 23"/>
          <p:cNvSpPr/>
          <p:nvPr/>
        </p:nvSpPr>
        <p:spPr>
          <a:xfrm>
            <a:off x="4617720" y="3547872"/>
            <a:ext cx="370332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7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Betweenness centrality</a:t>
            </a:r>
            <a:endParaRPr kumimoji="0" lang="en-US" sz="10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6" name="Text 24"/>
          <p:cNvSpPr/>
          <p:nvPr/>
        </p:nvSpPr>
        <p:spPr>
          <a:xfrm>
            <a:off x="4617720" y="3803904"/>
            <a:ext cx="3703320" cy="384048"/>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8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How often a service lies on shortest paths between other services; useful for identifying broker-like nodes.</a:t>
            </a:r>
            <a:endParaRPr kumimoji="0" lang="en-US" sz="88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7" name="Shape 25"/>
          <p:cNvSpPr/>
          <p:nvPr/>
        </p:nvSpPr>
        <p:spPr>
          <a:xfrm>
            <a:off x="4617720" y="4261104"/>
            <a:ext cx="3703320" cy="9144"/>
          </a:xfrm>
          <a:prstGeom prst="rect">
            <a:avLst/>
          </a:prstGeom>
          <a:solidFill>
            <a:srgbClr val="D8DEE6"/>
          </a:solidFill>
          <a:ln w="12700">
            <a:solidFill>
              <a:srgbClr val="D8DEE6"/>
            </a:solidFill>
            <a:prstDash val="solid"/>
          </a:ln>
        </p:spPr>
      </p:sp>
      <p:sp>
        <p:nvSpPr>
          <p:cNvPr id="30" name="Text 28"/>
          <p:cNvSpPr/>
          <p:nvPr/>
        </p:nvSpPr>
        <p:spPr>
          <a:xfrm>
            <a:off x="7452360" y="4864608"/>
            <a:ext cx="1143000" cy="22860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64748B"/>
                </a:solidFill>
                <a:effectLst/>
                <a:uLnTx/>
                <a:uFillTx/>
                <a:latin typeface="Calibri" pitchFamily="34" charset="0"/>
                <a:ea typeface="Calibri" pitchFamily="34" charset="-122"/>
                <a:cs typeface="Calibri" pitchFamily="34" charset="-120"/>
              </a:rPr>
              <a:t>Appendix J</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50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Annex: service boundary detection</a:t>
            </a:r>
            <a:endParaRPr kumimoji="0" lang="en-US" sz="2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sp>
      <p:sp>
        <p:nvSpPr>
          <p:cNvPr id="4" name="Text 2"/>
          <p:cNvSpPr/>
          <p:nvPr/>
        </p:nvSpPr>
        <p:spPr>
          <a:xfrm>
            <a:off x="548640" y="987552"/>
            <a:ext cx="374904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Candidate modules</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Text 3"/>
          <p:cNvSpPr/>
          <p:nvPr/>
        </p:nvSpPr>
        <p:spPr>
          <a:xfrm>
            <a:off x="713232" y="1371600"/>
            <a:ext cx="3657600" cy="1051560"/>
          </a:xfrm>
          <a:prstGeom prst="rect">
            <a:avLst/>
          </a:prstGeom>
          <a:noFill/>
          <a:ln/>
        </p:spPr>
        <p:txBody>
          <a:bodyPr wrap="square" lIns="0" tIns="0" rIns="0" bIns="0" rtlCol="0" anchor="ctr"/>
          <a:lstStyle/>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05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Scan repository for Maven/Gradle build files</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05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Exclude aggregators, generated modules, examples, docs, and tests</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05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Keep modules with at least one deployability signal</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Text 4"/>
          <p:cNvSpPr/>
          <p:nvPr/>
        </p:nvSpPr>
        <p:spPr>
          <a:xfrm>
            <a:off x="4617720" y="987552"/>
            <a:ext cx="397764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Deployability gate</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Shape 5"/>
          <p:cNvSpPr/>
          <p:nvPr/>
        </p:nvSpPr>
        <p:spPr>
          <a:xfrm>
            <a:off x="4617720" y="1399032"/>
            <a:ext cx="347472" cy="36576"/>
          </a:xfrm>
          <a:prstGeom prst="rect">
            <a:avLst/>
          </a:prstGeom>
          <a:solidFill>
            <a:srgbClr val="059669"/>
          </a:solidFill>
          <a:ln w="12700">
            <a:solidFill>
              <a:srgbClr val="059669"/>
            </a:solidFill>
            <a:prstDash val="solid"/>
          </a:ln>
        </p:spPr>
      </p:sp>
      <p:sp>
        <p:nvSpPr>
          <p:cNvPr id="8" name="Text 6"/>
          <p:cNvSpPr/>
          <p:nvPr/>
        </p:nvSpPr>
        <p:spPr>
          <a:xfrm>
            <a:off x="4617720" y="1517904"/>
            <a:ext cx="731520" cy="21945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80" b="1" i="0" u="none" strike="noStrike" kern="1200" cap="none" spc="0" normalizeH="0" baseline="0" noProof="0" dirty="0">
                <a:ln>
                  <a:noFill/>
                </a:ln>
                <a:solidFill>
                  <a:srgbClr val="059669"/>
                </a:solidFill>
                <a:effectLst/>
                <a:uLnTx/>
                <a:uFillTx/>
                <a:latin typeface="Calibri" pitchFamily="34" charset="0"/>
                <a:ea typeface="Calibri" pitchFamily="34" charset="-122"/>
                <a:cs typeface="Calibri" pitchFamily="34" charset="-120"/>
              </a:rPr>
              <a:t>HIGH</a:t>
            </a:r>
            <a:endParaRPr kumimoji="0" lang="en-US" sz="88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 name="Text 7"/>
          <p:cNvSpPr/>
          <p:nvPr/>
        </p:nvSpPr>
        <p:spPr>
          <a:xfrm>
            <a:off x="5440680" y="1371600"/>
            <a:ext cx="315468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Spring Boot entry point</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5440680" y="1618488"/>
            <a:ext cx="3154680" cy="292608"/>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9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@SpringBootApplication / framework annotation</a:t>
            </a:r>
            <a:endParaRPr kumimoji="0" lang="en-US" sz="89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9"/>
          <p:cNvSpPr/>
          <p:nvPr/>
        </p:nvSpPr>
        <p:spPr>
          <a:xfrm>
            <a:off x="4617720" y="1938528"/>
            <a:ext cx="3977640" cy="9144"/>
          </a:xfrm>
          <a:prstGeom prst="rect">
            <a:avLst/>
          </a:prstGeom>
          <a:solidFill>
            <a:srgbClr val="D8DEE6"/>
          </a:solidFill>
          <a:ln w="12700">
            <a:solidFill>
              <a:srgbClr val="D8DEE6"/>
            </a:solidFill>
            <a:prstDash val="solid"/>
          </a:ln>
        </p:spPr>
      </p:sp>
      <p:sp>
        <p:nvSpPr>
          <p:cNvPr id="12" name="Shape 10"/>
          <p:cNvSpPr/>
          <p:nvPr/>
        </p:nvSpPr>
        <p:spPr>
          <a:xfrm>
            <a:off x="4617720" y="2057400"/>
            <a:ext cx="347472" cy="36576"/>
          </a:xfrm>
          <a:prstGeom prst="rect">
            <a:avLst/>
          </a:prstGeom>
          <a:solidFill>
            <a:srgbClr val="0D9488"/>
          </a:solidFill>
          <a:ln w="12700">
            <a:solidFill>
              <a:srgbClr val="0D9488"/>
            </a:solidFill>
            <a:prstDash val="solid"/>
          </a:ln>
        </p:spPr>
      </p:sp>
      <p:sp>
        <p:nvSpPr>
          <p:cNvPr id="13" name="Text 11"/>
          <p:cNvSpPr/>
          <p:nvPr/>
        </p:nvSpPr>
        <p:spPr>
          <a:xfrm>
            <a:off x="4617720" y="2176272"/>
            <a:ext cx="731520" cy="21945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80" b="1" i="0" u="none" strike="noStrike" kern="1200" cap="none" spc="0" normalizeH="0" baseline="0" noProof="0" dirty="0">
                <a:ln>
                  <a:noFill/>
                </a:ln>
                <a:solidFill>
                  <a:srgbClr val="0D9488"/>
                </a:solidFill>
                <a:effectLst/>
                <a:uLnTx/>
                <a:uFillTx/>
                <a:latin typeface="Calibri" pitchFamily="34" charset="0"/>
                <a:ea typeface="Calibri" pitchFamily="34" charset="-122"/>
                <a:cs typeface="Calibri" pitchFamily="34" charset="-120"/>
              </a:rPr>
              <a:t>MEDIUM</a:t>
            </a:r>
            <a:endParaRPr kumimoji="0" lang="en-US" sz="88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 name="Text 12"/>
          <p:cNvSpPr/>
          <p:nvPr/>
        </p:nvSpPr>
        <p:spPr>
          <a:xfrm>
            <a:off x="5440680" y="2029968"/>
            <a:ext cx="315468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Dockerfile</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Text 13"/>
          <p:cNvSpPr/>
          <p:nvPr/>
        </p:nvSpPr>
        <p:spPr>
          <a:xfrm>
            <a:off x="5440680" y="2276856"/>
            <a:ext cx="3154680" cy="292608"/>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9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Module has its own deployment container</a:t>
            </a:r>
            <a:endParaRPr kumimoji="0" lang="en-US" sz="89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Shape 14"/>
          <p:cNvSpPr/>
          <p:nvPr/>
        </p:nvSpPr>
        <p:spPr>
          <a:xfrm>
            <a:off x="4617720" y="2596896"/>
            <a:ext cx="3977640" cy="9144"/>
          </a:xfrm>
          <a:prstGeom prst="rect">
            <a:avLst/>
          </a:prstGeom>
          <a:solidFill>
            <a:srgbClr val="D8DEE6"/>
          </a:solidFill>
          <a:ln w="12700">
            <a:solidFill>
              <a:srgbClr val="D8DEE6"/>
            </a:solidFill>
            <a:prstDash val="solid"/>
          </a:ln>
        </p:spPr>
      </p:sp>
      <p:sp>
        <p:nvSpPr>
          <p:cNvPr id="17" name="Shape 15"/>
          <p:cNvSpPr/>
          <p:nvPr/>
        </p:nvSpPr>
        <p:spPr>
          <a:xfrm>
            <a:off x="4617720" y="2715768"/>
            <a:ext cx="347472" cy="36576"/>
          </a:xfrm>
          <a:prstGeom prst="rect">
            <a:avLst/>
          </a:prstGeom>
          <a:solidFill>
            <a:srgbClr val="D97706"/>
          </a:solidFill>
          <a:ln w="12700">
            <a:solidFill>
              <a:srgbClr val="D97706"/>
            </a:solidFill>
            <a:prstDash val="solid"/>
          </a:ln>
        </p:spPr>
      </p:sp>
      <p:sp>
        <p:nvSpPr>
          <p:cNvPr id="18" name="Text 16"/>
          <p:cNvSpPr/>
          <p:nvPr/>
        </p:nvSpPr>
        <p:spPr>
          <a:xfrm>
            <a:off x="4617720" y="2834640"/>
            <a:ext cx="731520" cy="21945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80" b="1" i="0" u="none" strike="noStrike" kern="1200" cap="none" spc="0" normalizeH="0" baseline="0" noProof="0" dirty="0">
                <a:ln>
                  <a:noFill/>
                </a:ln>
                <a:solidFill>
                  <a:srgbClr val="D97706"/>
                </a:solidFill>
                <a:effectLst/>
                <a:uLnTx/>
                <a:uFillTx/>
                <a:latin typeface="Calibri" pitchFamily="34" charset="0"/>
                <a:ea typeface="Calibri" pitchFamily="34" charset="-122"/>
                <a:cs typeface="Calibri" pitchFamily="34" charset="-120"/>
              </a:rPr>
              <a:t>LOW</a:t>
            </a:r>
            <a:endParaRPr kumimoji="0" lang="en-US" sz="88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9" name="Text 17"/>
          <p:cNvSpPr/>
          <p:nvPr/>
        </p:nvSpPr>
        <p:spPr>
          <a:xfrm>
            <a:off x="5440680" y="2688336"/>
            <a:ext cx="315468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main() method</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Text 18"/>
          <p:cNvSpPr/>
          <p:nvPr/>
        </p:nvSpPr>
        <p:spPr>
          <a:xfrm>
            <a:off x="5440680" y="2935224"/>
            <a:ext cx="3154680" cy="292608"/>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9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Executable Java entry point without stronger framework signal</a:t>
            </a:r>
            <a:endParaRPr kumimoji="0" lang="en-US" sz="89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Shape 19"/>
          <p:cNvSpPr/>
          <p:nvPr/>
        </p:nvSpPr>
        <p:spPr>
          <a:xfrm>
            <a:off x="4617720" y="3255264"/>
            <a:ext cx="3977640" cy="9144"/>
          </a:xfrm>
          <a:prstGeom prst="rect">
            <a:avLst/>
          </a:prstGeom>
          <a:solidFill>
            <a:srgbClr val="D8DEE6"/>
          </a:solidFill>
          <a:ln w="12700">
            <a:solidFill>
              <a:srgbClr val="D8DEE6"/>
            </a:solidFill>
            <a:prstDash val="solid"/>
          </a:ln>
        </p:spPr>
      </p:sp>
      <p:sp>
        <p:nvSpPr>
          <p:cNvPr id="22" name="Shape 20"/>
          <p:cNvSpPr/>
          <p:nvPr/>
        </p:nvSpPr>
        <p:spPr>
          <a:xfrm>
            <a:off x="548640" y="3401568"/>
            <a:ext cx="457200" cy="36576"/>
          </a:xfrm>
          <a:prstGeom prst="rect">
            <a:avLst/>
          </a:prstGeom>
          <a:solidFill>
            <a:srgbClr val="0D9488"/>
          </a:solidFill>
          <a:ln w="12700">
            <a:solidFill>
              <a:srgbClr val="0D9488"/>
            </a:solidFill>
            <a:prstDash val="solid"/>
          </a:ln>
        </p:spPr>
      </p:sp>
      <p:sp>
        <p:nvSpPr>
          <p:cNvPr id="23" name="Text 21"/>
          <p:cNvSpPr/>
          <p:nvPr/>
        </p:nvSpPr>
        <p:spPr>
          <a:xfrm>
            <a:off x="548640" y="3511296"/>
            <a:ext cx="804672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Why this matters</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 name="Text 22"/>
          <p:cNvSpPr/>
          <p:nvPr/>
        </p:nvSpPr>
        <p:spPr>
          <a:xfrm>
            <a:off x="548640" y="3822192"/>
            <a:ext cx="8046720" cy="56692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The tool does not require a manually supplied service list. It recovers likely deployable services from source structure, then attaches a confidence level so uncertain boundaries can be inspected instead of hidden.</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6" name="Text 24"/>
          <p:cNvSpPr/>
          <p:nvPr/>
        </p:nvSpPr>
        <p:spPr>
          <a:xfrm>
            <a:off x="7452360" y="4864608"/>
            <a:ext cx="1143000" cy="22860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64748B"/>
                </a:solidFill>
                <a:effectLst/>
                <a:uLnTx/>
                <a:uFillTx/>
                <a:latin typeface="Calibri" pitchFamily="34" charset="0"/>
                <a:ea typeface="Calibri" pitchFamily="34" charset="-122"/>
                <a:cs typeface="Calibri" pitchFamily="34" charset="-120"/>
              </a:rPr>
              <a:t>Appendix K</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50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Annex: static vs dynamic analysis</a:t>
            </a:r>
            <a:endParaRPr kumimoji="0" lang="en-US" sz="2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sp>
      <p:sp>
        <p:nvSpPr>
          <p:cNvPr id="4" name="Shape 2"/>
          <p:cNvSpPr/>
          <p:nvPr/>
        </p:nvSpPr>
        <p:spPr>
          <a:xfrm>
            <a:off x="548640" y="1024128"/>
            <a:ext cx="457200" cy="36576"/>
          </a:xfrm>
          <a:prstGeom prst="rect">
            <a:avLst/>
          </a:prstGeom>
          <a:solidFill>
            <a:srgbClr val="0D9488"/>
          </a:solidFill>
          <a:ln w="12700">
            <a:solidFill>
              <a:srgbClr val="0D9488"/>
            </a:solidFill>
            <a:prstDash val="solid"/>
          </a:ln>
        </p:spPr>
      </p:sp>
      <p:sp>
        <p:nvSpPr>
          <p:cNvPr id="5" name="Text 3"/>
          <p:cNvSpPr/>
          <p:nvPr/>
        </p:nvSpPr>
        <p:spPr>
          <a:xfrm>
            <a:off x="548640" y="1143000"/>
            <a:ext cx="3749040" cy="29260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Static analysis</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Text 4"/>
          <p:cNvSpPr/>
          <p:nvPr/>
        </p:nvSpPr>
        <p:spPr>
          <a:xfrm>
            <a:off x="713232" y="1600200"/>
            <a:ext cx="3657600" cy="1417320"/>
          </a:xfrm>
          <a:prstGeom prst="rect">
            <a:avLst/>
          </a:prstGeom>
          <a:noFill/>
          <a:ln/>
        </p:spPr>
        <p:txBody>
          <a:bodyPr wrap="square" lIns="0" tIns="0" rIns="0" bIns="0" rtlCol="0" anchor="ctr"/>
          <a:lstStyle/>
          <a:p>
            <a:pPr marL="342900" marR="0" lvl="0" indent="-342900" algn="l" defTabSz="914400" rtl="0" eaLnBrk="1" fontAlgn="auto" latinLnBrk="0" hangingPunct="1">
              <a:lnSpc>
                <a:spcPct val="100000"/>
              </a:lnSpc>
              <a:spcBef>
                <a:spcPts val="0"/>
              </a:spcBef>
              <a:spcAft>
                <a:spcPts val="500"/>
              </a:spcAft>
              <a:buClrTx/>
              <a:buSzPct val="100000"/>
              <a:buFontTx/>
              <a:buChar char="•"/>
              <a:tabLst/>
              <a:defRPr/>
            </a:pPr>
            <a:r>
              <a:rPr kumimoji="0" lang="en-US" sz="103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Runs on a fresh repository checkout</a:t>
            </a:r>
            <a:endParaRPr kumimoji="0" lang="en-US" sz="103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500"/>
              </a:spcAft>
              <a:buClrTx/>
              <a:buSzPct val="100000"/>
              <a:buFontTx/>
              <a:buChar char="•"/>
              <a:tabLst/>
              <a:defRPr/>
            </a:pPr>
            <a:r>
              <a:rPr kumimoji="0" lang="en-US" sz="103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No deployment, traffic, credentials, or tracing setup needed</a:t>
            </a:r>
            <a:endParaRPr kumimoji="0" lang="en-US" sz="103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500"/>
              </a:spcAft>
              <a:buClrTx/>
              <a:buSzPct val="100000"/>
              <a:buFontTx/>
              <a:buChar char="•"/>
              <a:tabLst/>
              <a:defRPr/>
            </a:pPr>
            <a:r>
              <a:rPr kumimoji="0" lang="en-US" sz="103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Finds source-level evidence and configuration issues</a:t>
            </a:r>
            <a:endParaRPr kumimoji="0" lang="en-US" sz="103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500"/>
              </a:spcAft>
              <a:buClrTx/>
              <a:buSzPct val="100000"/>
              <a:buFontTx/>
              <a:buChar char="•"/>
              <a:tabLst/>
              <a:defRPr/>
            </a:pPr>
            <a:r>
              <a:rPr kumimoji="0" lang="en-US" sz="103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Good fit for CI/CD and early design feedback</a:t>
            </a:r>
            <a:endParaRPr kumimoji="0" lang="en-US" sz="103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Shape 5"/>
          <p:cNvSpPr/>
          <p:nvPr/>
        </p:nvSpPr>
        <p:spPr>
          <a:xfrm>
            <a:off x="4617720" y="1024128"/>
            <a:ext cx="457200" cy="36576"/>
          </a:xfrm>
          <a:prstGeom prst="rect">
            <a:avLst/>
          </a:prstGeom>
          <a:solidFill>
            <a:srgbClr val="1C4E80"/>
          </a:solidFill>
          <a:ln w="12700">
            <a:solidFill>
              <a:srgbClr val="1C4E80"/>
            </a:solidFill>
            <a:prstDash val="solid"/>
          </a:ln>
        </p:spPr>
      </p:sp>
      <p:sp>
        <p:nvSpPr>
          <p:cNvPr id="8" name="Text 6"/>
          <p:cNvSpPr/>
          <p:nvPr/>
        </p:nvSpPr>
        <p:spPr>
          <a:xfrm>
            <a:off x="4617720" y="1143000"/>
            <a:ext cx="3749040" cy="29260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Dynamic analysis</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 name="Text 7"/>
          <p:cNvSpPr/>
          <p:nvPr/>
        </p:nvSpPr>
        <p:spPr>
          <a:xfrm>
            <a:off x="4782312" y="1600200"/>
            <a:ext cx="3657600" cy="1417320"/>
          </a:xfrm>
          <a:prstGeom prst="rect">
            <a:avLst/>
          </a:prstGeom>
          <a:noFill/>
          <a:ln/>
        </p:spPr>
        <p:txBody>
          <a:bodyPr wrap="square" lIns="0" tIns="0" rIns="0" bIns="0" rtlCol="0" anchor="ctr"/>
          <a:lstStyle/>
          <a:p>
            <a:pPr marL="342900" marR="0" lvl="0" indent="-342900" algn="l" defTabSz="914400" rtl="0" eaLnBrk="1" fontAlgn="auto" latinLnBrk="0" hangingPunct="1">
              <a:lnSpc>
                <a:spcPct val="100000"/>
              </a:lnSpc>
              <a:spcBef>
                <a:spcPts val="0"/>
              </a:spcBef>
              <a:spcAft>
                <a:spcPts val="500"/>
              </a:spcAft>
              <a:buClrTx/>
              <a:buSzPct val="100000"/>
              <a:buFontTx/>
              <a:buChar char="•"/>
              <a:tabLst/>
              <a:defRPr/>
            </a:pPr>
            <a:r>
              <a:rPr kumimoji="0" lang="en-US" sz="103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Observes real runtime calls and frequencies</a:t>
            </a:r>
            <a:endParaRPr kumimoji="0" lang="en-US" sz="103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500"/>
              </a:spcAft>
              <a:buClrTx/>
              <a:buSzPct val="100000"/>
              <a:buFontTx/>
              <a:buChar char="•"/>
              <a:tabLst/>
              <a:defRPr/>
            </a:pPr>
            <a:r>
              <a:rPr kumimoji="0" lang="en-US" sz="103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Requires deployed system and representative workload</a:t>
            </a:r>
            <a:endParaRPr kumimoji="0" lang="en-US" sz="103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500"/>
              </a:spcAft>
              <a:buClrTx/>
              <a:buSzPct val="100000"/>
              <a:buFontTx/>
              <a:buChar char="•"/>
              <a:tabLst/>
              <a:defRPr/>
            </a:pPr>
            <a:r>
              <a:rPr kumimoji="0" lang="en-US" sz="103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Captures dynamic routing and production behaviour</a:t>
            </a:r>
            <a:endParaRPr kumimoji="0" lang="en-US" sz="103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500"/>
              </a:spcAft>
              <a:buClrTx/>
              <a:buSzPct val="100000"/>
              <a:buFontTx/>
              <a:buChar char="•"/>
              <a:tabLst/>
              <a:defRPr/>
            </a:pPr>
            <a:r>
              <a:rPr kumimoji="0" lang="en-US" sz="103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Useful for validating or calibrating static findings</a:t>
            </a:r>
            <a:endParaRPr kumimoji="0" lang="en-US" sz="103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548640" y="3429000"/>
            <a:ext cx="8046720" cy="29260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Chosen tradeoff</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Text 9"/>
          <p:cNvSpPr/>
          <p:nvPr/>
        </p:nvSpPr>
        <p:spPr>
          <a:xfrm>
            <a:off x="548640" y="3767328"/>
            <a:ext cx="8046720" cy="6583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MSA Detector prioritises applicability over runtime precision: it can analyse systems before they are running, making it useful during development, review, and CI. Runtime traces would improve call-frequency accuracy, but would reduce portability and require operational setup.</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2" name="Text 10"/>
          <p:cNvSpPr/>
          <p:nvPr/>
        </p:nvSpPr>
        <p:spPr>
          <a:xfrm>
            <a:off x="7452360" y="4864608"/>
            <a:ext cx="1143000" cy="22860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64748B"/>
                </a:solidFill>
                <a:effectLst/>
                <a:uLnTx/>
                <a:uFillTx/>
                <a:latin typeface="Calibri" pitchFamily="34" charset="0"/>
                <a:ea typeface="Calibri" pitchFamily="34" charset="-122"/>
                <a:cs typeface="Calibri" pitchFamily="34" charset="-120"/>
              </a:rPr>
              <a:t>Appendix L</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50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Annex: threats to validity</a:t>
            </a:r>
            <a:endParaRPr kumimoji="0" lang="en-US" sz="2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sp>
      <p:sp>
        <p:nvSpPr>
          <p:cNvPr id="4" name="Shape 2"/>
          <p:cNvSpPr/>
          <p:nvPr/>
        </p:nvSpPr>
        <p:spPr>
          <a:xfrm>
            <a:off x="548640" y="1005840"/>
            <a:ext cx="384048" cy="36576"/>
          </a:xfrm>
          <a:prstGeom prst="rect">
            <a:avLst/>
          </a:prstGeom>
          <a:solidFill>
            <a:srgbClr val="D97706"/>
          </a:solidFill>
          <a:ln w="12700">
            <a:solidFill>
              <a:srgbClr val="D97706"/>
            </a:solidFill>
            <a:prstDash val="solid"/>
          </a:ln>
        </p:spPr>
      </p:sp>
      <p:sp>
        <p:nvSpPr>
          <p:cNvPr id="5" name="Text 3"/>
          <p:cNvSpPr/>
          <p:nvPr/>
        </p:nvSpPr>
        <p:spPr>
          <a:xfrm>
            <a:off x="548640" y="1115568"/>
            <a:ext cx="205740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8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Construct validity</a:t>
            </a:r>
            <a:endParaRPr kumimoji="0" lang="en-US" sz="108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Text 4"/>
          <p:cNvSpPr/>
          <p:nvPr/>
        </p:nvSpPr>
        <p:spPr>
          <a:xfrm>
            <a:off x="2697480" y="1060704"/>
            <a:ext cx="5897880" cy="40233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2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The health score approximates architectural quality; it is not a direct measurement of maintainability, reliability, or business impact.</a:t>
            </a:r>
            <a:endParaRPr kumimoji="0" lang="en-US" sz="92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Shape 5"/>
          <p:cNvSpPr/>
          <p:nvPr/>
        </p:nvSpPr>
        <p:spPr>
          <a:xfrm>
            <a:off x="548640" y="1554480"/>
            <a:ext cx="8046720" cy="9144"/>
          </a:xfrm>
          <a:prstGeom prst="rect">
            <a:avLst/>
          </a:prstGeom>
          <a:solidFill>
            <a:srgbClr val="D8DEE6"/>
          </a:solidFill>
          <a:ln w="12700">
            <a:solidFill>
              <a:srgbClr val="D8DEE6"/>
            </a:solidFill>
            <a:prstDash val="solid"/>
          </a:ln>
        </p:spPr>
      </p:sp>
      <p:sp>
        <p:nvSpPr>
          <p:cNvPr id="8" name="Shape 6"/>
          <p:cNvSpPr/>
          <p:nvPr/>
        </p:nvSpPr>
        <p:spPr>
          <a:xfrm>
            <a:off x="548640" y="1719072"/>
            <a:ext cx="384048" cy="36576"/>
          </a:xfrm>
          <a:prstGeom prst="rect">
            <a:avLst/>
          </a:prstGeom>
          <a:solidFill>
            <a:srgbClr val="0D9488"/>
          </a:solidFill>
          <a:ln w="12700">
            <a:solidFill>
              <a:srgbClr val="0D9488"/>
            </a:solidFill>
            <a:prstDash val="solid"/>
          </a:ln>
        </p:spPr>
      </p:sp>
      <p:sp>
        <p:nvSpPr>
          <p:cNvPr id="9" name="Text 7"/>
          <p:cNvSpPr/>
          <p:nvPr/>
        </p:nvSpPr>
        <p:spPr>
          <a:xfrm>
            <a:off x="548640" y="1828800"/>
            <a:ext cx="205740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8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Internal validity</a:t>
            </a:r>
            <a:endParaRPr kumimoji="0" lang="en-US" sz="108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2697480" y="1773936"/>
            <a:ext cx="5897880" cy="40233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2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Static call resolution may miss dynamic URLs, generated clients, reflection, service discovery indirection, or framework-specific routing.</a:t>
            </a:r>
            <a:endParaRPr kumimoji="0" lang="en-US" sz="92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9"/>
          <p:cNvSpPr/>
          <p:nvPr/>
        </p:nvSpPr>
        <p:spPr>
          <a:xfrm>
            <a:off x="548640" y="2267712"/>
            <a:ext cx="8046720" cy="9144"/>
          </a:xfrm>
          <a:prstGeom prst="rect">
            <a:avLst/>
          </a:prstGeom>
          <a:solidFill>
            <a:srgbClr val="D8DEE6"/>
          </a:solidFill>
          <a:ln w="12700">
            <a:solidFill>
              <a:srgbClr val="D8DEE6"/>
            </a:solidFill>
            <a:prstDash val="solid"/>
          </a:ln>
        </p:spPr>
      </p:sp>
      <p:sp>
        <p:nvSpPr>
          <p:cNvPr id="12" name="Shape 10"/>
          <p:cNvSpPr/>
          <p:nvPr/>
        </p:nvSpPr>
        <p:spPr>
          <a:xfrm>
            <a:off x="548640" y="2432304"/>
            <a:ext cx="384048" cy="36576"/>
          </a:xfrm>
          <a:prstGeom prst="rect">
            <a:avLst/>
          </a:prstGeom>
          <a:solidFill>
            <a:srgbClr val="D97706"/>
          </a:solidFill>
          <a:ln w="12700">
            <a:solidFill>
              <a:srgbClr val="D97706"/>
            </a:solidFill>
            <a:prstDash val="solid"/>
          </a:ln>
        </p:spPr>
      </p:sp>
      <p:sp>
        <p:nvSpPr>
          <p:cNvPr id="13" name="Text 11"/>
          <p:cNvSpPr/>
          <p:nvPr/>
        </p:nvSpPr>
        <p:spPr>
          <a:xfrm>
            <a:off x="548640" y="2542032"/>
            <a:ext cx="205740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8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External validity</a:t>
            </a:r>
            <a:endParaRPr kumimoji="0" lang="en-US" sz="108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 name="Text 12"/>
          <p:cNvSpPr/>
          <p:nvPr/>
        </p:nvSpPr>
        <p:spPr>
          <a:xfrm>
            <a:off x="2697480" y="2487168"/>
            <a:ext cx="5897880" cy="40233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2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Evaluation covers 11 Java/Spring Boot open-source systems, so results may not generalise to industrial, polyglot, or cloud-native systems.</a:t>
            </a:r>
            <a:endParaRPr kumimoji="0" lang="en-US" sz="92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Shape 13"/>
          <p:cNvSpPr/>
          <p:nvPr/>
        </p:nvSpPr>
        <p:spPr>
          <a:xfrm>
            <a:off x="548640" y="2980944"/>
            <a:ext cx="8046720" cy="9144"/>
          </a:xfrm>
          <a:prstGeom prst="rect">
            <a:avLst/>
          </a:prstGeom>
          <a:solidFill>
            <a:srgbClr val="D8DEE6"/>
          </a:solidFill>
          <a:ln w="12700">
            <a:solidFill>
              <a:srgbClr val="D8DEE6"/>
            </a:solidFill>
            <a:prstDash val="solid"/>
          </a:ln>
        </p:spPr>
      </p:sp>
      <p:sp>
        <p:nvSpPr>
          <p:cNvPr id="16" name="Shape 14"/>
          <p:cNvSpPr/>
          <p:nvPr/>
        </p:nvSpPr>
        <p:spPr>
          <a:xfrm>
            <a:off x="548640" y="3145536"/>
            <a:ext cx="384048" cy="36576"/>
          </a:xfrm>
          <a:prstGeom prst="rect">
            <a:avLst/>
          </a:prstGeom>
          <a:solidFill>
            <a:srgbClr val="0D9488"/>
          </a:solidFill>
          <a:ln w="12700">
            <a:solidFill>
              <a:srgbClr val="0D9488"/>
            </a:solidFill>
            <a:prstDash val="solid"/>
          </a:ln>
        </p:spPr>
      </p:sp>
      <p:sp>
        <p:nvSpPr>
          <p:cNvPr id="17" name="Text 15"/>
          <p:cNvSpPr/>
          <p:nvPr/>
        </p:nvSpPr>
        <p:spPr>
          <a:xfrm>
            <a:off x="548640" y="3255264"/>
            <a:ext cx="205740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8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Conclusion validity</a:t>
            </a:r>
            <a:endParaRPr kumimoji="0" lang="en-US" sz="108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8" name="Text 16"/>
          <p:cNvSpPr/>
          <p:nvPr/>
        </p:nvSpPr>
        <p:spPr>
          <a:xfrm>
            <a:off x="2697480" y="3200400"/>
            <a:ext cx="5897880" cy="40233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2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No labelled benchmark exists for these microservice anti-patterns, so the evaluation demonstrates feasibility rather than precision/recall.</a:t>
            </a:r>
            <a:endParaRPr kumimoji="0" lang="en-US" sz="92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9" name="Shape 17"/>
          <p:cNvSpPr/>
          <p:nvPr/>
        </p:nvSpPr>
        <p:spPr>
          <a:xfrm>
            <a:off x="548640" y="3694176"/>
            <a:ext cx="8046720" cy="9144"/>
          </a:xfrm>
          <a:prstGeom prst="rect">
            <a:avLst/>
          </a:prstGeom>
          <a:solidFill>
            <a:srgbClr val="D8DEE6"/>
          </a:solidFill>
          <a:ln w="12700">
            <a:solidFill>
              <a:srgbClr val="D8DEE6"/>
            </a:solidFill>
            <a:prstDash val="solid"/>
          </a:ln>
        </p:spPr>
      </p:sp>
      <p:sp>
        <p:nvSpPr>
          <p:cNvPr id="20" name="Shape 18"/>
          <p:cNvSpPr/>
          <p:nvPr/>
        </p:nvSpPr>
        <p:spPr>
          <a:xfrm>
            <a:off x="548640" y="3858768"/>
            <a:ext cx="384048" cy="36576"/>
          </a:xfrm>
          <a:prstGeom prst="rect">
            <a:avLst/>
          </a:prstGeom>
          <a:solidFill>
            <a:srgbClr val="D97706"/>
          </a:solidFill>
          <a:ln w="12700">
            <a:solidFill>
              <a:srgbClr val="D97706"/>
            </a:solidFill>
            <a:prstDash val="solid"/>
          </a:ln>
        </p:spPr>
      </p:sp>
      <p:sp>
        <p:nvSpPr>
          <p:cNvPr id="21" name="Text 19"/>
          <p:cNvSpPr/>
          <p:nvPr/>
        </p:nvSpPr>
        <p:spPr>
          <a:xfrm>
            <a:off x="548640" y="3968496"/>
            <a:ext cx="205740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8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Threshold validity</a:t>
            </a:r>
            <a:endParaRPr kumimoji="0" lang="en-US" sz="108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2" name="Text 20"/>
          <p:cNvSpPr/>
          <p:nvPr/>
        </p:nvSpPr>
        <p:spPr>
          <a:xfrm>
            <a:off x="2697480" y="3913632"/>
            <a:ext cx="5897880" cy="40233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2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Detector thresholds and score weights are engineering choices informed by literature, but not calibrated on a large industrial corpus.</a:t>
            </a:r>
            <a:endParaRPr kumimoji="0" lang="en-US" sz="92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3" name="Shape 21"/>
          <p:cNvSpPr/>
          <p:nvPr/>
        </p:nvSpPr>
        <p:spPr>
          <a:xfrm>
            <a:off x="548640" y="4407408"/>
            <a:ext cx="8046720" cy="9144"/>
          </a:xfrm>
          <a:prstGeom prst="rect">
            <a:avLst/>
          </a:prstGeom>
          <a:solidFill>
            <a:srgbClr val="D8DEE6"/>
          </a:solidFill>
          <a:ln w="12700">
            <a:solidFill>
              <a:srgbClr val="D8DEE6"/>
            </a:solidFill>
            <a:prstDash val="solid"/>
          </a:ln>
        </p:spPr>
      </p:sp>
      <p:sp>
        <p:nvSpPr>
          <p:cNvPr id="26" name="Text 24"/>
          <p:cNvSpPr/>
          <p:nvPr/>
        </p:nvSpPr>
        <p:spPr>
          <a:xfrm>
            <a:off x="7452360" y="4864608"/>
            <a:ext cx="1143000" cy="22860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64748B"/>
                </a:solidFill>
                <a:effectLst/>
                <a:uLnTx/>
                <a:uFillTx/>
                <a:latin typeface="Calibri" pitchFamily="34" charset="0"/>
                <a:ea typeface="Calibri" pitchFamily="34" charset="-122"/>
                <a:cs typeface="Calibri" pitchFamily="34" charset="-120"/>
              </a:rPr>
              <a:t>Appendix M</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50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Annex: tool architecture internals</a:t>
            </a:r>
            <a:endParaRPr kumimoji="0" lang="en-US" sz="2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sp>
      <p:sp>
        <p:nvSpPr>
          <p:cNvPr id="4" name="Text 2"/>
          <p:cNvSpPr/>
          <p:nvPr/>
        </p:nvSpPr>
        <p:spPr>
          <a:xfrm>
            <a:off x="548640" y="1005840"/>
            <a:ext cx="310896"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0D9488"/>
                </a:solidFill>
                <a:effectLst/>
                <a:uLnTx/>
                <a:uFillTx/>
                <a:latin typeface="Calibri" pitchFamily="34" charset="0"/>
                <a:ea typeface="Calibri" pitchFamily="34" charset="-122"/>
                <a:cs typeface="Calibri" pitchFamily="34" charset="-120"/>
              </a:rPr>
              <a:t>1</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Text 3"/>
          <p:cNvSpPr/>
          <p:nvPr/>
        </p:nvSpPr>
        <p:spPr>
          <a:xfrm>
            <a:off x="960120" y="987552"/>
            <a:ext cx="333756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8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API layer</a:t>
            </a:r>
            <a:endParaRPr kumimoji="0" lang="en-US" sz="108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Text 4"/>
          <p:cNvSpPr/>
          <p:nvPr/>
        </p:nvSpPr>
        <p:spPr>
          <a:xfrm>
            <a:off x="960120" y="1243584"/>
            <a:ext cx="3337560" cy="347472"/>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4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Upload ZIP / clone URL, create analysis job, expose polling and results endpoints</a:t>
            </a:r>
            <a:endParaRPr kumimoji="0" lang="en-US" sz="84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Shape 5"/>
          <p:cNvSpPr/>
          <p:nvPr/>
        </p:nvSpPr>
        <p:spPr>
          <a:xfrm>
            <a:off x="548640" y="1645920"/>
            <a:ext cx="3703320" cy="7315"/>
          </a:xfrm>
          <a:prstGeom prst="rect">
            <a:avLst/>
          </a:prstGeom>
          <a:solidFill>
            <a:srgbClr val="D8DEE6"/>
          </a:solidFill>
          <a:ln w="12700">
            <a:solidFill>
              <a:srgbClr val="D8DEE6"/>
            </a:solidFill>
            <a:prstDash val="solid"/>
          </a:ln>
        </p:spPr>
      </p:sp>
      <p:sp>
        <p:nvSpPr>
          <p:cNvPr id="8" name="Text 6"/>
          <p:cNvSpPr/>
          <p:nvPr/>
        </p:nvSpPr>
        <p:spPr>
          <a:xfrm>
            <a:off x="548640" y="1773936"/>
            <a:ext cx="310896"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0D9488"/>
                </a:solidFill>
                <a:effectLst/>
                <a:uLnTx/>
                <a:uFillTx/>
                <a:latin typeface="Calibri" pitchFamily="34" charset="0"/>
                <a:ea typeface="Calibri" pitchFamily="34" charset="-122"/>
                <a:cs typeface="Calibri" pitchFamily="34" charset="-120"/>
              </a:rPr>
              <a:t>2</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 name="Text 7"/>
          <p:cNvSpPr/>
          <p:nvPr/>
        </p:nvSpPr>
        <p:spPr>
          <a:xfrm>
            <a:off x="960120" y="1755648"/>
            <a:ext cx="333756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8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Async orchestration</a:t>
            </a:r>
            <a:endParaRPr kumimoji="0" lang="en-US" sz="108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960120" y="2011680"/>
            <a:ext cx="3337560" cy="347472"/>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4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Spring @Async worker starts after transaction commit and updates job status</a:t>
            </a:r>
            <a:endParaRPr kumimoji="0" lang="en-US" sz="84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9"/>
          <p:cNvSpPr/>
          <p:nvPr/>
        </p:nvSpPr>
        <p:spPr>
          <a:xfrm>
            <a:off x="548640" y="2414016"/>
            <a:ext cx="3703320" cy="7315"/>
          </a:xfrm>
          <a:prstGeom prst="rect">
            <a:avLst/>
          </a:prstGeom>
          <a:solidFill>
            <a:srgbClr val="D8DEE6"/>
          </a:solidFill>
          <a:ln w="12700">
            <a:solidFill>
              <a:srgbClr val="D8DEE6"/>
            </a:solidFill>
            <a:prstDash val="solid"/>
          </a:ln>
        </p:spPr>
      </p:sp>
      <p:sp>
        <p:nvSpPr>
          <p:cNvPr id="12" name="Text 10"/>
          <p:cNvSpPr/>
          <p:nvPr/>
        </p:nvSpPr>
        <p:spPr>
          <a:xfrm>
            <a:off x="548640" y="2542032"/>
            <a:ext cx="310896"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0D9488"/>
                </a:solidFill>
                <a:effectLst/>
                <a:uLnTx/>
                <a:uFillTx/>
                <a:latin typeface="Calibri" pitchFamily="34" charset="0"/>
                <a:ea typeface="Calibri" pitchFamily="34" charset="-122"/>
                <a:cs typeface="Calibri" pitchFamily="34" charset="-120"/>
              </a:rPr>
              <a:t>3</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3" name="Text 11"/>
          <p:cNvSpPr/>
          <p:nvPr/>
        </p:nvSpPr>
        <p:spPr>
          <a:xfrm>
            <a:off x="960120" y="2523744"/>
            <a:ext cx="333756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8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Repository workspace</a:t>
            </a:r>
            <a:endParaRPr kumimoji="0" lang="en-US" sz="108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 name="Text 12"/>
          <p:cNvSpPr/>
          <p:nvPr/>
        </p:nvSpPr>
        <p:spPr>
          <a:xfrm>
            <a:off x="960120" y="2779776"/>
            <a:ext cx="3337560" cy="347472"/>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4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Extracts or clones project into temporary analysis workspace</a:t>
            </a:r>
            <a:endParaRPr kumimoji="0" lang="en-US" sz="84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Shape 13"/>
          <p:cNvSpPr/>
          <p:nvPr/>
        </p:nvSpPr>
        <p:spPr>
          <a:xfrm>
            <a:off x="548640" y="3182112"/>
            <a:ext cx="3703320" cy="7315"/>
          </a:xfrm>
          <a:prstGeom prst="rect">
            <a:avLst/>
          </a:prstGeom>
          <a:solidFill>
            <a:srgbClr val="D8DEE6"/>
          </a:solidFill>
          <a:ln w="12700">
            <a:solidFill>
              <a:srgbClr val="D8DEE6"/>
            </a:solidFill>
            <a:prstDash val="solid"/>
          </a:ln>
        </p:spPr>
      </p:sp>
      <p:sp>
        <p:nvSpPr>
          <p:cNvPr id="16" name="Text 14"/>
          <p:cNvSpPr/>
          <p:nvPr/>
        </p:nvSpPr>
        <p:spPr>
          <a:xfrm>
            <a:off x="548640" y="3310128"/>
            <a:ext cx="310896"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0D9488"/>
                </a:solidFill>
                <a:effectLst/>
                <a:uLnTx/>
                <a:uFillTx/>
                <a:latin typeface="Calibri" pitchFamily="34" charset="0"/>
                <a:ea typeface="Calibri" pitchFamily="34" charset="-122"/>
                <a:cs typeface="Calibri" pitchFamily="34" charset="-120"/>
              </a:rPr>
              <a:t>4</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Text 15"/>
          <p:cNvSpPr/>
          <p:nvPr/>
        </p:nvSpPr>
        <p:spPr>
          <a:xfrm>
            <a:off x="960120" y="3291840"/>
            <a:ext cx="333756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8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Service discovery</a:t>
            </a:r>
            <a:endParaRPr kumimoji="0" lang="en-US" sz="108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8" name="Text 16"/>
          <p:cNvSpPr/>
          <p:nvPr/>
        </p:nvSpPr>
        <p:spPr>
          <a:xfrm>
            <a:off x="960120" y="3547872"/>
            <a:ext cx="3337560" cy="347472"/>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4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Build-file scan plus deployability gate with confidence levels</a:t>
            </a:r>
            <a:endParaRPr kumimoji="0" lang="en-US" sz="84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9" name="Shape 17"/>
          <p:cNvSpPr/>
          <p:nvPr/>
        </p:nvSpPr>
        <p:spPr>
          <a:xfrm>
            <a:off x="548640" y="3950208"/>
            <a:ext cx="3703320" cy="7315"/>
          </a:xfrm>
          <a:prstGeom prst="rect">
            <a:avLst/>
          </a:prstGeom>
          <a:solidFill>
            <a:srgbClr val="D8DEE6"/>
          </a:solidFill>
          <a:ln w="12700">
            <a:solidFill>
              <a:srgbClr val="D8DEE6"/>
            </a:solidFill>
            <a:prstDash val="solid"/>
          </a:ln>
        </p:spPr>
      </p:sp>
      <p:sp>
        <p:nvSpPr>
          <p:cNvPr id="20" name="Text 18"/>
          <p:cNvSpPr/>
          <p:nvPr/>
        </p:nvSpPr>
        <p:spPr>
          <a:xfrm>
            <a:off x="4617720" y="1005840"/>
            <a:ext cx="310896"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0D9488"/>
                </a:solidFill>
                <a:effectLst/>
                <a:uLnTx/>
                <a:uFillTx/>
                <a:latin typeface="Calibri" pitchFamily="34" charset="0"/>
                <a:ea typeface="Calibri" pitchFamily="34" charset="-122"/>
                <a:cs typeface="Calibri" pitchFamily="34" charset="-120"/>
              </a:rPr>
              <a:t>5</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Text 19"/>
          <p:cNvSpPr/>
          <p:nvPr/>
        </p:nvSpPr>
        <p:spPr>
          <a:xfrm>
            <a:off x="5029200" y="987552"/>
            <a:ext cx="333756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8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Analysis engines</a:t>
            </a:r>
            <a:endParaRPr kumimoji="0" lang="en-US" sz="108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2" name="Text 20"/>
          <p:cNvSpPr/>
          <p:nvPr/>
        </p:nvSpPr>
        <p:spPr>
          <a:xfrm>
            <a:off x="5029200" y="1243584"/>
            <a:ext cx="3337560" cy="347472"/>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4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DesigniteJava subprocess for smells; Spoon AST for structural and dependency analysis</a:t>
            </a:r>
            <a:endParaRPr kumimoji="0" lang="en-US" sz="84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3" name="Shape 21"/>
          <p:cNvSpPr/>
          <p:nvPr/>
        </p:nvSpPr>
        <p:spPr>
          <a:xfrm>
            <a:off x="4617720" y="1645920"/>
            <a:ext cx="3703320" cy="7315"/>
          </a:xfrm>
          <a:prstGeom prst="rect">
            <a:avLst/>
          </a:prstGeom>
          <a:solidFill>
            <a:srgbClr val="D8DEE6"/>
          </a:solidFill>
          <a:ln w="12700">
            <a:solidFill>
              <a:srgbClr val="D8DEE6"/>
            </a:solidFill>
            <a:prstDash val="solid"/>
          </a:ln>
        </p:spPr>
      </p:sp>
      <p:sp>
        <p:nvSpPr>
          <p:cNvPr id="24" name="Text 22"/>
          <p:cNvSpPr/>
          <p:nvPr/>
        </p:nvSpPr>
        <p:spPr>
          <a:xfrm>
            <a:off x="4617720" y="1773936"/>
            <a:ext cx="310896"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0D9488"/>
                </a:solidFill>
                <a:effectLst/>
                <a:uLnTx/>
                <a:uFillTx/>
                <a:latin typeface="Calibri" pitchFamily="34" charset="0"/>
                <a:ea typeface="Calibri" pitchFamily="34" charset="-122"/>
                <a:cs typeface="Calibri" pitchFamily="34" charset="-120"/>
              </a:rPr>
              <a:t>6</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5" name="Text 23"/>
          <p:cNvSpPr/>
          <p:nvPr/>
        </p:nvSpPr>
        <p:spPr>
          <a:xfrm>
            <a:off x="5029200" y="1755648"/>
            <a:ext cx="333756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8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Detector layer</a:t>
            </a:r>
            <a:endParaRPr kumimoji="0" lang="en-US" sz="108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6" name="Text 24"/>
          <p:cNvSpPr/>
          <p:nvPr/>
        </p:nvSpPr>
        <p:spPr>
          <a:xfrm>
            <a:off x="5029200" y="2011680"/>
            <a:ext cx="3337560" cy="347472"/>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4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AntiPatternDetector Strategy components run over services, metrics, and graph</a:t>
            </a:r>
            <a:endParaRPr kumimoji="0" lang="en-US" sz="84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7" name="Shape 25"/>
          <p:cNvSpPr/>
          <p:nvPr/>
        </p:nvSpPr>
        <p:spPr>
          <a:xfrm>
            <a:off x="4617720" y="2414016"/>
            <a:ext cx="3703320" cy="7315"/>
          </a:xfrm>
          <a:prstGeom prst="rect">
            <a:avLst/>
          </a:prstGeom>
          <a:solidFill>
            <a:srgbClr val="D8DEE6"/>
          </a:solidFill>
          <a:ln w="12700">
            <a:solidFill>
              <a:srgbClr val="D8DEE6"/>
            </a:solidFill>
            <a:prstDash val="solid"/>
          </a:ln>
        </p:spPr>
      </p:sp>
      <p:sp>
        <p:nvSpPr>
          <p:cNvPr id="28" name="Text 26"/>
          <p:cNvSpPr/>
          <p:nvPr/>
        </p:nvSpPr>
        <p:spPr>
          <a:xfrm>
            <a:off x="4617720" y="2542032"/>
            <a:ext cx="310896"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0D9488"/>
                </a:solidFill>
                <a:effectLst/>
                <a:uLnTx/>
                <a:uFillTx/>
                <a:latin typeface="Calibri" pitchFamily="34" charset="0"/>
                <a:ea typeface="Calibri" pitchFamily="34" charset="-122"/>
                <a:cs typeface="Calibri" pitchFamily="34" charset="-120"/>
              </a:rPr>
              <a:t>7</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9" name="Text 27"/>
          <p:cNvSpPr/>
          <p:nvPr/>
        </p:nvSpPr>
        <p:spPr>
          <a:xfrm>
            <a:off x="5029200" y="2523744"/>
            <a:ext cx="333756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8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Scoring/reporting</a:t>
            </a:r>
            <a:endParaRPr kumimoji="0" lang="en-US" sz="108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0" name="Text 28"/>
          <p:cNvSpPr/>
          <p:nvPr/>
        </p:nvSpPr>
        <p:spPr>
          <a:xfrm>
            <a:off x="5029200" y="2779776"/>
            <a:ext cx="3337560" cy="347472"/>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4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Health score, category breakdown, evidence snippets, remediation, graph JSON</a:t>
            </a:r>
            <a:endParaRPr kumimoji="0" lang="en-US" sz="84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1" name="Shape 29"/>
          <p:cNvSpPr/>
          <p:nvPr/>
        </p:nvSpPr>
        <p:spPr>
          <a:xfrm>
            <a:off x="4617720" y="3182112"/>
            <a:ext cx="3703320" cy="7315"/>
          </a:xfrm>
          <a:prstGeom prst="rect">
            <a:avLst/>
          </a:prstGeom>
          <a:solidFill>
            <a:srgbClr val="D8DEE6"/>
          </a:solidFill>
          <a:ln w="12700">
            <a:solidFill>
              <a:srgbClr val="D8DEE6"/>
            </a:solidFill>
            <a:prstDash val="solid"/>
          </a:ln>
        </p:spPr>
      </p:sp>
      <p:sp>
        <p:nvSpPr>
          <p:cNvPr id="32" name="Text 30"/>
          <p:cNvSpPr/>
          <p:nvPr/>
        </p:nvSpPr>
        <p:spPr>
          <a:xfrm>
            <a:off x="4617720" y="3310128"/>
            <a:ext cx="310896"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0D9488"/>
                </a:solidFill>
                <a:effectLst/>
                <a:uLnTx/>
                <a:uFillTx/>
                <a:latin typeface="Calibri" pitchFamily="34" charset="0"/>
                <a:ea typeface="Calibri" pitchFamily="34" charset="-122"/>
                <a:cs typeface="Calibri" pitchFamily="34" charset="-120"/>
              </a:rPr>
              <a:t>8</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3" name="Text 31"/>
          <p:cNvSpPr/>
          <p:nvPr/>
        </p:nvSpPr>
        <p:spPr>
          <a:xfrm>
            <a:off x="5029200" y="3291840"/>
            <a:ext cx="333756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8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Persistence/UI</a:t>
            </a:r>
            <a:endParaRPr kumimoji="0" lang="en-US" sz="108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4" name="Text 32"/>
          <p:cNvSpPr/>
          <p:nvPr/>
        </p:nvSpPr>
        <p:spPr>
          <a:xfrm>
            <a:off x="5029200" y="3547872"/>
            <a:ext cx="3337560" cy="347472"/>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4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Results stored in database and rendered in dashboard, finding cards, diff view, graph view</a:t>
            </a:r>
            <a:endParaRPr kumimoji="0" lang="en-US" sz="84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5" name="Shape 33"/>
          <p:cNvSpPr/>
          <p:nvPr/>
        </p:nvSpPr>
        <p:spPr>
          <a:xfrm>
            <a:off x="4617720" y="3950208"/>
            <a:ext cx="3703320" cy="7315"/>
          </a:xfrm>
          <a:prstGeom prst="rect">
            <a:avLst/>
          </a:prstGeom>
          <a:solidFill>
            <a:srgbClr val="D8DEE6"/>
          </a:solidFill>
          <a:ln w="12700">
            <a:solidFill>
              <a:srgbClr val="D8DEE6"/>
            </a:solidFill>
            <a:prstDash val="solid"/>
          </a:ln>
        </p:spPr>
      </p:sp>
      <p:sp>
        <p:nvSpPr>
          <p:cNvPr id="38" name="Text 36"/>
          <p:cNvSpPr/>
          <p:nvPr/>
        </p:nvSpPr>
        <p:spPr>
          <a:xfrm>
            <a:off x="7452360" y="4864608"/>
            <a:ext cx="1143000" cy="22860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64748B"/>
                </a:solidFill>
                <a:effectLst/>
                <a:uLnTx/>
                <a:uFillTx/>
                <a:latin typeface="Calibri" pitchFamily="34" charset="0"/>
                <a:ea typeface="Calibri" pitchFamily="34" charset="-122"/>
                <a:cs typeface="Calibri" pitchFamily="34" charset="-120"/>
              </a:rPr>
              <a:t>Appendix N</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9d258917-277f-42cd-a3cd-14c4e9ee58bc}" enabled="1" method="Standard" siteId="{38ae3bcd-9579-4fd4-adda-b42e1495d55a}" contentBits="0" removed="0"/>
</clbl:labelList>
</file>

<file path=docProps/app.xml><?xml version="1.0" encoding="utf-8"?>
<Properties xmlns="http://schemas.openxmlformats.org/officeDocument/2006/extended-properties" xmlns:vt="http://schemas.openxmlformats.org/officeDocument/2006/docPropsVTypes">
  <TotalTime>98</TotalTime>
  <Words>6968</Words>
  <Application>Microsoft Office PowerPoint</Application>
  <PresentationFormat>On-screen Show (16:9)</PresentationFormat>
  <Paragraphs>619</Paragraphs>
  <Slides>27</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MSA Detector — Master's Dissertation Defense</dc:title>
  <dc:subject>PptxGenJS Presentation</dc:subject>
  <dc:creator>Iacob Andrei</dc:creator>
  <cp:lastModifiedBy>iacob andrei</cp:lastModifiedBy>
  <cp:revision>24</cp:revision>
  <dcterms:created xsi:type="dcterms:W3CDTF">2026-06-11T06:26:58Z</dcterms:created>
  <dcterms:modified xsi:type="dcterms:W3CDTF">2026-06-23T17:48:55Z</dcterms:modified>
</cp:coreProperties>
</file>