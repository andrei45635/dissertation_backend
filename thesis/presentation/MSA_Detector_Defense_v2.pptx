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1" r:id="rId6"/>
    <p:sldId id="260" r:id="rId7"/>
    <p:sldId id="262" r:id="rId8"/>
    <p:sldId id="264" r:id="rId9"/>
    <p:sldId id="265" r:id="rId10"/>
    <p:sldId id="266" r:id="rId11"/>
    <p:sldId id="267" r:id="rId12"/>
    <p:sldId id="270" r:id="rId13"/>
    <p:sldId id="269" r:id="rId14"/>
    <p:sldId id="263" r:id="rId15"/>
    <p:sldId id="271" r:id="rId16"/>
    <p:sldId id="272" r:id="rId17"/>
    <p:sldId id="273" r:id="rId18"/>
    <p:sldId id="274" r:id="rId19"/>
    <p:sldId id="275" r:id="rId20"/>
    <p:sldId id="276" r:id="rId21"/>
    <p:sldId id="277"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2" autoAdjust="0"/>
    <p:restoredTop sz="64649" autoAdjust="0"/>
  </p:normalViewPr>
  <p:slideViewPr>
    <p:cSldViewPr snapToGrid="0" snapToObjects="1">
      <p:cViewPr varScale="1">
        <p:scale>
          <a:sx n="146" d="100"/>
          <a:sy n="146" d="100"/>
        </p:scale>
        <p:origin x="594" y="11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a:spcAft>
                <a:spcPts val="200"/>
              </a:spcAft>
            </a:pPr>
            <a:r>
              <a:rPr lang="en-US" sz="1150" dirty="0">
                <a:solidFill>
                  <a:srgbClr val="DBEAFE"/>
                </a:solidFill>
                <a:latin typeface="Calibri" pitchFamily="34" charset="0"/>
                <a:ea typeface="Calibri" pitchFamily="34" charset="-122"/>
                <a:cs typeface="Calibri" pitchFamily="34" charset="-120"/>
              </a:rPr>
              <a:t>Diagnosing the Distributed: A Static Analysis Approach to Microservice Anti-Pattern Detection</a:t>
            </a:r>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a:t>
            </a:r>
            <a:r>
              <a:rPr lang="en-US" sz="1150" dirty="0" err="1">
                <a:solidFill>
                  <a:srgbClr val="DBEAFE"/>
                </a:solidFill>
                <a:latin typeface="Calibri" pitchFamily="34" charset="0"/>
                <a:ea typeface="Calibri" pitchFamily="34" charset="-122"/>
                <a:cs typeface="Calibri" pitchFamily="34" charset="-120"/>
              </a:rPr>
              <a:t>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246811" y="1856232"/>
            <a:ext cx="1301061"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658368" y="3057362"/>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t>
            </a:r>
            <a:r>
              <a:rPr lang="en-US" sz="1100" dirty="0" err="1">
                <a:solidFill>
                  <a:srgbClr val="1E293B"/>
                </a:solidFill>
                <a:latin typeface="Calibri" pitchFamily="34" charset="0"/>
                <a:ea typeface="Calibri" pitchFamily="34" charset="-122"/>
                <a:cs typeface="Calibri" pitchFamily="34" charset="-120"/>
              </a:rPr>
              <a:t>AntiPatternDetector</a:t>
            </a:r>
            <a:r>
              <a:rPr lang="en-US" sz="1100" dirty="0">
                <a:solidFill>
                  <a:srgbClr val="1E293B"/>
                </a:solidFill>
                <a:latin typeface="Calibri" pitchFamily="34" charset="0"/>
                <a:ea typeface="Calibri" pitchFamily="34" charset="-122"/>
                <a:cs typeface="Calibri" pitchFamily="34" charset="-120"/>
              </a:rPr>
              <a:t> </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20" name="Text 18"/>
          <p:cNvSpPr/>
          <p:nvPr/>
        </p:nvSpPr>
        <p:spPr>
          <a:xfrm>
            <a:off x="548640" y="2269671"/>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2580567"/>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2580567"/>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2580567"/>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2580567"/>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2580567"/>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583794"/>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3876402"/>
            <a:ext cx="8046720" cy="5486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A single number tells teams whether quality is improving = &gt; the per-category breakdown tells them which dimension needs attention</a:t>
            </a:r>
          </a:p>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Multi-level static analysis combining code smells and architectural metrics</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Ten anti-patterns, configurable thresholds, evidence-based reporting</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Composite health score with four-category decomposition and analysis diff</a:t>
            </a:r>
          </a:p>
          <a:p>
            <a:pPr marL="342900" indent="-342900">
              <a:spcAft>
                <a:spcPts val="400"/>
              </a:spcAft>
              <a:buSzPct val="100000"/>
              <a:buChar char="•"/>
            </a:pPr>
            <a:r>
              <a:rPr lang="en-US" sz="1250" dirty="0">
                <a:solidFill>
                  <a:schemeClr val="bg1"/>
                </a:solidFill>
              </a:rPr>
              <a:t>Evaluated the tool on 11 open-source systems, covering 130 services and </a:t>
            </a:r>
            <a:r>
              <a:rPr lang="en-US" sz="1250" dirty="0" err="1">
                <a:solidFill>
                  <a:schemeClr val="bg1"/>
                </a:solidFill>
              </a:rPr>
              <a:t>cca</a:t>
            </a:r>
            <a:r>
              <a:rPr lang="en-US" sz="1250" dirty="0">
                <a:solidFill>
                  <a:schemeClr val="bg1"/>
                </a:solidFill>
              </a:rPr>
              <a:t>. 274k LOC</a:t>
            </a:r>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4" name="Text 32"/>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257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marL="0" indent="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marL="0" indent="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core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Microservice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Architectural anti-pattern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boundary</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Evidence-based finding</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detected issue linked to affected services, source snippets, graph evidence, severity, and remediation guidance.</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Multi-level analysis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Combining intra-service code metrics and smells with inter-service dependency graph analysis.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Health score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0-100 composite quality indicator decomposed into Anti-Patterns, Code Quality, Architecture, and Service Sizing.</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A</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formulas &amp; metrics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Tight Class Cohesion</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TCC = NDC / NP</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715000" y="1005840"/>
            <a:ext cx="2880360" cy="384048"/>
          </a:xfrm>
          <a:prstGeom prst="rect">
            <a:avLst/>
          </a:prstGeom>
          <a:noFill/>
          <a:ln/>
        </p:spPr>
        <p:txBody>
          <a:bodyPr wrap="square" lIns="0" tIns="0" rIns="0" bIns="0"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NDC = directly connected method pairs; NP = all possible method pairs. Low TCC means methods operate on disjoint state.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Code smell density</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smellDensity = smellCount / (LOC / 1000)</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Normalises DesigniteJava smell count by service size, so larger codebases are not punished only for being larger.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Graph coupling coefficient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coupling = E / (N × (N - 1))</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 = directed dependency edges; N = detected services. Higher values mean denser inter-service coupling.</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Dependency edge weight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weight(A, B) = distinct call sites from A to B</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Recovered from Feign clients, RestTemplate calls, and WebClient invocations in the Spoon AST.</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size ratio</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063240" y="3767328"/>
            <a:ext cx="2468880" cy="256032"/>
          </a:xfrm>
          <a:prstGeom prst="rect">
            <a:avLst/>
          </a:prstGeom>
          <a:noFill/>
          <a:ln/>
        </p:spPr>
        <p:txBody>
          <a:bodyPr wrap="square" lIns="0" tIns="0" rIns="0" bIns="0"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sizeRatio = LOC(service) / medianLOC(project)</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Used as supporting evidence for Nano Service and God Service-style sizing findings.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health score computation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Overall score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353312"/>
            <a:ext cx="8046720" cy="38404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score = AP + CQ + ARCH + SIZE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2011680"/>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TERM</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1325880" y="2011680"/>
            <a:ext cx="1828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CATEGORY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3246120" y="2011680"/>
            <a:ext cx="7772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BUDGET</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251960" y="2011680"/>
            <a:ext cx="43434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COMPUTATION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40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40 - severity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CQ</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Code Quality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20 - smell-density penalty)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ARCH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25 - coupling/cycle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Sizing</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15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15 - nano/god service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Grade mapping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90-100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80-89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65-79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50-64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&lt; 50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C</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detector thresholds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DETECTOR</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91640" y="1005840"/>
            <a:ext cx="2423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SIGNAL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251960" y="1005840"/>
            <a:ext cx="13258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THRESHOLD</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715000" y="1005840"/>
            <a:ext cx="6858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SEVERITY</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6537960" y="100584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RATIONALE</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Shared DB</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same datasource URL in &gt;1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lost data ownership</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Cyclic Dep.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Tarjan SCC in service graph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SCC size &gt;1</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deployability blocked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Chatty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edge call volume or wide Feign client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&gt;=5 calls/methods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runtime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Hardcoded 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literal URL/IP/localhost in Java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regex match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environment lock-in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ESB Misuse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mediator-like caller/callee ratio</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volume ratio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central bottleneck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Distributed Mono.</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high graph density + shared data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composite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system-wide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API Versioning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endpoint path lacks /vN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version token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client breakage risk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Wrong Cuts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bidirectional service pair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A-&gt;B and B-&gt;A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poor boundaries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Nano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very small deployable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LOC below floor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operational overhead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God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contains God Class evidence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&gt;=3 of 6 metrics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too many responsibilities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2" name="Text 7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graph analysis terms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Directed dependency graph</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 = (V, E), where V is the set of detected services and E contains directed calls between services.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Edge weight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number of distinct source-level call sites from one service to another.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Strongly connected component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maximal service set where each service can reach every other service through directed paths.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Cycle</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 SCC with more than one service; used as evidence for Cyclic Dependency.</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Fan-in / fan-out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Incoming and outgoing service dependency counts; useful for spotting central services and mediator behaviour.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Bidirectional dependency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pair A-&gt;B and B-&gt;A; used as evidence for Wrong Cuts and poor service boundaries.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Connected ratio</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Fraction of services participating in dependencies; used as part of Distributed Monolith evidence.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Betweenness centrality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How often a service lies on shortest paths between other services; useful for identifying broker-like nodes.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93</TotalTime>
  <Words>5823</Words>
  <Application>Microsoft Office PowerPoint</Application>
  <PresentationFormat>On-screen Show (16:9)</PresentationFormat>
  <Paragraphs>483</Paragraphs>
  <Slides>21</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22</cp:revision>
  <dcterms:created xsi:type="dcterms:W3CDTF">2026-06-11T06:26:58Z</dcterms:created>
  <dcterms:modified xsi:type="dcterms:W3CDTF">2026-06-22T09:00:33Z</dcterms:modified>
</cp:coreProperties>
</file>