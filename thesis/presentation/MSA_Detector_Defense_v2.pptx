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1" r:id="rId6"/>
    <p:sldId id="260" r:id="rId7"/>
    <p:sldId id="262" r:id="rId8"/>
    <p:sldId id="264" r:id="rId9"/>
    <p:sldId id="265" r:id="rId10"/>
    <p:sldId id="266" r:id="rId11"/>
    <p:sldId id="267" r:id="rId12"/>
    <p:sldId id="270" r:id="rId13"/>
    <p:sldId id="269" r:id="rId14"/>
    <p:sldId id="263" r:id="rId15"/>
    <p:sldId id="271" r:id="rId16"/>
    <p:sldId id="272" r:id="rId17"/>
    <p:sldId id="273" r:id="rId18"/>
    <p:sldId id="274" r:id="rId19"/>
    <p:sldId id="275" r:id="rId20"/>
    <p:sldId id="276" r:id="rId21"/>
    <p:sldId id="277"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2" autoAdjust="0"/>
    <p:restoredTop sz="64649" autoAdjust="0"/>
  </p:normalViewPr>
  <p:slideViewPr>
    <p:cSldViewPr snapToGrid="0" snapToObjects="1">
      <p:cViewPr varScale="1">
        <p:scale>
          <a:sx n="146" d="100"/>
          <a:sy n="146" d="100"/>
        </p:scale>
        <p:origin x="594" y="11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0F2A44"/>
                </a:solidFill>
                <a:latin typeface="Calibri"/>
              </a:defRPr>
            </a:pPr>
            <a:r>
              <a:rPr lang="en-US" sz="12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strCache>
            </c: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extLst>
            <c:ext xmlns:c16="http://schemas.microsoft.com/office/drawing/2014/chart" uri="{C3380CC4-5D6E-409C-BE32-E72D297353CC}">
              <c16:uniqueId val="{00000000-E88F-4B16-8627-297042B2411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D8D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93929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Andrei Iacob, and today I'll be defending my dissertation: MSA Detector — a tool for detecting architectural anti-patterns in Java-based microservice systems. My supervisor is Professor Simona </a:t>
            </a:r>
            <a:r>
              <a:rPr lang="en-US" dirty="0" err="1"/>
              <a:t>Motogna</a:t>
            </a:r>
            <a:r>
              <a:rPr lang="en-US" dirty="0"/>
              <a:t>
The core idea is straightforward — as </a:t>
            </a:r>
            <a:r>
              <a:rPr lang="en-US" dirty="0" err="1"/>
              <a:t>organisations</a:t>
            </a:r>
            <a:r>
              <a:rPr lang="en-US" dirty="0"/>
              <a:t> adopt microservices, they often unknowingly introduce structural problems that erode the very benefits they were after. This tool helps catch those problems early, from a source code checkout, before they become production incidents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r>
              <a:rPr lang="en-US" sz="1200" b="0" i="0" kern="1200" dirty="0">
                <a:solidFill>
                  <a:schemeClr val="tx1"/>
                </a:solidFill>
                <a:effectLst/>
                <a:latin typeface="+mn-lt"/>
                <a:ea typeface="+mn-ea"/>
                <a:cs typeface="+mn-cs"/>
              </a:rPr>
              <a:t>While microservices are widely adopted for new large systems, tooling specifically designed to support architectural quality assurance in these environments remains limited, which leads to developers shipping anti-patterns, unknowingly </a:t>
            </a:r>
            <a:r>
              <a:rPr lang="en-US" dirty="0"/>
              <a:t>— shared DBs, cycles, services that are either too small or too big — and they only find out when deployment friction or cascading failures appear in production. For instance, a shared database between two services looks harmless at first — both teams just point at the same Postgres instance. But over time, schema changes in one service silently break the other, and you've lost independent </a:t>
            </a:r>
            <a:r>
              <a:rPr lang="en-US" dirty="0" err="1"/>
              <a:t>deployability</a:t>
            </a:r>
            <a:r>
              <a:rPr lang="en-US" dirty="0"/>
              <a:t> — arguably the single biggest reason to use microservices in the first place
• Existing academic tools address important parts of the problem: Arcan detects architectural smells, </a:t>
            </a:r>
            <a:r>
              <a:rPr lang="en-US" dirty="0" err="1"/>
              <a:t>MicroART</a:t>
            </a:r>
            <a:r>
              <a:rPr lang="en-US" dirty="0"/>
              <a:t> </a:t>
            </a:r>
            <a:r>
              <a:rPr lang="en-US" dirty="0" err="1"/>
              <a:t>visualises</a:t>
            </a:r>
            <a:r>
              <a:rPr lang="en-US" dirty="0"/>
              <a:t> recovered architectures, </a:t>
            </a:r>
            <a:r>
              <a:rPr lang="en-US" dirty="0" err="1"/>
              <a:t>MSANose</a:t>
            </a:r>
            <a:r>
              <a:rPr lang="en-US" dirty="0"/>
              <a:t> detects microservice smells, and MARS covers a broader anti-pattern catalogue. They differ in the anti-patterns they cover and in how much developer-facing evidence, scoring, and workflow support they provide.
• Even when something IS detected, the output is usually an abstract warning. Developers don't act on warnings without code evidence and remediation guidance.
So the goal of this work was a tool that bridges both levels and outputs relevant findings for developers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work has five contributions. The first is the multi-level analysis itself — using code-level structural metrics like class cohesion to flag architectural problems like God Service. That bridge between abstraction levels is the central novelty.'
• 'Second, ten selected anti-patterns across four dimensions — not the largest catalogue, since MARS covers more, but integrated with code-level smell density, evidence snippets, remediation guidance, and a health score.'
• 'Third, automated microservice boundary detection via a three-signal </a:t>
            </a:r>
            <a:r>
              <a:rPr lang="en-US" dirty="0" err="1"/>
              <a:t>deployability</a:t>
            </a:r>
            <a:r>
              <a:rPr lang="en-US" dirty="0"/>
              <a:t> gate — framework entry points, </a:t>
            </a:r>
            <a:r>
              <a:rPr lang="en-US" dirty="0" err="1"/>
              <a:t>Dockerfiles</a:t>
            </a:r>
            <a:r>
              <a:rPr lang="en-US" dirty="0"/>
              <a:t>,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'To give you a clearer picture of how these pieces fit together, let me walk you through the analysis pipeline — from the moment a project is uploaded to the final report.'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Ingest: user uploads a ZIP or pastes a Git URL. The system extracts/clones and creates an analysis job.
• Service detection: scan for build files — pom.xml, </a:t>
            </a:r>
            <a:r>
              <a:rPr lang="en-US" dirty="0" err="1"/>
              <a:t>build.gradle</a:t>
            </a:r>
            <a:r>
              <a:rPr lang="en-US" dirty="0"/>
              <a:t>, </a:t>
            </a:r>
            <a:r>
              <a:rPr lang="en-US" dirty="0" err="1"/>
              <a:t>build.gradle.kts</a:t>
            </a:r>
            <a:r>
              <a:rPr lang="en-US" dirty="0"/>
              <a:t>. Filter out non-service modules using exclusion keywords and aggregator checks. Then apply a three-signal </a:t>
            </a:r>
            <a:r>
              <a:rPr lang="en-US" dirty="0" err="1"/>
              <a:t>deployability</a:t>
            </a:r>
            <a:r>
              <a:rPr lang="en-US" dirty="0"/>
              <a:t> gate: framework entry point (HIGH) (e.g. @SpringBootApplication etc.), </a:t>
            </a:r>
            <a:r>
              <a:rPr lang="en-US" dirty="0" err="1"/>
              <a:t>Dockerfile</a:t>
            </a:r>
            <a:r>
              <a:rPr lang="en-US" dirty="0"/>
              <a:t> (MEDIUM), main() method (LOW). Only candidates passing at least one signal are kept.
• Intra-service analysis runs </a:t>
            </a:r>
            <a:r>
              <a:rPr lang="en-US" dirty="0" err="1"/>
              <a:t>DesigniteJava</a:t>
            </a:r>
            <a:r>
              <a:rPr lang="en-US" dirty="0"/>
              <a:t> as a subprocess for code smells. Inter-service uses Spoon AST to find @FeignClient, </a:t>
            </a:r>
            <a:r>
              <a:rPr lang="en-US" dirty="0" err="1"/>
              <a:t>RestTemplate</a:t>
            </a:r>
            <a:r>
              <a:rPr lang="en-US" dirty="0"/>
              <a:t>, </a:t>
            </a:r>
            <a:r>
              <a:rPr lang="en-US" dirty="0" err="1"/>
              <a:t>WebClient</a:t>
            </a:r>
            <a:r>
              <a:rPr lang="en-US" dirty="0"/>
              <a:t> calls and build the dependency graph.
• Then ten detectors run over that graph + the smells. Each is a Spring component implementing a common interface — Strategy pattern.
• Finally results are assembled, the health score is computed, the dependency graph is </a:t>
            </a:r>
            <a:r>
              <a:rPr lang="en-US" dirty="0" err="1"/>
              <a:t>serialised</a:t>
            </a:r>
            <a:r>
              <a:rPr lang="en-US" dirty="0"/>
              <a:t>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a:t>
            </a:r>
            <a:r>
              <a:rPr lang="en-US" dirty="0" err="1"/>
              <a:t>RestTemplate.exchange</a:t>
            </a:r>
            <a:r>
              <a:rPr lang="en-US" dirty="0"/>
              <a:t> calls, </a:t>
            </a:r>
            <a:r>
              <a:rPr lang="en-US" dirty="0" err="1"/>
              <a:t>WebClient</a:t>
            </a:r>
            <a:r>
              <a:rPr lang="en-US" dirty="0"/>
              <a:t> invocations — then resolves each target to a known service. The result is a directed weighted graph where edge weight represents the number of distinct call sites.'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ten detectors, </a:t>
            </a:r>
            <a:r>
              <a:rPr lang="en-US" dirty="0" err="1"/>
              <a:t>organised</a:t>
            </a:r>
            <a:r>
              <a:rPr lang="en-US" dirty="0"/>
              <a:t> by architectural dimension. Each is a Spring component implementing a common interface, so adding a new detector means writing one class — no orchestrator changes.'
• 'Severities feed directly into the health score: critical issues cost 8 points, high cost 5, medium cost 3.'
• 'The severity levels aren't arbitrary — they reflect how much damage the anti-pattern can cause. Cyclic Dependency and Distributed Monolith are critical because they undermine independent </a:t>
            </a:r>
            <a:r>
              <a:rPr lang="en-US" dirty="0" err="1"/>
              <a:t>deployability</a:t>
            </a:r>
            <a:r>
              <a:rPr lang="en-US" dirty="0"/>
              <a:t> entirely. Hardcoded Endpoints and API Versioning are medium because they're easier to fix and their impact is more </a:t>
            </a:r>
            <a:r>
              <a:rPr lang="en-US" dirty="0" err="1"/>
              <a:t>localised</a:t>
            </a:r>
            <a:r>
              <a:rPr lang="en-US" dirty="0"/>
              <a:t>.'
If a committee member asks about a specific detector:
• Shared DB — group services by spring.datasource.url, flag groups of size &gt; 1
• Cyclic Dependency — Tarjan's SCC on the dep graph, any SCC &gt; 1 vertex is a cycle
• Chatty Service — call count per edge ≥ 5 OR a Feign interface with ≥ 5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picked God Service as the example because it's the cleanest illustration of how code-level signals feed an architectural-level finding.'
•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'A class is flagged as a God Class when it exceeds at least three of the six metrics. Pure data holders such as entities and DTOs are excluded first, since they naturally have many fields and low cohesion without being an anti-pattern.'
•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a:t>
            </a:r>
            <a:r>
              <a:rPr lang="en-US" dirty="0" err="1"/>
              <a:t>DesigniteJava</a:t>
            </a:r>
            <a:r>
              <a:rPr lang="en-US" dirty="0"/>
              <a:t> fits: '</a:t>
            </a:r>
            <a:r>
              <a:rPr lang="en-US" dirty="0" err="1"/>
              <a:t>DesigniteJava</a:t>
            </a:r>
            <a:r>
              <a:rPr lang="en-US" dirty="0"/>
              <a:t> runs per service for code smells, but its catalogue is abstraction and modularization smells rather than a literal God Class. So God Service detection is driven by the Spoon structural metrics, and </a:t>
            </a:r>
            <a:r>
              <a:rPr lang="en-US" dirty="0" err="1"/>
              <a:t>DesigniteJava</a:t>
            </a:r>
            <a:r>
              <a:rPr lang="en-US" dirty="0"/>
              <a:t> smell density feeds the code-quality category of the health score instead.'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composite score is a sum of four independent categories. Each has its own budget — Anti-Patterns is 40 points, Code Quality 20, Architecture 25, Service Sizing 15. Total: 100.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a:t>
            </a:r>
            <a:r>
              <a:rPr lang="en-US" dirty="0" err="1"/>
              <a:t>itemised</a:t>
            </a:r>
            <a:r>
              <a:rPr lang="en-US" dirty="0"/>
              <a:t>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evaluated on eleven open-source Spring Boot projects, spanning from </a:t>
            </a:r>
            <a:r>
              <a:rPr lang="en-US" dirty="0" err="1"/>
              <a:t>piomin</a:t>
            </a:r>
            <a:r>
              <a:rPr lang="en-US" dirty="0"/>
              <a:t> at 1.3k LOC to mall-swarm at 86k LOC. 130 microservices, about 274k LOC total.'
• 'The score range — 40 to 83 — shows that the metric has useful discriminating power. Projects known to be well-structured like </a:t>
            </a:r>
            <a:r>
              <a:rPr lang="en-US" dirty="0" err="1"/>
              <a:t>MicroSocial</a:t>
            </a:r>
            <a:r>
              <a:rPr lang="en-US" dirty="0"/>
              <a:t> score highest; projects known to have issues like Train-Ticket and microservice-recruit score lowest. If every project scored 70, the metric wouldn't be telling us much.'
• 'The dominant findings are configuration and sizing issues: 37 API versioning absences, 23 nano services, 15 hardcoded endpoints. 
• '98 total anti-pattern instances across 9 distinct types. Only Distributed Monolith was not detected — plausible given these projects' topologies.’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tool has limitations. The biggest is the Java/Spring Boot restriction — real-world systems are polyglot, and the current tool can't </a:t>
            </a:r>
            <a:r>
              <a:rPr lang="en-US" dirty="0" err="1"/>
              <a:t>analyse</a:t>
            </a:r>
            <a:r>
              <a:rPr lang="en-US" dirty="0"/>
              <a:t>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You can also say before 'thank you': 'If there's one thing I'd like you to take away, it's that the bridge between code-level evidence and architectural-level findings is what makes this tool different — it doesn't just say something is wrong, it shows you exactly where in the code the problem lives.'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only — do not spend presentation time here unless the committee asks about sources.
If asked, say: 'These are the selected works that shaped the microservice definition, anti-pattern catalogue, static analysis approach, related tools, and graph algorithms used in the implementation. The complete bibliography is in the dissertation.'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could just be “presented’ during the live demo, and just shown briefly</a:t>
            </a:r>
          </a:p>
          <a:p>
            <a:endParaRPr lang="en-US" dirty="0"/>
          </a:p>
          <a:p>
            <a:r>
              <a:rPr lang="en-US" dirty="0"/>
              <a:t>•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p>
          <a:p>
            <a:r>
              <a:rPr lang="en-US" dirty="0"/>
              <a:t>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 about 45 seconds if included in the main talk.
Talking points:
• 'The related work is valuable, but each tool emphasises a different slice: architecture smells, recovery, or microservice smell catalogues.'
• 'The gap I target is the combination: automatically detecting service boundaries from a source checkout, recovering dependencies, linking findings to source-level evidence, and producing a health score with remediation guidance.'
• 'So the contribution is not simply another detector list. It is an integrated workflow from repository input to actionable architectural diagnosis.'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~45 seconds if included in the main flow.
Talking points:
• 'The evaluation is designed as a feasibility study across heterogeneous open-source systems.'
• 'For each project I measured service count, LOC, anti-pattern findings, dependency graph metrics, smell density, and the resulting health score.'
• 'I am not claiming statistical precision or recall because that would require a labelled benchmark of microservice anti-patterns. Such a corpus is not generally available, so the claim here is that the pipeline works end to end and produces explainable outputs across varied systems.'
Bridge: 'With that framing, here are the actual results.'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what you mean by microservice, architectural anti-pattern, service boundary, or evidence-based reporting. Keep the answer short: define the term, then connect it to the implementation.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for questions such as 'how is cohesion measured?', 'what does edge weight mean?', or 'how do you avoid punishing larger codebases?'. The key answer is that raw counts are normalised when size would otherwise bias the result.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whether the score is reproducible. Emphasise that each category is capped independently, so a bad category cannot consume points from another category. Also acknowledge that weights are engineering judgement and should be calibrated on industrial data in future work.</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'what exactly triggers detector X?'. Avoid reading the full table. Point to the detector they asked about, state the signal and threshold, then explain that thresholds are configurable and would be calibrated for production use.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about Tarjan, cycles, graph construction, or why graph analysis is relevant. The concise answer is that microservice anti-patterns are often not visible inside one service; they emerge from the shape of dependencies between services.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1170432"/>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371600"/>
            <a:ext cx="7863840" cy="1417320"/>
          </a:xfrm>
          <a:prstGeom prst="rect">
            <a:avLst/>
          </a:prstGeom>
          <a:noFill/>
          <a:ln/>
        </p:spPr>
        <p:txBody>
          <a:bodyPr wrap="square" lIns="0" tIns="0" rIns="0" bIns="0" rtlCol="0" anchor="ctr"/>
          <a:lstStyle/>
          <a:p>
            <a:pPr marL="0" indent="0">
              <a:spcAft>
                <a:spcPts val="400"/>
              </a:spcAft>
              <a:buNone/>
            </a:pPr>
            <a:r>
              <a:rPr lang="en-US" sz="3200" b="1" dirty="0">
                <a:solidFill>
                  <a:srgbClr val="FFFFFF"/>
                </a:solidFill>
                <a:latin typeface="Calibri" pitchFamily="34" charset="0"/>
                <a:ea typeface="Calibri" pitchFamily="34" charset="-122"/>
                <a:cs typeface="Calibri" pitchFamily="34" charset="-120"/>
              </a:rPr>
              <a:t>Detecting Architectural</a:t>
            </a:r>
            <a:endParaRPr lang="en-US" sz="3200" dirty="0"/>
          </a:p>
          <a:p>
            <a:pPr marL="0" indent="0">
              <a:spcAft>
                <a:spcPts val="400"/>
              </a:spcAft>
              <a:buNone/>
            </a:pPr>
            <a:r>
              <a:rPr lang="en-US" sz="3200" b="1" dirty="0">
                <a:solidFill>
                  <a:srgbClr val="FFFFFF"/>
                </a:solidFill>
                <a:latin typeface="Calibri" pitchFamily="34" charset="0"/>
                <a:ea typeface="Calibri" pitchFamily="34" charset="-122"/>
                <a:cs typeface="Calibri" pitchFamily="34" charset="-120"/>
              </a:rPr>
              <a:t>Anti-Patterns in Microservices</a:t>
            </a:r>
            <a:endParaRPr lang="en-US" sz="3200" dirty="0"/>
          </a:p>
        </p:txBody>
      </p:sp>
      <p:sp>
        <p:nvSpPr>
          <p:cNvPr id="4" name="Text 2"/>
          <p:cNvSpPr/>
          <p:nvPr/>
        </p:nvSpPr>
        <p:spPr>
          <a:xfrm>
            <a:off x="548640" y="2834640"/>
            <a:ext cx="7863840" cy="365760"/>
          </a:xfrm>
          <a:prstGeom prst="rect">
            <a:avLst/>
          </a:prstGeom>
          <a:noFill/>
          <a:ln/>
        </p:spPr>
        <p:txBody>
          <a:bodyPr wrap="square" lIns="0" tIns="0" rIns="0" bIns="0" rtlCol="0" anchor="ctr"/>
          <a:lstStyle/>
          <a:p>
            <a:pPr marL="0" indent="0">
              <a:buNone/>
            </a:pPr>
            <a:r>
              <a:rPr lang="en-US" sz="15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500" dirty="0"/>
          </a:p>
        </p:txBody>
      </p:sp>
      <p:sp>
        <p:nvSpPr>
          <p:cNvPr id="5" name="Text 3"/>
          <p:cNvSpPr/>
          <p:nvPr/>
        </p:nvSpPr>
        <p:spPr>
          <a:xfrm>
            <a:off x="548640" y="3794760"/>
            <a:ext cx="7863840" cy="1051560"/>
          </a:xfrm>
          <a:prstGeom prst="rect">
            <a:avLst/>
          </a:prstGeom>
          <a:noFill/>
          <a:ln/>
        </p:spPr>
        <p:txBody>
          <a:bodyPr wrap="square" lIns="0" tIns="0" rIns="0" bIns="0" rtlCol="0" anchor="ctr"/>
          <a:lstStyle/>
          <a:p>
            <a:pPr marL="0" indent="0">
              <a:spcAft>
                <a:spcPts val="200"/>
              </a:spcAft>
              <a:buNone/>
            </a:pPr>
            <a:r>
              <a:rPr lang="en-US" sz="1500" b="1" dirty="0">
                <a:solidFill>
                  <a:srgbClr val="FFFFFF"/>
                </a:solidFill>
                <a:latin typeface="Calibri" pitchFamily="34" charset="0"/>
                <a:ea typeface="Calibri" pitchFamily="34" charset="-122"/>
                <a:cs typeface="Calibri" pitchFamily="34" charset="-120"/>
              </a:rPr>
              <a:t>Iacob Andrei</a:t>
            </a:r>
            <a:endParaRPr lang="en-US" sz="1500" dirty="0"/>
          </a:p>
          <a:p>
            <a:pPr>
              <a:spcAft>
                <a:spcPts val="200"/>
              </a:spcAft>
            </a:pPr>
            <a:r>
              <a:rPr lang="en-US" sz="1150" dirty="0">
                <a:solidFill>
                  <a:srgbClr val="DBEAFE"/>
                </a:solidFill>
                <a:latin typeface="Calibri" pitchFamily="34" charset="0"/>
                <a:ea typeface="Calibri" pitchFamily="34" charset="-122"/>
                <a:cs typeface="Calibri" pitchFamily="34" charset="-120"/>
              </a:rPr>
              <a:t>Diagnosing the Distributed: A Static Analysis Approach to Microservice Anti-Pattern Detection</a:t>
            </a:r>
          </a:p>
          <a:p>
            <a:pPr marL="0" indent="0">
              <a:spcAft>
                <a:spcPts val="200"/>
              </a:spcAft>
              <a:buNone/>
            </a:pPr>
            <a:r>
              <a:rPr lang="en-US" sz="1150" dirty="0">
                <a:solidFill>
                  <a:srgbClr val="DBEAFE"/>
                </a:solidFill>
                <a:latin typeface="Calibri" pitchFamily="34" charset="0"/>
                <a:ea typeface="Calibri" pitchFamily="34" charset="-122"/>
                <a:cs typeface="Calibri" pitchFamily="34" charset="-120"/>
              </a:rPr>
              <a:t>Supervisor: Prof. Dr. Simona </a:t>
            </a:r>
            <a:r>
              <a:rPr lang="en-US" sz="1150" dirty="0" err="1">
                <a:solidFill>
                  <a:srgbClr val="DBEAFE"/>
                </a:solidFill>
                <a:latin typeface="Calibri" pitchFamily="34" charset="0"/>
                <a:ea typeface="Calibri" pitchFamily="34" charset="-122"/>
                <a:cs typeface="Calibri" pitchFamily="34" charset="-120"/>
              </a:rPr>
              <a:t>Motogna</a:t>
            </a:r>
            <a:endParaRPr lang="en-US" sz="1500" dirty="0"/>
          </a:p>
          <a:p>
            <a:pPr marL="0" indent="0">
              <a:spcAft>
                <a:spcPts val="200"/>
              </a:spcAft>
              <a:buNone/>
            </a:pPr>
            <a:r>
              <a:rPr lang="en-US" sz="1100" i="1" dirty="0">
                <a:solidFill>
                  <a:srgbClr val="DBEAFE"/>
                </a:solidFill>
                <a:latin typeface="Calibri" pitchFamily="34" charset="0"/>
                <a:ea typeface="Calibri" pitchFamily="34" charset="-122"/>
                <a:cs typeface="Calibri" pitchFamily="34" charset="-120"/>
              </a:rPr>
              <a:t>Faculty of Mathematics and Computer Science, Babeş-Bolyai University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Why this matters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8046720" cy="365760"/>
          </a:xfrm>
          <a:prstGeom prst="rect">
            <a:avLst/>
          </a:prstGeom>
          <a:noFill/>
          <a:ln/>
        </p:spPr>
        <p:txBody>
          <a:bodyPr wrap="square" lIns="0" tIns="0" rIns="0" bIns="0" rtlCol="0" anchor="ctr"/>
          <a:lstStyle/>
          <a:p>
            <a:pPr marL="0" indent="0">
              <a:buNone/>
            </a:pPr>
            <a:r>
              <a:rPr lang="en-US" sz="1500" i="1" dirty="0">
                <a:solidFill>
                  <a:srgbClr val="64748B"/>
                </a:solidFill>
                <a:latin typeface="Calibri" pitchFamily="34" charset="0"/>
                <a:ea typeface="Calibri" pitchFamily="34" charset="-122"/>
                <a:cs typeface="Calibri" pitchFamily="34" charset="-120"/>
              </a:rPr>
              <a:t>Microservices adoption has outpaced tooling</a:t>
            </a:r>
            <a:endParaRPr lang="en-US" sz="1500" dirty="0"/>
          </a:p>
        </p:txBody>
      </p:sp>
      <p:sp>
        <p:nvSpPr>
          <p:cNvPr id="5" name="Text 3"/>
          <p:cNvSpPr/>
          <p:nvPr/>
        </p:nvSpPr>
        <p:spPr>
          <a:xfrm>
            <a:off x="548640" y="1481328"/>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1</a:t>
            </a:r>
            <a:endParaRPr lang="en-US" sz="2600" dirty="0"/>
          </a:p>
        </p:txBody>
      </p:sp>
      <p:sp>
        <p:nvSpPr>
          <p:cNvPr id="6" name="Text 4"/>
          <p:cNvSpPr/>
          <p:nvPr/>
        </p:nvSpPr>
        <p:spPr>
          <a:xfrm>
            <a:off x="1188720" y="1536192"/>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7" name="Text 5"/>
          <p:cNvSpPr/>
          <p:nvPr/>
        </p:nvSpPr>
        <p:spPr>
          <a:xfrm>
            <a:off x="1188720" y="1837944"/>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50" dirty="0"/>
          </a:p>
        </p:txBody>
      </p:sp>
      <p:sp>
        <p:nvSpPr>
          <p:cNvPr id="8" name="Text 6"/>
          <p:cNvSpPr/>
          <p:nvPr/>
        </p:nvSpPr>
        <p:spPr>
          <a:xfrm>
            <a:off x="548640" y="2322576"/>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2</a:t>
            </a:r>
            <a:endParaRPr lang="en-US" sz="2600" dirty="0"/>
          </a:p>
        </p:txBody>
      </p:sp>
      <p:sp>
        <p:nvSpPr>
          <p:cNvPr id="9" name="Text 7"/>
          <p:cNvSpPr/>
          <p:nvPr/>
        </p:nvSpPr>
        <p:spPr>
          <a:xfrm>
            <a:off x="1188720" y="2377440"/>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Related tools vary in scope</a:t>
            </a:r>
            <a:endParaRPr lang="en-US" sz="1400" dirty="0"/>
          </a:p>
        </p:txBody>
      </p:sp>
      <p:sp>
        <p:nvSpPr>
          <p:cNvPr id="10" name="Text 8"/>
          <p:cNvSpPr/>
          <p:nvPr/>
        </p:nvSpPr>
        <p:spPr>
          <a:xfrm>
            <a:off x="1188720" y="2679192"/>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Prior tools such as Arcan, MicroART, MSANose, and MARS address important slices of the problem, but differ in scope and output.</a:t>
            </a:r>
            <a:endParaRPr lang="en-US" sz="1150" dirty="0"/>
          </a:p>
        </p:txBody>
      </p:sp>
      <p:sp>
        <p:nvSpPr>
          <p:cNvPr id="11" name="Text 9"/>
          <p:cNvSpPr/>
          <p:nvPr/>
        </p:nvSpPr>
        <p:spPr>
          <a:xfrm>
            <a:off x="548640" y="3163824"/>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3</a:t>
            </a:r>
            <a:endParaRPr lang="en-US" sz="2600" dirty="0"/>
          </a:p>
        </p:txBody>
      </p:sp>
      <p:sp>
        <p:nvSpPr>
          <p:cNvPr id="12" name="Text 10"/>
          <p:cNvSpPr/>
          <p:nvPr/>
        </p:nvSpPr>
        <p:spPr>
          <a:xfrm>
            <a:off x="1188720" y="3218688"/>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13" name="Text 11"/>
          <p:cNvSpPr/>
          <p:nvPr/>
        </p:nvSpPr>
        <p:spPr>
          <a:xfrm>
            <a:off x="1188720" y="3520440"/>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50" dirty="0"/>
          </a:p>
        </p:txBody>
      </p:sp>
      <p:sp>
        <p:nvSpPr>
          <p:cNvPr id="14" name="Shape 12"/>
          <p:cNvSpPr/>
          <p:nvPr/>
        </p:nvSpPr>
        <p:spPr>
          <a:xfrm>
            <a:off x="548640" y="4206240"/>
            <a:ext cx="457200" cy="36576"/>
          </a:xfrm>
          <a:prstGeom prst="rect">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548640" y="4315968"/>
            <a:ext cx="8046720" cy="365760"/>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Goal: actionable, evidence-based detection that bridges code and architecture levels</a:t>
            </a:r>
            <a:endParaRPr lang="en-US" sz="1300" dirty="0"/>
          </a:p>
        </p:txBody>
      </p:sp>
      <p:sp>
        <p:nvSpPr>
          <p:cNvPr id="16" name="Text 14"/>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Contributions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1005840"/>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097280" y="1024128"/>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analysis</a:t>
            </a:r>
            <a:endParaRPr lang="en-US" sz="1400" dirty="0"/>
          </a:p>
        </p:txBody>
      </p:sp>
      <p:sp>
        <p:nvSpPr>
          <p:cNvPr id="6" name="Text 4"/>
          <p:cNvSpPr/>
          <p:nvPr/>
        </p:nvSpPr>
        <p:spPr>
          <a:xfrm>
            <a:off x="1097280" y="1316736"/>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00" dirty="0"/>
          </a:p>
        </p:txBody>
      </p:sp>
      <p:sp>
        <p:nvSpPr>
          <p:cNvPr id="7" name="Text 5"/>
          <p:cNvSpPr/>
          <p:nvPr/>
        </p:nvSpPr>
        <p:spPr>
          <a:xfrm>
            <a:off x="548640" y="1700784"/>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2</a:t>
            </a:r>
            <a:endParaRPr lang="en-US" sz="1700" dirty="0"/>
          </a:p>
        </p:txBody>
      </p:sp>
      <p:sp>
        <p:nvSpPr>
          <p:cNvPr id="8" name="Text 6"/>
          <p:cNvSpPr/>
          <p:nvPr/>
        </p:nvSpPr>
        <p:spPr>
          <a:xfrm>
            <a:off x="1097280" y="1719072"/>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Ten anti-patterns detected</a:t>
            </a:r>
            <a:endParaRPr lang="en-US" sz="1400" dirty="0"/>
          </a:p>
        </p:txBody>
      </p:sp>
      <p:sp>
        <p:nvSpPr>
          <p:cNvPr id="9" name="Text 7"/>
          <p:cNvSpPr/>
          <p:nvPr/>
        </p:nvSpPr>
        <p:spPr>
          <a:xfrm>
            <a:off x="1097280" y="2011680"/>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00" dirty="0"/>
          </a:p>
        </p:txBody>
      </p:sp>
      <p:sp>
        <p:nvSpPr>
          <p:cNvPr id="10" name="Text 8"/>
          <p:cNvSpPr/>
          <p:nvPr/>
        </p:nvSpPr>
        <p:spPr>
          <a:xfrm>
            <a:off x="548640" y="2395728"/>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3</a:t>
            </a:r>
            <a:endParaRPr lang="en-US" sz="1700" dirty="0"/>
          </a:p>
        </p:txBody>
      </p:sp>
      <p:sp>
        <p:nvSpPr>
          <p:cNvPr id="11" name="Text 9"/>
          <p:cNvSpPr/>
          <p:nvPr/>
        </p:nvSpPr>
        <p:spPr>
          <a:xfrm>
            <a:off x="1097280" y="2414016"/>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Automated boundary detection</a:t>
            </a:r>
            <a:endParaRPr lang="en-US" sz="1400" dirty="0"/>
          </a:p>
        </p:txBody>
      </p:sp>
      <p:sp>
        <p:nvSpPr>
          <p:cNvPr id="12" name="Text 10"/>
          <p:cNvSpPr/>
          <p:nvPr/>
        </p:nvSpPr>
        <p:spPr>
          <a:xfrm>
            <a:off x="1097280" y="2706624"/>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00" dirty="0"/>
          </a:p>
        </p:txBody>
      </p:sp>
      <p:sp>
        <p:nvSpPr>
          <p:cNvPr id="13" name="Text 11"/>
          <p:cNvSpPr/>
          <p:nvPr/>
        </p:nvSpPr>
        <p:spPr>
          <a:xfrm>
            <a:off x="548640" y="3090672"/>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4</a:t>
            </a:r>
            <a:endParaRPr lang="en-US" sz="1700" dirty="0"/>
          </a:p>
        </p:txBody>
      </p:sp>
      <p:sp>
        <p:nvSpPr>
          <p:cNvPr id="14" name="Text 12"/>
          <p:cNvSpPr/>
          <p:nvPr/>
        </p:nvSpPr>
        <p:spPr>
          <a:xfrm>
            <a:off x="1097280" y="3108960"/>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Composite health score</a:t>
            </a:r>
            <a:endParaRPr lang="en-US" sz="1400" dirty="0"/>
          </a:p>
        </p:txBody>
      </p:sp>
      <p:sp>
        <p:nvSpPr>
          <p:cNvPr id="15" name="Text 13"/>
          <p:cNvSpPr/>
          <p:nvPr/>
        </p:nvSpPr>
        <p:spPr>
          <a:xfrm>
            <a:off x="1097280" y="3401568"/>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00" dirty="0"/>
          </a:p>
        </p:txBody>
      </p:sp>
      <p:sp>
        <p:nvSpPr>
          <p:cNvPr id="16" name="Text 14"/>
          <p:cNvSpPr/>
          <p:nvPr/>
        </p:nvSpPr>
        <p:spPr>
          <a:xfrm>
            <a:off x="548640" y="3785616"/>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5</a:t>
            </a:r>
            <a:endParaRPr lang="en-US" sz="1700" dirty="0"/>
          </a:p>
        </p:txBody>
      </p:sp>
      <p:sp>
        <p:nvSpPr>
          <p:cNvPr id="17" name="Text 15"/>
          <p:cNvSpPr/>
          <p:nvPr/>
        </p:nvSpPr>
        <p:spPr>
          <a:xfrm>
            <a:off x="1097280" y="3803904"/>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Evidence-based reporting</a:t>
            </a:r>
            <a:endParaRPr lang="en-US" sz="1400" dirty="0"/>
          </a:p>
        </p:txBody>
      </p:sp>
      <p:sp>
        <p:nvSpPr>
          <p:cNvPr id="18" name="Text 16"/>
          <p:cNvSpPr/>
          <p:nvPr/>
        </p:nvSpPr>
        <p:spPr>
          <a:xfrm>
            <a:off x="1097280" y="4096512"/>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00" dirty="0"/>
          </a:p>
        </p:txBody>
      </p:sp>
      <p:sp>
        <p:nvSpPr>
          <p:cNvPr id="19" name="Text 17"/>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The analysis pipeline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Shape 2"/>
          <p:cNvSpPr/>
          <p:nvPr/>
        </p:nvSpPr>
        <p:spPr>
          <a:xfrm>
            <a:off x="54864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5" name="Shape 3"/>
          <p:cNvSpPr/>
          <p:nvPr/>
        </p:nvSpPr>
        <p:spPr>
          <a:xfrm>
            <a:off x="54864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6" name="Text 4"/>
          <p:cNvSpPr/>
          <p:nvPr/>
        </p:nvSpPr>
        <p:spPr>
          <a:xfrm>
            <a:off x="65836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65836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Ingest</a:t>
            </a:r>
            <a:endParaRPr lang="en-US" sz="1250" dirty="0"/>
          </a:p>
        </p:txBody>
      </p:sp>
      <p:sp>
        <p:nvSpPr>
          <p:cNvPr id="8" name="Text 6"/>
          <p:cNvSpPr/>
          <p:nvPr/>
        </p:nvSpPr>
        <p:spPr>
          <a:xfrm>
            <a:off x="65836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sp>
        <p:nvSpPr>
          <p:cNvPr id="9" name="Text 7"/>
          <p:cNvSpPr/>
          <p:nvPr/>
        </p:nvSpPr>
        <p:spPr>
          <a:xfrm>
            <a:off x="201168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219456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11" name="Shape 9"/>
          <p:cNvSpPr/>
          <p:nvPr/>
        </p:nvSpPr>
        <p:spPr>
          <a:xfrm>
            <a:off x="219456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230428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230428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Detect services</a:t>
            </a:r>
            <a:endParaRPr lang="en-US" sz="1250" dirty="0"/>
          </a:p>
        </p:txBody>
      </p:sp>
      <p:sp>
        <p:nvSpPr>
          <p:cNvPr id="14" name="Text 12"/>
          <p:cNvSpPr/>
          <p:nvPr/>
        </p:nvSpPr>
        <p:spPr>
          <a:xfrm>
            <a:off x="2246811" y="1856232"/>
            <a:ext cx="1301061"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sp>
        <p:nvSpPr>
          <p:cNvPr id="15" name="Text 13"/>
          <p:cNvSpPr/>
          <p:nvPr/>
        </p:nvSpPr>
        <p:spPr>
          <a:xfrm>
            <a:off x="365760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384048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17" name="Shape 15"/>
          <p:cNvSpPr/>
          <p:nvPr/>
        </p:nvSpPr>
        <p:spPr>
          <a:xfrm>
            <a:off x="384048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18" name="Text 16"/>
          <p:cNvSpPr/>
          <p:nvPr/>
        </p:nvSpPr>
        <p:spPr>
          <a:xfrm>
            <a:off x="395020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395020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Intra + inter</a:t>
            </a:r>
            <a:endParaRPr lang="en-US" sz="1250" dirty="0"/>
          </a:p>
        </p:txBody>
      </p:sp>
      <p:sp>
        <p:nvSpPr>
          <p:cNvPr id="20" name="Text 18"/>
          <p:cNvSpPr/>
          <p:nvPr/>
        </p:nvSpPr>
        <p:spPr>
          <a:xfrm>
            <a:off x="395020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sp>
        <p:nvSpPr>
          <p:cNvPr id="21" name="Text 19"/>
          <p:cNvSpPr/>
          <p:nvPr/>
        </p:nvSpPr>
        <p:spPr>
          <a:xfrm>
            <a:off x="530352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48640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23" name="Shape 21"/>
          <p:cNvSpPr/>
          <p:nvPr/>
        </p:nvSpPr>
        <p:spPr>
          <a:xfrm>
            <a:off x="548640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559612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4</a:t>
            </a:r>
            <a:endParaRPr lang="en-US" sz="1100" dirty="0"/>
          </a:p>
        </p:txBody>
      </p:sp>
      <p:sp>
        <p:nvSpPr>
          <p:cNvPr id="25" name="Text 23"/>
          <p:cNvSpPr/>
          <p:nvPr/>
        </p:nvSpPr>
        <p:spPr>
          <a:xfrm>
            <a:off x="559612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Detect patterns</a:t>
            </a:r>
            <a:endParaRPr lang="en-US" sz="1250" dirty="0"/>
          </a:p>
        </p:txBody>
      </p:sp>
      <p:sp>
        <p:nvSpPr>
          <p:cNvPr id="26" name="Text 24"/>
          <p:cNvSpPr/>
          <p:nvPr/>
        </p:nvSpPr>
        <p:spPr>
          <a:xfrm>
            <a:off x="559612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sp>
        <p:nvSpPr>
          <p:cNvPr id="27" name="Text 25"/>
          <p:cNvSpPr/>
          <p:nvPr/>
        </p:nvSpPr>
        <p:spPr>
          <a:xfrm>
            <a:off x="694944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13232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29" name="Shape 27"/>
          <p:cNvSpPr/>
          <p:nvPr/>
        </p:nvSpPr>
        <p:spPr>
          <a:xfrm>
            <a:off x="713232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30" name="Text 28"/>
          <p:cNvSpPr/>
          <p:nvPr/>
        </p:nvSpPr>
        <p:spPr>
          <a:xfrm>
            <a:off x="724204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5</a:t>
            </a:r>
            <a:endParaRPr lang="en-US" sz="1100" dirty="0"/>
          </a:p>
        </p:txBody>
      </p:sp>
      <p:sp>
        <p:nvSpPr>
          <p:cNvPr id="31" name="Text 29"/>
          <p:cNvSpPr/>
          <p:nvPr/>
        </p:nvSpPr>
        <p:spPr>
          <a:xfrm>
            <a:off x="724204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Score &amp; report</a:t>
            </a:r>
            <a:endParaRPr lang="en-US" sz="1250" dirty="0"/>
          </a:p>
        </p:txBody>
      </p:sp>
      <p:sp>
        <p:nvSpPr>
          <p:cNvPr id="32" name="Text 30"/>
          <p:cNvSpPr/>
          <p:nvPr/>
        </p:nvSpPr>
        <p:spPr>
          <a:xfrm>
            <a:off x="724204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3" name="Shape 31"/>
          <p:cNvSpPr/>
          <p:nvPr/>
        </p:nvSpPr>
        <p:spPr>
          <a:xfrm>
            <a:off x="548640" y="2743200"/>
            <a:ext cx="457200" cy="36576"/>
          </a:xfrm>
          <a:prstGeom prst="rect">
            <a:avLst/>
          </a:prstGeom>
          <a:solidFill>
            <a:srgbClr val="0D9488"/>
          </a:solidFill>
          <a:ln w="12700">
            <a:solidFill>
              <a:srgbClr val="0D9488"/>
            </a:solidFill>
            <a:prstDash val="solid"/>
          </a:ln>
        </p:spPr>
        <p:txBody>
          <a:bodyPr/>
          <a:lstStyle/>
          <a:p>
            <a:endParaRPr lang="en-US"/>
          </a:p>
        </p:txBody>
      </p:sp>
      <p:sp>
        <p:nvSpPr>
          <p:cNvPr id="34" name="Text 32"/>
          <p:cNvSpPr/>
          <p:nvPr/>
        </p:nvSpPr>
        <p:spPr>
          <a:xfrm>
            <a:off x="548640" y="2852928"/>
            <a:ext cx="804672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Key design choices</a:t>
            </a:r>
            <a:endParaRPr lang="en-US" sz="1300" dirty="0"/>
          </a:p>
        </p:txBody>
      </p:sp>
      <p:sp>
        <p:nvSpPr>
          <p:cNvPr id="35" name="Text 33"/>
          <p:cNvSpPr/>
          <p:nvPr/>
        </p:nvSpPr>
        <p:spPr>
          <a:xfrm>
            <a:off x="658368" y="3057362"/>
            <a:ext cx="7863840" cy="12801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t>
            </a:r>
            <a:r>
              <a:rPr lang="en-US" sz="1100" dirty="0" err="1">
                <a:solidFill>
                  <a:srgbClr val="1E293B"/>
                </a:solidFill>
                <a:latin typeface="Calibri" pitchFamily="34" charset="0"/>
                <a:ea typeface="Calibri" pitchFamily="34" charset="-122"/>
                <a:cs typeface="Calibri" pitchFamily="34" charset="-120"/>
              </a:rPr>
              <a:t>AntiPatternDetector</a:t>
            </a:r>
            <a:r>
              <a:rPr lang="en-US" sz="1100" dirty="0">
                <a:solidFill>
                  <a:srgbClr val="1E293B"/>
                </a:solidFill>
                <a:latin typeface="Calibri" pitchFamily="34" charset="0"/>
                <a:ea typeface="Calibri" pitchFamily="34" charset="-122"/>
                <a:cs typeface="Calibri" pitchFamily="34" charset="-120"/>
              </a:rPr>
              <a:t> </a:t>
            </a:r>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Adding a new detector means no orchestrator changes</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36" name="Text 34"/>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Ten detectors across four dimensions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69264"/>
            <a:ext cx="8046720" cy="274320"/>
          </a:xfrm>
          <a:prstGeom prst="rect">
            <a:avLst/>
          </a:prstGeom>
          <a:noFill/>
          <a:ln/>
        </p:spPr>
        <p:txBody>
          <a:bodyPr wrap="square" lIns="0" tIns="0" rIns="0" bIns="0" rtlCol="0" anchor="ctr"/>
          <a:lstStyle/>
          <a:p>
            <a:pPr marL="0" indent="0">
              <a:buNone/>
            </a:pPr>
            <a:r>
              <a:rPr lang="en-US" sz="1000" dirty="0">
                <a:solidFill>
                  <a:srgbClr val="DC2626"/>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critical (−8 pts)      </a:t>
            </a:r>
            <a:r>
              <a:rPr lang="en-US" sz="1000" dirty="0">
                <a:solidFill>
                  <a:srgbClr val="D97706"/>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high (−5 pts)      </a:t>
            </a:r>
            <a:r>
              <a:rPr lang="en-US" sz="1000" dirty="0">
                <a:solidFill>
                  <a:srgbClr val="1C4E80"/>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medium (−3 pts)</a:t>
            </a:r>
            <a:endParaRPr lang="en-US" sz="1000" dirty="0"/>
          </a:p>
        </p:txBody>
      </p:sp>
      <p:sp>
        <p:nvSpPr>
          <p:cNvPr id="5" name="Text 3"/>
          <p:cNvSpPr/>
          <p:nvPr/>
        </p:nvSpPr>
        <p:spPr>
          <a:xfrm>
            <a:off x="548640" y="137160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SERVICE DESIGN</a:t>
            </a:r>
            <a:endParaRPr lang="en-US" sz="1050" dirty="0"/>
          </a:p>
        </p:txBody>
      </p:sp>
      <p:sp>
        <p:nvSpPr>
          <p:cNvPr id="6" name="Shape 4"/>
          <p:cNvSpPr/>
          <p:nvPr/>
        </p:nvSpPr>
        <p:spPr>
          <a:xfrm>
            <a:off x="548640" y="1673352"/>
            <a:ext cx="132588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7" name="Shape 5"/>
          <p:cNvSpPr/>
          <p:nvPr/>
        </p:nvSpPr>
        <p:spPr>
          <a:xfrm>
            <a:off x="685800" y="1833372"/>
            <a:ext cx="82296" cy="82296"/>
          </a:xfrm>
          <a:prstGeom prst="ellipse">
            <a:avLst/>
          </a:prstGeom>
          <a:solidFill>
            <a:srgbClr val="1C4E80"/>
          </a:solidFill>
          <a:ln w="12700">
            <a:solidFill>
              <a:srgbClr val="1C4E80"/>
            </a:solidFill>
            <a:prstDash val="solid"/>
          </a:ln>
        </p:spPr>
        <p:txBody>
          <a:bodyPr/>
          <a:lstStyle/>
          <a:p>
            <a:endParaRPr lang="en-US"/>
          </a:p>
        </p:txBody>
      </p:sp>
      <p:sp>
        <p:nvSpPr>
          <p:cNvPr id="8" name="Text 6"/>
          <p:cNvSpPr/>
          <p:nvPr/>
        </p:nvSpPr>
        <p:spPr>
          <a:xfrm>
            <a:off x="822960" y="1673352"/>
            <a:ext cx="103327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Nano Service</a:t>
            </a:r>
            <a:endParaRPr lang="en-US" sz="1050" dirty="0"/>
          </a:p>
        </p:txBody>
      </p:sp>
      <p:sp>
        <p:nvSpPr>
          <p:cNvPr id="9" name="Shape 7"/>
          <p:cNvSpPr/>
          <p:nvPr/>
        </p:nvSpPr>
        <p:spPr>
          <a:xfrm>
            <a:off x="2011680" y="1673352"/>
            <a:ext cx="128016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0" name="Shape 8"/>
          <p:cNvSpPr/>
          <p:nvPr/>
        </p:nvSpPr>
        <p:spPr>
          <a:xfrm>
            <a:off x="2148840" y="1833372"/>
            <a:ext cx="82296" cy="82296"/>
          </a:xfrm>
          <a:prstGeom prst="ellipse">
            <a:avLst/>
          </a:prstGeom>
          <a:solidFill>
            <a:srgbClr val="D97706"/>
          </a:solidFill>
          <a:ln w="12700">
            <a:solidFill>
              <a:srgbClr val="D97706"/>
            </a:solidFill>
            <a:prstDash val="solid"/>
          </a:ln>
        </p:spPr>
        <p:txBody>
          <a:bodyPr/>
          <a:lstStyle/>
          <a:p>
            <a:endParaRPr lang="en-US"/>
          </a:p>
        </p:txBody>
      </p:sp>
      <p:sp>
        <p:nvSpPr>
          <p:cNvPr id="11" name="Text 9"/>
          <p:cNvSpPr/>
          <p:nvPr/>
        </p:nvSpPr>
        <p:spPr>
          <a:xfrm>
            <a:off x="2286000" y="1673352"/>
            <a:ext cx="98755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God Service</a:t>
            </a:r>
            <a:endParaRPr lang="en-US" sz="1050" dirty="0"/>
          </a:p>
        </p:txBody>
      </p:sp>
      <p:sp>
        <p:nvSpPr>
          <p:cNvPr id="12" name="Text 10"/>
          <p:cNvSpPr/>
          <p:nvPr/>
        </p:nvSpPr>
        <p:spPr>
          <a:xfrm>
            <a:off x="4754880" y="137160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DATA MANAGEMENT</a:t>
            </a:r>
            <a:endParaRPr lang="en-US" sz="1050" dirty="0"/>
          </a:p>
        </p:txBody>
      </p:sp>
      <p:sp>
        <p:nvSpPr>
          <p:cNvPr id="13" name="Shape 11"/>
          <p:cNvSpPr/>
          <p:nvPr/>
        </p:nvSpPr>
        <p:spPr>
          <a:xfrm>
            <a:off x="4754880" y="1673352"/>
            <a:ext cx="155448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4" name="Shape 12"/>
          <p:cNvSpPr/>
          <p:nvPr/>
        </p:nvSpPr>
        <p:spPr>
          <a:xfrm>
            <a:off x="4892040" y="1833372"/>
            <a:ext cx="82296" cy="82296"/>
          </a:xfrm>
          <a:prstGeom prst="ellipse">
            <a:avLst/>
          </a:prstGeom>
          <a:solidFill>
            <a:srgbClr val="D97706"/>
          </a:solidFill>
          <a:ln w="12700">
            <a:solidFill>
              <a:srgbClr val="D97706"/>
            </a:solidFill>
            <a:prstDash val="solid"/>
          </a:ln>
        </p:spPr>
        <p:txBody>
          <a:bodyPr/>
          <a:lstStyle/>
          <a:p>
            <a:endParaRPr lang="en-US"/>
          </a:p>
        </p:txBody>
      </p:sp>
      <p:sp>
        <p:nvSpPr>
          <p:cNvPr id="15" name="Text 13"/>
          <p:cNvSpPr/>
          <p:nvPr/>
        </p:nvSpPr>
        <p:spPr>
          <a:xfrm>
            <a:off x="5029200" y="1673352"/>
            <a:ext cx="126187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Shared Database</a:t>
            </a:r>
            <a:endParaRPr lang="en-US" sz="1050" dirty="0"/>
          </a:p>
        </p:txBody>
      </p:sp>
      <p:sp>
        <p:nvSpPr>
          <p:cNvPr id="16" name="Text 14"/>
          <p:cNvSpPr/>
          <p:nvPr/>
        </p:nvSpPr>
        <p:spPr>
          <a:xfrm>
            <a:off x="548640" y="246888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COMMUNICATION</a:t>
            </a:r>
            <a:endParaRPr lang="en-US" sz="1050" dirty="0"/>
          </a:p>
        </p:txBody>
      </p:sp>
      <p:sp>
        <p:nvSpPr>
          <p:cNvPr id="17" name="Shape 15"/>
          <p:cNvSpPr/>
          <p:nvPr/>
        </p:nvSpPr>
        <p:spPr>
          <a:xfrm>
            <a:off x="548640" y="2770632"/>
            <a:ext cx="146304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8" name="Shape 16"/>
          <p:cNvSpPr/>
          <p:nvPr/>
        </p:nvSpPr>
        <p:spPr>
          <a:xfrm>
            <a:off x="685800" y="2930652"/>
            <a:ext cx="82296" cy="82296"/>
          </a:xfrm>
          <a:prstGeom prst="ellipse">
            <a:avLst/>
          </a:prstGeom>
          <a:solidFill>
            <a:srgbClr val="D97706"/>
          </a:solidFill>
          <a:ln w="12700">
            <a:solidFill>
              <a:srgbClr val="D97706"/>
            </a:solidFill>
            <a:prstDash val="solid"/>
          </a:ln>
        </p:spPr>
        <p:txBody>
          <a:bodyPr/>
          <a:lstStyle/>
          <a:p>
            <a:endParaRPr lang="en-US"/>
          </a:p>
        </p:txBody>
      </p:sp>
      <p:sp>
        <p:nvSpPr>
          <p:cNvPr id="19" name="Text 17"/>
          <p:cNvSpPr/>
          <p:nvPr/>
        </p:nvSpPr>
        <p:spPr>
          <a:xfrm>
            <a:off x="822960" y="2770632"/>
            <a:ext cx="117043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Chatty Service</a:t>
            </a:r>
            <a:endParaRPr lang="en-US" sz="1050" dirty="0"/>
          </a:p>
        </p:txBody>
      </p:sp>
      <p:sp>
        <p:nvSpPr>
          <p:cNvPr id="20" name="Shape 18"/>
          <p:cNvSpPr/>
          <p:nvPr/>
        </p:nvSpPr>
        <p:spPr>
          <a:xfrm>
            <a:off x="2148840" y="2770632"/>
            <a:ext cx="1691640" cy="402336"/>
          </a:xfrm>
          <a:prstGeom prst="roundRect">
            <a:avLst>
              <a:gd name="adj" fmla="val 22727"/>
            </a:avLst>
          </a:prstGeom>
          <a:solidFill>
            <a:srgbClr val="FEE2E2"/>
          </a:solidFill>
          <a:ln w="12700">
            <a:solidFill>
              <a:srgbClr val="FEE2E2"/>
            </a:solidFill>
            <a:prstDash val="solid"/>
          </a:ln>
        </p:spPr>
        <p:txBody>
          <a:bodyPr/>
          <a:lstStyle/>
          <a:p>
            <a:endParaRPr lang="en-US"/>
          </a:p>
        </p:txBody>
      </p:sp>
      <p:sp>
        <p:nvSpPr>
          <p:cNvPr id="21" name="Shape 19"/>
          <p:cNvSpPr/>
          <p:nvPr/>
        </p:nvSpPr>
        <p:spPr>
          <a:xfrm>
            <a:off x="2286000" y="2930652"/>
            <a:ext cx="82296" cy="82296"/>
          </a:xfrm>
          <a:prstGeom prst="ellipse">
            <a:avLst/>
          </a:prstGeom>
          <a:solidFill>
            <a:srgbClr val="DC2626"/>
          </a:solidFill>
          <a:ln w="12700">
            <a:solidFill>
              <a:srgbClr val="DC2626"/>
            </a:solidFill>
            <a:prstDash val="solid"/>
          </a:ln>
        </p:spPr>
        <p:txBody>
          <a:bodyPr/>
          <a:lstStyle/>
          <a:p>
            <a:endParaRPr lang="en-US"/>
          </a:p>
        </p:txBody>
      </p:sp>
      <p:sp>
        <p:nvSpPr>
          <p:cNvPr id="22" name="Text 20"/>
          <p:cNvSpPr/>
          <p:nvPr/>
        </p:nvSpPr>
        <p:spPr>
          <a:xfrm>
            <a:off x="2423160" y="2770632"/>
            <a:ext cx="139903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Cyclic Dependency</a:t>
            </a:r>
            <a:endParaRPr lang="en-US" sz="1050" dirty="0"/>
          </a:p>
        </p:txBody>
      </p:sp>
      <p:sp>
        <p:nvSpPr>
          <p:cNvPr id="23" name="Shape 21"/>
          <p:cNvSpPr/>
          <p:nvPr/>
        </p:nvSpPr>
        <p:spPr>
          <a:xfrm>
            <a:off x="3977640" y="2770632"/>
            <a:ext cx="182880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24" name="Shape 22"/>
          <p:cNvSpPr/>
          <p:nvPr/>
        </p:nvSpPr>
        <p:spPr>
          <a:xfrm>
            <a:off x="4114800" y="2930652"/>
            <a:ext cx="82296" cy="82296"/>
          </a:xfrm>
          <a:prstGeom prst="ellipse">
            <a:avLst/>
          </a:prstGeom>
          <a:solidFill>
            <a:srgbClr val="1C4E80"/>
          </a:solidFill>
          <a:ln w="12700">
            <a:solidFill>
              <a:srgbClr val="1C4E80"/>
            </a:solidFill>
            <a:prstDash val="solid"/>
          </a:ln>
        </p:spPr>
        <p:txBody>
          <a:bodyPr/>
          <a:lstStyle/>
          <a:p>
            <a:endParaRPr lang="en-US"/>
          </a:p>
        </p:txBody>
      </p:sp>
      <p:sp>
        <p:nvSpPr>
          <p:cNvPr id="25" name="Text 23"/>
          <p:cNvSpPr/>
          <p:nvPr/>
        </p:nvSpPr>
        <p:spPr>
          <a:xfrm>
            <a:off x="4251960" y="2770632"/>
            <a:ext cx="15361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Hardcoded Endpoints</a:t>
            </a:r>
            <a:endParaRPr lang="en-US" sz="1050" dirty="0"/>
          </a:p>
        </p:txBody>
      </p:sp>
      <p:sp>
        <p:nvSpPr>
          <p:cNvPr id="26" name="Shape 24"/>
          <p:cNvSpPr/>
          <p:nvPr/>
        </p:nvSpPr>
        <p:spPr>
          <a:xfrm>
            <a:off x="5943600" y="2770632"/>
            <a:ext cx="118872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27" name="Shape 25"/>
          <p:cNvSpPr/>
          <p:nvPr/>
        </p:nvSpPr>
        <p:spPr>
          <a:xfrm>
            <a:off x="6080760" y="2930652"/>
            <a:ext cx="82296" cy="82296"/>
          </a:xfrm>
          <a:prstGeom prst="ellipse">
            <a:avLst/>
          </a:prstGeom>
          <a:solidFill>
            <a:srgbClr val="D97706"/>
          </a:solidFill>
          <a:ln w="12700">
            <a:solidFill>
              <a:srgbClr val="D97706"/>
            </a:solidFill>
            <a:prstDash val="solid"/>
          </a:ln>
        </p:spPr>
        <p:txBody>
          <a:bodyPr/>
          <a:lstStyle/>
          <a:p>
            <a:endParaRPr lang="en-US"/>
          </a:p>
        </p:txBody>
      </p:sp>
      <p:sp>
        <p:nvSpPr>
          <p:cNvPr id="28" name="Text 26"/>
          <p:cNvSpPr/>
          <p:nvPr/>
        </p:nvSpPr>
        <p:spPr>
          <a:xfrm>
            <a:off x="6217920" y="2770632"/>
            <a:ext cx="89611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ESB Misuse</a:t>
            </a:r>
            <a:endParaRPr lang="en-US" sz="1050" dirty="0"/>
          </a:p>
        </p:txBody>
      </p:sp>
      <p:sp>
        <p:nvSpPr>
          <p:cNvPr id="29" name="Text 27"/>
          <p:cNvSpPr/>
          <p:nvPr/>
        </p:nvSpPr>
        <p:spPr>
          <a:xfrm>
            <a:off x="548640" y="356616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DEPLOYMENT &amp; COUPLING</a:t>
            </a:r>
            <a:endParaRPr lang="en-US" sz="1050" dirty="0"/>
          </a:p>
        </p:txBody>
      </p:sp>
      <p:sp>
        <p:nvSpPr>
          <p:cNvPr id="30" name="Shape 28"/>
          <p:cNvSpPr/>
          <p:nvPr/>
        </p:nvSpPr>
        <p:spPr>
          <a:xfrm>
            <a:off x="548640" y="3867912"/>
            <a:ext cx="1828800" cy="402336"/>
          </a:xfrm>
          <a:prstGeom prst="roundRect">
            <a:avLst>
              <a:gd name="adj" fmla="val 22727"/>
            </a:avLst>
          </a:prstGeom>
          <a:solidFill>
            <a:srgbClr val="FEE2E2"/>
          </a:solidFill>
          <a:ln w="12700">
            <a:solidFill>
              <a:srgbClr val="FEE2E2"/>
            </a:solidFill>
            <a:prstDash val="solid"/>
          </a:ln>
        </p:spPr>
        <p:txBody>
          <a:bodyPr/>
          <a:lstStyle/>
          <a:p>
            <a:endParaRPr lang="en-US"/>
          </a:p>
        </p:txBody>
      </p:sp>
      <p:sp>
        <p:nvSpPr>
          <p:cNvPr id="31" name="Shape 29"/>
          <p:cNvSpPr/>
          <p:nvPr/>
        </p:nvSpPr>
        <p:spPr>
          <a:xfrm>
            <a:off x="685800" y="4027932"/>
            <a:ext cx="82296" cy="82296"/>
          </a:xfrm>
          <a:prstGeom prst="ellipse">
            <a:avLst/>
          </a:prstGeom>
          <a:solidFill>
            <a:srgbClr val="DC2626"/>
          </a:solidFill>
          <a:ln w="12700">
            <a:solidFill>
              <a:srgbClr val="DC2626"/>
            </a:solidFill>
            <a:prstDash val="solid"/>
          </a:ln>
        </p:spPr>
        <p:txBody>
          <a:bodyPr/>
          <a:lstStyle/>
          <a:p>
            <a:endParaRPr lang="en-US"/>
          </a:p>
        </p:txBody>
      </p:sp>
      <p:sp>
        <p:nvSpPr>
          <p:cNvPr id="32" name="Text 30"/>
          <p:cNvSpPr/>
          <p:nvPr/>
        </p:nvSpPr>
        <p:spPr>
          <a:xfrm>
            <a:off x="822960" y="3867912"/>
            <a:ext cx="15361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Distributed Monolith</a:t>
            </a:r>
            <a:endParaRPr lang="en-US" sz="1050" dirty="0"/>
          </a:p>
        </p:txBody>
      </p:sp>
      <p:sp>
        <p:nvSpPr>
          <p:cNvPr id="33" name="Shape 31"/>
          <p:cNvSpPr/>
          <p:nvPr/>
        </p:nvSpPr>
        <p:spPr>
          <a:xfrm>
            <a:off x="2514600" y="3867912"/>
            <a:ext cx="205740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34" name="Shape 32"/>
          <p:cNvSpPr/>
          <p:nvPr/>
        </p:nvSpPr>
        <p:spPr>
          <a:xfrm>
            <a:off x="2651760" y="4027932"/>
            <a:ext cx="82296" cy="82296"/>
          </a:xfrm>
          <a:prstGeom prst="ellipse">
            <a:avLst/>
          </a:prstGeom>
          <a:solidFill>
            <a:srgbClr val="1C4E80"/>
          </a:solidFill>
          <a:ln w="12700">
            <a:solidFill>
              <a:srgbClr val="1C4E80"/>
            </a:solidFill>
            <a:prstDash val="solid"/>
          </a:ln>
        </p:spPr>
        <p:txBody>
          <a:bodyPr/>
          <a:lstStyle/>
          <a:p>
            <a:endParaRPr lang="en-US"/>
          </a:p>
        </p:txBody>
      </p:sp>
      <p:sp>
        <p:nvSpPr>
          <p:cNvPr id="35" name="Text 33"/>
          <p:cNvSpPr/>
          <p:nvPr/>
        </p:nvSpPr>
        <p:spPr>
          <a:xfrm>
            <a:off x="2788920" y="3867912"/>
            <a:ext cx="17647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API Versioning Absence</a:t>
            </a:r>
            <a:endParaRPr lang="en-US" sz="1050" dirty="0"/>
          </a:p>
        </p:txBody>
      </p:sp>
      <p:sp>
        <p:nvSpPr>
          <p:cNvPr id="36" name="Shape 34"/>
          <p:cNvSpPr/>
          <p:nvPr/>
        </p:nvSpPr>
        <p:spPr>
          <a:xfrm>
            <a:off x="4709160" y="3867912"/>
            <a:ext cx="118872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37" name="Shape 35"/>
          <p:cNvSpPr/>
          <p:nvPr/>
        </p:nvSpPr>
        <p:spPr>
          <a:xfrm>
            <a:off x="4846320" y="4027932"/>
            <a:ext cx="82296" cy="82296"/>
          </a:xfrm>
          <a:prstGeom prst="ellipse">
            <a:avLst/>
          </a:prstGeom>
          <a:solidFill>
            <a:srgbClr val="D97706"/>
          </a:solidFill>
          <a:ln w="12700">
            <a:solidFill>
              <a:srgbClr val="D97706"/>
            </a:solidFill>
            <a:prstDash val="solid"/>
          </a:ln>
        </p:spPr>
        <p:txBody>
          <a:bodyPr/>
          <a:lstStyle/>
          <a:p>
            <a:endParaRPr lang="en-US"/>
          </a:p>
        </p:txBody>
      </p:sp>
      <p:sp>
        <p:nvSpPr>
          <p:cNvPr id="38" name="Text 36"/>
          <p:cNvSpPr/>
          <p:nvPr/>
        </p:nvSpPr>
        <p:spPr>
          <a:xfrm>
            <a:off x="4983480" y="3867912"/>
            <a:ext cx="89611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Wrong Cuts</a:t>
            </a:r>
            <a:endParaRPr lang="en-US" sz="1050" dirty="0"/>
          </a:p>
        </p:txBody>
      </p:sp>
      <p:sp>
        <p:nvSpPr>
          <p:cNvPr id="39" name="Shape 37"/>
          <p:cNvSpPr/>
          <p:nvPr/>
        </p:nvSpPr>
        <p:spPr>
          <a:xfrm>
            <a:off x="548640" y="4434840"/>
            <a:ext cx="457200" cy="36576"/>
          </a:xfrm>
          <a:prstGeom prst="rect">
            <a:avLst/>
          </a:prstGeom>
          <a:solidFill>
            <a:srgbClr val="0D9488"/>
          </a:solidFill>
          <a:ln w="12700">
            <a:solidFill>
              <a:srgbClr val="0D9488"/>
            </a:solidFill>
            <a:prstDash val="solid"/>
          </a:ln>
        </p:spPr>
        <p:txBody>
          <a:bodyPr/>
          <a:lstStyle/>
          <a:p>
            <a:endParaRPr lang="en-US"/>
          </a:p>
        </p:txBody>
      </p:sp>
      <p:sp>
        <p:nvSpPr>
          <p:cNvPr id="40" name="Text 38"/>
          <p:cNvSpPr/>
          <p:nvPr/>
        </p:nvSpPr>
        <p:spPr>
          <a:xfrm>
            <a:off x="548640" y="4526280"/>
            <a:ext cx="8046720" cy="292608"/>
          </a:xfrm>
          <a:prstGeom prst="rect">
            <a:avLst/>
          </a:prstGeom>
          <a:noFill/>
          <a:ln/>
        </p:spPr>
        <p:txBody>
          <a:bodyPr wrap="square" lIns="0" tIns="0" rIns="0" bIns="0" rtlCol="0" anchor="ctr"/>
          <a:lstStyle/>
          <a:p>
            <a:pPr marL="0" indent="0">
              <a:buNone/>
            </a:pPr>
            <a:r>
              <a:rPr lang="en-US" sz="1150" dirty="0">
                <a:solidFill>
                  <a:srgbClr val="0F2A44"/>
                </a:solidFill>
                <a:latin typeface="Calibri" pitchFamily="34" charset="0"/>
                <a:ea typeface="Calibri" pitchFamily="34" charset="-122"/>
                <a:cs typeface="Calibri" pitchFamily="34" charset="-120"/>
              </a:rPr>
              <a:t>All detectors are pluggable Strategy components with configurable thresholds</a:t>
            </a:r>
            <a:endParaRPr lang="en-US" sz="1150" dirty="0"/>
          </a:p>
        </p:txBody>
      </p:sp>
      <p:sp>
        <p:nvSpPr>
          <p:cNvPr id="41" name="Text 39"/>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Spotlight: God Service detection</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36576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Multi-level bridge in action</a:t>
            </a:r>
            <a:endParaRPr lang="en-US" sz="1300" dirty="0"/>
          </a:p>
        </p:txBody>
      </p:sp>
      <p:sp>
        <p:nvSpPr>
          <p:cNvPr id="5" name="Shape 3"/>
          <p:cNvSpPr/>
          <p:nvPr/>
        </p:nvSpPr>
        <p:spPr>
          <a:xfrm>
            <a:off x="548640" y="1371600"/>
            <a:ext cx="3657600" cy="914400"/>
          </a:xfrm>
          <a:prstGeom prst="rect">
            <a:avLst/>
          </a:prstGeom>
          <a:solidFill>
            <a:srgbClr val="FFFFFF"/>
          </a:solidFill>
          <a:ln w="12700">
            <a:solidFill>
              <a:srgbClr val="D8DEE6"/>
            </a:solidFill>
            <a:prstDash val="solid"/>
          </a:ln>
        </p:spPr>
        <p:txBody>
          <a:bodyPr/>
          <a:lstStyle/>
          <a:p>
            <a:endParaRPr lang="en-US"/>
          </a:p>
        </p:txBody>
      </p:sp>
      <p:sp>
        <p:nvSpPr>
          <p:cNvPr id="6" name="Shape 4"/>
          <p:cNvSpPr/>
          <p:nvPr/>
        </p:nvSpPr>
        <p:spPr>
          <a:xfrm>
            <a:off x="548640" y="1371600"/>
            <a:ext cx="41148" cy="914400"/>
          </a:xfrm>
          <a:prstGeom prst="rect">
            <a:avLst/>
          </a:prstGeom>
          <a:solidFill>
            <a:srgbClr val="0F2A44"/>
          </a:solidFill>
          <a:ln w="12700">
            <a:solidFill>
              <a:srgbClr val="0F2A44"/>
            </a:solidFill>
            <a:prstDash val="solid"/>
          </a:ln>
        </p:spPr>
        <p:txBody>
          <a:bodyPr/>
          <a:lstStyle/>
          <a:p>
            <a:endParaRPr lang="en-US"/>
          </a:p>
        </p:txBody>
      </p:sp>
      <p:sp>
        <p:nvSpPr>
          <p:cNvPr id="7" name="Text 5"/>
          <p:cNvSpPr/>
          <p:nvPr/>
        </p:nvSpPr>
        <p:spPr>
          <a:xfrm>
            <a:off x="713232" y="1463040"/>
            <a:ext cx="3383280" cy="219456"/>
          </a:xfrm>
          <a:prstGeom prst="rect">
            <a:avLst/>
          </a:prstGeom>
          <a:noFill/>
          <a:ln/>
        </p:spPr>
        <p:txBody>
          <a:bodyPr wrap="square" lIns="0" tIns="0" rIns="0" bIns="0" rtlCol="0" anchor="ctr"/>
          <a:lstStyle/>
          <a:p>
            <a:pPr marL="0" indent="0">
              <a:buNone/>
            </a:pPr>
            <a:r>
              <a:rPr lang="en-US" sz="900" b="1" kern="0" spc="200" dirty="0">
                <a:solidFill>
                  <a:srgbClr val="64748B"/>
                </a:solidFill>
                <a:latin typeface="Calibri" pitchFamily="34" charset="0"/>
                <a:ea typeface="Calibri" pitchFamily="34" charset="-122"/>
                <a:cs typeface="Calibri" pitchFamily="34" charset="-120"/>
              </a:rPr>
              <a:t>CODE LEVEL</a:t>
            </a:r>
            <a:endParaRPr lang="en-US" sz="900" dirty="0"/>
          </a:p>
        </p:txBody>
      </p:sp>
      <p:sp>
        <p:nvSpPr>
          <p:cNvPr id="8" name="Text 6"/>
          <p:cNvSpPr/>
          <p:nvPr/>
        </p:nvSpPr>
        <p:spPr>
          <a:xfrm>
            <a:off x="713232" y="1691640"/>
            <a:ext cx="338328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Structural class metrics (per class)</a:t>
            </a:r>
            <a:endParaRPr lang="en-US" sz="1250" dirty="0"/>
          </a:p>
        </p:txBody>
      </p:sp>
      <p:sp>
        <p:nvSpPr>
          <p:cNvPr id="9" name="Text 7"/>
          <p:cNvSpPr/>
          <p:nvPr/>
        </p:nvSpPr>
        <p:spPr>
          <a:xfrm>
            <a:off x="713232" y="1965960"/>
            <a:ext cx="338328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10" name="Shape 8"/>
          <p:cNvSpPr/>
          <p:nvPr/>
        </p:nvSpPr>
        <p:spPr>
          <a:xfrm>
            <a:off x="2377440" y="2359152"/>
            <a:ext cx="0" cy="292608"/>
          </a:xfrm>
          <a:prstGeom prst="line">
            <a:avLst/>
          </a:prstGeom>
          <a:noFill/>
          <a:ln w="28575">
            <a:solidFill>
              <a:srgbClr val="0D9488"/>
            </a:solidFill>
            <a:prstDash val="solid"/>
            <a:tailEnd type="triangle"/>
          </a:ln>
        </p:spPr>
        <p:txBody>
          <a:bodyPr/>
          <a:lstStyle/>
          <a:p>
            <a:endParaRPr lang="en-US"/>
          </a:p>
        </p:txBody>
      </p:sp>
      <p:sp>
        <p:nvSpPr>
          <p:cNvPr id="11" name="Shape 9"/>
          <p:cNvSpPr/>
          <p:nvPr/>
        </p:nvSpPr>
        <p:spPr>
          <a:xfrm>
            <a:off x="548640" y="2724912"/>
            <a:ext cx="3657600" cy="914400"/>
          </a:xfrm>
          <a:prstGeom prst="rect">
            <a:avLst/>
          </a:prstGeom>
          <a:solidFill>
            <a:srgbClr val="FFFFFF"/>
          </a:solidFill>
          <a:ln w="12700">
            <a:solidFill>
              <a:srgbClr val="D8DEE6"/>
            </a:solidFill>
            <a:prstDash val="solid"/>
          </a:ln>
        </p:spPr>
        <p:txBody>
          <a:bodyPr/>
          <a:lstStyle/>
          <a:p>
            <a:endParaRPr lang="en-US"/>
          </a:p>
        </p:txBody>
      </p:sp>
      <p:sp>
        <p:nvSpPr>
          <p:cNvPr id="12" name="Shape 10"/>
          <p:cNvSpPr/>
          <p:nvPr/>
        </p:nvSpPr>
        <p:spPr>
          <a:xfrm>
            <a:off x="548640" y="2724912"/>
            <a:ext cx="41148" cy="914400"/>
          </a:xfrm>
          <a:prstGeom prst="rect">
            <a:avLst/>
          </a:prstGeom>
          <a:solidFill>
            <a:srgbClr val="0D9488"/>
          </a:solidFill>
          <a:ln w="12700">
            <a:solidFill>
              <a:srgbClr val="0D9488"/>
            </a:solidFill>
            <a:prstDash val="solid"/>
          </a:ln>
        </p:spPr>
        <p:txBody>
          <a:bodyPr/>
          <a:lstStyle/>
          <a:p>
            <a:endParaRPr lang="en-US"/>
          </a:p>
        </p:txBody>
      </p:sp>
      <p:sp>
        <p:nvSpPr>
          <p:cNvPr id="13" name="Text 11"/>
          <p:cNvSpPr/>
          <p:nvPr/>
        </p:nvSpPr>
        <p:spPr>
          <a:xfrm>
            <a:off x="713232" y="2816352"/>
            <a:ext cx="3383280" cy="219456"/>
          </a:xfrm>
          <a:prstGeom prst="rect">
            <a:avLst/>
          </a:prstGeom>
          <a:noFill/>
          <a:ln/>
        </p:spPr>
        <p:txBody>
          <a:bodyPr wrap="square" lIns="0" tIns="0" rIns="0" bIns="0" rtlCol="0" anchor="ctr"/>
          <a:lstStyle/>
          <a:p>
            <a:pPr marL="0" indent="0">
              <a:buNone/>
            </a:pPr>
            <a:r>
              <a:rPr lang="en-US" sz="900" b="1" kern="0" spc="200" dirty="0">
                <a:solidFill>
                  <a:srgbClr val="64748B"/>
                </a:solidFill>
                <a:latin typeface="Calibri" pitchFamily="34" charset="0"/>
                <a:ea typeface="Calibri" pitchFamily="34" charset="-122"/>
                <a:cs typeface="Calibri" pitchFamily="34" charset="-120"/>
              </a:rPr>
              <a:t>ARCHITECTURAL LEVEL</a:t>
            </a:r>
            <a:endParaRPr lang="en-US" sz="900" dirty="0"/>
          </a:p>
        </p:txBody>
      </p:sp>
      <p:sp>
        <p:nvSpPr>
          <p:cNvPr id="14" name="Text 12"/>
          <p:cNvSpPr/>
          <p:nvPr/>
        </p:nvSpPr>
        <p:spPr>
          <a:xfrm>
            <a:off x="713232" y="3044952"/>
            <a:ext cx="338328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God Service (per microservice)</a:t>
            </a:r>
            <a:endParaRPr lang="en-US" sz="1250" dirty="0"/>
          </a:p>
        </p:txBody>
      </p:sp>
      <p:sp>
        <p:nvSpPr>
          <p:cNvPr id="15" name="Text 13"/>
          <p:cNvSpPr/>
          <p:nvPr/>
        </p:nvSpPr>
        <p:spPr>
          <a:xfrm>
            <a:off x="713232" y="3319272"/>
            <a:ext cx="338328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6" name="Text 14"/>
          <p:cNvSpPr/>
          <p:nvPr/>
        </p:nvSpPr>
        <p:spPr>
          <a:xfrm>
            <a:off x="548640" y="3886200"/>
            <a:ext cx="3657600" cy="32004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Code-level evidence → architectural-level finding</a:t>
            </a:r>
            <a:endParaRPr lang="en-US" sz="1050" dirty="0"/>
          </a:p>
        </p:txBody>
      </p:sp>
      <p:sp>
        <p:nvSpPr>
          <p:cNvPr id="17" name="Text 15"/>
          <p:cNvSpPr/>
          <p:nvPr/>
        </p:nvSpPr>
        <p:spPr>
          <a:xfrm>
            <a:off x="4754880" y="987552"/>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Six structural metrics</a:t>
            </a:r>
            <a:endParaRPr lang="en-US" sz="1300" dirty="0"/>
          </a:p>
        </p:txBody>
      </p:sp>
      <p:sp>
        <p:nvSpPr>
          <p:cNvPr id="18" name="Text 16"/>
          <p:cNvSpPr/>
          <p:nvPr/>
        </p:nvSpPr>
        <p:spPr>
          <a:xfrm>
            <a:off x="4754880" y="1316736"/>
            <a:ext cx="3840480" cy="47548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Each non-data class is evaluated against six thresholds computed from its AST:</a:t>
            </a:r>
            <a:endParaRPr lang="en-US" sz="1100" dirty="0"/>
          </a:p>
        </p:txBody>
      </p:sp>
      <p:sp>
        <p:nvSpPr>
          <p:cNvPr id="19" name="Text 17"/>
          <p:cNvSpPr/>
          <p:nvPr/>
        </p:nvSpPr>
        <p:spPr>
          <a:xfrm>
            <a:off x="4846320" y="1828800"/>
            <a:ext cx="3749040" cy="1783080"/>
          </a:xfrm>
          <a:prstGeom prst="rect">
            <a:avLst/>
          </a:prstGeom>
          <a:noFill/>
          <a:ln/>
        </p:spPr>
        <p:txBody>
          <a:bodyPr wrap="square" lIns="0" tIns="0" rIns="0" bIns="0" rtlCol="0" anchor="ctr"/>
          <a:lstStyle/>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20" name="Shape 18"/>
          <p:cNvSpPr/>
          <p:nvPr/>
        </p:nvSpPr>
        <p:spPr>
          <a:xfrm>
            <a:off x="4754880" y="3767328"/>
            <a:ext cx="457200" cy="36576"/>
          </a:xfrm>
          <a:prstGeom prst="rect">
            <a:avLst/>
          </a:prstGeom>
          <a:solidFill>
            <a:srgbClr val="0D9488"/>
          </a:solidFill>
          <a:ln w="12700">
            <a:solidFill>
              <a:srgbClr val="0D9488"/>
            </a:solidFill>
            <a:prstDash val="solid"/>
          </a:ln>
        </p:spPr>
        <p:txBody>
          <a:bodyPr/>
          <a:lstStyle/>
          <a:p>
            <a:endParaRPr lang="en-US"/>
          </a:p>
        </p:txBody>
      </p:sp>
      <p:sp>
        <p:nvSpPr>
          <p:cNvPr id="21" name="Text 19"/>
          <p:cNvSpPr/>
          <p:nvPr/>
        </p:nvSpPr>
        <p:spPr>
          <a:xfrm>
            <a:off x="4754880" y="3886200"/>
            <a:ext cx="3840480" cy="457200"/>
          </a:xfrm>
          <a:prstGeom prst="rect">
            <a:avLst/>
          </a:prstGeom>
          <a:noFill/>
          <a:ln/>
        </p:spPr>
        <p:txBody>
          <a:bodyPr wrap="square" lIns="0" tIns="0" rIns="0" bIns="0" rtlCol="0" anchor="ctr"/>
          <a:lstStyle/>
          <a:p>
            <a:pPr marL="0" indent="0">
              <a:buNone/>
            </a:pPr>
            <a:r>
              <a:rPr lang="en-US" sz="1150" b="1" dirty="0">
                <a:solidFill>
                  <a:srgbClr val="0F2A44"/>
                </a:solidFill>
                <a:latin typeface="Calibri" pitchFamily="34" charset="0"/>
                <a:ea typeface="Calibri" pitchFamily="34" charset="-122"/>
                <a:cs typeface="Calibri" pitchFamily="34" charset="-120"/>
              </a:rPr>
              <a:t>Flag class as God Class if ≥ 3 of 6 thresholds are exceeded</a:t>
            </a:r>
            <a:endParaRPr lang="en-US" sz="1150" dirty="0"/>
          </a:p>
        </p:txBody>
      </p:sp>
      <p:sp>
        <p:nvSpPr>
          <p:cNvPr id="22" name="Text 20"/>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Composite health score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Shape 2"/>
          <p:cNvSpPr/>
          <p:nvPr/>
        </p:nvSpPr>
        <p:spPr>
          <a:xfrm>
            <a:off x="548640" y="1051560"/>
            <a:ext cx="1874520" cy="41148"/>
          </a:xfrm>
          <a:prstGeom prst="rect">
            <a:avLst/>
          </a:prstGeom>
          <a:solidFill>
            <a:srgbClr val="DC2626"/>
          </a:solidFill>
          <a:ln w="12700">
            <a:solidFill>
              <a:srgbClr val="DC2626"/>
            </a:solidFill>
            <a:prstDash val="solid"/>
          </a:ln>
        </p:spPr>
        <p:txBody>
          <a:bodyPr/>
          <a:lstStyle/>
          <a:p>
            <a:endParaRPr lang="en-US"/>
          </a:p>
        </p:txBody>
      </p:sp>
      <p:sp>
        <p:nvSpPr>
          <p:cNvPr id="5" name="Text 3"/>
          <p:cNvSpPr/>
          <p:nvPr/>
        </p:nvSpPr>
        <p:spPr>
          <a:xfrm>
            <a:off x="5486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40</a:t>
            </a:r>
            <a:endParaRPr lang="en-US" sz="3000" dirty="0"/>
          </a:p>
        </p:txBody>
      </p:sp>
      <p:sp>
        <p:nvSpPr>
          <p:cNvPr id="6" name="Text 4"/>
          <p:cNvSpPr/>
          <p:nvPr/>
        </p:nvSpPr>
        <p:spPr>
          <a:xfrm>
            <a:off x="5486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Anti-Patterns</a:t>
            </a:r>
            <a:endParaRPr lang="en-US" sz="1250" dirty="0"/>
          </a:p>
        </p:txBody>
      </p:sp>
      <p:sp>
        <p:nvSpPr>
          <p:cNvPr id="8" name="Shape 6"/>
          <p:cNvSpPr/>
          <p:nvPr/>
        </p:nvSpPr>
        <p:spPr>
          <a:xfrm>
            <a:off x="2606040" y="1051560"/>
            <a:ext cx="1874520" cy="41148"/>
          </a:xfrm>
          <a:prstGeom prst="rect">
            <a:avLst/>
          </a:prstGeom>
          <a:solidFill>
            <a:srgbClr val="D97706"/>
          </a:solidFill>
          <a:ln w="12700">
            <a:solidFill>
              <a:srgbClr val="D97706"/>
            </a:solidFill>
            <a:prstDash val="solid"/>
          </a:ln>
        </p:spPr>
        <p:txBody>
          <a:bodyPr/>
          <a:lstStyle/>
          <a:p>
            <a:endParaRPr lang="en-US"/>
          </a:p>
        </p:txBody>
      </p:sp>
      <p:sp>
        <p:nvSpPr>
          <p:cNvPr id="9" name="Text 7"/>
          <p:cNvSpPr/>
          <p:nvPr/>
        </p:nvSpPr>
        <p:spPr>
          <a:xfrm>
            <a:off x="26060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20</a:t>
            </a:r>
            <a:endParaRPr lang="en-US" sz="3000" dirty="0"/>
          </a:p>
        </p:txBody>
      </p:sp>
      <p:sp>
        <p:nvSpPr>
          <p:cNvPr id="10" name="Text 8"/>
          <p:cNvSpPr/>
          <p:nvPr/>
        </p:nvSpPr>
        <p:spPr>
          <a:xfrm>
            <a:off x="26060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Code Quality</a:t>
            </a:r>
            <a:endParaRPr lang="en-US" sz="1250" dirty="0"/>
          </a:p>
        </p:txBody>
      </p:sp>
      <p:sp>
        <p:nvSpPr>
          <p:cNvPr id="12" name="Shape 10"/>
          <p:cNvSpPr/>
          <p:nvPr/>
        </p:nvSpPr>
        <p:spPr>
          <a:xfrm>
            <a:off x="4663440" y="1051560"/>
            <a:ext cx="1874520" cy="41148"/>
          </a:xfrm>
          <a:prstGeom prst="rect">
            <a:avLst/>
          </a:prstGeom>
          <a:solidFill>
            <a:srgbClr val="1C4E80"/>
          </a:solidFill>
          <a:ln w="12700">
            <a:solidFill>
              <a:srgbClr val="1C4E80"/>
            </a:solidFill>
            <a:prstDash val="solid"/>
          </a:ln>
        </p:spPr>
        <p:txBody>
          <a:bodyPr/>
          <a:lstStyle/>
          <a:p>
            <a:endParaRPr lang="en-US"/>
          </a:p>
        </p:txBody>
      </p:sp>
      <p:sp>
        <p:nvSpPr>
          <p:cNvPr id="13" name="Text 11"/>
          <p:cNvSpPr/>
          <p:nvPr/>
        </p:nvSpPr>
        <p:spPr>
          <a:xfrm>
            <a:off x="46634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25</a:t>
            </a:r>
            <a:endParaRPr lang="en-US" sz="3000" dirty="0"/>
          </a:p>
        </p:txBody>
      </p:sp>
      <p:sp>
        <p:nvSpPr>
          <p:cNvPr id="14" name="Text 12"/>
          <p:cNvSpPr/>
          <p:nvPr/>
        </p:nvSpPr>
        <p:spPr>
          <a:xfrm>
            <a:off x="46634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Architecture</a:t>
            </a:r>
            <a:endParaRPr lang="en-US" sz="1250" dirty="0"/>
          </a:p>
        </p:txBody>
      </p:sp>
      <p:sp>
        <p:nvSpPr>
          <p:cNvPr id="16" name="Shape 14"/>
          <p:cNvSpPr/>
          <p:nvPr/>
        </p:nvSpPr>
        <p:spPr>
          <a:xfrm>
            <a:off x="6720840" y="1051560"/>
            <a:ext cx="1874520" cy="41148"/>
          </a:xfrm>
          <a:prstGeom prst="rect">
            <a:avLst/>
          </a:prstGeom>
          <a:solidFill>
            <a:srgbClr val="0D9488"/>
          </a:solidFill>
          <a:ln w="12700">
            <a:solidFill>
              <a:srgbClr val="0D9488"/>
            </a:solidFill>
            <a:prstDash val="solid"/>
          </a:ln>
        </p:spPr>
        <p:txBody>
          <a:bodyPr/>
          <a:lstStyle/>
          <a:p>
            <a:endParaRPr lang="en-US"/>
          </a:p>
        </p:txBody>
      </p:sp>
      <p:sp>
        <p:nvSpPr>
          <p:cNvPr id="17" name="Text 15"/>
          <p:cNvSpPr/>
          <p:nvPr/>
        </p:nvSpPr>
        <p:spPr>
          <a:xfrm>
            <a:off x="67208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15</a:t>
            </a:r>
            <a:endParaRPr lang="en-US" sz="3000" dirty="0"/>
          </a:p>
        </p:txBody>
      </p:sp>
      <p:sp>
        <p:nvSpPr>
          <p:cNvPr id="18" name="Text 16"/>
          <p:cNvSpPr/>
          <p:nvPr/>
        </p:nvSpPr>
        <p:spPr>
          <a:xfrm>
            <a:off x="67208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Service Sizing</a:t>
            </a:r>
            <a:endParaRPr lang="en-US" sz="1250" dirty="0"/>
          </a:p>
        </p:txBody>
      </p:sp>
      <p:sp>
        <p:nvSpPr>
          <p:cNvPr id="20" name="Text 18"/>
          <p:cNvSpPr/>
          <p:nvPr/>
        </p:nvSpPr>
        <p:spPr>
          <a:xfrm>
            <a:off x="548640" y="2269671"/>
            <a:ext cx="80467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Grade scale</a:t>
            </a:r>
            <a:endParaRPr lang="en-US" sz="1250" dirty="0"/>
          </a:p>
        </p:txBody>
      </p:sp>
      <p:sp>
        <p:nvSpPr>
          <p:cNvPr id="21" name="Shape 19"/>
          <p:cNvSpPr/>
          <p:nvPr/>
        </p:nvSpPr>
        <p:spPr>
          <a:xfrm>
            <a:off x="548640" y="2580567"/>
            <a:ext cx="1572768" cy="457200"/>
          </a:xfrm>
          <a:prstGeom prst="rect">
            <a:avLst/>
          </a:prstGeom>
          <a:solidFill>
            <a:srgbClr val="059669"/>
          </a:solidFill>
          <a:ln w="12700">
            <a:solidFill>
              <a:srgbClr val="059669"/>
            </a:solidFill>
            <a:prstDash val="solid"/>
          </a:ln>
        </p:spPr>
        <p:txBody>
          <a:bodyPr/>
          <a:lstStyle/>
          <a:p>
            <a:endParaRPr lang="en-US"/>
          </a:p>
        </p:txBody>
      </p:sp>
      <p:sp>
        <p:nvSpPr>
          <p:cNvPr id="22" name="Text 20"/>
          <p:cNvSpPr/>
          <p:nvPr/>
        </p:nvSpPr>
        <p:spPr>
          <a:xfrm>
            <a:off x="685800"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  </a:t>
            </a:r>
            <a:r>
              <a:rPr lang="en-US" sz="1100" dirty="0">
                <a:solidFill>
                  <a:srgbClr val="FFFFFF"/>
                </a:solidFill>
                <a:latin typeface="Calibri" pitchFamily="34" charset="0"/>
                <a:ea typeface="Calibri" pitchFamily="34" charset="-122"/>
                <a:cs typeface="Calibri" pitchFamily="34" charset="-120"/>
              </a:rPr>
              <a:t>≥ 90</a:t>
            </a:r>
            <a:endParaRPr lang="en-US" sz="1400" dirty="0"/>
          </a:p>
        </p:txBody>
      </p:sp>
      <p:sp>
        <p:nvSpPr>
          <p:cNvPr id="23" name="Shape 21"/>
          <p:cNvSpPr/>
          <p:nvPr/>
        </p:nvSpPr>
        <p:spPr>
          <a:xfrm>
            <a:off x="2157984" y="2580567"/>
            <a:ext cx="1572768" cy="457200"/>
          </a:xfrm>
          <a:prstGeom prst="rect">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2295144"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  </a:t>
            </a:r>
            <a:r>
              <a:rPr lang="en-US" sz="1100" dirty="0">
                <a:solidFill>
                  <a:srgbClr val="FFFFFF"/>
                </a:solidFill>
                <a:latin typeface="Calibri" pitchFamily="34" charset="0"/>
                <a:ea typeface="Calibri" pitchFamily="34" charset="-122"/>
                <a:cs typeface="Calibri" pitchFamily="34" charset="-120"/>
              </a:rPr>
              <a:t>≥ 80</a:t>
            </a:r>
            <a:endParaRPr lang="en-US" sz="1400" dirty="0"/>
          </a:p>
        </p:txBody>
      </p:sp>
      <p:sp>
        <p:nvSpPr>
          <p:cNvPr id="25" name="Shape 23"/>
          <p:cNvSpPr/>
          <p:nvPr/>
        </p:nvSpPr>
        <p:spPr>
          <a:xfrm>
            <a:off x="3767328" y="2580567"/>
            <a:ext cx="1572768" cy="457200"/>
          </a:xfrm>
          <a:prstGeom prst="rect">
            <a:avLst/>
          </a:prstGeom>
          <a:solidFill>
            <a:srgbClr val="1C4E80"/>
          </a:solidFill>
          <a:ln w="12700">
            <a:solidFill>
              <a:srgbClr val="1C4E80"/>
            </a:solidFill>
            <a:prstDash val="solid"/>
          </a:ln>
        </p:spPr>
        <p:txBody>
          <a:bodyPr/>
          <a:lstStyle/>
          <a:p>
            <a:endParaRPr lang="en-US"/>
          </a:p>
        </p:txBody>
      </p:sp>
      <p:sp>
        <p:nvSpPr>
          <p:cNvPr id="26" name="Text 24"/>
          <p:cNvSpPr/>
          <p:nvPr/>
        </p:nvSpPr>
        <p:spPr>
          <a:xfrm>
            <a:off x="3904488"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  </a:t>
            </a:r>
            <a:r>
              <a:rPr lang="en-US" sz="1100" dirty="0">
                <a:solidFill>
                  <a:srgbClr val="FFFFFF"/>
                </a:solidFill>
                <a:latin typeface="Calibri" pitchFamily="34" charset="0"/>
                <a:ea typeface="Calibri" pitchFamily="34" charset="-122"/>
                <a:cs typeface="Calibri" pitchFamily="34" charset="-120"/>
              </a:rPr>
              <a:t>≥ 65</a:t>
            </a:r>
            <a:endParaRPr lang="en-US" sz="1400" dirty="0"/>
          </a:p>
        </p:txBody>
      </p:sp>
      <p:sp>
        <p:nvSpPr>
          <p:cNvPr id="27" name="Shape 25"/>
          <p:cNvSpPr/>
          <p:nvPr/>
        </p:nvSpPr>
        <p:spPr>
          <a:xfrm>
            <a:off x="5376672" y="2580567"/>
            <a:ext cx="1572768" cy="457200"/>
          </a:xfrm>
          <a:prstGeom prst="rect">
            <a:avLst/>
          </a:prstGeom>
          <a:solidFill>
            <a:srgbClr val="D97706"/>
          </a:solidFill>
          <a:ln w="12700">
            <a:solidFill>
              <a:srgbClr val="D97706"/>
            </a:solidFill>
            <a:prstDash val="solid"/>
          </a:ln>
        </p:spPr>
        <p:txBody>
          <a:bodyPr/>
          <a:lstStyle/>
          <a:p>
            <a:endParaRPr lang="en-US"/>
          </a:p>
        </p:txBody>
      </p:sp>
      <p:sp>
        <p:nvSpPr>
          <p:cNvPr id="28" name="Text 26"/>
          <p:cNvSpPr/>
          <p:nvPr/>
        </p:nvSpPr>
        <p:spPr>
          <a:xfrm>
            <a:off x="5513832"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  </a:t>
            </a:r>
            <a:r>
              <a:rPr lang="en-US" sz="1100" dirty="0">
                <a:solidFill>
                  <a:srgbClr val="FFFFFF"/>
                </a:solidFill>
                <a:latin typeface="Calibri" pitchFamily="34" charset="0"/>
                <a:ea typeface="Calibri" pitchFamily="34" charset="-122"/>
                <a:cs typeface="Calibri" pitchFamily="34" charset="-120"/>
              </a:rPr>
              <a:t>≥ 50</a:t>
            </a:r>
            <a:endParaRPr lang="en-US" sz="1400" dirty="0"/>
          </a:p>
        </p:txBody>
      </p:sp>
      <p:sp>
        <p:nvSpPr>
          <p:cNvPr id="29" name="Shape 27"/>
          <p:cNvSpPr/>
          <p:nvPr/>
        </p:nvSpPr>
        <p:spPr>
          <a:xfrm>
            <a:off x="6986016" y="2580567"/>
            <a:ext cx="1572768" cy="457200"/>
          </a:xfrm>
          <a:prstGeom prst="rect">
            <a:avLst/>
          </a:prstGeom>
          <a:solidFill>
            <a:srgbClr val="DC2626"/>
          </a:solidFill>
          <a:ln w="12700">
            <a:solidFill>
              <a:srgbClr val="DC2626"/>
            </a:solidFill>
            <a:prstDash val="solid"/>
          </a:ln>
        </p:spPr>
        <p:txBody>
          <a:bodyPr/>
          <a:lstStyle/>
          <a:p>
            <a:endParaRPr lang="en-US"/>
          </a:p>
        </p:txBody>
      </p:sp>
      <p:sp>
        <p:nvSpPr>
          <p:cNvPr id="30" name="Text 28"/>
          <p:cNvSpPr/>
          <p:nvPr/>
        </p:nvSpPr>
        <p:spPr>
          <a:xfrm>
            <a:off x="7123176"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  </a:t>
            </a:r>
            <a:r>
              <a:rPr lang="en-US" sz="1100" dirty="0">
                <a:solidFill>
                  <a:srgbClr val="FFFFFF"/>
                </a:solidFill>
                <a:latin typeface="Calibri" pitchFamily="34" charset="0"/>
                <a:ea typeface="Calibri" pitchFamily="34" charset="-122"/>
                <a:cs typeface="Calibri" pitchFamily="34" charset="-120"/>
              </a:rPr>
              <a:t>&lt; 50</a:t>
            </a:r>
            <a:endParaRPr lang="en-US" sz="1400" dirty="0"/>
          </a:p>
        </p:txBody>
      </p:sp>
      <p:sp>
        <p:nvSpPr>
          <p:cNvPr id="31" name="Text 29"/>
          <p:cNvSpPr/>
          <p:nvPr/>
        </p:nvSpPr>
        <p:spPr>
          <a:xfrm>
            <a:off x="548640" y="3583794"/>
            <a:ext cx="80467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Why decompose?</a:t>
            </a:r>
            <a:endParaRPr lang="en-US" sz="1250" dirty="0"/>
          </a:p>
        </p:txBody>
      </p:sp>
      <p:sp>
        <p:nvSpPr>
          <p:cNvPr id="32" name="Text 30"/>
          <p:cNvSpPr/>
          <p:nvPr/>
        </p:nvSpPr>
        <p:spPr>
          <a:xfrm>
            <a:off x="548640" y="3876402"/>
            <a:ext cx="8046720" cy="5486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00" dirty="0">
                <a:solidFill>
                  <a:srgbClr val="1E293B"/>
                </a:solidFill>
                <a:latin typeface="Calibri" pitchFamily="34" charset="0"/>
                <a:ea typeface="Calibri" pitchFamily="34" charset="-122"/>
                <a:cs typeface="Calibri" pitchFamily="34" charset="-120"/>
              </a:rPr>
              <a:t>A single number tells teams whether quality is improving = &gt; the per-category breakdown tells them which dimension needs attention</a:t>
            </a:r>
          </a:p>
          <a:p>
            <a:pPr marL="171450" indent="-171450">
              <a:buFont typeface="Arial" panose="020B0604020202020204" pitchFamily="34" charset="0"/>
              <a:buChar char="•"/>
            </a:pPr>
            <a:r>
              <a:rPr lang="en-US" sz="1100" dirty="0">
                <a:solidFill>
                  <a:srgbClr val="1E293B"/>
                </a:solidFill>
                <a:latin typeface="Calibri" pitchFamily="34" charset="0"/>
                <a:ea typeface="Calibri" pitchFamily="34" charset="-122"/>
                <a:cs typeface="Calibri" pitchFamily="34" charset="-120"/>
              </a:rPr>
              <a:t>Both views are exposed via the analysis-diff feature for tracking over time</a:t>
            </a:r>
            <a:endParaRPr lang="en-US" sz="1100" dirty="0"/>
          </a:p>
        </p:txBody>
      </p:sp>
      <p:sp>
        <p:nvSpPr>
          <p:cNvPr id="33" name="Text 31"/>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Evaluation: 11 open-source projects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graphicFrame>
        <p:nvGraphicFramePr>
          <p:cNvPr id="4" name="Chart 0"/>
          <p:cNvGraphicFramePr/>
          <p:nvPr/>
        </p:nvGraphicFramePr>
        <p:xfrm>
          <a:off x="502920" y="960120"/>
          <a:ext cx="502920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5943600" y="960120"/>
            <a:ext cx="265176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(services · LOC)</a:t>
            </a:r>
            <a:endParaRPr lang="en-US" sz="1200" dirty="0"/>
          </a:p>
        </p:txBody>
      </p:sp>
      <p:sp>
        <p:nvSpPr>
          <p:cNvPr id="6" name="Shape 3"/>
          <p:cNvSpPr/>
          <p:nvPr/>
        </p:nvSpPr>
        <p:spPr>
          <a:xfrm>
            <a:off x="5943600" y="1261872"/>
            <a:ext cx="2651760" cy="13716"/>
          </a:xfrm>
          <a:prstGeom prst="rect">
            <a:avLst/>
          </a:prstGeom>
          <a:solidFill>
            <a:srgbClr val="D8DEE6"/>
          </a:solidFill>
          <a:ln w="12700">
            <a:solidFill>
              <a:srgbClr val="D8DEE6"/>
            </a:solidFill>
            <a:prstDash val="solid"/>
          </a:ln>
        </p:spPr>
        <p:txBody>
          <a:bodyPr/>
          <a:lstStyle/>
          <a:p>
            <a:endParaRPr lang="en-US"/>
          </a:p>
        </p:txBody>
      </p:sp>
      <p:sp>
        <p:nvSpPr>
          <p:cNvPr id="7" name="Text 4"/>
          <p:cNvSpPr/>
          <p:nvPr/>
        </p:nvSpPr>
        <p:spPr>
          <a:xfrm>
            <a:off x="5943600" y="133502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MicroSocial</a:t>
            </a:r>
            <a:endParaRPr lang="en-US" sz="900" dirty="0"/>
          </a:p>
        </p:txBody>
      </p:sp>
      <p:sp>
        <p:nvSpPr>
          <p:cNvPr id="8" name="Text 5"/>
          <p:cNvSpPr/>
          <p:nvPr/>
        </p:nvSpPr>
        <p:spPr>
          <a:xfrm>
            <a:off x="7360920" y="133502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4</a:t>
            </a:r>
            <a:endParaRPr lang="en-US" sz="900" dirty="0"/>
          </a:p>
        </p:txBody>
      </p:sp>
      <p:sp>
        <p:nvSpPr>
          <p:cNvPr id="9" name="Text 6"/>
          <p:cNvSpPr/>
          <p:nvPr/>
        </p:nvSpPr>
        <p:spPr>
          <a:xfrm>
            <a:off x="7818120" y="133502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2k</a:t>
            </a:r>
            <a:endParaRPr lang="en-US" sz="900" dirty="0"/>
          </a:p>
        </p:txBody>
      </p:sp>
      <p:sp>
        <p:nvSpPr>
          <p:cNvPr id="10" name="Text 7"/>
          <p:cNvSpPr/>
          <p:nvPr/>
        </p:nvSpPr>
        <p:spPr>
          <a:xfrm>
            <a:off x="5943600" y="1531620"/>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design-pat.</a:t>
            </a:r>
            <a:endParaRPr lang="en-US" sz="900" dirty="0"/>
          </a:p>
        </p:txBody>
      </p:sp>
      <p:sp>
        <p:nvSpPr>
          <p:cNvPr id="11" name="Text 8"/>
          <p:cNvSpPr/>
          <p:nvPr/>
        </p:nvSpPr>
        <p:spPr>
          <a:xfrm>
            <a:off x="7360920" y="1531620"/>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16</a:t>
            </a:r>
            <a:endParaRPr lang="en-US" sz="900" dirty="0"/>
          </a:p>
        </p:txBody>
      </p:sp>
      <p:sp>
        <p:nvSpPr>
          <p:cNvPr id="12" name="Text 9"/>
          <p:cNvSpPr/>
          <p:nvPr/>
        </p:nvSpPr>
        <p:spPr>
          <a:xfrm>
            <a:off x="7818120" y="1531620"/>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19k</a:t>
            </a:r>
            <a:endParaRPr lang="en-US" sz="900" dirty="0"/>
          </a:p>
        </p:txBody>
      </p:sp>
      <p:sp>
        <p:nvSpPr>
          <p:cNvPr id="13" name="Text 10"/>
          <p:cNvSpPr/>
          <p:nvPr/>
        </p:nvSpPr>
        <p:spPr>
          <a:xfrm>
            <a:off x="5943600" y="1728216"/>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Site-Where</a:t>
            </a:r>
            <a:endParaRPr lang="en-US" sz="900" dirty="0"/>
          </a:p>
        </p:txBody>
      </p:sp>
      <p:sp>
        <p:nvSpPr>
          <p:cNvPr id="14" name="Text 11"/>
          <p:cNvSpPr/>
          <p:nvPr/>
        </p:nvSpPr>
        <p:spPr>
          <a:xfrm>
            <a:off x="7360920" y="1728216"/>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15</a:t>
            </a:r>
            <a:endParaRPr lang="en-US" sz="900" dirty="0"/>
          </a:p>
        </p:txBody>
      </p:sp>
      <p:sp>
        <p:nvSpPr>
          <p:cNvPr id="15" name="Text 12"/>
          <p:cNvSpPr/>
          <p:nvPr/>
        </p:nvSpPr>
        <p:spPr>
          <a:xfrm>
            <a:off x="7818120" y="1728216"/>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74k</a:t>
            </a:r>
            <a:endParaRPr lang="en-US" sz="900" dirty="0"/>
          </a:p>
        </p:txBody>
      </p:sp>
      <p:sp>
        <p:nvSpPr>
          <p:cNvPr id="16" name="Text 13"/>
          <p:cNvSpPr/>
          <p:nvPr/>
        </p:nvSpPr>
        <p:spPr>
          <a:xfrm>
            <a:off x="5943600" y="1924812"/>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Train-Ticket</a:t>
            </a:r>
            <a:endParaRPr lang="en-US" sz="900" dirty="0"/>
          </a:p>
        </p:txBody>
      </p:sp>
      <p:sp>
        <p:nvSpPr>
          <p:cNvPr id="17" name="Text 14"/>
          <p:cNvSpPr/>
          <p:nvPr/>
        </p:nvSpPr>
        <p:spPr>
          <a:xfrm>
            <a:off x="7360920" y="1924812"/>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41</a:t>
            </a:r>
            <a:endParaRPr lang="en-US" sz="900" dirty="0"/>
          </a:p>
        </p:txBody>
      </p:sp>
      <p:sp>
        <p:nvSpPr>
          <p:cNvPr id="18" name="Text 15"/>
          <p:cNvSpPr/>
          <p:nvPr/>
        </p:nvSpPr>
        <p:spPr>
          <a:xfrm>
            <a:off x="7818120" y="1924812"/>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36k</a:t>
            </a:r>
            <a:endParaRPr lang="en-US" sz="900" dirty="0"/>
          </a:p>
        </p:txBody>
      </p:sp>
      <p:sp>
        <p:nvSpPr>
          <p:cNvPr id="19" name="Text 16"/>
          <p:cNvSpPr/>
          <p:nvPr/>
        </p:nvSpPr>
        <p:spPr>
          <a:xfrm>
            <a:off x="5943600" y="2121408"/>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NetworkDisk</a:t>
            </a:r>
            <a:endParaRPr lang="en-US" sz="900" dirty="0"/>
          </a:p>
        </p:txBody>
      </p:sp>
      <p:sp>
        <p:nvSpPr>
          <p:cNvPr id="20" name="Text 17"/>
          <p:cNvSpPr/>
          <p:nvPr/>
        </p:nvSpPr>
        <p:spPr>
          <a:xfrm>
            <a:off x="7360920" y="2121408"/>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10</a:t>
            </a:r>
            <a:endParaRPr lang="en-US" sz="900" dirty="0"/>
          </a:p>
        </p:txBody>
      </p:sp>
      <p:sp>
        <p:nvSpPr>
          <p:cNvPr id="21" name="Text 18"/>
          <p:cNvSpPr/>
          <p:nvPr/>
        </p:nvSpPr>
        <p:spPr>
          <a:xfrm>
            <a:off x="7818120" y="2121408"/>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7k</a:t>
            </a:r>
            <a:endParaRPr lang="en-US" sz="900" dirty="0"/>
          </a:p>
        </p:txBody>
      </p:sp>
      <p:sp>
        <p:nvSpPr>
          <p:cNvPr id="22" name="Text 19"/>
          <p:cNvSpPr/>
          <p:nvPr/>
        </p:nvSpPr>
        <p:spPr>
          <a:xfrm>
            <a:off x="5943600" y="231800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recruit</a:t>
            </a:r>
            <a:endParaRPr lang="en-US" sz="900" dirty="0"/>
          </a:p>
        </p:txBody>
      </p:sp>
      <p:sp>
        <p:nvSpPr>
          <p:cNvPr id="23" name="Text 20"/>
          <p:cNvSpPr/>
          <p:nvPr/>
        </p:nvSpPr>
        <p:spPr>
          <a:xfrm>
            <a:off x="7360920" y="231800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24" name="Text 21"/>
          <p:cNvSpPr/>
          <p:nvPr/>
        </p:nvSpPr>
        <p:spPr>
          <a:xfrm>
            <a:off x="7818120" y="231800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8k</a:t>
            </a:r>
            <a:endParaRPr lang="en-US" sz="900" dirty="0"/>
          </a:p>
        </p:txBody>
      </p:sp>
      <p:sp>
        <p:nvSpPr>
          <p:cNvPr id="25" name="Text 22"/>
          <p:cNvSpPr/>
          <p:nvPr/>
        </p:nvSpPr>
        <p:spPr>
          <a:xfrm>
            <a:off x="5943600" y="2514600"/>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ftgo</a:t>
            </a:r>
            <a:endParaRPr lang="en-US" sz="900" dirty="0"/>
          </a:p>
        </p:txBody>
      </p:sp>
      <p:sp>
        <p:nvSpPr>
          <p:cNvPr id="26" name="Text 23"/>
          <p:cNvSpPr/>
          <p:nvPr/>
        </p:nvSpPr>
        <p:spPr>
          <a:xfrm>
            <a:off x="7360920" y="2514600"/>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27" name="Text 24"/>
          <p:cNvSpPr/>
          <p:nvPr/>
        </p:nvSpPr>
        <p:spPr>
          <a:xfrm>
            <a:off x="7818120" y="2514600"/>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11k</a:t>
            </a:r>
            <a:endParaRPr lang="en-US" sz="900" dirty="0"/>
          </a:p>
        </p:txBody>
      </p:sp>
      <p:sp>
        <p:nvSpPr>
          <p:cNvPr id="28" name="Text 25"/>
          <p:cNvSpPr/>
          <p:nvPr/>
        </p:nvSpPr>
        <p:spPr>
          <a:xfrm>
            <a:off x="5943600" y="2711196"/>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mall-swarm</a:t>
            </a:r>
            <a:endParaRPr lang="en-US" sz="900" dirty="0"/>
          </a:p>
        </p:txBody>
      </p:sp>
      <p:sp>
        <p:nvSpPr>
          <p:cNvPr id="29" name="Text 26"/>
          <p:cNvSpPr/>
          <p:nvPr/>
        </p:nvSpPr>
        <p:spPr>
          <a:xfrm>
            <a:off x="7360920" y="2711196"/>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30" name="Text 27"/>
          <p:cNvSpPr/>
          <p:nvPr/>
        </p:nvSpPr>
        <p:spPr>
          <a:xfrm>
            <a:off x="7818120" y="2711196"/>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86k</a:t>
            </a:r>
            <a:endParaRPr lang="en-US" sz="900" dirty="0"/>
          </a:p>
        </p:txBody>
      </p:sp>
      <p:sp>
        <p:nvSpPr>
          <p:cNvPr id="31" name="Text 28"/>
          <p:cNvSpPr/>
          <p:nvPr/>
        </p:nvSpPr>
        <p:spPr>
          <a:xfrm>
            <a:off x="5943600" y="2907792"/>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RuoYi</a:t>
            </a:r>
            <a:endParaRPr lang="en-US" sz="900" dirty="0"/>
          </a:p>
        </p:txBody>
      </p:sp>
      <p:sp>
        <p:nvSpPr>
          <p:cNvPr id="32" name="Text 29"/>
          <p:cNvSpPr/>
          <p:nvPr/>
        </p:nvSpPr>
        <p:spPr>
          <a:xfrm>
            <a:off x="7360920" y="2907792"/>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3" name="Text 30"/>
          <p:cNvSpPr/>
          <p:nvPr/>
        </p:nvSpPr>
        <p:spPr>
          <a:xfrm>
            <a:off x="7818120" y="2907792"/>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27k</a:t>
            </a:r>
            <a:endParaRPr lang="en-US" sz="900" dirty="0"/>
          </a:p>
        </p:txBody>
      </p:sp>
      <p:sp>
        <p:nvSpPr>
          <p:cNvPr id="34" name="Text 31"/>
          <p:cNvSpPr/>
          <p:nvPr/>
        </p:nvSpPr>
        <p:spPr>
          <a:xfrm>
            <a:off x="5943600" y="3104388"/>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PiggyMetrics</a:t>
            </a:r>
            <a:endParaRPr lang="en-US" sz="900" dirty="0"/>
          </a:p>
        </p:txBody>
      </p:sp>
      <p:sp>
        <p:nvSpPr>
          <p:cNvPr id="35" name="Text 32"/>
          <p:cNvSpPr/>
          <p:nvPr/>
        </p:nvSpPr>
        <p:spPr>
          <a:xfrm>
            <a:off x="7360920" y="3104388"/>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6" name="Text 33"/>
          <p:cNvSpPr/>
          <p:nvPr/>
        </p:nvSpPr>
        <p:spPr>
          <a:xfrm>
            <a:off x="7818120" y="3104388"/>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4.5k</a:t>
            </a:r>
            <a:endParaRPr lang="en-US" sz="900" dirty="0"/>
          </a:p>
        </p:txBody>
      </p:sp>
      <p:sp>
        <p:nvSpPr>
          <p:cNvPr id="37" name="Text 34"/>
          <p:cNvSpPr/>
          <p:nvPr/>
        </p:nvSpPr>
        <p:spPr>
          <a:xfrm>
            <a:off x="5943600" y="330098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piomin</a:t>
            </a:r>
            <a:endParaRPr lang="en-US" sz="900" dirty="0"/>
          </a:p>
        </p:txBody>
      </p:sp>
      <p:sp>
        <p:nvSpPr>
          <p:cNvPr id="38" name="Text 35"/>
          <p:cNvSpPr/>
          <p:nvPr/>
        </p:nvSpPr>
        <p:spPr>
          <a:xfrm>
            <a:off x="7360920" y="330098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6</a:t>
            </a:r>
            <a:endParaRPr lang="en-US" sz="900" dirty="0"/>
          </a:p>
        </p:txBody>
      </p:sp>
      <p:sp>
        <p:nvSpPr>
          <p:cNvPr id="39" name="Text 36"/>
          <p:cNvSpPr/>
          <p:nvPr/>
        </p:nvSpPr>
        <p:spPr>
          <a:xfrm>
            <a:off x="7818120" y="330098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1.3k</a:t>
            </a:r>
            <a:endParaRPr lang="en-US" sz="900" dirty="0"/>
          </a:p>
        </p:txBody>
      </p:sp>
      <p:sp>
        <p:nvSpPr>
          <p:cNvPr id="40" name="Shape 37"/>
          <p:cNvSpPr/>
          <p:nvPr/>
        </p:nvSpPr>
        <p:spPr>
          <a:xfrm>
            <a:off x="5943600" y="3529584"/>
            <a:ext cx="2651760" cy="18288"/>
          </a:xfrm>
          <a:prstGeom prst="rect">
            <a:avLst/>
          </a:prstGeom>
          <a:solidFill>
            <a:srgbClr val="0F2A44"/>
          </a:solidFill>
          <a:ln w="12700">
            <a:solidFill>
              <a:srgbClr val="0F2A44"/>
            </a:solidFill>
            <a:prstDash val="solid"/>
          </a:ln>
        </p:spPr>
        <p:txBody>
          <a:bodyPr/>
          <a:lstStyle/>
          <a:p>
            <a:endParaRPr lang="en-US"/>
          </a:p>
        </p:txBody>
      </p:sp>
      <p:sp>
        <p:nvSpPr>
          <p:cNvPr id="41" name="Text 38"/>
          <p:cNvSpPr/>
          <p:nvPr/>
        </p:nvSpPr>
        <p:spPr>
          <a:xfrm>
            <a:off x="5943600" y="3584448"/>
            <a:ext cx="1417320" cy="201168"/>
          </a:xfrm>
          <a:prstGeom prst="rect">
            <a:avLst/>
          </a:prstGeom>
          <a:noFill/>
          <a:ln/>
        </p:spPr>
        <p:txBody>
          <a:bodyPr wrap="square" lIns="0" tIns="0" rIns="0" bIns="0" rtlCol="0" anchor="ctr"/>
          <a:lstStyle/>
          <a:p>
            <a:pPr marL="0" indent="0">
              <a:buNone/>
            </a:pPr>
            <a:r>
              <a:rPr lang="en-US" sz="900" b="1" dirty="0">
                <a:solidFill>
                  <a:srgbClr val="0F2A44"/>
                </a:solidFill>
                <a:latin typeface="Calibri" pitchFamily="34" charset="0"/>
                <a:ea typeface="Calibri" pitchFamily="34" charset="-122"/>
                <a:cs typeface="Calibri" pitchFamily="34" charset="-120"/>
              </a:rPr>
              <a:t>Total</a:t>
            </a:r>
            <a:endParaRPr lang="en-US" sz="900" dirty="0"/>
          </a:p>
        </p:txBody>
      </p:sp>
      <p:sp>
        <p:nvSpPr>
          <p:cNvPr id="42" name="Text 39"/>
          <p:cNvSpPr/>
          <p:nvPr/>
        </p:nvSpPr>
        <p:spPr>
          <a:xfrm>
            <a:off x="7360920" y="3584448"/>
            <a:ext cx="457200" cy="201168"/>
          </a:xfrm>
          <a:prstGeom prst="rect">
            <a:avLst/>
          </a:prstGeom>
          <a:noFill/>
          <a:ln/>
        </p:spPr>
        <p:txBody>
          <a:bodyPr wrap="square" lIns="0" tIns="0" rIns="0" bIns="0" rtlCol="0" anchor="ctr"/>
          <a:lstStyle/>
          <a:p>
            <a:pPr marL="0" indent="0" algn="ctr">
              <a:buNone/>
            </a:pPr>
            <a:r>
              <a:rPr lang="en-US" sz="900" b="1" dirty="0">
                <a:solidFill>
                  <a:srgbClr val="0F2A44"/>
                </a:solidFill>
                <a:latin typeface="Calibri" pitchFamily="34" charset="0"/>
                <a:ea typeface="Calibri" pitchFamily="34" charset="-122"/>
                <a:cs typeface="Calibri" pitchFamily="34" charset="-120"/>
              </a:rPr>
              <a:t>130</a:t>
            </a:r>
            <a:endParaRPr lang="en-US" sz="900" dirty="0"/>
          </a:p>
        </p:txBody>
      </p:sp>
      <p:sp>
        <p:nvSpPr>
          <p:cNvPr id="43" name="Text 40"/>
          <p:cNvSpPr/>
          <p:nvPr/>
        </p:nvSpPr>
        <p:spPr>
          <a:xfrm>
            <a:off x="7818120" y="3584448"/>
            <a:ext cx="777240" cy="201168"/>
          </a:xfrm>
          <a:prstGeom prst="rect">
            <a:avLst/>
          </a:prstGeom>
          <a:noFill/>
          <a:ln/>
        </p:spPr>
        <p:txBody>
          <a:bodyPr wrap="square" lIns="0" tIns="0" rIns="0" bIns="0" rtlCol="0" anchor="ctr"/>
          <a:lstStyle/>
          <a:p>
            <a:pPr marL="0" indent="0" algn="r">
              <a:buNone/>
            </a:pPr>
            <a:r>
              <a:rPr lang="en-US" sz="900" b="1" dirty="0">
                <a:solidFill>
                  <a:srgbClr val="0F2A44"/>
                </a:solidFill>
                <a:latin typeface="Calibri" pitchFamily="34" charset="0"/>
                <a:ea typeface="Calibri" pitchFamily="34" charset="-122"/>
                <a:cs typeface="Calibri" pitchFamily="34" charset="-120"/>
              </a:rPr>
              <a:t>274k</a:t>
            </a:r>
            <a:endParaRPr lang="en-US" sz="900" dirty="0"/>
          </a:p>
        </p:txBody>
      </p:sp>
      <p:sp>
        <p:nvSpPr>
          <p:cNvPr id="44" name="Shape 41"/>
          <p:cNvSpPr/>
          <p:nvPr/>
        </p:nvSpPr>
        <p:spPr>
          <a:xfrm>
            <a:off x="548640" y="3950208"/>
            <a:ext cx="457200" cy="36576"/>
          </a:xfrm>
          <a:prstGeom prst="rect">
            <a:avLst/>
          </a:prstGeom>
          <a:solidFill>
            <a:srgbClr val="0D9488"/>
          </a:solidFill>
          <a:ln w="12700">
            <a:solidFill>
              <a:srgbClr val="0D9488"/>
            </a:solidFill>
            <a:prstDash val="solid"/>
          </a:ln>
        </p:spPr>
        <p:txBody>
          <a:bodyPr/>
          <a:lstStyle/>
          <a:p>
            <a:endParaRPr lang="en-US"/>
          </a:p>
        </p:txBody>
      </p:sp>
      <p:sp>
        <p:nvSpPr>
          <p:cNvPr id="45" name="Text 42"/>
          <p:cNvSpPr/>
          <p:nvPr/>
        </p:nvSpPr>
        <p:spPr>
          <a:xfrm>
            <a:off x="731520" y="4059936"/>
            <a:ext cx="7863840" cy="64008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98 anti-pattern instances across 9 types</a:t>
            </a:r>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API Versioning Absence (37), Nano Service (23) and Hardcoded Endpoint (15) dominate</a:t>
            </a:r>
            <a:endParaRPr lang="en-US" sz="1050" dirty="0"/>
          </a:p>
        </p:txBody>
      </p:sp>
      <p:sp>
        <p:nvSpPr>
          <p:cNvPr id="46" name="Text 43"/>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868680"/>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051560"/>
            <a:ext cx="7863840" cy="77724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Live demo</a:t>
            </a:r>
            <a:endParaRPr lang="en-US" sz="4400" dirty="0"/>
          </a:p>
        </p:txBody>
      </p:sp>
      <p:sp>
        <p:nvSpPr>
          <p:cNvPr id="4" name="Text 2"/>
          <p:cNvSpPr/>
          <p:nvPr/>
        </p:nvSpPr>
        <p:spPr>
          <a:xfrm>
            <a:off x="548640" y="1874520"/>
            <a:ext cx="786384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600" dirty="0"/>
          </a:p>
        </p:txBody>
      </p:sp>
      <p:sp>
        <p:nvSpPr>
          <p:cNvPr id="5" name="Text 3"/>
          <p:cNvSpPr/>
          <p:nvPr/>
        </p:nvSpPr>
        <p:spPr>
          <a:xfrm>
            <a:off x="548640" y="256032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51560" y="256946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7" name="Text 5"/>
          <p:cNvSpPr/>
          <p:nvPr/>
        </p:nvSpPr>
        <p:spPr>
          <a:xfrm>
            <a:off x="1051560" y="282549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8" name="Text 6"/>
          <p:cNvSpPr/>
          <p:nvPr/>
        </p:nvSpPr>
        <p:spPr>
          <a:xfrm>
            <a:off x="548640" y="310896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2</a:t>
            </a:r>
            <a:endParaRPr lang="en-US" sz="1600" dirty="0"/>
          </a:p>
        </p:txBody>
      </p:sp>
      <p:sp>
        <p:nvSpPr>
          <p:cNvPr id="9" name="Text 7"/>
          <p:cNvSpPr/>
          <p:nvPr/>
        </p:nvSpPr>
        <p:spPr>
          <a:xfrm>
            <a:off x="1051560" y="311810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0" name="Text 8"/>
          <p:cNvSpPr/>
          <p:nvPr/>
        </p:nvSpPr>
        <p:spPr>
          <a:xfrm>
            <a:off x="1051560" y="337413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1" name="Text 9"/>
          <p:cNvSpPr/>
          <p:nvPr/>
        </p:nvSpPr>
        <p:spPr>
          <a:xfrm>
            <a:off x="548640" y="365760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3</a:t>
            </a:r>
            <a:endParaRPr lang="en-US" sz="1600" dirty="0"/>
          </a:p>
        </p:txBody>
      </p:sp>
      <p:sp>
        <p:nvSpPr>
          <p:cNvPr id="12" name="Text 10"/>
          <p:cNvSpPr/>
          <p:nvPr/>
        </p:nvSpPr>
        <p:spPr>
          <a:xfrm>
            <a:off x="1051560" y="366674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3" name="Text 11"/>
          <p:cNvSpPr/>
          <p:nvPr/>
        </p:nvSpPr>
        <p:spPr>
          <a:xfrm>
            <a:off x="1051560" y="392277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4" name="Text 12"/>
          <p:cNvSpPr/>
          <p:nvPr/>
        </p:nvSpPr>
        <p:spPr>
          <a:xfrm>
            <a:off x="548640" y="420624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4</a:t>
            </a:r>
            <a:endParaRPr lang="en-US" sz="1600" dirty="0"/>
          </a:p>
        </p:txBody>
      </p:sp>
      <p:sp>
        <p:nvSpPr>
          <p:cNvPr id="15" name="Text 13"/>
          <p:cNvSpPr/>
          <p:nvPr/>
        </p:nvSpPr>
        <p:spPr>
          <a:xfrm>
            <a:off x="1051560" y="421538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16" name="Text 14"/>
          <p:cNvSpPr/>
          <p:nvPr/>
        </p:nvSpPr>
        <p:spPr>
          <a:xfrm>
            <a:off x="1051560" y="447141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17" name="Text 15"/>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Limitations &amp; future work</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1005840"/>
            <a:ext cx="3840480" cy="347472"/>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Limitations</a:t>
            </a:r>
            <a:endParaRPr lang="en-US" sz="1500" dirty="0"/>
          </a:p>
        </p:txBody>
      </p:sp>
      <p:sp>
        <p:nvSpPr>
          <p:cNvPr id="5" name="Shape 3"/>
          <p:cNvSpPr/>
          <p:nvPr/>
        </p:nvSpPr>
        <p:spPr>
          <a:xfrm>
            <a:off x="548640" y="1389888"/>
            <a:ext cx="457200" cy="36576"/>
          </a:xfrm>
          <a:prstGeom prst="rect">
            <a:avLst/>
          </a:prstGeom>
          <a:solidFill>
            <a:srgbClr val="D97706"/>
          </a:solidFill>
          <a:ln w="12700">
            <a:solidFill>
              <a:srgbClr val="D97706"/>
            </a:solidFill>
            <a:prstDash val="solid"/>
          </a:ln>
        </p:spPr>
        <p:txBody>
          <a:bodyPr/>
          <a:lstStyle/>
          <a:p>
            <a:endParaRPr lang="en-US"/>
          </a:p>
        </p:txBody>
      </p:sp>
      <p:sp>
        <p:nvSpPr>
          <p:cNvPr id="6" name="Text 4"/>
          <p:cNvSpPr/>
          <p:nvPr/>
        </p:nvSpPr>
        <p:spPr>
          <a:xfrm>
            <a:off x="54864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Java / Spring Boot only; polyglot systems not supported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Static analysis only; no runtime call frequency data</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Dynamic URLs (e.g. Spring Cloud Config) are not resolved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00" dirty="0"/>
          </a:p>
        </p:txBody>
      </p:sp>
      <p:sp>
        <p:nvSpPr>
          <p:cNvPr id="7" name="Text 5"/>
          <p:cNvSpPr/>
          <p:nvPr/>
        </p:nvSpPr>
        <p:spPr>
          <a:xfrm>
            <a:off x="4754880" y="1005840"/>
            <a:ext cx="3840480" cy="347472"/>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Future work</a:t>
            </a:r>
            <a:endParaRPr lang="en-US" sz="1500" dirty="0"/>
          </a:p>
        </p:txBody>
      </p:sp>
      <p:sp>
        <p:nvSpPr>
          <p:cNvPr id="8" name="Shape 6"/>
          <p:cNvSpPr/>
          <p:nvPr/>
        </p:nvSpPr>
        <p:spPr>
          <a:xfrm>
            <a:off x="4754880" y="1389888"/>
            <a:ext cx="457200" cy="36576"/>
          </a:xfrm>
          <a:prstGeom prst="rect">
            <a:avLst/>
          </a:prstGeom>
          <a:solidFill>
            <a:srgbClr val="0D9488"/>
          </a:solidFill>
          <a:ln w="12700">
            <a:solidFill>
              <a:srgbClr val="0D9488"/>
            </a:solidFill>
            <a:prstDash val="solid"/>
          </a:ln>
        </p:spPr>
        <p:txBody>
          <a:bodyPr/>
          <a:lstStyle/>
          <a:p>
            <a:endParaRPr lang="en-US"/>
          </a:p>
        </p:txBody>
      </p:sp>
      <p:sp>
        <p:nvSpPr>
          <p:cNvPr id="9" name="Text 7"/>
          <p:cNvSpPr/>
          <p:nvPr/>
        </p:nvSpPr>
        <p:spPr>
          <a:xfrm>
            <a:off x="475488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00" dirty="0"/>
          </a:p>
        </p:txBody>
      </p:sp>
      <p:sp>
        <p:nvSpPr>
          <p:cNvPr id="10" name="Text 8"/>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914400"/>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097280"/>
            <a:ext cx="7863840" cy="73152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Conclusions</a:t>
            </a:r>
            <a:endParaRPr lang="en-US" sz="4400" dirty="0"/>
          </a:p>
        </p:txBody>
      </p:sp>
      <p:sp>
        <p:nvSpPr>
          <p:cNvPr id="5" name="Text 3"/>
          <p:cNvSpPr/>
          <p:nvPr/>
        </p:nvSpPr>
        <p:spPr>
          <a:xfrm>
            <a:off x="548640" y="2400300"/>
            <a:ext cx="7863840" cy="274320"/>
          </a:xfrm>
          <a:prstGeom prst="rect">
            <a:avLst/>
          </a:prstGeom>
          <a:noFill/>
          <a:ln/>
        </p:spPr>
        <p:txBody>
          <a:bodyPr wrap="square" lIns="0" tIns="0" rIns="0" bIns="0" rtlCol="0" anchor="ctr"/>
          <a:lstStyle/>
          <a:p>
            <a:pPr marL="0" indent="0">
              <a:buNone/>
            </a:pPr>
            <a:r>
              <a:rPr lang="en-US" sz="1100" b="1" kern="0" spc="300" dirty="0">
                <a:solidFill>
                  <a:srgbClr val="0D9488"/>
                </a:solidFill>
                <a:latin typeface="Calibri" pitchFamily="34" charset="0"/>
                <a:ea typeface="Calibri" pitchFamily="34" charset="-122"/>
                <a:cs typeface="Calibri" pitchFamily="34" charset="-120"/>
              </a:rPr>
              <a:t>RECAP</a:t>
            </a:r>
            <a:endParaRPr lang="en-US" sz="1100" dirty="0"/>
          </a:p>
        </p:txBody>
      </p:sp>
      <p:sp>
        <p:nvSpPr>
          <p:cNvPr id="6" name="Text 4"/>
          <p:cNvSpPr/>
          <p:nvPr/>
        </p:nvSpPr>
        <p:spPr>
          <a:xfrm>
            <a:off x="731520" y="2720340"/>
            <a:ext cx="7680960" cy="1325880"/>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chemeClr val="bg1"/>
                </a:solidFill>
                <a:latin typeface="Calibri" pitchFamily="34" charset="0"/>
                <a:ea typeface="Calibri" pitchFamily="34" charset="-122"/>
                <a:cs typeface="Calibri" pitchFamily="34" charset="-120"/>
              </a:rPr>
              <a:t>Multi-level static analysis combining code smells and architectural metrics</a:t>
            </a:r>
            <a:endParaRPr lang="en-US" sz="1250" dirty="0">
              <a:solidFill>
                <a:schemeClr val="bg1"/>
              </a:solidFill>
            </a:endParaRPr>
          </a:p>
          <a:p>
            <a:pPr marL="342900" indent="-342900">
              <a:spcAft>
                <a:spcPts val="400"/>
              </a:spcAft>
              <a:buSzPct val="100000"/>
              <a:buChar char="•"/>
            </a:pPr>
            <a:r>
              <a:rPr lang="en-US" sz="1250" dirty="0">
                <a:solidFill>
                  <a:schemeClr val="bg1"/>
                </a:solidFill>
                <a:latin typeface="Calibri" pitchFamily="34" charset="0"/>
                <a:ea typeface="Calibri" pitchFamily="34" charset="-122"/>
                <a:cs typeface="Calibri" pitchFamily="34" charset="-120"/>
              </a:rPr>
              <a:t>Ten anti-patterns, configurable thresholds, evidence-based reporting</a:t>
            </a:r>
            <a:endParaRPr lang="en-US" sz="1250" dirty="0">
              <a:solidFill>
                <a:schemeClr val="bg1"/>
              </a:solidFill>
            </a:endParaRPr>
          </a:p>
          <a:p>
            <a:pPr marL="342900" indent="-342900">
              <a:spcAft>
                <a:spcPts val="400"/>
              </a:spcAft>
              <a:buSzPct val="100000"/>
              <a:buChar char="•"/>
            </a:pPr>
            <a:r>
              <a:rPr lang="en-US" sz="1250" dirty="0">
                <a:solidFill>
                  <a:schemeClr val="bg1"/>
                </a:solidFill>
                <a:latin typeface="Calibri" pitchFamily="34" charset="0"/>
                <a:ea typeface="Calibri" pitchFamily="34" charset="-122"/>
                <a:cs typeface="Calibri" pitchFamily="34" charset="-120"/>
              </a:rPr>
              <a:t>Composite health score with four-category decomposition and analysis diff</a:t>
            </a:r>
          </a:p>
          <a:p>
            <a:pPr marL="342900" indent="-342900">
              <a:spcAft>
                <a:spcPts val="400"/>
              </a:spcAft>
              <a:buSzPct val="100000"/>
              <a:buChar char="•"/>
            </a:pPr>
            <a:r>
              <a:rPr lang="en-US" sz="1250" dirty="0">
                <a:solidFill>
                  <a:schemeClr val="bg1"/>
                </a:solidFill>
              </a:rPr>
              <a:t>Evaluated the tool on 11 open-source systems, covering 130 services and </a:t>
            </a:r>
            <a:r>
              <a:rPr lang="en-US" sz="1250" dirty="0" err="1">
                <a:solidFill>
                  <a:schemeClr val="bg1"/>
                </a:solidFill>
              </a:rPr>
              <a:t>cca</a:t>
            </a:r>
            <a:r>
              <a:rPr lang="en-US" sz="1250" dirty="0">
                <a:solidFill>
                  <a:schemeClr val="bg1"/>
                </a:solidFill>
              </a:rPr>
              <a:t>. 274k LOC</a:t>
            </a:r>
          </a:p>
        </p:txBody>
      </p:sp>
      <p:sp>
        <p:nvSpPr>
          <p:cNvPr id="7" name="Text 5"/>
          <p:cNvSpPr/>
          <p:nvPr/>
        </p:nvSpPr>
        <p:spPr>
          <a:xfrm>
            <a:off x="548640" y="4617720"/>
            <a:ext cx="7863840" cy="274320"/>
          </a:xfrm>
          <a:prstGeom prst="rect">
            <a:avLst/>
          </a:prstGeom>
          <a:noFill/>
          <a:ln/>
        </p:spPr>
        <p:txBody>
          <a:bodyPr wrap="square" lIns="0" tIns="0" rIns="0" bIns="0" rtlCol="0" anchor="ctr"/>
          <a:lstStyle/>
          <a:p>
            <a:pPr marL="0" indent="0">
              <a:buNone/>
            </a:pPr>
            <a:r>
              <a:rPr lang="en-US" sz="1050" dirty="0">
                <a:solidFill>
                  <a:srgbClr val="DBEAFE"/>
                </a:solidFill>
                <a:latin typeface="Calibri" pitchFamily="34" charset="0"/>
                <a:ea typeface="Calibri" pitchFamily="34" charset="-122"/>
                <a:cs typeface="Calibri" pitchFamily="34" charset="-120"/>
              </a:rPr>
              <a:t>Iacob Andrei  ·  Supervisor: Prof. Dr. Simona Motogna  ·  UBB FMI</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Bibliography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51560"/>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Lewis &amp; Fowler (2014)</a:t>
            </a:r>
            <a:endParaRPr lang="en-US" sz="1050" dirty="0"/>
          </a:p>
        </p:txBody>
      </p:sp>
      <p:sp>
        <p:nvSpPr>
          <p:cNvPr id="5" name="Text 3"/>
          <p:cNvSpPr/>
          <p:nvPr/>
        </p:nvSpPr>
        <p:spPr>
          <a:xfrm>
            <a:off x="548640" y="1298448"/>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Microservices: a definition of this new architectural term</a:t>
            </a:r>
            <a:endParaRPr lang="en-US" sz="920" dirty="0"/>
          </a:p>
        </p:txBody>
      </p:sp>
      <p:sp>
        <p:nvSpPr>
          <p:cNvPr id="6" name="Shape 4"/>
          <p:cNvSpPr/>
          <p:nvPr/>
        </p:nvSpPr>
        <p:spPr>
          <a:xfrm>
            <a:off x="548640" y="1664208"/>
            <a:ext cx="3794760" cy="9144"/>
          </a:xfrm>
          <a:prstGeom prst="rect">
            <a:avLst/>
          </a:prstGeom>
          <a:solidFill>
            <a:srgbClr val="D8DEE6"/>
          </a:solidFill>
          <a:ln w="12700">
            <a:solidFill>
              <a:srgbClr val="D8DEE6"/>
            </a:solidFill>
            <a:prstDash val="solid"/>
          </a:ln>
        </p:spPr>
      </p:sp>
      <p:sp>
        <p:nvSpPr>
          <p:cNvPr id="7" name="Text 5"/>
          <p:cNvSpPr/>
          <p:nvPr/>
        </p:nvSpPr>
        <p:spPr>
          <a:xfrm>
            <a:off x="548640" y="1764792"/>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Newman (2015)</a:t>
            </a:r>
            <a:endParaRPr lang="en-US" sz="1050" dirty="0"/>
          </a:p>
        </p:txBody>
      </p:sp>
      <p:sp>
        <p:nvSpPr>
          <p:cNvPr id="8" name="Text 6"/>
          <p:cNvSpPr/>
          <p:nvPr/>
        </p:nvSpPr>
        <p:spPr>
          <a:xfrm>
            <a:off x="548640" y="2011680"/>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Building Microservices: Designing Fine-Grained Systems</a:t>
            </a:r>
            <a:endParaRPr lang="en-US" sz="920" dirty="0"/>
          </a:p>
        </p:txBody>
      </p:sp>
      <p:sp>
        <p:nvSpPr>
          <p:cNvPr id="9" name="Shape 7"/>
          <p:cNvSpPr/>
          <p:nvPr/>
        </p:nvSpPr>
        <p:spPr>
          <a:xfrm>
            <a:off x="548640" y="2377440"/>
            <a:ext cx="3794760" cy="9144"/>
          </a:xfrm>
          <a:prstGeom prst="rect">
            <a:avLst/>
          </a:prstGeom>
          <a:solidFill>
            <a:srgbClr val="D8DEE6"/>
          </a:solidFill>
          <a:ln w="12700">
            <a:solidFill>
              <a:srgbClr val="D8DEE6"/>
            </a:solidFill>
            <a:prstDash val="solid"/>
          </a:ln>
        </p:spPr>
      </p:sp>
      <p:sp>
        <p:nvSpPr>
          <p:cNvPr id="10" name="Text 8"/>
          <p:cNvSpPr/>
          <p:nvPr/>
        </p:nvSpPr>
        <p:spPr>
          <a:xfrm>
            <a:off x="548640" y="2478024"/>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Richardson (2018)</a:t>
            </a:r>
            <a:endParaRPr lang="en-US" sz="1050" dirty="0"/>
          </a:p>
        </p:txBody>
      </p:sp>
      <p:sp>
        <p:nvSpPr>
          <p:cNvPr id="11" name="Text 9"/>
          <p:cNvSpPr/>
          <p:nvPr/>
        </p:nvSpPr>
        <p:spPr>
          <a:xfrm>
            <a:off x="548640" y="2724912"/>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Microservices Patterns: With Examples in Java</a:t>
            </a:r>
            <a:endParaRPr lang="en-US" sz="920" dirty="0"/>
          </a:p>
        </p:txBody>
      </p:sp>
      <p:sp>
        <p:nvSpPr>
          <p:cNvPr id="12" name="Shape 10"/>
          <p:cNvSpPr/>
          <p:nvPr/>
        </p:nvSpPr>
        <p:spPr>
          <a:xfrm>
            <a:off x="548640" y="3090672"/>
            <a:ext cx="3794760" cy="9144"/>
          </a:xfrm>
          <a:prstGeom prst="rect">
            <a:avLst/>
          </a:prstGeom>
          <a:solidFill>
            <a:srgbClr val="D8DEE6"/>
          </a:solidFill>
          <a:ln w="12700">
            <a:solidFill>
              <a:srgbClr val="D8DEE6"/>
            </a:solidFill>
            <a:prstDash val="solid"/>
          </a:ln>
        </p:spPr>
      </p:sp>
      <p:sp>
        <p:nvSpPr>
          <p:cNvPr id="13" name="Text 11"/>
          <p:cNvSpPr/>
          <p:nvPr/>
        </p:nvSpPr>
        <p:spPr>
          <a:xfrm>
            <a:off x="548640" y="3191256"/>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Taibi &amp; Lenarduzzi (2018)</a:t>
            </a:r>
            <a:endParaRPr lang="en-US" sz="1050" dirty="0"/>
          </a:p>
        </p:txBody>
      </p:sp>
      <p:sp>
        <p:nvSpPr>
          <p:cNvPr id="14" name="Text 12"/>
          <p:cNvSpPr/>
          <p:nvPr/>
        </p:nvSpPr>
        <p:spPr>
          <a:xfrm>
            <a:off x="548640" y="3438144"/>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On the Definition of Microservice Bad Smells</a:t>
            </a:r>
            <a:endParaRPr lang="en-US" sz="920" dirty="0"/>
          </a:p>
        </p:txBody>
      </p:sp>
      <p:sp>
        <p:nvSpPr>
          <p:cNvPr id="15" name="Shape 13"/>
          <p:cNvSpPr/>
          <p:nvPr/>
        </p:nvSpPr>
        <p:spPr>
          <a:xfrm>
            <a:off x="548640" y="3803904"/>
            <a:ext cx="3794760" cy="9144"/>
          </a:xfrm>
          <a:prstGeom prst="rect">
            <a:avLst/>
          </a:prstGeom>
          <a:solidFill>
            <a:srgbClr val="D8DEE6"/>
          </a:solidFill>
          <a:ln w="12700">
            <a:solidFill>
              <a:srgbClr val="D8DEE6"/>
            </a:solidFill>
            <a:prstDash val="solid"/>
          </a:ln>
        </p:spPr>
      </p:sp>
      <p:sp>
        <p:nvSpPr>
          <p:cNvPr id="16" name="Text 14"/>
          <p:cNvSpPr/>
          <p:nvPr/>
        </p:nvSpPr>
        <p:spPr>
          <a:xfrm>
            <a:off x="548640" y="3904488"/>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Soldani, Tamburri &amp; Van Den Heuvel (2018)</a:t>
            </a:r>
            <a:endParaRPr lang="en-US" sz="1050" dirty="0"/>
          </a:p>
        </p:txBody>
      </p:sp>
      <p:sp>
        <p:nvSpPr>
          <p:cNvPr id="17" name="Text 15"/>
          <p:cNvSpPr/>
          <p:nvPr/>
        </p:nvSpPr>
        <p:spPr>
          <a:xfrm>
            <a:off x="548640" y="4151376"/>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The Pains and Gains of Microservices</a:t>
            </a:r>
            <a:endParaRPr lang="en-US" sz="920" dirty="0"/>
          </a:p>
        </p:txBody>
      </p:sp>
      <p:sp>
        <p:nvSpPr>
          <p:cNvPr id="18" name="Text 16"/>
          <p:cNvSpPr/>
          <p:nvPr/>
        </p:nvSpPr>
        <p:spPr>
          <a:xfrm>
            <a:off x="4617720" y="1051560"/>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Neri et al. (2020)</a:t>
            </a:r>
            <a:endParaRPr lang="en-US" sz="1050" dirty="0"/>
          </a:p>
        </p:txBody>
      </p:sp>
      <p:sp>
        <p:nvSpPr>
          <p:cNvPr id="19" name="Text 17"/>
          <p:cNvSpPr/>
          <p:nvPr/>
        </p:nvSpPr>
        <p:spPr>
          <a:xfrm>
            <a:off x="4617720" y="1298448"/>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Design Principles, Architectural Smells and Refactorings for Microservices</a:t>
            </a:r>
            <a:endParaRPr lang="en-US" sz="920" dirty="0"/>
          </a:p>
        </p:txBody>
      </p:sp>
      <p:sp>
        <p:nvSpPr>
          <p:cNvPr id="20" name="Shape 18"/>
          <p:cNvSpPr/>
          <p:nvPr/>
        </p:nvSpPr>
        <p:spPr>
          <a:xfrm>
            <a:off x="4617720" y="1664208"/>
            <a:ext cx="3977640" cy="9144"/>
          </a:xfrm>
          <a:prstGeom prst="rect">
            <a:avLst/>
          </a:prstGeom>
          <a:solidFill>
            <a:srgbClr val="D8DEE6"/>
          </a:solidFill>
          <a:ln w="12700">
            <a:solidFill>
              <a:srgbClr val="D8DEE6"/>
            </a:solidFill>
            <a:prstDash val="solid"/>
          </a:ln>
        </p:spPr>
      </p:sp>
      <p:sp>
        <p:nvSpPr>
          <p:cNvPr id="21" name="Text 19"/>
          <p:cNvSpPr/>
          <p:nvPr/>
        </p:nvSpPr>
        <p:spPr>
          <a:xfrm>
            <a:off x="4617720" y="1764792"/>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Pawlak et al. (2016)</a:t>
            </a:r>
            <a:endParaRPr lang="en-US" sz="1050" dirty="0"/>
          </a:p>
        </p:txBody>
      </p:sp>
      <p:sp>
        <p:nvSpPr>
          <p:cNvPr id="22" name="Text 20"/>
          <p:cNvSpPr/>
          <p:nvPr/>
        </p:nvSpPr>
        <p:spPr>
          <a:xfrm>
            <a:off x="4617720" y="2011680"/>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Spoon: A Library for Implementing Analyses and Transformations of Java Source Code</a:t>
            </a:r>
            <a:endParaRPr lang="en-US" sz="920" dirty="0"/>
          </a:p>
        </p:txBody>
      </p:sp>
      <p:sp>
        <p:nvSpPr>
          <p:cNvPr id="23" name="Shape 21"/>
          <p:cNvSpPr/>
          <p:nvPr/>
        </p:nvSpPr>
        <p:spPr>
          <a:xfrm>
            <a:off x="4617720" y="2377440"/>
            <a:ext cx="3977640" cy="9144"/>
          </a:xfrm>
          <a:prstGeom prst="rect">
            <a:avLst/>
          </a:prstGeom>
          <a:solidFill>
            <a:srgbClr val="D8DEE6"/>
          </a:solidFill>
          <a:ln w="12700">
            <a:solidFill>
              <a:srgbClr val="D8DEE6"/>
            </a:solidFill>
            <a:prstDash val="solid"/>
          </a:ln>
        </p:spPr>
      </p:sp>
      <p:sp>
        <p:nvSpPr>
          <p:cNvPr id="24" name="Text 22"/>
          <p:cNvSpPr/>
          <p:nvPr/>
        </p:nvSpPr>
        <p:spPr>
          <a:xfrm>
            <a:off x="4617720" y="2478024"/>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Sharma &amp; Spinellis (2018)</a:t>
            </a:r>
            <a:endParaRPr lang="en-US" sz="1050" dirty="0"/>
          </a:p>
        </p:txBody>
      </p:sp>
      <p:sp>
        <p:nvSpPr>
          <p:cNvPr id="25" name="Text 23"/>
          <p:cNvSpPr/>
          <p:nvPr/>
        </p:nvSpPr>
        <p:spPr>
          <a:xfrm>
            <a:off x="4617720" y="2724912"/>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A Survey on Software Smells</a:t>
            </a:r>
            <a:endParaRPr lang="en-US" sz="920" dirty="0"/>
          </a:p>
        </p:txBody>
      </p:sp>
      <p:sp>
        <p:nvSpPr>
          <p:cNvPr id="26" name="Shape 24"/>
          <p:cNvSpPr/>
          <p:nvPr/>
        </p:nvSpPr>
        <p:spPr>
          <a:xfrm>
            <a:off x="4617720" y="3090672"/>
            <a:ext cx="3977640" cy="9144"/>
          </a:xfrm>
          <a:prstGeom prst="rect">
            <a:avLst/>
          </a:prstGeom>
          <a:solidFill>
            <a:srgbClr val="D8DEE6"/>
          </a:solidFill>
          <a:ln w="12700">
            <a:solidFill>
              <a:srgbClr val="D8DEE6"/>
            </a:solidFill>
            <a:prstDash val="solid"/>
          </a:ln>
        </p:spPr>
      </p:sp>
      <p:sp>
        <p:nvSpPr>
          <p:cNvPr id="27" name="Text 25"/>
          <p:cNvSpPr/>
          <p:nvPr/>
        </p:nvSpPr>
        <p:spPr>
          <a:xfrm>
            <a:off x="4617720" y="3191256"/>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Arcelli Fontana et al. (2017); Granchelli et al. (2017)</a:t>
            </a:r>
            <a:endParaRPr lang="en-US" sz="1050" dirty="0"/>
          </a:p>
        </p:txBody>
      </p:sp>
      <p:sp>
        <p:nvSpPr>
          <p:cNvPr id="28" name="Text 26"/>
          <p:cNvSpPr/>
          <p:nvPr/>
        </p:nvSpPr>
        <p:spPr>
          <a:xfrm>
            <a:off x="4617720" y="3438144"/>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Arcan and MicroART architectural smell / architecture recovery tools</a:t>
            </a:r>
            <a:endParaRPr lang="en-US" sz="920" dirty="0"/>
          </a:p>
        </p:txBody>
      </p:sp>
      <p:sp>
        <p:nvSpPr>
          <p:cNvPr id="29" name="Shape 27"/>
          <p:cNvSpPr/>
          <p:nvPr/>
        </p:nvSpPr>
        <p:spPr>
          <a:xfrm>
            <a:off x="4617720" y="3803904"/>
            <a:ext cx="3977640" cy="9144"/>
          </a:xfrm>
          <a:prstGeom prst="rect">
            <a:avLst/>
          </a:prstGeom>
          <a:solidFill>
            <a:srgbClr val="D8DEE6"/>
          </a:solidFill>
          <a:ln w="12700">
            <a:solidFill>
              <a:srgbClr val="D8DEE6"/>
            </a:solidFill>
            <a:prstDash val="solid"/>
          </a:ln>
        </p:spPr>
      </p:sp>
      <p:sp>
        <p:nvSpPr>
          <p:cNvPr id="30" name="Text 28"/>
          <p:cNvSpPr/>
          <p:nvPr/>
        </p:nvSpPr>
        <p:spPr>
          <a:xfrm>
            <a:off x="4617720" y="3904488"/>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Tarjan (1972); Brandes (2001)</a:t>
            </a:r>
            <a:endParaRPr lang="en-US" sz="1050" dirty="0"/>
          </a:p>
        </p:txBody>
      </p:sp>
      <p:sp>
        <p:nvSpPr>
          <p:cNvPr id="31" name="Text 29"/>
          <p:cNvSpPr/>
          <p:nvPr/>
        </p:nvSpPr>
        <p:spPr>
          <a:xfrm>
            <a:off x="4617720" y="4151376"/>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Strongly connected components and betweenness centrality graph algorithms</a:t>
            </a:r>
            <a:endParaRPr lang="en-US" sz="920" dirty="0"/>
          </a:p>
        </p:txBody>
      </p:sp>
      <p:sp>
        <p:nvSpPr>
          <p:cNvPr id="32" name="Shape 30"/>
          <p:cNvSpPr/>
          <p:nvPr/>
        </p:nvSpPr>
        <p:spPr>
          <a:xfrm>
            <a:off x="548640" y="4572000"/>
            <a:ext cx="457200" cy="36576"/>
          </a:xfrm>
          <a:prstGeom prst="rect">
            <a:avLst/>
          </a:prstGeom>
          <a:solidFill>
            <a:srgbClr val="0D9488"/>
          </a:solidFill>
          <a:ln w="12700">
            <a:solidFill>
              <a:srgbClr val="0D9488"/>
            </a:solidFill>
            <a:prstDash val="solid"/>
          </a:ln>
        </p:spPr>
      </p:sp>
      <p:sp>
        <p:nvSpPr>
          <p:cNvPr id="34" name="Text 32"/>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13 / 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257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Worked example: microservice-recruit</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393192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5" name="Text 3"/>
          <p:cNvSpPr/>
          <p:nvPr/>
        </p:nvSpPr>
        <p:spPr>
          <a:xfrm>
            <a:off x="548640" y="1353312"/>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6×</a:t>
            </a:r>
            <a:endParaRPr lang="en-US" sz="1100" dirty="0"/>
          </a:p>
        </p:txBody>
      </p:sp>
      <p:sp>
        <p:nvSpPr>
          <p:cNvPr id="6" name="Text 4"/>
          <p:cNvSpPr/>
          <p:nvPr/>
        </p:nvSpPr>
        <p:spPr>
          <a:xfrm>
            <a:off x="1005840" y="1353312"/>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46120" y="1353312"/>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548640" y="1618488"/>
            <a:ext cx="3931920" cy="10973"/>
          </a:xfrm>
          <a:prstGeom prst="rect">
            <a:avLst/>
          </a:prstGeom>
          <a:solidFill>
            <a:srgbClr val="D8DEE6"/>
          </a:solidFill>
          <a:ln w="12700">
            <a:solidFill>
              <a:srgbClr val="D8DEE6"/>
            </a:solidFill>
            <a:prstDash val="solid"/>
          </a:ln>
        </p:spPr>
        <p:txBody>
          <a:bodyPr/>
          <a:lstStyle/>
          <a:p>
            <a:endParaRPr lang="en-US"/>
          </a:p>
        </p:txBody>
      </p:sp>
      <p:sp>
        <p:nvSpPr>
          <p:cNvPr id="9" name="Text 7"/>
          <p:cNvSpPr/>
          <p:nvPr/>
        </p:nvSpPr>
        <p:spPr>
          <a:xfrm>
            <a:off x="548640" y="1655064"/>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1005840" y="1655064"/>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46120" y="1655064"/>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548640" y="1920240"/>
            <a:ext cx="3931920" cy="10973"/>
          </a:xfrm>
          <a:prstGeom prst="rect">
            <a:avLst/>
          </a:prstGeom>
          <a:solidFill>
            <a:srgbClr val="D8DEE6"/>
          </a:solidFill>
          <a:ln w="12700">
            <a:solidFill>
              <a:srgbClr val="D8DEE6"/>
            </a:solidFill>
            <a:prstDash val="solid"/>
          </a:ln>
        </p:spPr>
        <p:txBody>
          <a:bodyPr/>
          <a:lstStyle/>
          <a:p>
            <a:endParaRPr lang="en-US"/>
          </a:p>
        </p:txBody>
      </p:sp>
      <p:sp>
        <p:nvSpPr>
          <p:cNvPr id="13" name="Text 11"/>
          <p:cNvSpPr/>
          <p:nvPr/>
        </p:nvSpPr>
        <p:spPr>
          <a:xfrm>
            <a:off x="548640" y="1956816"/>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1005840" y="1956816"/>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46120" y="1956816"/>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548640" y="2221992"/>
            <a:ext cx="3931920" cy="10973"/>
          </a:xfrm>
          <a:prstGeom prst="rect">
            <a:avLst/>
          </a:prstGeom>
          <a:solidFill>
            <a:srgbClr val="D8DEE6"/>
          </a:solidFill>
          <a:ln w="12700">
            <a:solidFill>
              <a:srgbClr val="D8DEE6"/>
            </a:solidFill>
            <a:prstDash val="solid"/>
          </a:ln>
        </p:spPr>
        <p:txBody>
          <a:bodyPr/>
          <a:lstStyle/>
          <a:p>
            <a:endParaRPr lang="en-US"/>
          </a:p>
        </p:txBody>
      </p:sp>
      <p:sp>
        <p:nvSpPr>
          <p:cNvPr id="17" name="Text 15"/>
          <p:cNvSpPr/>
          <p:nvPr/>
        </p:nvSpPr>
        <p:spPr>
          <a:xfrm>
            <a:off x="548640" y="2258568"/>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18" name="Text 16"/>
          <p:cNvSpPr/>
          <p:nvPr/>
        </p:nvSpPr>
        <p:spPr>
          <a:xfrm>
            <a:off x="1005840" y="2258568"/>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46120" y="2258568"/>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20" name="Shape 18"/>
          <p:cNvSpPr/>
          <p:nvPr/>
        </p:nvSpPr>
        <p:spPr>
          <a:xfrm>
            <a:off x="548640" y="2523744"/>
            <a:ext cx="3931920" cy="10973"/>
          </a:xfrm>
          <a:prstGeom prst="rect">
            <a:avLst/>
          </a:prstGeom>
          <a:solidFill>
            <a:srgbClr val="D8DEE6"/>
          </a:solidFill>
          <a:ln w="12700">
            <a:solidFill>
              <a:srgbClr val="D8DEE6"/>
            </a:solidFill>
            <a:prstDash val="solid"/>
          </a:ln>
        </p:spPr>
        <p:txBody>
          <a:bodyPr/>
          <a:lstStyle/>
          <a:p>
            <a:endParaRPr lang="en-US"/>
          </a:p>
        </p:txBody>
      </p:sp>
      <p:sp>
        <p:nvSpPr>
          <p:cNvPr id="21" name="Text 19"/>
          <p:cNvSpPr/>
          <p:nvPr/>
        </p:nvSpPr>
        <p:spPr>
          <a:xfrm>
            <a:off x="548640" y="2560320"/>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005840" y="2560320"/>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46120" y="2560320"/>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Shape 22"/>
          <p:cNvSpPr/>
          <p:nvPr/>
        </p:nvSpPr>
        <p:spPr>
          <a:xfrm>
            <a:off x="548640" y="2825496"/>
            <a:ext cx="3931920" cy="10973"/>
          </a:xfrm>
          <a:prstGeom prst="rect">
            <a:avLst/>
          </a:prstGeom>
          <a:solidFill>
            <a:srgbClr val="D8DEE6"/>
          </a:solidFill>
          <a:ln w="12700">
            <a:solidFill>
              <a:srgbClr val="D8DEE6"/>
            </a:solidFill>
            <a:prstDash val="solid"/>
          </a:ln>
        </p:spPr>
        <p:txBody>
          <a:bodyPr/>
          <a:lstStyle/>
          <a:p>
            <a:endParaRPr lang="en-US"/>
          </a:p>
        </p:txBody>
      </p:sp>
      <p:sp>
        <p:nvSpPr>
          <p:cNvPr id="25" name="Text 23"/>
          <p:cNvSpPr/>
          <p:nvPr/>
        </p:nvSpPr>
        <p:spPr>
          <a:xfrm>
            <a:off x="548640" y="2944368"/>
            <a:ext cx="3931920" cy="292608"/>
          </a:xfrm>
          <a:prstGeom prst="rect">
            <a:avLst/>
          </a:prstGeom>
          <a:noFill/>
          <a:ln/>
        </p:spPr>
        <p:txBody>
          <a:bodyPr wrap="square" lIns="0" tIns="0" rIns="0" bIns="0" rtlCol="0" anchor="ctr"/>
          <a:lstStyle/>
          <a:p>
            <a:pPr marL="0" indent="0">
              <a:buNone/>
            </a:pPr>
            <a:r>
              <a:rPr lang="en-US" sz="1150" b="1" dirty="0">
                <a:solidFill>
                  <a:srgbClr val="0F2A44"/>
                </a:solidFill>
                <a:latin typeface="Calibri" pitchFamily="34" charset="0"/>
                <a:ea typeface="Calibri" pitchFamily="34" charset="-122"/>
                <a:cs typeface="Calibri" pitchFamily="34" charset="-120"/>
              </a:rPr>
              <a:t>Total penalty 49  →  category clamps at 0 / 40</a:t>
            </a:r>
            <a:endParaRPr lang="en-US" sz="1150" dirty="0"/>
          </a:p>
        </p:txBody>
      </p:sp>
      <p:sp>
        <p:nvSpPr>
          <p:cNvPr id="26" name="Text 24"/>
          <p:cNvSpPr/>
          <p:nvPr/>
        </p:nvSpPr>
        <p:spPr>
          <a:xfrm>
            <a:off x="548640" y="3429000"/>
            <a:ext cx="3931920" cy="109728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Anti-pattern load clamps AP to 0</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Architecture loses 9 to dependency-graph coupling</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Code Quality 8 to smell density</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Service Sizing 3 to one nano service</a:t>
            </a:r>
            <a:endParaRPr lang="en-US" sz="1000" dirty="0"/>
          </a:p>
        </p:txBody>
      </p:sp>
      <p:sp>
        <p:nvSpPr>
          <p:cNvPr id="27" name="Text 25"/>
          <p:cNvSpPr/>
          <p:nvPr/>
        </p:nvSpPr>
        <p:spPr>
          <a:xfrm>
            <a:off x="4937760" y="987552"/>
            <a:ext cx="36576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8" name="Text 26"/>
          <p:cNvSpPr/>
          <p:nvPr/>
        </p:nvSpPr>
        <p:spPr>
          <a:xfrm>
            <a:off x="4937760" y="13533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9" name="Shape 27"/>
          <p:cNvSpPr/>
          <p:nvPr/>
        </p:nvSpPr>
        <p:spPr>
          <a:xfrm>
            <a:off x="6263640" y="1389888"/>
            <a:ext cx="1691640" cy="219456"/>
          </a:xfrm>
          <a:prstGeom prst="rect">
            <a:avLst/>
          </a:prstGeom>
          <a:solidFill>
            <a:srgbClr val="D8DEE6"/>
          </a:solidFill>
          <a:ln w="12700">
            <a:solidFill>
              <a:srgbClr val="D8DEE6"/>
            </a:solidFill>
            <a:prstDash val="solid"/>
          </a:ln>
        </p:spPr>
        <p:txBody>
          <a:bodyPr/>
          <a:lstStyle/>
          <a:p>
            <a:endParaRPr lang="en-US"/>
          </a:p>
        </p:txBody>
      </p:sp>
      <p:sp>
        <p:nvSpPr>
          <p:cNvPr id="30" name="Text 28"/>
          <p:cNvSpPr/>
          <p:nvPr/>
        </p:nvSpPr>
        <p:spPr>
          <a:xfrm>
            <a:off x="8028432" y="13533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0 / 40</a:t>
            </a:r>
            <a:endParaRPr lang="en-US" sz="1000" dirty="0"/>
          </a:p>
        </p:txBody>
      </p:sp>
      <p:sp>
        <p:nvSpPr>
          <p:cNvPr id="31" name="Text 29"/>
          <p:cNvSpPr/>
          <p:nvPr/>
        </p:nvSpPr>
        <p:spPr>
          <a:xfrm>
            <a:off x="4937760" y="18105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2" name="Shape 30"/>
          <p:cNvSpPr/>
          <p:nvPr/>
        </p:nvSpPr>
        <p:spPr>
          <a:xfrm>
            <a:off x="6263640" y="1847088"/>
            <a:ext cx="1691640" cy="219456"/>
          </a:xfrm>
          <a:prstGeom prst="rect">
            <a:avLst/>
          </a:prstGeom>
          <a:solidFill>
            <a:srgbClr val="D8DEE6"/>
          </a:solidFill>
          <a:ln w="12700">
            <a:solidFill>
              <a:srgbClr val="D8DEE6"/>
            </a:solidFill>
            <a:prstDash val="solid"/>
          </a:ln>
        </p:spPr>
        <p:txBody>
          <a:bodyPr/>
          <a:lstStyle/>
          <a:p>
            <a:endParaRPr lang="en-US"/>
          </a:p>
        </p:txBody>
      </p:sp>
      <p:sp>
        <p:nvSpPr>
          <p:cNvPr id="33" name="Shape 31"/>
          <p:cNvSpPr/>
          <p:nvPr/>
        </p:nvSpPr>
        <p:spPr>
          <a:xfrm>
            <a:off x="6263640" y="1847088"/>
            <a:ext cx="1014984" cy="219456"/>
          </a:xfrm>
          <a:prstGeom prst="rect">
            <a:avLst/>
          </a:prstGeom>
          <a:solidFill>
            <a:srgbClr val="D97706"/>
          </a:solidFill>
          <a:ln w="12700">
            <a:solidFill>
              <a:srgbClr val="D97706"/>
            </a:solidFill>
            <a:prstDash val="solid"/>
          </a:ln>
        </p:spPr>
        <p:txBody>
          <a:bodyPr/>
          <a:lstStyle/>
          <a:p>
            <a:endParaRPr lang="en-US"/>
          </a:p>
        </p:txBody>
      </p:sp>
      <p:sp>
        <p:nvSpPr>
          <p:cNvPr id="34" name="Text 32"/>
          <p:cNvSpPr/>
          <p:nvPr/>
        </p:nvSpPr>
        <p:spPr>
          <a:xfrm>
            <a:off x="8028432" y="18105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12 / 20</a:t>
            </a:r>
            <a:endParaRPr lang="en-US" sz="1000" dirty="0"/>
          </a:p>
        </p:txBody>
      </p:sp>
      <p:sp>
        <p:nvSpPr>
          <p:cNvPr id="35" name="Text 33"/>
          <p:cNvSpPr/>
          <p:nvPr/>
        </p:nvSpPr>
        <p:spPr>
          <a:xfrm>
            <a:off x="4937760" y="22677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6" name="Shape 34"/>
          <p:cNvSpPr/>
          <p:nvPr/>
        </p:nvSpPr>
        <p:spPr>
          <a:xfrm>
            <a:off x="6263640" y="2304288"/>
            <a:ext cx="1691640" cy="219456"/>
          </a:xfrm>
          <a:prstGeom prst="rect">
            <a:avLst/>
          </a:prstGeom>
          <a:solidFill>
            <a:srgbClr val="D8DEE6"/>
          </a:solidFill>
          <a:ln w="12700">
            <a:solidFill>
              <a:srgbClr val="D8DEE6"/>
            </a:solidFill>
            <a:prstDash val="solid"/>
          </a:ln>
        </p:spPr>
        <p:txBody>
          <a:bodyPr/>
          <a:lstStyle/>
          <a:p>
            <a:endParaRPr lang="en-US"/>
          </a:p>
        </p:txBody>
      </p:sp>
      <p:sp>
        <p:nvSpPr>
          <p:cNvPr id="37" name="Shape 35"/>
          <p:cNvSpPr/>
          <p:nvPr/>
        </p:nvSpPr>
        <p:spPr>
          <a:xfrm>
            <a:off x="6263640" y="2304288"/>
            <a:ext cx="1082650" cy="219456"/>
          </a:xfrm>
          <a:prstGeom prst="rect">
            <a:avLst/>
          </a:prstGeom>
          <a:solidFill>
            <a:srgbClr val="1C4E80"/>
          </a:solidFill>
          <a:ln w="12700">
            <a:solidFill>
              <a:srgbClr val="1C4E80"/>
            </a:solidFill>
            <a:prstDash val="solid"/>
          </a:ln>
        </p:spPr>
        <p:txBody>
          <a:bodyPr/>
          <a:lstStyle/>
          <a:p>
            <a:endParaRPr lang="en-US"/>
          </a:p>
        </p:txBody>
      </p:sp>
      <p:sp>
        <p:nvSpPr>
          <p:cNvPr id="38" name="Text 36"/>
          <p:cNvSpPr/>
          <p:nvPr/>
        </p:nvSpPr>
        <p:spPr>
          <a:xfrm>
            <a:off x="8028432" y="22677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16 / 25</a:t>
            </a:r>
            <a:endParaRPr lang="en-US" sz="1000" dirty="0"/>
          </a:p>
        </p:txBody>
      </p:sp>
      <p:sp>
        <p:nvSpPr>
          <p:cNvPr id="39" name="Text 37"/>
          <p:cNvSpPr/>
          <p:nvPr/>
        </p:nvSpPr>
        <p:spPr>
          <a:xfrm>
            <a:off x="4937760" y="27249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40" name="Shape 38"/>
          <p:cNvSpPr/>
          <p:nvPr/>
        </p:nvSpPr>
        <p:spPr>
          <a:xfrm>
            <a:off x="6263640" y="2761488"/>
            <a:ext cx="1691640" cy="219456"/>
          </a:xfrm>
          <a:prstGeom prst="rect">
            <a:avLst/>
          </a:prstGeom>
          <a:solidFill>
            <a:srgbClr val="D8DEE6"/>
          </a:solidFill>
          <a:ln w="12700">
            <a:solidFill>
              <a:srgbClr val="D8DEE6"/>
            </a:solidFill>
            <a:prstDash val="solid"/>
          </a:ln>
        </p:spPr>
        <p:txBody>
          <a:bodyPr/>
          <a:lstStyle/>
          <a:p>
            <a:endParaRPr lang="en-US"/>
          </a:p>
        </p:txBody>
      </p:sp>
      <p:sp>
        <p:nvSpPr>
          <p:cNvPr id="41" name="Shape 39"/>
          <p:cNvSpPr/>
          <p:nvPr/>
        </p:nvSpPr>
        <p:spPr>
          <a:xfrm>
            <a:off x="6263640" y="2761488"/>
            <a:ext cx="1353312" cy="219456"/>
          </a:xfrm>
          <a:prstGeom prst="rect">
            <a:avLst/>
          </a:prstGeom>
          <a:solidFill>
            <a:srgbClr val="0D9488"/>
          </a:solidFill>
          <a:ln w="12700">
            <a:solidFill>
              <a:srgbClr val="0D9488"/>
            </a:solidFill>
            <a:prstDash val="solid"/>
          </a:ln>
        </p:spPr>
        <p:txBody>
          <a:bodyPr/>
          <a:lstStyle/>
          <a:p>
            <a:endParaRPr lang="en-US"/>
          </a:p>
        </p:txBody>
      </p:sp>
      <p:sp>
        <p:nvSpPr>
          <p:cNvPr id="42" name="Text 40"/>
          <p:cNvSpPr/>
          <p:nvPr/>
        </p:nvSpPr>
        <p:spPr>
          <a:xfrm>
            <a:off x="8028432" y="27249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12 / 15</a:t>
            </a:r>
            <a:endParaRPr lang="en-US" sz="1000" dirty="0"/>
          </a:p>
        </p:txBody>
      </p:sp>
      <p:sp>
        <p:nvSpPr>
          <p:cNvPr id="43" name="Text 41"/>
          <p:cNvSpPr/>
          <p:nvPr/>
        </p:nvSpPr>
        <p:spPr>
          <a:xfrm>
            <a:off x="4937760" y="3429000"/>
            <a:ext cx="3657600" cy="777240"/>
          </a:xfrm>
          <a:prstGeom prst="rect">
            <a:avLst/>
          </a:prstGeom>
          <a:noFill/>
          <a:ln/>
        </p:spPr>
        <p:txBody>
          <a:bodyPr wrap="square" lIns="0" tIns="0" rIns="0" bIns="0" rtlCol="0" anchor="ctr"/>
          <a:lstStyle/>
          <a:p>
            <a:pPr marL="0" indent="0">
              <a:buNone/>
            </a:pPr>
            <a:r>
              <a:rPr lang="en-US" sz="4000" b="1" dirty="0">
                <a:solidFill>
                  <a:srgbClr val="DC2626"/>
                </a:solidFill>
                <a:latin typeface="Calibri" pitchFamily="34" charset="0"/>
                <a:ea typeface="Calibri" pitchFamily="34" charset="-122"/>
                <a:cs typeface="Calibri" pitchFamily="34" charset="-120"/>
              </a:rPr>
              <a:t>40</a:t>
            </a:r>
            <a:r>
              <a:rPr lang="en-US" sz="1400" b="1" dirty="0">
                <a:solidFill>
                  <a:srgbClr val="0F2A44"/>
                </a:solidFill>
                <a:latin typeface="Calibri" pitchFamily="34" charset="0"/>
                <a:ea typeface="Calibri" pitchFamily="34" charset="-122"/>
                <a:cs typeface="Calibri" pitchFamily="34" charset="-120"/>
              </a:rPr>
              <a:t>  / 100  ·  Grade F</a:t>
            </a:r>
            <a:endParaRPr lang="en-US" sz="4000" dirty="0"/>
          </a:p>
        </p:txBody>
      </p:sp>
      <p:sp>
        <p:nvSpPr>
          <p:cNvPr id="45" name="Text 43"/>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Related work positioning</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310896"/>
          </a:xfrm>
          <a:prstGeom prst="rect">
            <a:avLst/>
          </a:prstGeom>
          <a:noFill/>
          <a:ln/>
        </p:spPr>
        <p:txBody>
          <a:bodyPr wrap="square" lIns="0" tIns="0" rIns="0" bIns="0" rtlCol="0" anchor="ctr"/>
          <a:lstStyle/>
          <a:p>
            <a:pPr marL="0" indent="0">
              <a:buNone/>
            </a:pPr>
            <a:r>
              <a:rPr lang="en-US" sz="1250" i="1" dirty="0">
                <a:solidFill>
                  <a:srgbClr val="64748B"/>
                </a:solidFill>
                <a:latin typeface="Calibri" pitchFamily="34" charset="0"/>
                <a:ea typeface="Calibri" pitchFamily="34" charset="-122"/>
                <a:cs typeface="Calibri" pitchFamily="34" charset="-120"/>
              </a:rPr>
              <a:t>The gap is not detection alone; it is actionable, evidence-based architectural diagnosis</a:t>
            </a:r>
            <a:endParaRPr lang="en-US" sz="1250" dirty="0"/>
          </a:p>
        </p:txBody>
      </p:sp>
      <p:sp>
        <p:nvSpPr>
          <p:cNvPr id="5" name="Text 3"/>
          <p:cNvSpPr/>
          <p:nvPr/>
        </p:nvSpPr>
        <p:spPr>
          <a:xfrm>
            <a:off x="548640" y="1536192"/>
            <a:ext cx="1234440" cy="256032"/>
          </a:xfrm>
          <a:prstGeom prst="rect">
            <a:avLst/>
          </a:prstGeom>
          <a:noFill/>
          <a:ln/>
        </p:spPr>
        <p:txBody>
          <a:bodyPr wrap="square" lIns="0" tIns="0" rIns="0" bIns="0" rtlCol="0" anchor="ctr"/>
          <a:lstStyle/>
          <a:p>
            <a:pPr marL="0" indent="0">
              <a:buNone/>
            </a:pPr>
            <a:r>
              <a:rPr lang="en-US" sz="850" b="1" kern="0" spc="150" dirty="0">
                <a:solidFill>
                  <a:srgbClr val="0F2A44"/>
                </a:solidFill>
                <a:latin typeface="Calibri" pitchFamily="34" charset="0"/>
                <a:ea typeface="Calibri" pitchFamily="34" charset="-122"/>
                <a:cs typeface="Calibri" pitchFamily="34" charset="-120"/>
              </a:rPr>
              <a:t>TOOL</a:t>
            </a:r>
            <a:endParaRPr lang="en-US" sz="850" dirty="0"/>
          </a:p>
        </p:txBody>
      </p:sp>
      <p:sp>
        <p:nvSpPr>
          <p:cNvPr id="6" name="Text 4"/>
          <p:cNvSpPr/>
          <p:nvPr/>
        </p:nvSpPr>
        <p:spPr>
          <a:xfrm>
            <a:off x="1783080" y="1536192"/>
            <a:ext cx="1828800" cy="256032"/>
          </a:xfrm>
          <a:prstGeom prst="rect">
            <a:avLst/>
          </a:prstGeom>
          <a:noFill/>
          <a:ln/>
        </p:spPr>
        <p:txBody>
          <a:bodyPr wrap="square" lIns="0" tIns="0" rIns="0" bIns="0" rtlCol="0" anchor="ctr"/>
          <a:lstStyle/>
          <a:p>
            <a:pPr marL="0" indent="0">
              <a:buNone/>
            </a:pPr>
            <a:r>
              <a:rPr lang="en-US" sz="850" b="1" kern="0" spc="150" dirty="0">
                <a:solidFill>
                  <a:srgbClr val="0F2A44"/>
                </a:solidFill>
                <a:latin typeface="Calibri" pitchFamily="34" charset="0"/>
                <a:ea typeface="Calibri" pitchFamily="34" charset="-122"/>
                <a:cs typeface="Calibri" pitchFamily="34" charset="-120"/>
              </a:rPr>
              <a:t>PRIMARY FOCUS</a:t>
            </a:r>
            <a:endParaRPr lang="en-US" sz="850" dirty="0"/>
          </a:p>
        </p:txBody>
      </p:sp>
      <p:sp>
        <p:nvSpPr>
          <p:cNvPr id="7" name="Text 5"/>
          <p:cNvSpPr/>
          <p:nvPr/>
        </p:nvSpPr>
        <p:spPr>
          <a:xfrm>
            <a:off x="3703320" y="1536192"/>
            <a:ext cx="1600200" cy="256032"/>
          </a:xfrm>
          <a:prstGeom prst="rect">
            <a:avLst/>
          </a:prstGeom>
          <a:noFill/>
          <a:ln/>
        </p:spPr>
        <p:txBody>
          <a:bodyPr wrap="square" lIns="0" tIns="0" rIns="0" bIns="0" rtlCol="0" anchor="ctr"/>
          <a:lstStyle/>
          <a:p>
            <a:pPr marL="0" indent="0">
              <a:buNone/>
            </a:pPr>
            <a:r>
              <a:rPr lang="en-US" sz="850" b="1" kern="0" spc="150" dirty="0">
                <a:solidFill>
                  <a:srgbClr val="0F2A44"/>
                </a:solidFill>
                <a:latin typeface="Calibri" pitchFamily="34" charset="0"/>
                <a:ea typeface="Calibri" pitchFamily="34" charset="-122"/>
                <a:cs typeface="Calibri" pitchFamily="34" charset="-120"/>
              </a:rPr>
              <a:t>SERVICE BOUNDARY</a:t>
            </a:r>
            <a:endParaRPr lang="en-US" sz="850" dirty="0"/>
          </a:p>
        </p:txBody>
      </p:sp>
      <p:sp>
        <p:nvSpPr>
          <p:cNvPr id="8" name="Text 6"/>
          <p:cNvSpPr/>
          <p:nvPr/>
        </p:nvSpPr>
        <p:spPr>
          <a:xfrm>
            <a:off x="5440680" y="1536192"/>
            <a:ext cx="1234440" cy="256032"/>
          </a:xfrm>
          <a:prstGeom prst="rect">
            <a:avLst/>
          </a:prstGeom>
          <a:noFill/>
          <a:ln/>
        </p:spPr>
        <p:txBody>
          <a:bodyPr wrap="square" lIns="0" tIns="0" rIns="0" bIns="0" rtlCol="0" anchor="ctr"/>
          <a:lstStyle/>
          <a:p>
            <a:pPr marL="0" indent="0">
              <a:buNone/>
            </a:pPr>
            <a:r>
              <a:rPr lang="en-US" sz="850" b="1" kern="0" spc="150" dirty="0">
                <a:solidFill>
                  <a:srgbClr val="0F2A44"/>
                </a:solidFill>
                <a:latin typeface="Calibri" pitchFamily="34" charset="0"/>
                <a:ea typeface="Calibri" pitchFamily="34" charset="-122"/>
                <a:cs typeface="Calibri" pitchFamily="34" charset="-120"/>
              </a:rPr>
              <a:t>CODE EVIDENCE</a:t>
            </a:r>
            <a:endParaRPr lang="en-US" sz="850" dirty="0"/>
          </a:p>
        </p:txBody>
      </p:sp>
      <p:sp>
        <p:nvSpPr>
          <p:cNvPr id="9" name="Text 7"/>
          <p:cNvSpPr/>
          <p:nvPr/>
        </p:nvSpPr>
        <p:spPr>
          <a:xfrm>
            <a:off x="6720840" y="1536192"/>
            <a:ext cx="1874520" cy="256032"/>
          </a:xfrm>
          <a:prstGeom prst="rect">
            <a:avLst/>
          </a:prstGeom>
          <a:noFill/>
          <a:ln/>
        </p:spPr>
        <p:txBody>
          <a:bodyPr wrap="square" lIns="0" tIns="0" rIns="0" bIns="0" rtlCol="0" anchor="ctr"/>
          <a:lstStyle/>
          <a:p>
            <a:pPr marL="0" indent="0">
              <a:buNone/>
            </a:pPr>
            <a:r>
              <a:rPr lang="en-US" sz="850" b="1" kern="0" spc="150" dirty="0">
                <a:solidFill>
                  <a:srgbClr val="0F2A44"/>
                </a:solidFill>
                <a:latin typeface="Calibri" pitchFamily="34" charset="0"/>
                <a:ea typeface="Calibri" pitchFamily="34" charset="-122"/>
                <a:cs typeface="Calibri" pitchFamily="34" charset="-120"/>
              </a:rPr>
              <a:t>DEVELOPER OUTPUT</a:t>
            </a:r>
            <a:endParaRPr lang="en-US" sz="850" dirty="0"/>
          </a:p>
        </p:txBody>
      </p:sp>
      <p:sp>
        <p:nvSpPr>
          <p:cNvPr id="10" name="Shape 8"/>
          <p:cNvSpPr/>
          <p:nvPr/>
        </p:nvSpPr>
        <p:spPr>
          <a:xfrm>
            <a:off x="548640" y="1847088"/>
            <a:ext cx="8046720" cy="13716"/>
          </a:xfrm>
          <a:prstGeom prst="rect">
            <a:avLst/>
          </a:prstGeom>
          <a:solidFill>
            <a:srgbClr val="D8DEE6"/>
          </a:solidFill>
          <a:ln w="12700">
            <a:solidFill>
              <a:srgbClr val="D8DEE6"/>
            </a:solidFill>
            <a:prstDash val="solid"/>
          </a:ln>
        </p:spPr>
      </p:sp>
      <p:sp>
        <p:nvSpPr>
          <p:cNvPr id="11" name="Text 9"/>
          <p:cNvSpPr/>
          <p:nvPr/>
        </p:nvSpPr>
        <p:spPr>
          <a:xfrm>
            <a:off x="548640" y="1993392"/>
            <a:ext cx="1234440" cy="384048"/>
          </a:xfrm>
          <a:prstGeom prst="rect">
            <a:avLst/>
          </a:prstGeom>
          <a:noFill/>
          <a:ln/>
        </p:spPr>
        <p:txBody>
          <a:bodyPr wrap="square" lIns="0" tIns="0" rIns="0" bIns="0" rtlCol="0" anchor="ctr">
            <a:normAutofit/>
          </a:bodyPr>
          <a:lstStyle/>
          <a:p>
            <a:pPr marL="0" indent="0">
              <a:buNone/>
            </a:pPr>
            <a:r>
              <a:rPr lang="en-US" sz="1050" b="1" dirty="0">
                <a:solidFill>
                  <a:srgbClr val="1E293B"/>
                </a:solidFill>
                <a:latin typeface="Calibri" pitchFamily="34" charset="0"/>
                <a:ea typeface="Calibri" pitchFamily="34" charset="-122"/>
                <a:cs typeface="Calibri" pitchFamily="34" charset="-120"/>
              </a:rPr>
              <a:t>Arcan</a:t>
            </a:r>
            <a:endParaRPr lang="en-US" sz="1050" dirty="0"/>
          </a:p>
        </p:txBody>
      </p:sp>
      <p:sp>
        <p:nvSpPr>
          <p:cNvPr id="12" name="Text 10"/>
          <p:cNvSpPr/>
          <p:nvPr/>
        </p:nvSpPr>
        <p:spPr>
          <a:xfrm>
            <a:off x="1783080" y="1993392"/>
            <a:ext cx="18288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Architectural smells</a:t>
            </a:r>
            <a:endParaRPr lang="en-US" sz="950" dirty="0"/>
          </a:p>
        </p:txBody>
      </p:sp>
      <p:sp>
        <p:nvSpPr>
          <p:cNvPr id="13" name="Text 11"/>
          <p:cNvSpPr/>
          <p:nvPr/>
        </p:nvSpPr>
        <p:spPr>
          <a:xfrm>
            <a:off x="3703320" y="1993392"/>
            <a:ext cx="16002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Manual/system model</a:t>
            </a:r>
            <a:endParaRPr lang="en-US" sz="950" dirty="0"/>
          </a:p>
        </p:txBody>
      </p:sp>
      <p:sp>
        <p:nvSpPr>
          <p:cNvPr id="14" name="Text 12"/>
          <p:cNvSpPr/>
          <p:nvPr/>
        </p:nvSpPr>
        <p:spPr>
          <a:xfrm>
            <a:off x="5440680" y="1993392"/>
            <a:ext cx="123444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Limited</a:t>
            </a:r>
            <a:endParaRPr lang="en-US" sz="950" dirty="0"/>
          </a:p>
        </p:txBody>
      </p:sp>
      <p:sp>
        <p:nvSpPr>
          <p:cNvPr id="15" name="Text 13"/>
          <p:cNvSpPr/>
          <p:nvPr/>
        </p:nvSpPr>
        <p:spPr>
          <a:xfrm>
            <a:off x="6720840" y="1993392"/>
            <a:ext cx="187452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Tool output</a:t>
            </a:r>
            <a:endParaRPr lang="en-US" sz="950" dirty="0"/>
          </a:p>
        </p:txBody>
      </p:sp>
      <p:sp>
        <p:nvSpPr>
          <p:cNvPr id="16" name="Shape 14"/>
          <p:cNvSpPr/>
          <p:nvPr/>
        </p:nvSpPr>
        <p:spPr>
          <a:xfrm>
            <a:off x="548640" y="2432304"/>
            <a:ext cx="8046720" cy="9144"/>
          </a:xfrm>
          <a:prstGeom prst="rect">
            <a:avLst/>
          </a:prstGeom>
          <a:solidFill>
            <a:srgbClr val="D8DEE6"/>
          </a:solidFill>
          <a:ln w="12700">
            <a:solidFill>
              <a:srgbClr val="D8DEE6"/>
            </a:solidFill>
            <a:prstDash val="solid"/>
          </a:ln>
        </p:spPr>
      </p:sp>
      <p:sp>
        <p:nvSpPr>
          <p:cNvPr id="17" name="Text 15"/>
          <p:cNvSpPr/>
          <p:nvPr/>
        </p:nvSpPr>
        <p:spPr>
          <a:xfrm>
            <a:off x="548640" y="2523744"/>
            <a:ext cx="1234440" cy="384048"/>
          </a:xfrm>
          <a:prstGeom prst="rect">
            <a:avLst/>
          </a:prstGeom>
          <a:noFill/>
          <a:ln/>
        </p:spPr>
        <p:txBody>
          <a:bodyPr wrap="square" lIns="0" tIns="0" rIns="0" bIns="0" rtlCol="0" anchor="ctr">
            <a:normAutofit/>
          </a:bodyPr>
          <a:lstStyle/>
          <a:p>
            <a:pPr marL="0" indent="0">
              <a:buNone/>
            </a:pPr>
            <a:r>
              <a:rPr lang="en-US" sz="1050" b="1" dirty="0">
                <a:solidFill>
                  <a:srgbClr val="1E293B"/>
                </a:solidFill>
                <a:latin typeface="Calibri" pitchFamily="34" charset="0"/>
                <a:ea typeface="Calibri" pitchFamily="34" charset="-122"/>
                <a:cs typeface="Calibri" pitchFamily="34" charset="-120"/>
              </a:rPr>
              <a:t>MicroART</a:t>
            </a:r>
            <a:endParaRPr lang="en-US" sz="1050" dirty="0"/>
          </a:p>
        </p:txBody>
      </p:sp>
      <p:sp>
        <p:nvSpPr>
          <p:cNvPr id="18" name="Text 16"/>
          <p:cNvSpPr/>
          <p:nvPr/>
        </p:nvSpPr>
        <p:spPr>
          <a:xfrm>
            <a:off x="1783080" y="2523744"/>
            <a:ext cx="18288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Architecture recovery</a:t>
            </a:r>
            <a:endParaRPr lang="en-US" sz="950" dirty="0"/>
          </a:p>
        </p:txBody>
      </p:sp>
      <p:sp>
        <p:nvSpPr>
          <p:cNvPr id="19" name="Text 17"/>
          <p:cNvSpPr/>
          <p:nvPr/>
        </p:nvSpPr>
        <p:spPr>
          <a:xfrm>
            <a:off x="3703320" y="2523744"/>
            <a:ext cx="16002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Manual/project metadata</a:t>
            </a:r>
            <a:endParaRPr lang="en-US" sz="950" dirty="0"/>
          </a:p>
        </p:txBody>
      </p:sp>
      <p:sp>
        <p:nvSpPr>
          <p:cNvPr id="20" name="Text 18"/>
          <p:cNvSpPr/>
          <p:nvPr/>
        </p:nvSpPr>
        <p:spPr>
          <a:xfrm>
            <a:off x="5440680" y="2523744"/>
            <a:ext cx="123444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No</a:t>
            </a:r>
            <a:endParaRPr lang="en-US" sz="950" dirty="0"/>
          </a:p>
        </p:txBody>
      </p:sp>
      <p:sp>
        <p:nvSpPr>
          <p:cNvPr id="21" name="Text 19"/>
          <p:cNvSpPr/>
          <p:nvPr/>
        </p:nvSpPr>
        <p:spPr>
          <a:xfrm>
            <a:off x="6720840" y="2523744"/>
            <a:ext cx="187452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Visual recovery</a:t>
            </a:r>
            <a:endParaRPr lang="en-US" sz="950" dirty="0"/>
          </a:p>
        </p:txBody>
      </p:sp>
      <p:sp>
        <p:nvSpPr>
          <p:cNvPr id="22" name="Shape 20"/>
          <p:cNvSpPr/>
          <p:nvPr/>
        </p:nvSpPr>
        <p:spPr>
          <a:xfrm>
            <a:off x="548640" y="2962656"/>
            <a:ext cx="8046720" cy="9144"/>
          </a:xfrm>
          <a:prstGeom prst="rect">
            <a:avLst/>
          </a:prstGeom>
          <a:solidFill>
            <a:srgbClr val="D8DEE6"/>
          </a:solidFill>
          <a:ln w="12700">
            <a:solidFill>
              <a:srgbClr val="D8DEE6"/>
            </a:solidFill>
            <a:prstDash val="solid"/>
          </a:ln>
        </p:spPr>
      </p:sp>
      <p:sp>
        <p:nvSpPr>
          <p:cNvPr id="23" name="Text 21"/>
          <p:cNvSpPr/>
          <p:nvPr/>
        </p:nvSpPr>
        <p:spPr>
          <a:xfrm>
            <a:off x="548640" y="3054096"/>
            <a:ext cx="1234440" cy="384048"/>
          </a:xfrm>
          <a:prstGeom prst="rect">
            <a:avLst/>
          </a:prstGeom>
          <a:noFill/>
          <a:ln/>
        </p:spPr>
        <p:txBody>
          <a:bodyPr wrap="square" lIns="0" tIns="0" rIns="0" bIns="0" rtlCol="0" anchor="ctr">
            <a:normAutofit/>
          </a:bodyPr>
          <a:lstStyle/>
          <a:p>
            <a:pPr marL="0" indent="0">
              <a:buNone/>
            </a:pPr>
            <a:r>
              <a:rPr lang="en-US" sz="1050" b="1" dirty="0">
                <a:solidFill>
                  <a:srgbClr val="1E293B"/>
                </a:solidFill>
                <a:latin typeface="Calibri" pitchFamily="34" charset="0"/>
                <a:ea typeface="Calibri" pitchFamily="34" charset="-122"/>
                <a:cs typeface="Calibri" pitchFamily="34" charset="-120"/>
              </a:rPr>
              <a:t>MSANose / MARS</a:t>
            </a:r>
            <a:endParaRPr lang="en-US" sz="1050" dirty="0"/>
          </a:p>
        </p:txBody>
      </p:sp>
      <p:sp>
        <p:nvSpPr>
          <p:cNvPr id="24" name="Text 22"/>
          <p:cNvSpPr/>
          <p:nvPr/>
        </p:nvSpPr>
        <p:spPr>
          <a:xfrm>
            <a:off x="1783080" y="3054096"/>
            <a:ext cx="18288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Microservice smells</a:t>
            </a:r>
            <a:endParaRPr lang="en-US" sz="950" dirty="0"/>
          </a:p>
        </p:txBody>
      </p:sp>
      <p:sp>
        <p:nvSpPr>
          <p:cNvPr id="25" name="Text 23"/>
          <p:cNvSpPr/>
          <p:nvPr/>
        </p:nvSpPr>
        <p:spPr>
          <a:xfrm>
            <a:off x="3703320" y="3054096"/>
            <a:ext cx="16002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Varies by tool</a:t>
            </a:r>
            <a:endParaRPr lang="en-US" sz="950" dirty="0"/>
          </a:p>
        </p:txBody>
      </p:sp>
      <p:sp>
        <p:nvSpPr>
          <p:cNvPr id="26" name="Text 24"/>
          <p:cNvSpPr/>
          <p:nvPr/>
        </p:nvSpPr>
        <p:spPr>
          <a:xfrm>
            <a:off x="5440680" y="3054096"/>
            <a:ext cx="123444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Partial</a:t>
            </a:r>
            <a:endParaRPr lang="en-US" sz="950" dirty="0"/>
          </a:p>
        </p:txBody>
      </p:sp>
      <p:sp>
        <p:nvSpPr>
          <p:cNvPr id="27" name="Text 25"/>
          <p:cNvSpPr/>
          <p:nvPr/>
        </p:nvSpPr>
        <p:spPr>
          <a:xfrm>
            <a:off x="6720840" y="3054096"/>
            <a:ext cx="187452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Catalogue-driven</a:t>
            </a:r>
            <a:endParaRPr lang="en-US" sz="950" dirty="0"/>
          </a:p>
        </p:txBody>
      </p:sp>
      <p:sp>
        <p:nvSpPr>
          <p:cNvPr id="28" name="Shape 26"/>
          <p:cNvSpPr/>
          <p:nvPr/>
        </p:nvSpPr>
        <p:spPr>
          <a:xfrm>
            <a:off x="548640" y="3493008"/>
            <a:ext cx="8046720" cy="9144"/>
          </a:xfrm>
          <a:prstGeom prst="rect">
            <a:avLst/>
          </a:prstGeom>
          <a:solidFill>
            <a:srgbClr val="D8DEE6"/>
          </a:solidFill>
          <a:ln w="12700">
            <a:solidFill>
              <a:srgbClr val="D8DEE6"/>
            </a:solidFill>
            <a:prstDash val="solid"/>
          </a:ln>
        </p:spPr>
      </p:sp>
      <p:sp>
        <p:nvSpPr>
          <p:cNvPr id="29" name="Shape 27"/>
          <p:cNvSpPr/>
          <p:nvPr/>
        </p:nvSpPr>
        <p:spPr>
          <a:xfrm>
            <a:off x="548640" y="3474720"/>
            <a:ext cx="8046720" cy="32004"/>
          </a:xfrm>
          <a:prstGeom prst="rect">
            <a:avLst/>
          </a:prstGeom>
          <a:solidFill>
            <a:srgbClr val="0D9488"/>
          </a:solidFill>
          <a:ln w="12700">
            <a:solidFill>
              <a:srgbClr val="0D9488"/>
            </a:solidFill>
            <a:prstDash val="solid"/>
          </a:ln>
        </p:spPr>
      </p:sp>
      <p:sp>
        <p:nvSpPr>
          <p:cNvPr id="30" name="Text 28"/>
          <p:cNvSpPr/>
          <p:nvPr/>
        </p:nvSpPr>
        <p:spPr>
          <a:xfrm>
            <a:off x="548640" y="3584448"/>
            <a:ext cx="1234440" cy="384048"/>
          </a:xfrm>
          <a:prstGeom prst="rect">
            <a:avLst/>
          </a:prstGeom>
          <a:noFill/>
          <a:ln/>
        </p:spPr>
        <p:txBody>
          <a:bodyPr wrap="square" lIns="0" tIns="0" rIns="0" bIns="0" rtlCol="0" anchor="ctr">
            <a:normAutofit/>
          </a:bodyPr>
          <a:lstStyle/>
          <a:p>
            <a:pPr marL="0" indent="0">
              <a:buNone/>
            </a:pPr>
            <a:r>
              <a:rPr lang="en-US" sz="1050" b="1" dirty="0">
                <a:solidFill>
                  <a:srgbClr val="0D9488"/>
                </a:solidFill>
                <a:latin typeface="Calibri" pitchFamily="34" charset="0"/>
                <a:ea typeface="Calibri" pitchFamily="34" charset="-122"/>
                <a:cs typeface="Calibri" pitchFamily="34" charset="-120"/>
              </a:rPr>
              <a:t>MSA Detector</a:t>
            </a:r>
            <a:endParaRPr lang="en-US" sz="1050" dirty="0"/>
          </a:p>
        </p:txBody>
      </p:sp>
      <p:sp>
        <p:nvSpPr>
          <p:cNvPr id="31" name="Text 29"/>
          <p:cNvSpPr/>
          <p:nvPr/>
        </p:nvSpPr>
        <p:spPr>
          <a:xfrm>
            <a:off x="1783080" y="3584448"/>
            <a:ext cx="1828800" cy="384048"/>
          </a:xfrm>
          <a:prstGeom prst="rect">
            <a:avLst/>
          </a:prstGeom>
          <a:noFill/>
          <a:ln/>
        </p:spPr>
        <p:txBody>
          <a:bodyPr wrap="square" lIns="0" tIns="0" rIns="0" bIns="0" rtlCol="0" anchor="ctr">
            <a:normAutofit/>
          </a:bodyPr>
          <a:lstStyle/>
          <a:p>
            <a:pPr marL="0" indent="0">
              <a:buNone/>
            </a:pPr>
            <a:r>
              <a:rPr lang="en-US" sz="950" b="1" dirty="0">
                <a:solidFill>
                  <a:srgbClr val="1E293B"/>
                </a:solidFill>
                <a:latin typeface="Calibri" pitchFamily="34" charset="0"/>
                <a:ea typeface="Calibri" pitchFamily="34" charset="-122"/>
                <a:cs typeface="Calibri" pitchFamily="34" charset="-120"/>
              </a:rPr>
              <a:t>Multi-level anti-patterns</a:t>
            </a:r>
            <a:endParaRPr lang="en-US" sz="950" dirty="0"/>
          </a:p>
        </p:txBody>
      </p:sp>
      <p:sp>
        <p:nvSpPr>
          <p:cNvPr id="32" name="Text 30"/>
          <p:cNvSpPr/>
          <p:nvPr/>
        </p:nvSpPr>
        <p:spPr>
          <a:xfrm>
            <a:off x="3703320" y="3584448"/>
            <a:ext cx="1600200" cy="384048"/>
          </a:xfrm>
          <a:prstGeom prst="rect">
            <a:avLst/>
          </a:prstGeom>
          <a:noFill/>
          <a:ln/>
        </p:spPr>
        <p:txBody>
          <a:bodyPr wrap="square" lIns="0" tIns="0" rIns="0" bIns="0" rtlCol="0" anchor="ctr">
            <a:normAutofit/>
          </a:bodyPr>
          <a:lstStyle/>
          <a:p>
            <a:pPr marL="0" indent="0">
              <a:buNone/>
            </a:pPr>
            <a:r>
              <a:rPr lang="en-US" sz="950" b="1" dirty="0">
                <a:solidFill>
                  <a:srgbClr val="1E293B"/>
                </a:solidFill>
                <a:latin typeface="Calibri" pitchFamily="34" charset="0"/>
                <a:ea typeface="Calibri" pitchFamily="34" charset="-122"/>
                <a:cs typeface="Calibri" pitchFamily="34" charset="-120"/>
              </a:rPr>
              <a:t>Automated deployability gate</a:t>
            </a:r>
            <a:endParaRPr lang="en-US" sz="950" dirty="0"/>
          </a:p>
        </p:txBody>
      </p:sp>
      <p:sp>
        <p:nvSpPr>
          <p:cNvPr id="33" name="Text 31"/>
          <p:cNvSpPr/>
          <p:nvPr/>
        </p:nvSpPr>
        <p:spPr>
          <a:xfrm>
            <a:off x="5440680" y="3584448"/>
            <a:ext cx="1234440" cy="384048"/>
          </a:xfrm>
          <a:prstGeom prst="rect">
            <a:avLst/>
          </a:prstGeom>
          <a:noFill/>
          <a:ln/>
        </p:spPr>
        <p:txBody>
          <a:bodyPr wrap="square" lIns="0" tIns="0" rIns="0" bIns="0" rtlCol="0" anchor="ctr">
            <a:normAutofit/>
          </a:bodyPr>
          <a:lstStyle/>
          <a:p>
            <a:pPr marL="0" indent="0">
              <a:buNone/>
            </a:pPr>
            <a:r>
              <a:rPr lang="en-US" sz="950" b="1" dirty="0">
                <a:solidFill>
                  <a:srgbClr val="1E293B"/>
                </a:solidFill>
                <a:latin typeface="Calibri" pitchFamily="34" charset="0"/>
                <a:ea typeface="Calibri" pitchFamily="34" charset="-122"/>
                <a:cs typeface="Calibri" pitchFamily="34" charset="-120"/>
              </a:rPr>
              <a:t>Source snippets</a:t>
            </a:r>
            <a:endParaRPr lang="en-US" sz="950" dirty="0"/>
          </a:p>
        </p:txBody>
      </p:sp>
      <p:sp>
        <p:nvSpPr>
          <p:cNvPr id="34" name="Text 32"/>
          <p:cNvSpPr/>
          <p:nvPr/>
        </p:nvSpPr>
        <p:spPr>
          <a:xfrm>
            <a:off x="6720840" y="3584448"/>
            <a:ext cx="1874520" cy="384048"/>
          </a:xfrm>
          <a:prstGeom prst="rect">
            <a:avLst/>
          </a:prstGeom>
          <a:noFill/>
          <a:ln/>
        </p:spPr>
        <p:txBody>
          <a:bodyPr wrap="square" lIns="0" tIns="0" rIns="0" bIns="0" rtlCol="0" anchor="ctr">
            <a:normAutofit/>
          </a:bodyPr>
          <a:lstStyle/>
          <a:p>
            <a:pPr marL="0" indent="0">
              <a:buNone/>
            </a:pPr>
            <a:r>
              <a:rPr lang="en-US" sz="950" b="1" dirty="0">
                <a:solidFill>
                  <a:srgbClr val="1E293B"/>
                </a:solidFill>
                <a:latin typeface="Calibri" pitchFamily="34" charset="0"/>
                <a:ea typeface="Calibri" pitchFamily="34" charset="-122"/>
                <a:cs typeface="Calibri" pitchFamily="34" charset="-120"/>
              </a:rPr>
              <a:t>Health score + remediation</a:t>
            </a:r>
            <a:endParaRPr lang="en-US" sz="950" dirty="0"/>
          </a:p>
        </p:txBody>
      </p:sp>
      <p:sp>
        <p:nvSpPr>
          <p:cNvPr id="35" name="Shape 33"/>
          <p:cNvSpPr/>
          <p:nvPr/>
        </p:nvSpPr>
        <p:spPr>
          <a:xfrm>
            <a:off x="548640" y="4023360"/>
            <a:ext cx="8046720" cy="9144"/>
          </a:xfrm>
          <a:prstGeom prst="rect">
            <a:avLst/>
          </a:prstGeom>
          <a:solidFill>
            <a:srgbClr val="D8DEE6"/>
          </a:solidFill>
          <a:ln w="12700">
            <a:solidFill>
              <a:srgbClr val="D8DEE6"/>
            </a:solidFill>
            <a:prstDash val="solid"/>
          </a:ln>
        </p:spPr>
      </p:sp>
      <p:sp>
        <p:nvSpPr>
          <p:cNvPr id="36" name="Shape 34"/>
          <p:cNvSpPr/>
          <p:nvPr/>
        </p:nvSpPr>
        <p:spPr>
          <a:xfrm>
            <a:off x="548640" y="4343400"/>
            <a:ext cx="457200" cy="36576"/>
          </a:xfrm>
          <a:prstGeom prst="rect">
            <a:avLst/>
          </a:prstGeom>
          <a:solidFill>
            <a:srgbClr val="0D9488"/>
          </a:solidFill>
          <a:ln w="12700">
            <a:solidFill>
              <a:srgbClr val="0D9488"/>
            </a:solidFill>
            <a:prstDash val="solid"/>
          </a:ln>
        </p:spPr>
      </p:sp>
      <p:sp>
        <p:nvSpPr>
          <p:cNvPr id="37" name="Text 35"/>
          <p:cNvSpPr/>
          <p:nvPr/>
        </p:nvSpPr>
        <p:spPr>
          <a:xfrm>
            <a:off x="548640" y="4462272"/>
            <a:ext cx="8046720" cy="310896"/>
          </a:xfrm>
          <a:prstGeom prst="rect">
            <a:avLst/>
          </a:prstGeom>
          <a:noFill/>
          <a:ln/>
        </p:spPr>
        <p:txBody>
          <a:bodyPr wrap="square" lIns="0" tIns="0" rIns="0" bIns="0" rtlCol="0" anchor="ctr"/>
          <a:lstStyle/>
          <a:p>
            <a:pPr marL="0" indent="0">
              <a:buNone/>
            </a:pPr>
            <a:r>
              <a:rPr lang="en-US" sz="1100" b="1" dirty="0">
                <a:solidFill>
                  <a:srgbClr val="0F2A44"/>
                </a:solidFill>
                <a:latin typeface="Calibri" pitchFamily="34" charset="0"/>
                <a:ea typeface="Calibri" pitchFamily="34" charset="-122"/>
                <a:cs typeface="Calibri" pitchFamily="34" charset="-120"/>
              </a:rPr>
              <a:t>Positioning: combine static code analysis, recovered service dependencies, scoring, and source-level evidence in one workflow.</a:t>
            </a:r>
            <a:endParaRPr lang="en-US" sz="1100" dirty="0"/>
          </a:p>
        </p:txBody>
      </p:sp>
      <p:sp>
        <p:nvSpPr>
          <p:cNvPr id="38" name="Text 36"/>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Evaluation methodology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310896"/>
          </a:xfrm>
          <a:prstGeom prst="rect">
            <a:avLst/>
          </a:prstGeom>
          <a:noFill/>
          <a:ln/>
        </p:spPr>
        <p:txBody>
          <a:bodyPr wrap="square" lIns="0" tIns="0" rIns="0" bIns="0" rtlCol="0" anchor="ctr"/>
          <a:lstStyle/>
          <a:p>
            <a:pPr marL="0" indent="0">
              <a:buNone/>
            </a:pPr>
            <a:r>
              <a:rPr lang="en-US" sz="1250" i="1" dirty="0">
                <a:solidFill>
                  <a:srgbClr val="64748B"/>
                </a:solidFill>
                <a:latin typeface="Calibri" pitchFamily="34" charset="0"/>
                <a:ea typeface="Calibri" pitchFamily="34" charset="-122"/>
                <a:cs typeface="Calibri" pitchFamily="34" charset="-120"/>
              </a:rPr>
              <a:t>Goal: demonstrate feasibility across heterogeneous real-world repositories</a:t>
            </a:r>
            <a:endParaRPr lang="en-US" sz="1250" dirty="0"/>
          </a:p>
        </p:txBody>
      </p:sp>
      <p:sp>
        <p:nvSpPr>
          <p:cNvPr id="5" name="Shape 3"/>
          <p:cNvSpPr/>
          <p:nvPr/>
        </p:nvSpPr>
        <p:spPr>
          <a:xfrm>
            <a:off x="548640" y="1481328"/>
            <a:ext cx="2331720" cy="41148"/>
          </a:xfrm>
          <a:prstGeom prst="rect">
            <a:avLst/>
          </a:prstGeom>
          <a:solidFill>
            <a:srgbClr val="0D9488"/>
          </a:solidFill>
          <a:ln w="12700">
            <a:solidFill>
              <a:srgbClr val="0D9488"/>
            </a:solidFill>
            <a:prstDash val="solid"/>
          </a:ln>
        </p:spPr>
      </p:sp>
      <p:sp>
        <p:nvSpPr>
          <p:cNvPr id="6" name="Text 4"/>
          <p:cNvSpPr/>
          <p:nvPr/>
        </p:nvSpPr>
        <p:spPr>
          <a:xfrm>
            <a:off x="548640" y="1627632"/>
            <a:ext cx="2331720" cy="502920"/>
          </a:xfrm>
          <a:prstGeom prst="rect">
            <a:avLst/>
          </a:prstGeom>
          <a:noFill/>
          <a:ln/>
        </p:spPr>
        <p:txBody>
          <a:bodyPr wrap="square" lIns="0" tIns="0" rIns="0" bIns="0" rtlCol="0" anchor="ctr"/>
          <a:lstStyle/>
          <a:p>
            <a:pPr marL="0" indent="0">
              <a:buNone/>
            </a:pPr>
            <a:r>
              <a:rPr lang="en-US" sz="2900" b="1" dirty="0">
                <a:solidFill>
                  <a:srgbClr val="0F2A44"/>
                </a:solidFill>
                <a:latin typeface="Calibri" pitchFamily="34" charset="0"/>
                <a:ea typeface="Calibri" pitchFamily="34" charset="-122"/>
                <a:cs typeface="Calibri" pitchFamily="34" charset="-120"/>
              </a:rPr>
              <a:t>11</a:t>
            </a:r>
            <a:endParaRPr lang="en-US" sz="2900" dirty="0"/>
          </a:p>
        </p:txBody>
      </p:sp>
      <p:sp>
        <p:nvSpPr>
          <p:cNvPr id="7" name="Text 5"/>
          <p:cNvSpPr/>
          <p:nvPr/>
        </p:nvSpPr>
        <p:spPr>
          <a:xfrm>
            <a:off x="548640" y="2139696"/>
            <a:ext cx="233172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a:t>
            </a:r>
            <a:endParaRPr lang="en-US" sz="1200" dirty="0"/>
          </a:p>
        </p:txBody>
      </p:sp>
      <p:sp>
        <p:nvSpPr>
          <p:cNvPr id="8" name="Text 6"/>
          <p:cNvSpPr/>
          <p:nvPr/>
        </p:nvSpPr>
        <p:spPr>
          <a:xfrm>
            <a:off x="548640" y="2432304"/>
            <a:ext cx="2331720" cy="530352"/>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Open-source Java/Spring Boot microservice systems</a:t>
            </a:r>
            <a:endParaRPr lang="en-US" sz="950" dirty="0"/>
          </a:p>
        </p:txBody>
      </p:sp>
      <p:sp>
        <p:nvSpPr>
          <p:cNvPr id="9" name="Shape 7"/>
          <p:cNvSpPr/>
          <p:nvPr/>
        </p:nvSpPr>
        <p:spPr>
          <a:xfrm>
            <a:off x="3291840" y="1481328"/>
            <a:ext cx="2331720" cy="41148"/>
          </a:xfrm>
          <a:prstGeom prst="rect">
            <a:avLst/>
          </a:prstGeom>
          <a:solidFill>
            <a:srgbClr val="1C4E80"/>
          </a:solidFill>
          <a:ln w="12700">
            <a:solidFill>
              <a:srgbClr val="1C4E80"/>
            </a:solidFill>
            <a:prstDash val="solid"/>
          </a:ln>
        </p:spPr>
      </p:sp>
      <p:sp>
        <p:nvSpPr>
          <p:cNvPr id="10" name="Text 8"/>
          <p:cNvSpPr/>
          <p:nvPr/>
        </p:nvSpPr>
        <p:spPr>
          <a:xfrm>
            <a:off x="3291840" y="1627632"/>
            <a:ext cx="2331720" cy="502920"/>
          </a:xfrm>
          <a:prstGeom prst="rect">
            <a:avLst/>
          </a:prstGeom>
          <a:noFill/>
          <a:ln/>
        </p:spPr>
        <p:txBody>
          <a:bodyPr wrap="square" lIns="0" tIns="0" rIns="0" bIns="0" rtlCol="0" anchor="ctr"/>
          <a:lstStyle/>
          <a:p>
            <a:pPr marL="0" indent="0">
              <a:buNone/>
            </a:pPr>
            <a:r>
              <a:rPr lang="en-US" sz="2900" b="1" dirty="0">
                <a:solidFill>
                  <a:srgbClr val="0F2A44"/>
                </a:solidFill>
                <a:latin typeface="Calibri" pitchFamily="34" charset="0"/>
                <a:ea typeface="Calibri" pitchFamily="34" charset="-122"/>
                <a:cs typeface="Calibri" pitchFamily="34" charset="-120"/>
              </a:rPr>
              <a:t>130</a:t>
            </a:r>
            <a:endParaRPr lang="en-US" sz="2900" dirty="0"/>
          </a:p>
        </p:txBody>
      </p:sp>
      <p:sp>
        <p:nvSpPr>
          <p:cNvPr id="11" name="Text 9"/>
          <p:cNvSpPr/>
          <p:nvPr/>
        </p:nvSpPr>
        <p:spPr>
          <a:xfrm>
            <a:off x="3291840" y="2139696"/>
            <a:ext cx="233172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Detected services</a:t>
            </a:r>
            <a:endParaRPr lang="en-US" sz="1200" dirty="0"/>
          </a:p>
        </p:txBody>
      </p:sp>
      <p:sp>
        <p:nvSpPr>
          <p:cNvPr id="12" name="Text 10"/>
          <p:cNvSpPr/>
          <p:nvPr/>
        </p:nvSpPr>
        <p:spPr>
          <a:xfrm>
            <a:off x="3291840" y="2432304"/>
            <a:ext cx="2331720" cy="530352"/>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Service modules identified by the deployability gate</a:t>
            </a:r>
            <a:endParaRPr lang="en-US" sz="950" dirty="0"/>
          </a:p>
        </p:txBody>
      </p:sp>
      <p:sp>
        <p:nvSpPr>
          <p:cNvPr id="13" name="Shape 11"/>
          <p:cNvSpPr/>
          <p:nvPr/>
        </p:nvSpPr>
        <p:spPr>
          <a:xfrm>
            <a:off x="6035040" y="1481328"/>
            <a:ext cx="2331720" cy="41148"/>
          </a:xfrm>
          <a:prstGeom prst="rect">
            <a:avLst/>
          </a:prstGeom>
          <a:solidFill>
            <a:srgbClr val="D97706"/>
          </a:solidFill>
          <a:ln w="12700">
            <a:solidFill>
              <a:srgbClr val="D97706"/>
            </a:solidFill>
            <a:prstDash val="solid"/>
          </a:ln>
        </p:spPr>
      </p:sp>
      <p:sp>
        <p:nvSpPr>
          <p:cNvPr id="14" name="Text 12"/>
          <p:cNvSpPr/>
          <p:nvPr/>
        </p:nvSpPr>
        <p:spPr>
          <a:xfrm>
            <a:off x="6035040" y="1627632"/>
            <a:ext cx="2331720" cy="502920"/>
          </a:xfrm>
          <a:prstGeom prst="rect">
            <a:avLst/>
          </a:prstGeom>
          <a:noFill/>
          <a:ln/>
        </p:spPr>
        <p:txBody>
          <a:bodyPr wrap="square" lIns="0" tIns="0" rIns="0" bIns="0" rtlCol="0" anchor="ctr"/>
          <a:lstStyle/>
          <a:p>
            <a:pPr marL="0" indent="0">
              <a:buNone/>
            </a:pPr>
            <a:r>
              <a:rPr lang="en-US" sz="2900" b="1" dirty="0">
                <a:solidFill>
                  <a:srgbClr val="0F2A44"/>
                </a:solidFill>
                <a:latin typeface="Calibri" pitchFamily="34" charset="0"/>
                <a:ea typeface="Calibri" pitchFamily="34" charset="-122"/>
                <a:cs typeface="Calibri" pitchFamily="34" charset="-120"/>
              </a:rPr>
              <a:t>~274k</a:t>
            </a:r>
            <a:endParaRPr lang="en-US" sz="2900" dirty="0"/>
          </a:p>
        </p:txBody>
      </p:sp>
      <p:sp>
        <p:nvSpPr>
          <p:cNvPr id="15" name="Text 13"/>
          <p:cNvSpPr/>
          <p:nvPr/>
        </p:nvSpPr>
        <p:spPr>
          <a:xfrm>
            <a:off x="6035040" y="2139696"/>
            <a:ext cx="233172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Code volume</a:t>
            </a:r>
            <a:endParaRPr lang="en-US" sz="1200" dirty="0"/>
          </a:p>
        </p:txBody>
      </p:sp>
      <p:sp>
        <p:nvSpPr>
          <p:cNvPr id="16" name="Text 14"/>
          <p:cNvSpPr/>
          <p:nvPr/>
        </p:nvSpPr>
        <p:spPr>
          <a:xfrm>
            <a:off x="6035040" y="2432304"/>
            <a:ext cx="2331720" cy="530352"/>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Lines of Java code analysed across all projects</a:t>
            </a:r>
            <a:endParaRPr lang="en-US" sz="950" dirty="0"/>
          </a:p>
        </p:txBody>
      </p:sp>
      <p:sp>
        <p:nvSpPr>
          <p:cNvPr id="17" name="Text 15"/>
          <p:cNvSpPr/>
          <p:nvPr/>
        </p:nvSpPr>
        <p:spPr>
          <a:xfrm>
            <a:off x="548640" y="3218688"/>
            <a:ext cx="356616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What was measured</a:t>
            </a:r>
            <a:endParaRPr lang="en-US" sz="1300" dirty="0"/>
          </a:p>
        </p:txBody>
      </p:sp>
      <p:sp>
        <p:nvSpPr>
          <p:cNvPr id="18" name="Text 16"/>
          <p:cNvSpPr/>
          <p:nvPr/>
        </p:nvSpPr>
        <p:spPr>
          <a:xfrm>
            <a:off x="749808" y="3566160"/>
            <a:ext cx="3566160" cy="91440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service count and Java LOC</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anti-pattern instances and severity</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dependency graph metrics and cycle count</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code-smell density and final health score</a:t>
            </a:r>
            <a:endParaRPr lang="en-US" sz="1050" dirty="0"/>
          </a:p>
        </p:txBody>
      </p:sp>
      <p:sp>
        <p:nvSpPr>
          <p:cNvPr id="19" name="Text 17"/>
          <p:cNvSpPr/>
          <p:nvPr/>
        </p:nvSpPr>
        <p:spPr>
          <a:xfrm>
            <a:off x="4754880" y="3218688"/>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Interpretation</a:t>
            </a:r>
            <a:endParaRPr lang="en-US" sz="1300" dirty="0"/>
          </a:p>
        </p:txBody>
      </p:sp>
      <p:sp>
        <p:nvSpPr>
          <p:cNvPr id="20" name="Text 18"/>
          <p:cNvSpPr/>
          <p:nvPr/>
        </p:nvSpPr>
        <p:spPr>
          <a:xfrm>
            <a:off x="4754880" y="3547872"/>
            <a:ext cx="3840480" cy="9601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This is a feasibility study, not a statistical precision/recall claim. A labelled benchmark for microservice anti-patterns is not yet widely available, so the evaluation focuses on whether the full pipeline can process real systems and produce explainable, comparable outputs.</a:t>
            </a:r>
            <a:endParaRPr lang="en-US" sz="1050" dirty="0"/>
          </a:p>
        </p:txBody>
      </p:sp>
      <p:sp>
        <p:nvSpPr>
          <p:cNvPr id="21" name="Text 19"/>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10 / 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core definitions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24128"/>
            <a:ext cx="411480" cy="36576"/>
          </a:xfrm>
          <a:prstGeom prst="rect">
            <a:avLst/>
          </a:prstGeom>
          <a:solidFill>
            <a:srgbClr val="0D9488"/>
          </a:solidFill>
          <a:ln w="12700">
            <a:solidFill>
              <a:srgbClr val="0D9488"/>
            </a:solidFill>
            <a:prstDash val="solid"/>
          </a:ln>
        </p:spPr>
      </p:sp>
      <p:sp>
        <p:nvSpPr>
          <p:cNvPr id="5" name="Text 3"/>
          <p:cNvSpPr/>
          <p:nvPr/>
        </p:nvSpPr>
        <p:spPr>
          <a:xfrm>
            <a:off x="548640" y="1152144"/>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Microservice</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48640" y="1463040"/>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small, independently deployable service organised around a business capability, communicating with other services through lightweight APIs.</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48640" y="2011680"/>
            <a:ext cx="3703320" cy="9144"/>
          </a:xfrm>
          <a:prstGeom prst="rect">
            <a:avLst/>
          </a:prstGeom>
          <a:solidFill>
            <a:srgbClr val="D8DEE6"/>
          </a:solidFill>
          <a:ln w="12700">
            <a:solidFill>
              <a:srgbClr val="D8DEE6"/>
            </a:solidFill>
            <a:prstDash val="solid"/>
          </a:ln>
        </p:spPr>
      </p:sp>
      <p:sp>
        <p:nvSpPr>
          <p:cNvPr id="8" name="Shape 6"/>
          <p:cNvSpPr/>
          <p:nvPr/>
        </p:nvSpPr>
        <p:spPr>
          <a:xfrm>
            <a:off x="4617720" y="1024128"/>
            <a:ext cx="411480" cy="36576"/>
          </a:xfrm>
          <a:prstGeom prst="rect">
            <a:avLst/>
          </a:prstGeom>
          <a:solidFill>
            <a:srgbClr val="1C4E80"/>
          </a:solidFill>
          <a:ln w="12700">
            <a:solidFill>
              <a:srgbClr val="1C4E80"/>
            </a:solidFill>
            <a:prstDash val="solid"/>
          </a:ln>
        </p:spPr>
      </p:sp>
      <p:sp>
        <p:nvSpPr>
          <p:cNvPr id="9" name="Text 7"/>
          <p:cNvSpPr/>
          <p:nvPr/>
        </p:nvSpPr>
        <p:spPr>
          <a:xfrm>
            <a:off x="4617720" y="1152144"/>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Architectural anti-pattern</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617720" y="1463040"/>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recurring architectural decision that appears useful locally, but creates long-term coupling, fragility, or operational cost.</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617720" y="2011680"/>
            <a:ext cx="3703320" cy="9144"/>
          </a:xfrm>
          <a:prstGeom prst="rect">
            <a:avLst/>
          </a:prstGeom>
          <a:solidFill>
            <a:srgbClr val="D8DEE6"/>
          </a:solidFill>
          <a:ln w="12700">
            <a:solidFill>
              <a:srgbClr val="D8DEE6"/>
            </a:solidFill>
            <a:prstDash val="solid"/>
          </a:ln>
        </p:spPr>
      </p:sp>
      <p:sp>
        <p:nvSpPr>
          <p:cNvPr id="12" name="Shape 10"/>
          <p:cNvSpPr/>
          <p:nvPr/>
        </p:nvSpPr>
        <p:spPr>
          <a:xfrm>
            <a:off x="548640" y="2139696"/>
            <a:ext cx="411480" cy="36576"/>
          </a:xfrm>
          <a:prstGeom prst="rect">
            <a:avLst/>
          </a:prstGeom>
          <a:solidFill>
            <a:srgbClr val="0D9488"/>
          </a:solidFill>
          <a:ln w="12700">
            <a:solidFill>
              <a:srgbClr val="0D9488"/>
            </a:solidFill>
            <a:prstDash val="solid"/>
          </a:ln>
        </p:spPr>
      </p:sp>
      <p:sp>
        <p:nvSpPr>
          <p:cNvPr id="13" name="Text 11"/>
          <p:cNvSpPr/>
          <p:nvPr/>
        </p:nvSpPr>
        <p:spPr>
          <a:xfrm>
            <a:off x="548640" y="2267712"/>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Service boundary</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2578608"/>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The deployable unit recovered from a repository: build module plus framework entry point, Dockerfile, or main method signal.</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3127248"/>
            <a:ext cx="3703320" cy="9144"/>
          </a:xfrm>
          <a:prstGeom prst="rect">
            <a:avLst/>
          </a:prstGeom>
          <a:solidFill>
            <a:srgbClr val="D8DEE6"/>
          </a:solidFill>
          <a:ln w="12700">
            <a:solidFill>
              <a:srgbClr val="D8DEE6"/>
            </a:solidFill>
            <a:prstDash val="solid"/>
          </a:ln>
        </p:spPr>
      </p:sp>
      <p:sp>
        <p:nvSpPr>
          <p:cNvPr id="16" name="Shape 14"/>
          <p:cNvSpPr/>
          <p:nvPr/>
        </p:nvSpPr>
        <p:spPr>
          <a:xfrm>
            <a:off x="4617720" y="2139696"/>
            <a:ext cx="411480" cy="36576"/>
          </a:xfrm>
          <a:prstGeom prst="rect">
            <a:avLst/>
          </a:prstGeom>
          <a:solidFill>
            <a:srgbClr val="1C4E80"/>
          </a:solidFill>
          <a:ln w="12700">
            <a:solidFill>
              <a:srgbClr val="1C4E80"/>
            </a:solidFill>
            <a:prstDash val="solid"/>
          </a:ln>
        </p:spPr>
      </p:sp>
      <p:sp>
        <p:nvSpPr>
          <p:cNvPr id="17" name="Text 15"/>
          <p:cNvSpPr/>
          <p:nvPr/>
        </p:nvSpPr>
        <p:spPr>
          <a:xfrm>
            <a:off x="4617720" y="2267712"/>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Evidence-based finding</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4617720" y="2578608"/>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detected issue linked to affected services, source snippets, graph evidence, severity, and remediation guidance.</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4617720" y="3127248"/>
            <a:ext cx="3703320" cy="9144"/>
          </a:xfrm>
          <a:prstGeom prst="rect">
            <a:avLst/>
          </a:prstGeom>
          <a:solidFill>
            <a:srgbClr val="D8DEE6"/>
          </a:solidFill>
          <a:ln w="12700">
            <a:solidFill>
              <a:srgbClr val="D8DEE6"/>
            </a:solidFill>
            <a:prstDash val="solid"/>
          </a:ln>
        </p:spPr>
      </p:sp>
      <p:sp>
        <p:nvSpPr>
          <p:cNvPr id="20" name="Shape 18"/>
          <p:cNvSpPr/>
          <p:nvPr/>
        </p:nvSpPr>
        <p:spPr>
          <a:xfrm>
            <a:off x="548640" y="3255264"/>
            <a:ext cx="411480" cy="36576"/>
          </a:xfrm>
          <a:prstGeom prst="rect">
            <a:avLst/>
          </a:prstGeom>
          <a:solidFill>
            <a:srgbClr val="0D9488"/>
          </a:solidFill>
          <a:ln w="12700">
            <a:solidFill>
              <a:srgbClr val="0D9488"/>
            </a:solidFill>
            <a:prstDash val="solid"/>
          </a:ln>
        </p:spPr>
      </p:sp>
      <p:sp>
        <p:nvSpPr>
          <p:cNvPr id="21" name="Text 19"/>
          <p:cNvSpPr/>
          <p:nvPr/>
        </p:nvSpPr>
        <p:spPr>
          <a:xfrm>
            <a:off x="548640" y="3383280"/>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Multi-level analysis</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548640" y="3694176"/>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Combining intra-service code metrics and smells with inter-service dependency graph analysis.</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548640" y="4242816"/>
            <a:ext cx="3703320" cy="9144"/>
          </a:xfrm>
          <a:prstGeom prst="rect">
            <a:avLst/>
          </a:prstGeom>
          <a:solidFill>
            <a:srgbClr val="D8DEE6"/>
          </a:solidFill>
          <a:ln w="12700">
            <a:solidFill>
              <a:srgbClr val="D8DEE6"/>
            </a:solidFill>
            <a:prstDash val="solid"/>
          </a:ln>
        </p:spPr>
      </p:sp>
      <p:sp>
        <p:nvSpPr>
          <p:cNvPr id="24" name="Shape 22"/>
          <p:cNvSpPr/>
          <p:nvPr/>
        </p:nvSpPr>
        <p:spPr>
          <a:xfrm>
            <a:off x="4617720" y="3255264"/>
            <a:ext cx="411480" cy="36576"/>
          </a:xfrm>
          <a:prstGeom prst="rect">
            <a:avLst/>
          </a:prstGeom>
          <a:solidFill>
            <a:srgbClr val="1C4E80"/>
          </a:solidFill>
          <a:ln w="12700">
            <a:solidFill>
              <a:srgbClr val="1C4E80"/>
            </a:solidFill>
            <a:prstDash val="solid"/>
          </a:ln>
        </p:spPr>
      </p:sp>
      <p:sp>
        <p:nvSpPr>
          <p:cNvPr id="25" name="Text 23"/>
          <p:cNvSpPr/>
          <p:nvPr/>
        </p:nvSpPr>
        <p:spPr>
          <a:xfrm>
            <a:off x="4617720" y="3383280"/>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Health score</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17720" y="3694176"/>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0-100 composite quality indicator decomposed into Anti-Patterns, Code Quality, Architecture, and Service Sizing.</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17720" y="4242816"/>
            <a:ext cx="3703320" cy="9144"/>
          </a:xfrm>
          <a:prstGeom prst="rect">
            <a:avLst/>
          </a:prstGeom>
          <a:solidFill>
            <a:srgbClr val="D8DEE6"/>
          </a:solidFill>
          <a:ln w="12700">
            <a:solidFill>
              <a:srgbClr val="D8DEE6"/>
            </a:solidFill>
            <a:prstDash val="solid"/>
          </a:ln>
        </p:spPr>
      </p:sp>
      <p:sp>
        <p:nvSpPr>
          <p:cNvPr id="30" name="Text 28"/>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A</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formulas &amp; metrics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241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Tight Class Cohesion</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3063240" y="10241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TCC = NDC / NP</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715000" y="1005840"/>
            <a:ext cx="2880360" cy="384048"/>
          </a:xfrm>
          <a:prstGeom prst="rect">
            <a:avLst/>
          </a:prstGeom>
          <a:noFill/>
          <a:ln/>
        </p:spPr>
        <p:txBody>
          <a:bodyPr wrap="square" lIns="0" tIns="0" rIns="0" bIns="0"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NDC = directly connected method pairs; NP = all possible method pairs. Low TCC means methods operate on disjoint state.</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48640" y="1499616"/>
            <a:ext cx="8046720" cy="9144"/>
          </a:xfrm>
          <a:prstGeom prst="rect">
            <a:avLst/>
          </a:prstGeom>
          <a:solidFill>
            <a:srgbClr val="D8DEE6"/>
          </a:solidFill>
          <a:ln w="12700">
            <a:solidFill>
              <a:srgbClr val="D8DEE6"/>
            </a:solidFill>
            <a:prstDash val="solid"/>
          </a:ln>
        </p:spPr>
      </p:sp>
      <p:sp>
        <p:nvSpPr>
          <p:cNvPr id="8" name="Text 6"/>
          <p:cNvSpPr/>
          <p:nvPr/>
        </p:nvSpPr>
        <p:spPr>
          <a:xfrm>
            <a:off x="548640" y="17099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Code smell density</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3063240" y="17099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smellDensity = smellCount / (LOC / 1000)</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5715000" y="16916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Normalises DesigniteJava smell count by service size, so larger codebases are not punished only for being larger.</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548640" y="2185416"/>
            <a:ext cx="8046720" cy="9144"/>
          </a:xfrm>
          <a:prstGeom prst="rect">
            <a:avLst/>
          </a:prstGeom>
          <a:solidFill>
            <a:srgbClr val="D8DEE6"/>
          </a:solidFill>
          <a:ln w="12700">
            <a:solidFill>
              <a:srgbClr val="D8DEE6"/>
            </a:solidFill>
            <a:prstDash val="solid"/>
          </a:ln>
        </p:spPr>
      </p:sp>
      <p:sp>
        <p:nvSpPr>
          <p:cNvPr id="12" name="Text 10"/>
          <p:cNvSpPr/>
          <p:nvPr/>
        </p:nvSpPr>
        <p:spPr>
          <a:xfrm>
            <a:off x="548640" y="23957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Graph coupling coefficient</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3063240" y="23957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coupling = E / (N × (N - 1))</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715000" y="23774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 = directed dependency edges; N = detected services. Higher values mean denser inter-service coupling.</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871216"/>
            <a:ext cx="8046720" cy="9144"/>
          </a:xfrm>
          <a:prstGeom prst="rect">
            <a:avLst/>
          </a:prstGeom>
          <a:solidFill>
            <a:srgbClr val="D8DEE6"/>
          </a:solidFill>
          <a:ln w="12700">
            <a:solidFill>
              <a:srgbClr val="D8DEE6"/>
            </a:solidFill>
            <a:prstDash val="solid"/>
          </a:ln>
        </p:spPr>
      </p:sp>
      <p:sp>
        <p:nvSpPr>
          <p:cNvPr id="16" name="Text 14"/>
          <p:cNvSpPr/>
          <p:nvPr/>
        </p:nvSpPr>
        <p:spPr>
          <a:xfrm>
            <a:off x="548640" y="30815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Dependency edge weight</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3063240" y="30815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weight(A, B) = distinct call sites from A to B</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5715000" y="30632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Recovered from Feign clients, RestTemplate calls, and WebClient invocations in the Spoon AST.</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557016"/>
            <a:ext cx="8046720" cy="9144"/>
          </a:xfrm>
          <a:prstGeom prst="rect">
            <a:avLst/>
          </a:prstGeom>
          <a:solidFill>
            <a:srgbClr val="D8DEE6"/>
          </a:solidFill>
          <a:ln w="12700">
            <a:solidFill>
              <a:srgbClr val="D8DEE6"/>
            </a:solidFill>
            <a:prstDash val="solid"/>
          </a:ln>
        </p:spPr>
      </p:sp>
      <p:sp>
        <p:nvSpPr>
          <p:cNvPr id="20" name="Text 18"/>
          <p:cNvSpPr/>
          <p:nvPr/>
        </p:nvSpPr>
        <p:spPr>
          <a:xfrm>
            <a:off x="548640" y="37673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Service size ratio</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3063240" y="3767328"/>
            <a:ext cx="2468880" cy="256032"/>
          </a:xfrm>
          <a:prstGeom prst="rect">
            <a:avLst/>
          </a:prstGeom>
          <a:noFill/>
          <a:ln/>
        </p:spPr>
        <p:txBody>
          <a:bodyPr wrap="square" lIns="0" tIns="0" rIns="0" bIns="0" rtlCol="0" anchor="ctr">
            <a:normAutofit fontScale="925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sizeRatio = LOC(service) / medianLOC(project)</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5715000" y="37490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Used as supporting evidence for Nano Service and God Service-style sizing findings.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548640" y="4242816"/>
            <a:ext cx="8046720" cy="9144"/>
          </a:xfrm>
          <a:prstGeom prst="rect">
            <a:avLst/>
          </a:prstGeom>
          <a:solidFill>
            <a:srgbClr val="D8DEE6"/>
          </a:solidFill>
          <a:ln w="12700">
            <a:solidFill>
              <a:srgbClr val="D8DEE6"/>
            </a:solidFill>
            <a:prstDash val="solid"/>
          </a:ln>
        </p:spPr>
      </p:sp>
      <p:sp>
        <p:nvSpPr>
          <p:cNvPr id="24" name="Shape 22"/>
          <p:cNvSpPr/>
          <p:nvPr/>
        </p:nvSpPr>
        <p:spPr>
          <a:xfrm>
            <a:off x="548640" y="4498848"/>
            <a:ext cx="457200" cy="36576"/>
          </a:xfrm>
          <a:prstGeom prst="rect">
            <a:avLst/>
          </a:prstGeom>
          <a:solidFill>
            <a:srgbClr val="0D9488"/>
          </a:solidFill>
          <a:ln w="12700">
            <a:solidFill>
              <a:srgbClr val="0D9488"/>
            </a:solidFill>
            <a:prstDash val="solid"/>
          </a:ln>
        </p:spPr>
      </p:sp>
      <p:sp>
        <p:nvSpPr>
          <p:cNvPr id="25" name="Text 23"/>
          <p:cNvSpPr/>
          <p:nvPr/>
        </p:nvSpPr>
        <p:spPr>
          <a:xfrm>
            <a:off x="548640" y="4590288"/>
            <a:ext cx="80467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TCC follows Bieman &amp; Kang's cohesion interpretation; graph metrics use the recovered directed service dependency graph.</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B</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health score computation</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80467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Overall score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48640" y="1353312"/>
            <a:ext cx="8046720" cy="38404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score = AP + CQ + ARCH + SIZE</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48640" y="2011680"/>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TERM</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1325880" y="2011680"/>
            <a:ext cx="1828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CATEGORY</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3246120" y="2011680"/>
            <a:ext cx="77724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BUDGET</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4251960" y="2011680"/>
            <a:ext cx="43434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COMPUTATION</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548640" y="2286000"/>
            <a:ext cx="8046720" cy="13716"/>
          </a:xfrm>
          <a:prstGeom prst="rect">
            <a:avLst/>
          </a:prstGeom>
          <a:solidFill>
            <a:srgbClr val="D8DEE6"/>
          </a:solidFill>
          <a:ln w="12700">
            <a:solidFill>
              <a:srgbClr val="D8DEE6"/>
            </a:solidFill>
            <a:prstDash val="solid"/>
          </a:ln>
        </p:spPr>
      </p:sp>
      <p:sp>
        <p:nvSpPr>
          <p:cNvPr id="11" name="Text 9"/>
          <p:cNvSpPr/>
          <p:nvPr/>
        </p:nvSpPr>
        <p:spPr>
          <a:xfrm>
            <a:off x="548640" y="2441448"/>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AP</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1325880" y="2441448"/>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Anti-Patterns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3246120" y="2441448"/>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40</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4251960" y="2441448"/>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40 - severity penalties)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743200"/>
            <a:ext cx="8046720" cy="9144"/>
          </a:xfrm>
          <a:prstGeom prst="rect">
            <a:avLst/>
          </a:prstGeom>
          <a:solidFill>
            <a:srgbClr val="D8DEE6"/>
          </a:solidFill>
          <a:ln w="12700">
            <a:solidFill>
              <a:srgbClr val="D8DEE6"/>
            </a:solidFill>
            <a:prstDash val="solid"/>
          </a:ln>
        </p:spPr>
      </p:sp>
      <p:sp>
        <p:nvSpPr>
          <p:cNvPr id="16" name="Text 14"/>
          <p:cNvSpPr/>
          <p:nvPr/>
        </p:nvSpPr>
        <p:spPr>
          <a:xfrm>
            <a:off x="548640" y="2834640"/>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CQ</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1325880" y="2834640"/>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Code Quality</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3246120" y="2834640"/>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20</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4251960" y="2834640"/>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20 - smell-density penalty)</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548640" y="3136392"/>
            <a:ext cx="8046720" cy="9144"/>
          </a:xfrm>
          <a:prstGeom prst="rect">
            <a:avLst/>
          </a:prstGeom>
          <a:solidFill>
            <a:srgbClr val="D8DEE6"/>
          </a:solidFill>
          <a:ln w="12700">
            <a:solidFill>
              <a:srgbClr val="D8DEE6"/>
            </a:solidFill>
            <a:prstDash val="solid"/>
          </a:ln>
        </p:spPr>
      </p:sp>
      <p:sp>
        <p:nvSpPr>
          <p:cNvPr id="21" name="Text 19"/>
          <p:cNvSpPr/>
          <p:nvPr/>
        </p:nvSpPr>
        <p:spPr>
          <a:xfrm>
            <a:off x="548640" y="3227832"/>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ARCH</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1325880" y="3227832"/>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Architecture</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3246120" y="3227832"/>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25</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251960" y="3227832"/>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25 - coupling/cycle penalties)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548640" y="3529584"/>
            <a:ext cx="8046720" cy="9144"/>
          </a:xfrm>
          <a:prstGeom prst="rect">
            <a:avLst/>
          </a:prstGeom>
          <a:solidFill>
            <a:srgbClr val="D8DEE6"/>
          </a:solidFill>
          <a:ln w="12700">
            <a:solidFill>
              <a:srgbClr val="D8DEE6"/>
            </a:solidFill>
            <a:prstDash val="solid"/>
          </a:ln>
        </p:spPr>
      </p:sp>
      <p:sp>
        <p:nvSpPr>
          <p:cNvPr id="26" name="Text 24"/>
          <p:cNvSpPr/>
          <p:nvPr/>
        </p:nvSpPr>
        <p:spPr>
          <a:xfrm>
            <a:off x="548640" y="3621024"/>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SIZE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1325880" y="3621024"/>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Service Sizing</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3246120" y="3621024"/>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15</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251960" y="3621024"/>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15 - nano/god service penalties)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548640" y="3922776"/>
            <a:ext cx="8046720" cy="9144"/>
          </a:xfrm>
          <a:prstGeom prst="rect">
            <a:avLst/>
          </a:prstGeom>
          <a:solidFill>
            <a:srgbClr val="D8DEE6"/>
          </a:solidFill>
          <a:ln w="12700">
            <a:solidFill>
              <a:srgbClr val="D8DEE6"/>
            </a:solidFill>
            <a:prstDash val="solid"/>
          </a:ln>
        </p:spPr>
      </p:sp>
      <p:sp>
        <p:nvSpPr>
          <p:cNvPr id="31" name="Text 29"/>
          <p:cNvSpPr/>
          <p:nvPr/>
        </p:nvSpPr>
        <p:spPr>
          <a:xfrm>
            <a:off x="548640" y="4160520"/>
            <a:ext cx="16459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Grade mapping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2011680"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2359152"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90-100</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3182112"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B</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529584"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80-89</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352544"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4700016"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65-79</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5522976"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5870448"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50-64</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6693408"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F</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7040880"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&lt; 50</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C</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detector thresholds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123444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DETECTOR</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1691640" y="1005840"/>
            <a:ext cx="24231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SIGNAL</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251960" y="1005840"/>
            <a:ext cx="13258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THRESHOLD</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5715000" y="1005840"/>
            <a:ext cx="6858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SEVERITY</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6537960" y="1005840"/>
            <a:ext cx="2057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RATIONALE</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548640" y="1298448"/>
            <a:ext cx="8046720" cy="13716"/>
          </a:xfrm>
          <a:prstGeom prst="rect">
            <a:avLst/>
          </a:prstGeom>
          <a:solidFill>
            <a:srgbClr val="D8DEE6"/>
          </a:solidFill>
          <a:ln w="12700">
            <a:solidFill>
              <a:srgbClr val="D8DEE6"/>
            </a:solidFill>
            <a:prstDash val="solid"/>
          </a:ln>
        </p:spPr>
      </p:sp>
      <p:sp>
        <p:nvSpPr>
          <p:cNvPr id="10" name="Text 8"/>
          <p:cNvSpPr/>
          <p:nvPr/>
        </p:nvSpPr>
        <p:spPr>
          <a:xfrm>
            <a:off x="548640" y="1408176"/>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Shared DB</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1691640" y="1408176"/>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same datasource URL in &gt;1 service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4251960" y="1408176"/>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&gt;1 service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5715000" y="1408176"/>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537960" y="1408176"/>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lost data ownership</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1655064"/>
            <a:ext cx="8046720" cy="7315"/>
          </a:xfrm>
          <a:prstGeom prst="rect">
            <a:avLst/>
          </a:prstGeom>
          <a:solidFill>
            <a:srgbClr val="D8DEE6"/>
          </a:solidFill>
          <a:ln w="12700">
            <a:solidFill>
              <a:srgbClr val="D8DEE6"/>
            </a:solidFill>
            <a:prstDash val="solid"/>
          </a:ln>
        </p:spPr>
      </p:sp>
      <p:sp>
        <p:nvSpPr>
          <p:cNvPr id="16" name="Text 14"/>
          <p:cNvSpPr/>
          <p:nvPr/>
        </p:nvSpPr>
        <p:spPr>
          <a:xfrm>
            <a:off x="548640" y="1719072"/>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Cyclic Dep.</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1691640" y="1719072"/>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Tarjan SCC in service graph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4251960" y="1719072"/>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SCC size &gt;1</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5715000" y="1719072"/>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C2626"/>
                </a:solidFill>
                <a:effectLst/>
                <a:uLnTx/>
                <a:uFillTx/>
                <a:latin typeface="Calibri" pitchFamily="34" charset="0"/>
                <a:ea typeface="Calibri" pitchFamily="34" charset="-122"/>
                <a:cs typeface="Calibri" pitchFamily="34" charset="-120"/>
              </a:rPr>
              <a:t>Crit.</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6537960" y="1719072"/>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deployability blocked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 y="1965960"/>
            <a:ext cx="8046720" cy="7315"/>
          </a:xfrm>
          <a:prstGeom prst="rect">
            <a:avLst/>
          </a:prstGeom>
          <a:solidFill>
            <a:srgbClr val="D8DEE6"/>
          </a:solidFill>
          <a:ln w="12700">
            <a:solidFill>
              <a:srgbClr val="D8DEE6"/>
            </a:solidFill>
            <a:prstDash val="solid"/>
          </a:ln>
        </p:spPr>
      </p:sp>
      <p:sp>
        <p:nvSpPr>
          <p:cNvPr id="22" name="Text 20"/>
          <p:cNvSpPr/>
          <p:nvPr/>
        </p:nvSpPr>
        <p:spPr>
          <a:xfrm>
            <a:off x="548640" y="2029968"/>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Chatty Service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1691640" y="2029968"/>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edge call volume or wide Feign client</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251960" y="2029968"/>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&gt;=5 calls/methods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5715000" y="2029968"/>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6537960" y="2029968"/>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runtime coupling</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548640" y="2276856"/>
            <a:ext cx="8046720" cy="7315"/>
          </a:xfrm>
          <a:prstGeom prst="rect">
            <a:avLst/>
          </a:prstGeom>
          <a:solidFill>
            <a:srgbClr val="D8DEE6"/>
          </a:solidFill>
          <a:ln w="12700">
            <a:solidFill>
              <a:srgbClr val="D8DEE6"/>
            </a:solidFill>
            <a:prstDash val="solid"/>
          </a:ln>
        </p:spPr>
      </p:sp>
      <p:sp>
        <p:nvSpPr>
          <p:cNvPr id="28" name="Text 26"/>
          <p:cNvSpPr/>
          <p:nvPr/>
        </p:nvSpPr>
        <p:spPr>
          <a:xfrm>
            <a:off x="548640" y="2340864"/>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Hardcoded EP</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1691640" y="2340864"/>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literal URL/IP/localhost in Java</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251960" y="2340864"/>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regex match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5715000" y="2340864"/>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1C4E80"/>
                </a:solidFill>
                <a:effectLst/>
                <a:uLnTx/>
                <a:uFillTx/>
                <a:latin typeface="Calibri" pitchFamily="34" charset="0"/>
                <a:ea typeface="Calibri" pitchFamily="34" charset="-122"/>
                <a:cs typeface="Calibri" pitchFamily="34" charset="-120"/>
              </a:rPr>
              <a:t>Med.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6537960" y="2340864"/>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environment lock-in</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548640" y="2587752"/>
            <a:ext cx="8046720" cy="7315"/>
          </a:xfrm>
          <a:prstGeom prst="rect">
            <a:avLst/>
          </a:prstGeom>
          <a:solidFill>
            <a:srgbClr val="D8DEE6"/>
          </a:solidFill>
          <a:ln w="12700">
            <a:solidFill>
              <a:srgbClr val="D8DEE6"/>
            </a:solidFill>
            <a:prstDash val="solid"/>
          </a:ln>
        </p:spPr>
      </p:sp>
      <p:sp>
        <p:nvSpPr>
          <p:cNvPr id="34" name="Text 32"/>
          <p:cNvSpPr/>
          <p:nvPr/>
        </p:nvSpPr>
        <p:spPr>
          <a:xfrm>
            <a:off x="548640" y="2651760"/>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ESB Misuse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1691640" y="2651760"/>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mediator-like caller/callee ratio</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251960" y="2651760"/>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volume ratio rule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5715000" y="2651760"/>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6537960" y="2651760"/>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central bottleneck</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548640" y="2898648"/>
            <a:ext cx="8046720" cy="7315"/>
          </a:xfrm>
          <a:prstGeom prst="rect">
            <a:avLst/>
          </a:prstGeom>
          <a:solidFill>
            <a:srgbClr val="D8DEE6"/>
          </a:solidFill>
          <a:ln w="12700">
            <a:solidFill>
              <a:srgbClr val="D8DEE6"/>
            </a:solidFill>
            <a:prstDash val="solid"/>
          </a:ln>
        </p:spPr>
      </p:sp>
      <p:sp>
        <p:nvSpPr>
          <p:cNvPr id="40" name="Text 38"/>
          <p:cNvSpPr/>
          <p:nvPr/>
        </p:nvSpPr>
        <p:spPr>
          <a:xfrm>
            <a:off x="548640" y="2962656"/>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Distributed Mono.</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1691640" y="2962656"/>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high graph density + shared data</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4251960" y="2962656"/>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composite rule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1"/>
          <p:cNvSpPr/>
          <p:nvPr/>
        </p:nvSpPr>
        <p:spPr>
          <a:xfrm>
            <a:off x="5715000" y="2962656"/>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C2626"/>
                </a:solidFill>
                <a:effectLst/>
                <a:uLnTx/>
                <a:uFillTx/>
                <a:latin typeface="Calibri" pitchFamily="34" charset="0"/>
                <a:ea typeface="Calibri" pitchFamily="34" charset="-122"/>
                <a:cs typeface="Calibri" pitchFamily="34" charset="-120"/>
              </a:rPr>
              <a:t>Crit.</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6537960" y="2962656"/>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system-wide coupling</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548640" y="3209544"/>
            <a:ext cx="8046720" cy="7315"/>
          </a:xfrm>
          <a:prstGeom prst="rect">
            <a:avLst/>
          </a:prstGeom>
          <a:solidFill>
            <a:srgbClr val="D8DEE6"/>
          </a:solidFill>
          <a:ln w="12700">
            <a:solidFill>
              <a:srgbClr val="D8DEE6"/>
            </a:solidFill>
            <a:prstDash val="solid"/>
          </a:ln>
        </p:spPr>
      </p:sp>
      <p:sp>
        <p:nvSpPr>
          <p:cNvPr id="46" name="Text 44"/>
          <p:cNvSpPr/>
          <p:nvPr/>
        </p:nvSpPr>
        <p:spPr>
          <a:xfrm>
            <a:off x="548640" y="3273552"/>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API Versioning</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1691640" y="3273552"/>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endpoint path lacks /vN</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6"/>
          <p:cNvSpPr/>
          <p:nvPr/>
        </p:nvSpPr>
        <p:spPr>
          <a:xfrm>
            <a:off x="4251960" y="3273552"/>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no version token</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Text 47"/>
          <p:cNvSpPr/>
          <p:nvPr/>
        </p:nvSpPr>
        <p:spPr>
          <a:xfrm>
            <a:off x="5715000" y="3273552"/>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1C4E80"/>
                </a:solidFill>
                <a:effectLst/>
                <a:uLnTx/>
                <a:uFillTx/>
                <a:latin typeface="Calibri" pitchFamily="34" charset="0"/>
                <a:ea typeface="Calibri" pitchFamily="34" charset="-122"/>
                <a:cs typeface="Calibri" pitchFamily="34" charset="-120"/>
              </a:rPr>
              <a:t>Med.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6537960" y="3273552"/>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client breakage risk</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Shape 49"/>
          <p:cNvSpPr/>
          <p:nvPr/>
        </p:nvSpPr>
        <p:spPr>
          <a:xfrm>
            <a:off x="548640" y="3520440"/>
            <a:ext cx="8046720" cy="7315"/>
          </a:xfrm>
          <a:prstGeom prst="rect">
            <a:avLst/>
          </a:prstGeom>
          <a:solidFill>
            <a:srgbClr val="D8DEE6"/>
          </a:solidFill>
          <a:ln w="12700">
            <a:solidFill>
              <a:srgbClr val="D8DEE6"/>
            </a:solidFill>
            <a:prstDash val="solid"/>
          </a:ln>
        </p:spPr>
      </p:sp>
      <p:sp>
        <p:nvSpPr>
          <p:cNvPr id="52" name="Text 50"/>
          <p:cNvSpPr/>
          <p:nvPr/>
        </p:nvSpPr>
        <p:spPr>
          <a:xfrm>
            <a:off x="548640" y="3584448"/>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Wrong Cuts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Text 51"/>
          <p:cNvSpPr/>
          <p:nvPr/>
        </p:nvSpPr>
        <p:spPr>
          <a:xfrm>
            <a:off x="1691640" y="3584448"/>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bidirectional service pair</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4" name="Text 52"/>
          <p:cNvSpPr/>
          <p:nvPr/>
        </p:nvSpPr>
        <p:spPr>
          <a:xfrm>
            <a:off x="4251960" y="3584448"/>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A-&gt;B and B-&gt;A</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Text 53"/>
          <p:cNvSpPr/>
          <p:nvPr/>
        </p:nvSpPr>
        <p:spPr>
          <a:xfrm>
            <a:off x="5715000" y="3584448"/>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6537960" y="3584448"/>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poor boundaries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Shape 55"/>
          <p:cNvSpPr/>
          <p:nvPr/>
        </p:nvSpPr>
        <p:spPr>
          <a:xfrm>
            <a:off x="548640" y="3831336"/>
            <a:ext cx="8046720" cy="7315"/>
          </a:xfrm>
          <a:prstGeom prst="rect">
            <a:avLst/>
          </a:prstGeom>
          <a:solidFill>
            <a:srgbClr val="D8DEE6"/>
          </a:solidFill>
          <a:ln w="12700">
            <a:solidFill>
              <a:srgbClr val="D8DEE6"/>
            </a:solidFill>
            <a:prstDash val="solid"/>
          </a:ln>
        </p:spPr>
      </p:sp>
      <p:sp>
        <p:nvSpPr>
          <p:cNvPr id="58" name="Text 56"/>
          <p:cNvSpPr/>
          <p:nvPr/>
        </p:nvSpPr>
        <p:spPr>
          <a:xfrm>
            <a:off x="548640" y="3895344"/>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Nano Service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Text 57"/>
          <p:cNvSpPr/>
          <p:nvPr/>
        </p:nvSpPr>
        <p:spPr>
          <a:xfrm>
            <a:off x="1691640" y="3895344"/>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very small deployable service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4251960" y="3895344"/>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LOC below floor</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5715000" y="3895344"/>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1C4E80"/>
                </a:solidFill>
                <a:effectLst/>
                <a:uLnTx/>
                <a:uFillTx/>
                <a:latin typeface="Calibri" pitchFamily="34" charset="0"/>
                <a:ea typeface="Calibri" pitchFamily="34" charset="-122"/>
                <a:cs typeface="Calibri" pitchFamily="34" charset="-120"/>
              </a:rPr>
              <a:t>Med.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60"/>
          <p:cNvSpPr/>
          <p:nvPr/>
        </p:nvSpPr>
        <p:spPr>
          <a:xfrm>
            <a:off x="6537960" y="3895344"/>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operational overhead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3" name="Shape 61"/>
          <p:cNvSpPr/>
          <p:nvPr/>
        </p:nvSpPr>
        <p:spPr>
          <a:xfrm>
            <a:off x="548640" y="4142232"/>
            <a:ext cx="8046720" cy="7315"/>
          </a:xfrm>
          <a:prstGeom prst="rect">
            <a:avLst/>
          </a:prstGeom>
          <a:solidFill>
            <a:srgbClr val="D8DEE6"/>
          </a:solidFill>
          <a:ln w="12700">
            <a:solidFill>
              <a:srgbClr val="D8DEE6"/>
            </a:solidFill>
            <a:prstDash val="solid"/>
          </a:ln>
        </p:spPr>
      </p:sp>
      <p:sp>
        <p:nvSpPr>
          <p:cNvPr id="64" name="Text 62"/>
          <p:cNvSpPr/>
          <p:nvPr/>
        </p:nvSpPr>
        <p:spPr>
          <a:xfrm>
            <a:off x="548640" y="4206240"/>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God Service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Text 63"/>
          <p:cNvSpPr/>
          <p:nvPr/>
        </p:nvSpPr>
        <p:spPr>
          <a:xfrm>
            <a:off x="1691640" y="4206240"/>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contains God Class evidence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 name="Text 64"/>
          <p:cNvSpPr/>
          <p:nvPr/>
        </p:nvSpPr>
        <p:spPr>
          <a:xfrm>
            <a:off x="4251960" y="4206240"/>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&gt;=3 of 6 metrics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Text 65"/>
          <p:cNvSpPr/>
          <p:nvPr/>
        </p:nvSpPr>
        <p:spPr>
          <a:xfrm>
            <a:off x="5715000" y="4206240"/>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6"/>
          <p:cNvSpPr/>
          <p:nvPr/>
        </p:nvSpPr>
        <p:spPr>
          <a:xfrm>
            <a:off x="6537960" y="4206240"/>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too many responsibilities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7"/>
          <p:cNvSpPr/>
          <p:nvPr/>
        </p:nvSpPr>
        <p:spPr>
          <a:xfrm>
            <a:off x="548640" y="4453128"/>
            <a:ext cx="8046720" cy="7315"/>
          </a:xfrm>
          <a:prstGeom prst="rect">
            <a:avLst/>
          </a:prstGeom>
          <a:solidFill>
            <a:srgbClr val="D8DEE6"/>
          </a:solidFill>
          <a:ln w="12700">
            <a:solidFill>
              <a:srgbClr val="D8DEE6"/>
            </a:solidFill>
            <a:prstDash val="solid"/>
          </a:ln>
        </p:spPr>
      </p:sp>
      <p:sp>
        <p:nvSpPr>
          <p:cNvPr id="70" name="Shape 68"/>
          <p:cNvSpPr/>
          <p:nvPr/>
        </p:nvSpPr>
        <p:spPr>
          <a:xfrm>
            <a:off x="548640" y="4599432"/>
            <a:ext cx="457200" cy="36576"/>
          </a:xfrm>
          <a:prstGeom prst="rect">
            <a:avLst/>
          </a:prstGeom>
          <a:solidFill>
            <a:srgbClr val="0D9488"/>
          </a:solidFill>
          <a:ln w="12700">
            <a:solidFill>
              <a:srgbClr val="0D9488"/>
            </a:solidFill>
            <a:prstDash val="solid"/>
          </a:ln>
        </p:spPr>
      </p:sp>
      <p:sp>
        <p:nvSpPr>
          <p:cNvPr id="71" name="Text 69"/>
          <p:cNvSpPr/>
          <p:nvPr/>
        </p:nvSpPr>
        <p:spPr>
          <a:xfrm>
            <a:off x="548640" y="4681728"/>
            <a:ext cx="804672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0" i="1"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Thresholds are configurable and intentionally conservative for a prototype; production use should calibrate them per organisation.</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2" name="Text 70"/>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graph analysis terms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24128"/>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Directed dependency graph</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48640" y="1280160"/>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 = (V, E), where V is the set of detected services and E contains directed calls between services.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548640" y="1737360"/>
            <a:ext cx="3703320" cy="9144"/>
          </a:xfrm>
          <a:prstGeom prst="rect">
            <a:avLst/>
          </a:prstGeom>
          <a:solidFill>
            <a:srgbClr val="D8DEE6"/>
          </a:solidFill>
          <a:ln w="12700">
            <a:solidFill>
              <a:srgbClr val="D8DEE6"/>
            </a:solidFill>
            <a:prstDash val="solid"/>
          </a:ln>
        </p:spPr>
      </p:sp>
      <p:sp>
        <p:nvSpPr>
          <p:cNvPr id="7" name="Text 5"/>
          <p:cNvSpPr/>
          <p:nvPr/>
        </p:nvSpPr>
        <p:spPr>
          <a:xfrm>
            <a:off x="548640" y="1865376"/>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Edge weight</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548640" y="2121408"/>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The number of distinct source-level call sites from one service to another.</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548640" y="2578608"/>
            <a:ext cx="3703320" cy="9144"/>
          </a:xfrm>
          <a:prstGeom prst="rect">
            <a:avLst/>
          </a:prstGeom>
          <a:solidFill>
            <a:srgbClr val="D8DEE6"/>
          </a:solidFill>
          <a:ln w="12700">
            <a:solidFill>
              <a:srgbClr val="D8DEE6"/>
            </a:solidFill>
            <a:prstDash val="solid"/>
          </a:ln>
        </p:spPr>
      </p:sp>
      <p:sp>
        <p:nvSpPr>
          <p:cNvPr id="10" name="Text 8"/>
          <p:cNvSpPr/>
          <p:nvPr/>
        </p:nvSpPr>
        <p:spPr>
          <a:xfrm>
            <a:off x="548640" y="2706624"/>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Strongly connected component</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548640" y="2962656"/>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maximal service set where each service can reach every other service through directed paths.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548640" y="3419856"/>
            <a:ext cx="3703320" cy="9144"/>
          </a:xfrm>
          <a:prstGeom prst="rect">
            <a:avLst/>
          </a:prstGeom>
          <a:solidFill>
            <a:srgbClr val="D8DEE6"/>
          </a:solidFill>
          <a:ln w="12700">
            <a:solidFill>
              <a:srgbClr val="D8DEE6"/>
            </a:solidFill>
            <a:prstDash val="solid"/>
          </a:ln>
        </p:spPr>
      </p:sp>
      <p:sp>
        <p:nvSpPr>
          <p:cNvPr id="13" name="Text 11"/>
          <p:cNvSpPr/>
          <p:nvPr/>
        </p:nvSpPr>
        <p:spPr>
          <a:xfrm>
            <a:off x="548640" y="3547872"/>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Cycle</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3803904"/>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An SCC with more than one service; used as evidence for Cyclic Dependency.</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4261104"/>
            <a:ext cx="3703320" cy="9144"/>
          </a:xfrm>
          <a:prstGeom prst="rect">
            <a:avLst/>
          </a:prstGeom>
          <a:solidFill>
            <a:srgbClr val="D8DEE6"/>
          </a:solidFill>
          <a:ln w="12700">
            <a:solidFill>
              <a:srgbClr val="D8DEE6"/>
            </a:solidFill>
            <a:prstDash val="solid"/>
          </a:ln>
        </p:spPr>
      </p:sp>
      <p:sp>
        <p:nvSpPr>
          <p:cNvPr id="16" name="Text 14"/>
          <p:cNvSpPr/>
          <p:nvPr/>
        </p:nvSpPr>
        <p:spPr>
          <a:xfrm>
            <a:off x="4617720" y="1024128"/>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Fan-in / fan-out</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4617720" y="1280160"/>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Incoming and outgoing service dependency counts; useful for spotting central services and mediator behaviour.</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617720" y="1737360"/>
            <a:ext cx="3703320" cy="9144"/>
          </a:xfrm>
          <a:prstGeom prst="rect">
            <a:avLst/>
          </a:prstGeom>
          <a:solidFill>
            <a:srgbClr val="D8DEE6"/>
          </a:solidFill>
          <a:ln w="12700">
            <a:solidFill>
              <a:srgbClr val="D8DEE6"/>
            </a:solidFill>
            <a:prstDash val="solid"/>
          </a:ln>
        </p:spPr>
      </p:sp>
      <p:sp>
        <p:nvSpPr>
          <p:cNvPr id="19" name="Text 17"/>
          <p:cNvSpPr/>
          <p:nvPr/>
        </p:nvSpPr>
        <p:spPr>
          <a:xfrm>
            <a:off x="4617720" y="1865376"/>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Bidirectional dependency</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4617720" y="2121408"/>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pair A-&gt;B and B-&gt;A; used as evidence for Wrong Cuts and poor service boundaries.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617720" y="2578608"/>
            <a:ext cx="3703320" cy="9144"/>
          </a:xfrm>
          <a:prstGeom prst="rect">
            <a:avLst/>
          </a:prstGeom>
          <a:solidFill>
            <a:srgbClr val="D8DEE6"/>
          </a:solidFill>
          <a:ln w="12700">
            <a:solidFill>
              <a:srgbClr val="D8DEE6"/>
            </a:solidFill>
            <a:prstDash val="solid"/>
          </a:ln>
        </p:spPr>
      </p:sp>
      <p:sp>
        <p:nvSpPr>
          <p:cNvPr id="22" name="Text 20"/>
          <p:cNvSpPr/>
          <p:nvPr/>
        </p:nvSpPr>
        <p:spPr>
          <a:xfrm>
            <a:off x="4617720" y="2706624"/>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Connected ratio</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17720" y="2962656"/>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Fraction of services participating in dependencies; used as part of Distributed Monolith evidence.</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17720" y="3419856"/>
            <a:ext cx="3703320" cy="9144"/>
          </a:xfrm>
          <a:prstGeom prst="rect">
            <a:avLst/>
          </a:prstGeom>
          <a:solidFill>
            <a:srgbClr val="D8DEE6"/>
          </a:solidFill>
          <a:ln w="12700">
            <a:solidFill>
              <a:srgbClr val="D8DEE6"/>
            </a:solidFill>
            <a:prstDash val="solid"/>
          </a:ln>
        </p:spPr>
      </p:sp>
      <p:sp>
        <p:nvSpPr>
          <p:cNvPr id="25" name="Text 23"/>
          <p:cNvSpPr/>
          <p:nvPr/>
        </p:nvSpPr>
        <p:spPr>
          <a:xfrm>
            <a:off x="4617720" y="3547872"/>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Betweenness centrality</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17720" y="3803904"/>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How often a service lies on shortest paths between other services; useful for identifying broker-like nodes.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17720" y="4261104"/>
            <a:ext cx="3703320" cy="9144"/>
          </a:xfrm>
          <a:prstGeom prst="rect">
            <a:avLst/>
          </a:prstGeom>
          <a:solidFill>
            <a:srgbClr val="D8DEE6"/>
          </a:solidFill>
          <a:ln w="12700">
            <a:solidFill>
              <a:srgbClr val="D8DEE6"/>
            </a:solidFill>
            <a:prstDash val="solid"/>
          </a:ln>
        </p:spPr>
      </p:sp>
      <p:sp>
        <p:nvSpPr>
          <p:cNvPr id="28" name="Shape 26"/>
          <p:cNvSpPr/>
          <p:nvPr/>
        </p:nvSpPr>
        <p:spPr>
          <a:xfrm>
            <a:off x="548640" y="4498848"/>
            <a:ext cx="457200" cy="36576"/>
          </a:xfrm>
          <a:prstGeom prst="rect">
            <a:avLst/>
          </a:prstGeom>
          <a:solidFill>
            <a:srgbClr val="0D9488"/>
          </a:solidFill>
          <a:ln w="12700">
            <a:solidFill>
              <a:srgbClr val="0D9488"/>
            </a:solidFill>
            <a:prstDash val="solid"/>
          </a:ln>
        </p:spPr>
      </p:sp>
      <p:sp>
        <p:nvSpPr>
          <p:cNvPr id="29" name="Text 27"/>
          <p:cNvSpPr/>
          <p:nvPr/>
        </p:nvSpPr>
        <p:spPr>
          <a:xfrm>
            <a:off x="548640" y="4590288"/>
            <a:ext cx="80467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Graph algorithms are deterministic over the recovered service dependency graph; uncertainty comes mainly from static call resolution.</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93</TotalTime>
  <Words>5878</Words>
  <Application>Microsoft Office PowerPoint</Application>
  <PresentationFormat>On-screen Show (16:9)</PresentationFormat>
  <Paragraphs>486</Paragraphs>
  <Slides>21</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21</cp:revision>
  <dcterms:created xsi:type="dcterms:W3CDTF">2026-06-11T06:26:58Z</dcterms:created>
  <dcterms:modified xsi:type="dcterms:W3CDTF">2026-06-22T08:25:14Z</dcterms:modified>
</cp:coreProperties>
</file>