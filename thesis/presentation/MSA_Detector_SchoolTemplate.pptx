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Good [morning/afternoon], my name is [Name], and today I present my dissertation on MSA Detector.</a:t>
            </a:r>
          </a:p>
          <a:p>
            <a:r>
              <a:t>- This work focuses on automatically detecting architectural anti-patterns in Java microservice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 will first explain why this problem matters, then show methodology and implementation.</a:t>
            </a:r>
          </a:p>
          <a:p>
            <a:r>
              <a:t>- I will then present evaluation results and finish with a short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Microservices promise independent deployability, fault isolation, and team autonomy.</a:t>
            </a:r>
          </a:p>
          <a:p>
            <a:r>
              <a:t>- In real projects, anti-patterns such as shared databases and cyclic dependencies silently accumulate as architectural debt.</a:t>
            </a:r>
          </a:p>
          <a:p>
            <a:r>
              <a:t>- The cost of fixing these issues increases over time, which motivates automated detection early in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key gap is that many approaches focus either on code smells or on architecture dependencies, but rarely both.</a:t>
            </a:r>
          </a:p>
          <a:p>
            <a:r>
              <a:t>- This dissertation addresses that by combining both levels into one analysis pipeline and presenting actionable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 target anti-patterns that are both common and impactful in microservice systems.</a:t>
            </a:r>
          </a:p>
          <a:p>
            <a:r>
              <a:t>- Each detector has configurable thresholds and generates source code evidence for remediation.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pipeline starts by identifying microservices from build files.</a:t>
            </a:r>
          </a:p>
          <a:p>
            <a:r>
              <a:t>- DesigniteJava contributes code-smell signals (for example, God Class frequency).</a:t>
            </a:r>
          </a:p>
          <a:p>
            <a:r>
              <a:t>- Spoon extracts dependencies from annotations and client calls.</a:t>
            </a:r>
          </a:p>
          <a:p>
            <a:r>
              <a:t>- Results are merged into a dependency graph used for graph-based detection and final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graph is central to detecting structural anti-patterns such as cycles and high coupling.</a:t>
            </a:r>
          </a:p>
          <a:p>
            <a:r>
              <a:t>- The health score gives one trackable indicator while still preserving detailed findings by severity and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implementation is designed for practical use in both manual analysis and CI/CD integration.</a:t>
            </a:r>
          </a:p>
          <a:p>
            <a:r>
              <a:t>- Pluggable detector components make future anti-pattern extensions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scoring differentiated projects with lower and higher architectural issue concentration.</a:t>
            </a:r>
          </a:p>
          <a:p>
            <a:r>
              <a:t>- The largest project, Activiti, scored lowest, while Karate scored highest.</a:t>
            </a:r>
          </a:p>
          <a:p>
            <a:r>
              <a:t>- Shared Database appears in MicroservicesSocial, consistent with its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core contribution is actionable architectural quality feedback without requiring a running system.</a:t>
            </a:r>
          </a:p>
          <a:p>
            <a:r>
              <a:t>- The methodology is extensible even though the current implementation is Java/Spring-focused.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 will run one full analysis flow live and show the final findings.</a:t>
            </a:r>
          </a:p>
          <a:p>
            <a:r>
              <a:t>- If runtime is tight, I will use a pre-analyzed project and focus on findings, score, and analysis history.</a:t>
            </a:r>
          </a:p>
          <a:p>
            <a:r>
              <a:t>- Transition to Q&amp;A after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(0:30)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MSA Detector: Automated Detection of Architectural Anti-Patterns in Java Microservices</a:t>
            </a:r>
          </a:p>
          <a:p>
            <a:pPr/>
            <a:r>
              <a:t>Author name</a:t>
            </a:r>
          </a:p>
          <a:p>
            <a:pPr/>
            <a:r>
              <a:t>Supervisor name</a:t>
            </a:r>
          </a:p>
          <a:p>
            <a:pPr/>
            <a:r>
              <a:t>University / Department</a:t>
            </a:r>
          </a:p>
          <a:p>
            <a:pPr/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(0:20)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 and problem</a:t>
            </a:r>
          </a:p>
          <a:p>
            <a:pPr/>
            <a:r>
              <a:t>Objectives and anti-pattern scope</a:t>
            </a:r>
          </a:p>
          <a:p>
            <a:pPr/>
            <a:r>
              <a:t>Detection methodology</a:t>
            </a:r>
          </a:p>
          <a:p>
            <a:pPr/>
            <a:r>
              <a:t>System architecture and implementation</a:t>
            </a:r>
          </a:p>
          <a:p>
            <a:pPr/>
            <a:r>
              <a:t>Evaluation results</a:t>
            </a:r>
          </a:p>
          <a:p>
            <a:pPr/>
            <a:r>
              <a:t>Conclusions and future work</a:t>
            </a:r>
          </a:p>
          <a:p>
            <a:pPr/>
            <a:r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and Motivation (1:30)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improve scalability and deployment independence.</a:t>
            </a:r>
          </a:p>
          <a:p>
            <a:pPr/>
            <a:r>
              <a:t>Architectural anti-patterns still emerge in practice.</a:t>
            </a:r>
          </a:p>
          <a:p>
            <a:pPr/>
            <a:r>
              <a:t>Manual architecture review is hard to scale.</a:t>
            </a:r>
          </a:p>
          <a:p>
            <a:pPr/>
            <a:r>
              <a:t>Need: automated, early, evidence-based detection.</a:t>
            </a:r>
          </a:p>
        </p:txBody>
      </p:sp>
      <p:pic>
        <p:nvPicPr>
          <p:cNvPr id="4" name="Picture 3" descr="monolith_vs_microservices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7315200" cy="5154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Objectives (1:30)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/>
            <a:r>
              <a:t>Existing detection support is fragmented across abstraction levels.</a:t>
            </a:r>
          </a:p>
          <a:p>
            <a:pPr/>
            <a:r>
              <a:t>Outputs are often hard to act on.</a:t>
            </a:r>
          </a:p>
          <a:p>
            <a:pPr/>
            <a:r>
              <a:t>Objectives:</a:t>
            </a:r>
          </a:p>
          <a:p>
            <a:pPr/>
            <a:r>
              <a:t>Detect 8 anti-patterns across 4 dimensions.</a:t>
            </a:r>
          </a:p>
          <a:p>
            <a:pPr/>
            <a:r>
              <a:t>Combine code-level and architecture-level analysis.</a:t>
            </a:r>
          </a:p>
          <a:p>
            <a:pPr/>
            <a:r>
              <a:t>Provide a composite health score.</a:t>
            </a:r>
          </a:p>
          <a:p>
            <a:pPr/>
            <a:r>
              <a:t>Deliver as web app + REST API.</a:t>
            </a:r>
          </a:p>
          <a:p>
            <a:pPr/>
            <a:r>
              <a:t>Evaluate on open-source microservice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 in Scope (1:30)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**Service design**: Nano Service, God Service</a:t>
            </a:r>
          </a:p>
          <a:p>
            <a:pPr/>
            <a:r>
              <a:t>**Communication**: Chatty Service, Cyclic Dependency, Hardcoded Endpoints</a:t>
            </a:r>
          </a:p>
          <a:p>
            <a:pPr/>
            <a:r>
              <a:t>**Data management**: Shared Database</a:t>
            </a:r>
          </a:p>
          <a:p>
            <a:pPr/>
            <a:r>
              <a:t>**Deployment and coupling**: Distributed Monolith, API Versioning Absence</a:t>
            </a:r>
          </a:p>
        </p:txBody>
      </p:sp>
      <p:pic>
        <p:nvPicPr>
          <p:cNvPr id="4" name="Picture 3" descr="cyclic-dependency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3931920" cy="2711669"/>
          </a:xfrm>
          <a:prstGeom prst="rect">
            <a:avLst/>
          </a:prstGeom>
        </p:spPr>
      </p:pic>
      <p:pic>
        <p:nvPicPr>
          <p:cNvPr id="5" name="Picture 4" descr="shared_db.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43200"/>
            <a:ext cx="3931920" cy="13633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Pipeline (2:00)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ingestion (ZIP or Git)</a:t>
            </a:r>
          </a:p>
          <a:p>
            <a:pPr/>
            <a:r>
              <a:t>Automatic microservice boundary detection</a:t>
            </a:r>
          </a:p>
          <a:p>
            <a:pPr/>
            <a:r>
              <a:t>Intra-service analysis (DesigniteJava)</a:t>
            </a:r>
          </a:p>
          <a:p>
            <a:pPr/>
            <a:r>
              <a:t>Inter-service AST analysis (Spoon)</a:t>
            </a:r>
          </a:p>
          <a:p>
            <a:pPr/>
            <a:r>
              <a:t>Dependency graph construction</a:t>
            </a:r>
          </a:p>
          <a:p>
            <a:pPr/>
            <a:r>
              <a:t>Anti-pattern detection + evidence extraction</a:t>
            </a:r>
          </a:p>
          <a:p>
            <a:pPr/>
            <a:r>
              <a:t>Composite health score and report</a:t>
            </a:r>
          </a:p>
        </p:txBody>
      </p:sp>
      <p:pic>
        <p:nvPicPr>
          <p:cNvPr id="4" name="Picture 3" descr="analysis_pipeline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7315200" cy="1531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Analysis and Health Score (1:30)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 graph: nodes = services, edges = inter-service dependencies</a:t>
            </a:r>
          </a:p>
          <a:p>
            <a:pPr/>
            <a:r>
              <a:t>Cycle detection via Tarjan SCC</a:t>
            </a:r>
          </a:p>
          <a:p>
            <a:pPr/>
            <a:r>
              <a:t>Coupling metrics for distributed monolith signals</a:t>
            </a:r>
          </a:p>
          <a:p>
            <a:pPr/>
            <a:r>
              <a:t>Health score formula:</a:t>
            </a:r>
          </a:p>
          <a:p>
            <a:pPr/>
            <a:r>
              <a:t>`H = max(0, 100 - 15*n_crit - 10*n_high - 5*n_med - 2*n_low)`</a:t>
            </a:r>
          </a:p>
        </p:txBody>
      </p:sp>
      <p:pic>
        <p:nvPicPr>
          <p:cNvPr id="4" name="Picture 3" descr="dependency_graph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7315200" cy="5041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Architecture (1:00)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Spring Boot</a:t>
            </a:r>
          </a:p>
          <a:p>
            <a:pPr/>
            <a:r>
              <a:t>Frontend: Angular</a:t>
            </a:r>
          </a:p>
          <a:p>
            <a:pPr/>
            <a:r>
              <a:t>Data store: PostgreSQL</a:t>
            </a:r>
          </a:p>
          <a:p>
            <a:pPr/>
            <a:r>
              <a:t>Deployment: Docker</a:t>
            </a:r>
          </a:p>
          <a:p>
            <a:pPr/>
            <a:r>
              <a:t>Detector design: pluggable Strategy components</a:t>
            </a:r>
          </a:p>
          <a:p>
            <a:pPr/>
            <a:r>
              <a:t>Interfaces: browser dashboard + REST API</a:t>
            </a:r>
          </a:p>
        </p:txBody>
      </p:sp>
      <p:pic>
        <p:nvPicPr>
          <p:cNvPr id="4" name="Picture 3" descr="high-level-diagram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7315200" cy="59111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 (2:00)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4 open-source projects, 60 microservices, ~465k LOC</a:t>
            </a:r>
          </a:p>
          <a:p>
            <a:pPr/>
            <a:r>
              <a:t>Health scores:</a:t>
            </a:r>
          </a:p>
          <a:p>
            <a:pPr/>
            <a:r>
              <a:t>MicroservicesSocial: 77 (C)</a:t>
            </a:r>
          </a:p>
          <a:p>
            <a:pPr/>
            <a:r>
              <a:t>microservices-design-patterns: 60 (D)</a:t>
            </a:r>
          </a:p>
          <a:p>
            <a:pPr/>
            <a:r>
              <a:t>Activiti: 45 (F)</a:t>
            </a:r>
          </a:p>
          <a:p>
            <a:pPr/>
            <a:r>
              <a:t>Karate: 87 (B)</a:t>
            </a:r>
          </a:p>
          <a:p>
            <a:pPr/>
            <a:r>
              <a:t>Frequent detections: Nano Service, God Service, Hardcoded 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and Future Work (1:00)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Contributions:</a:t>
            </a:r>
          </a:p>
          <a:p>
            <a:pPr/>
            <a:r>
              <a:t>Multi-level static analysis approach</a:t>
            </a:r>
          </a:p>
          <a:p>
            <a:pPr/>
            <a:r>
              <a:t>8 anti-pattern detectors with evidence</a:t>
            </a:r>
          </a:p>
          <a:p>
            <a:pPr/>
            <a:r>
              <a:t>Composite health score and trend tracking</a:t>
            </a:r>
          </a:p>
          <a:p>
            <a:pPr/>
            <a:r>
              <a:t>Automated microservice boundary detection</a:t>
            </a:r>
          </a:p>
          <a:p>
            <a:pPr/>
            <a:r>
              <a:t>Limitations:</a:t>
            </a:r>
          </a:p>
          <a:p>
            <a:pPr/>
            <a:r>
              <a:t>Java + Spring Boot scope</a:t>
            </a:r>
          </a:p>
          <a:p>
            <a:pPr/>
            <a:r>
              <a:t>Static-analysis-only constraints</a:t>
            </a:r>
          </a:p>
          <a:p>
            <a:pPr/>
            <a:r>
              <a:t>Future work:</a:t>
            </a:r>
          </a:p>
          <a:p>
            <a:pPr/>
            <a:r>
              <a:t>Multi-language support</a:t>
            </a:r>
          </a:p>
          <a:p>
            <a:pPr/>
            <a:r>
              <a:t>Additional anti-patterns</a:t>
            </a:r>
          </a:p>
          <a:p>
            <a:pPr/>
            <a:r>
              <a:t>Deeper CI/CD and IDE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(2:00)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</a:t>
            </a:r>
          </a:p>
          <a:p>
            <a:pPr/>
            <a:r>
              <a:t>Ingest project (Git clone)</a:t>
            </a:r>
          </a:p>
          <a:p>
            <a:pPr/>
            <a:r>
              <a:t>Run analysis</a:t>
            </a:r>
          </a:p>
          <a:p>
            <a:pPr/>
            <a:r>
              <a:t>Inspect anti-pattern findings + snippets</a:t>
            </a:r>
          </a:p>
          <a:p>
            <a:pPr/>
            <a:r>
              <a:t>Show health score and history/diff</a:t>
            </a:r>
          </a:p>
        </p:txBody>
      </p:sp>
      <p:pic>
        <p:nvPicPr>
          <p:cNvPr id="4" name="Picture 3" descr="clon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560320" cy="1261452"/>
          </a:xfrm>
          <a:prstGeom prst="rect">
            <a:avLst/>
          </a:prstGeom>
        </p:spPr>
      </p:pic>
      <p:pic>
        <p:nvPicPr>
          <p:cNvPr id="5" name="Picture 4" descr="analysis_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743200"/>
            <a:ext cx="2560320" cy="1263360"/>
          </a:xfrm>
          <a:prstGeom prst="rect">
            <a:avLst/>
          </a:prstGeom>
        </p:spPr>
      </p:pic>
      <p:pic>
        <p:nvPicPr>
          <p:cNvPr id="6" name="Picture 5" descr="history_p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743200"/>
            <a:ext cx="2560320" cy="12587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